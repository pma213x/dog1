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3" r:id="rId1"/>
  </p:sldMasterIdLst>
  <p:notesMasterIdLst>
    <p:notesMasterId r:id="rId53"/>
  </p:notesMasterIdLst>
  <p:sldIdLst>
    <p:sldId id="410" r:id="rId2"/>
    <p:sldId id="557" r:id="rId3"/>
    <p:sldId id="704" r:id="rId4"/>
    <p:sldId id="760" r:id="rId5"/>
    <p:sldId id="761" r:id="rId6"/>
    <p:sldId id="762" r:id="rId7"/>
    <p:sldId id="599" r:id="rId8"/>
    <p:sldId id="764" r:id="rId9"/>
    <p:sldId id="766" r:id="rId10"/>
    <p:sldId id="767" r:id="rId11"/>
    <p:sldId id="768" r:id="rId12"/>
    <p:sldId id="769" r:id="rId13"/>
    <p:sldId id="771" r:id="rId14"/>
    <p:sldId id="772" r:id="rId15"/>
    <p:sldId id="773" r:id="rId16"/>
    <p:sldId id="776" r:id="rId17"/>
    <p:sldId id="775" r:id="rId18"/>
    <p:sldId id="777" r:id="rId19"/>
    <p:sldId id="778" r:id="rId20"/>
    <p:sldId id="779" r:id="rId21"/>
    <p:sldId id="780" r:id="rId22"/>
    <p:sldId id="781" r:id="rId23"/>
    <p:sldId id="782" r:id="rId24"/>
    <p:sldId id="783" r:id="rId25"/>
    <p:sldId id="784" r:id="rId26"/>
    <p:sldId id="785" r:id="rId27"/>
    <p:sldId id="786" r:id="rId28"/>
    <p:sldId id="787" r:id="rId29"/>
    <p:sldId id="788" r:id="rId30"/>
    <p:sldId id="789" r:id="rId31"/>
    <p:sldId id="790" r:id="rId32"/>
    <p:sldId id="791" r:id="rId33"/>
    <p:sldId id="792" r:id="rId34"/>
    <p:sldId id="793" r:id="rId35"/>
    <p:sldId id="794" r:id="rId36"/>
    <p:sldId id="795" r:id="rId37"/>
    <p:sldId id="796" r:id="rId38"/>
    <p:sldId id="797" r:id="rId39"/>
    <p:sldId id="798" r:id="rId40"/>
    <p:sldId id="799" r:id="rId41"/>
    <p:sldId id="800" r:id="rId42"/>
    <p:sldId id="801" r:id="rId43"/>
    <p:sldId id="802" r:id="rId44"/>
    <p:sldId id="803" r:id="rId45"/>
    <p:sldId id="804" r:id="rId46"/>
    <p:sldId id="805" r:id="rId47"/>
    <p:sldId id="806" r:id="rId48"/>
    <p:sldId id="807" r:id="rId49"/>
    <p:sldId id="808" r:id="rId50"/>
    <p:sldId id="810" r:id="rId51"/>
    <p:sldId id="703" r:id="rId52"/>
  </p:sldIdLst>
  <p:sldSz cx="12192000" cy="6858000"/>
  <p:notesSz cx="6858000" cy="9144000"/>
  <p:custDataLst>
    <p:tags r:id="rId5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0">
          <p15:clr>
            <a:srgbClr val="A4A3A4"/>
          </p15:clr>
        </p15:guide>
        <p15:guide id="2" pos="366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8" autoAdjust="0"/>
    <p:restoredTop sz="93742" autoAdjust="0"/>
  </p:normalViewPr>
  <p:slideViewPr>
    <p:cSldViewPr snapToGrid="0" showGuides="1">
      <p:cViewPr>
        <p:scale>
          <a:sx n="75" d="100"/>
          <a:sy n="75" d="100"/>
        </p:scale>
        <p:origin x="974" y="178"/>
      </p:cViewPr>
      <p:guideLst>
        <p:guide orient="horz" pos="2120"/>
        <p:guide pos="3667"/>
      </p:guideLst>
    </p:cSldViewPr>
  </p:slideViewPr>
  <p:notesTextViewPr>
    <p:cViewPr>
      <p:scale>
        <a:sx n="3" d="2"/>
        <a:sy n="3" d="2"/>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atin typeface="Arial" panose="020B0604020202020204" pitchFamily="34" charset="0"/>
              </a:defRPr>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a:latin typeface="+mn-lt"/>
                <a:ea typeface="+mn-ea"/>
              </a:defRPr>
            </a:lvl1pPr>
          </a:lstStyle>
          <a:p>
            <a:pPr marL="0" marR="0" lvl="0" indent="0" algn="r" defTabSz="914400" rtl="0" eaLnBrk="1" fontAlgn="auto" latinLnBrk="0" hangingPunct="1">
              <a:lnSpc>
                <a:spcPct val="100000"/>
              </a:lnSpc>
              <a:spcBef>
                <a:spcPct val="0"/>
              </a:spcBef>
              <a:spcAft>
                <a:spcPct val="0"/>
              </a:spcAft>
              <a:buClrTx/>
              <a:buSzTx/>
              <a:buFontTx/>
              <a:buNone/>
              <a:defRPr/>
            </a:pPr>
            <a:fld id="{DD6CFA72-79F1-4675-A2F1-112645FE0012}" type="datetimeFigureOut">
              <a:rPr kumimoji="0" lang="zh-CN" altLang="en-US" sz="1200" b="0" i="0" u="none" strike="noStrike" kern="1200" cap="none" spc="0" normalizeH="0" baseline="0" noProof="1">
                <a:ln>
                  <a:noFill/>
                </a:ln>
                <a:solidFill>
                  <a:schemeClr val="tx1"/>
                </a:solidFill>
                <a:effectLst/>
                <a:uLnTx/>
                <a:uFillTx/>
                <a:latin typeface="+mn-lt"/>
                <a:ea typeface="+mn-ea"/>
                <a:cs typeface="+mn-cs"/>
              </a:rPr>
              <a:t>2023/5/30</a:t>
            </a:fld>
            <a:endParaRPr kumimoji="0" lang="zh-CN" altLang="en-US" sz="1200" b="0" i="0" u="none" strike="noStrike" kern="1200" cap="none" spc="0" normalizeH="0" baseline="0" noProof="1">
              <a:ln>
                <a:noFill/>
              </a:ln>
              <a:solidFill>
                <a:schemeClr val="tx1"/>
              </a:solidFill>
              <a:effectLst/>
              <a:uLnTx/>
              <a:uFillTx/>
              <a:latin typeface="+mn-lt"/>
              <a:ea typeface="+mn-ea"/>
              <a:cs typeface="+mn-cs"/>
            </a:endParaRPr>
          </a:p>
        </p:txBody>
      </p:sp>
      <p:sp>
        <p:nvSpPr>
          <p:cNvPr id="12292"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2053" name="备注占位符 4"/>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fontAlgn="auto">
              <a:defRPr sz="1200" noProof="1">
                <a:latin typeface="Arial" panose="020B0604020202020204" pitchFamily="34" charset="0"/>
              </a:defRPr>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t>‹#›</a:t>
            </a:fld>
            <a:endParaRPr lang="zh-CN" altLang="en-US" sz="1200" dirty="0"/>
          </a:p>
        </p:txBody>
      </p:sp>
    </p:spTree>
    <p:extLst>
      <p:ext uri="{BB962C8B-B14F-4D97-AF65-F5344CB8AC3E}">
        <p14:creationId xmlns:p14="http://schemas.microsoft.com/office/powerpoint/2010/main" val="855541083"/>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34116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1CAA1B-04BB-01A4-5132-0BDD854CDD5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232CBA4-C165-2021-606B-42BFF3F85A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DE23921-7945-56A7-ABBE-EDFBFCE704A0}"/>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8FBBD9E2-622C-8680-00B1-0B80B5876951}"/>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7F1DF61E-5B6A-7E5B-8267-3121D6221A94}"/>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71286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B12466-3429-36FD-035E-5868865DC28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0A633A1-6A05-E72F-6846-47522666070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184CC20-962E-B35E-8F5D-13B9EDDBEC9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D45EBF56-CB95-E782-9B54-5680489C383A}"/>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EC612C2F-0CAE-E833-CD0E-676D32D65DCA}"/>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2298282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4251FF-DAD4-41BF-6A09-B0C695C35A6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84F99BA-32F6-0D77-B827-A85089EEF6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B9A6275-6689-5FD7-9689-EF4D433F3CBD}"/>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A7DE7BE2-BCB4-38C7-AB69-9632A05DC14A}"/>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FD1198C0-207F-6F39-0343-0114189224FE}"/>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533584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4A4765-C019-5415-5DFB-336F7FC5198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FDA83E5-2317-5C83-38B2-702DB0CAFB4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3C922D5-E5AC-451B-4FE3-DB286C6FA8D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12A17DA-98CC-624E-7C9D-733D33878CCC}"/>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a:extLst>
              <a:ext uri="{FF2B5EF4-FFF2-40B4-BE49-F238E27FC236}">
                <a16:creationId xmlns:a16="http://schemas.microsoft.com/office/drawing/2014/main" id="{466B618C-79A1-6725-6D60-467C56888D3F}"/>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a:extLst>
              <a:ext uri="{FF2B5EF4-FFF2-40B4-BE49-F238E27FC236}">
                <a16:creationId xmlns:a16="http://schemas.microsoft.com/office/drawing/2014/main" id="{9BBCAD81-D104-F005-B124-9AA20F949452}"/>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2597798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6538E9-A940-4696-6527-D2231124C61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0BCE477-2934-8288-4AAA-AFB0A8D637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769962B-4026-7570-B1D1-0053E303C9E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6F0F388-4D5E-08F8-391E-182E79C969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49C8B37-014A-B5DD-F532-55B0F37AE42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7B07723-3B3E-B5AC-AF38-C742468531BC}"/>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8" name="页脚占位符 7">
            <a:extLst>
              <a:ext uri="{FF2B5EF4-FFF2-40B4-BE49-F238E27FC236}">
                <a16:creationId xmlns:a16="http://schemas.microsoft.com/office/drawing/2014/main" id="{8F6AF78B-4B58-E232-9485-F655E57884CD}"/>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9" name="灯片编号占位符 8">
            <a:extLst>
              <a:ext uri="{FF2B5EF4-FFF2-40B4-BE49-F238E27FC236}">
                <a16:creationId xmlns:a16="http://schemas.microsoft.com/office/drawing/2014/main" id="{A662AC73-D351-DCFD-1043-08908AFD375B}"/>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1366859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012AF-316A-1F50-596A-60C8C64502A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9818D3A-2047-9163-58B1-3DC768740904}"/>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a:extLst>
              <a:ext uri="{FF2B5EF4-FFF2-40B4-BE49-F238E27FC236}">
                <a16:creationId xmlns:a16="http://schemas.microsoft.com/office/drawing/2014/main" id="{05E2B006-C25A-5D69-086E-78E96B3A74BD}"/>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4">
            <a:extLst>
              <a:ext uri="{FF2B5EF4-FFF2-40B4-BE49-F238E27FC236}">
                <a16:creationId xmlns:a16="http://schemas.microsoft.com/office/drawing/2014/main" id="{19A3FE94-AA1B-BE7D-F9C7-E91351A21002}"/>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85231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8460921-086E-9288-4F1C-703814A6EB0F}"/>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3" name="页脚占位符 2">
            <a:extLst>
              <a:ext uri="{FF2B5EF4-FFF2-40B4-BE49-F238E27FC236}">
                <a16:creationId xmlns:a16="http://schemas.microsoft.com/office/drawing/2014/main" id="{00529960-D4BF-F692-7404-A3CAFA7FB75F}"/>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灯片编号占位符 3">
            <a:extLst>
              <a:ext uri="{FF2B5EF4-FFF2-40B4-BE49-F238E27FC236}">
                <a16:creationId xmlns:a16="http://schemas.microsoft.com/office/drawing/2014/main" id="{84F6CEBC-7F84-B714-25EC-AB103B14FDD2}"/>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774544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D0635F-1176-C574-1B07-9F5F29EDBDE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B8B056A-BED1-F50D-E457-C54CB2C47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7374783-07B6-8C2B-398E-044D32257F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7E11642-BE16-C5AD-3477-7E8BF580C04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a:extLst>
              <a:ext uri="{FF2B5EF4-FFF2-40B4-BE49-F238E27FC236}">
                <a16:creationId xmlns:a16="http://schemas.microsoft.com/office/drawing/2014/main" id="{F44DAE12-A553-241F-F442-04B65065FD3B}"/>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a:extLst>
              <a:ext uri="{FF2B5EF4-FFF2-40B4-BE49-F238E27FC236}">
                <a16:creationId xmlns:a16="http://schemas.microsoft.com/office/drawing/2014/main" id="{81BA4377-2B5F-EFD6-AA1E-A823D272BF80}"/>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721735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6EA45-52AA-54CA-A544-B080E49577B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065BB-16C0-3BA9-1590-B22230E165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72DA224-07E4-DA5B-1CF6-1F82CB0347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927686D-D4CE-482F-A5D0-FA7E9B27F1DB}"/>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a:extLst>
              <a:ext uri="{FF2B5EF4-FFF2-40B4-BE49-F238E27FC236}">
                <a16:creationId xmlns:a16="http://schemas.microsoft.com/office/drawing/2014/main" id="{39100DF8-CF53-773E-903E-DC08354C3DE8}"/>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a:extLst>
              <a:ext uri="{FF2B5EF4-FFF2-40B4-BE49-F238E27FC236}">
                <a16:creationId xmlns:a16="http://schemas.microsoft.com/office/drawing/2014/main" id="{590B1A73-88D8-B80C-696E-B624BDCFEA78}"/>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754305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2F43F6-B85F-6154-1E0E-27502E522B8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113F8D2-367B-2F0A-8D6D-13C46FDC0EB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374CBF0-B308-05AD-45B8-3741417A3D6C}"/>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296ECFC3-2B05-114E-ADD0-247C29ECDE40}"/>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6BAE2C9D-C5A6-28E5-33E5-39FF66A19A1A}"/>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510744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29718A9-6281-7DD8-AC66-C7F8B5177F8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804B563-4C5A-39BF-DFFE-02223063866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A08A6C0-EA30-1DEE-FEF7-36F932378B41}"/>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AB1351F0-E29C-A38E-016D-A97A9546F474}"/>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BBB3CF6C-FD0E-E93B-0F38-C97EA1DFFBDE}"/>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724431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D604A20-DF1C-0DD6-04E1-E22B4B98DD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22DEFA4-D0DD-1B9B-6811-7DD45CED89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0C525CB-11D0-480D-3910-29A92D0973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14532C6E-6C86-8AD6-375C-C792A73BA6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DE4CC257-19C4-DFE6-D55D-2D817E7AAB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B0B46A-9FEC-4C73-8E69-8E9BDA52C5B1}" type="slidenum">
              <a:rPr lang="zh-CN" altLang="en-US" smtClean="0"/>
              <a:t>‹#›</a:t>
            </a:fld>
            <a:endParaRPr lang="zh-CN" altLang="en-US"/>
          </a:p>
        </p:txBody>
      </p:sp>
      <p:sp>
        <p:nvSpPr>
          <p:cNvPr id="7" name="Line 7">
            <a:extLst>
              <a:ext uri="{FF2B5EF4-FFF2-40B4-BE49-F238E27FC236}">
                <a16:creationId xmlns:a16="http://schemas.microsoft.com/office/drawing/2014/main" id="{20B3D03A-6F5A-FB74-9EED-10031464D27A}"/>
              </a:ext>
            </a:extLst>
          </p:cNvPr>
          <p:cNvSpPr/>
          <p:nvPr userDrawn="1"/>
        </p:nvSpPr>
        <p:spPr>
          <a:xfrm>
            <a:off x="0" y="684213"/>
            <a:ext cx="12192000" cy="0"/>
          </a:xfrm>
          <a:prstGeom prst="line">
            <a:avLst/>
          </a:prstGeom>
          <a:ln w="114300" cap="flat" cmpd="thickThin">
            <a:solidFill>
              <a:srgbClr val="660033"/>
            </a:solidFill>
            <a:prstDash val="solid"/>
            <a:headEnd type="none" w="med" len="med"/>
            <a:tailEnd type="none" w="med" len="med"/>
          </a:ln>
        </p:spPr>
      </p:sp>
    </p:spTree>
    <p:extLst>
      <p:ext uri="{BB962C8B-B14F-4D97-AF65-F5344CB8AC3E}">
        <p14:creationId xmlns:p14="http://schemas.microsoft.com/office/powerpoint/2010/main" val="2799076816"/>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8.wmf"/><Relationship Id="rId18" Type="http://schemas.openxmlformats.org/officeDocument/2006/relationships/oleObject" Target="../embeddings/oleObject9.bin"/><Relationship Id="rId3" Type="http://schemas.openxmlformats.org/officeDocument/2006/relationships/image" Target="../media/image3.wmf"/><Relationship Id="rId21" Type="http://schemas.openxmlformats.org/officeDocument/2006/relationships/image" Target="../media/image12.emf"/><Relationship Id="rId7" Type="http://schemas.openxmlformats.org/officeDocument/2006/relationships/image" Target="../media/image5.emf"/><Relationship Id="rId12" Type="http://schemas.openxmlformats.org/officeDocument/2006/relationships/oleObject" Target="../embeddings/oleObject6.bin"/><Relationship Id="rId17" Type="http://schemas.openxmlformats.org/officeDocument/2006/relationships/image" Target="../media/image10.w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7.wmf"/><Relationship Id="rId5" Type="http://schemas.openxmlformats.org/officeDocument/2006/relationships/image" Target="../media/image4.wmf"/><Relationship Id="rId15" Type="http://schemas.openxmlformats.org/officeDocument/2006/relationships/image" Target="../media/image9.wmf"/><Relationship Id="rId10" Type="http://schemas.openxmlformats.org/officeDocument/2006/relationships/oleObject" Target="../embeddings/oleObject5.bin"/><Relationship Id="rId19" Type="http://schemas.openxmlformats.org/officeDocument/2006/relationships/image" Target="../media/image11.emf"/><Relationship Id="rId4" Type="http://schemas.openxmlformats.org/officeDocument/2006/relationships/oleObject" Target="../embeddings/oleObject2.bin"/><Relationship Id="rId9" Type="http://schemas.openxmlformats.org/officeDocument/2006/relationships/image" Target="../media/image6.emf"/><Relationship Id="rId14" Type="http://schemas.openxmlformats.org/officeDocument/2006/relationships/oleObject" Target="../embeddings/oleObject7.bin"/></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image" Target="../media/image14.wmf"/><Relationship Id="rId7" Type="http://schemas.openxmlformats.org/officeDocument/2006/relationships/image" Target="../media/image16.wmf"/><Relationship Id="rId2" Type="http://schemas.openxmlformats.org/officeDocument/2006/relationships/oleObject" Target="../embeddings/oleObject11.bin"/><Relationship Id="rId1" Type="http://schemas.openxmlformats.org/officeDocument/2006/relationships/slideLayout" Target="../slideLayouts/slideLayout7.xml"/><Relationship Id="rId6" Type="http://schemas.openxmlformats.org/officeDocument/2006/relationships/oleObject" Target="../embeddings/oleObject13.bin"/><Relationship Id="rId5" Type="http://schemas.openxmlformats.org/officeDocument/2006/relationships/image" Target="../media/image15.wmf"/><Relationship Id="rId4" Type="http://schemas.openxmlformats.org/officeDocument/2006/relationships/oleObject" Target="../embeddings/oleObject12.bin"/><Relationship Id="rId9" Type="http://schemas.openxmlformats.org/officeDocument/2006/relationships/image" Target="../media/image17.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副标题 5"/>
          <p:cNvSpPr/>
          <p:nvPr/>
        </p:nvSpPr>
        <p:spPr>
          <a:xfrm>
            <a:off x="1524000" y="1444625"/>
            <a:ext cx="9498330" cy="1844040"/>
          </a:xfrm>
          <a:prstGeom prst="rect">
            <a:avLst/>
          </a:prstGeom>
          <a:noFill/>
          <a:ln w="9525">
            <a:noFill/>
          </a:ln>
        </p:spPr>
        <p:txBody>
          <a:bodyPr/>
          <a:lstStyle/>
          <a:p>
            <a:pPr algn="ctr">
              <a:spcBef>
                <a:spcPct val="20000"/>
              </a:spcBef>
            </a:pPr>
            <a:r>
              <a:rPr sz="3600" b="1" dirty="0">
                <a:latin typeface="微软雅黑" panose="020B0503020204020204" pitchFamily="34" charset="-122"/>
                <a:ea typeface="微软雅黑" panose="020B0503020204020204" pitchFamily="34" charset="-122"/>
                <a:cs typeface="微软雅黑" panose="020B0503020204020204" pitchFamily="34" charset="-122"/>
              </a:rPr>
              <a:t>机器人运动学</a:t>
            </a:r>
          </a:p>
          <a:p>
            <a:pPr algn="ctr">
              <a:spcBef>
                <a:spcPct val="20000"/>
              </a:spcBef>
            </a:pPr>
            <a:r>
              <a:rPr sz="3600" b="1" dirty="0">
                <a:latin typeface="微软雅黑" panose="020B0503020204020204" pitchFamily="34" charset="-122"/>
                <a:ea typeface="微软雅黑" panose="020B0503020204020204" pitchFamily="34" charset="-122"/>
                <a:cs typeface="微软雅黑" panose="020B0503020204020204" pitchFamily="34" charset="-122"/>
              </a:rPr>
              <a:t>第</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十</a:t>
            </a:r>
            <a:r>
              <a:rPr sz="3600" b="1" dirty="0">
                <a:latin typeface="微软雅黑" panose="020B0503020204020204" pitchFamily="34" charset="-122"/>
                <a:ea typeface="微软雅黑" panose="020B0503020204020204" pitchFamily="34" charset="-122"/>
                <a:cs typeface="微软雅黑" panose="020B0503020204020204" pitchFamily="34" charset="-122"/>
              </a:rPr>
              <a:t>章</a:t>
            </a:r>
            <a:r>
              <a:rPr lang="en-US" sz="36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四足机器人硬件和电路结构介绍</a:t>
            </a:r>
            <a:endParaRPr sz="3600" b="1" dirty="0">
              <a:latin typeface="微软雅黑" panose="020B0503020204020204" pitchFamily="34" charset="-122"/>
              <a:ea typeface="微软雅黑" panose="020B0503020204020204" pitchFamily="34" charset="-122"/>
              <a:cs typeface="微软雅黑" panose="020B0503020204020204" pitchFamily="34" charset="-122"/>
            </a:endParaRPr>
          </a:p>
          <a:p>
            <a:pPr algn="ctr">
              <a:spcBef>
                <a:spcPct val="20000"/>
              </a:spcBef>
            </a:pP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51" name="Rectangle 30"/>
          <p:cNvSpPr/>
          <p:nvPr/>
        </p:nvSpPr>
        <p:spPr>
          <a:xfrm>
            <a:off x="3790950" y="3287713"/>
            <a:ext cx="4816475" cy="2609850"/>
          </a:xfrm>
          <a:prstGeom prst="rect">
            <a:avLst/>
          </a:prstGeom>
          <a:noFill/>
          <a:ln w="9525">
            <a:noFill/>
          </a:ln>
        </p:spPr>
        <p:txBody>
          <a:bodyPr/>
          <a:lstStyle/>
          <a:p>
            <a:pPr algn="ctr">
              <a:lnSpc>
                <a:spcPct val="200000"/>
              </a:lnSpc>
            </a:pPr>
            <a:r>
              <a:rPr lang="zh-CN" altLang="en-US" sz="2400" b="1" dirty="0">
                <a:latin typeface="Times New Roman" panose="02020603050405020304" pitchFamily="18" charset="0"/>
                <a:ea typeface="微软雅黑" panose="020B0503020204020204" pitchFamily="34" charset="-122"/>
              </a:rPr>
              <a:t>李彬</a:t>
            </a:r>
          </a:p>
          <a:p>
            <a:pPr algn="ctr">
              <a:lnSpc>
                <a:spcPct val="200000"/>
              </a:lnSpc>
            </a:pPr>
            <a:r>
              <a:rPr lang="zh-CN" altLang="en-US" sz="2400" b="1" dirty="0">
                <a:latin typeface="Times New Roman" panose="02020603050405020304" pitchFamily="18" charset="0"/>
                <a:ea typeface="微软雅黑" panose="020B0503020204020204" pitchFamily="34" charset="-122"/>
              </a:rPr>
              <a:t>智能人机交互创新团队</a:t>
            </a:r>
            <a:endParaRPr lang="en-US" altLang="zh-CN" sz="2400" b="1" dirty="0">
              <a:latin typeface="Times New Roman" panose="02020603050405020304" pitchFamily="18" charset="0"/>
              <a:ea typeface="微软雅黑" panose="020B0503020204020204" pitchFamily="34" charset="-122"/>
            </a:endParaRPr>
          </a:p>
          <a:p>
            <a:pPr>
              <a:lnSpc>
                <a:spcPct val="200000"/>
              </a:lnSpc>
            </a:pPr>
            <a:endParaRPr lang="en-US" altLang="zh-CN" sz="2400" b="1" dirty="0">
              <a:latin typeface="Times New Roman" panose="02020603050405020304" pitchFamily="18" charset="0"/>
              <a:ea typeface="微软雅黑" panose="020B0503020204020204" pitchFamily="34"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800" b="1" dirty="0">
                <a:latin typeface="Times New Roman" pitchFamily="18" charset="0"/>
                <a:ea typeface="华文中宋" pitchFamily="2" charset="-122"/>
              </a:rPr>
              <a:t>本章内容介绍</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919735" y="1172327"/>
            <a:ext cx="10352529" cy="539103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章主要介绍四足机器人的硬件、电路结构框架及电路原理图，以提高读者对机器人内部结构的理解。电路硬件设计是机器人设计的重要部分，是连接软件和机械本体的桥梁。优秀的硬件设计既可以降低电路的复杂度，也可以保证系统的稳定性。本书所搭建的四足机器人硬件系统主要包含</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部分内容。</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本章主要包括以下内容：</a:t>
            </a:r>
            <a:endPar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lvl="7" indent="-342900" eaLnBrk="1" hangingPunct="1">
              <a:lnSpc>
                <a:spcPct val="120000"/>
              </a:lnSpc>
              <a:spcBef>
                <a:spcPct val="10000"/>
              </a:spcBef>
              <a:spcAft>
                <a:spcPct val="10000"/>
              </a:spcAft>
              <a:buFont typeface="Wingdings" panose="05000000000000000000" pitchFamily="2" charset="2"/>
              <a:buChar char="p"/>
              <a:defRPr/>
            </a:pP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10.1 </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执行器</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lvl="7" indent="-342900" eaLnBrk="1" hangingPunct="1">
              <a:lnSpc>
                <a:spcPct val="120000"/>
              </a:lnSpc>
              <a:spcBef>
                <a:spcPct val="10000"/>
              </a:spcBef>
              <a:spcAft>
                <a:spcPct val="10000"/>
              </a:spcAft>
              <a:buFont typeface="Wingdings" panose="05000000000000000000" pitchFamily="2" charset="2"/>
              <a:buChar char="p"/>
              <a:defRPr/>
            </a:pPr>
            <a:r>
              <a:rPr lang="en-US" sz="2400" b="1" dirty="0">
                <a:latin typeface="微软雅黑" panose="020B0503020204020204" pitchFamily="34" charset="-122"/>
                <a:ea typeface="微软雅黑" panose="020B0503020204020204" pitchFamily="34" charset="-122"/>
                <a:cs typeface="微软雅黑" panose="020B0503020204020204" pitchFamily="34" charset="-122"/>
              </a:rPr>
              <a:t>12.2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动力源</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lvl="7" indent="-342900" eaLnBrk="1" hangingPunct="1">
              <a:lnSpc>
                <a:spcPct val="120000"/>
              </a:lnSpc>
              <a:spcBef>
                <a:spcPct val="10000"/>
              </a:spcBef>
              <a:spcAft>
                <a:spcPct val="10000"/>
              </a:spcAft>
              <a:buFont typeface="Wingdings" panose="05000000000000000000" pitchFamily="2" charset="2"/>
              <a:buChar char="p"/>
              <a:defRPr/>
            </a:pPr>
            <a:r>
              <a:rPr kumimoji="0" 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12.3 </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Up board</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lvl="7" indent="-342900" eaLnBrk="1" hangingPunct="1">
              <a:lnSpc>
                <a:spcPct val="120000"/>
              </a:lnSpc>
              <a:spcBef>
                <a:spcPct val="10000"/>
              </a:spcBef>
              <a:spcAft>
                <a:spcPct val="10000"/>
              </a:spcAft>
              <a:buFont typeface="Wingdings" panose="05000000000000000000" pitchFamily="2" charset="2"/>
              <a:buChar char="p"/>
              <a:defRPr/>
            </a:pPr>
            <a:r>
              <a:rPr lang="en-US" sz="2400" b="1" dirty="0">
                <a:latin typeface="微软雅黑" panose="020B0503020204020204" pitchFamily="34" charset="-122"/>
                <a:ea typeface="微软雅黑" panose="020B0503020204020204" pitchFamily="34" charset="-122"/>
                <a:cs typeface="微软雅黑" panose="020B0503020204020204" pitchFamily="34" charset="-122"/>
              </a:rPr>
              <a:t>12.4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遥控器</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lvl="7" indent="-342900" eaLnBrk="1" hangingPunct="1">
              <a:lnSpc>
                <a:spcPct val="120000"/>
              </a:lnSpc>
              <a:spcBef>
                <a:spcPct val="10000"/>
              </a:spcBef>
              <a:spcAft>
                <a:spcPct val="10000"/>
              </a:spcAft>
              <a:buFont typeface="Wingdings" panose="05000000000000000000" pitchFamily="2" charset="2"/>
              <a:buChar char="p"/>
              <a:defRPr/>
            </a:pPr>
            <a:r>
              <a:rPr kumimoji="0" 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12.5 </a:t>
            </a:r>
            <a:r>
              <a:rPr lang="en-US" altLang="zh-CN" sz="2400" b="1" dirty="0" err="1">
                <a:latin typeface="微软雅黑" panose="020B0503020204020204" pitchFamily="34" charset="-122"/>
                <a:ea typeface="微软雅黑" panose="020B0503020204020204" pitchFamily="34" charset="-122"/>
                <a:cs typeface="微软雅黑" panose="020B0503020204020204" pitchFamily="34" charset="-122"/>
              </a:rPr>
              <a:t>SPIne</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信号转接板</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lvl="7" indent="-342900" eaLnBrk="1" hangingPunct="1">
              <a:lnSpc>
                <a:spcPct val="120000"/>
              </a:lnSpc>
              <a:spcBef>
                <a:spcPct val="10000"/>
              </a:spcBef>
              <a:spcAft>
                <a:spcPct val="10000"/>
              </a:spcAft>
              <a:buFont typeface="Wingdings" panose="05000000000000000000" pitchFamily="2" charset="2"/>
              <a:buChar char="p"/>
              <a:defRPr/>
            </a:pPr>
            <a:r>
              <a:rPr kumimoji="0" 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12.6 </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接线转接板</a:t>
            </a:r>
            <a:endParaRPr kumimoji="0"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9719"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10.1 </a:t>
            </a:r>
            <a:r>
              <a:rPr lang="zh-CN" altLang="en-US" sz="2800" b="1" dirty="0">
                <a:latin typeface="Times New Roman" pitchFamily="18" charset="0"/>
                <a:ea typeface="华文中宋" pitchFamily="2" charset="-122"/>
              </a:rPr>
              <a:t>执行器</a:t>
            </a:r>
            <a:r>
              <a:rPr lang="en-US" altLang="zh-CN" sz="2800" b="1" dirty="0">
                <a:latin typeface="Times New Roman" pitchFamily="18" charset="0"/>
                <a:ea typeface="华文中宋" pitchFamily="2" charset="-122"/>
              </a:rPr>
              <a:t> </a:t>
            </a:r>
            <a:endParaRPr lang="zh-CN" altLang="en-US" sz="2800" b="1" dirty="0">
              <a:latin typeface="Times New Roman" pitchFamily="18" charset="0"/>
              <a:ea typeface="华文中宋" pitchFamily="2" charset="-122"/>
            </a:endParaRP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1167026" y="1238316"/>
            <a:ext cx="10352529" cy="3821364"/>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执行器电路主要模块的功能介绍如下：硬件驱动电路主要包含驱动算法处理、位置检测、电流检测、功率桥、功率管驱动等电路；驱动算法处理电路是驱动电路的核心，采用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STM32F446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作为主控制器，完成模拟信号采样、位置采样、</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FOC(Field-Oriented Control)</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计算、通信处理等功能；位置检测电路完成电机转子的绝对位置获取，给驱动算法提供依据；电流检测电路检测电机三相绕组的电流，给</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FOC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算法提供磁场计算需要的电流信号；功率桥电路给电机定子绕组提供需要的电压和电流，由处理器通过功率管驱动电路对功率管进行开关处理，完成对电流和电压的调节。</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1150298841"/>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9719"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10.1 </a:t>
            </a:r>
            <a:r>
              <a:rPr lang="zh-CN" altLang="en-US" sz="2800" b="1" dirty="0">
                <a:latin typeface="Times New Roman" pitchFamily="18" charset="0"/>
                <a:ea typeface="华文中宋" pitchFamily="2" charset="-122"/>
              </a:rPr>
              <a:t>执行器</a:t>
            </a:r>
            <a:r>
              <a:rPr lang="en-US" altLang="zh-CN" sz="2800" b="1" dirty="0">
                <a:latin typeface="Times New Roman" pitchFamily="18" charset="0"/>
                <a:ea typeface="华文中宋" pitchFamily="2" charset="-122"/>
              </a:rPr>
              <a:t> </a:t>
            </a:r>
            <a:endParaRPr lang="zh-CN" altLang="en-US" sz="2800" b="1" dirty="0">
              <a:latin typeface="Times New Roman" pitchFamily="18" charset="0"/>
              <a:ea typeface="华文中宋" pitchFamily="2" charset="-122"/>
            </a:endParaRPr>
          </a:p>
        </p:txBody>
      </p:sp>
      <p:pic>
        <p:nvPicPr>
          <p:cNvPr id="1026" name="图片 1">
            <a:extLst>
              <a:ext uri="{FF2B5EF4-FFF2-40B4-BE49-F238E27FC236}">
                <a16:creationId xmlns:a16="http://schemas.microsoft.com/office/drawing/2014/main" id="{438C9AE5-03E8-2A11-17B4-F61E8A8C0C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3424690" y="-1606685"/>
            <a:ext cx="5052745" cy="10693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E141C1F7-73A2-5CB7-04B5-2673218864C5}"/>
              </a:ext>
            </a:extLst>
          </p:cNvPr>
          <p:cNvSpPr txBox="1"/>
          <p:nvPr/>
        </p:nvSpPr>
        <p:spPr>
          <a:xfrm>
            <a:off x="4447094" y="6266547"/>
            <a:ext cx="2604155" cy="369332"/>
          </a:xfrm>
          <a:prstGeom prst="rect">
            <a:avLst/>
          </a:prstGeom>
          <a:noFill/>
        </p:spPr>
        <p:txBody>
          <a:bodyPr wrap="square">
            <a:spAutoFit/>
          </a:bodyPr>
          <a:lstStyle/>
          <a:p>
            <a:pPr algn="ct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执行器电路设计原理图</a:t>
            </a:r>
            <a:endParaRPr lang="zh-CN" altLang="en-US" dirty="0"/>
          </a:p>
        </p:txBody>
      </p:sp>
    </p:spTree>
    <p:extLst>
      <p:ext uri="{BB962C8B-B14F-4D97-AF65-F5344CB8AC3E}">
        <p14:creationId xmlns:p14="http://schemas.microsoft.com/office/powerpoint/2010/main" val="3143060472"/>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9719"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10.1 </a:t>
            </a:r>
            <a:r>
              <a:rPr lang="zh-CN" altLang="en-US" sz="2800" b="1" dirty="0">
                <a:latin typeface="Times New Roman" pitchFamily="18" charset="0"/>
                <a:ea typeface="华文中宋" pitchFamily="2" charset="-122"/>
              </a:rPr>
              <a:t>执行器</a:t>
            </a:r>
            <a:r>
              <a:rPr lang="en-US" altLang="zh-CN" sz="2800" b="1" dirty="0">
                <a:latin typeface="Times New Roman" pitchFamily="18" charset="0"/>
                <a:ea typeface="华文中宋" pitchFamily="2" charset="-122"/>
              </a:rPr>
              <a:t> </a:t>
            </a:r>
            <a:endParaRPr lang="zh-CN" altLang="en-US" sz="2800" b="1" dirty="0">
              <a:latin typeface="Times New Roman" pitchFamily="18" charset="0"/>
              <a:ea typeface="华文中宋" pitchFamily="2" charset="-122"/>
            </a:endParaRPr>
          </a:p>
        </p:txBody>
      </p:sp>
      <p:sp>
        <p:nvSpPr>
          <p:cNvPr id="2" name="内容占位符 2">
            <a:extLst>
              <a:ext uri="{FF2B5EF4-FFF2-40B4-BE49-F238E27FC236}">
                <a16:creationId xmlns:a16="http://schemas.microsoft.com/office/drawing/2014/main" id="{8F668432-840C-46D3-BCA8-F0F68469B599}"/>
              </a:ext>
            </a:extLst>
          </p:cNvPr>
          <p:cNvSpPr>
            <a:spLocks noChangeArrowheads="1"/>
          </p:cNvSpPr>
          <p:nvPr/>
        </p:nvSpPr>
        <p:spPr bwMode="auto">
          <a:xfrm>
            <a:off x="919735" y="1294876"/>
            <a:ext cx="10352529" cy="4521461"/>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电机驱动电路主</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CPU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采用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STM32F446(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主频</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180Mhz</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，内置硬件浮点运算单元，可以满足高达</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40kHz</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FOC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运算需求</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作为主控制器。根据</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FOC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框架，主控制器至少需要</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路</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ADC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路</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 (</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读取编码器数值</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路</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 (</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进行驱动芯片配置</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和</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路互补</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PWM</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输出。电机对外通信需要留出</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接口</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进行系统设置</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和串口</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调试</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STM32F446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的调试和仿真接口由</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引出。为确保电机在高温时通信的稳定性，系统时钟采用外部晶振。</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STM32F446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接口接收</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SPIne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信号转接板发来的指令，经过计算后产生</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PWMA</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PWMB</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PWMC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信号，通过</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DRV8323</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驱动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Q1</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Q2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Q3</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Q4</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Q5</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Q6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，从而驱动三相电机旋转。</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FOC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算法还需要用到三相电流，硬件部分只采集了</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相和</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B</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相电流，</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相电流可通过计算得出。</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622826978"/>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9719"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10.1 </a:t>
            </a:r>
            <a:r>
              <a:rPr lang="zh-CN" altLang="en-US" sz="2800" b="1" dirty="0">
                <a:latin typeface="Times New Roman" pitchFamily="18" charset="0"/>
                <a:ea typeface="华文中宋" pitchFamily="2" charset="-122"/>
              </a:rPr>
              <a:t>执行器</a:t>
            </a:r>
            <a:r>
              <a:rPr lang="en-US" altLang="zh-CN" sz="2800" b="1" dirty="0">
                <a:latin typeface="Times New Roman" pitchFamily="18" charset="0"/>
                <a:ea typeface="华文中宋" pitchFamily="2" charset="-122"/>
              </a:rPr>
              <a:t> </a:t>
            </a:r>
            <a:endParaRPr lang="zh-CN" altLang="en-US" sz="2800" b="1" dirty="0">
              <a:latin typeface="Times New Roman" pitchFamily="18" charset="0"/>
              <a:ea typeface="华文中宋" pitchFamily="2" charset="-122"/>
            </a:endParaRPr>
          </a:p>
        </p:txBody>
      </p:sp>
      <p:pic>
        <p:nvPicPr>
          <p:cNvPr id="2050" name="Picture 2">
            <a:extLst>
              <a:ext uri="{FF2B5EF4-FFF2-40B4-BE49-F238E27FC236}">
                <a16:creationId xmlns:a16="http://schemas.microsoft.com/office/drawing/2014/main" id="{2A9D8111-F4EF-3C95-5464-AD9E9E9F2B3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27142" y="975724"/>
            <a:ext cx="5097463"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AD69A64E-4146-BEE5-88CB-A86AA21588EC}"/>
              </a:ext>
            </a:extLst>
          </p:cNvPr>
          <p:cNvSpPr txBox="1"/>
          <p:nvPr/>
        </p:nvSpPr>
        <p:spPr>
          <a:xfrm>
            <a:off x="2297784" y="6126573"/>
            <a:ext cx="6122708" cy="369332"/>
          </a:xfrm>
          <a:prstGeom prst="rect">
            <a:avLst/>
          </a:prstGeom>
          <a:noFill/>
        </p:spPr>
        <p:txBody>
          <a:bodyPr wrap="square">
            <a:spAutoFit/>
          </a:bodyPr>
          <a:lstStyle/>
          <a:p>
            <a:pPr algn="ctr"/>
            <a:r>
              <a:rPr lang="en-US" altLang="zh-CN" sz="1800" kern="1000" dirty="0">
                <a:effectLst/>
                <a:latin typeface="Times New Roman" panose="02020603050405020304" pitchFamily="18" charset="0"/>
                <a:ea typeface="宋体" panose="02010600030101010101" pitchFamily="2" charset="-122"/>
              </a:rPr>
              <a:t>STM32F446</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引脚图</a:t>
            </a:r>
            <a:endParaRPr lang="zh-CN" altLang="en-US" dirty="0"/>
          </a:p>
        </p:txBody>
      </p:sp>
    </p:spTree>
    <p:extLst>
      <p:ext uri="{BB962C8B-B14F-4D97-AF65-F5344CB8AC3E}">
        <p14:creationId xmlns:p14="http://schemas.microsoft.com/office/powerpoint/2010/main" val="3284183445"/>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10.1 </a:t>
            </a:r>
            <a:r>
              <a:rPr lang="zh-CN" altLang="en-US" sz="2800" b="1" dirty="0">
                <a:latin typeface="Times New Roman" pitchFamily="18" charset="0"/>
                <a:ea typeface="华文中宋" pitchFamily="2" charset="-122"/>
              </a:rPr>
              <a:t>执行器</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1308425" y="1183095"/>
            <a:ext cx="10352529" cy="5208279"/>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10000"/>
              </a:spcBef>
              <a:spcAft>
                <a:spcPct val="10000"/>
              </a:spcAft>
              <a:buClrTx/>
              <a:buSzTx/>
              <a:defRPr/>
            </a:pP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内容占位符 2">
            <a:extLst>
              <a:ext uri="{FF2B5EF4-FFF2-40B4-BE49-F238E27FC236}">
                <a16:creationId xmlns:a16="http://schemas.microsoft.com/office/drawing/2014/main" id="{4BE9C033-EE29-FBE0-CF54-AFB4F6BF2721}"/>
              </a:ext>
            </a:extLst>
          </p:cNvPr>
          <p:cNvSpPr>
            <a:spLocks noChangeArrowheads="1"/>
          </p:cNvSpPr>
          <p:nvPr/>
        </p:nvSpPr>
        <p:spPr bwMode="auto">
          <a:xfrm>
            <a:off x="657978" y="1086454"/>
            <a:ext cx="11282562" cy="4588451"/>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10000"/>
              </a:spcBef>
              <a:spcAft>
                <a:spcPct val="10000"/>
              </a:spcAft>
              <a:buClrTx/>
              <a:buSzTx/>
              <a:defRPr/>
            </a:pP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FOC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的工作原理如下所示：</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20000"/>
              </a:lnSpc>
              <a:spcBef>
                <a:spcPct val="10000"/>
              </a:spcBef>
              <a:spcAft>
                <a:spcPct val="10000"/>
              </a:spcAft>
              <a:buClrTx/>
              <a:buSzTx/>
              <a:defRP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采集两相电流；</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）经过</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Clarke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变换后得到两轴正交电流量；</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）经过旋转变换后得到正交的电流量    、  ；</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）将第</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步中得到的    与    分别送进</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PI</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调节器，得到对应的输出    和     ； </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5</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）通过传感器得到电机转过的角度；</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）进行逆</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park</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变换，得到二轴电压量     和    ；</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）对第</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步中的    和    进行</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Clarke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逆变换，得到实际需要的三相电压输出值。</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7" name="对象 36">
            <a:extLst>
              <a:ext uri="{FF2B5EF4-FFF2-40B4-BE49-F238E27FC236}">
                <a16:creationId xmlns:a16="http://schemas.microsoft.com/office/drawing/2014/main" id="{80EC17DB-EBA4-CCBD-A0F7-8CDEA1589FC3}"/>
              </a:ext>
            </a:extLst>
          </p:cNvPr>
          <p:cNvGraphicFramePr>
            <a:graphicFrameLocks noChangeAspect="1"/>
          </p:cNvGraphicFramePr>
          <p:nvPr>
            <p:extLst>
              <p:ext uri="{D42A27DB-BD31-4B8C-83A1-F6EECF244321}">
                <p14:modId xmlns:p14="http://schemas.microsoft.com/office/powerpoint/2010/main" val="1364324829"/>
              </p:ext>
            </p:extLst>
          </p:nvPr>
        </p:nvGraphicFramePr>
        <p:xfrm>
          <a:off x="6127750" y="2719388"/>
          <a:ext cx="279400" cy="381000"/>
        </p:xfrm>
        <a:graphic>
          <a:graphicData uri="http://schemas.openxmlformats.org/presentationml/2006/ole">
            <mc:AlternateContent xmlns:mc="http://schemas.openxmlformats.org/markup-compatibility/2006">
              <mc:Choice xmlns:v="urn:schemas-microsoft-com:vml" Requires="v">
                <p:oleObj name="Equation" r:id="rId2" imgW="279360" imgH="380880" progId="Equation.DSMT4">
                  <p:embed/>
                </p:oleObj>
              </mc:Choice>
              <mc:Fallback>
                <p:oleObj name="Equation" r:id="rId2" imgW="279360" imgH="380880" progId="Equation.DSMT4">
                  <p:embed/>
                  <p:pic>
                    <p:nvPicPr>
                      <p:cNvPr id="0" name=""/>
                      <p:cNvPicPr/>
                      <p:nvPr/>
                    </p:nvPicPr>
                    <p:blipFill>
                      <a:blip r:embed="rId3"/>
                      <a:stretch>
                        <a:fillRect/>
                      </a:stretch>
                    </p:blipFill>
                    <p:spPr>
                      <a:xfrm>
                        <a:off x="6127750" y="2719388"/>
                        <a:ext cx="279400" cy="381000"/>
                      </a:xfrm>
                      <a:prstGeom prst="rect">
                        <a:avLst/>
                      </a:prstGeom>
                    </p:spPr>
                  </p:pic>
                </p:oleObj>
              </mc:Fallback>
            </mc:AlternateContent>
          </a:graphicData>
        </a:graphic>
      </p:graphicFrame>
      <p:graphicFrame>
        <p:nvGraphicFramePr>
          <p:cNvPr id="39" name="对象 38">
            <a:extLst>
              <a:ext uri="{FF2B5EF4-FFF2-40B4-BE49-F238E27FC236}">
                <a16:creationId xmlns:a16="http://schemas.microsoft.com/office/drawing/2014/main" id="{B95E6FAE-0266-18BD-B45A-9893DA0EB457}"/>
              </a:ext>
            </a:extLst>
          </p:cNvPr>
          <p:cNvGraphicFramePr>
            <a:graphicFrameLocks noChangeAspect="1"/>
          </p:cNvGraphicFramePr>
          <p:nvPr>
            <p:extLst>
              <p:ext uri="{D42A27DB-BD31-4B8C-83A1-F6EECF244321}">
                <p14:modId xmlns:p14="http://schemas.microsoft.com/office/powerpoint/2010/main" val="3988456826"/>
              </p:ext>
            </p:extLst>
          </p:nvPr>
        </p:nvGraphicFramePr>
        <p:xfrm>
          <a:off x="6650990" y="2719388"/>
          <a:ext cx="266700" cy="419100"/>
        </p:xfrm>
        <a:graphic>
          <a:graphicData uri="http://schemas.openxmlformats.org/presentationml/2006/ole">
            <mc:AlternateContent xmlns:mc="http://schemas.openxmlformats.org/markup-compatibility/2006">
              <mc:Choice xmlns:v="urn:schemas-microsoft-com:vml" Requires="v">
                <p:oleObj name="Equation" r:id="rId4" imgW="266400" imgH="419040" progId="Equation.DSMT4">
                  <p:embed/>
                </p:oleObj>
              </mc:Choice>
              <mc:Fallback>
                <p:oleObj name="Equation" r:id="rId4" imgW="266400" imgH="419040" progId="Equation.DSMT4">
                  <p:embed/>
                  <p:pic>
                    <p:nvPicPr>
                      <p:cNvPr id="0" name=""/>
                      <p:cNvPicPr/>
                      <p:nvPr/>
                    </p:nvPicPr>
                    <p:blipFill>
                      <a:blip r:embed="rId5"/>
                      <a:stretch>
                        <a:fillRect/>
                      </a:stretch>
                    </p:blipFill>
                    <p:spPr>
                      <a:xfrm>
                        <a:off x="6650990" y="2719388"/>
                        <a:ext cx="266700" cy="419100"/>
                      </a:xfrm>
                      <a:prstGeom prst="rect">
                        <a:avLst/>
                      </a:prstGeom>
                    </p:spPr>
                  </p:pic>
                </p:oleObj>
              </mc:Fallback>
            </mc:AlternateContent>
          </a:graphicData>
        </a:graphic>
      </p:graphicFrame>
      <p:graphicFrame>
        <p:nvGraphicFramePr>
          <p:cNvPr id="40" name="对象 39">
            <a:extLst>
              <a:ext uri="{FF2B5EF4-FFF2-40B4-BE49-F238E27FC236}">
                <a16:creationId xmlns:a16="http://schemas.microsoft.com/office/drawing/2014/main" id="{498BB49E-A41D-D6AB-69E8-125CEE098DF2}"/>
              </a:ext>
            </a:extLst>
          </p:cNvPr>
          <p:cNvGraphicFramePr>
            <a:graphicFrameLocks noChangeAspect="1"/>
          </p:cNvGraphicFramePr>
          <p:nvPr>
            <p:extLst>
              <p:ext uri="{D42A27DB-BD31-4B8C-83A1-F6EECF244321}">
                <p14:modId xmlns:p14="http://schemas.microsoft.com/office/powerpoint/2010/main" val="3001094632"/>
              </p:ext>
            </p:extLst>
          </p:nvPr>
        </p:nvGraphicFramePr>
        <p:xfrm>
          <a:off x="4165600" y="3238500"/>
          <a:ext cx="279400" cy="381000"/>
        </p:xfrm>
        <a:graphic>
          <a:graphicData uri="http://schemas.openxmlformats.org/presentationml/2006/ole">
            <mc:AlternateContent xmlns:mc="http://schemas.openxmlformats.org/markup-compatibility/2006">
              <mc:Choice xmlns:v="urn:schemas-microsoft-com:vml" Requires="v">
                <p:oleObj name="Equation" r:id="rId6" imgW="279021" imgH="381254" progId="Equation.DSMT4">
                  <p:embed/>
                </p:oleObj>
              </mc:Choice>
              <mc:Fallback>
                <p:oleObj name="Equation" r:id="rId6" imgW="279021" imgH="381254" progId="Equation.DSMT4">
                  <p:embed/>
                  <p:pic>
                    <p:nvPicPr>
                      <p:cNvPr id="0" name=""/>
                      <p:cNvPicPr/>
                      <p:nvPr/>
                    </p:nvPicPr>
                    <p:blipFill>
                      <a:blip r:embed="rId7"/>
                      <a:stretch>
                        <a:fillRect/>
                      </a:stretch>
                    </p:blipFill>
                    <p:spPr>
                      <a:xfrm>
                        <a:off x="4165600" y="3238500"/>
                        <a:ext cx="279400" cy="381000"/>
                      </a:xfrm>
                      <a:prstGeom prst="rect">
                        <a:avLst/>
                      </a:prstGeom>
                    </p:spPr>
                  </p:pic>
                </p:oleObj>
              </mc:Fallback>
            </mc:AlternateContent>
          </a:graphicData>
        </a:graphic>
      </p:graphicFrame>
      <p:graphicFrame>
        <p:nvGraphicFramePr>
          <p:cNvPr id="41" name="对象 40">
            <a:extLst>
              <a:ext uri="{FF2B5EF4-FFF2-40B4-BE49-F238E27FC236}">
                <a16:creationId xmlns:a16="http://schemas.microsoft.com/office/drawing/2014/main" id="{6DDA075C-7281-E401-4428-60422521A4EC}"/>
              </a:ext>
            </a:extLst>
          </p:cNvPr>
          <p:cNvGraphicFramePr>
            <a:graphicFrameLocks noChangeAspect="1"/>
          </p:cNvGraphicFramePr>
          <p:nvPr>
            <p:extLst>
              <p:ext uri="{D42A27DB-BD31-4B8C-83A1-F6EECF244321}">
                <p14:modId xmlns:p14="http://schemas.microsoft.com/office/powerpoint/2010/main" val="941480982"/>
              </p:ext>
            </p:extLst>
          </p:nvPr>
        </p:nvGraphicFramePr>
        <p:xfrm>
          <a:off x="4856592" y="3219450"/>
          <a:ext cx="266700" cy="419100"/>
        </p:xfrm>
        <a:graphic>
          <a:graphicData uri="http://schemas.openxmlformats.org/presentationml/2006/ole">
            <mc:AlternateContent xmlns:mc="http://schemas.openxmlformats.org/markup-compatibility/2006">
              <mc:Choice xmlns:v="urn:schemas-microsoft-com:vml" Requires="v">
                <p:oleObj name="Equation" r:id="rId8" imgW="266780" imgH="419415" progId="Equation.DSMT4">
                  <p:embed/>
                </p:oleObj>
              </mc:Choice>
              <mc:Fallback>
                <p:oleObj name="Equation" r:id="rId8" imgW="266780" imgH="419415" progId="Equation.DSMT4">
                  <p:embed/>
                  <p:pic>
                    <p:nvPicPr>
                      <p:cNvPr id="0" name=""/>
                      <p:cNvPicPr/>
                      <p:nvPr/>
                    </p:nvPicPr>
                    <p:blipFill>
                      <a:blip r:embed="rId9"/>
                      <a:stretch>
                        <a:fillRect/>
                      </a:stretch>
                    </p:blipFill>
                    <p:spPr>
                      <a:xfrm>
                        <a:off x="4856592" y="3219450"/>
                        <a:ext cx="266700" cy="419100"/>
                      </a:xfrm>
                      <a:prstGeom prst="rect">
                        <a:avLst/>
                      </a:prstGeom>
                    </p:spPr>
                  </p:pic>
                </p:oleObj>
              </mc:Fallback>
            </mc:AlternateContent>
          </a:graphicData>
        </a:graphic>
      </p:graphicFrame>
      <p:graphicFrame>
        <p:nvGraphicFramePr>
          <p:cNvPr id="42" name="对象 41">
            <a:extLst>
              <a:ext uri="{FF2B5EF4-FFF2-40B4-BE49-F238E27FC236}">
                <a16:creationId xmlns:a16="http://schemas.microsoft.com/office/drawing/2014/main" id="{7C71DC2F-E485-87E6-4339-ED1E172FA8B8}"/>
              </a:ext>
            </a:extLst>
          </p:cNvPr>
          <p:cNvGraphicFramePr>
            <a:graphicFrameLocks noChangeAspect="1"/>
          </p:cNvGraphicFramePr>
          <p:nvPr>
            <p:extLst>
              <p:ext uri="{D42A27DB-BD31-4B8C-83A1-F6EECF244321}">
                <p14:modId xmlns:p14="http://schemas.microsoft.com/office/powerpoint/2010/main" val="3886349852"/>
              </p:ext>
            </p:extLst>
          </p:nvPr>
        </p:nvGraphicFramePr>
        <p:xfrm>
          <a:off x="10060940" y="3238500"/>
          <a:ext cx="279400" cy="419100"/>
        </p:xfrm>
        <a:graphic>
          <a:graphicData uri="http://schemas.openxmlformats.org/presentationml/2006/ole">
            <mc:AlternateContent xmlns:mc="http://schemas.openxmlformats.org/markup-compatibility/2006">
              <mc:Choice xmlns:v="urn:schemas-microsoft-com:vml" Requires="v">
                <p:oleObj name="Equation" r:id="rId10" imgW="279360" imgH="419040" progId="Equation.DSMT4">
                  <p:embed/>
                </p:oleObj>
              </mc:Choice>
              <mc:Fallback>
                <p:oleObj name="Equation" r:id="rId10" imgW="279360" imgH="419040" progId="Equation.DSMT4">
                  <p:embed/>
                  <p:pic>
                    <p:nvPicPr>
                      <p:cNvPr id="0" name=""/>
                      <p:cNvPicPr/>
                      <p:nvPr/>
                    </p:nvPicPr>
                    <p:blipFill>
                      <a:blip r:embed="rId11"/>
                      <a:stretch>
                        <a:fillRect/>
                      </a:stretch>
                    </p:blipFill>
                    <p:spPr>
                      <a:xfrm>
                        <a:off x="10060940" y="3238500"/>
                        <a:ext cx="279400" cy="419100"/>
                      </a:xfrm>
                      <a:prstGeom prst="rect">
                        <a:avLst/>
                      </a:prstGeom>
                    </p:spPr>
                  </p:pic>
                </p:oleObj>
              </mc:Fallback>
            </mc:AlternateContent>
          </a:graphicData>
        </a:graphic>
      </p:graphicFrame>
      <p:graphicFrame>
        <p:nvGraphicFramePr>
          <p:cNvPr id="43" name="对象 42">
            <a:extLst>
              <a:ext uri="{FF2B5EF4-FFF2-40B4-BE49-F238E27FC236}">
                <a16:creationId xmlns:a16="http://schemas.microsoft.com/office/drawing/2014/main" id="{D39D17F1-37E9-1C90-59D0-894CF7546B31}"/>
              </a:ext>
            </a:extLst>
          </p:cNvPr>
          <p:cNvGraphicFramePr>
            <a:graphicFrameLocks noChangeAspect="1"/>
          </p:cNvGraphicFramePr>
          <p:nvPr>
            <p:extLst>
              <p:ext uri="{D42A27DB-BD31-4B8C-83A1-F6EECF244321}">
                <p14:modId xmlns:p14="http://schemas.microsoft.com/office/powerpoint/2010/main" val="364484051"/>
              </p:ext>
            </p:extLst>
          </p:nvPr>
        </p:nvGraphicFramePr>
        <p:xfrm>
          <a:off x="10731500" y="3238500"/>
          <a:ext cx="304800" cy="381000"/>
        </p:xfrm>
        <a:graphic>
          <a:graphicData uri="http://schemas.openxmlformats.org/presentationml/2006/ole">
            <mc:AlternateContent xmlns:mc="http://schemas.openxmlformats.org/markup-compatibility/2006">
              <mc:Choice xmlns:v="urn:schemas-microsoft-com:vml" Requires="v">
                <p:oleObj name="Equation" r:id="rId12" imgW="304560" imgH="380880" progId="Equation.DSMT4">
                  <p:embed/>
                </p:oleObj>
              </mc:Choice>
              <mc:Fallback>
                <p:oleObj name="Equation" r:id="rId12" imgW="304560" imgH="380880" progId="Equation.DSMT4">
                  <p:embed/>
                  <p:pic>
                    <p:nvPicPr>
                      <p:cNvPr id="0" name=""/>
                      <p:cNvPicPr/>
                      <p:nvPr/>
                    </p:nvPicPr>
                    <p:blipFill>
                      <a:blip r:embed="rId13"/>
                      <a:stretch>
                        <a:fillRect/>
                      </a:stretch>
                    </p:blipFill>
                    <p:spPr>
                      <a:xfrm>
                        <a:off x="10731500" y="3238500"/>
                        <a:ext cx="304800" cy="381000"/>
                      </a:xfrm>
                      <a:prstGeom prst="rect">
                        <a:avLst/>
                      </a:prstGeom>
                    </p:spPr>
                  </p:pic>
                </p:oleObj>
              </mc:Fallback>
            </mc:AlternateContent>
          </a:graphicData>
        </a:graphic>
      </p:graphicFrame>
      <p:graphicFrame>
        <p:nvGraphicFramePr>
          <p:cNvPr id="44" name="对象 43">
            <a:extLst>
              <a:ext uri="{FF2B5EF4-FFF2-40B4-BE49-F238E27FC236}">
                <a16:creationId xmlns:a16="http://schemas.microsoft.com/office/drawing/2014/main" id="{4A78823F-8C67-9CD6-34D5-8D7444BD0A9D}"/>
              </a:ext>
            </a:extLst>
          </p:cNvPr>
          <p:cNvGraphicFramePr>
            <a:graphicFrameLocks noChangeAspect="1"/>
          </p:cNvGraphicFramePr>
          <p:nvPr>
            <p:extLst>
              <p:ext uri="{D42A27DB-BD31-4B8C-83A1-F6EECF244321}">
                <p14:modId xmlns:p14="http://schemas.microsoft.com/office/powerpoint/2010/main" val="917335911"/>
              </p:ext>
            </p:extLst>
          </p:nvPr>
        </p:nvGraphicFramePr>
        <p:xfrm>
          <a:off x="6235700" y="4237038"/>
          <a:ext cx="304800" cy="381000"/>
        </p:xfrm>
        <a:graphic>
          <a:graphicData uri="http://schemas.openxmlformats.org/presentationml/2006/ole">
            <mc:AlternateContent xmlns:mc="http://schemas.openxmlformats.org/markup-compatibility/2006">
              <mc:Choice xmlns:v="urn:schemas-microsoft-com:vml" Requires="v">
                <p:oleObj name="Equation" r:id="rId14" imgW="304560" imgH="380880" progId="Equation.DSMT4">
                  <p:embed/>
                </p:oleObj>
              </mc:Choice>
              <mc:Fallback>
                <p:oleObj name="Equation" r:id="rId14" imgW="304560" imgH="380880" progId="Equation.DSMT4">
                  <p:embed/>
                  <p:pic>
                    <p:nvPicPr>
                      <p:cNvPr id="0" name=""/>
                      <p:cNvPicPr/>
                      <p:nvPr/>
                    </p:nvPicPr>
                    <p:blipFill>
                      <a:blip r:embed="rId15"/>
                      <a:stretch>
                        <a:fillRect/>
                      </a:stretch>
                    </p:blipFill>
                    <p:spPr>
                      <a:xfrm>
                        <a:off x="6235700" y="4237038"/>
                        <a:ext cx="304800" cy="381000"/>
                      </a:xfrm>
                      <a:prstGeom prst="rect">
                        <a:avLst/>
                      </a:prstGeom>
                    </p:spPr>
                  </p:pic>
                </p:oleObj>
              </mc:Fallback>
            </mc:AlternateContent>
          </a:graphicData>
        </a:graphic>
      </p:graphicFrame>
      <p:graphicFrame>
        <p:nvGraphicFramePr>
          <p:cNvPr id="45" name="对象 44">
            <a:extLst>
              <a:ext uri="{FF2B5EF4-FFF2-40B4-BE49-F238E27FC236}">
                <a16:creationId xmlns:a16="http://schemas.microsoft.com/office/drawing/2014/main" id="{EEF1243C-330C-93B8-DEF9-1D0ABACBB0D7}"/>
              </a:ext>
            </a:extLst>
          </p:cNvPr>
          <p:cNvGraphicFramePr>
            <a:graphicFrameLocks noChangeAspect="1"/>
          </p:cNvGraphicFramePr>
          <p:nvPr>
            <p:extLst>
              <p:ext uri="{D42A27DB-BD31-4B8C-83A1-F6EECF244321}">
                <p14:modId xmlns:p14="http://schemas.microsoft.com/office/powerpoint/2010/main" val="2585189098"/>
              </p:ext>
            </p:extLst>
          </p:nvPr>
        </p:nvGraphicFramePr>
        <p:xfrm>
          <a:off x="7019925" y="4222750"/>
          <a:ext cx="317500" cy="419100"/>
        </p:xfrm>
        <a:graphic>
          <a:graphicData uri="http://schemas.openxmlformats.org/presentationml/2006/ole">
            <mc:AlternateContent xmlns:mc="http://schemas.openxmlformats.org/markup-compatibility/2006">
              <mc:Choice xmlns:v="urn:schemas-microsoft-com:vml" Requires="v">
                <p:oleObj name="Equation" r:id="rId16" imgW="317160" imgH="419040" progId="Equation.DSMT4">
                  <p:embed/>
                </p:oleObj>
              </mc:Choice>
              <mc:Fallback>
                <p:oleObj name="Equation" r:id="rId16" imgW="317160" imgH="419040" progId="Equation.DSMT4">
                  <p:embed/>
                  <p:pic>
                    <p:nvPicPr>
                      <p:cNvPr id="0" name=""/>
                      <p:cNvPicPr/>
                      <p:nvPr/>
                    </p:nvPicPr>
                    <p:blipFill>
                      <a:blip r:embed="rId17"/>
                      <a:stretch>
                        <a:fillRect/>
                      </a:stretch>
                    </p:blipFill>
                    <p:spPr>
                      <a:xfrm>
                        <a:off x="7019925" y="4222750"/>
                        <a:ext cx="317500" cy="419100"/>
                      </a:xfrm>
                      <a:prstGeom prst="rect">
                        <a:avLst/>
                      </a:prstGeom>
                    </p:spPr>
                  </p:pic>
                </p:oleObj>
              </mc:Fallback>
            </mc:AlternateContent>
          </a:graphicData>
        </a:graphic>
      </p:graphicFrame>
      <p:graphicFrame>
        <p:nvGraphicFramePr>
          <p:cNvPr id="46" name="对象 45">
            <a:extLst>
              <a:ext uri="{FF2B5EF4-FFF2-40B4-BE49-F238E27FC236}">
                <a16:creationId xmlns:a16="http://schemas.microsoft.com/office/drawing/2014/main" id="{028C9B90-3944-741E-3D2F-1FD974430531}"/>
              </a:ext>
            </a:extLst>
          </p:cNvPr>
          <p:cNvGraphicFramePr>
            <a:graphicFrameLocks noChangeAspect="1"/>
          </p:cNvGraphicFramePr>
          <p:nvPr>
            <p:extLst>
              <p:ext uri="{D42A27DB-BD31-4B8C-83A1-F6EECF244321}">
                <p14:modId xmlns:p14="http://schemas.microsoft.com/office/powerpoint/2010/main" val="1401368557"/>
              </p:ext>
            </p:extLst>
          </p:nvPr>
        </p:nvGraphicFramePr>
        <p:xfrm>
          <a:off x="3543300" y="4776153"/>
          <a:ext cx="304800" cy="381000"/>
        </p:xfrm>
        <a:graphic>
          <a:graphicData uri="http://schemas.openxmlformats.org/presentationml/2006/ole">
            <mc:AlternateContent xmlns:mc="http://schemas.openxmlformats.org/markup-compatibility/2006">
              <mc:Choice xmlns:v="urn:schemas-microsoft-com:vml" Requires="v">
                <p:oleObj name="Equation" r:id="rId18" imgW="304943" imgH="381254" progId="Equation.DSMT4">
                  <p:embed/>
                </p:oleObj>
              </mc:Choice>
              <mc:Fallback>
                <p:oleObj name="Equation" r:id="rId18" imgW="304943" imgH="381254" progId="Equation.DSMT4">
                  <p:embed/>
                  <p:pic>
                    <p:nvPicPr>
                      <p:cNvPr id="0" name=""/>
                      <p:cNvPicPr/>
                      <p:nvPr/>
                    </p:nvPicPr>
                    <p:blipFill>
                      <a:blip r:embed="rId19"/>
                      <a:stretch>
                        <a:fillRect/>
                      </a:stretch>
                    </p:blipFill>
                    <p:spPr>
                      <a:xfrm>
                        <a:off x="3543300" y="4776153"/>
                        <a:ext cx="304800" cy="381000"/>
                      </a:xfrm>
                      <a:prstGeom prst="rect">
                        <a:avLst/>
                      </a:prstGeom>
                    </p:spPr>
                  </p:pic>
                </p:oleObj>
              </mc:Fallback>
            </mc:AlternateContent>
          </a:graphicData>
        </a:graphic>
      </p:graphicFrame>
      <p:graphicFrame>
        <p:nvGraphicFramePr>
          <p:cNvPr id="47" name="对象 46">
            <a:extLst>
              <a:ext uri="{FF2B5EF4-FFF2-40B4-BE49-F238E27FC236}">
                <a16:creationId xmlns:a16="http://schemas.microsoft.com/office/drawing/2014/main" id="{1BEF5F46-66EE-9D52-C949-2895B3CC3857}"/>
              </a:ext>
            </a:extLst>
          </p:cNvPr>
          <p:cNvGraphicFramePr>
            <a:graphicFrameLocks noChangeAspect="1"/>
          </p:cNvGraphicFramePr>
          <p:nvPr>
            <p:extLst>
              <p:ext uri="{D42A27DB-BD31-4B8C-83A1-F6EECF244321}">
                <p14:modId xmlns:p14="http://schemas.microsoft.com/office/powerpoint/2010/main" val="406641359"/>
              </p:ext>
            </p:extLst>
          </p:nvPr>
        </p:nvGraphicFramePr>
        <p:xfrm>
          <a:off x="4179460" y="4781172"/>
          <a:ext cx="319087" cy="419100"/>
        </p:xfrm>
        <a:graphic>
          <a:graphicData uri="http://schemas.openxmlformats.org/presentationml/2006/ole">
            <mc:AlternateContent xmlns:mc="http://schemas.openxmlformats.org/markup-compatibility/2006">
              <mc:Choice xmlns:v="urn:schemas-microsoft-com:vml" Requires="v">
                <p:oleObj name="Equation" r:id="rId20" imgW="318624" imgH="419415" progId="Equation.DSMT4">
                  <p:embed/>
                </p:oleObj>
              </mc:Choice>
              <mc:Fallback>
                <p:oleObj name="Equation" r:id="rId20" imgW="318624" imgH="419415" progId="Equation.DSMT4">
                  <p:embed/>
                  <p:pic>
                    <p:nvPicPr>
                      <p:cNvPr id="0" name=""/>
                      <p:cNvPicPr/>
                      <p:nvPr/>
                    </p:nvPicPr>
                    <p:blipFill>
                      <a:blip r:embed="rId21"/>
                      <a:stretch>
                        <a:fillRect/>
                      </a:stretch>
                    </p:blipFill>
                    <p:spPr>
                      <a:xfrm>
                        <a:off x="4179460" y="4781172"/>
                        <a:ext cx="319087" cy="419100"/>
                      </a:xfrm>
                      <a:prstGeom prst="rect">
                        <a:avLst/>
                      </a:prstGeom>
                    </p:spPr>
                  </p:pic>
                </p:oleObj>
              </mc:Fallback>
            </mc:AlternateContent>
          </a:graphicData>
        </a:graphic>
      </p:graphicFrame>
    </p:spTree>
    <p:extLst>
      <p:ext uri="{BB962C8B-B14F-4D97-AF65-F5344CB8AC3E}">
        <p14:creationId xmlns:p14="http://schemas.microsoft.com/office/powerpoint/2010/main" val="2832786549"/>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10.1 </a:t>
            </a:r>
            <a:r>
              <a:rPr lang="zh-CN" altLang="en-US" sz="2800" b="1" dirty="0">
                <a:latin typeface="Times New Roman" pitchFamily="18" charset="0"/>
                <a:ea typeface="华文中宋" pitchFamily="2" charset="-122"/>
              </a:rPr>
              <a:t>执行器</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1308425" y="1183095"/>
            <a:ext cx="10352529" cy="5208279"/>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10000"/>
              </a:spcBef>
              <a:spcAft>
                <a:spcPct val="10000"/>
              </a:spcAft>
              <a:buClrTx/>
              <a:buSzTx/>
              <a:defRPr/>
            </a:pP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098" name="Picture 2">
            <a:extLst>
              <a:ext uri="{FF2B5EF4-FFF2-40B4-BE49-F238E27FC236}">
                <a16:creationId xmlns:a16="http://schemas.microsoft.com/office/drawing/2014/main" id="{106122AC-7B08-C41D-9A60-8ABA8DAFB80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69868" y="753855"/>
            <a:ext cx="8252264" cy="478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65077633-BE7E-6FD1-B800-F38ECFA1BE43}"/>
              </a:ext>
            </a:extLst>
          </p:cNvPr>
          <p:cNvSpPr txBox="1"/>
          <p:nvPr/>
        </p:nvSpPr>
        <p:spPr>
          <a:xfrm>
            <a:off x="4631752" y="5851660"/>
            <a:ext cx="2911033" cy="369332"/>
          </a:xfrm>
          <a:prstGeom prst="rect">
            <a:avLst/>
          </a:prstGeom>
          <a:noFill/>
        </p:spPr>
        <p:txBody>
          <a:bodyPr wrap="square">
            <a:spAutoFit/>
          </a:bodyPr>
          <a:lstStyle/>
          <a:p>
            <a:pPr algn="ctr"/>
            <a:r>
              <a:rPr lang="en-US" altLang="zh-CN" sz="1800" kern="1000" dirty="0">
                <a:effectLst/>
                <a:latin typeface="Times New Roman" panose="02020603050405020304" pitchFamily="18" charset="0"/>
                <a:ea typeface="宋体" panose="02010600030101010101" pitchFamily="2" charset="-122"/>
              </a:rPr>
              <a:t>FOC</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工作原理图</a:t>
            </a:r>
            <a:endParaRPr lang="zh-CN" altLang="en-US" dirty="0"/>
          </a:p>
        </p:txBody>
      </p:sp>
    </p:spTree>
    <p:extLst>
      <p:ext uri="{BB962C8B-B14F-4D97-AF65-F5344CB8AC3E}">
        <p14:creationId xmlns:p14="http://schemas.microsoft.com/office/powerpoint/2010/main" val="2343453271"/>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10.1 </a:t>
            </a:r>
            <a:r>
              <a:rPr lang="zh-CN" altLang="en-US" sz="2800" b="1" dirty="0">
                <a:latin typeface="Times New Roman" pitchFamily="18" charset="0"/>
                <a:ea typeface="华文中宋" pitchFamily="2" charset="-122"/>
              </a:rPr>
              <a:t>执行器</a:t>
            </a:r>
          </a:p>
        </p:txBody>
      </p:sp>
      <p:sp>
        <p:nvSpPr>
          <p:cNvPr id="10" name="内容占位符 2">
            <a:extLst>
              <a:ext uri="{FF2B5EF4-FFF2-40B4-BE49-F238E27FC236}">
                <a16:creationId xmlns:a16="http://schemas.microsoft.com/office/drawing/2014/main" id="{4BE9C033-EE29-FBE0-CF54-AFB4F6BF2721}"/>
              </a:ext>
            </a:extLst>
          </p:cNvPr>
          <p:cNvSpPr>
            <a:spLocks noChangeArrowheads="1"/>
          </p:cNvSpPr>
          <p:nvPr/>
        </p:nvSpPr>
        <p:spPr bwMode="auto">
          <a:xfrm>
            <a:off x="657978" y="1086455"/>
            <a:ext cx="11282562" cy="4076096"/>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10000"/>
              </a:spcBef>
              <a:spcAft>
                <a:spcPct val="10000"/>
              </a:spcAft>
              <a:buClrTx/>
              <a:buSzTx/>
              <a:defRPr/>
            </a:pP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FOC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算法需要调试，一般的调试原则是从内到外，调试步骤如下：</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20000"/>
              </a:lnSpc>
              <a:spcBef>
                <a:spcPct val="10000"/>
              </a:spcBef>
              <a:spcAft>
                <a:spcPct val="10000"/>
              </a:spcAft>
              <a:buClrTx/>
              <a:buSzTx/>
              <a:defRP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人为给      、   赋值，确保电机能运行，确认</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SVPWM</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没问题后，给     、   </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手动赋值；</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）调试采样电流和编码器的角度输出；</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）调试电流环的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PID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参数，使启动响应的速度足够快，平衡运行的波动足够小；</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）调试速度环参数，满足电机工作的速度范围； </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5</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）调试位置环参数，保证电机的静差足够小，；</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 name="对象 1">
            <a:extLst>
              <a:ext uri="{FF2B5EF4-FFF2-40B4-BE49-F238E27FC236}">
                <a16:creationId xmlns:a16="http://schemas.microsoft.com/office/drawing/2014/main" id="{B22CFF2B-1AC3-29A7-3DD9-6DE7BE758290}"/>
              </a:ext>
            </a:extLst>
          </p:cNvPr>
          <p:cNvGraphicFramePr>
            <a:graphicFrameLocks noChangeAspect="1"/>
          </p:cNvGraphicFramePr>
          <p:nvPr>
            <p:extLst>
              <p:ext uri="{D42A27DB-BD31-4B8C-83A1-F6EECF244321}">
                <p14:modId xmlns:p14="http://schemas.microsoft.com/office/powerpoint/2010/main" val="850674146"/>
              </p:ext>
            </p:extLst>
          </p:nvPr>
        </p:nvGraphicFramePr>
        <p:xfrm>
          <a:off x="2489200" y="1692938"/>
          <a:ext cx="304800" cy="381000"/>
        </p:xfrm>
        <a:graphic>
          <a:graphicData uri="http://schemas.openxmlformats.org/presentationml/2006/ole">
            <mc:AlternateContent xmlns:mc="http://schemas.openxmlformats.org/markup-compatibility/2006">
              <mc:Choice xmlns:v="urn:schemas-microsoft-com:vml" Requires="v">
                <p:oleObj name="Equation" r:id="rId2" imgW="304560" imgH="380880" progId="Equation.DSMT4">
                  <p:embed/>
                </p:oleObj>
              </mc:Choice>
              <mc:Fallback>
                <p:oleObj name="Equation" r:id="rId2" imgW="304560" imgH="380880" progId="Equation.DSMT4">
                  <p:embed/>
                  <p:pic>
                    <p:nvPicPr>
                      <p:cNvPr id="0" name=""/>
                      <p:cNvPicPr/>
                      <p:nvPr/>
                    </p:nvPicPr>
                    <p:blipFill>
                      <a:blip r:embed="rId3"/>
                      <a:stretch>
                        <a:fillRect/>
                      </a:stretch>
                    </p:blipFill>
                    <p:spPr>
                      <a:xfrm>
                        <a:off x="2489200" y="1692938"/>
                        <a:ext cx="304800" cy="381000"/>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62DFCD2F-BAC1-37CF-42FE-976D9F822989}"/>
              </a:ext>
            </a:extLst>
          </p:cNvPr>
          <p:cNvGraphicFramePr>
            <a:graphicFrameLocks noChangeAspect="1"/>
          </p:cNvGraphicFramePr>
          <p:nvPr>
            <p:extLst>
              <p:ext uri="{D42A27DB-BD31-4B8C-83A1-F6EECF244321}">
                <p14:modId xmlns:p14="http://schemas.microsoft.com/office/powerpoint/2010/main" val="2508790350"/>
              </p:ext>
            </p:extLst>
          </p:nvPr>
        </p:nvGraphicFramePr>
        <p:xfrm>
          <a:off x="3133725" y="1676400"/>
          <a:ext cx="317500" cy="419100"/>
        </p:xfrm>
        <a:graphic>
          <a:graphicData uri="http://schemas.openxmlformats.org/presentationml/2006/ole">
            <mc:AlternateContent xmlns:mc="http://schemas.openxmlformats.org/markup-compatibility/2006">
              <mc:Choice xmlns:v="urn:schemas-microsoft-com:vml" Requires="v">
                <p:oleObj name="Equation" r:id="rId4" imgW="317160" imgH="419040" progId="Equation.DSMT4">
                  <p:embed/>
                </p:oleObj>
              </mc:Choice>
              <mc:Fallback>
                <p:oleObj name="Equation" r:id="rId4" imgW="317160" imgH="419040" progId="Equation.DSMT4">
                  <p:embed/>
                  <p:pic>
                    <p:nvPicPr>
                      <p:cNvPr id="0" name=""/>
                      <p:cNvPicPr/>
                      <p:nvPr/>
                    </p:nvPicPr>
                    <p:blipFill>
                      <a:blip r:embed="rId5"/>
                      <a:stretch>
                        <a:fillRect/>
                      </a:stretch>
                    </p:blipFill>
                    <p:spPr>
                      <a:xfrm>
                        <a:off x="3133725" y="1676400"/>
                        <a:ext cx="317500" cy="41910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03E31B0F-68F6-DAB3-3679-0765E4195C42}"/>
              </a:ext>
            </a:extLst>
          </p:cNvPr>
          <p:cNvGraphicFramePr>
            <a:graphicFrameLocks noChangeAspect="1"/>
          </p:cNvGraphicFramePr>
          <p:nvPr>
            <p:extLst>
              <p:ext uri="{D42A27DB-BD31-4B8C-83A1-F6EECF244321}">
                <p14:modId xmlns:p14="http://schemas.microsoft.com/office/powerpoint/2010/main" val="3924203476"/>
              </p:ext>
            </p:extLst>
          </p:nvPr>
        </p:nvGraphicFramePr>
        <p:xfrm>
          <a:off x="10623550" y="1692938"/>
          <a:ext cx="304800" cy="381000"/>
        </p:xfrm>
        <a:graphic>
          <a:graphicData uri="http://schemas.openxmlformats.org/presentationml/2006/ole">
            <mc:AlternateContent xmlns:mc="http://schemas.openxmlformats.org/markup-compatibility/2006">
              <mc:Choice xmlns:v="urn:schemas-microsoft-com:vml" Requires="v">
                <p:oleObj name="Equation" r:id="rId6" imgW="304560" imgH="380880" progId="Equation.DSMT4">
                  <p:embed/>
                </p:oleObj>
              </mc:Choice>
              <mc:Fallback>
                <p:oleObj name="Equation" r:id="rId6" imgW="304560" imgH="380880" progId="Equation.DSMT4">
                  <p:embed/>
                  <p:pic>
                    <p:nvPicPr>
                      <p:cNvPr id="0" name=""/>
                      <p:cNvPicPr/>
                      <p:nvPr/>
                    </p:nvPicPr>
                    <p:blipFill>
                      <a:blip r:embed="rId7"/>
                      <a:stretch>
                        <a:fillRect/>
                      </a:stretch>
                    </p:blipFill>
                    <p:spPr>
                      <a:xfrm>
                        <a:off x="10623550" y="1692938"/>
                        <a:ext cx="304800" cy="38100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6DB97ECE-9A75-BF7F-243C-4F8E8E7FC557}"/>
              </a:ext>
            </a:extLst>
          </p:cNvPr>
          <p:cNvGraphicFramePr>
            <a:graphicFrameLocks noChangeAspect="1"/>
          </p:cNvGraphicFramePr>
          <p:nvPr>
            <p:extLst>
              <p:ext uri="{D42A27DB-BD31-4B8C-83A1-F6EECF244321}">
                <p14:modId xmlns:p14="http://schemas.microsoft.com/office/powerpoint/2010/main" val="851330692"/>
              </p:ext>
            </p:extLst>
          </p:nvPr>
        </p:nvGraphicFramePr>
        <p:xfrm>
          <a:off x="11287125" y="1695450"/>
          <a:ext cx="279400" cy="419100"/>
        </p:xfrm>
        <a:graphic>
          <a:graphicData uri="http://schemas.openxmlformats.org/presentationml/2006/ole">
            <mc:AlternateContent xmlns:mc="http://schemas.openxmlformats.org/markup-compatibility/2006">
              <mc:Choice xmlns:v="urn:schemas-microsoft-com:vml" Requires="v">
                <p:oleObj name="Equation" r:id="rId8" imgW="279360" imgH="419040" progId="Equation.DSMT4">
                  <p:embed/>
                </p:oleObj>
              </mc:Choice>
              <mc:Fallback>
                <p:oleObj name="Equation" r:id="rId8" imgW="279360" imgH="419040" progId="Equation.DSMT4">
                  <p:embed/>
                  <p:pic>
                    <p:nvPicPr>
                      <p:cNvPr id="0" name=""/>
                      <p:cNvPicPr/>
                      <p:nvPr/>
                    </p:nvPicPr>
                    <p:blipFill>
                      <a:blip r:embed="rId9"/>
                      <a:stretch>
                        <a:fillRect/>
                      </a:stretch>
                    </p:blipFill>
                    <p:spPr>
                      <a:xfrm>
                        <a:off x="11287125" y="1695450"/>
                        <a:ext cx="279400" cy="419100"/>
                      </a:xfrm>
                      <a:prstGeom prst="rect">
                        <a:avLst/>
                      </a:prstGeom>
                    </p:spPr>
                  </p:pic>
                </p:oleObj>
              </mc:Fallback>
            </mc:AlternateContent>
          </a:graphicData>
        </a:graphic>
      </p:graphicFrame>
    </p:spTree>
    <p:extLst>
      <p:ext uri="{BB962C8B-B14F-4D97-AF65-F5344CB8AC3E}">
        <p14:creationId xmlns:p14="http://schemas.microsoft.com/office/powerpoint/2010/main" val="1001092898"/>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10.1 </a:t>
            </a:r>
            <a:r>
              <a:rPr lang="zh-CN" altLang="en-US" sz="2800" b="1" dirty="0">
                <a:latin typeface="Times New Roman" pitchFamily="18" charset="0"/>
                <a:ea typeface="华文中宋" pitchFamily="2" charset="-122"/>
              </a:rPr>
              <a:t>执行器</a:t>
            </a:r>
          </a:p>
        </p:txBody>
      </p:sp>
      <p:sp>
        <p:nvSpPr>
          <p:cNvPr id="10" name="内容占位符 2">
            <a:extLst>
              <a:ext uri="{FF2B5EF4-FFF2-40B4-BE49-F238E27FC236}">
                <a16:creationId xmlns:a16="http://schemas.microsoft.com/office/drawing/2014/main" id="{4BE9C033-EE29-FBE0-CF54-AFB4F6BF2721}"/>
              </a:ext>
            </a:extLst>
          </p:cNvPr>
          <p:cNvSpPr>
            <a:spLocks noChangeArrowheads="1"/>
          </p:cNvSpPr>
          <p:nvPr/>
        </p:nvSpPr>
        <p:spPr bwMode="auto">
          <a:xfrm>
            <a:off x="657978" y="1086454"/>
            <a:ext cx="11282562" cy="3647591"/>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R="0" lvl="0" algn="l" defTabSz="914400" rtl="0" eaLnBrk="1" fontAlgn="base" latinLnBrk="0" hangingPunct="1">
              <a:lnSpc>
                <a:spcPct val="120000"/>
              </a:lnSpc>
              <a:spcBef>
                <a:spcPct val="10000"/>
              </a:spcBef>
              <a:spcAft>
                <a:spcPct val="10000"/>
              </a:spcAft>
              <a:buClrTx/>
              <a:buSzTx/>
              <a:buFont typeface="Wingdings" panose="05000000000000000000" pitchFamily="2" charset="2"/>
              <a:buChar char="u"/>
              <a:defRPr/>
            </a:pP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MOSFET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选择</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三相电动机控制器的核心是三相逆变器。逆变器由三个晶体管半桥组成，这三个半桥将电压施加到三个电机线圈端子上，线圈作为逆变器的一部分。由于所用电动机的电感非常低，约为</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30 </a:t>
            </a:r>
            <a:r>
              <a:rPr lang="en-US" altLang="zh-CN" sz="2400" kern="1000" dirty="0" err="1">
                <a:effectLst/>
                <a:latin typeface="Symbol" panose="05050102010706020507" pitchFamily="18" charset="2"/>
                <a:ea typeface="宋体" panose="02010600030101010101" pitchFamily="2" charset="-122"/>
                <a:cs typeface="Times New Roman" panose="02020603050405020304" pitchFamily="18" charset="0"/>
              </a:rPr>
              <a:t>m</a:t>
            </a:r>
            <a:r>
              <a:rPr lang="en-US" altLang="zh-CN" sz="2400" kern="1000" dirty="0" err="1">
                <a:effectLst/>
                <a:latin typeface="Times New Roman" panose="02020603050405020304" pitchFamily="18" charset="0"/>
                <a:ea typeface="宋体" panose="02010600030101010101" pitchFamily="2" charset="-122"/>
              </a:rPr>
              <a:t>H</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，因此使用了较高的开关频率和</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40 kHz</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的控制环路频率，以实现快速闭环电流控制，并最小化</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PWM</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引起的电流纹波。对于每个半桥，我们可以估算出恒定转矩下的损耗。传导损耗主要包括线圈的电阻损耗和铁芯的铁损。开关损耗主要包括电流流过</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MOS</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管造成的热损耗。</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116816291"/>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10.1 </a:t>
            </a:r>
            <a:r>
              <a:rPr lang="zh-CN" altLang="en-US" sz="2800" b="1" dirty="0">
                <a:latin typeface="Times New Roman" pitchFamily="18" charset="0"/>
                <a:ea typeface="华文中宋" pitchFamily="2" charset="-122"/>
              </a:rPr>
              <a:t>执行器</a:t>
            </a:r>
          </a:p>
        </p:txBody>
      </p:sp>
      <p:sp>
        <p:nvSpPr>
          <p:cNvPr id="10" name="内容占位符 2">
            <a:extLst>
              <a:ext uri="{FF2B5EF4-FFF2-40B4-BE49-F238E27FC236}">
                <a16:creationId xmlns:a16="http://schemas.microsoft.com/office/drawing/2014/main" id="{4BE9C033-EE29-FBE0-CF54-AFB4F6BF2721}"/>
              </a:ext>
            </a:extLst>
          </p:cNvPr>
          <p:cNvSpPr>
            <a:spLocks noChangeArrowheads="1"/>
          </p:cNvSpPr>
          <p:nvPr/>
        </p:nvSpPr>
        <p:spPr bwMode="auto">
          <a:xfrm>
            <a:off x="657978" y="1086454"/>
            <a:ext cx="11282562" cy="4206906"/>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R="0" lvl="0" algn="l" defTabSz="914400" rtl="0" eaLnBrk="1" fontAlgn="base" latinLnBrk="0" hangingPunct="1">
              <a:lnSpc>
                <a:spcPct val="120000"/>
              </a:lnSpc>
              <a:spcBef>
                <a:spcPct val="10000"/>
              </a:spcBef>
              <a:spcAft>
                <a:spcPct val="10000"/>
              </a:spcAft>
              <a:buClrTx/>
              <a:buSzTx/>
              <a:buFont typeface="Wingdings" panose="05000000000000000000" pitchFamily="2" charset="2"/>
              <a:buChar char="u"/>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编码器选择</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若要</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FOC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正确运行，则需知道定子和转子之间的绝对位置关系，需使用较高精度的编码器。编码器有增量式和绝对式两种，本系统采用绝对式磁编码器，其优点是体积小、安装方便、抗干扰性强、价格低廉、集成度高和电路结构简单。磁编码器与径向磁铁同轴安装，磁铁随电机轴旋转，磁编码器通过监测磁铁磁场的变化，测量电机轴的角度变化。</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STM32F446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使用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总线读取磁编码器的测量值。其中，</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AS5047P</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是一款高分辨率、高速</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可达</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28krpm)</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的旋转位置传感器，测量范围为完整的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360°</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角。一个标准的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线</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串行接口允许主机从</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AS5047P</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读</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14</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位绝对角位置的数据和程序的非易失性的设置数据。</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3008731526"/>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10.1 </a:t>
            </a:r>
            <a:r>
              <a:rPr lang="zh-CN" altLang="en-US" sz="2800" b="1" dirty="0">
                <a:latin typeface="Times New Roman" pitchFamily="18" charset="0"/>
                <a:ea typeface="华文中宋" pitchFamily="2" charset="-122"/>
              </a:rPr>
              <a:t>执行器</a:t>
            </a:r>
          </a:p>
        </p:txBody>
      </p:sp>
      <p:pic>
        <p:nvPicPr>
          <p:cNvPr id="5122" name="Picture 2">
            <a:extLst>
              <a:ext uri="{FF2B5EF4-FFF2-40B4-BE49-F238E27FC236}">
                <a16:creationId xmlns:a16="http://schemas.microsoft.com/office/drawing/2014/main" id="{B8C34C51-38BA-1B4A-AFEB-B4AC2FA291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9135" y="790575"/>
            <a:ext cx="8900581" cy="503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FE339243-2764-E35B-E52C-CFB7FA737E59}"/>
              </a:ext>
            </a:extLst>
          </p:cNvPr>
          <p:cNvSpPr txBox="1"/>
          <p:nvPr/>
        </p:nvSpPr>
        <p:spPr>
          <a:xfrm>
            <a:off x="4774803" y="5949434"/>
            <a:ext cx="2624931" cy="369332"/>
          </a:xfrm>
          <a:prstGeom prst="rect">
            <a:avLst/>
          </a:prstGeom>
          <a:noFill/>
        </p:spPr>
        <p:txBody>
          <a:bodyPr wrap="square">
            <a:spAutoFit/>
          </a:bodyPr>
          <a:lstStyle/>
          <a:p>
            <a:pPr algn="ct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磁编码器电路图</a:t>
            </a:r>
            <a:endParaRPr lang="zh-CN" altLang="en-US" dirty="0"/>
          </a:p>
        </p:txBody>
      </p:sp>
    </p:spTree>
    <p:extLst>
      <p:ext uri="{BB962C8B-B14F-4D97-AF65-F5344CB8AC3E}">
        <p14:creationId xmlns:p14="http://schemas.microsoft.com/office/powerpoint/2010/main" val="3167361615"/>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10.1 </a:t>
            </a:r>
            <a:r>
              <a:rPr lang="zh-CN" altLang="en-US" sz="2800" b="1" dirty="0">
                <a:latin typeface="Times New Roman" pitchFamily="18" charset="0"/>
                <a:ea typeface="华文中宋" pitchFamily="2" charset="-122"/>
              </a:rPr>
              <a:t>执行器</a:t>
            </a:r>
          </a:p>
        </p:txBody>
      </p:sp>
      <p:sp>
        <p:nvSpPr>
          <p:cNvPr id="10" name="内容占位符 2">
            <a:extLst>
              <a:ext uri="{FF2B5EF4-FFF2-40B4-BE49-F238E27FC236}">
                <a16:creationId xmlns:a16="http://schemas.microsoft.com/office/drawing/2014/main" id="{4BE9C033-EE29-FBE0-CF54-AFB4F6BF2721}"/>
              </a:ext>
            </a:extLst>
          </p:cNvPr>
          <p:cNvSpPr>
            <a:spLocks noChangeArrowheads="1"/>
          </p:cNvSpPr>
          <p:nvPr/>
        </p:nvSpPr>
        <p:spPr bwMode="auto">
          <a:xfrm>
            <a:off x="657978" y="1086454"/>
            <a:ext cx="11282562" cy="4206906"/>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R="0" lvl="0" algn="l" defTabSz="914400" rtl="0" eaLnBrk="1" fontAlgn="base" latinLnBrk="0" hangingPunct="1">
              <a:lnSpc>
                <a:spcPct val="120000"/>
              </a:lnSpc>
              <a:spcBef>
                <a:spcPct val="10000"/>
              </a:spcBef>
              <a:spcAft>
                <a:spcPct val="10000"/>
              </a:spcAft>
              <a:buClrTx/>
              <a:buSzTx/>
              <a:buFont typeface="Wingdings" panose="05000000000000000000" pitchFamily="2" charset="2"/>
              <a:buChar char="u"/>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关节选择</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457200" algn="l"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对于四足机器人的仿生足式关节选择来说，通常有两种方案，低减速比的准直驱方案和由高减速比弹性串联机构组成的带扭矩测量单元的致动器方案。本书采用第一种方案，使用惯量轻、极数多的盘式电机外加行星减速机。盘式电机价格低、工艺成熟，方便大批量生产；行星减速机属于传统减速机构，加工工艺简单，综合成本只有谐波减速机的十分之一。该方案采用高扭矩密度电机并配合低减速比减速机实现高扭矩密度，有较高的反向可驱动性及较大的力控带宽，将电机、减速机和控制器做在一个腔体内，并且使每个电机单元可以做到电源和信号线并联形式的链式连接，简化了电气电路布线。</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3205385484"/>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10.1 </a:t>
            </a:r>
            <a:r>
              <a:rPr lang="zh-CN" altLang="en-US" sz="2800" b="1" dirty="0">
                <a:latin typeface="Times New Roman" pitchFamily="18" charset="0"/>
                <a:ea typeface="华文中宋" pitchFamily="2" charset="-122"/>
              </a:rPr>
              <a:t>执行器</a:t>
            </a:r>
          </a:p>
        </p:txBody>
      </p:sp>
      <p:sp>
        <p:nvSpPr>
          <p:cNvPr id="6" name="文本框 5">
            <a:extLst>
              <a:ext uri="{FF2B5EF4-FFF2-40B4-BE49-F238E27FC236}">
                <a16:creationId xmlns:a16="http://schemas.microsoft.com/office/drawing/2014/main" id="{FE339243-2764-E35B-E52C-CFB7FA737E59}"/>
              </a:ext>
            </a:extLst>
          </p:cNvPr>
          <p:cNvSpPr txBox="1"/>
          <p:nvPr/>
        </p:nvSpPr>
        <p:spPr>
          <a:xfrm>
            <a:off x="4774803" y="5949434"/>
            <a:ext cx="2624931" cy="369332"/>
          </a:xfrm>
          <a:prstGeom prst="rect">
            <a:avLst/>
          </a:prstGeom>
          <a:noFill/>
        </p:spPr>
        <p:txBody>
          <a:bodyPr wrap="square">
            <a:spAutoFit/>
          </a:bodyPr>
          <a:lstStyle/>
          <a:p>
            <a:pPr algn="ctr"/>
            <a:r>
              <a:rPr lang="zh-CN" altLang="en-US" sz="1800" kern="1000" dirty="0">
                <a:effectLst/>
                <a:latin typeface="Times New Roman" panose="02020603050405020304" pitchFamily="18" charset="0"/>
                <a:ea typeface="宋体" panose="02010600030101010101" pitchFamily="2" charset="-122"/>
                <a:cs typeface="Times New Roman" panose="02020603050405020304" pitchFamily="18" charset="0"/>
              </a:rPr>
              <a:t>四足机器人电机实物图</a:t>
            </a:r>
            <a:endParaRPr lang="zh-CN" altLang="en-US" dirty="0"/>
          </a:p>
        </p:txBody>
      </p:sp>
      <p:pic>
        <p:nvPicPr>
          <p:cNvPr id="6146" name="图片 37">
            <a:extLst>
              <a:ext uri="{FF2B5EF4-FFF2-40B4-BE49-F238E27FC236}">
                <a16:creationId xmlns:a16="http://schemas.microsoft.com/office/drawing/2014/main" id="{B0636CD6-C324-FA86-5599-52290E2912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7895" y="887095"/>
            <a:ext cx="4954905" cy="4774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3731486"/>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10.2 </a:t>
            </a:r>
            <a:r>
              <a:rPr lang="zh-CN" altLang="en-US" sz="2800" b="1" dirty="0">
                <a:latin typeface="Times New Roman" pitchFamily="18" charset="0"/>
                <a:ea typeface="华文中宋" pitchFamily="2" charset="-122"/>
              </a:rPr>
              <a:t>动力源</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919735" y="1172327"/>
            <a:ext cx="10352529" cy="343015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defTabSz="914400" rtl="0" eaLnBrk="1" fontAlgn="base" latinLnBrk="0" hangingPunct="1">
              <a:lnSpc>
                <a:spcPct val="120000"/>
              </a:lnSpc>
              <a:spcBef>
                <a:spcPct val="10000"/>
              </a:spcBef>
              <a:spcAft>
                <a:spcPct val="10000"/>
              </a:spcAft>
              <a:buClrTx/>
              <a:buSzTx/>
              <a:defRP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四足机器人的动力源采用锂电池，配合电源管理板，实现电源管理、控制隔离、浪涌抑制、过流保护等功能。</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marR="0" lvl="0" defTabSz="914400" rtl="0" eaLnBrk="1" fontAlgn="base" latinLnBrk="0" hangingPunct="1">
              <a:lnSpc>
                <a:spcPct val="120000"/>
              </a:lnSpc>
              <a:spcBef>
                <a:spcPct val="10000"/>
              </a:spcBef>
              <a:spcAft>
                <a:spcPct val="10000"/>
              </a:spcAft>
              <a:buClrTx/>
              <a:buSzTx/>
              <a:buFont typeface="Wingdings" panose="05000000000000000000" pitchFamily="2" charset="2"/>
              <a:buChar char="u"/>
              <a:defRP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电池系统</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457200" defTabSz="914400" rtl="0" eaLnBrk="1" fontAlgn="base" latinLnBrk="0" hangingPunct="1">
              <a:lnSpc>
                <a:spcPct val="120000"/>
              </a:lnSpc>
              <a:spcBef>
                <a:spcPct val="10000"/>
              </a:spcBef>
              <a:spcAft>
                <a:spcPct val="10000"/>
              </a:spcAft>
              <a:buClrTx/>
              <a:buSzTx/>
              <a:defRP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本系统中电机瞬间电流能达到</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40A</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，因此电池必须要有足够大的放电能力。本系统选择了</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18650</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电池，其具有放电倍率大的优点，其具有</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20A</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的连续放电能力且两节并联能产生</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40A</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的放电能力，瞬间电流可达</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100A</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，足够本系统使用。</a:t>
            </a:r>
          </a:p>
          <a:p>
            <a:pPr marL="0" marR="0" lvl="0" indent="457200" defTabSz="914400" rtl="0" eaLnBrk="1" fontAlgn="base" latinLnBrk="0" hangingPunct="1">
              <a:lnSpc>
                <a:spcPct val="120000"/>
              </a:lnSpc>
              <a:spcBef>
                <a:spcPct val="10000"/>
              </a:spcBef>
              <a:spcAft>
                <a:spcPct val="10000"/>
              </a:spcAft>
              <a:buClrTx/>
              <a:buSzTx/>
              <a:defRPr/>
            </a:pP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1005791418"/>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10.2 </a:t>
            </a:r>
            <a:r>
              <a:rPr lang="zh-CN" altLang="en-US" sz="2800" b="1" dirty="0">
                <a:latin typeface="Times New Roman" pitchFamily="18" charset="0"/>
                <a:ea typeface="华文中宋" pitchFamily="2" charset="-122"/>
              </a:rPr>
              <a:t>动力源</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919735" y="1466967"/>
            <a:ext cx="10352529" cy="424295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R="0" lvl="0" defTabSz="914400" rtl="0" eaLnBrk="1" fontAlgn="base" latinLnBrk="0" hangingPunct="1">
              <a:lnSpc>
                <a:spcPct val="120000"/>
              </a:lnSpc>
              <a:spcBef>
                <a:spcPct val="10000"/>
              </a:spcBef>
              <a:spcAft>
                <a:spcPct val="10000"/>
              </a:spcAft>
              <a:buClrTx/>
              <a:buSzTx/>
              <a:buFont typeface="Wingdings" panose="05000000000000000000" pitchFamily="2" charset="2"/>
              <a:buChar char="u"/>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电源管理板总体设计</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它的功能如下：</a:t>
            </a:r>
          </a:p>
          <a:p>
            <a:pPr marL="0" marR="0" lvl="0" indent="457200" defTabSz="914400" rtl="0" eaLnBrk="1" fontAlgn="base" latinLnBrk="0" hangingPunct="1">
              <a:lnSpc>
                <a:spcPct val="120000"/>
              </a:lnSpc>
              <a:spcBef>
                <a:spcPct val="10000"/>
              </a:spcBef>
              <a:spcAft>
                <a:spcPct val="10000"/>
              </a:spcAft>
              <a:buClrTx/>
              <a:buSzTx/>
              <a:defRPr/>
            </a:pP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开机启动浪涌电流限制；</a:t>
            </a:r>
          </a:p>
          <a:p>
            <a:pPr marL="0" marR="0" lvl="0" indent="457200" defTabSz="914400" rtl="0" eaLnBrk="1" fontAlgn="base" latinLnBrk="0" hangingPunct="1">
              <a:lnSpc>
                <a:spcPct val="120000"/>
              </a:lnSpc>
              <a:spcBef>
                <a:spcPct val="10000"/>
              </a:spcBef>
              <a:spcAft>
                <a:spcPct val="10000"/>
              </a:spcAft>
              <a:buClrTx/>
              <a:buSzTx/>
              <a:defRPr/>
            </a:pP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整机供电高低压转换与电路系统隔离；</a:t>
            </a:r>
          </a:p>
          <a:p>
            <a:pPr marL="0" marR="0" lvl="0" indent="457200" defTabSz="914400" rtl="0" eaLnBrk="1" fontAlgn="base" latinLnBrk="0" hangingPunct="1">
              <a:lnSpc>
                <a:spcPct val="120000"/>
              </a:lnSpc>
              <a:spcBef>
                <a:spcPct val="10000"/>
              </a:spcBef>
              <a:spcAft>
                <a:spcPct val="10000"/>
              </a:spcAft>
              <a:buClrTx/>
              <a:buSzTx/>
              <a:defRPr/>
            </a:pP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电流检测与电流保护；</a:t>
            </a:r>
          </a:p>
          <a:p>
            <a:pPr marL="0" marR="0" lvl="0" indent="457200" defTabSz="914400" rtl="0" eaLnBrk="1" fontAlgn="base" latinLnBrk="0" hangingPunct="1">
              <a:lnSpc>
                <a:spcPct val="120000"/>
              </a:lnSpc>
              <a:spcBef>
                <a:spcPct val="10000"/>
              </a:spcBef>
              <a:spcAft>
                <a:spcPct val="10000"/>
              </a:spcAft>
              <a:buClrTx/>
              <a:buSzTx/>
              <a:defRPr/>
            </a:pP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电池电压检测；</a:t>
            </a:r>
          </a:p>
          <a:p>
            <a:pPr marL="0" marR="0" lvl="0" indent="457200" defTabSz="914400" rtl="0" eaLnBrk="1" fontAlgn="base" latinLnBrk="0" hangingPunct="1">
              <a:lnSpc>
                <a:spcPct val="120000"/>
              </a:lnSpc>
              <a:spcBef>
                <a:spcPct val="10000"/>
              </a:spcBef>
              <a:spcAft>
                <a:spcPct val="10000"/>
              </a:spcAft>
              <a:buClrTx/>
              <a:buSzTx/>
              <a:defRPr/>
            </a:pP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(5)</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系统开关机；</a:t>
            </a:r>
          </a:p>
          <a:p>
            <a:pPr marL="0" marR="0" lvl="0" indent="457200" defTabSz="914400" rtl="0" eaLnBrk="1" fontAlgn="base" latinLnBrk="0" hangingPunct="1">
              <a:lnSpc>
                <a:spcPct val="120000"/>
              </a:lnSpc>
              <a:spcBef>
                <a:spcPct val="10000"/>
              </a:spcBef>
              <a:spcAft>
                <a:spcPct val="10000"/>
              </a:spcAft>
              <a:buClrTx/>
              <a:buSzTx/>
              <a:defRPr/>
            </a:pP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异常报警及对外通信。</a:t>
            </a:r>
          </a:p>
        </p:txBody>
      </p:sp>
    </p:spTree>
    <p:extLst>
      <p:ext uri="{BB962C8B-B14F-4D97-AF65-F5344CB8AC3E}">
        <p14:creationId xmlns:p14="http://schemas.microsoft.com/office/powerpoint/2010/main" val="1330163603"/>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10.2 </a:t>
            </a:r>
            <a:r>
              <a:rPr lang="zh-CN" altLang="en-US" sz="2800" b="1" dirty="0">
                <a:latin typeface="Times New Roman" pitchFamily="18" charset="0"/>
                <a:ea typeface="华文中宋" pitchFamily="2" charset="-122"/>
              </a:rPr>
              <a:t>动力源</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919735" y="1466967"/>
            <a:ext cx="10352529" cy="292215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开机启动通过延时上电，首先给控制器上电（弱电），经过延时之后打开强电控制回路，从而限制大电流造成的影响。隔离部分电路将高压系统和低压系统完全隔离开，保证控制系统和通信系统不受大电流部分电路的电磁干扰。电流检测完成整个系统的电流监控功能，并通过拨码开关来设置保护电流阈值。电池电压检测电路对电池电压进行实时检测，当超出阈值时，使用蜂鸣器进行异常情况报警。</a:t>
            </a:r>
          </a:p>
        </p:txBody>
      </p:sp>
    </p:spTree>
    <p:extLst>
      <p:ext uri="{BB962C8B-B14F-4D97-AF65-F5344CB8AC3E}">
        <p14:creationId xmlns:p14="http://schemas.microsoft.com/office/powerpoint/2010/main" val="2665648377"/>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10.2 </a:t>
            </a:r>
            <a:r>
              <a:rPr lang="zh-CN" altLang="en-US" sz="2800" b="1" dirty="0">
                <a:latin typeface="Times New Roman" pitchFamily="18" charset="0"/>
                <a:ea typeface="华文中宋" pitchFamily="2" charset="-122"/>
              </a:rPr>
              <a:t>动力源</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911004" y="918327"/>
            <a:ext cx="10352529" cy="292215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defTabSz="914400" rtl="0" eaLnBrk="1" fontAlgn="base" latinLnBrk="0" hangingPunct="1">
              <a:lnSpc>
                <a:spcPct val="120000"/>
              </a:lnSpc>
              <a:spcBef>
                <a:spcPct val="10000"/>
              </a:spcBef>
              <a:spcAft>
                <a:spcPct val="10000"/>
              </a:spcAft>
              <a:buClrTx/>
              <a:buSzTx/>
              <a:defRPr/>
            </a:pP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24V</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外部调试电源或者锂电池电源从</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输入，经过</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MOS</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管</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Q2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和</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Q4</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控制开关后，由</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J3</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和</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J4</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输出给两条前腿和两条后腿， </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J1</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和</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J2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分别控制</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 board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电源和电机电源，外接普通开关。完全隔离后的电源由</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P1</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输出给</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 board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和</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SPIne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信号转接板，确保了低电压逻辑系统供电的纯净。异常电流的阈值可以通过拨码开关</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DIP1</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进行设置。另外，锂电池</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24V</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动力源可以经过</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P5</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输出。</a:t>
            </a:r>
          </a:p>
        </p:txBody>
      </p:sp>
      <p:pic>
        <p:nvPicPr>
          <p:cNvPr id="7170" name="图片 36" descr="电源板PCB实物">
            <a:extLst>
              <a:ext uri="{FF2B5EF4-FFF2-40B4-BE49-F238E27FC236}">
                <a16:creationId xmlns:a16="http://schemas.microsoft.com/office/drawing/2014/main" id="{E7604918-1216-155E-5F66-924DC797DE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4282" y="3334988"/>
            <a:ext cx="4343718" cy="3330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19106961"/>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10.2 </a:t>
            </a:r>
            <a:r>
              <a:rPr lang="zh-CN" altLang="en-US" sz="2800" b="1" dirty="0">
                <a:latin typeface="Times New Roman" pitchFamily="18" charset="0"/>
                <a:ea typeface="华文中宋" pitchFamily="2" charset="-122"/>
              </a:rPr>
              <a:t>动力源</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919735" y="765927"/>
            <a:ext cx="10352529" cy="355207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R="0" lvl="0" defTabSz="914400" rtl="0" eaLnBrk="1" fontAlgn="base" latinLnBrk="0" hangingPunct="1">
              <a:lnSpc>
                <a:spcPct val="120000"/>
              </a:lnSpc>
              <a:spcBef>
                <a:spcPct val="10000"/>
              </a:spcBef>
              <a:spcAft>
                <a:spcPct val="10000"/>
              </a:spcAft>
              <a:buClrTx/>
              <a:buSzTx/>
              <a:buFont typeface="Wingdings" panose="05000000000000000000" pitchFamily="2" charset="2"/>
              <a:buChar char="u"/>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控制隔离</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电机是干扰比较大的负载，在电流变化的瞬间，将产生很高的浪涌电流及反向电动势，若系统隔离不足，则会导致系统死机或器件被击穿，因此必须要将系统的电源进行隔离，包括将电机供电与系统供电隔离，以及将低压系统和高压系统之间的数据隔离。在本系统中，需要保证微处理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系统和低压</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5V</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系统的安全，并且保证核心</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CPU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在工作过程中不会因为电流冲击而复位和跑飞。</a:t>
            </a:r>
          </a:p>
        </p:txBody>
      </p:sp>
      <p:pic>
        <p:nvPicPr>
          <p:cNvPr id="8194" name="Picture 2">
            <a:extLst>
              <a:ext uri="{FF2B5EF4-FFF2-40B4-BE49-F238E27FC236}">
                <a16:creationId xmlns:a16="http://schemas.microsoft.com/office/drawing/2014/main" id="{31931011-E229-DF75-FBB7-57A43887813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0790" y="3921760"/>
            <a:ext cx="6919429" cy="2448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4323909"/>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10.2 </a:t>
            </a:r>
            <a:r>
              <a:rPr lang="zh-CN" altLang="en-US" sz="2800" b="1" dirty="0">
                <a:latin typeface="Times New Roman" pitchFamily="18" charset="0"/>
                <a:ea typeface="华文中宋" pitchFamily="2" charset="-122"/>
              </a:rPr>
              <a:t>动力源</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919735" y="765927"/>
            <a:ext cx="10352529" cy="423279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R="0" lvl="0" defTabSz="914400" rtl="0" eaLnBrk="1" fontAlgn="base" latinLnBrk="0" hangingPunct="1">
              <a:lnSpc>
                <a:spcPct val="120000"/>
              </a:lnSpc>
              <a:spcBef>
                <a:spcPct val="10000"/>
              </a:spcBef>
              <a:spcAft>
                <a:spcPct val="10000"/>
              </a:spcAft>
              <a:buClrTx/>
              <a:buSzTx/>
              <a:buFont typeface="Wingdings" panose="05000000000000000000" pitchFamily="2" charset="2"/>
              <a:buChar char="u"/>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保护电路</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在系统中，在调试的过程中经常发生电机过载、跑飞等现象，因此在电池系统中需要有基本的保护电路，如下图所示。确保电路在意外短路时不产生爆燃，同时要保证系统不受剧烈的震动和过高温度的影响。根据实际调试，机器人处于站立姿态时，系统电流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2A</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左右，机器人在行走时系统平均电流在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5A</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左右，最大峰值在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15A</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左右。根据系统特性，本电路在设计时加入了电源管理功能，可以即时检测流过系统的电流，设置保护电流模式。如上描述，机器人正常行走过程中可以把系统整机硬件设置在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15A</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的峰值电流保护模式下，这样只要系统检测到峰值电流超过</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15A</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就会触发保护。</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9218" name="Picture 2">
            <a:extLst>
              <a:ext uri="{FF2B5EF4-FFF2-40B4-BE49-F238E27FC236}">
                <a16:creationId xmlns:a16="http://schemas.microsoft.com/office/drawing/2014/main" id="{1048AAD7-41C4-3667-56F9-E1D5EB07F7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44154" y="5215372"/>
            <a:ext cx="7503689" cy="1184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08280160"/>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10.2 </a:t>
            </a:r>
            <a:r>
              <a:rPr lang="zh-CN" altLang="en-US" sz="2800" b="1" dirty="0">
                <a:latin typeface="Times New Roman" pitchFamily="18" charset="0"/>
                <a:ea typeface="华文中宋" pitchFamily="2" charset="-122"/>
              </a:rPr>
              <a:t>动力源</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919735" y="765927"/>
            <a:ext cx="10352529" cy="283071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R="0" lvl="0" defTabSz="914400" rtl="0" eaLnBrk="1" fontAlgn="base" latinLnBrk="0" hangingPunct="1">
              <a:lnSpc>
                <a:spcPct val="120000"/>
              </a:lnSpc>
              <a:spcBef>
                <a:spcPct val="10000"/>
              </a:spcBef>
              <a:spcAft>
                <a:spcPct val="10000"/>
              </a:spcAft>
              <a:buClrTx/>
              <a:buSzTx/>
              <a:buFont typeface="Wingdings" panose="05000000000000000000" pitchFamily="2" charset="2"/>
              <a:buChar char="u"/>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延时上电保护</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由于</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个电机控制器并联在一起具有很大的输入电容，当输入电压为</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24V</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时，输入电容的总储能约为</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1.5J</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，因此开启电机电源前电机必须能够耗散掉这部分能量，因为通过电阻为电容充电的效率基本上是</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50%</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，所以，当电容通过一个非常小的电阻开始充电时，瞬时开启电机电源会导致巨大的电流涌入。为了减轻这些影响，我们设计了预充电电路。</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242" name="Picture 2">
            <a:extLst>
              <a:ext uri="{FF2B5EF4-FFF2-40B4-BE49-F238E27FC236}">
                <a16:creationId xmlns:a16="http://schemas.microsoft.com/office/drawing/2014/main" id="{0B6577A0-11F3-498F-B17D-41770FD61ED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08981" y="3671051"/>
            <a:ext cx="8174038" cy="276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6896072"/>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10.2 </a:t>
            </a:r>
            <a:r>
              <a:rPr lang="zh-CN" altLang="en-US" sz="2800" b="1" dirty="0">
                <a:latin typeface="Times New Roman" pitchFamily="18" charset="0"/>
                <a:ea typeface="华文中宋" pitchFamily="2" charset="-122"/>
              </a:rPr>
              <a:t>动力源</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919735" y="765927"/>
            <a:ext cx="10352529" cy="163183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R="0" lvl="0" defTabSz="914400" rtl="0" eaLnBrk="1" fontAlgn="base" latinLnBrk="0" hangingPunct="1">
              <a:lnSpc>
                <a:spcPct val="120000"/>
              </a:lnSpc>
              <a:spcBef>
                <a:spcPct val="10000"/>
              </a:spcBef>
              <a:spcAft>
                <a:spcPct val="10000"/>
              </a:spcAft>
              <a:buClrTx/>
              <a:buSzTx/>
              <a:buFont typeface="Wingdings" panose="05000000000000000000" pitchFamily="2" charset="2"/>
              <a:buChar char="u"/>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通信接口</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电源板预留</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通信接口，为系统扩展、保护阈值设置等留出接口，以在后期设计时便于进行软件保护设置等。</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266" name="Picture 2">
            <a:extLst>
              <a:ext uri="{FF2B5EF4-FFF2-40B4-BE49-F238E27FC236}">
                <a16:creationId xmlns:a16="http://schemas.microsoft.com/office/drawing/2014/main" id="{D72230E5-EE87-4CDE-3AA3-4099140DD2D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57808" y="2397760"/>
            <a:ext cx="4299903" cy="4369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20985166"/>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10.2 </a:t>
            </a:r>
            <a:r>
              <a:rPr lang="zh-CN" altLang="en-US" sz="2800" b="1" dirty="0">
                <a:latin typeface="Times New Roman" pitchFamily="18" charset="0"/>
                <a:ea typeface="华文中宋" pitchFamily="2" charset="-122"/>
              </a:rPr>
              <a:t>动力源</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919735" y="765927"/>
            <a:ext cx="10352529" cy="125591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电源控制的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CPU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采用同系列的处理器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STM32F103</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，完成电流采样、保护阈值设置、</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通信处理等功能。电源管理板</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CPU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部分如下图所示：</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290" name="Picture 2">
            <a:extLst>
              <a:ext uri="{FF2B5EF4-FFF2-40B4-BE49-F238E27FC236}">
                <a16:creationId xmlns:a16="http://schemas.microsoft.com/office/drawing/2014/main" id="{6A8184D5-F8EC-5E94-F49B-C09BDE74405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29802" y="2021840"/>
            <a:ext cx="7412037" cy="411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77541232"/>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10.3 UP board</a:t>
            </a:r>
            <a:endParaRPr lang="zh-CN" altLang="en-US" sz="2800" b="1" dirty="0">
              <a:latin typeface="Times New Roman" pitchFamily="18" charset="0"/>
              <a:ea typeface="华文中宋" pitchFamily="2" charset="-122"/>
            </a:endParaRP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919735" y="765927"/>
            <a:ext cx="10352529" cy="566535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defTabSz="914400" rtl="0" eaLnBrk="1" fontAlgn="base" latinLnBrk="0" hangingPunct="1">
              <a:lnSpc>
                <a:spcPct val="120000"/>
              </a:lnSpc>
              <a:spcBef>
                <a:spcPct val="10000"/>
              </a:spcBef>
              <a:spcAft>
                <a:spcPct val="10000"/>
              </a:spcAft>
              <a:buClrTx/>
              <a:buSzTx/>
              <a:defRPr/>
            </a:pP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 board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负责机器人运动学与动力学运算及整套运动控制算法的实现，</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 board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根据机身姿态及</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个关节当前的位置和力矩，算出每个关节所需要的扭矩。</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 board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采用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1.44GHz</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主频的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CPU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，运行整套算法后，</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CPU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还有</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60%</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的空闲。</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 board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不同于传统系统，其具备一个</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接口，数据传输波特率可以达到</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50Mbps</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，这是由</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 board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上的一个</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FPGA</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实现的。这个</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接口的数据速率和通信实时性可以满足整机对数据传输的要求。</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协议是一个高效本地近距离的数据交互协议，简单易用。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 board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上所需要的信息数据流都要经过</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这个物理接口进行传输，包括电机的位置、扭矩和速度的上下行数据。电机分散到离</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 board 20</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50cm</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外的关节上，这样的距离不适合</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这样的通信协议，并且分布电容和电机运转后的噪声将导致数据错乱，为了克服此类干扰，提高本地控制信号传输的可靠性和传输效率，本书设计的四足机器人采用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485</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总线和</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总线传输的方式。</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1230686780"/>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10.3 UP board</a:t>
            </a:r>
            <a:endParaRPr lang="zh-CN" altLang="en-US" sz="2800" b="1" dirty="0">
              <a:latin typeface="Times New Roman" pitchFamily="18" charset="0"/>
              <a:ea typeface="华文中宋" pitchFamily="2" charset="-122"/>
            </a:endParaRP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919735" y="979287"/>
            <a:ext cx="10352529" cy="408039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本书采用的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 board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是一款小型、低功耗的嵌入式</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计算机，具有</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核</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Intel Atom X5-Z8350</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处理器、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4GB RAM</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和约</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5W</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的峰值功耗。</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 board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运行带有</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preempt-rt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补丁的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Linux</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内核，以实现代码的软实时运行。</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 board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上运行的各种软件可以通过</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LCM</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插件进行通信，</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LCM</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还允许快速记录每条命令、传感器测量值和内部控制变量等数据，方便控制算法的开发和调试。其中，</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处理器提供了充足的计算性能，带</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preempt-rt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补丁的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Linux</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内核在保证代码实时运行的基础上，可以使用丰富的开源软件库：如局域网轻量级通信与数据封送库</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LCM</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、矩阵运算库</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Eigen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等，方便机器人控制算法的开发。</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777744459"/>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10.3 UP board</a:t>
            </a:r>
            <a:endParaRPr lang="zh-CN" altLang="en-US" sz="2800" b="1" dirty="0">
              <a:latin typeface="Times New Roman" pitchFamily="18" charset="0"/>
              <a:ea typeface="华文中宋" pitchFamily="2" charset="-122"/>
            </a:endParaRPr>
          </a:p>
        </p:txBody>
      </p:sp>
      <p:pic>
        <p:nvPicPr>
          <p:cNvPr id="13314" name="Picture 2">
            <a:extLst>
              <a:ext uri="{FF2B5EF4-FFF2-40B4-BE49-F238E27FC236}">
                <a16:creationId xmlns:a16="http://schemas.microsoft.com/office/drawing/2014/main" id="{095C0EF5-9E60-6430-EB46-63C918A1BF1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36774" y="1009015"/>
            <a:ext cx="7738745" cy="527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6044459"/>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10.3 UP board</a:t>
            </a:r>
            <a:endParaRPr lang="zh-CN" altLang="en-US" sz="2800" b="1" dirty="0">
              <a:latin typeface="Times New Roman" pitchFamily="18" charset="0"/>
              <a:ea typeface="华文中宋" pitchFamily="2" charset="-122"/>
            </a:endParaRP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919735" y="979287"/>
            <a:ext cx="10352529" cy="511671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本书四足机器人使用的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 board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基于</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架构，功耗平均在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7W</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左右，内置了电子硬盘和足够的内存，</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CPU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的运算速度在运行四足机器人的模型预测控制</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(MPC)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和全身运动控制 </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(Whole Body Control</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WBC)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动力学与运动学控制算法后，还有</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40%</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左右的空闲。</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 board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体积虽然不大，但引出了一台主机所必要的接口，如</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HDMI</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显示接口、</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RJ45</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通信网口和</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USB</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数据接口，完全可以当成一台计算机用。这款小型主机，在标准</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架构下用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FPGA</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模拟出了</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UART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接口和</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接口，便于和下位机</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MCU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进行高效数据交互。</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UP board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的对外扩展接口经过双排</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DIP40</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排针引出。其中，我们用到了</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DIP40 </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排针的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接口、一个电源供电接口和</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RJ45</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网口</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用于程序更新和宿主机联合调试</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，以及</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USB</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接口和扩展的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UART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接口</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用于</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IMU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陀螺仪和无线遥控手柄通信</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4078767860"/>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10.3 UP board</a:t>
            </a:r>
            <a:endParaRPr lang="zh-CN" altLang="en-US" sz="2800" b="1" dirty="0">
              <a:latin typeface="Times New Roman" pitchFamily="18" charset="0"/>
              <a:ea typeface="华文中宋" pitchFamily="2" charset="-122"/>
            </a:endParaRPr>
          </a:p>
        </p:txBody>
      </p:sp>
      <p:pic>
        <p:nvPicPr>
          <p:cNvPr id="14338" name="Picture 2">
            <a:extLst>
              <a:ext uri="{FF2B5EF4-FFF2-40B4-BE49-F238E27FC236}">
                <a16:creationId xmlns:a16="http://schemas.microsoft.com/office/drawing/2014/main" id="{45DEA26F-F16E-0D8B-7BCB-938DAF2C657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97630" y="949643"/>
            <a:ext cx="3996690" cy="555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8558416"/>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10.4 </a:t>
            </a:r>
            <a:r>
              <a:rPr lang="zh-CN" altLang="en-US" sz="2800" b="1" dirty="0">
                <a:latin typeface="Times New Roman" pitchFamily="18" charset="0"/>
                <a:ea typeface="华文中宋" pitchFamily="2" charset="-122"/>
              </a:rPr>
              <a:t>遥控器</a:t>
            </a:r>
          </a:p>
        </p:txBody>
      </p:sp>
      <p:sp>
        <p:nvSpPr>
          <p:cNvPr id="3" name="内容占位符 2">
            <a:extLst>
              <a:ext uri="{FF2B5EF4-FFF2-40B4-BE49-F238E27FC236}">
                <a16:creationId xmlns:a16="http://schemas.microsoft.com/office/drawing/2014/main" id="{7889E470-03D1-95B0-1882-2155A706168A}"/>
              </a:ext>
            </a:extLst>
          </p:cNvPr>
          <p:cNvSpPr>
            <a:spLocks noChangeArrowheads="1"/>
          </p:cNvSpPr>
          <p:nvPr/>
        </p:nvSpPr>
        <p:spPr bwMode="auto">
          <a:xfrm>
            <a:off x="919735" y="979287"/>
            <a:ext cx="10352529" cy="66663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遥控器用于控制机器人运动和切换状态，其各个拨钮的名称如图所示：</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5362" name="Picture 2">
            <a:extLst>
              <a:ext uri="{FF2B5EF4-FFF2-40B4-BE49-F238E27FC236}">
                <a16:creationId xmlns:a16="http://schemas.microsoft.com/office/drawing/2014/main" id="{98B50DBB-1BC6-DA21-AE95-9AAA363113F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42640" y="1892366"/>
            <a:ext cx="5017135" cy="4554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1388132"/>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10.4 </a:t>
            </a:r>
            <a:r>
              <a:rPr lang="zh-CN" altLang="en-US" sz="2800" b="1" dirty="0">
                <a:latin typeface="Times New Roman" pitchFamily="18" charset="0"/>
                <a:ea typeface="华文中宋" pitchFamily="2" charset="-122"/>
              </a:rPr>
              <a:t>遥控器</a:t>
            </a:r>
          </a:p>
        </p:txBody>
      </p:sp>
      <p:graphicFrame>
        <p:nvGraphicFramePr>
          <p:cNvPr id="4" name="表格 3">
            <a:extLst>
              <a:ext uri="{FF2B5EF4-FFF2-40B4-BE49-F238E27FC236}">
                <a16:creationId xmlns:a16="http://schemas.microsoft.com/office/drawing/2014/main" id="{725FA4D4-4CE3-B992-9535-1586C3E4E59E}"/>
              </a:ext>
            </a:extLst>
          </p:cNvPr>
          <p:cNvGraphicFramePr>
            <a:graphicFrameLocks noGrp="1"/>
          </p:cNvGraphicFramePr>
          <p:nvPr>
            <p:extLst>
              <p:ext uri="{D42A27DB-BD31-4B8C-83A1-F6EECF244321}">
                <p14:modId xmlns:p14="http://schemas.microsoft.com/office/powerpoint/2010/main" val="2030072071"/>
              </p:ext>
            </p:extLst>
          </p:nvPr>
        </p:nvGraphicFramePr>
        <p:xfrm>
          <a:off x="1457643" y="822020"/>
          <a:ext cx="9259252" cy="5966130"/>
        </p:xfrm>
        <a:graphic>
          <a:graphicData uri="http://schemas.openxmlformats.org/drawingml/2006/table">
            <a:tbl>
              <a:tblPr firstRow="1" firstCol="1" bandRow="1">
                <a:tableStyleId>{5C22544A-7EE6-4342-B048-85BDC9FD1C3A}</a:tableStyleId>
              </a:tblPr>
              <a:tblGrid>
                <a:gridCol w="2695892">
                  <a:extLst>
                    <a:ext uri="{9D8B030D-6E8A-4147-A177-3AD203B41FA5}">
                      <a16:colId xmlns:a16="http://schemas.microsoft.com/office/drawing/2014/main" val="1939165500"/>
                    </a:ext>
                  </a:extLst>
                </a:gridCol>
                <a:gridCol w="6563360">
                  <a:extLst>
                    <a:ext uri="{9D8B030D-6E8A-4147-A177-3AD203B41FA5}">
                      <a16:colId xmlns:a16="http://schemas.microsoft.com/office/drawing/2014/main" val="1377301054"/>
                    </a:ext>
                  </a:extLst>
                </a:gridCol>
              </a:tblGrid>
              <a:tr h="267511">
                <a:tc>
                  <a:txBody>
                    <a:bodyPr/>
                    <a:lstStyle/>
                    <a:p>
                      <a:pPr indent="269875" algn="ctr">
                        <a:lnSpc>
                          <a:spcPts val="1595"/>
                        </a:lnSpc>
                      </a:pPr>
                      <a:r>
                        <a:rPr lang="zh-CN" sz="1800" kern="1000" dirty="0">
                          <a:effectLst/>
                        </a:rPr>
                        <a:t>按</a:t>
                      </a:r>
                      <a:r>
                        <a:rPr lang="en-US" sz="1800" kern="1000" dirty="0">
                          <a:effectLst/>
                        </a:rPr>
                        <a:t>    </a:t>
                      </a:r>
                      <a:r>
                        <a:rPr lang="zh-CN" sz="1800" kern="1000" dirty="0">
                          <a:effectLst/>
                        </a:rPr>
                        <a:t>钮</a:t>
                      </a:r>
                      <a:endParaRPr lang="zh-CN" sz="3200" kern="10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a:lnSpc>
                          <a:spcPts val="1595"/>
                        </a:lnSpc>
                      </a:pPr>
                      <a:r>
                        <a:rPr lang="zh-CN" sz="1800" kern="1000">
                          <a:effectLst/>
                        </a:rPr>
                        <a:t>功</a:t>
                      </a:r>
                      <a:r>
                        <a:rPr lang="en-US" sz="1800" kern="1000">
                          <a:effectLst/>
                        </a:rPr>
                        <a:t>    </a:t>
                      </a:r>
                      <a:r>
                        <a:rPr lang="zh-CN" sz="1800" kern="1000">
                          <a:effectLst/>
                        </a:rPr>
                        <a:t>能</a:t>
                      </a:r>
                      <a:endParaRPr lang="zh-CN" sz="3200" kern="10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4186685721"/>
                  </a:ext>
                </a:extLst>
              </a:tr>
              <a:tr h="267511">
                <a:tc rowSpan="2">
                  <a:txBody>
                    <a:bodyPr/>
                    <a:lstStyle/>
                    <a:p>
                      <a:pPr indent="269875" algn="ctr">
                        <a:lnSpc>
                          <a:spcPts val="1595"/>
                        </a:lnSpc>
                      </a:pPr>
                      <a:r>
                        <a:rPr lang="zh-CN" sz="1800" kern="1000" dirty="0">
                          <a:effectLst/>
                        </a:rPr>
                        <a:t>方向油门操作杆</a:t>
                      </a:r>
                      <a:endParaRPr lang="zh-CN" sz="3200" kern="10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a:lnSpc>
                          <a:spcPts val="1595"/>
                        </a:lnSpc>
                      </a:pPr>
                      <a:r>
                        <a:rPr lang="zh-CN" sz="1800" kern="1000" dirty="0">
                          <a:effectLst/>
                        </a:rPr>
                        <a:t>上</a:t>
                      </a:r>
                      <a:r>
                        <a:rPr lang="en-US" sz="1800" kern="1000" dirty="0">
                          <a:effectLst/>
                        </a:rPr>
                        <a:t>/</a:t>
                      </a:r>
                      <a:r>
                        <a:rPr lang="zh-CN" sz="1800" kern="1000" dirty="0">
                          <a:effectLst/>
                        </a:rPr>
                        <a:t>下：调整四足机器人运动过程中的俯仰角</a:t>
                      </a:r>
                      <a:endParaRPr lang="zh-CN" sz="3200" kern="1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4004921550"/>
                  </a:ext>
                </a:extLst>
              </a:tr>
              <a:tr h="267511">
                <a:tc vMerge="1">
                  <a:txBody>
                    <a:bodyPr/>
                    <a:lstStyle/>
                    <a:p>
                      <a:endParaRPr lang="zh-CN" altLang="en-US"/>
                    </a:p>
                  </a:txBody>
                  <a:tcPr/>
                </a:tc>
                <a:tc>
                  <a:txBody>
                    <a:bodyPr/>
                    <a:lstStyle/>
                    <a:p>
                      <a:pPr indent="269875" algn="ctr">
                        <a:lnSpc>
                          <a:spcPts val="1595"/>
                        </a:lnSpc>
                      </a:pPr>
                      <a:r>
                        <a:rPr lang="zh-CN" sz="1800" kern="1000">
                          <a:effectLst/>
                        </a:rPr>
                        <a:t>左</a:t>
                      </a:r>
                      <a:r>
                        <a:rPr lang="en-US" sz="1800" kern="1000">
                          <a:effectLst/>
                        </a:rPr>
                        <a:t>/</a:t>
                      </a:r>
                      <a:r>
                        <a:rPr lang="zh-CN" sz="1800" kern="1000">
                          <a:effectLst/>
                        </a:rPr>
                        <a:t>右：控制四足机器人转向</a:t>
                      </a:r>
                      <a:endParaRPr lang="zh-CN" sz="3200" kern="10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670761645"/>
                  </a:ext>
                </a:extLst>
              </a:tr>
              <a:tr h="267511">
                <a:tc rowSpan="2">
                  <a:txBody>
                    <a:bodyPr/>
                    <a:lstStyle/>
                    <a:p>
                      <a:pPr indent="269875" algn="ctr">
                        <a:lnSpc>
                          <a:spcPts val="1595"/>
                        </a:lnSpc>
                      </a:pPr>
                      <a:r>
                        <a:rPr lang="zh-CN" sz="1800" kern="1000" dirty="0">
                          <a:effectLst/>
                        </a:rPr>
                        <a:t>副翼</a:t>
                      </a:r>
                      <a:r>
                        <a:rPr lang="en-US" sz="1800" kern="1000" dirty="0">
                          <a:effectLst/>
                        </a:rPr>
                        <a:t>/</a:t>
                      </a:r>
                      <a:r>
                        <a:rPr lang="zh-CN" sz="1800" kern="1000" dirty="0">
                          <a:effectLst/>
                        </a:rPr>
                        <a:t>升降操作杆</a:t>
                      </a:r>
                      <a:endParaRPr lang="zh-CN" sz="3200" kern="10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a:lnSpc>
                          <a:spcPts val="1595"/>
                        </a:lnSpc>
                      </a:pPr>
                      <a:r>
                        <a:rPr lang="zh-CN" sz="1800" kern="1000">
                          <a:effectLst/>
                        </a:rPr>
                        <a:t>上</a:t>
                      </a:r>
                      <a:r>
                        <a:rPr lang="en-US" sz="1800" kern="1000">
                          <a:effectLst/>
                        </a:rPr>
                        <a:t>/</a:t>
                      </a:r>
                      <a:r>
                        <a:rPr lang="zh-CN" sz="1800" kern="1000">
                          <a:effectLst/>
                        </a:rPr>
                        <a:t>下：控制四足机器人前进</a:t>
                      </a:r>
                      <a:r>
                        <a:rPr lang="en-US" sz="1800" kern="1000">
                          <a:effectLst/>
                        </a:rPr>
                        <a:t>/</a:t>
                      </a:r>
                      <a:r>
                        <a:rPr lang="zh-CN" sz="1800" kern="1000">
                          <a:effectLst/>
                        </a:rPr>
                        <a:t>后退</a:t>
                      </a:r>
                      <a:endParaRPr lang="zh-CN" sz="3200" kern="10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3842007250"/>
                  </a:ext>
                </a:extLst>
              </a:tr>
              <a:tr h="346260">
                <a:tc vMerge="1">
                  <a:txBody>
                    <a:bodyPr/>
                    <a:lstStyle/>
                    <a:p>
                      <a:endParaRPr lang="zh-CN" altLang="en-US"/>
                    </a:p>
                  </a:txBody>
                  <a:tcPr/>
                </a:tc>
                <a:tc>
                  <a:txBody>
                    <a:bodyPr/>
                    <a:lstStyle/>
                    <a:p>
                      <a:pPr indent="269875" algn="ctr">
                        <a:lnSpc>
                          <a:spcPts val="1595"/>
                        </a:lnSpc>
                      </a:pPr>
                      <a:r>
                        <a:rPr lang="zh-CN" sz="1800" kern="1000">
                          <a:effectLst/>
                        </a:rPr>
                        <a:t>左</a:t>
                      </a:r>
                      <a:r>
                        <a:rPr lang="en-US" sz="1800" kern="1000">
                          <a:effectLst/>
                        </a:rPr>
                        <a:t>/</a:t>
                      </a:r>
                      <a:r>
                        <a:rPr lang="zh-CN" sz="1800" kern="1000">
                          <a:effectLst/>
                        </a:rPr>
                        <a:t>右：控制四足机器人左</a:t>
                      </a:r>
                      <a:r>
                        <a:rPr lang="en-US" sz="1800" kern="1000">
                          <a:effectLst/>
                        </a:rPr>
                        <a:t>/</a:t>
                      </a:r>
                      <a:r>
                        <a:rPr lang="zh-CN" sz="1800" kern="1000">
                          <a:effectLst/>
                        </a:rPr>
                        <a:t>右横移</a:t>
                      </a:r>
                      <a:endParaRPr lang="zh-CN" sz="3200" kern="10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3424804096"/>
                  </a:ext>
                </a:extLst>
              </a:tr>
              <a:tr h="414029">
                <a:tc rowSpan="2">
                  <a:txBody>
                    <a:bodyPr/>
                    <a:lstStyle/>
                    <a:p>
                      <a:pPr indent="269875" algn="ctr">
                        <a:lnSpc>
                          <a:spcPts val="1595"/>
                        </a:lnSpc>
                      </a:pPr>
                      <a:r>
                        <a:rPr lang="en-US" sz="1800" kern="1000">
                          <a:effectLst/>
                        </a:rPr>
                        <a:t>SwA</a:t>
                      </a:r>
                      <a:r>
                        <a:rPr lang="zh-CN" sz="1800" kern="1000">
                          <a:effectLst/>
                        </a:rPr>
                        <a:t>二段开关</a:t>
                      </a:r>
                      <a:endParaRPr lang="zh-CN" sz="3200" kern="10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a:lnSpc>
                          <a:spcPts val="1595"/>
                        </a:lnSpc>
                      </a:pPr>
                      <a:r>
                        <a:rPr lang="zh-CN" sz="1800" kern="1000" dirty="0">
                          <a:effectLst/>
                        </a:rPr>
                        <a:t>上：进入</a:t>
                      </a:r>
                      <a:r>
                        <a:rPr lang="en-US" sz="1800" kern="1000" dirty="0">
                          <a:effectLst/>
                        </a:rPr>
                        <a:t>Locomotion(</a:t>
                      </a:r>
                      <a:r>
                        <a:rPr lang="zh-CN" sz="1800" kern="1000" dirty="0">
                          <a:effectLst/>
                        </a:rPr>
                        <a:t>动</a:t>
                      </a:r>
                      <a:r>
                        <a:rPr lang="en-US" sz="1800" kern="1000" dirty="0">
                          <a:effectLst/>
                        </a:rPr>
                        <a:t>)</a:t>
                      </a:r>
                      <a:r>
                        <a:rPr lang="zh-CN" sz="1800" kern="1000" dirty="0">
                          <a:effectLst/>
                        </a:rPr>
                        <a:t>模式</a:t>
                      </a:r>
                      <a:endParaRPr lang="zh-CN" sz="3200" kern="1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613805777"/>
                  </a:ext>
                </a:extLst>
              </a:tr>
              <a:tr h="390643">
                <a:tc vMerge="1">
                  <a:txBody>
                    <a:bodyPr/>
                    <a:lstStyle/>
                    <a:p>
                      <a:endParaRPr lang="zh-CN" altLang="en-US"/>
                    </a:p>
                  </a:txBody>
                  <a:tcPr/>
                </a:tc>
                <a:tc>
                  <a:txBody>
                    <a:bodyPr/>
                    <a:lstStyle/>
                    <a:p>
                      <a:pPr indent="269875" algn="ctr">
                        <a:lnSpc>
                          <a:spcPts val="1595"/>
                        </a:lnSpc>
                      </a:pPr>
                      <a:r>
                        <a:rPr lang="zh-CN" sz="1800" kern="1000" dirty="0">
                          <a:effectLst/>
                        </a:rPr>
                        <a:t>下：</a:t>
                      </a:r>
                      <a:r>
                        <a:rPr lang="en-US" sz="1800" kern="1000" dirty="0" err="1">
                          <a:effectLst/>
                        </a:rPr>
                        <a:t>BalanceStand</a:t>
                      </a:r>
                      <a:r>
                        <a:rPr lang="en-US" sz="1800" kern="1000" dirty="0">
                          <a:effectLst/>
                        </a:rPr>
                        <a:t>(</a:t>
                      </a:r>
                      <a:r>
                        <a:rPr lang="zh-CN" sz="1800" kern="1000" dirty="0">
                          <a:effectLst/>
                        </a:rPr>
                        <a:t>平衡站立</a:t>
                      </a:r>
                      <a:r>
                        <a:rPr lang="en-US" sz="1800" kern="1000" dirty="0">
                          <a:effectLst/>
                        </a:rPr>
                        <a:t>)</a:t>
                      </a:r>
                      <a:r>
                        <a:rPr lang="zh-CN" sz="1800" kern="1000" dirty="0">
                          <a:effectLst/>
                        </a:rPr>
                        <a:t>模式，该模式可以进行姿态展示</a:t>
                      </a:r>
                      <a:endParaRPr lang="zh-CN" sz="3200" kern="1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752928514"/>
                  </a:ext>
                </a:extLst>
              </a:tr>
              <a:tr h="267511">
                <a:tc rowSpan="6">
                  <a:txBody>
                    <a:bodyPr/>
                    <a:lstStyle/>
                    <a:p>
                      <a:pPr indent="269875" algn="ctr">
                        <a:lnSpc>
                          <a:spcPts val="1595"/>
                        </a:lnSpc>
                      </a:pPr>
                      <a:r>
                        <a:rPr lang="en-US" sz="1800" kern="1000">
                          <a:effectLst/>
                        </a:rPr>
                        <a:t>SwC</a:t>
                      </a:r>
                      <a:r>
                        <a:rPr lang="zh-CN" sz="1800" kern="1000">
                          <a:effectLst/>
                        </a:rPr>
                        <a:t>三段开关和</a:t>
                      </a:r>
                      <a:r>
                        <a:rPr lang="en-US" sz="1800" kern="1000">
                          <a:effectLst/>
                        </a:rPr>
                        <a:t>SwD</a:t>
                      </a:r>
                      <a:r>
                        <a:rPr lang="zh-CN" sz="1800" kern="1000">
                          <a:effectLst/>
                        </a:rPr>
                        <a:t>三段开关</a:t>
                      </a:r>
                      <a:endParaRPr lang="zh-CN" sz="3200" kern="10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a:lnSpc>
                          <a:spcPts val="1595"/>
                        </a:lnSpc>
                      </a:pPr>
                      <a:r>
                        <a:rPr lang="en-US" sz="1800" kern="1000">
                          <a:effectLst/>
                        </a:rPr>
                        <a:t>SwC</a:t>
                      </a:r>
                      <a:r>
                        <a:rPr lang="zh-CN" sz="1800" kern="1000">
                          <a:effectLst/>
                        </a:rPr>
                        <a:t>在上，</a:t>
                      </a:r>
                      <a:r>
                        <a:rPr lang="en-US" sz="1800" kern="1000">
                          <a:effectLst/>
                        </a:rPr>
                        <a:t>SwD</a:t>
                      </a:r>
                      <a:r>
                        <a:rPr lang="zh-CN" sz="1800" kern="1000">
                          <a:effectLst/>
                        </a:rPr>
                        <a:t>在上：</a:t>
                      </a:r>
                      <a:r>
                        <a:rPr lang="en-US" sz="1800" kern="1000">
                          <a:effectLst/>
                        </a:rPr>
                        <a:t>Trot</a:t>
                      </a:r>
                      <a:r>
                        <a:rPr lang="zh-CN" sz="1800" kern="1000">
                          <a:effectLst/>
                        </a:rPr>
                        <a:t>步态</a:t>
                      </a:r>
                      <a:endParaRPr lang="zh-CN" sz="3200" kern="10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860391026"/>
                  </a:ext>
                </a:extLst>
              </a:tr>
              <a:tr h="267511">
                <a:tc vMerge="1">
                  <a:txBody>
                    <a:bodyPr/>
                    <a:lstStyle/>
                    <a:p>
                      <a:endParaRPr lang="zh-CN" altLang="en-US"/>
                    </a:p>
                  </a:txBody>
                  <a:tcPr/>
                </a:tc>
                <a:tc>
                  <a:txBody>
                    <a:bodyPr/>
                    <a:lstStyle/>
                    <a:p>
                      <a:pPr indent="269875" algn="ctr">
                        <a:lnSpc>
                          <a:spcPts val="1595"/>
                        </a:lnSpc>
                      </a:pPr>
                      <a:r>
                        <a:rPr lang="en-US" sz="1800" kern="1000" dirty="0" err="1">
                          <a:effectLst/>
                        </a:rPr>
                        <a:t>SwC</a:t>
                      </a:r>
                      <a:r>
                        <a:rPr lang="zh-CN" sz="1800" kern="1000" dirty="0">
                          <a:effectLst/>
                        </a:rPr>
                        <a:t>在上，</a:t>
                      </a:r>
                      <a:r>
                        <a:rPr lang="en-US" sz="1800" kern="1000" dirty="0" err="1">
                          <a:effectLst/>
                        </a:rPr>
                        <a:t>SwD</a:t>
                      </a:r>
                      <a:r>
                        <a:rPr lang="zh-CN" sz="1800" kern="1000" dirty="0">
                          <a:effectLst/>
                        </a:rPr>
                        <a:t>在下：</a:t>
                      </a:r>
                      <a:r>
                        <a:rPr lang="en-US" sz="1800" kern="1000" dirty="0" err="1">
                          <a:effectLst/>
                        </a:rPr>
                        <a:t>Flyingtrot</a:t>
                      </a:r>
                      <a:r>
                        <a:rPr lang="zh-CN" sz="1800" kern="1000" dirty="0">
                          <a:effectLst/>
                        </a:rPr>
                        <a:t>步态</a:t>
                      </a:r>
                      <a:endParaRPr lang="zh-CN" sz="3200" kern="1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4081704487"/>
                  </a:ext>
                </a:extLst>
              </a:tr>
              <a:tr h="267511">
                <a:tc vMerge="1">
                  <a:txBody>
                    <a:bodyPr/>
                    <a:lstStyle/>
                    <a:p>
                      <a:endParaRPr lang="zh-CN" altLang="en-US"/>
                    </a:p>
                  </a:txBody>
                  <a:tcPr/>
                </a:tc>
                <a:tc>
                  <a:txBody>
                    <a:bodyPr/>
                    <a:lstStyle/>
                    <a:p>
                      <a:pPr indent="269875" algn="ctr">
                        <a:lnSpc>
                          <a:spcPts val="1595"/>
                        </a:lnSpc>
                      </a:pPr>
                      <a:r>
                        <a:rPr lang="en-US" sz="1800" kern="1000">
                          <a:effectLst/>
                        </a:rPr>
                        <a:t>SwC</a:t>
                      </a:r>
                      <a:r>
                        <a:rPr lang="zh-CN" sz="1800" kern="1000">
                          <a:effectLst/>
                        </a:rPr>
                        <a:t>在中间，</a:t>
                      </a:r>
                      <a:r>
                        <a:rPr lang="en-US" sz="1800" kern="1000">
                          <a:effectLst/>
                        </a:rPr>
                        <a:t>SwD</a:t>
                      </a:r>
                      <a:r>
                        <a:rPr lang="zh-CN" sz="1800" kern="1000">
                          <a:effectLst/>
                        </a:rPr>
                        <a:t>在上：</a:t>
                      </a:r>
                      <a:r>
                        <a:rPr lang="en-US" sz="1800" kern="1000">
                          <a:effectLst/>
                        </a:rPr>
                        <a:t>Slowtrot</a:t>
                      </a:r>
                      <a:r>
                        <a:rPr lang="zh-CN" sz="1800" kern="1000">
                          <a:effectLst/>
                        </a:rPr>
                        <a:t>步态</a:t>
                      </a:r>
                      <a:endParaRPr lang="zh-CN" sz="3200" kern="10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356425812"/>
                  </a:ext>
                </a:extLst>
              </a:tr>
              <a:tr h="267511">
                <a:tc vMerge="1">
                  <a:txBody>
                    <a:bodyPr/>
                    <a:lstStyle/>
                    <a:p>
                      <a:endParaRPr lang="zh-CN" altLang="en-US"/>
                    </a:p>
                  </a:txBody>
                  <a:tcPr/>
                </a:tc>
                <a:tc>
                  <a:txBody>
                    <a:bodyPr/>
                    <a:lstStyle/>
                    <a:p>
                      <a:pPr indent="269875" algn="ctr">
                        <a:lnSpc>
                          <a:spcPts val="1595"/>
                        </a:lnSpc>
                      </a:pPr>
                      <a:r>
                        <a:rPr lang="en-US" sz="1800" kern="1000" dirty="0" err="1">
                          <a:effectLst/>
                        </a:rPr>
                        <a:t>SwC</a:t>
                      </a:r>
                      <a:r>
                        <a:rPr lang="zh-CN" sz="1800" kern="1000" dirty="0">
                          <a:effectLst/>
                        </a:rPr>
                        <a:t>在中间，</a:t>
                      </a:r>
                      <a:r>
                        <a:rPr lang="en-US" sz="1800" kern="1000" dirty="0" err="1">
                          <a:effectLst/>
                        </a:rPr>
                        <a:t>SwD</a:t>
                      </a:r>
                      <a:r>
                        <a:rPr lang="zh-CN" sz="1800" kern="1000" dirty="0">
                          <a:effectLst/>
                        </a:rPr>
                        <a:t>在下：</a:t>
                      </a:r>
                      <a:r>
                        <a:rPr lang="en-US" sz="1800" kern="1000" dirty="0">
                          <a:effectLst/>
                        </a:rPr>
                        <a:t>Bound</a:t>
                      </a:r>
                      <a:r>
                        <a:rPr lang="zh-CN" sz="1800" kern="1000" dirty="0">
                          <a:effectLst/>
                        </a:rPr>
                        <a:t>步态</a:t>
                      </a:r>
                      <a:endParaRPr lang="zh-CN" sz="3200" kern="1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818747450"/>
                  </a:ext>
                </a:extLst>
              </a:tr>
              <a:tr h="267511">
                <a:tc vMerge="1">
                  <a:txBody>
                    <a:bodyPr/>
                    <a:lstStyle/>
                    <a:p>
                      <a:endParaRPr lang="zh-CN" altLang="en-US"/>
                    </a:p>
                  </a:txBody>
                  <a:tcPr/>
                </a:tc>
                <a:tc>
                  <a:txBody>
                    <a:bodyPr/>
                    <a:lstStyle/>
                    <a:p>
                      <a:pPr indent="269875" algn="ctr">
                        <a:lnSpc>
                          <a:spcPts val="1595"/>
                        </a:lnSpc>
                      </a:pPr>
                      <a:r>
                        <a:rPr lang="en-US" sz="1800" kern="1000" dirty="0" err="1">
                          <a:effectLst/>
                        </a:rPr>
                        <a:t>SwC</a:t>
                      </a:r>
                      <a:r>
                        <a:rPr lang="zh-CN" sz="1800" kern="1000" dirty="0">
                          <a:effectLst/>
                        </a:rPr>
                        <a:t>在下，</a:t>
                      </a:r>
                      <a:r>
                        <a:rPr lang="en-US" sz="1800" kern="1000" dirty="0" err="1">
                          <a:effectLst/>
                        </a:rPr>
                        <a:t>SwD</a:t>
                      </a:r>
                      <a:r>
                        <a:rPr lang="zh-CN" sz="1800" kern="1000" dirty="0">
                          <a:effectLst/>
                        </a:rPr>
                        <a:t>在上：</a:t>
                      </a:r>
                      <a:r>
                        <a:rPr lang="en-US" sz="1800" kern="1000" dirty="0">
                          <a:effectLst/>
                        </a:rPr>
                        <a:t>Pace</a:t>
                      </a:r>
                      <a:r>
                        <a:rPr lang="zh-CN" sz="1800" kern="1000" dirty="0">
                          <a:effectLst/>
                        </a:rPr>
                        <a:t>步态</a:t>
                      </a:r>
                      <a:endParaRPr lang="zh-CN" sz="3200" kern="1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423309654"/>
                  </a:ext>
                </a:extLst>
              </a:tr>
              <a:tr h="267511">
                <a:tc vMerge="1">
                  <a:txBody>
                    <a:bodyPr/>
                    <a:lstStyle/>
                    <a:p>
                      <a:endParaRPr lang="zh-CN" altLang="en-US"/>
                    </a:p>
                  </a:txBody>
                  <a:tcPr/>
                </a:tc>
                <a:tc>
                  <a:txBody>
                    <a:bodyPr/>
                    <a:lstStyle/>
                    <a:p>
                      <a:pPr indent="269875" algn="ctr">
                        <a:lnSpc>
                          <a:spcPts val="1595"/>
                        </a:lnSpc>
                      </a:pPr>
                      <a:r>
                        <a:rPr lang="en-US" sz="1800" kern="1000" dirty="0" err="1">
                          <a:effectLst/>
                        </a:rPr>
                        <a:t>SwC</a:t>
                      </a:r>
                      <a:r>
                        <a:rPr lang="zh-CN" sz="1800" kern="1000" dirty="0">
                          <a:effectLst/>
                        </a:rPr>
                        <a:t>在下，</a:t>
                      </a:r>
                      <a:r>
                        <a:rPr lang="en-US" sz="1800" kern="1000" dirty="0" err="1">
                          <a:effectLst/>
                        </a:rPr>
                        <a:t>SwD</a:t>
                      </a:r>
                      <a:r>
                        <a:rPr lang="zh-CN" sz="1800" kern="1000" dirty="0">
                          <a:effectLst/>
                        </a:rPr>
                        <a:t>在下：</a:t>
                      </a:r>
                      <a:r>
                        <a:rPr lang="en-US" sz="1800" kern="1000" dirty="0">
                          <a:effectLst/>
                        </a:rPr>
                        <a:t>Gallop</a:t>
                      </a:r>
                      <a:r>
                        <a:rPr lang="zh-CN" sz="1800" kern="1000" dirty="0">
                          <a:effectLst/>
                        </a:rPr>
                        <a:t>步态</a:t>
                      </a:r>
                      <a:endParaRPr lang="zh-CN" sz="3200" kern="1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3272071142"/>
                  </a:ext>
                </a:extLst>
              </a:tr>
              <a:tr h="267511">
                <a:tc rowSpan="3">
                  <a:txBody>
                    <a:bodyPr/>
                    <a:lstStyle/>
                    <a:p>
                      <a:pPr indent="269875" algn="ctr">
                        <a:lnSpc>
                          <a:spcPts val="1595"/>
                        </a:lnSpc>
                      </a:pPr>
                      <a:r>
                        <a:rPr lang="en-US" sz="1800" kern="1000">
                          <a:effectLst/>
                        </a:rPr>
                        <a:t>SwE</a:t>
                      </a:r>
                      <a:r>
                        <a:rPr lang="zh-CN" sz="1800" kern="1000">
                          <a:effectLst/>
                        </a:rPr>
                        <a:t>三段开关</a:t>
                      </a:r>
                      <a:endParaRPr lang="zh-CN" sz="3200" kern="10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a:lnSpc>
                          <a:spcPts val="1595"/>
                        </a:lnSpc>
                      </a:pPr>
                      <a:r>
                        <a:rPr lang="zh-CN" sz="1800" kern="1000" dirty="0">
                          <a:effectLst/>
                        </a:rPr>
                        <a:t>上：进入运动模式选择</a:t>
                      </a:r>
                      <a:endParaRPr lang="zh-CN" sz="3200" kern="1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678968455"/>
                  </a:ext>
                </a:extLst>
              </a:tr>
              <a:tr h="267511">
                <a:tc vMerge="1">
                  <a:txBody>
                    <a:bodyPr/>
                    <a:lstStyle/>
                    <a:p>
                      <a:endParaRPr lang="zh-CN" altLang="en-US"/>
                    </a:p>
                  </a:txBody>
                  <a:tcPr/>
                </a:tc>
                <a:tc>
                  <a:txBody>
                    <a:bodyPr/>
                    <a:lstStyle/>
                    <a:p>
                      <a:pPr indent="269875" algn="ctr">
                        <a:lnSpc>
                          <a:spcPts val="1595"/>
                        </a:lnSpc>
                      </a:pPr>
                      <a:r>
                        <a:rPr lang="zh-CN" sz="1800" kern="1000" dirty="0">
                          <a:effectLst/>
                        </a:rPr>
                        <a:t>中：</a:t>
                      </a:r>
                      <a:r>
                        <a:rPr lang="en-US" sz="1800" kern="1000" dirty="0" err="1">
                          <a:effectLst/>
                        </a:rPr>
                        <a:t>RecoveryStand</a:t>
                      </a:r>
                      <a:r>
                        <a:rPr lang="en-US" sz="1800" kern="1000" dirty="0">
                          <a:effectLst/>
                        </a:rPr>
                        <a:t>(</a:t>
                      </a:r>
                      <a:r>
                        <a:rPr lang="zh-CN" sz="1800" kern="1000" dirty="0">
                          <a:effectLst/>
                        </a:rPr>
                        <a:t>恢复站立</a:t>
                      </a:r>
                      <a:r>
                        <a:rPr lang="en-US" sz="1800" kern="1000" dirty="0">
                          <a:effectLst/>
                        </a:rPr>
                        <a:t>)</a:t>
                      </a:r>
                      <a:r>
                        <a:rPr lang="zh-CN" sz="1800" kern="1000" dirty="0">
                          <a:effectLst/>
                        </a:rPr>
                        <a:t>模式</a:t>
                      </a:r>
                      <a:endParaRPr lang="zh-CN" sz="3200" kern="1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240383190"/>
                  </a:ext>
                </a:extLst>
              </a:tr>
              <a:tr h="267511">
                <a:tc vMerge="1">
                  <a:txBody>
                    <a:bodyPr/>
                    <a:lstStyle/>
                    <a:p>
                      <a:endParaRPr lang="zh-CN" altLang="en-US"/>
                    </a:p>
                  </a:txBody>
                  <a:tcPr/>
                </a:tc>
                <a:tc>
                  <a:txBody>
                    <a:bodyPr/>
                    <a:lstStyle/>
                    <a:p>
                      <a:pPr indent="269875" algn="ctr">
                        <a:lnSpc>
                          <a:spcPts val="1595"/>
                        </a:lnSpc>
                      </a:pPr>
                      <a:r>
                        <a:rPr lang="zh-CN" sz="1800" kern="1000" dirty="0">
                          <a:effectLst/>
                        </a:rPr>
                        <a:t>下：</a:t>
                      </a:r>
                      <a:r>
                        <a:rPr lang="en-US" sz="1800" kern="1000" dirty="0">
                          <a:effectLst/>
                        </a:rPr>
                        <a:t>Passive(</a:t>
                      </a:r>
                      <a:r>
                        <a:rPr lang="zh-CN" sz="1800" kern="1000" dirty="0">
                          <a:effectLst/>
                        </a:rPr>
                        <a:t>被动</a:t>
                      </a:r>
                      <a:r>
                        <a:rPr lang="en-US" sz="1800" kern="1000" dirty="0">
                          <a:effectLst/>
                        </a:rPr>
                        <a:t>)</a:t>
                      </a:r>
                      <a:r>
                        <a:rPr lang="zh-CN" sz="1800" kern="1000" dirty="0">
                          <a:effectLst/>
                        </a:rPr>
                        <a:t>模式</a:t>
                      </a:r>
                      <a:endParaRPr lang="zh-CN" sz="3200" kern="1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3292317150"/>
                  </a:ext>
                </a:extLst>
              </a:tr>
              <a:tr h="267511">
                <a:tc rowSpan="3">
                  <a:txBody>
                    <a:bodyPr/>
                    <a:lstStyle/>
                    <a:p>
                      <a:pPr indent="269875" algn="ctr">
                        <a:lnSpc>
                          <a:spcPts val="1595"/>
                        </a:lnSpc>
                      </a:pPr>
                      <a:r>
                        <a:rPr lang="en-US" sz="1800" kern="1000">
                          <a:effectLst/>
                        </a:rPr>
                        <a:t>SwG</a:t>
                      </a:r>
                      <a:r>
                        <a:rPr lang="zh-CN" sz="1800" kern="1000">
                          <a:effectLst/>
                        </a:rPr>
                        <a:t>三段开关</a:t>
                      </a:r>
                      <a:endParaRPr lang="zh-CN" sz="3200" kern="10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a:lnSpc>
                          <a:spcPts val="1595"/>
                        </a:lnSpc>
                      </a:pPr>
                      <a:r>
                        <a:rPr lang="zh-CN" sz="1800" kern="1000" dirty="0">
                          <a:effectLst/>
                        </a:rPr>
                        <a:t>上：前空翻</a:t>
                      </a:r>
                      <a:endParaRPr lang="zh-CN" sz="3200" kern="1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379152018"/>
                  </a:ext>
                </a:extLst>
              </a:tr>
              <a:tr h="267511">
                <a:tc vMerge="1">
                  <a:txBody>
                    <a:bodyPr/>
                    <a:lstStyle/>
                    <a:p>
                      <a:endParaRPr lang="zh-CN" altLang="en-US"/>
                    </a:p>
                  </a:txBody>
                  <a:tcPr/>
                </a:tc>
                <a:tc>
                  <a:txBody>
                    <a:bodyPr/>
                    <a:lstStyle/>
                    <a:p>
                      <a:pPr indent="269875" algn="ctr">
                        <a:lnSpc>
                          <a:spcPts val="1595"/>
                        </a:lnSpc>
                      </a:pPr>
                      <a:r>
                        <a:rPr lang="zh-CN" sz="1800" kern="1000" dirty="0">
                          <a:effectLst/>
                        </a:rPr>
                        <a:t>中：无功能</a:t>
                      </a:r>
                      <a:endParaRPr lang="zh-CN" sz="3200" kern="1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394034941"/>
                  </a:ext>
                </a:extLst>
              </a:tr>
              <a:tr h="267511">
                <a:tc vMerge="1">
                  <a:txBody>
                    <a:bodyPr/>
                    <a:lstStyle/>
                    <a:p>
                      <a:endParaRPr lang="zh-CN" altLang="en-US"/>
                    </a:p>
                  </a:txBody>
                  <a:tcPr/>
                </a:tc>
                <a:tc>
                  <a:txBody>
                    <a:bodyPr/>
                    <a:lstStyle/>
                    <a:p>
                      <a:pPr indent="269875" algn="ctr">
                        <a:lnSpc>
                          <a:spcPts val="1595"/>
                        </a:lnSpc>
                      </a:pPr>
                      <a:r>
                        <a:rPr lang="zh-CN" sz="1800" kern="1000" dirty="0">
                          <a:effectLst/>
                        </a:rPr>
                        <a:t>下：后空翻</a:t>
                      </a:r>
                      <a:endParaRPr lang="zh-CN" sz="3200" kern="1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3087241545"/>
                  </a:ext>
                </a:extLst>
              </a:tr>
              <a:tr h="267511">
                <a:tc>
                  <a:txBody>
                    <a:bodyPr/>
                    <a:lstStyle/>
                    <a:p>
                      <a:pPr indent="269875" algn="ctr">
                        <a:lnSpc>
                          <a:spcPts val="1595"/>
                        </a:lnSpc>
                      </a:pPr>
                      <a:r>
                        <a:rPr lang="en-US" sz="1800" kern="1000">
                          <a:effectLst/>
                        </a:rPr>
                        <a:t>VrA</a:t>
                      </a:r>
                      <a:r>
                        <a:rPr lang="zh-CN" sz="1800" kern="1000">
                          <a:effectLst/>
                        </a:rPr>
                        <a:t>旋钮开关</a:t>
                      </a:r>
                      <a:endParaRPr lang="zh-CN" sz="3200" kern="10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a:lnSpc>
                          <a:spcPts val="1595"/>
                        </a:lnSpc>
                      </a:pPr>
                      <a:r>
                        <a:rPr lang="zh-CN" sz="1800" kern="1000" dirty="0">
                          <a:effectLst/>
                        </a:rPr>
                        <a:t>控制机器人站高</a:t>
                      </a:r>
                      <a:r>
                        <a:rPr lang="en-US" sz="1800" kern="1000" dirty="0">
                          <a:effectLst/>
                        </a:rPr>
                        <a:t>(</a:t>
                      </a:r>
                      <a:r>
                        <a:rPr lang="zh-CN" sz="1800" kern="1000" dirty="0">
                          <a:effectLst/>
                        </a:rPr>
                        <a:t>范围：</a:t>
                      </a:r>
                      <a:r>
                        <a:rPr lang="en-US" sz="1800" kern="1000" dirty="0">
                          <a:effectLst/>
                        </a:rPr>
                        <a:t>0.18</a:t>
                      </a:r>
                      <a:r>
                        <a:rPr lang="zh-CN" sz="1800" kern="1000" dirty="0">
                          <a:effectLst/>
                        </a:rPr>
                        <a:t>～</a:t>
                      </a:r>
                      <a:r>
                        <a:rPr lang="en-US" sz="1800" kern="1000" dirty="0">
                          <a:effectLst/>
                        </a:rPr>
                        <a:t>0.35m)</a:t>
                      </a:r>
                      <a:endParaRPr lang="zh-CN" sz="3200" kern="1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734077436"/>
                  </a:ext>
                </a:extLst>
              </a:tr>
              <a:tr h="267511">
                <a:tc>
                  <a:txBody>
                    <a:bodyPr/>
                    <a:lstStyle/>
                    <a:p>
                      <a:pPr indent="269875" algn="ctr">
                        <a:lnSpc>
                          <a:spcPts val="1595"/>
                        </a:lnSpc>
                      </a:pPr>
                      <a:r>
                        <a:rPr lang="en-US" sz="1800" kern="1000">
                          <a:effectLst/>
                        </a:rPr>
                        <a:t>VrB</a:t>
                      </a:r>
                      <a:r>
                        <a:rPr lang="zh-CN" sz="1800" kern="1000">
                          <a:effectLst/>
                        </a:rPr>
                        <a:t>旋钮开关</a:t>
                      </a:r>
                      <a:endParaRPr lang="zh-CN" sz="3200" kern="10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ctr">
                        <a:lnSpc>
                          <a:spcPts val="1595"/>
                        </a:lnSpc>
                      </a:pPr>
                      <a:r>
                        <a:rPr lang="zh-CN" sz="1800" kern="1000" dirty="0">
                          <a:effectLst/>
                        </a:rPr>
                        <a:t>控制步高</a:t>
                      </a:r>
                      <a:r>
                        <a:rPr lang="en-US" sz="1800" kern="1000" dirty="0">
                          <a:effectLst/>
                        </a:rPr>
                        <a:t>(</a:t>
                      </a:r>
                      <a:r>
                        <a:rPr lang="zh-CN" sz="1800" kern="1000" dirty="0">
                          <a:effectLst/>
                        </a:rPr>
                        <a:t>范围：</a:t>
                      </a:r>
                      <a:r>
                        <a:rPr lang="en-US" sz="1800" kern="1000" dirty="0">
                          <a:effectLst/>
                        </a:rPr>
                        <a:t>0</a:t>
                      </a:r>
                      <a:r>
                        <a:rPr lang="zh-CN" sz="1800" kern="1000" dirty="0">
                          <a:effectLst/>
                        </a:rPr>
                        <a:t>～</a:t>
                      </a:r>
                      <a:r>
                        <a:rPr lang="en-US" sz="1800" kern="1000" dirty="0">
                          <a:effectLst/>
                        </a:rPr>
                        <a:t>0.1m)</a:t>
                      </a:r>
                      <a:endParaRPr lang="zh-CN" sz="3200" kern="1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3132271017"/>
                  </a:ext>
                </a:extLst>
              </a:tr>
            </a:tbl>
          </a:graphicData>
        </a:graphic>
      </p:graphicFrame>
    </p:spTree>
    <p:extLst>
      <p:ext uri="{BB962C8B-B14F-4D97-AF65-F5344CB8AC3E}">
        <p14:creationId xmlns:p14="http://schemas.microsoft.com/office/powerpoint/2010/main" val="1818021304"/>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10.4 </a:t>
            </a:r>
            <a:r>
              <a:rPr lang="zh-CN" altLang="en-US" sz="2800" b="1" dirty="0">
                <a:latin typeface="Times New Roman" pitchFamily="18" charset="0"/>
                <a:ea typeface="华文中宋" pitchFamily="2" charset="-122"/>
              </a:rPr>
              <a:t>遥控器</a:t>
            </a:r>
          </a:p>
        </p:txBody>
      </p:sp>
      <p:sp>
        <p:nvSpPr>
          <p:cNvPr id="2" name="内容占位符 2">
            <a:extLst>
              <a:ext uri="{FF2B5EF4-FFF2-40B4-BE49-F238E27FC236}">
                <a16:creationId xmlns:a16="http://schemas.microsoft.com/office/drawing/2014/main" id="{B1148825-11BB-97F6-6720-3BCB8610406D}"/>
              </a:ext>
            </a:extLst>
          </p:cNvPr>
          <p:cNvSpPr>
            <a:spLocks noChangeArrowheads="1"/>
          </p:cNvSpPr>
          <p:nvPr/>
        </p:nvSpPr>
        <p:spPr bwMode="auto">
          <a:xfrm>
            <a:off x="919735" y="979287"/>
            <a:ext cx="10352529" cy="173343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R="0" lvl="0" defTabSz="914400" rtl="0" eaLnBrk="1" fontAlgn="base" latinLnBrk="0" hangingPunct="1">
              <a:lnSpc>
                <a:spcPct val="120000"/>
              </a:lnSpc>
              <a:spcBef>
                <a:spcPct val="10000"/>
              </a:spcBef>
              <a:spcAft>
                <a:spcPct val="10000"/>
              </a:spcAft>
              <a:buClrTx/>
              <a:buSzTx/>
              <a:buFont typeface="Wingdings" panose="05000000000000000000" pitchFamily="2" charset="2"/>
              <a:buChar char="u"/>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通过遥控器启动四足机器人</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首先将遥控器各拨钮拨到初始位置，即拨钮</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SwB</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SwC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SwD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处于上方，拨钮</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SwA</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SwE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SwF</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SwH</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处于下方，拨钮</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SwG</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处于中间。</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7410" name="图片 20">
            <a:extLst>
              <a:ext uri="{FF2B5EF4-FFF2-40B4-BE49-F238E27FC236}">
                <a16:creationId xmlns:a16="http://schemas.microsoft.com/office/drawing/2014/main" id="{6DEC75FB-F165-FBBC-633A-50B9DB991D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1322969" y="2999792"/>
            <a:ext cx="3840903" cy="2880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1" name="图片 22">
            <a:extLst>
              <a:ext uri="{FF2B5EF4-FFF2-40B4-BE49-F238E27FC236}">
                <a16:creationId xmlns:a16="http://schemas.microsoft.com/office/drawing/2014/main" id="{B104AF4D-D156-9A82-E18C-26FE24BFCA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5415" y="2519678"/>
            <a:ext cx="5113471" cy="3840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6532880"/>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10.4 </a:t>
            </a:r>
            <a:r>
              <a:rPr lang="zh-CN" altLang="en-US" sz="2800" b="1" dirty="0">
                <a:latin typeface="Times New Roman" pitchFamily="18" charset="0"/>
                <a:ea typeface="华文中宋" pitchFamily="2" charset="-122"/>
              </a:rPr>
              <a:t>遥控器</a:t>
            </a:r>
          </a:p>
        </p:txBody>
      </p:sp>
      <p:sp>
        <p:nvSpPr>
          <p:cNvPr id="2" name="内容占位符 2">
            <a:extLst>
              <a:ext uri="{FF2B5EF4-FFF2-40B4-BE49-F238E27FC236}">
                <a16:creationId xmlns:a16="http://schemas.microsoft.com/office/drawing/2014/main" id="{B1148825-11BB-97F6-6720-3BCB8610406D}"/>
              </a:ext>
            </a:extLst>
          </p:cNvPr>
          <p:cNvSpPr>
            <a:spLocks noChangeArrowheads="1"/>
          </p:cNvSpPr>
          <p:nvPr/>
        </p:nvSpPr>
        <p:spPr bwMode="auto">
          <a:xfrm>
            <a:off x="919735" y="979287"/>
            <a:ext cx="10352529" cy="108319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将四足机器人摆动到初始位置，需确认线没有缠绕现象且不会干涉四足机器人启动：</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8434" name="图片 24">
            <a:extLst>
              <a:ext uri="{FF2B5EF4-FFF2-40B4-BE49-F238E27FC236}">
                <a16:creationId xmlns:a16="http://schemas.microsoft.com/office/drawing/2014/main" id="{5ED01D41-A9A2-A7B5-C41A-C313B7B04D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8303" y="2263407"/>
            <a:ext cx="3715386" cy="3228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5" name="图片 72" descr="微信图片_20200807134500">
            <a:extLst>
              <a:ext uri="{FF2B5EF4-FFF2-40B4-BE49-F238E27FC236}">
                <a16:creationId xmlns:a16="http://schemas.microsoft.com/office/drawing/2014/main" id="{3FF02F6B-38C0-1710-8B63-26D8D38AEE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801"/>
          <a:stretch>
            <a:fillRect/>
          </a:stretch>
        </p:blipFill>
        <p:spPr bwMode="auto">
          <a:xfrm>
            <a:off x="5736207" y="2282413"/>
            <a:ext cx="2446863" cy="3209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6" name="图片 73" descr="微信图片_20200807134451">
            <a:extLst>
              <a:ext uri="{FF2B5EF4-FFF2-40B4-BE49-F238E27FC236}">
                <a16:creationId xmlns:a16="http://schemas.microsoft.com/office/drawing/2014/main" id="{A6CC024E-01D4-7C8E-F6F0-8C439D04B1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401"/>
          <a:stretch>
            <a:fillRect/>
          </a:stretch>
        </p:blipFill>
        <p:spPr bwMode="auto">
          <a:xfrm>
            <a:off x="9145588" y="2300923"/>
            <a:ext cx="2422172" cy="3190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16BAB72B-27C8-7D4B-414D-85EC39057B9C}"/>
              </a:ext>
            </a:extLst>
          </p:cNvPr>
          <p:cNvSpPr txBox="1"/>
          <p:nvPr/>
        </p:nvSpPr>
        <p:spPr>
          <a:xfrm>
            <a:off x="1983675" y="5709436"/>
            <a:ext cx="2100645" cy="338554"/>
          </a:xfrm>
          <a:prstGeom prst="rect">
            <a:avLst/>
          </a:prstGeom>
          <a:noFill/>
        </p:spPr>
        <p:txBody>
          <a:bodyPr wrap="square">
            <a:spAutoFit/>
          </a:bodyPr>
          <a:lstStyle/>
          <a:p>
            <a:pPr algn="ctr"/>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四足机器人</a:t>
            </a:r>
            <a:r>
              <a:rPr lang="zh-CN" altLang="zh-CN" sz="1600" kern="1000" dirty="0">
                <a:effectLst/>
                <a:latin typeface="Times New Roman" panose="02020603050405020304" pitchFamily="18" charset="0"/>
                <a:ea typeface="宋体" panose="02010600030101010101" pitchFamily="2" charset="-122"/>
                <a:cs typeface="Times New Roman" panose="02020603050405020304" pitchFamily="18" charset="0"/>
              </a:rPr>
              <a:t>初始位置</a:t>
            </a:r>
            <a:endParaRPr lang="zh-CN" altLang="en-US" sz="4400" dirty="0"/>
          </a:p>
        </p:txBody>
      </p:sp>
      <p:sp>
        <p:nvSpPr>
          <p:cNvPr id="10" name="文本框 9">
            <a:extLst>
              <a:ext uri="{FF2B5EF4-FFF2-40B4-BE49-F238E27FC236}">
                <a16:creationId xmlns:a16="http://schemas.microsoft.com/office/drawing/2014/main" id="{34226A18-34CE-A95E-0E2F-B0F91F3AC346}"/>
              </a:ext>
            </a:extLst>
          </p:cNvPr>
          <p:cNvSpPr txBox="1"/>
          <p:nvPr/>
        </p:nvSpPr>
        <p:spPr>
          <a:xfrm>
            <a:off x="6007037" y="5709436"/>
            <a:ext cx="2100645" cy="338554"/>
          </a:xfrm>
          <a:prstGeom prst="rect">
            <a:avLst/>
          </a:prstGeom>
          <a:noFill/>
        </p:spPr>
        <p:txBody>
          <a:bodyPr wrap="square">
            <a:spAutoFit/>
          </a:bodyPr>
          <a:lstStyle/>
          <a:p>
            <a:pPr algn="ctr"/>
            <a:r>
              <a:rPr lang="zh-CN" altLang="en-US" sz="1600" kern="1000" dirty="0">
                <a:effectLst/>
                <a:latin typeface="Times New Roman" panose="02020603050405020304" pitchFamily="18" charset="0"/>
                <a:ea typeface="宋体" panose="02010600030101010101" pitchFamily="2" charset="-122"/>
                <a:cs typeface="Times New Roman" panose="02020603050405020304" pitchFamily="18" charset="0"/>
              </a:rPr>
              <a:t>正确示例</a:t>
            </a:r>
            <a:endParaRPr lang="zh-CN" altLang="en-US" sz="4400" dirty="0"/>
          </a:p>
        </p:txBody>
      </p:sp>
      <p:sp>
        <p:nvSpPr>
          <p:cNvPr id="11" name="文本框 10">
            <a:extLst>
              <a:ext uri="{FF2B5EF4-FFF2-40B4-BE49-F238E27FC236}">
                <a16:creationId xmlns:a16="http://schemas.microsoft.com/office/drawing/2014/main" id="{BFD7EDC4-0B3B-C857-5E2F-D5EB825B1CCB}"/>
              </a:ext>
            </a:extLst>
          </p:cNvPr>
          <p:cNvSpPr txBox="1"/>
          <p:nvPr/>
        </p:nvSpPr>
        <p:spPr>
          <a:xfrm>
            <a:off x="9306351" y="5709436"/>
            <a:ext cx="2100645" cy="338554"/>
          </a:xfrm>
          <a:prstGeom prst="rect">
            <a:avLst/>
          </a:prstGeom>
          <a:noFill/>
        </p:spPr>
        <p:txBody>
          <a:bodyPr wrap="square">
            <a:spAutoFit/>
          </a:bodyPr>
          <a:lstStyle/>
          <a:p>
            <a:pPr algn="ctr"/>
            <a:r>
              <a:rPr lang="zh-CN" altLang="en-US" sz="1600" kern="1000" dirty="0">
                <a:latin typeface="Times New Roman" panose="02020603050405020304" pitchFamily="18" charset="0"/>
                <a:ea typeface="宋体" panose="02010600030101010101" pitchFamily="2" charset="-122"/>
                <a:cs typeface="Times New Roman" panose="02020603050405020304" pitchFamily="18" charset="0"/>
              </a:rPr>
              <a:t>错误</a:t>
            </a:r>
            <a:r>
              <a:rPr lang="zh-CN" altLang="en-US" sz="1600" kern="1000" dirty="0">
                <a:effectLst/>
                <a:latin typeface="Times New Roman" panose="02020603050405020304" pitchFamily="18" charset="0"/>
                <a:ea typeface="宋体" panose="02010600030101010101" pitchFamily="2" charset="-122"/>
                <a:cs typeface="Times New Roman" panose="02020603050405020304" pitchFamily="18" charset="0"/>
              </a:rPr>
              <a:t>示例</a:t>
            </a:r>
            <a:endParaRPr lang="zh-CN" altLang="en-US" sz="4400" dirty="0"/>
          </a:p>
        </p:txBody>
      </p:sp>
    </p:spTree>
    <p:extLst>
      <p:ext uri="{BB962C8B-B14F-4D97-AF65-F5344CB8AC3E}">
        <p14:creationId xmlns:p14="http://schemas.microsoft.com/office/powerpoint/2010/main" val="84667594"/>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10.4 </a:t>
            </a:r>
            <a:r>
              <a:rPr lang="zh-CN" altLang="en-US" sz="2800" b="1" dirty="0">
                <a:latin typeface="Times New Roman" pitchFamily="18" charset="0"/>
                <a:ea typeface="华文中宋" pitchFamily="2" charset="-122"/>
              </a:rPr>
              <a:t>遥控器</a:t>
            </a:r>
          </a:p>
        </p:txBody>
      </p:sp>
      <p:sp>
        <p:nvSpPr>
          <p:cNvPr id="2" name="内容占位符 2">
            <a:extLst>
              <a:ext uri="{FF2B5EF4-FFF2-40B4-BE49-F238E27FC236}">
                <a16:creationId xmlns:a16="http://schemas.microsoft.com/office/drawing/2014/main" id="{B1148825-11BB-97F6-6720-3BCB8610406D}"/>
              </a:ext>
            </a:extLst>
          </p:cNvPr>
          <p:cNvSpPr>
            <a:spLocks noChangeArrowheads="1"/>
          </p:cNvSpPr>
          <p:nvPr/>
        </p:nvSpPr>
        <p:spPr bwMode="auto">
          <a:xfrm>
            <a:off x="990855" y="1345047"/>
            <a:ext cx="10352529" cy="273927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打开电机开关和总开关。等待</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分钟，四足机器人自动上电并进入</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Passive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模式。向上拨动遥控器拨钮</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SwE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至中间位置，等待四足机器人自动处于站立姿态。向上拨动遥控器拨钮</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SwE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至最上方，四足机器人处于平衡站立模式。该模式下，推动摇杆可以执行姿态展示功能。向上拨动遥控器拨钮</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SwA</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，机器人进入运动模式，在该模式下拨动按钮</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SwC</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和</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SwD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可以执行步态切换功能。</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1119843421"/>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10.5 </a:t>
            </a:r>
            <a:r>
              <a:rPr lang="en-US" altLang="zh-CN" sz="2800" b="1" dirty="0" err="1">
                <a:latin typeface="Times New Roman" pitchFamily="18" charset="0"/>
                <a:ea typeface="华文中宋" pitchFamily="2" charset="-122"/>
              </a:rPr>
              <a:t>SPIne</a:t>
            </a:r>
            <a:r>
              <a:rPr lang="zh-CN" altLang="en-US" sz="2800" b="1" dirty="0">
                <a:latin typeface="Times New Roman" pitchFamily="18" charset="0"/>
                <a:ea typeface="华文中宋" pitchFamily="2" charset="-122"/>
              </a:rPr>
              <a:t>信号转接板</a:t>
            </a:r>
          </a:p>
        </p:txBody>
      </p:sp>
      <p:sp>
        <p:nvSpPr>
          <p:cNvPr id="2" name="内容占位符 2">
            <a:extLst>
              <a:ext uri="{FF2B5EF4-FFF2-40B4-BE49-F238E27FC236}">
                <a16:creationId xmlns:a16="http://schemas.microsoft.com/office/drawing/2014/main" id="{B1148825-11BB-97F6-6720-3BCB8610406D}"/>
              </a:ext>
            </a:extLst>
          </p:cNvPr>
          <p:cNvSpPr>
            <a:spLocks noChangeArrowheads="1"/>
          </p:cNvSpPr>
          <p:nvPr/>
        </p:nvSpPr>
        <p:spPr bwMode="auto">
          <a:xfrm>
            <a:off x="919735" y="1080887"/>
            <a:ext cx="10352529" cy="452743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目前机器人系统大多采用总线式设计，总线式设计的优点是将所有通信节点直接整合到两条线上，这样极大节省了布线空间，且容易增加和删除现有系统的节点，既不影响原有系统，也不需要额外布线。本书所设计的四足机器人具有</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个关节电机，分布在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条腿上，每条腿有</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个电机。为了使机器人生产尽量便捷及模块化，</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个核心电机的电路部分和</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SPIne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对外接口完全一样。在本系统中使用了四路</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总线，每条腿对应一路，也就是说每条腿上的三个电机通信</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总线并在一起，四条腿需要四个独立的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接口，由于一个</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STM32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单片机能提供两路，因此需要两个</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STM32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单片机作为数据通信及调试接口，调试接口经过</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USB</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接口引出，</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USB</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接口引出了电机内部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CPU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仿真接口</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STM32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和</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CPU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串口。</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3447226481"/>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10.5 </a:t>
            </a:r>
            <a:r>
              <a:rPr lang="en-US" altLang="zh-CN" sz="2800" b="1" dirty="0" err="1">
                <a:latin typeface="Times New Roman" pitchFamily="18" charset="0"/>
                <a:ea typeface="华文中宋" pitchFamily="2" charset="-122"/>
              </a:rPr>
              <a:t>SPIne</a:t>
            </a:r>
            <a:r>
              <a:rPr lang="zh-CN" altLang="en-US" sz="2800" b="1" dirty="0">
                <a:latin typeface="Times New Roman" pitchFamily="18" charset="0"/>
                <a:ea typeface="华文中宋" pitchFamily="2" charset="-122"/>
              </a:rPr>
              <a:t>信号转接板</a:t>
            </a:r>
          </a:p>
        </p:txBody>
      </p:sp>
      <p:sp>
        <p:nvSpPr>
          <p:cNvPr id="2" name="内容占位符 2">
            <a:extLst>
              <a:ext uri="{FF2B5EF4-FFF2-40B4-BE49-F238E27FC236}">
                <a16:creationId xmlns:a16="http://schemas.microsoft.com/office/drawing/2014/main" id="{B1148825-11BB-97F6-6720-3BCB8610406D}"/>
              </a:ext>
            </a:extLst>
          </p:cNvPr>
          <p:cNvSpPr>
            <a:spLocks noChangeArrowheads="1"/>
          </p:cNvSpPr>
          <p:nvPr/>
        </p:nvSpPr>
        <p:spPr bwMode="auto">
          <a:xfrm>
            <a:off x="807975" y="857367"/>
            <a:ext cx="10352529" cy="578727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在</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SPIne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信号转接板上使用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STM32F446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芯片将</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SPIne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总线上</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 board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发出的控制信息通过芯片自带的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总线发送给执行器。由于</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总线带宽为</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1Mbps</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，通过计算</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路</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总线可以在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1kHz</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带宽下控制</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个执行器，因此将机器人的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个执行器按照每条腿分一组，共可分成</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组，需要使用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路</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总线。由于每个</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STM32F446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芯片只有</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路</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接口，因此使用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个</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STM32F446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芯片。在</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SPIne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信号转接板上使用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STM32F446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芯片的串口</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1(PA2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PA3)</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读取</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IMU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数据然后通过串口</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4(PA0</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PA1)</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发送给</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 board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 board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运算后的信息经过</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P1</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上的</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SPIne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硬件接口频率</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CS1</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CS2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选通信息传递给</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U1</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或</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U1</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或</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运行后，</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内核会以</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1000Hz</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或者</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500Hz</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的频率经过</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CS1</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或者</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CS2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与</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U1</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或者</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通信。</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U11</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是</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接口芯片，最终四条腿的信号经过四个接插件输出到</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P4</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中。</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P5</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是</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SBUS</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接收模块，即一条数据线经过反向后，直接输出到</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内核上的串口。而</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IMU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数据则是经过</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USB</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口直接传到</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内核中的，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RJ45</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接一条延长线后直接输出到机身上。</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889405416"/>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10.5 </a:t>
            </a:r>
            <a:r>
              <a:rPr lang="en-US" altLang="zh-CN" sz="2800" b="1" dirty="0" err="1">
                <a:latin typeface="Times New Roman" pitchFamily="18" charset="0"/>
                <a:ea typeface="华文中宋" pitchFamily="2" charset="-122"/>
              </a:rPr>
              <a:t>SPIne</a:t>
            </a:r>
            <a:r>
              <a:rPr lang="zh-CN" altLang="en-US" sz="2800" b="1" dirty="0">
                <a:latin typeface="Times New Roman" pitchFamily="18" charset="0"/>
                <a:ea typeface="华文中宋" pitchFamily="2" charset="-122"/>
              </a:rPr>
              <a:t>信号转接板</a:t>
            </a:r>
          </a:p>
        </p:txBody>
      </p:sp>
      <p:sp>
        <p:nvSpPr>
          <p:cNvPr id="2" name="内容占位符 2">
            <a:extLst>
              <a:ext uri="{FF2B5EF4-FFF2-40B4-BE49-F238E27FC236}">
                <a16:creationId xmlns:a16="http://schemas.microsoft.com/office/drawing/2014/main" id="{B1148825-11BB-97F6-6720-3BCB8610406D}"/>
              </a:ext>
            </a:extLst>
          </p:cNvPr>
          <p:cNvSpPr>
            <a:spLocks noChangeArrowheads="1"/>
          </p:cNvSpPr>
          <p:nvPr/>
        </p:nvSpPr>
        <p:spPr bwMode="auto">
          <a:xfrm>
            <a:off x="807975" y="857367"/>
            <a:ext cx="10352529" cy="100191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在整机系统中，</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 board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是主动通信器件，也就是说，所有的数据传递都是由</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 board </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发起的。每个</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MCU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接收到的数据包格式如下：</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a:extLst>
              <a:ext uri="{FF2B5EF4-FFF2-40B4-BE49-F238E27FC236}">
                <a16:creationId xmlns:a16="http://schemas.microsoft.com/office/drawing/2014/main" id="{73EDC699-521D-8F7E-C578-318815BA8190}"/>
              </a:ext>
            </a:extLst>
          </p:cNvPr>
          <p:cNvSpPr txBox="1"/>
          <p:nvPr/>
        </p:nvSpPr>
        <p:spPr>
          <a:xfrm>
            <a:off x="944880" y="1941126"/>
            <a:ext cx="9966960" cy="4247317"/>
          </a:xfrm>
          <a:prstGeom prst="rect">
            <a:avLst/>
          </a:prstGeom>
          <a:noFill/>
        </p:spPr>
        <p:txBody>
          <a:bodyPr wrap="square">
            <a:spAutoFit/>
          </a:bodyPr>
          <a:lstStyle/>
          <a:p>
            <a:r>
              <a:rPr lang="en-US" altLang="zh-CN" b="0" dirty="0">
                <a:solidFill>
                  <a:srgbClr val="0000FF"/>
                </a:solidFill>
                <a:effectLst/>
                <a:latin typeface="Consolas" panose="020B0609020204030204" pitchFamily="49" charset="0"/>
              </a:rPr>
              <a:t>struct</a:t>
            </a:r>
            <a:r>
              <a:rPr lang="en-US" altLang="zh-CN" b="0" dirty="0">
                <a:solidFill>
                  <a:srgbClr val="000000"/>
                </a:solidFill>
                <a:effectLst/>
                <a:latin typeface="Consolas" panose="020B0609020204030204" pitchFamily="49" charset="0"/>
              </a:rPr>
              <a:t> </a:t>
            </a:r>
            <a:r>
              <a:rPr lang="en-US" altLang="zh-CN" b="0" dirty="0" err="1">
                <a:solidFill>
                  <a:srgbClr val="267F99"/>
                </a:solidFill>
                <a:effectLst/>
                <a:latin typeface="Consolas" panose="020B0609020204030204" pitchFamily="49" charset="0"/>
              </a:rPr>
              <a:t>spi_command_t</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控制左右各一条腿，每条腿三个关节</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a:t>
            </a:r>
          </a:p>
          <a:p>
            <a:r>
              <a:rPr lang="zh-CN" altLang="en-US" b="0" dirty="0">
                <a:solidFill>
                  <a:srgbClr val="008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一条腿三个关节的位置信息</a:t>
            </a:r>
            <a:endParaRPr lang="zh-CN" altLang="en-US" b="0" dirty="0">
              <a:solidFill>
                <a:srgbClr val="000000"/>
              </a:solidFill>
              <a:effectLst/>
              <a:latin typeface="Consolas" panose="020B0609020204030204" pitchFamily="49" charset="0"/>
            </a:endParaRPr>
          </a:p>
          <a:p>
            <a:r>
              <a:rPr lang="zh-CN" altLang="en-US"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q_des_abad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q_des_hip</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q_des_knee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一条腿三个关节的速度信息</a:t>
            </a:r>
            <a:endParaRPr lang="zh-CN" altLang="en-US" b="0" dirty="0">
              <a:solidFill>
                <a:srgbClr val="000000"/>
              </a:solidFill>
              <a:effectLst/>
              <a:latin typeface="Consolas" panose="020B0609020204030204" pitchFamily="49" charset="0"/>
            </a:endParaRPr>
          </a:p>
          <a:p>
            <a:r>
              <a:rPr lang="zh-CN" altLang="en-US"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qd_des_abad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qd_des_hip</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qd_des_knee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一条腿三个关节的</a:t>
            </a:r>
            <a:r>
              <a:rPr lang="en-US" altLang="zh-CN" b="0" dirty="0">
                <a:solidFill>
                  <a:srgbClr val="008000"/>
                </a:solidFill>
                <a:effectLst/>
                <a:latin typeface="Consolas" panose="020B0609020204030204" pitchFamily="49" charset="0"/>
              </a:rPr>
              <a:t>KP</a:t>
            </a:r>
            <a:r>
              <a:rPr lang="zh-CN" altLang="en-US" b="0" dirty="0">
                <a:solidFill>
                  <a:srgbClr val="008000"/>
                </a:solidFill>
                <a:effectLst/>
                <a:latin typeface="Consolas" panose="020B0609020204030204" pitchFamily="49" charset="0"/>
              </a:rPr>
              <a:t>增益信息</a:t>
            </a:r>
            <a:endParaRPr lang="zh-CN" altLang="en-US" b="0" dirty="0">
              <a:solidFill>
                <a:srgbClr val="000000"/>
              </a:solidFill>
              <a:effectLst/>
              <a:latin typeface="Consolas" panose="020B0609020204030204" pitchFamily="49" charset="0"/>
            </a:endParaRPr>
          </a:p>
          <a:p>
            <a:r>
              <a:rPr lang="zh-CN" altLang="en-US"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kp_abad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kp_hip</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kp_knee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一条腿三个关节的</a:t>
            </a:r>
            <a:r>
              <a:rPr lang="en-US" altLang="zh-CN" b="0" dirty="0">
                <a:solidFill>
                  <a:srgbClr val="008000"/>
                </a:solidFill>
                <a:effectLst/>
                <a:latin typeface="Consolas" panose="020B0609020204030204" pitchFamily="49" charset="0"/>
              </a:rPr>
              <a:t>KD</a:t>
            </a:r>
            <a:r>
              <a:rPr lang="zh-CN" altLang="en-US" b="0" dirty="0">
                <a:solidFill>
                  <a:srgbClr val="008000"/>
                </a:solidFill>
                <a:effectLst/>
                <a:latin typeface="Consolas" panose="020B0609020204030204" pitchFamily="49" charset="0"/>
              </a:rPr>
              <a:t>增益信息</a:t>
            </a:r>
            <a:endParaRPr lang="zh-CN" altLang="en-US" b="0" dirty="0">
              <a:solidFill>
                <a:srgbClr val="000000"/>
              </a:solidFill>
              <a:effectLst/>
              <a:latin typeface="Consolas" panose="020B0609020204030204" pitchFamily="49" charset="0"/>
            </a:endParaRPr>
          </a:p>
          <a:p>
            <a:r>
              <a:rPr lang="zh-CN" altLang="en-US"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kd_abad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kd_hip</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kd_knee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一条腿三个关节的前馈扭矩增益信息</a:t>
            </a:r>
            <a:endParaRPr lang="zh-CN" altLang="en-US" b="0" dirty="0">
              <a:solidFill>
                <a:srgbClr val="000000"/>
              </a:solidFill>
              <a:effectLst/>
              <a:latin typeface="Consolas" panose="020B0609020204030204" pitchFamily="49" charset="0"/>
            </a:endParaRPr>
          </a:p>
          <a:p>
            <a:r>
              <a:rPr lang="zh-CN" altLang="en-US"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tau_abad_ff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tau_hip_ff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float</a:t>
            </a:r>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tau_knee_ff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int32_t</a:t>
            </a:r>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flags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附加标志，可以控制电机的启停等附加信息</a:t>
            </a:r>
            <a:endParaRPr lang="zh-CN" altLang="en-US" b="0" dirty="0">
              <a:solidFill>
                <a:srgbClr val="000000"/>
              </a:solidFill>
              <a:effectLst/>
              <a:latin typeface="Consolas" panose="020B0609020204030204" pitchFamily="49" charset="0"/>
            </a:endParaRPr>
          </a:p>
          <a:p>
            <a:r>
              <a:rPr lang="zh-CN" altLang="en-US"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int32_t</a:t>
            </a:r>
            <a:r>
              <a:rPr lang="en-US" altLang="zh-CN" b="0" dirty="0">
                <a:solidFill>
                  <a:srgbClr val="000000"/>
                </a:solidFill>
                <a:effectLst/>
                <a:latin typeface="Consolas" panose="020B0609020204030204" pitchFamily="49" charset="0"/>
              </a:rPr>
              <a:t> checksum;</a:t>
            </a:r>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累加校验和</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097597620"/>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10.5 </a:t>
            </a:r>
            <a:r>
              <a:rPr lang="en-US" altLang="zh-CN" sz="2800" b="1" dirty="0" err="1">
                <a:latin typeface="Times New Roman" pitchFamily="18" charset="0"/>
                <a:ea typeface="华文中宋" pitchFamily="2" charset="-122"/>
              </a:rPr>
              <a:t>SPIne</a:t>
            </a:r>
            <a:r>
              <a:rPr lang="zh-CN" altLang="en-US" sz="2800" b="1" dirty="0">
                <a:latin typeface="Times New Roman" pitchFamily="18" charset="0"/>
                <a:ea typeface="华文中宋" pitchFamily="2" charset="-122"/>
              </a:rPr>
              <a:t>信号转接板</a:t>
            </a:r>
          </a:p>
        </p:txBody>
      </p:sp>
      <p:sp>
        <p:nvSpPr>
          <p:cNvPr id="2" name="内容占位符 2">
            <a:extLst>
              <a:ext uri="{FF2B5EF4-FFF2-40B4-BE49-F238E27FC236}">
                <a16:creationId xmlns:a16="http://schemas.microsoft.com/office/drawing/2014/main" id="{B1148825-11BB-97F6-6720-3BCB8610406D}"/>
              </a:ext>
            </a:extLst>
          </p:cNvPr>
          <p:cNvSpPr>
            <a:spLocks noChangeArrowheads="1"/>
          </p:cNvSpPr>
          <p:nvPr/>
        </p:nvSpPr>
        <p:spPr bwMode="auto">
          <a:xfrm>
            <a:off x="807975" y="1009767"/>
            <a:ext cx="10352529" cy="410071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在整机系统中，</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内核是主动通信器件，也就是说，所有的数据传递由</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内核先发起、发送和查询，根据上面的知识可以知道，</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内核和</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MCU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的通信采用</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SPIne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协议，即</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内核以一定的频率主动经过</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SPIne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与下面的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MCU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进行通信，实际上，</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内核经过</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SPIne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准确地以</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1kHz</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或者</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500Hz</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的频率与起桥梁作用的两个</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SPIne</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CPU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进行通信。也就是说，</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SPIne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上的每个</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CPU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每秒会收到</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1000</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个</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spi_command_t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类型的完整数据包</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(132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字节</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SPIne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通信的特点是主控端</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的发送端有多少个数据位发出来，就会有多少位的数据从设备端被移到</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上的接收端中。即在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MCU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收到</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132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字节时，</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MCU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就会有</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132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字节的数据上传到</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系统中。</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1100345485"/>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10.5 </a:t>
            </a:r>
            <a:r>
              <a:rPr lang="en-US" altLang="zh-CN" sz="2800" b="1" dirty="0" err="1">
                <a:latin typeface="Times New Roman" pitchFamily="18" charset="0"/>
                <a:ea typeface="华文中宋" pitchFamily="2" charset="-122"/>
              </a:rPr>
              <a:t>SPIne</a:t>
            </a:r>
            <a:r>
              <a:rPr lang="zh-CN" altLang="en-US" sz="2800" b="1" dirty="0">
                <a:latin typeface="Times New Roman" pitchFamily="18" charset="0"/>
                <a:ea typeface="华文中宋" pitchFamily="2" charset="-122"/>
              </a:rPr>
              <a:t>信号转接板</a:t>
            </a:r>
          </a:p>
        </p:txBody>
      </p:sp>
      <p:sp>
        <p:nvSpPr>
          <p:cNvPr id="2" name="内容占位符 2">
            <a:extLst>
              <a:ext uri="{FF2B5EF4-FFF2-40B4-BE49-F238E27FC236}">
                <a16:creationId xmlns:a16="http://schemas.microsoft.com/office/drawing/2014/main" id="{B1148825-11BB-97F6-6720-3BCB8610406D}"/>
              </a:ext>
            </a:extLst>
          </p:cNvPr>
          <p:cNvSpPr>
            <a:spLocks noChangeArrowheads="1"/>
          </p:cNvSpPr>
          <p:nvPr/>
        </p:nvSpPr>
        <p:spPr bwMode="auto">
          <a:xfrm>
            <a:off x="919735" y="1345047"/>
            <a:ext cx="10352529" cy="298311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在</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SPIne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信号转接板上的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CPU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中断函数中，一次性接收</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132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字节放入</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rx_buff</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数组中，而把</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MCU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发给</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的数据放入发送缓冲区中进行数据交换。这样</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下发</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字节的数据，下面的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MCU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就会准备好上传</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字节的数据。可以理解为：</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 </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需要每个关节电机按照指定的位置、速度、前馈力矩和系统刚度对每个电机进行控制，当然每个电机也需要将实际执行结果再反馈给</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系统，使系统进行判断控制。</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3443721845"/>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10.5 </a:t>
            </a:r>
            <a:r>
              <a:rPr lang="en-US" altLang="zh-CN" sz="2800" b="1" dirty="0" err="1">
                <a:latin typeface="Times New Roman" pitchFamily="18" charset="0"/>
                <a:ea typeface="华文中宋" pitchFamily="2" charset="-122"/>
              </a:rPr>
              <a:t>SPIne</a:t>
            </a:r>
            <a:r>
              <a:rPr lang="zh-CN" altLang="en-US" sz="2800" b="1" dirty="0">
                <a:latin typeface="Times New Roman" pitchFamily="18" charset="0"/>
                <a:ea typeface="华文中宋" pitchFamily="2" charset="-122"/>
              </a:rPr>
              <a:t>信号转接板</a:t>
            </a:r>
          </a:p>
        </p:txBody>
      </p:sp>
      <p:sp>
        <p:nvSpPr>
          <p:cNvPr id="7" name="文本框 6">
            <a:extLst>
              <a:ext uri="{FF2B5EF4-FFF2-40B4-BE49-F238E27FC236}">
                <a16:creationId xmlns:a16="http://schemas.microsoft.com/office/drawing/2014/main" id="{3DFE3CE0-62E1-FE96-2108-748BAFD3EBF1}"/>
              </a:ext>
            </a:extLst>
          </p:cNvPr>
          <p:cNvSpPr txBox="1"/>
          <p:nvPr/>
        </p:nvSpPr>
        <p:spPr>
          <a:xfrm>
            <a:off x="965200" y="1306404"/>
            <a:ext cx="9189720" cy="4524315"/>
          </a:xfrm>
          <a:prstGeom prst="rect">
            <a:avLst/>
          </a:prstGeom>
          <a:noFill/>
        </p:spPr>
        <p:txBody>
          <a:bodyPr wrap="square">
            <a:spAutoFit/>
          </a:bodyPr>
          <a:lstStyle/>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spi_isr</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GPIOC</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ODR</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&lt;&lt; </a:t>
            </a:r>
            <a:r>
              <a:rPr lang="en-US" altLang="zh-CN" b="0" dirty="0">
                <a:solidFill>
                  <a:srgbClr val="098658"/>
                </a:solidFill>
                <a:effectLst/>
                <a:latin typeface="Consolas" panose="020B0609020204030204" pitchFamily="49" charset="0"/>
              </a:rPr>
              <a:t>8</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GPIOC</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ODR</a:t>
            </a:r>
            <a:r>
              <a:rPr lang="en-US" altLang="zh-CN" b="0" dirty="0">
                <a:solidFill>
                  <a:srgbClr val="000000"/>
                </a:solidFill>
                <a:effectLst/>
                <a:latin typeface="Consolas" panose="020B0609020204030204" pitchFamily="49" charset="0"/>
              </a:rPr>
              <a:t> &amp;= </a:t>
            </a:r>
            <a:r>
              <a:rPr lang="zh-CN" altLang="en-US" b="0" dirty="0">
                <a:solidFill>
                  <a:srgbClr val="000000"/>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&lt;&lt; </a:t>
            </a:r>
            <a:r>
              <a:rPr lang="en-US" altLang="zh-CN" b="0" dirty="0">
                <a:solidFill>
                  <a:srgbClr val="098658"/>
                </a:solidFill>
                <a:effectLst/>
                <a:latin typeface="Consolas" panose="020B0609020204030204" pitchFamily="49" charset="0"/>
              </a:rPr>
              <a:t>8</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bytecount</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SPI1</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DR</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tx_buff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while</a:t>
            </a:r>
            <a:r>
              <a:rPr lang="en-US" altLang="zh-CN" b="0" dirty="0">
                <a:solidFill>
                  <a:srgbClr val="000000"/>
                </a:solidFill>
                <a:effectLst/>
                <a:latin typeface="Consolas" panose="020B0609020204030204" pitchFamily="49" charset="0"/>
              </a:rPr>
              <a:t>(cs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if</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SPI1</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SR</a:t>
            </a:r>
            <a:r>
              <a:rPr lang="en-US" altLang="zh-CN" b="0" dirty="0">
                <a:solidFill>
                  <a:srgbClr val="000000"/>
                </a:solidFill>
                <a:effectLst/>
                <a:latin typeface="Consolas" panose="020B0609020204030204" pitchFamily="49" charset="0"/>
              </a:rPr>
              <a:t>&amp;</a:t>
            </a:r>
            <a:r>
              <a:rPr lang="en-US" altLang="zh-CN" b="0" dirty="0">
                <a:solidFill>
                  <a:srgbClr val="098658"/>
                </a:solidFill>
                <a:effectLst/>
                <a:latin typeface="Consolas" panose="020B0609020204030204" pitchFamily="49" charset="0"/>
              </a:rPr>
              <a:t>0x1</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rx_buff</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bytecount</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SPI1</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DR</a:t>
            </a:r>
            <a:r>
              <a:rPr lang="en-US" altLang="zh-CN" b="0" dirty="0">
                <a:solidFill>
                  <a:srgbClr val="000000"/>
                </a:solidFill>
                <a:effectLst/>
                <a:latin typeface="Consolas" panose="020B0609020204030204" pitchFamily="49" charset="0"/>
              </a:rPr>
              <a:t>;</a:t>
            </a:r>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接收来自 </a:t>
            </a:r>
            <a:r>
              <a:rPr lang="en-US" altLang="zh-CN" b="0" dirty="0">
                <a:solidFill>
                  <a:srgbClr val="008000"/>
                </a:solidFill>
                <a:effectLst/>
                <a:latin typeface="Consolas" panose="020B0609020204030204" pitchFamily="49" charset="0"/>
              </a:rPr>
              <a:t>UP board</a:t>
            </a:r>
            <a:r>
              <a:rPr lang="zh-CN" altLang="en-US" b="0" dirty="0">
                <a:solidFill>
                  <a:srgbClr val="008000"/>
                </a:solidFill>
                <a:effectLst/>
                <a:latin typeface="Consolas" panose="020B0609020204030204" pitchFamily="49" charset="0"/>
              </a:rPr>
              <a:t>的数据命令</a:t>
            </a:r>
            <a:endParaRPr lang="zh-CN" altLang="en-US" b="0" dirty="0">
              <a:solidFill>
                <a:srgbClr val="000000"/>
              </a:solidFill>
              <a:effectLst/>
              <a:latin typeface="Consolas" panose="020B0609020204030204" pitchFamily="49" charset="0"/>
            </a:endParaRPr>
          </a:p>
          <a:p>
            <a:r>
              <a:rPr lang="zh-CN" altLang="en-US"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bytecount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if</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bytecount</a:t>
            </a:r>
            <a:r>
              <a:rPr lang="en-US" altLang="zh-CN" b="0" dirty="0">
                <a:solidFill>
                  <a:srgbClr val="000000"/>
                </a:solidFill>
                <a:effectLst/>
                <a:latin typeface="Consolas" panose="020B0609020204030204" pitchFamily="49" charset="0"/>
              </a:rPr>
              <a:t>&lt;TX_LEN)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SPI1</a:t>
            </a:r>
            <a:r>
              <a:rPr lang="en-US" altLang="zh-CN" b="0" dirty="0">
                <a:solidFill>
                  <a:srgbClr val="000000"/>
                </a:solidFill>
                <a:effectLst/>
                <a:latin typeface="Consolas" panose="020B0609020204030204" pitchFamily="49" charset="0"/>
              </a:rPr>
              <a:t>-&gt;</a:t>
            </a:r>
            <a:r>
              <a:rPr lang="en-US" altLang="zh-CN" b="0" dirty="0">
                <a:solidFill>
                  <a:srgbClr val="001080"/>
                </a:solidFill>
                <a:effectLst/>
                <a:latin typeface="Consolas" panose="020B0609020204030204" pitchFamily="49" charset="0"/>
              </a:rPr>
              <a:t>DR</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tx_buff</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bytecount</a:t>
            </a:r>
            <a:r>
              <a:rPr lang="en-US" altLang="zh-CN" b="0" dirty="0">
                <a:solidFill>
                  <a:srgbClr val="000000"/>
                </a:solidFill>
                <a:effectLst/>
                <a:latin typeface="Consolas" panose="020B0609020204030204" pitchFamily="49" charset="0"/>
              </a:rPr>
              <a:t>];   </a:t>
            </a:r>
          </a:p>
          <a:p>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把准备上报的关节数据上传给</a:t>
            </a:r>
            <a:r>
              <a:rPr lang="en-US" altLang="zh-CN" b="0" dirty="0">
                <a:solidFill>
                  <a:srgbClr val="008000"/>
                </a:solidFill>
                <a:effectLst/>
                <a:latin typeface="Consolas" panose="020B0609020204030204" pitchFamily="49" charset="0"/>
              </a:rPr>
              <a:t>UP board</a:t>
            </a:r>
            <a:r>
              <a:rPr lang="zh-CN" altLang="en-US" b="0" dirty="0">
                <a:solidFill>
                  <a:srgbClr val="008000"/>
                </a:solidFill>
                <a:effectLst/>
                <a:latin typeface="Consolas" panose="020B0609020204030204" pitchFamily="49" charset="0"/>
              </a:rPr>
              <a:t>进行数据交换</a:t>
            </a:r>
            <a:endParaRPr lang="zh-CN" altLang="en-US" b="0" dirty="0">
              <a:solidFill>
                <a:srgbClr val="000000"/>
              </a:solidFill>
              <a:effectLst/>
              <a:latin typeface="Consolas" panose="020B0609020204030204" pitchFamily="49" charset="0"/>
            </a:endParaRPr>
          </a:p>
          <a:p>
            <a:r>
              <a:rPr lang="zh-CN" altLang="en-US" b="0" dirty="0">
                <a:solidFill>
                  <a:srgbClr val="000000"/>
                </a:solidFill>
                <a:effectLst/>
                <a:latin typeface="Consolas" panose="020B0609020204030204" pitchFamily="49" charset="0"/>
              </a:rPr>
              <a:t>            </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705581996"/>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10.5 </a:t>
            </a:r>
            <a:r>
              <a:rPr lang="en-US" altLang="zh-CN" sz="2800" b="1" dirty="0" err="1">
                <a:latin typeface="Times New Roman" pitchFamily="18" charset="0"/>
                <a:ea typeface="华文中宋" pitchFamily="2" charset="-122"/>
              </a:rPr>
              <a:t>SPIne</a:t>
            </a:r>
            <a:r>
              <a:rPr lang="zh-CN" altLang="en-US" sz="2800" b="1" dirty="0">
                <a:latin typeface="Times New Roman" pitchFamily="18" charset="0"/>
                <a:ea typeface="华文中宋" pitchFamily="2" charset="-122"/>
              </a:rPr>
              <a:t>信号转接板</a:t>
            </a:r>
          </a:p>
        </p:txBody>
      </p:sp>
      <p:sp>
        <p:nvSpPr>
          <p:cNvPr id="6" name="文本框 5">
            <a:extLst>
              <a:ext uri="{FF2B5EF4-FFF2-40B4-BE49-F238E27FC236}">
                <a16:creationId xmlns:a16="http://schemas.microsoft.com/office/drawing/2014/main" id="{FDDF537A-1CA8-931F-3BD6-FAAE5D22E808}"/>
              </a:ext>
            </a:extLst>
          </p:cNvPr>
          <p:cNvSpPr txBox="1"/>
          <p:nvPr/>
        </p:nvSpPr>
        <p:spPr>
          <a:xfrm>
            <a:off x="1346518" y="1291441"/>
            <a:ext cx="9072562" cy="3139321"/>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uint32_t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calc_checksum</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xor_checksum</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uint32_t</a:t>
            </a:r>
            <a:r>
              <a:rPr lang="en-US" altLang="zh-CN" b="0" dirty="0">
                <a:solidFill>
                  <a:srgbClr val="000000"/>
                </a:solidFill>
                <a:effectLst/>
                <a:latin typeface="Consolas" panose="020B0609020204030204" pitchFamily="49" charset="0"/>
              </a:rPr>
              <a:t>*)rx_buff,</a:t>
            </a:r>
            <a:r>
              <a:rPr lang="en-US" altLang="zh-CN" b="0" dirty="0">
                <a:solidFill>
                  <a:srgbClr val="098658"/>
                </a:solidFill>
                <a:effectLst/>
                <a:latin typeface="Consolas" panose="020B0609020204030204" pitchFamily="49" charset="0"/>
              </a:rPr>
              <a:t>32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CMD_LEN;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uint16_t</a:t>
            </a:r>
            <a:r>
              <a:rPr lang="en-US" altLang="zh-CN" b="0" dirty="0">
                <a:solidFill>
                  <a:srgbClr val="000000"/>
                </a:solidFill>
                <a:effectLst/>
                <a:latin typeface="Consolas" panose="020B0609020204030204" pitchFamily="49" charset="0"/>
              </a:rPr>
              <a:t>*)(&amp;</a:t>
            </a:r>
            <a:r>
              <a:rPr lang="en-US" altLang="zh-CN" b="0" dirty="0" err="1">
                <a:solidFill>
                  <a:srgbClr val="000000"/>
                </a:solidFill>
                <a:effectLst/>
                <a:latin typeface="Consolas" panose="020B0609020204030204" pitchFamily="49" charset="0"/>
              </a:rPr>
              <a:t>spi_command</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rx_buff</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if</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calc_checksum</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checksum</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flags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0xdead</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control</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PackAll</a:t>
            </a:r>
            <a:r>
              <a:rPr lang="en-US" altLang="zh-CN" b="0" dirty="0">
                <a:solidFill>
                  <a:srgbClr val="000000"/>
                </a:solidFill>
                <a:effectLst/>
                <a:latin typeface="Consolas" panose="020B0609020204030204" pitchFamily="49" charset="0"/>
              </a:rPr>
              <a:t>();</a:t>
            </a:r>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把</a:t>
            </a:r>
            <a:r>
              <a:rPr lang="en-US" altLang="zh-CN" b="0" dirty="0">
                <a:solidFill>
                  <a:srgbClr val="008000"/>
                </a:solidFill>
                <a:effectLst/>
                <a:latin typeface="Consolas" panose="020B0609020204030204" pitchFamily="49" charset="0"/>
              </a:rPr>
              <a:t>UP board</a:t>
            </a:r>
            <a:r>
              <a:rPr lang="zh-CN" altLang="en-US" b="0" dirty="0">
                <a:solidFill>
                  <a:srgbClr val="008000"/>
                </a:solidFill>
                <a:effectLst/>
                <a:latin typeface="Consolas" panose="020B0609020204030204" pitchFamily="49" charset="0"/>
              </a:rPr>
              <a:t>发过来的信息封装到每条腿上</a:t>
            </a:r>
            <a:endParaRPr lang="zh-CN" altLang="en-US" b="0" dirty="0">
              <a:solidFill>
                <a:srgbClr val="000000"/>
              </a:solidFill>
              <a:effectLst/>
              <a:latin typeface="Consolas" panose="020B0609020204030204" pitchFamily="49" charset="0"/>
            </a:endParaRPr>
          </a:p>
          <a:p>
            <a:r>
              <a:rPr lang="zh-CN" altLang="en-US"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WriteAll</a:t>
            </a:r>
            <a:r>
              <a:rPr lang="en-US" altLang="zh-CN" b="0" dirty="0">
                <a:solidFill>
                  <a:srgbClr val="000000"/>
                </a:solidFill>
                <a:effectLst/>
                <a:latin typeface="Consolas" panose="020B0609020204030204" pitchFamily="49" charset="0"/>
              </a:rPr>
              <a:t>();</a:t>
            </a:r>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把信息经过</a:t>
            </a:r>
            <a:r>
              <a:rPr lang="en-US" altLang="zh-CN" b="0" dirty="0">
                <a:solidFill>
                  <a:srgbClr val="008000"/>
                </a:solidFill>
                <a:effectLst/>
                <a:latin typeface="Consolas" panose="020B0609020204030204" pitchFamily="49" charset="0"/>
              </a:rPr>
              <a:t>CAN</a:t>
            </a:r>
            <a:r>
              <a:rPr lang="zh-CN" altLang="en-US" b="0" dirty="0">
                <a:solidFill>
                  <a:srgbClr val="008000"/>
                </a:solidFill>
                <a:effectLst/>
                <a:latin typeface="Consolas" panose="020B0609020204030204" pitchFamily="49" charset="0"/>
              </a:rPr>
              <a:t>发送给每个关节</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109813982"/>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10.5 </a:t>
            </a:r>
            <a:r>
              <a:rPr lang="en-US" altLang="zh-CN" sz="2800" b="1" dirty="0" err="1">
                <a:latin typeface="Times New Roman" pitchFamily="18" charset="0"/>
                <a:ea typeface="华文中宋" pitchFamily="2" charset="-122"/>
              </a:rPr>
              <a:t>SPIne</a:t>
            </a:r>
            <a:r>
              <a:rPr lang="zh-CN" altLang="en-US" sz="2800" b="1" dirty="0">
                <a:latin typeface="Times New Roman" pitchFamily="18" charset="0"/>
                <a:ea typeface="华文中宋" pitchFamily="2" charset="-122"/>
              </a:rPr>
              <a:t>信号转接板</a:t>
            </a:r>
          </a:p>
        </p:txBody>
      </p:sp>
      <p:sp>
        <p:nvSpPr>
          <p:cNvPr id="2" name="内容占位符 2">
            <a:extLst>
              <a:ext uri="{FF2B5EF4-FFF2-40B4-BE49-F238E27FC236}">
                <a16:creationId xmlns:a16="http://schemas.microsoft.com/office/drawing/2014/main" id="{B1148825-11BB-97F6-6720-3BCB8610406D}"/>
              </a:ext>
            </a:extLst>
          </p:cNvPr>
          <p:cNvSpPr>
            <a:spLocks noChangeArrowheads="1"/>
          </p:cNvSpPr>
          <p:nvPr/>
        </p:nvSpPr>
        <p:spPr bwMode="auto">
          <a:xfrm>
            <a:off x="919735" y="908167"/>
            <a:ext cx="10352529" cy="549263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主程序为</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SPIne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信号转接板的整个初始化过程和程序过程。程序刚开始初始化了串口 </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接口和</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接口</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，并且规定了从</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SPIne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信号转接板下发到电机的是一个</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8</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字节满负载的标准</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包，而接收的只需要是</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字节的标准</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包。初始化完成后，系统处于等待状态，</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SPIne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板只有在接收到的来自</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CS</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选通线为低电平时才进入工作状态。最后系统进入主循环，循环接收电机反馈的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CAN1 </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和</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，即左右腿实际执行信息。之后的函数代表每个电机反馈给</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SPIne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板的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MCU</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的一个数据包，包含</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字节，第一字节代表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CAN_ID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，说明哪个关节发回来的数据，紧接着是两字节是位置信息及</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位的速度信息，最后是实际的</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位电流信息，这个电流信息代表电机当前真实的力矩。得到每个关节实际执行的信息后，这个信息最终要经过</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SPIne</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板反馈给</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系统，系统主循环不停获取</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CAN1</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CAN2 </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中每个关节返回来的信息。</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559437509"/>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10.5 </a:t>
            </a:r>
            <a:r>
              <a:rPr lang="en-US" altLang="zh-CN" sz="2800" b="1" dirty="0" err="1">
                <a:latin typeface="Times New Roman" pitchFamily="18" charset="0"/>
                <a:ea typeface="华文中宋" pitchFamily="2" charset="-122"/>
              </a:rPr>
              <a:t>SPIne</a:t>
            </a:r>
            <a:r>
              <a:rPr lang="zh-CN" altLang="en-US" sz="2800" b="1" dirty="0">
                <a:latin typeface="Times New Roman" pitchFamily="18" charset="0"/>
                <a:ea typeface="华文中宋" pitchFamily="2" charset="-122"/>
              </a:rPr>
              <a:t>信号转接板</a:t>
            </a:r>
          </a:p>
        </p:txBody>
      </p:sp>
      <p:sp>
        <p:nvSpPr>
          <p:cNvPr id="4" name="文本框 3">
            <a:extLst>
              <a:ext uri="{FF2B5EF4-FFF2-40B4-BE49-F238E27FC236}">
                <a16:creationId xmlns:a16="http://schemas.microsoft.com/office/drawing/2014/main" id="{6E97D8B2-CDF5-C4BE-511D-73CFC365DDD5}"/>
              </a:ext>
            </a:extLst>
          </p:cNvPr>
          <p:cNvSpPr txBox="1"/>
          <p:nvPr/>
        </p:nvSpPr>
        <p:spPr>
          <a:xfrm>
            <a:off x="883920" y="1028343"/>
            <a:ext cx="9321800" cy="4801314"/>
          </a:xfrm>
          <a:prstGeom prst="rect">
            <a:avLst/>
          </a:prstGeom>
          <a:noFill/>
        </p:spPr>
        <p:txBody>
          <a:bodyPr wrap="square">
            <a:spAutoFit/>
          </a:bodyPr>
          <a:lstStyle/>
          <a:p>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main</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pc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baud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921600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pc</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attach</a:t>
            </a:r>
            <a:r>
              <a:rPr lang="en-US" altLang="zh-CN" b="0" dirty="0">
                <a:solidFill>
                  <a:srgbClr val="000000"/>
                </a:solidFill>
                <a:effectLst/>
                <a:latin typeface="Consolas" panose="020B0609020204030204" pitchFamily="49" charset="0"/>
              </a:rPr>
              <a:t>(&amp;</a:t>
            </a:r>
            <a:r>
              <a:rPr lang="en-US" altLang="zh-CN" b="0" dirty="0" err="1">
                <a:solidFill>
                  <a:srgbClr val="000000"/>
                </a:solidFill>
                <a:effectLst/>
                <a:latin typeface="Consolas" panose="020B0609020204030204" pitchFamily="49" charset="0"/>
              </a:rPr>
              <a:t>serial_isr</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estop</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mode</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PullUp</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can1</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frequency</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1000000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can1</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filter</a:t>
            </a:r>
            <a:r>
              <a:rPr lang="en-US" altLang="zh-CN" b="0" dirty="0">
                <a:solidFill>
                  <a:srgbClr val="000000"/>
                </a:solidFill>
                <a:effectLst/>
                <a:latin typeface="Consolas" panose="020B0609020204030204" pitchFamily="49" charset="0"/>
              </a:rPr>
              <a:t>(CAN_ID&lt;&lt;</a:t>
            </a:r>
            <a:r>
              <a:rPr lang="en-US" altLang="zh-CN" b="0" dirty="0">
                <a:solidFill>
                  <a:srgbClr val="098658"/>
                </a:solidFill>
                <a:effectLst/>
                <a:latin typeface="Consolas" panose="020B0609020204030204" pitchFamily="49" charset="0"/>
              </a:rPr>
              <a:t>21</a:t>
            </a:r>
            <a:r>
              <a:rPr lang="zh-CN" altLang="en-US"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0xFFE00004</a:t>
            </a:r>
            <a:r>
              <a:rPr lang="zh-CN" altLang="en-US"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CANStandard</a:t>
            </a:r>
            <a:r>
              <a:rPr lang="zh-CN" altLang="en-US"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can2</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frequency</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1000000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can2</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filter</a:t>
            </a:r>
            <a:r>
              <a:rPr lang="en-US" altLang="zh-CN" b="0" dirty="0">
                <a:solidFill>
                  <a:srgbClr val="000000"/>
                </a:solidFill>
                <a:effectLst/>
                <a:latin typeface="Consolas" panose="020B0609020204030204" pitchFamily="49" charset="0"/>
              </a:rPr>
              <a:t>(CAN_ID&lt;&lt;</a:t>
            </a:r>
            <a:r>
              <a:rPr lang="en-US" altLang="zh-CN" b="0" dirty="0">
                <a:solidFill>
                  <a:srgbClr val="098658"/>
                </a:solidFill>
                <a:effectLst/>
                <a:latin typeface="Consolas" panose="020B0609020204030204" pitchFamily="49" charset="0"/>
              </a:rPr>
              <a:t>21</a:t>
            </a:r>
            <a:r>
              <a:rPr lang="zh-CN" altLang="en-US"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0xFFE00004</a:t>
            </a:r>
            <a:r>
              <a:rPr lang="zh-CN" altLang="en-US"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CANStandard</a:t>
            </a:r>
            <a:r>
              <a:rPr lang="zh-CN" altLang="en-US"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memset</a:t>
            </a:r>
            <a:r>
              <a:rPr lang="en-US" altLang="zh-CN" b="0" dirty="0">
                <a:solidFill>
                  <a:srgbClr val="000000"/>
                </a:solidFill>
                <a:effectLst/>
                <a:latin typeface="Consolas" panose="020B0609020204030204" pitchFamily="49" charset="0"/>
              </a:rPr>
              <a:t>(&amp;</a:t>
            </a:r>
            <a:r>
              <a:rPr lang="en-US" altLang="zh-CN" b="0" dirty="0" err="1">
                <a:solidFill>
                  <a:srgbClr val="000000"/>
                </a:solidFill>
                <a:effectLst/>
                <a:latin typeface="Consolas" panose="020B0609020204030204" pitchFamily="49" charset="0"/>
              </a:rPr>
              <a:t>tx_buff</a:t>
            </a:r>
            <a:r>
              <a:rPr lang="zh-CN" altLang="en-US"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zh-CN" altLang="en-US" b="0" dirty="0">
                <a:solidFill>
                  <a:srgbClr val="000000"/>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TX_LEN * </a:t>
            </a:r>
            <a:r>
              <a:rPr lang="en-US" altLang="zh-CN" b="0" dirty="0" err="1">
                <a:solidFill>
                  <a:srgbClr val="0000FF"/>
                </a:solidFill>
                <a:effectLst/>
                <a:latin typeface="Consolas" panose="020B0609020204030204" pitchFamily="49" charset="0"/>
              </a:rPr>
              <a:t>sizeof</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uint16_t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memset</a:t>
            </a:r>
            <a:r>
              <a:rPr lang="en-US" altLang="zh-CN" b="0" dirty="0">
                <a:solidFill>
                  <a:srgbClr val="000000"/>
                </a:solidFill>
                <a:effectLst/>
                <a:latin typeface="Consolas" panose="020B0609020204030204" pitchFamily="49" charset="0"/>
              </a:rPr>
              <a:t>(&amp;</a:t>
            </a:r>
            <a:r>
              <a:rPr lang="en-US" altLang="zh-CN" b="0" dirty="0" err="1">
                <a:solidFill>
                  <a:srgbClr val="000000"/>
                </a:solidFill>
                <a:effectLst/>
                <a:latin typeface="Consolas" panose="020B0609020204030204" pitchFamily="49" charset="0"/>
              </a:rPr>
              <a:t>spi_data</a:t>
            </a:r>
            <a:r>
              <a:rPr lang="zh-CN" altLang="en-US"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zh-CN" altLang="en-US" b="0" dirty="0">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sizeof</a:t>
            </a:r>
            <a:r>
              <a:rPr lang="en-US" altLang="zh-CN" b="0" dirty="0">
                <a:solidFill>
                  <a:srgbClr val="000000"/>
                </a:solidFill>
                <a:effectLst/>
                <a:latin typeface="Consolas" panose="020B0609020204030204" pitchFamily="49" charset="0"/>
              </a:rPr>
              <a:t>(</a:t>
            </a:r>
            <a:r>
              <a:rPr lang="en-US" altLang="zh-CN" b="0" dirty="0" err="1">
                <a:solidFill>
                  <a:srgbClr val="267F99"/>
                </a:solidFill>
                <a:effectLst/>
                <a:latin typeface="Consolas" panose="020B0609020204030204" pitchFamily="49" charset="0"/>
              </a:rPr>
              <a:t>spi_data_t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memset</a:t>
            </a:r>
            <a:r>
              <a:rPr lang="en-US" altLang="zh-CN" b="0" dirty="0">
                <a:solidFill>
                  <a:srgbClr val="000000"/>
                </a:solidFill>
                <a:effectLst/>
                <a:latin typeface="Consolas" panose="020B0609020204030204" pitchFamily="49" charset="0"/>
              </a:rPr>
              <a:t>(&amp;spi_command,</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sizeof</a:t>
            </a:r>
            <a:r>
              <a:rPr lang="en-US" altLang="zh-CN" b="0" dirty="0">
                <a:solidFill>
                  <a:srgbClr val="000000"/>
                </a:solidFill>
                <a:effectLst/>
                <a:latin typeface="Consolas" panose="020B0609020204030204" pitchFamily="49" charset="0"/>
              </a:rPr>
              <a:t>(</a:t>
            </a:r>
            <a:r>
              <a:rPr lang="en-US" altLang="zh-CN" b="0" dirty="0" err="1">
                <a:solidFill>
                  <a:srgbClr val="267F99"/>
                </a:solidFill>
                <a:effectLst/>
                <a:latin typeface="Consolas" panose="020B0609020204030204" pitchFamily="49" charset="0"/>
              </a:rPr>
              <a:t>spi_command_t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NVIC_SetPriority</a:t>
            </a:r>
            <a:r>
              <a:rPr lang="en-US" altLang="zh-CN" b="0" dirty="0">
                <a:solidFill>
                  <a:srgbClr val="000000"/>
                </a:solidFill>
                <a:effectLst/>
                <a:latin typeface="Consolas" panose="020B0609020204030204" pitchFamily="49" charset="0"/>
              </a:rPr>
              <a:t>(TIM5_IRQn</a:t>
            </a:r>
            <a:r>
              <a:rPr lang="zh-CN" altLang="en-US"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printf</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b="0" dirty="0">
                <a:solidFill>
                  <a:srgbClr val="EE0000"/>
                </a:solidFill>
                <a:effectLst/>
                <a:latin typeface="Consolas" panose="020B0609020204030204" pitchFamily="49" charset="0"/>
              </a:rPr>
              <a:t>\n\r</a:t>
            </a:r>
            <a:r>
              <a:rPr lang="en-US" altLang="zh-CN" b="0" dirty="0">
                <a:solidFill>
                  <a:srgbClr val="A31515"/>
                </a:solidFill>
                <a:effectLst/>
                <a:latin typeface="Consolas" panose="020B0609020204030204" pitchFamily="49" charset="0"/>
              </a:rPr>
              <a:t> </a:t>
            </a:r>
            <a:r>
              <a:rPr lang="en-US" altLang="zh-CN" b="0" dirty="0" err="1">
                <a:solidFill>
                  <a:srgbClr val="A31515"/>
                </a:solidFill>
                <a:effectLst/>
                <a:latin typeface="Consolas" panose="020B0609020204030204" pitchFamily="49" charset="0"/>
              </a:rPr>
              <a:t>SPIne</a:t>
            </a:r>
            <a:r>
              <a:rPr lang="en-US" altLang="zh-CN" b="0" dirty="0">
                <a:solidFill>
                  <a:srgbClr val="EE0000"/>
                </a:solidFill>
                <a:effectLst/>
                <a:latin typeface="Consolas" panose="020B0609020204030204" pitchFamily="49" charset="0"/>
              </a:rPr>
              <a:t>\n\r</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a1_can</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len</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8</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a2_can</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len</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8</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h1_can</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len</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8</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h2_can</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len</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8</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k1_can</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len</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8</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k2_can</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len</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8</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rxMsg1</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len</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rxMsg2</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len</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a1_can</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id</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0x1</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a2_can</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id</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0x1</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h1_can</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id</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0x2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h2_can</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id</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0x2</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k1_can</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id</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0x3</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k2_can</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id</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0x3</a:t>
            </a:r>
            <a:r>
              <a:rPr lang="en-US" altLang="zh-CN"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752492005"/>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10.5 </a:t>
            </a:r>
            <a:r>
              <a:rPr lang="en-US" altLang="zh-CN" sz="2800" b="1" dirty="0" err="1">
                <a:latin typeface="Times New Roman" pitchFamily="18" charset="0"/>
                <a:ea typeface="华文中宋" pitchFamily="2" charset="-122"/>
              </a:rPr>
              <a:t>SPIne</a:t>
            </a:r>
            <a:r>
              <a:rPr lang="zh-CN" altLang="en-US" sz="2800" b="1" dirty="0">
                <a:latin typeface="Times New Roman" pitchFamily="18" charset="0"/>
                <a:ea typeface="华文中宋" pitchFamily="2" charset="-122"/>
              </a:rPr>
              <a:t>信号转接板</a:t>
            </a:r>
          </a:p>
        </p:txBody>
      </p:sp>
      <p:sp>
        <p:nvSpPr>
          <p:cNvPr id="3" name="文本框 2">
            <a:extLst>
              <a:ext uri="{FF2B5EF4-FFF2-40B4-BE49-F238E27FC236}">
                <a16:creationId xmlns:a16="http://schemas.microsoft.com/office/drawing/2014/main" id="{5AA4CD09-34D5-37AC-4788-AB9C0EE1795C}"/>
              </a:ext>
            </a:extLst>
          </p:cNvPr>
          <p:cNvSpPr txBox="1"/>
          <p:nvPr/>
        </p:nvSpPr>
        <p:spPr>
          <a:xfrm>
            <a:off x="843280" y="1028343"/>
            <a:ext cx="9260840" cy="4801314"/>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pack_cmd</a:t>
            </a:r>
            <a:r>
              <a:rPr lang="en-US" altLang="zh-CN" b="0" dirty="0">
                <a:solidFill>
                  <a:srgbClr val="000000"/>
                </a:solidFill>
                <a:effectLst/>
                <a:latin typeface="Consolas" panose="020B0609020204030204" pitchFamily="49" charset="0"/>
              </a:rPr>
              <a:t>(&amp;a1_can</a:t>
            </a:r>
            <a:r>
              <a:rPr lang="zh-CN" altLang="en-US"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l1_control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pack_cmd</a:t>
            </a:r>
            <a:r>
              <a:rPr lang="en-US" altLang="zh-CN" b="0" dirty="0">
                <a:solidFill>
                  <a:srgbClr val="000000"/>
                </a:solidFill>
                <a:effectLst/>
                <a:latin typeface="Consolas" panose="020B0609020204030204" pitchFamily="49" charset="0"/>
              </a:rPr>
              <a:t>(&amp;a2_can</a:t>
            </a:r>
            <a:r>
              <a:rPr lang="zh-CN" altLang="en-US"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l2_control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pack_cmd</a:t>
            </a:r>
            <a:r>
              <a:rPr lang="en-US" altLang="zh-CN" b="0" dirty="0">
                <a:solidFill>
                  <a:srgbClr val="000000"/>
                </a:solidFill>
                <a:effectLst/>
                <a:latin typeface="Consolas" panose="020B0609020204030204" pitchFamily="49" charset="0"/>
              </a:rPr>
              <a:t>(&amp;h1_can</a:t>
            </a:r>
            <a:r>
              <a:rPr lang="zh-CN" altLang="en-US"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l1_control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pack_cmd</a:t>
            </a:r>
            <a:r>
              <a:rPr lang="en-US" altLang="zh-CN" b="0" dirty="0">
                <a:solidFill>
                  <a:srgbClr val="000000"/>
                </a:solidFill>
                <a:effectLst/>
                <a:latin typeface="Consolas" panose="020B0609020204030204" pitchFamily="49" charset="0"/>
              </a:rPr>
              <a:t>(&amp;h2_can</a:t>
            </a:r>
            <a:r>
              <a:rPr lang="zh-CN" altLang="en-US"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l2_control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pack_cmd</a:t>
            </a:r>
            <a:r>
              <a:rPr lang="en-US" altLang="zh-CN" b="0" dirty="0">
                <a:solidFill>
                  <a:srgbClr val="000000"/>
                </a:solidFill>
                <a:effectLst/>
                <a:latin typeface="Consolas" panose="020B0609020204030204" pitchFamily="49" charset="0"/>
              </a:rPr>
              <a:t>(&amp;k1_can</a:t>
            </a:r>
            <a:r>
              <a:rPr lang="zh-CN" altLang="en-US"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l1_control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pack_cmd</a:t>
            </a:r>
            <a:r>
              <a:rPr lang="en-US" altLang="zh-CN" b="0" dirty="0">
                <a:solidFill>
                  <a:srgbClr val="000000"/>
                </a:solidFill>
                <a:effectLst/>
                <a:latin typeface="Consolas" panose="020B0609020204030204" pitchFamily="49" charset="0"/>
              </a:rPr>
              <a:t>(&amp;k2_can</a:t>
            </a:r>
            <a:r>
              <a:rPr lang="zh-CN" altLang="en-US"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l2_control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WriteAll</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if</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spi_enabled</a:t>
            </a:r>
            <a:r>
              <a:rPr lang="en-US" altLang="zh-CN" b="0" dirty="0">
                <a:solidFill>
                  <a:srgbClr val="000000"/>
                </a:solidFill>
                <a:effectLst/>
                <a:latin typeface="Consolas" panose="020B0609020204030204" pitchFamily="49" charset="0"/>
              </a:rPr>
              <a:t>)  {   </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while</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spi_enabled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&amp;&amp; (</a:t>
            </a:r>
            <a:r>
              <a:rPr lang="en-US" altLang="zh-CN" b="0" dirty="0" err="1">
                <a:solidFill>
                  <a:srgbClr val="001080"/>
                </a:solidFill>
                <a:effectLst/>
                <a:latin typeface="Consolas" panose="020B0609020204030204" pitchFamily="49" charset="0"/>
              </a:rPr>
              <a:t>cs</a:t>
            </a:r>
            <a:r>
              <a:rPr lang="en-US" altLang="zh-CN" b="0" dirty="0" err="1">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read</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wait_us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init_spi</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spi_enabled</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 </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while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counter++;</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can2</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read</a:t>
            </a:r>
            <a:r>
              <a:rPr lang="en-US" altLang="zh-CN" b="0" dirty="0">
                <a:solidFill>
                  <a:srgbClr val="000000"/>
                </a:solidFill>
                <a:effectLst/>
                <a:latin typeface="Consolas" panose="020B0609020204030204" pitchFamily="49" charset="0"/>
              </a:rPr>
              <a:t>(rxMsg2);</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unpack_reply</a:t>
            </a:r>
            <a:r>
              <a:rPr lang="en-US" altLang="zh-CN" b="0" dirty="0">
                <a:solidFill>
                  <a:srgbClr val="000000"/>
                </a:solidFill>
                <a:effectLst/>
                <a:latin typeface="Consolas" panose="020B0609020204030204" pitchFamily="49" charset="0"/>
              </a:rPr>
              <a:t>(rxMsg2</a:t>
            </a:r>
            <a:r>
              <a:rPr lang="zh-CN" altLang="en-US" b="0" dirty="0">
                <a:solidFill>
                  <a:srgbClr val="000000"/>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&amp;l2_state);</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can1</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read</a:t>
            </a:r>
            <a:r>
              <a:rPr lang="en-US" altLang="zh-CN" b="0" dirty="0">
                <a:solidFill>
                  <a:srgbClr val="000000"/>
                </a:solidFill>
                <a:effectLst/>
                <a:latin typeface="Consolas" panose="020B0609020204030204" pitchFamily="49" charset="0"/>
              </a:rPr>
              <a:t>(rxMsg1);</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unpack_reply</a:t>
            </a:r>
            <a:r>
              <a:rPr lang="en-US" altLang="zh-CN" b="0" dirty="0">
                <a:solidFill>
                  <a:srgbClr val="000000"/>
                </a:solidFill>
                <a:effectLst/>
                <a:latin typeface="Consolas" panose="020B0609020204030204" pitchFamily="49" charset="0"/>
              </a:rPr>
              <a:t>(rxMsg1</a:t>
            </a:r>
            <a:r>
              <a:rPr lang="zh-CN" altLang="en-US" b="0" dirty="0">
                <a:solidFill>
                  <a:srgbClr val="000000"/>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&amp;l1_state);</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wait_us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 </a:t>
            </a: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648818548"/>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10.5 </a:t>
            </a:r>
            <a:r>
              <a:rPr lang="en-US" altLang="zh-CN" sz="2800" b="1" dirty="0" err="1">
                <a:latin typeface="Times New Roman" pitchFamily="18" charset="0"/>
                <a:ea typeface="华文中宋" pitchFamily="2" charset="-122"/>
              </a:rPr>
              <a:t>SPIne</a:t>
            </a:r>
            <a:r>
              <a:rPr lang="zh-CN" altLang="en-US" sz="2800" b="1" dirty="0">
                <a:latin typeface="Times New Roman" pitchFamily="18" charset="0"/>
                <a:ea typeface="华文中宋" pitchFamily="2" charset="-122"/>
              </a:rPr>
              <a:t>信号转接板</a:t>
            </a:r>
          </a:p>
        </p:txBody>
      </p:sp>
      <p:sp>
        <p:nvSpPr>
          <p:cNvPr id="2" name="内容占位符 2">
            <a:extLst>
              <a:ext uri="{FF2B5EF4-FFF2-40B4-BE49-F238E27FC236}">
                <a16:creationId xmlns:a16="http://schemas.microsoft.com/office/drawing/2014/main" id="{B1148825-11BB-97F6-6720-3BCB8610406D}"/>
              </a:ext>
            </a:extLst>
          </p:cNvPr>
          <p:cNvSpPr>
            <a:spLocks noChangeArrowheads="1"/>
          </p:cNvSpPr>
          <p:nvPr/>
        </p:nvSpPr>
        <p:spPr bwMode="auto">
          <a:xfrm>
            <a:off x="919735" y="887847"/>
            <a:ext cx="10352529" cy="500495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大部分组包和数据收发任务都在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void </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spi_isr</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(void) </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中完成。值得注意的是，在主程序循环中获取到的每个关节实际执行信息在</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SPI_ISR</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中将被打包成</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准备发送的数据。打包工作由</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void control ( )</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函数完成，该函数简述如下：该函数主要把来自</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 board</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的数据打包成</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数据包格式，把每个电机及来自</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的信息打包成</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SPI</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数据包格式，返回给</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系统。仔细观察函数会发现一个细节：来自关节电机的速度、位置信息被打包了，而扭矩信息并没有被打包，也就是反馈的扭矩信息被丢弃了。原因是这套方案是准直驱方案，即</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x86</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发送多大的扭矩</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电流指令</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，关节电机就立刻输出多大的扭矩。因为电流环有足够高的带宽，因此在很多场合我们无须知道具体的扭矩信息，大部分情况给定的扭矩会立刻被执行成当前的设定扭矩，即指定扭矩</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反馈扭矩。</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3254042043"/>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10.5 </a:t>
            </a:r>
            <a:r>
              <a:rPr lang="en-US" altLang="zh-CN" sz="2800" b="1" dirty="0" err="1">
                <a:latin typeface="Times New Roman" pitchFamily="18" charset="0"/>
                <a:ea typeface="华文中宋" pitchFamily="2" charset="-122"/>
              </a:rPr>
              <a:t>SPIne</a:t>
            </a:r>
            <a:r>
              <a:rPr lang="zh-CN" altLang="en-US" sz="2800" b="1" dirty="0">
                <a:latin typeface="Times New Roman" pitchFamily="18" charset="0"/>
                <a:ea typeface="华文中宋" pitchFamily="2" charset="-122"/>
              </a:rPr>
              <a:t>信号转接板</a:t>
            </a:r>
          </a:p>
        </p:txBody>
      </p:sp>
      <p:sp>
        <p:nvSpPr>
          <p:cNvPr id="4" name="文本框 3">
            <a:extLst>
              <a:ext uri="{FF2B5EF4-FFF2-40B4-BE49-F238E27FC236}">
                <a16:creationId xmlns:a16="http://schemas.microsoft.com/office/drawing/2014/main" id="{A14A66F9-7A4C-DF6D-91C5-3AF48A194E0D}"/>
              </a:ext>
            </a:extLst>
          </p:cNvPr>
          <p:cNvSpPr txBox="1"/>
          <p:nvPr/>
        </p:nvSpPr>
        <p:spPr>
          <a:xfrm>
            <a:off x="589280" y="797848"/>
            <a:ext cx="10449560" cy="5909310"/>
          </a:xfrm>
          <a:prstGeom prst="rect">
            <a:avLst/>
          </a:prstGeom>
          <a:noFill/>
        </p:spPr>
        <p:txBody>
          <a:bodyPr wrap="square">
            <a:spAutoFit/>
          </a:bodyPr>
          <a:lstStyle/>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control</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q_abad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l1_state</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p</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q_hip</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l1_state</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p</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q_knee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l1_state</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p</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qd_abad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l1_state</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v</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qd_hip</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l1_state</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v</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qd_knee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l1_state</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v</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q_abad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l2_state</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p</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q_hip</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l2_state</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p</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q_knee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l2_state</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p</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qd_abad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l2_state</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v</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qd_hip</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l2_state</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v</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qd_knee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a:solidFill>
                  <a:srgbClr val="001080"/>
                </a:solidFill>
                <a:effectLst/>
                <a:latin typeface="Consolas" panose="020B0609020204030204" pitchFamily="49" charset="0"/>
              </a:rPr>
              <a:t>l2_state</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v</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l1_control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p_des</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q_des_abad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l1_control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v_des</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qd_des_abad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l1_control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kp</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kp_abad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l1_control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kd</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kd_abad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l1_control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t_ff</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tau_abad_ff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l1_control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p_des</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q_des_hip</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l1_control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v_des</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qd_des_hip</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750410716"/>
      </p:ext>
    </p:extLst>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10.5 </a:t>
            </a:r>
            <a:r>
              <a:rPr lang="en-US" altLang="zh-CN" sz="2800" b="1" dirty="0" err="1">
                <a:latin typeface="Times New Roman" pitchFamily="18" charset="0"/>
                <a:ea typeface="华文中宋" pitchFamily="2" charset="-122"/>
              </a:rPr>
              <a:t>SPIne</a:t>
            </a:r>
            <a:r>
              <a:rPr lang="zh-CN" altLang="en-US" sz="2800" b="1" dirty="0">
                <a:latin typeface="Times New Roman" pitchFamily="18" charset="0"/>
                <a:ea typeface="华文中宋" pitchFamily="2" charset="-122"/>
              </a:rPr>
              <a:t>信号转接板</a:t>
            </a:r>
          </a:p>
        </p:txBody>
      </p:sp>
      <p:sp>
        <p:nvSpPr>
          <p:cNvPr id="9" name="文本框 8">
            <a:extLst>
              <a:ext uri="{FF2B5EF4-FFF2-40B4-BE49-F238E27FC236}">
                <a16:creationId xmlns:a16="http://schemas.microsoft.com/office/drawing/2014/main" id="{25F82A2E-668B-EEF0-B7B4-849E23022AE2}"/>
              </a:ext>
            </a:extLst>
          </p:cNvPr>
          <p:cNvSpPr txBox="1"/>
          <p:nvPr/>
        </p:nvSpPr>
        <p:spPr>
          <a:xfrm>
            <a:off x="751840" y="891411"/>
            <a:ext cx="9271000" cy="5632311"/>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l1_control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kp</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kp_hip</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l1_control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kd</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kd_hip</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l1_control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t_ff</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tau_hip_ff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l1_control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p_des</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q_des_knee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l1_control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v_des</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qd_des_knee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l1_control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kp</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kp_knee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l1_control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kd</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kd_knee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l1_control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t_ff</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tau_knee_ff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l2_control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p_des</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q_des_abad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l2_control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v_des</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qd_des_abad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l2_control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kp</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kp_abad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l2_control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kd</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kd_abad</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l2_control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t_ff</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tau_abad_ff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l2_control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p_des</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q_des_hip</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l2_control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v_des</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qd_des_hip</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l2_control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kp</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kp_hip</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l2_control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kd</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kd_hip</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l2_control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t_ff</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tau_hip_ff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l2_control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p_des</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q_des_knee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l2_control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v_des</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qd_des_knee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857876258"/>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10.5 </a:t>
            </a:r>
            <a:r>
              <a:rPr lang="en-US" altLang="zh-CN" sz="2800" b="1" dirty="0" err="1">
                <a:latin typeface="Times New Roman" pitchFamily="18" charset="0"/>
                <a:ea typeface="华文中宋" pitchFamily="2" charset="-122"/>
              </a:rPr>
              <a:t>SPIne</a:t>
            </a:r>
            <a:r>
              <a:rPr lang="zh-CN" altLang="en-US" sz="2800" b="1" dirty="0">
                <a:latin typeface="Times New Roman" pitchFamily="18" charset="0"/>
                <a:ea typeface="华文中宋" pitchFamily="2" charset="-122"/>
              </a:rPr>
              <a:t>信号转接板</a:t>
            </a:r>
          </a:p>
        </p:txBody>
      </p:sp>
      <p:sp>
        <p:nvSpPr>
          <p:cNvPr id="3" name="文本框 2">
            <a:extLst>
              <a:ext uri="{FF2B5EF4-FFF2-40B4-BE49-F238E27FC236}">
                <a16:creationId xmlns:a16="http://schemas.microsoft.com/office/drawing/2014/main" id="{3B61C8DC-3492-9F94-0ED5-AEB13493EFB8}"/>
              </a:ext>
            </a:extLst>
          </p:cNvPr>
          <p:cNvSpPr txBox="1"/>
          <p:nvPr/>
        </p:nvSpPr>
        <p:spPr>
          <a:xfrm>
            <a:off x="782875" y="795169"/>
            <a:ext cx="10626249" cy="5632311"/>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l2_control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kp</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kp_knee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l2_control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kd</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kd_knee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001080"/>
                </a:solidFill>
                <a:effectLst/>
                <a:latin typeface="Consolas" panose="020B0609020204030204" pitchFamily="49" charset="0"/>
              </a:rPr>
              <a:t>l2_control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k</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t_ff</a:t>
            </a:r>
            <a:r>
              <a:rPr lang="en-US" altLang="zh-CN" b="0" dirty="0">
                <a:solidFill>
                  <a:srgbClr val="000000"/>
                </a:solidFill>
                <a:effectLst/>
                <a:latin typeface="Consolas" panose="020B0609020204030204" pitchFamily="49" charset="0"/>
              </a:rPr>
              <a:t> = </a:t>
            </a:r>
            <a:r>
              <a:rPr lang="en-US" altLang="zh-CN" b="0" dirty="0" err="1">
                <a:solidFill>
                  <a:srgbClr val="001080"/>
                </a:solidFill>
                <a:effectLst/>
                <a:latin typeface="Consolas" panose="020B0609020204030204" pitchFamily="49" charset="0"/>
              </a:rPr>
              <a:t>spi_command</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tau_knee_ff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flags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flags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flags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softstop_joint</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l1_state</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,&amp;</a:t>
            </a:r>
            <a:r>
              <a:rPr lang="en-US" altLang="zh-CN" b="0" dirty="0">
                <a:solidFill>
                  <a:srgbClr val="001080"/>
                </a:solidFill>
                <a:effectLst/>
                <a:latin typeface="Consolas" panose="020B0609020204030204" pitchFamily="49" charset="0"/>
              </a:rPr>
              <a:t>l1_control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A_LIM_P,A_LIM_N);</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flags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softstop_joint</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l1_state</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a:t>
            </a:r>
            <a:r>
              <a:rPr lang="en-US" altLang="zh-CN" b="0" dirty="0">
                <a:solidFill>
                  <a:srgbClr val="000000"/>
                </a:solidFill>
                <a:effectLst/>
                <a:latin typeface="Consolas" panose="020B0609020204030204" pitchFamily="49" charset="0"/>
              </a:rPr>
              <a:t>,&amp;</a:t>
            </a:r>
            <a:r>
              <a:rPr lang="en-US" altLang="zh-CN" b="0" dirty="0">
                <a:solidFill>
                  <a:srgbClr val="001080"/>
                </a:solidFill>
                <a:effectLst/>
                <a:latin typeface="Consolas" panose="020B0609020204030204" pitchFamily="49" charset="0"/>
              </a:rPr>
              <a:t>l1_control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H_LIM_P,H_LIM_N))&lt;&lt;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8000"/>
                </a:solidFill>
                <a:effectLst/>
                <a:latin typeface="Consolas" panose="020B0609020204030204" pitchFamily="49" charset="0"/>
              </a:rPr>
              <a:t>    //</a:t>
            </a:r>
            <a:r>
              <a:rPr lang="en-US" altLang="zh-CN" b="0" dirty="0" err="1">
                <a:solidFill>
                  <a:srgbClr val="008000"/>
                </a:solidFill>
                <a:effectLst/>
                <a:latin typeface="Consolas" panose="020B0609020204030204" pitchFamily="49" charset="0"/>
              </a:rPr>
              <a:t>spi_data.flags</a:t>
            </a:r>
            <a:r>
              <a:rPr lang="en-US" altLang="zh-CN" b="0" dirty="0">
                <a:solidFill>
                  <a:srgbClr val="008000"/>
                </a:solidFill>
                <a:effectLst/>
                <a:latin typeface="Consolas" panose="020B0609020204030204" pitchFamily="49" charset="0"/>
              </a:rPr>
              <a:t>[0] |= (</a:t>
            </a:r>
            <a:r>
              <a:rPr lang="en-US" altLang="zh-CN" b="0" dirty="0" err="1">
                <a:solidFill>
                  <a:srgbClr val="008000"/>
                </a:solidFill>
                <a:effectLst/>
                <a:latin typeface="Consolas" panose="020B0609020204030204" pitchFamily="49" charset="0"/>
              </a:rPr>
              <a:t>softstop_joint</a:t>
            </a:r>
            <a:r>
              <a:rPr lang="en-US" altLang="zh-CN" b="0" dirty="0">
                <a:solidFill>
                  <a:srgbClr val="008000"/>
                </a:solidFill>
                <a:effectLst/>
                <a:latin typeface="Consolas" panose="020B0609020204030204" pitchFamily="49" charset="0"/>
              </a:rPr>
              <a:t>(l1_state.k,&amp;l1_control.k,</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K_LIM_P,K_LIM_N))&lt;&lt;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flags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softstop_joint</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l2_state</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,&amp;</a:t>
            </a:r>
            <a:r>
              <a:rPr lang="en-US" altLang="zh-CN" b="0" dirty="0">
                <a:solidFill>
                  <a:srgbClr val="001080"/>
                </a:solidFill>
                <a:effectLst/>
                <a:latin typeface="Consolas" panose="020B0609020204030204" pitchFamily="49" charset="0"/>
              </a:rPr>
              <a:t>l2_control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A_LIM_P,A_LIM_N);</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spi_data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flags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softstop_joint</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l2_state</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a:t>
            </a:r>
            <a:r>
              <a:rPr lang="en-US" altLang="zh-CN" b="0" dirty="0">
                <a:solidFill>
                  <a:srgbClr val="000000"/>
                </a:solidFill>
                <a:effectLst/>
                <a:latin typeface="Consolas" panose="020B0609020204030204" pitchFamily="49" charset="0"/>
              </a:rPr>
              <a:t>,&amp;</a:t>
            </a:r>
            <a:r>
              <a:rPr lang="en-US" altLang="zh-CN" b="0" dirty="0">
                <a:solidFill>
                  <a:srgbClr val="001080"/>
                </a:solidFill>
                <a:effectLst/>
                <a:latin typeface="Consolas" panose="020B0609020204030204" pitchFamily="49" charset="0"/>
              </a:rPr>
              <a:t>l2_control</a:t>
            </a:r>
            <a:r>
              <a:rPr lang="en-US" altLang="zh-CN" b="0" dirty="0">
                <a:solidFill>
                  <a:srgbClr val="000000"/>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h</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H_LIM_P,H_LIM_N))&lt;&lt;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r>
              <a:rPr lang="en-US" altLang="zh-CN" b="0" dirty="0" err="1">
                <a:solidFill>
                  <a:srgbClr val="001080"/>
                </a:solidFill>
                <a:effectLst/>
                <a:latin typeface="Consolas" panose="020B0609020204030204" pitchFamily="49" charset="0"/>
              </a:rPr>
              <a:t>spi_data</a:t>
            </a:r>
            <a:r>
              <a:rPr lang="en-US" altLang="zh-CN" b="0" dirty="0" err="1">
                <a:solidFill>
                  <a:srgbClr val="00000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checksum</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xor_checksum</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uint32_t</a:t>
            </a:r>
            <a:r>
              <a:rPr lang="en-US" altLang="zh-CN" b="0" dirty="0">
                <a:solidFill>
                  <a:srgbClr val="000000"/>
                </a:solidFill>
                <a:effectLst/>
                <a:latin typeface="Consolas" panose="020B0609020204030204" pitchFamily="49" charset="0"/>
              </a:rPr>
              <a:t>*)&amp;spi_data,</a:t>
            </a:r>
            <a:r>
              <a:rPr lang="en-US" altLang="zh-CN" b="0" dirty="0">
                <a:solidFill>
                  <a:srgbClr val="098658"/>
                </a:solidFill>
                <a:effectLst/>
                <a:latin typeface="Consolas" panose="020B0609020204030204" pitchFamily="49" charset="0"/>
              </a:rPr>
              <a:t>14</a:t>
            </a:r>
            <a:r>
              <a:rPr lang="en-US" altLang="zh-CN" b="0" dirty="0">
                <a:solidFill>
                  <a:srgbClr val="000000"/>
                </a:solidFill>
                <a:effectLst/>
                <a:latin typeface="Consolas" panose="020B0609020204030204" pitchFamily="49" charset="0"/>
              </a:rPr>
              <a:t>);</a:t>
            </a:r>
          </a:p>
          <a:p>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DATA_LEN;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1080"/>
                </a:solidFill>
                <a:effectLst/>
                <a:latin typeface="Consolas" panose="020B0609020204030204" pitchFamily="49" charset="0"/>
              </a:rPr>
              <a:t>tx_buff</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000FF"/>
                </a:solidFill>
                <a:effectLst/>
                <a:latin typeface="Consolas" panose="020B0609020204030204" pitchFamily="49" charset="0"/>
              </a:rPr>
              <a:t>uint16_t</a:t>
            </a:r>
            <a:r>
              <a:rPr lang="en-US" altLang="zh-CN" b="0" dirty="0">
                <a:solidFill>
                  <a:srgbClr val="000000"/>
                </a:solidFill>
                <a:effectLst/>
                <a:latin typeface="Consolas" panose="020B0609020204030204" pitchFamily="49" charset="0"/>
              </a:rPr>
              <a:t>*)(&amp;</a:t>
            </a:r>
            <a:r>
              <a:rPr lang="en-US" altLang="zh-CN" b="0" dirty="0" err="1">
                <a:solidFill>
                  <a:srgbClr val="000000"/>
                </a:solidFill>
                <a:effectLst/>
                <a:latin typeface="Consolas" panose="020B0609020204030204" pitchFamily="49" charset="0"/>
              </a:rPr>
              <a:t>spi_data</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912109486"/>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10.6 </a:t>
            </a:r>
            <a:r>
              <a:rPr lang="zh-CN" altLang="en-US" sz="2800" b="1" dirty="0">
                <a:latin typeface="Times New Roman" pitchFamily="18" charset="0"/>
                <a:ea typeface="华文中宋" pitchFamily="2" charset="-122"/>
              </a:rPr>
              <a:t>接线转接板</a:t>
            </a:r>
          </a:p>
        </p:txBody>
      </p:sp>
      <p:sp>
        <p:nvSpPr>
          <p:cNvPr id="2" name="内容占位符 2">
            <a:extLst>
              <a:ext uri="{FF2B5EF4-FFF2-40B4-BE49-F238E27FC236}">
                <a16:creationId xmlns:a16="http://schemas.microsoft.com/office/drawing/2014/main" id="{A5F4A35D-0F17-461F-A7DC-A79183F7BF89}"/>
              </a:ext>
            </a:extLst>
          </p:cNvPr>
          <p:cNvSpPr>
            <a:spLocks noChangeArrowheads="1"/>
          </p:cNvSpPr>
          <p:nvPr/>
        </p:nvSpPr>
        <p:spPr bwMode="auto">
          <a:xfrm>
            <a:off x="919735" y="887847"/>
            <a:ext cx="10352529" cy="242431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四足机器人有</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个执行器，每个执行器都需要接电源和</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信号这两条线缆，因此机器人内部会有很多线缆和接头，为了方便接线，防止出错，我们设计了一个电路接线转接板，安装在机器人头部和尾部。这样，只需将前后腿执行器的接头按顺序分别插接在接线转接板相应接口上即可。下图是机器人前腿接线或后腿接线转接板实物图。</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9458" name="图片 9" descr="C:/Users/ThinkPad/AppData/Local/Temp/picturescale_20201204152630/output_20201204152632.jpgoutput_20201204152632">
            <a:extLst>
              <a:ext uri="{FF2B5EF4-FFF2-40B4-BE49-F238E27FC236}">
                <a16:creationId xmlns:a16="http://schemas.microsoft.com/office/drawing/2014/main" id="{F08E7520-794A-37D8-2E25-E356102AD9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237" b="6165"/>
          <a:stretch>
            <a:fillRect/>
          </a:stretch>
        </p:blipFill>
        <p:spPr bwMode="auto">
          <a:xfrm>
            <a:off x="3576839" y="3180079"/>
            <a:ext cx="5038322" cy="3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7431840"/>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10.6 </a:t>
            </a:r>
            <a:r>
              <a:rPr lang="zh-CN" altLang="en-US" sz="2800" b="1" dirty="0">
                <a:latin typeface="Times New Roman" pitchFamily="18" charset="0"/>
                <a:ea typeface="华文中宋" pitchFamily="2" charset="-122"/>
              </a:rPr>
              <a:t>接线转接板</a:t>
            </a:r>
          </a:p>
        </p:txBody>
      </p:sp>
      <p:sp>
        <p:nvSpPr>
          <p:cNvPr id="2" name="内容占位符 2">
            <a:extLst>
              <a:ext uri="{FF2B5EF4-FFF2-40B4-BE49-F238E27FC236}">
                <a16:creationId xmlns:a16="http://schemas.microsoft.com/office/drawing/2014/main" id="{A5F4A35D-0F17-461F-A7DC-A79183F7BF89}"/>
              </a:ext>
            </a:extLst>
          </p:cNvPr>
          <p:cNvSpPr>
            <a:spLocks noChangeArrowheads="1"/>
          </p:cNvSpPr>
          <p:nvPr/>
        </p:nvSpPr>
        <p:spPr bwMode="auto">
          <a:xfrm>
            <a:off x="919734" y="857367"/>
            <a:ext cx="10352529" cy="162167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每条腿由侧摆电机、大腿电机和小腿电机等组成，每个电机只需要把电源线和</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信号线引出到一条电缆中，简化整个设计，每条腿仅用一条线缆，也就是说，将一条腿的电源线和信号线并在一起。</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Picture 2">
            <a:extLst>
              <a:ext uri="{FF2B5EF4-FFF2-40B4-BE49-F238E27FC236}">
                <a16:creationId xmlns:a16="http://schemas.microsoft.com/office/drawing/2014/main" id="{CBB89024-2381-9F4D-997D-A1D2C6BFFDE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12160" y="2219229"/>
            <a:ext cx="5567679" cy="4136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C0AF78E0-E4DF-7D87-18B4-A02A47144AA0}"/>
              </a:ext>
            </a:extLst>
          </p:cNvPr>
          <p:cNvSpPr txBox="1"/>
          <p:nvPr/>
        </p:nvSpPr>
        <p:spPr>
          <a:xfrm>
            <a:off x="4235609" y="6418818"/>
            <a:ext cx="3703320" cy="369332"/>
          </a:xfrm>
          <a:prstGeom prst="rect">
            <a:avLst/>
          </a:prstGeom>
          <a:noFill/>
        </p:spPr>
        <p:txBody>
          <a:bodyPr wrap="square">
            <a:spAutoFit/>
          </a:bodyPr>
          <a:lstStyle/>
          <a:p>
            <a:pPr algn="ct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前腿接线转接板连接实物图</a:t>
            </a:r>
            <a:endParaRPr lang="zh-CN" altLang="en-US" dirty="0"/>
          </a:p>
        </p:txBody>
      </p:sp>
    </p:spTree>
    <p:extLst>
      <p:ext uri="{BB962C8B-B14F-4D97-AF65-F5344CB8AC3E}">
        <p14:creationId xmlns:p14="http://schemas.microsoft.com/office/powerpoint/2010/main" val="3388461365"/>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10.6 </a:t>
            </a:r>
            <a:r>
              <a:rPr lang="zh-CN" altLang="en-US" sz="2800" b="1" dirty="0">
                <a:latin typeface="Times New Roman" pitchFamily="18" charset="0"/>
                <a:ea typeface="华文中宋" pitchFamily="2" charset="-122"/>
              </a:rPr>
              <a:t>接线转接板</a:t>
            </a:r>
          </a:p>
        </p:txBody>
      </p:sp>
      <p:sp>
        <p:nvSpPr>
          <p:cNvPr id="2" name="内容占位符 2">
            <a:extLst>
              <a:ext uri="{FF2B5EF4-FFF2-40B4-BE49-F238E27FC236}">
                <a16:creationId xmlns:a16="http://schemas.microsoft.com/office/drawing/2014/main" id="{6A620187-4F6C-B5CA-0E46-A508C5B2CDD1}"/>
              </a:ext>
            </a:extLst>
          </p:cNvPr>
          <p:cNvSpPr>
            <a:spLocks noChangeArrowheads="1"/>
          </p:cNvSpPr>
          <p:nvPr/>
        </p:nvSpPr>
        <p:spPr bwMode="auto">
          <a:xfrm>
            <a:off x="919735" y="887847"/>
            <a:ext cx="10352529" cy="1337193"/>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defTabSz="914400" rtl="0" eaLnBrk="1" fontAlgn="base" latinLnBrk="0" hangingPunct="1">
              <a:lnSpc>
                <a:spcPct val="120000"/>
              </a:lnSpc>
              <a:spcBef>
                <a:spcPct val="10000"/>
              </a:spcBef>
              <a:spcAft>
                <a:spcPct val="10000"/>
              </a:spcAft>
              <a:buClrTx/>
              <a:buSzTx/>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单个关节电机对外接口如下所示，正常使用时只需要用如图所示的黑色电缆，其内部有两条</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24V</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电源线和两条</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CAN</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信号线。</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1506" name="Picture 2">
            <a:extLst>
              <a:ext uri="{FF2B5EF4-FFF2-40B4-BE49-F238E27FC236}">
                <a16:creationId xmlns:a16="http://schemas.microsoft.com/office/drawing/2014/main" id="{FDCF740F-E422-DBBF-9E2C-6E24D9CE0FA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27208" y="1899919"/>
            <a:ext cx="3379432" cy="3840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858530AA-C8B3-6DD2-4342-460195CD07DE}"/>
              </a:ext>
            </a:extLst>
          </p:cNvPr>
          <p:cNvSpPr txBox="1"/>
          <p:nvPr/>
        </p:nvSpPr>
        <p:spPr>
          <a:xfrm>
            <a:off x="4069080" y="5970153"/>
            <a:ext cx="3286760" cy="369332"/>
          </a:xfrm>
          <a:prstGeom prst="rect">
            <a:avLst/>
          </a:prstGeom>
          <a:noFill/>
        </p:spPr>
        <p:txBody>
          <a:bodyPr wrap="square">
            <a:spAutoFit/>
          </a:bodyPr>
          <a:lstStyle/>
          <a:p>
            <a:pPr algn="ct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单个电机对外接口实物图</a:t>
            </a:r>
            <a:endParaRPr lang="zh-CN" altLang="en-US" dirty="0"/>
          </a:p>
        </p:txBody>
      </p:sp>
    </p:spTree>
    <p:extLst>
      <p:ext uri="{BB962C8B-B14F-4D97-AF65-F5344CB8AC3E}">
        <p14:creationId xmlns:p14="http://schemas.microsoft.com/office/powerpoint/2010/main" val="2100465604"/>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800" b="1" dirty="0">
                <a:latin typeface="Times New Roman" pitchFamily="18" charset="0"/>
                <a:ea typeface="华文中宋" pitchFamily="2" charset="-122"/>
              </a:rPr>
              <a:t>习    题</a:t>
            </a:r>
          </a:p>
        </p:txBody>
      </p:sp>
      <p:sp>
        <p:nvSpPr>
          <p:cNvPr id="4" name="Rectangle 2">
            <a:extLst>
              <a:ext uri="{FF2B5EF4-FFF2-40B4-BE49-F238E27FC236}">
                <a16:creationId xmlns:a16="http://schemas.microsoft.com/office/drawing/2014/main" id="{47F6D60D-CCCE-BD2B-59A9-50E7E443B65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a:extLst>
              <a:ext uri="{FF2B5EF4-FFF2-40B4-BE49-F238E27FC236}">
                <a16:creationId xmlns:a16="http://schemas.microsoft.com/office/drawing/2014/main" id="{E3ED215E-8E5A-6D97-F1BD-A3D3245CFE7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6">
            <a:extLst>
              <a:ext uri="{FF2B5EF4-FFF2-40B4-BE49-F238E27FC236}">
                <a16:creationId xmlns:a16="http://schemas.microsoft.com/office/drawing/2014/main" id="{434C1007-6F73-8CD7-A998-A804DD6386E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9" name="Rectangle 12">
            <a:extLst>
              <a:ext uri="{FF2B5EF4-FFF2-40B4-BE49-F238E27FC236}">
                <a16:creationId xmlns:a16="http://schemas.microsoft.com/office/drawing/2014/main" id="{7803F50F-66FA-3C3E-A727-FBAD1C75F96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1" name="Rectangle 14">
            <a:extLst>
              <a:ext uri="{FF2B5EF4-FFF2-40B4-BE49-F238E27FC236}">
                <a16:creationId xmlns:a16="http://schemas.microsoft.com/office/drawing/2014/main" id="{37DABA74-EC27-F8E3-1DF7-55117CD91C4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2">
            <a:extLst>
              <a:ext uri="{FF2B5EF4-FFF2-40B4-BE49-F238E27FC236}">
                <a16:creationId xmlns:a16="http://schemas.microsoft.com/office/drawing/2014/main" id="{294AEAD9-7A75-873B-24F8-D0E93311AE4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内容占位符 2">
            <a:extLst>
              <a:ext uri="{FF2B5EF4-FFF2-40B4-BE49-F238E27FC236}">
                <a16:creationId xmlns:a16="http://schemas.microsoft.com/office/drawing/2014/main" id="{260CB8D4-3764-3BD1-2D4E-2AE87A88ACA2}"/>
              </a:ext>
            </a:extLst>
          </p:cNvPr>
          <p:cNvSpPr>
            <a:spLocks noChangeArrowheads="1"/>
          </p:cNvSpPr>
          <p:nvPr/>
        </p:nvSpPr>
        <p:spPr bwMode="auto">
          <a:xfrm>
            <a:off x="685119" y="1140157"/>
            <a:ext cx="10821762" cy="2050084"/>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10000"/>
              </a:spcBef>
              <a:spcAft>
                <a:spcPct val="10000"/>
              </a:spcAft>
              <a:buClrTx/>
              <a:buSzTx/>
              <a:defRPr/>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10.1</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理解四足机器人的硬件系统框图和各部分之间的关系。</a:t>
            </a:r>
          </a:p>
          <a:p>
            <a:pPr marL="0" marR="0" lvl="0" indent="0" algn="l" defTabSz="914400" rtl="0" eaLnBrk="1" fontAlgn="base" latinLnBrk="0" hangingPunct="1">
              <a:lnSpc>
                <a:spcPct val="120000"/>
              </a:lnSpc>
              <a:spcBef>
                <a:spcPct val="10000"/>
              </a:spcBef>
              <a:spcAft>
                <a:spcPct val="10000"/>
              </a:spcAft>
              <a:buClrTx/>
              <a:buSzTx/>
              <a:defRPr/>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10.2</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简要叙述</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FOC</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控制原理。</a:t>
            </a:r>
          </a:p>
          <a:p>
            <a:pPr marL="0" marR="0" lvl="0" indent="0" algn="l" defTabSz="914400" rtl="0" eaLnBrk="1" fontAlgn="base" latinLnBrk="0" hangingPunct="1">
              <a:lnSpc>
                <a:spcPct val="120000"/>
              </a:lnSpc>
              <a:spcBef>
                <a:spcPct val="10000"/>
              </a:spcBef>
              <a:spcAft>
                <a:spcPct val="10000"/>
              </a:spcAft>
              <a:buClrTx/>
              <a:buSzTx/>
              <a:defRPr/>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10.3</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简要叙述电源管理板各部分的功能。</a:t>
            </a:r>
          </a:p>
        </p:txBody>
      </p:sp>
    </p:spTree>
    <p:extLst>
      <p:ext uri="{BB962C8B-B14F-4D97-AF65-F5344CB8AC3E}">
        <p14:creationId xmlns:p14="http://schemas.microsoft.com/office/powerpoint/2010/main" val="3296142974"/>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A3YTM3NGM4NjQ1MjY4MmM1MzFiMWQ3MWE3NTU2ODA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2296</TotalTime>
  <Words>6651</Words>
  <Application>Microsoft Office PowerPoint</Application>
  <PresentationFormat>宽屏</PresentationFormat>
  <Paragraphs>303</Paragraphs>
  <Slides>51</Slides>
  <Notes>1</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51</vt:i4>
      </vt:variant>
    </vt:vector>
  </HeadingPairs>
  <TitlesOfParts>
    <vt:vector size="62" baseType="lpstr">
      <vt:lpstr>等线</vt:lpstr>
      <vt:lpstr>等线 Light</vt:lpstr>
      <vt:lpstr>微软雅黑</vt:lpstr>
      <vt:lpstr>Arial</vt:lpstr>
      <vt:lpstr>Calibri</vt:lpstr>
      <vt:lpstr>Consolas</vt:lpstr>
      <vt:lpstr>Symbol</vt:lpstr>
      <vt:lpstr>Times New Roman</vt:lpstr>
      <vt:lpstr>Wingdings</vt:lpstr>
      <vt:lpstr>Office 主题​​</vt:lpstr>
      <vt:lpstr>MathType 7.0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libin ribben</dc:creator>
  <cp:lastModifiedBy>19 19</cp:lastModifiedBy>
  <cp:revision>1400</cp:revision>
  <dcterms:created xsi:type="dcterms:W3CDTF">2019-06-19T02:08:00Z</dcterms:created>
  <dcterms:modified xsi:type="dcterms:W3CDTF">2023-05-30T11:05:57Z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2052-11.1.0.11636</vt:lpwstr>
  </property>
  <property fmtid="{D5CDD505-2E9C-101B-9397-08002B2CF9AE}" pid="3" name="ICV">
    <vt:lpwstr>82CFBE4CAFC14D248354FA9E7AB4A679</vt:lpwstr>
  </property>
</Properties>
</file>