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62"/>
  </p:notesMasterIdLst>
  <p:sldIdLst>
    <p:sldId id="410" r:id="rId2"/>
    <p:sldId id="557" r:id="rId3"/>
    <p:sldId id="704" r:id="rId4"/>
    <p:sldId id="599" r:id="rId5"/>
    <p:sldId id="705" r:id="rId6"/>
    <p:sldId id="706" r:id="rId7"/>
    <p:sldId id="707" r:id="rId8"/>
    <p:sldId id="708" r:id="rId9"/>
    <p:sldId id="709" r:id="rId10"/>
    <p:sldId id="710" r:id="rId11"/>
    <p:sldId id="712" r:id="rId12"/>
    <p:sldId id="713" r:id="rId13"/>
    <p:sldId id="714" r:id="rId14"/>
    <p:sldId id="715" r:id="rId15"/>
    <p:sldId id="716" r:id="rId16"/>
    <p:sldId id="717" r:id="rId17"/>
    <p:sldId id="718" r:id="rId18"/>
    <p:sldId id="711" r:id="rId19"/>
    <p:sldId id="719" r:id="rId20"/>
    <p:sldId id="720" r:id="rId21"/>
    <p:sldId id="721" r:id="rId22"/>
    <p:sldId id="722" r:id="rId23"/>
    <p:sldId id="723" r:id="rId24"/>
    <p:sldId id="724" r:id="rId25"/>
    <p:sldId id="725" r:id="rId26"/>
    <p:sldId id="726" r:id="rId27"/>
    <p:sldId id="727" r:id="rId28"/>
    <p:sldId id="728" r:id="rId29"/>
    <p:sldId id="729" r:id="rId30"/>
    <p:sldId id="730" r:id="rId31"/>
    <p:sldId id="731" r:id="rId32"/>
    <p:sldId id="732" r:id="rId33"/>
    <p:sldId id="733" r:id="rId34"/>
    <p:sldId id="734" r:id="rId35"/>
    <p:sldId id="735" r:id="rId36"/>
    <p:sldId id="736" r:id="rId37"/>
    <p:sldId id="737" r:id="rId38"/>
    <p:sldId id="738" r:id="rId39"/>
    <p:sldId id="739" r:id="rId40"/>
    <p:sldId id="740" r:id="rId41"/>
    <p:sldId id="741" r:id="rId42"/>
    <p:sldId id="742" r:id="rId43"/>
    <p:sldId id="743" r:id="rId44"/>
    <p:sldId id="744" r:id="rId45"/>
    <p:sldId id="745" r:id="rId46"/>
    <p:sldId id="746" r:id="rId47"/>
    <p:sldId id="747" r:id="rId48"/>
    <p:sldId id="748" r:id="rId49"/>
    <p:sldId id="749" r:id="rId50"/>
    <p:sldId id="750" r:id="rId51"/>
    <p:sldId id="751" r:id="rId52"/>
    <p:sldId id="752" r:id="rId53"/>
    <p:sldId id="753" r:id="rId54"/>
    <p:sldId id="754" r:id="rId55"/>
    <p:sldId id="755" r:id="rId56"/>
    <p:sldId id="756" r:id="rId57"/>
    <p:sldId id="757" r:id="rId58"/>
    <p:sldId id="758" r:id="rId59"/>
    <p:sldId id="759" r:id="rId60"/>
    <p:sldId id="703" r:id="rId61"/>
  </p:sldIdLst>
  <p:sldSz cx="12192000" cy="6858000"/>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0">
          <p15:clr>
            <a:srgbClr val="A4A3A4"/>
          </p15:clr>
        </p15:guide>
        <p15:guide id="2" pos="36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8" autoAdjust="0"/>
    <p:restoredTop sz="93742" autoAdjust="0"/>
  </p:normalViewPr>
  <p:slideViewPr>
    <p:cSldViewPr snapToGrid="0" showGuides="1">
      <p:cViewPr varScale="1">
        <p:scale>
          <a:sx n="81" d="100"/>
          <a:sy n="81" d="100"/>
        </p:scale>
        <p:origin x="749" y="53"/>
      </p:cViewPr>
      <p:guideLst>
        <p:guide orient="horz" pos="2120"/>
        <p:guide pos="3667"/>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a:latin typeface="+mn-lt"/>
                <a:ea typeface="+mn-ea"/>
              </a:defRPr>
            </a:lvl1pPr>
          </a:lstStyle>
          <a:p>
            <a:pPr marL="0" marR="0" lvl="0" indent="0" algn="r" defTabSz="914400" rtl="0" eaLnBrk="1" fontAlgn="auto" latinLnBrk="0" hangingPunct="1">
              <a:lnSpc>
                <a:spcPct val="100000"/>
              </a:lnSpc>
              <a:spcBef>
                <a:spcPct val="0"/>
              </a:spcBef>
              <a:spcAft>
                <a:spcPct val="0"/>
              </a:spcAft>
              <a:buClrTx/>
              <a:buSzTx/>
              <a:buFontTx/>
              <a:buNone/>
              <a:defRPr/>
            </a:pPr>
            <a:fld id="{DD6CFA72-79F1-4675-A2F1-112645FE0012}" type="datetimeFigureOut">
              <a:rPr kumimoji="0" lang="zh-CN" altLang="en-US" sz="1200" b="0" i="0" u="none" strike="noStrike" kern="1200" cap="none" spc="0" normalizeH="0" baseline="0" noProof="1">
                <a:ln>
                  <a:noFill/>
                </a:ln>
                <a:solidFill>
                  <a:schemeClr val="tx1"/>
                </a:solidFill>
                <a:effectLst/>
                <a:uLnTx/>
                <a:uFillTx/>
                <a:latin typeface="+mn-lt"/>
                <a:ea typeface="+mn-ea"/>
                <a:cs typeface="+mn-cs"/>
              </a:rPr>
              <a:t>2023/5/29</a:t>
            </a:fld>
            <a:endParaRPr kumimoji="0" lang="zh-CN" altLang="en-US" sz="1200" b="0" i="0" u="none" strike="noStrike" kern="1200" cap="none" spc="0" normalizeH="0" baseline="0" noProof="1">
              <a:ln>
                <a:noFill/>
              </a:ln>
              <a:solidFill>
                <a:schemeClr val="tx1"/>
              </a:solidFill>
              <a:effectLst/>
              <a:uLnTx/>
              <a:uFillTx/>
              <a:latin typeface="+mn-lt"/>
              <a:ea typeface="+mn-ea"/>
              <a:cs typeface="+mn-cs"/>
            </a:endParaRPr>
          </a:p>
        </p:txBody>
      </p:sp>
      <p:sp>
        <p:nvSpPr>
          <p:cNvPr id="1229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85554108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34116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CAA1B-04BB-01A4-5132-0BDD854CDD5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232CBA4-C165-2021-606B-42BFF3F85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DE23921-7945-56A7-ABBE-EDFBFCE704A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8FBBD9E2-622C-8680-00B1-0B80B5876951}"/>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7F1DF61E-5B6A-7E5B-8267-3121D6221A94}"/>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1286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12466-3429-36FD-035E-5868865DC2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A633A1-6A05-E72F-6846-47522666070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84CC20-962E-B35E-8F5D-13B9EDDBEC9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D45EBF56-CB95-E782-9B54-5680489C383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EC612C2F-0CAE-E833-CD0E-676D32D65DC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29828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4251FF-DAD4-41BF-6A09-B0C695C35A6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84F99BA-32F6-0D77-B827-A85089EEF6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9A6275-6689-5FD7-9689-EF4D433F3CB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7DE7BE2-BCB4-38C7-AB69-9632A05DC14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FD1198C0-207F-6F39-0343-0114189224F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3358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4A4765-C019-5415-5DFB-336F7FC5198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FDA83E5-2317-5C83-38B2-702DB0CAFB4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3C922D5-E5AC-451B-4FE3-DB286C6FA8D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12A17DA-98CC-624E-7C9D-733D33878CC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466B618C-79A1-6725-6D60-467C56888D3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9BBCAD81-D104-F005-B124-9AA20F94945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59779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538E9-A940-4696-6527-D2231124C61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BCE477-2934-8288-4AAA-AFB0A8D637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769962B-4026-7570-B1D1-0053E303C9E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6F0F388-4D5E-08F8-391E-182E79C96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49C8B37-014A-B5DD-F532-55B0F37AE42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7B07723-3B3E-B5AC-AF38-C742468531B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a:extLst>
              <a:ext uri="{FF2B5EF4-FFF2-40B4-BE49-F238E27FC236}">
                <a16:creationId xmlns:a16="http://schemas.microsoft.com/office/drawing/2014/main" id="{8F6AF78B-4B58-E232-9485-F655E57884C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a:extLst>
              <a:ext uri="{FF2B5EF4-FFF2-40B4-BE49-F238E27FC236}">
                <a16:creationId xmlns:a16="http://schemas.microsoft.com/office/drawing/2014/main" id="{A662AC73-D351-DCFD-1043-08908AFD375B}"/>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1366859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12AF-316A-1F50-596A-60C8C64502A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9818D3A-2047-9163-58B1-3DC76874090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a:extLst>
              <a:ext uri="{FF2B5EF4-FFF2-40B4-BE49-F238E27FC236}">
                <a16:creationId xmlns:a16="http://schemas.microsoft.com/office/drawing/2014/main" id="{05E2B006-C25A-5D69-086E-78E96B3A74B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a:extLst>
              <a:ext uri="{FF2B5EF4-FFF2-40B4-BE49-F238E27FC236}">
                <a16:creationId xmlns:a16="http://schemas.microsoft.com/office/drawing/2014/main" id="{19A3FE94-AA1B-BE7D-F9C7-E91351A2100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85231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460921-086E-9288-4F1C-703814A6EB0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a:extLst>
              <a:ext uri="{FF2B5EF4-FFF2-40B4-BE49-F238E27FC236}">
                <a16:creationId xmlns:a16="http://schemas.microsoft.com/office/drawing/2014/main" id="{00529960-D4BF-F692-7404-A3CAFA7FB75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a:extLst>
              <a:ext uri="{FF2B5EF4-FFF2-40B4-BE49-F238E27FC236}">
                <a16:creationId xmlns:a16="http://schemas.microsoft.com/office/drawing/2014/main" id="{84F6CEBC-7F84-B714-25EC-AB103B14FDD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74544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D0635F-1176-C574-1B07-9F5F29EDBDE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8B056A-BED1-F50D-E457-C54CB2C47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7374783-07B6-8C2B-398E-044D32257F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E11642-BE16-C5AD-3477-7E8BF580C04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F44DAE12-A553-241F-F442-04B65065FD3B}"/>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81BA4377-2B5F-EFD6-AA1E-A823D272BF80}"/>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21735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6EA45-52AA-54CA-A544-B080E49577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065BB-16C0-3BA9-1590-B22230E16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2DA224-07E4-DA5B-1CF6-1F82CB034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927686D-D4CE-482F-A5D0-FA7E9B27F1D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39100DF8-CF53-773E-903E-DC08354C3DE8}"/>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590B1A73-88D8-B80C-696E-B624BDCFEA78}"/>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54305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F43F6-B85F-6154-1E0E-27502E522B8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13F8D2-367B-2F0A-8D6D-13C46FDC0EB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374CBF0-B308-05AD-45B8-3741417A3D6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296ECFC3-2B05-114E-ADD0-247C29ECDE40}"/>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6BAE2C9D-C5A6-28E5-33E5-39FF66A19A1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1074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29718A9-6281-7DD8-AC66-C7F8B5177F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804B563-4C5A-39BF-DFFE-02223063866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08A6C0-EA30-1DEE-FEF7-36F932378B4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B1351F0-E29C-A38E-016D-A97A9546F474}"/>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BBB3CF6C-FD0E-E93B-0F38-C97EA1DFFBD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24431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604A20-DF1C-0DD6-04E1-E22B4B98D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22DEFA4-D0DD-1B9B-6811-7DD45CED8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C525CB-11D0-480D-3910-29A92D097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14532C6E-6C86-8AD6-375C-C792A73BA6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DE4CC257-19C4-DFE6-D55D-2D817E7AA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B0B46A-9FEC-4C73-8E69-8E9BDA52C5B1}" type="slidenum">
              <a:rPr lang="zh-CN" altLang="en-US" smtClean="0"/>
              <a:t>‹#›</a:t>
            </a:fld>
            <a:endParaRPr lang="zh-CN" altLang="en-US"/>
          </a:p>
        </p:txBody>
      </p:sp>
      <p:sp>
        <p:nvSpPr>
          <p:cNvPr id="7" name="Line 7">
            <a:extLst>
              <a:ext uri="{FF2B5EF4-FFF2-40B4-BE49-F238E27FC236}">
                <a16:creationId xmlns:a16="http://schemas.microsoft.com/office/drawing/2014/main" id="{20B3D03A-6F5A-FB74-9EED-10031464D27A}"/>
              </a:ext>
            </a:extLst>
          </p:cNvPr>
          <p:cNvSpPr/>
          <p:nvPr userDrawn="1"/>
        </p:nvSpPr>
        <p:spPr>
          <a:xfrm>
            <a:off x="0" y="684213"/>
            <a:ext cx="12192000" cy="0"/>
          </a:xfrm>
          <a:prstGeom prst="line">
            <a:avLst/>
          </a:prstGeom>
          <a:ln w="114300" cap="flat" cmpd="thickThin">
            <a:solidFill>
              <a:srgbClr val="660033"/>
            </a:solidFill>
            <a:prstDash val="solid"/>
            <a:headEnd type="none" w="med" len="med"/>
            <a:tailEnd type="none" w="med" len="med"/>
          </a:ln>
        </p:spPr>
      </p:sp>
    </p:spTree>
    <p:extLst>
      <p:ext uri="{BB962C8B-B14F-4D97-AF65-F5344CB8AC3E}">
        <p14:creationId xmlns:p14="http://schemas.microsoft.com/office/powerpoint/2010/main" val="279907681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副标题 5"/>
          <p:cNvSpPr/>
          <p:nvPr/>
        </p:nvSpPr>
        <p:spPr>
          <a:xfrm>
            <a:off x="1524000" y="1444625"/>
            <a:ext cx="9498330" cy="1844040"/>
          </a:xfrm>
          <a:prstGeom prst="rect">
            <a:avLst/>
          </a:prstGeom>
          <a:noFill/>
          <a:ln w="9525">
            <a:noFill/>
          </a:ln>
        </p:spPr>
        <p:txBody>
          <a:bodyPr/>
          <a:lstStyle/>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机器人运动学</a:t>
            </a:r>
          </a:p>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第</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十二</a:t>
            </a:r>
            <a:r>
              <a:rPr sz="3600" b="1" dirty="0">
                <a:latin typeface="微软雅黑" panose="020B0503020204020204" pitchFamily="34" charset="-122"/>
                <a:ea typeface="微软雅黑" panose="020B0503020204020204" pitchFamily="34" charset="-122"/>
                <a:cs typeface="微软雅黑" panose="020B0503020204020204" pitchFamily="34" charset="-122"/>
              </a:rPr>
              <a:t>章</a:t>
            </a:r>
            <a:r>
              <a:rPr lang="en-US" sz="36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四足机器人运动控制程序框架介绍</a:t>
            </a:r>
            <a:endParaRPr sz="3600" b="1" dirty="0">
              <a:latin typeface="微软雅黑" panose="020B0503020204020204" pitchFamily="34" charset="-122"/>
              <a:ea typeface="微软雅黑" panose="020B0503020204020204" pitchFamily="34" charset="-122"/>
              <a:cs typeface="微软雅黑" panose="020B0503020204020204" pitchFamily="34" charset="-122"/>
            </a:endParaRPr>
          </a:p>
          <a:p>
            <a:pPr algn="ctr">
              <a:spcBef>
                <a:spcPct val="20000"/>
              </a:spcBef>
            </a:pP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51" name="Rectangle 30"/>
          <p:cNvSpPr/>
          <p:nvPr/>
        </p:nvSpPr>
        <p:spPr>
          <a:xfrm>
            <a:off x="3790950" y="3287713"/>
            <a:ext cx="4816475" cy="2609850"/>
          </a:xfrm>
          <a:prstGeom prst="rect">
            <a:avLst/>
          </a:prstGeom>
          <a:noFill/>
          <a:ln w="9525">
            <a:noFill/>
          </a:ln>
        </p:spPr>
        <p:txBody>
          <a:bodyPr/>
          <a:lstStyle/>
          <a:p>
            <a:pPr algn="ctr">
              <a:lnSpc>
                <a:spcPct val="200000"/>
              </a:lnSpc>
            </a:pPr>
            <a:r>
              <a:rPr lang="zh-CN" altLang="en-US" sz="2400" b="1" dirty="0">
                <a:latin typeface="Times New Roman" panose="02020603050405020304" pitchFamily="18" charset="0"/>
                <a:ea typeface="微软雅黑" panose="020B0503020204020204" pitchFamily="34" charset="-122"/>
              </a:rPr>
              <a:t>李彬</a:t>
            </a:r>
          </a:p>
          <a:p>
            <a:pPr algn="ctr">
              <a:lnSpc>
                <a:spcPct val="200000"/>
              </a:lnSpc>
            </a:pPr>
            <a:r>
              <a:rPr lang="zh-CN" altLang="en-US" sz="2400" b="1" dirty="0">
                <a:latin typeface="Times New Roman" panose="02020603050405020304" pitchFamily="18" charset="0"/>
                <a:ea typeface="微软雅黑" panose="020B0503020204020204" pitchFamily="34" charset="-122"/>
              </a:rPr>
              <a:t>智能人机交互创新团队</a:t>
            </a:r>
            <a:endParaRPr lang="en-US" altLang="zh-CN" sz="2400" b="1" dirty="0">
              <a:latin typeface="Times New Roman" panose="02020603050405020304" pitchFamily="18" charset="0"/>
              <a:ea typeface="微软雅黑" panose="020B0503020204020204" pitchFamily="34" charset="-122"/>
            </a:endParaRP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本章内容介绍</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044477" y="1549400"/>
            <a:ext cx="10352529" cy="3436038"/>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基于第</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章四足机器人的运动控制方法，本章实现机器人运动控制的程序模块。</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本章主要包括以下内容：</a:t>
            </a:r>
            <a:endPar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12.1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机器人建模程序</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lang="en-US" sz="2400" b="1" dirty="0">
                <a:latin typeface="微软雅黑" panose="020B0503020204020204" pitchFamily="34" charset="-122"/>
                <a:ea typeface="微软雅黑" panose="020B0503020204020204" pitchFamily="34" charset="-122"/>
                <a:cs typeface="微软雅黑" panose="020B0503020204020204" pitchFamily="34" charset="-122"/>
              </a:rPr>
              <a:t>12.2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机器人信息数据输入</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kumimoji="0" 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12.3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机器人运动轨迹规划</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lang="en-US" sz="2400" b="1" dirty="0">
                <a:latin typeface="微软雅黑" panose="020B0503020204020204" pitchFamily="34" charset="-122"/>
                <a:ea typeface="微软雅黑" panose="020B0503020204020204" pitchFamily="34" charset="-122"/>
                <a:cs typeface="微软雅黑" panose="020B0503020204020204" pitchFamily="34" charset="-122"/>
              </a:rPr>
              <a:t>12.4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机器人控制器设计</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kumimoji="0" 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12.5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状态估计器</a:t>
            </a:r>
            <a:endParaRPr kumimoji="0"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9719"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12.1 </a:t>
            </a:r>
            <a:r>
              <a:rPr lang="zh-CN" altLang="en-US" sz="2800" b="1" dirty="0">
                <a:latin typeface="Times New Roman" pitchFamily="18" charset="0"/>
                <a:ea typeface="华文中宋" pitchFamily="2" charset="-122"/>
              </a:rPr>
              <a:t>机器人建模程序</a:t>
            </a:r>
            <a:r>
              <a:rPr lang="en-US" altLang="zh-CN" sz="2800" b="1" dirty="0">
                <a:latin typeface="Times New Roman" pitchFamily="18" charset="0"/>
                <a:ea typeface="华文中宋" pitchFamily="2" charset="-122"/>
              </a:rPr>
              <a:t> </a:t>
            </a:r>
            <a:endParaRPr lang="zh-CN" altLang="en-US" sz="2800" b="1" dirty="0">
              <a:latin typeface="Times New Roman" pitchFamily="18" charset="0"/>
              <a:ea typeface="华文中宋" pitchFamily="2" charset="-122"/>
            </a:endParaRP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167026" y="1238316"/>
            <a:ext cx="10352529" cy="2325016"/>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本节包含以下几部分内容：</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12.1.1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机器人模型参数设置</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12.1</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 质心动力学模型</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12.1.3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浮动基座动力学模型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150298841"/>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12.1.1 </a:t>
            </a:r>
            <a:r>
              <a:rPr lang="zh-CN" altLang="en-US" sz="2800" b="1" dirty="0">
                <a:latin typeface="Times New Roman" pitchFamily="18" charset="0"/>
                <a:ea typeface="华文中宋" pitchFamily="2" charset="-122"/>
              </a:rPr>
              <a:t>机器人模型参数设置</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a:extLst>
              <a:ext uri="{FF2B5EF4-FFF2-40B4-BE49-F238E27FC236}">
                <a16:creationId xmlns:a16="http://schemas.microsoft.com/office/drawing/2014/main" id="{17B2D1CB-71A6-A05B-E2EB-EC3DC5C818BE}"/>
              </a:ext>
            </a:extLst>
          </p:cNvPr>
          <p:cNvSpPr txBox="1"/>
          <p:nvPr/>
        </p:nvSpPr>
        <p:spPr>
          <a:xfrm>
            <a:off x="1168920" y="1937672"/>
            <a:ext cx="10270833" cy="3139321"/>
          </a:xfrm>
          <a:prstGeom prst="rect">
            <a:avLst/>
          </a:prstGeom>
          <a:noFill/>
        </p:spPr>
        <p:txBody>
          <a:bodyPr wrap="square">
            <a:spAutoFit/>
          </a:bodyPr>
          <a:lstStyle/>
          <a:p>
            <a:r>
              <a:rPr lang="en-US" altLang="zh-CN" b="0" dirty="0">
                <a:solidFill>
                  <a:srgbClr val="267F99"/>
                </a:solidFill>
                <a:effectLst/>
                <a:latin typeface="Consolas" panose="020B0609020204030204" pitchFamily="49" charset="0"/>
              </a:rPr>
              <a:t>Quadruped</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 </a:t>
            </a:r>
            <a:r>
              <a:rPr lang="en-US" altLang="zh-CN" b="0" dirty="0" err="1">
                <a:solidFill>
                  <a:srgbClr val="795E26"/>
                </a:solidFill>
                <a:effectLst/>
                <a:latin typeface="Consolas" panose="020B0609020204030204" pitchFamily="49" charset="0"/>
              </a:rPr>
              <a:t>buildMiniCheetah</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Quadruped&lt;T&gt; cheetah;</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robotType</a:t>
            </a:r>
            <a:r>
              <a:rPr lang="en-US" altLang="zh-CN" b="0" dirty="0">
                <a:solidFill>
                  <a:srgbClr val="000000"/>
                </a:solidFill>
                <a:effectLst/>
                <a:latin typeface="Consolas" panose="020B0609020204030204" pitchFamily="49" charset="0"/>
              </a:rPr>
              <a:t> = </a:t>
            </a:r>
            <a:r>
              <a:rPr lang="en-US" altLang="zh-CN" b="0" dirty="0" err="1">
                <a:solidFill>
                  <a:srgbClr val="267F99"/>
                </a:solidFill>
                <a:effectLst/>
                <a:latin typeface="Consolas" panose="020B0609020204030204" pitchFamily="49" charset="0"/>
              </a:rPr>
              <a:t>RobotType</a:t>
            </a:r>
            <a:r>
              <a:rPr lang="en-US" altLang="zh-CN" b="0" dirty="0">
                <a:solidFill>
                  <a:srgbClr val="000000"/>
                </a:solidFill>
                <a:effectLst/>
                <a:latin typeface="Consolas" panose="020B0609020204030204" pitchFamily="49" charset="0"/>
              </a:rPr>
              <a:t>::MINI_CHEETAH;</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bodyMass</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3.3</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bodyLength</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0.19</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bodyWidth</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0.049</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bodyHeight</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0.05</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abadGearRatio</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hipGearRatio</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kneeGearRatio</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9.33</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abadLinkLength</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0.062</a:t>
            </a:r>
            <a:r>
              <a:rPr lang="en-US" altLang="zh-CN" b="0" dirty="0">
                <a:solidFill>
                  <a:srgbClr val="000000"/>
                </a:solidFill>
                <a:effectLst/>
                <a:latin typeface="Consolas" panose="020B0609020204030204" pitchFamily="49" charset="0"/>
              </a:rPr>
              <a:t>;}</a:t>
            </a: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752246" y="1183095"/>
            <a:ext cx="10352529" cy="826154"/>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机器人躯干的长、宽、高和质量参数设置，如下所示：</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83278654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12.1.1 </a:t>
            </a:r>
            <a:r>
              <a:rPr lang="zh-CN" altLang="en-US" sz="2800" b="1" dirty="0">
                <a:latin typeface="Times New Roman" pitchFamily="18" charset="0"/>
                <a:ea typeface="华文中宋" pitchFamily="2" charset="-122"/>
              </a:rPr>
              <a:t>机器人模型参数设置</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752246" y="825088"/>
            <a:ext cx="10352529" cy="551627"/>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设置惯量参数，指定关节的转动惯量：</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04FE5B5D-CAD7-6525-DE10-410D203A783D}"/>
              </a:ext>
            </a:extLst>
          </p:cNvPr>
          <p:cNvSpPr txBox="1"/>
          <p:nvPr/>
        </p:nvSpPr>
        <p:spPr>
          <a:xfrm>
            <a:off x="1550988" y="1734722"/>
            <a:ext cx="9023349" cy="1477328"/>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Mat3&lt;T&gt; </a:t>
            </a:r>
            <a:r>
              <a:rPr lang="en-US" altLang="zh-CN" b="0" dirty="0" err="1">
                <a:solidFill>
                  <a:srgbClr val="000000"/>
                </a:solidFill>
                <a:effectLst/>
                <a:latin typeface="Consolas" panose="020B0609020204030204" pitchFamily="49" charset="0"/>
              </a:rPr>
              <a:t>abadRotationalInertia</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abadRotationalInertia</a:t>
            </a:r>
            <a:r>
              <a:rPr lang="en-US" altLang="zh-CN" b="0" dirty="0">
                <a:solidFill>
                  <a:srgbClr val="000000"/>
                </a:solidFill>
                <a:effectLst/>
                <a:latin typeface="Consolas" panose="020B0609020204030204" pitchFamily="49" charset="0"/>
              </a:rPr>
              <a:t> &lt;&lt; </a:t>
            </a:r>
            <a:r>
              <a:rPr lang="en-US" altLang="zh-CN" b="0" dirty="0">
                <a:solidFill>
                  <a:srgbClr val="098658"/>
                </a:solidFill>
                <a:effectLst/>
                <a:latin typeface="Consolas" panose="020B0609020204030204" pitchFamily="49" charset="0"/>
              </a:rPr>
              <a:t>381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0.45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560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0.95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0.45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0.95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444</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abadRotationalInertia</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abadRotationalInertia</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1e-6</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Vec3&lt;T&gt; </a:t>
            </a:r>
            <a:r>
              <a:rPr lang="en-US" altLang="zh-CN" b="0" dirty="0" err="1">
                <a:solidFill>
                  <a:srgbClr val="795E26"/>
                </a:solidFill>
                <a:effectLst/>
                <a:latin typeface="Consolas" panose="020B0609020204030204" pitchFamily="49" charset="0"/>
              </a:rPr>
              <a:t>abadCOM</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0.036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SpatialInertia</a:t>
            </a:r>
            <a:r>
              <a:rPr lang="en-US" altLang="zh-CN" b="0" dirty="0">
                <a:solidFill>
                  <a:srgbClr val="000000"/>
                </a:solidFill>
                <a:effectLst/>
                <a:latin typeface="Consolas" panose="020B0609020204030204" pitchFamily="49" charset="0"/>
              </a:rPr>
              <a:t>&lt;T&gt; </a:t>
            </a:r>
            <a:r>
              <a:rPr lang="en-US" altLang="zh-CN" b="0" dirty="0" err="1">
                <a:solidFill>
                  <a:srgbClr val="795E26"/>
                </a:solidFill>
                <a:effectLst/>
                <a:latin typeface="Consolas" panose="020B0609020204030204" pitchFamily="49" charset="0"/>
              </a:rPr>
              <a:t>abadInertia</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0.54</a:t>
            </a:r>
            <a:r>
              <a:rPr lang="en-US" altLang="zh-CN" b="0" dirty="0">
                <a:solidFill>
                  <a:srgbClr val="000000"/>
                </a:solidFill>
                <a:effectLst/>
                <a:latin typeface="Consolas" panose="020B0609020204030204" pitchFamily="49" charset="0"/>
              </a:rPr>
              <a:t>,abadCOM,abadRotationalInertia);</a:t>
            </a:r>
          </a:p>
        </p:txBody>
      </p:sp>
      <p:sp>
        <p:nvSpPr>
          <p:cNvPr id="7" name="文本框 6">
            <a:extLst>
              <a:ext uri="{FF2B5EF4-FFF2-40B4-BE49-F238E27FC236}">
                <a16:creationId xmlns:a16="http://schemas.microsoft.com/office/drawing/2014/main" id="{FF1D5609-EFFA-1B1A-E408-9CC6672101E9}"/>
              </a:ext>
            </a:extLst>
          </p:cNvPr>
          <p:cNvSpPr txBox="1"/>
          <p:nvPr/>
        </p:nvSpPr>
        <p:spPr>
          <a:xfrm>
            <a:off x="1550988" y="4103043"/>
            <a:ext cx="10262646" cy="2031325"/>
          </a:xfrm>
          <a:prstGeom prst="rect">
            <a:avLst/>
          </a:prstGeom>
          <a:noFill/>
        </p:spPr>
        <p:txBody>
          <a:bodyPr wrap="square">
            <a:spAutoFit/>
          </a:bodyPr>
          <a:lstStyle/>
          <a:p>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abadRotorLocation</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Vec3</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0.125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0.049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abadLocation</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Vec3</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_bodyLength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_bodyWidth</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0.5</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hipLocation</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Vec3</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_abadLinkLength</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hipRotorLocation</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Vec3</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0.04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kneeLocation</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Vec3</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_hipLinkLength</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kneeRotorLocation</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Vec3</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p:txBody>
      </p:sp>
      <p:sp>
        <p:nvSpPr>
          <p:cNvPr id="8" name="内容占位符 2">
            <a:extLst>
              <a:ext uri="{FF2B5EF4-FFF2-40B4-BE49-F238E27FC236}">
                <a16:creationId xmlns:a16="http://schemas.microsoft.com/office/drawing/2014/main" id="{61AF3D13-6ABE-D164-E22E-A500D21B189E}"/>
              </a:ext>
            </a:extLst>
          </p:cNvPr>
          <p:cNvSpPr>
            <a:spLocks noChangeArrowheads="1"/>
          </p:cNvSpPr>
          <p:nvPr/>
        </p:nvSpPr>
        <p:spPr bwMode="auto">
          <a:xfrm>
            <a:off x="752245" y="3332417"/>
            <a:ext cx="10352529" cy="551627"/>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设置关节位置参数，指定关节位置和对应的电机转子位置：</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012251522"/>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12.1.1 </a:t>
            </a:r>
            <a:r>
              <a:rPr lang="zh-CN" altLang="en-US" sz="2800" b="1" dirty="0">
                <a:latin typeface="Times New Roman" pitchFamily="18" charset="0"/>
                <a:ea typeface="华文中宋" pitchFamily="2" charset="-122"/>
              </a:rPr>
              <a:t>机器人模型参数设置</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752246" y="825088"/>
            <a:ext cx="10352529" cy="1097980"/>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设置关节传动比偏置和关节零位，数组的元素顺序对应右前腿、左前腿、右后腿、左后腿数据 ：</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B1E5219C-8E37-B7E9-98C6-F495706B9BDC}"/>
              </a:ext>
            </a:extLst>
          </p:cNvPr>
          <p:cNvSpPr txBox="1"/>
          <p:nvPr/>
        </p:nvSpPr>
        <p:spPr>
          <a:xfrm>
            <a:off x="752246" y="2077793"/>
            <a:ext cx="10578771" cy="2031325"/>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const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abad_side_sign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const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hip_side_sign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const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knee_side_sign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.6429f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.6429f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.6429f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.6429f</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const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abad_offset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0.f</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const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hip_offset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{M_PI / </a:t>
            </a:r>
            <a:r>
              <a:rPr lang="en-US" altLang="zh-CN" b="0" dirty="0">
                <a:solidFill>
                  <a:srgbClr val="098658"/>
                </a:solidFill>
                <a:effectLst/>
                <a:latin typeface="Consolas" panose="020B0609020204030204" pitchFamily="49" charset="0"/>
              </a:rPr>
              <a:t>2.f</a:t>
            </a:r>
            <a:r>
              <a:rPr lang="en-US" altLang="zh-CN" b="0" dirty="0">
                <a:solidFill>
                  <a:srgbClr val="000000"/>
                </a:solidFill>
                <a:effectLst/>
                <a:latin typeface="Consolas" panose="020B0609020204030204" pitchFamily="49" charset="0"/>
              </a:rPr>
              <a:t>,-M_PI / </a:t>
            </a:r>
            <a:r>
              <a:rPr lang="en-US" altLang="zh-CN" b="0" dirty="0">
                <a:solidFill>
                  <a:srgbClr val="098658"/>
                </a:solidFill>
                <a:effectLst/>
                <a:latin typeface="Consolas" panose="020B0609020204030204" pitchFamily="49" charset="0"/>
              </a:rPr>
              <a:t>2.f</a:t>
            </a:r>
            <a:r>
              <a:rPr lang="en-US" altLang="zh-CN" b="0" dirty="0">
                <a:solidFill>
                  <a:srgbClr val="000000"/>
                </a:solidFill>
                <a:effectLst/>
                <a:latin typeface="Consolas" panose="020B0609020204030204" pitchFamily="49" charset="0"/>
              </a:rPr>
              <a:t>,-M_PI / </a:t>
            </a:r>
            <a:r>
              <a:rPr lang="en-US" altLang="zh-CN" b="0" dirty="0">
                <a:solidFill>
                  <a:srgbClr val="098658"/>
                </a:solidFill>
                <a:effectLst/>
                <a:latin typeface="Consolas" panose="020B0609020204030204" pitchFamily="49" charset="0"/>
              </a:rPr>
              <a:t>2.f</a:t>
            </a:r>
            <a:r>
              <a:rPr lang="en-US" altLang="zh-CN" b="0" dirty="0">
                <a:solidFill>
                  <a:srgbClr val="000000"/>
                </a:solidFill>
                <a:effectLst/>
                <a:latin typeface="Consolas" panose="020B0609020204030204" pitchFamily="49" charset="0"/>
              </a:rPr>
              <a:t>,M_PI / </a:t>
            </a:r>
            <a:r>
              <a:rPr lang="en-US" altLang="zh-CN" b="0" dirty="0">
                <a:solidFill>
                  <a:srgbClr val="098658"/>
                </a:solidFill>
                <a:effectLst/>
                <a:latin typeface="Consolas" panose="020B0609020204030204" pitchFamily="49" charset="0"/>
              </a:rPr>
              <a:t>2.f</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const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knee_offset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{K_KNEE_OFFSET_POS,-K_KNEE_OFFSET_POS,</a:t>
            </a:r>
          </a:p>
          <a:p>
            <a:r>
              <a:rPr lang="en-US" altLang="zh-CN" b="0" dirty="0">
                <a:solidFill>
                  <a:srgbClr val="000000"/>
                </a:solidFill>
                <a:effectLst/>
                <a:latin typeface="Consolas" panose="020B0609020204030204" pitchFamily="49" charset="0"/>
              </a:rPr>
              <a:t>                              -K_KNEE_OFFSET_POS,K_KNEE_OFFSET_POS};</a:t>
            </a:r>
          </a:p>
        </p:txBody>
      </p:sp>
    </p:spTree>
    <p:extLst>
      <p:ext uri="{BB962C8B-B14F-4D97-AF65-F5344CB8AC3E}">
        <p14:creationId xmlns:p14="http://schemas.microsoft.com/office/powerpoint/2010/main" val="2346620053"/>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12.1.2 </a:t>
            </a:r>
            <a:r>
              <a:rPr lang="zh-CN" altLang="en-US" sz="2800" b="1" dirty="0">
                <a:latin typeface="Times New Roman" pitchFamily="18" charset="0"/>
                <a:ea typeface="华文中宋" pitchFamily="2" charset="-122"/>
              </a:rPr>
              <a:t>质心动力学模型</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752246" y="825088"/>
            <a:ext cx="10352529" cy="1097980"/>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质心动力学用于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控制器建模。在构建连续空间状态方程中，基于质心处动力学模型可得到状态矩阵</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B</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1509253B-F9C4-B66E-1F35-19FC465BF65D}"/>
              </a:ext>
            </a:extLst>
          </p:cNvPr>
          <p:cNvSpPr txBox="1"/>
          <p:nvPr/>
        </p:nvSpPr>
        <p:spPr>
          <a:xfrm>
            <a:off x="1308424" y="1826015"/>
            <a:ext cx="10352529" cy="4524315"/>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ct_ss_mats</a:t>
            </a:r>
            <a:r>
              <a:rPr lang="en-US" altLang="zh-CN" b="0" dirty="0">
                <a:solidFill>
                  <a:srgbClr val="000000"/>
                </a:solidFill>
                <a:effectLst/>
                <a:latin typeface="Consolas" panose="020B0609020204030204" pitchFamily="49" charset="0"/>
              </a:rPr>
              <a:t>(Matrix&lt;fpt,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 </a:t>
            </a:r>
            <a:r>
              <a:rPr lang="en-US" altLang="zh-CN" b="0" dirty="0" err="1">
                <a:solidFill>
                  <a:srgbClr val="000000"/>
                </a:solidFill>
                <a:effectLst/>
                <a:latin typeface="Consolas" panose="020B0609020204030204" pitchFamily="49" charset="0"/>
              </a:rPr>
              <a:t>I_world</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fpt</a:t>
            </a:r>
            <a:r>
              <a:rPr lang="en-US" altLang="zh-CN" b="0" dirty="0">
                <a:solidFill>
                  <a:srgbClr val="000000"/>
                </a:solidFill>
                <a:effectLst/>
                <a:latin typeface="Consolas" panose="020B0609020204030204" pitchFamily="49" charset="0"/>
              </a:rPr>
              <a:t> m, Matrix&lt;fpt,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&gt; </a:t>
            </a:r>
            <a:r>
              <a:rPr lang="en-US" altLang="zh-CN" b="0" dirty="0" err="1">
                <a:solidFill>
                  <a:srgbClr val="000000"/>
                </a:solidFill>
                <a:effectLst/>
                <a:latin typeface="Consolas" panose="020B0609020204030204" pitchFamily="49" charset="0"/>
              </a:rPr>
              <a:t>r_feet</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Matrix&lt;fpt,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 </a:t>
            </a:r>
            <a:r>
              <a:rPr lang="en-US" altLang="zh-CN" b="0" dirty="0" err="1">
                <a:solidFill>
                  <a:srgbClr val="000000"/>
                </a:solidFill>
                <a:effectLst/>
                <a:latin typeface="Consolas" panose="020B0609020204030204" pitchFamily="49" charset="0"/>
              </a:rPr>
              <a:t>R_yaw</a:t>
            </a:r>
            <a:r>
              <a:rPr lang="en-US" altLang="zh-CN" b="0" dirty="0">
                <a:solidFill>
                  <a:srgbClr val="000000"/>
                </a:solidFill>
                <a:effectLst/>
                <a:latin typeface="Consolas" panose="020B0609020204030204" pitchFamily="49" charset="0"/>
              </a:rPr>
              <a:t>, Matrix&lt;fpt,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&gt;&amp; A, Matrix&lt;fpt,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&gt;&amp; B)</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R_yaw</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transpose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Matrix&lt;fpt,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 </a:t>
            </a:r>
            <a:r>
              <a:rPr lang="en-US" altLang="zh-CN" b="0" dirty="0" err="1">
                <a:solidFill>
                  <a:srgbClr val="000000"/>
                </a:solidFill>
                <a:effectLst/>
                <a:latin typeface="Consolas" panose="020B0609020204030204" pitchFamily="49" charset="0"/>
              </a:rPr>
              <a:t>I_inv</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I_world</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inverse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(s16 b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b &lt;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b++){</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cross_mat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I_inv,</a:t>
            </a:r>
            <a:r>
              <a:rPr lang="en-US" altLang="zh-CN" b="0" dirty="0" err="1">
                <a:solidFill>
                  <a:srgbClr val="001080"/>
                </a:solidFill>
                <a:effectLst/>
                <a:latin typeface="Consolas" panose="020B0609020204030204" pitchFamily="49" charset="0"/>
              </a:rPr>
              <a:t>r_feet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col</a:t>
            </a:r>
            <a:r>
              <a:rPr lang="en-US" altLang="zh-CN" b="0" dirty="0">
                <a:solidFill>
                  <a:srgbClr val="000000"/>
                </a:solidFill>
                <a:effectLst/>
                <a:latin typeface="Consolas" panose="020B0609020204030204" pitchFamily="49" charset="0"/>
              </a:rPr>
              <a:t>(b));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a:t>
            </a: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fpt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 / m;</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681819207"/>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12.1.3 </a:t>
            </a:r>
            <a:r>
              <a:rPr lang="zh-CN" altLang="en-US" sz="2800" b="1" dirty="0">
                <a:latin typeface="Times New Roman" pitchFamily="18" charset="0"/>
                <a:ea typeface="华文中宋" pitchFamily="2" charset="-122"/>
              </a:rPr>
              <a:t>浮动基座动力学模型</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752246" y="825087"/>
            <a:ext cx="10352529" cy="4849817"/>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机器人的动力学模型可分为固定基动力学模型和浮动基动力学模型。与浮动基相比，固定基机器人的基座速度和角速度均是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，基座没有任何运动。而浮动基机器人的基座是受到机器人本体运动的影响，二者动力学建模的具体形式是有差别的，产生差别的原因主要是两者的运动不同。</a:t>
            </a:r>
          </a:p>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本书四足机器人的运动控制采用浮动基动力学模型，主要用在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WBC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控制器和仿真中。根据建立的浮动基动力学可计算四足机器人的惯性矩阵</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，科氏力和离心力矩阵</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，重力矩阵</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，从而基于设计的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WBC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控制器，实现机器人的稳定抗扰运动。该浮基座动力学依据</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Roy Featherstone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《Rigid Body Dynamic Algorithms》</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建立，具体建模方法参见：</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FloatingBaseDynamic.cpp</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文件。</a:t>
            </a:r>
          </a:p>
          <a:p>
            <a:pPr marL="0" marR="0" lvl="0" indent="45720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84143137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12.2.1</a:t>
            </a:r>
            <a:r>
              <a:rPr lang="zh-CN" altLang="en-US" sz="2800" b="1" dirty="0">
                <a:latin typeface="Times New Roman" pitchFamily="18" charset="0"/>
                <a:ea typeface="华文中宋" pitchFamily="2" charset="-122"/>
              </a:rPr>
              <a:t>遥控器指令的输入</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a:extLst>
              <a:ext uri="{FF2B5EF4-FFF2-40B4-BE49-F238E27FC236}">
                <a16:creationId xmlns:a16="http://schemas.microsoft.com/office/drawing/2014/main" id="{ABAD09C7-69AA-F088-95E6-81E98EBC05BB}"/>
              </a:ext>
            </a:extLst>
          </p:cNvPr>
          <p:cNvSpPr txBox="1"/>
          <p:nvPr/>
        </p:nvSpPr>
        <p:spPr>
          <a:xfrm>
            <a:off x="408497" y="853331"/>
            <a:ext cx="11651529" cy="5632311"/>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template</a:t>
            </a:r>
            <a:r>
              <a:rPr lang="en-US" altLang="zh-CN" b="0" dirty="0">
                <a:solidFill>
                  <a:srgbClr val="000000"/>
                </a:solidFill>
                <a:effectLst/>
                <a:latin typeface="Consolas" panose="020B0609020204030204" pitchFamily="49" charset="0"/>
              </a:rPr>
              <a:t> &lt;</a:t>
            </a:r>
            <a:r>
              <a:rPr lang="en-US" altLang="zh-CN" b="0" dirty="0" err="1">
                <a:solidFill>
                  <a:srgbClr val="0000FF"/>
                </a:solidFill>
                <a:effectLst/>
                <a:latin typeface="Consolas" panose="020B0609020204030204" pitchFamily="49" charset="0"/>
              </a:rPr>
              <a:t>typename</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p>
          <a:p>
            <a:r>
              <a:rPr lang="en-US" altLang="zh-CN" b="0" dirty="0">
                <a:solidFill>
                  <a:srgbClr val="0000FF"/>
                </a:solidFill>
                <a:effectLst/>
                <a:latin typeface="Consolas" panose="020B0609020204030204" pitchFamily="49" charset="0"/>
              </a:rPr>
              <a:t>bool</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Quadruped</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buildModel</a:t>
            </a:r>
            <a:r>
              <a:rPr lang="en-US" altLang="zh-CN" b="0" dirty="0">
                <a:solidFill>
                  <a:srgbClr val="000000"/>
                </a:solidFill>
                <a:effectLst/>
                <a:latin typeface="Consolas" panose="020B0609020204030204" pitchFamily="49" charset="0"/>
              </a:rPr>
              <a:t>(</a:t>
            </a:r>
            <a:r>
              <a:rPr lang="en-US" altLang="zh-CN" b="0" dirty="0" err="1">
                <a:solidFill>
                  <a:srgbClr val="267F99"/>
                </a:solidFill>
                <a:effectLst/>
                <a:latin typeface="Consolas" panose="020B0609020204030204" pitchFamily="49" charset="0"/>
              </a:rPr>
              <a:t>FloatingBaseModel</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00FF"/>
                </a:solidFill>
                <a:effectLst/>
                <a:latin typeface="Consolas" panose="020B0609020204030204" pitchFamily="49" charset="0"/>
              </a:rPr>
              <a:t>&amp;</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model</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Vec3&lt;T&gt; </a:t>
            </a:r>
            <a:r>
              <a:rPr lang="en-US" altLang="zh-CN" b="0" dirty="0" err="1">
                <a:solidFill>
                  <a:srgbClr val="795E26"/>
                </a:solidFill>
                <a:effectLst/>
                <a:latin typeface="Consolas" panose="020B0609020204030204" pitchFamily="49" charset="0"/>
              </a:rPr>
              <a:t>bodyDims</a:t>
            </a:r>
            <a:r>
              <a:rPr lang="en-US" altLang="zh-CN" b="0" dirty="0">
                <a:solidFill>
                  <a:srgbClr val="000000"/>
                </a:solidFill>
                <a:effectLst/>
                <a:latin typeface="Consolas" panose="020B0609020204030204" pitchFamily="49" charset="0"/>
              </a:rPr>
              <a:t>(_</a:t>
            </a:r>
            <a:r>
              <a:rPr lang="en-US" altLang="zh-CN" b="0" dirty="0" err="1">
                <a:solidFill>
                  <a:srgbClr val="000000"/>
                </a:solidFill>
                <a:effectLst/>
                <a:latin typeface="Consolas" panose="020B0609020204030204" pitchFamily="49" charset="0"/>
              </a:rPr>
              <a:t>bodyLength</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bodyWidth</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bodyHeight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addBase</a:t>
            </a:r>
            <a:r>
              <a:rPr lang="en-US" altLang="zh-CN" b="0" dirty="0">
                <a:solidFill>
                  <a:srgbClr val="000000"/>
                </a:solidFill>
                <a:effectLst/>
                <a:latin typeface="Consolas" panose="020B0609020204030204" pitchFamily="49" charset="0"/>
              </a:rPr>
              <a:t>(_</a:t>
            </a:r>
            <a:r>
              <a:rPr lang="en-US" altLang="zh-CN" b="0" dirty="0" err="1">
                <a:solidFill>
                  <a:srgbClr val="000000"/>
                </a:solidFill>
                <a:effectLst/>
                <a:latin typeface="Consolas" panose="020B0609020204030204" pitchFamily="49" charset="0"/>
              </a:rPr>
              <a:t>bodyInertia</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addGroundContactBoxPoints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bodyDims</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legID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legID</a:t>
            </a:r>
            <a:r>
              <a:rPr lang="en-US" altLang="zh-CN" b="0" dirty="0">
                <a:solidFill>
                  <a:srgbClr val="000000"/>
                </a:solidFill>
                <a:effectLst/>
                <a:latin typeface="Consolas" panose="020B0609020204030204" pitchFamily="49" charset="0"/>
              </a:rPr>
              <a:t> &lt;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legID</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bodyID</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Mat6&lt;T&gt; </a:t>
            </a:r>
            <a:r>
              <a:rPr lang="en-US" altLang="zh-CN" b="0" dirty="0" err="1">
                <a:solidFill>
                  <a:srgbClr val="000000"/>
                </a:solidFill>
                <a:effectLst/>
                <a:latin typeface="Consolas" panose="020B0609020204030204" pitchFamily="49" charset="0"/>
              </a:rPr>
              <a:t>xtreeAbad</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createSXform</a:t>
            </a:r>
            <a:r>
              <a:rPr lang="en-US" altLang="zh-CN" b="0" dirty="0">
                <a:solidFill>
                  <a:srgbClr val="000000"/>
                </a:solidFill>
                <a:effectLst/>
                <a:latin typeface="Consolas" panose="020B0609020204030204" pitchFamily="49" charset="0"/>
              </a:rPr>
              <a:t>(I3, </a:t>
            </a:r>
            <a:r>
              <a:rPr lang="en-US" altLang="zh-CN" b="0" dirty="0" err="1">
                <a:solidFill>
                  <a:srgbClr val="795E26"/>
                </a:solidFill>
                <a:effectLst/>
                <a:latin typeface="Consolas" panose="020B0609020204030204" pitchFamily="49" charset="0"/>
              </a:rPr>
              <a:t>withLegSigns</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&gt;(_</a:t>
            </a:r>
            <a:r>
              <a:rPr lang="en-US" altLang="zh-CN" b="0" dirty="0" err="1">
                <a:solidFill>
                  <a:srgbClr val="000000"/>
                </a:solidFill>
                <a:effectLst/>
                <a:latin typeface="Consolas" panose="020B0609020204030204" pitchFamily="49" charset="0"/>
              </a:rPr>
              <a:t>abadLocation</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legID</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Mat6&lt;T&gt; </a:t>
            </a:r>
            <a:r>
              <a:rPr lang="en-US" altLang="zh-CN" b="0" dirty="0" err="1">
                <a:solidFill>
                  <a:srgbClr val="000000"/>
                </a:solidFill>
                <a:effectLst/>
                <a:latin typeface="Consolas" panose="020B0609020204030204" pitchFamily="49" charset="0"/>
              </a:rPr>
              <a:t>xtreeAbadRotor</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createSXform</a:t>
            </a:r>
            <a:r>
              <a:rPr lang="en-US" altLang="zh-CN" b="0" dirty="0">
                <a:solidFill>
                  <a:srgbClr val="000000"/>
                </a:solidFill>
                <a:effectLst/>
                <a:latin typeface="Consolas" panose="020B0609020204030204" pitchFamily="49" charset="0"/>
              </a:rPr>
              <a:t>(I3, </a:t>
            </a:r>
            <a:r>
              <a:rPr lang="en-US" altLang="zh-CN" b="0" dirty="0" err="1">
                <a:solidFill>
                  <a:srgbClr val="795E26"/>
                </a:solidFill>
                <a:effectLst/>
                <a:latin typeface="Consolas" panose="020B0609020204030204" pitchFamily="49" charset="0"/>
              </a:rPr>
              <a:t>withLegSigns</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&gt;(_</a:t>
            </a:r>
            <a:r>
              <a:rPr lang="en-US" altLang="zh-CN" b="0" dirty="0" err="1">
                <a:solidFill>
                  <a:srgbClr val="000000"/>
                </a:solidFill>
                <a:effectLst/>
                <a:latin typeface="Consolas" panose="020B0609020204030204" pitchFamily="49" charset="0"/>
              </a:rPr>
              <a:t>abadRotorLocation</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legID</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sideSign</a:t>
            </a:r>
            <a:r>
              <a:rPr lang="en-US" altLang="zh-CN" b="0" dirty="0">
                <a:solidFill>
                  <a:srgbClr val="000000"/>
                </a:solidFill>
                <a:effectLst/>
                <a:latin typeface="Consolas" panose="020B0609020204030204" pitchFamily="49" charset="0"/>
              </a:rPr>
              <a:t> &lt;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addBody</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abadInertia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flipAlongAxis</a:t>
            </a:r>
            <a:r>
              <a:rPr lang="en-US" altLang="zh-CN" b="0" dirty="0">
                <a:solidFill>
                  <a:srgbClr val="000000"/>
                </a:solidFill>
                <a:effectLst/>
                <a:latin typeface="Consolas" panose="020B0609020204030204" pitchFamily="49" charset="0"/>
              </a:rPr>
              <a:t>(</a:t>
            </a:r>
            <a:r>
              <a:rPr lang="en-US" altLang="zh-CN" b="0" dirty="0" err="1">
                <a:solidFill>
                  <a:srgbClr val="267F99"/>
                </a:solidFill>
                <a:effectLst/>
                <a:latin typeface="Consolas" panose="020B0609020204030204" pitchFamily="49" charset="0"/>
              </a:rPr>
              <a:t>CoordinateAxis</a:t>
            </a:r>
            <a:r>
              <a:rPr lang="en-US" altLang="zh-CN" b="0" dirty="0">
                <a:solidFill>
                  <a:srgbClr val="000000"/>
                </a:solidFill>
                <a:effectLst/>
                <a:latin typeface="Consolas" panose="020B0609020204030204" pitchFamily="49" charset="0"/>
              </a:rPr>
              <a:t>::Y),</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abadRotorInertia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flipAlongAxis</a:t>
            </a:r>
            <a:r>
              <a:rPr lang="en-US" altLang="zh-CN" b="0" dirty="0">
                <a:solidFill>
                  <a:srgbClr val="000000"/>
                </a:solidFill>
                <a:effectLst/>
                <a:latin typeface="Consolas" panose="020B0609020204030204" pitchFamily="49" charset="0"/>
              </a:rPr>
              <a:t>(</a:t>
            </a:r>
            <a:r>
              <a:rPr lang="en-US" altLang="zh-CN" b="0" dirty="0" err="1">
                <a:solidFill>
                  <a:srgbClr val="267F99"/>
                </a:solidFill>
                <a:effectLst/>
                <a:latin typeface="Consolas" panose="020B0609020204030204" pitchFamily="49" charset="0"/>
              </a:rPr>
              <a:t>CoordinateAxis</a:t>
            </a:r>
            <a:r>
              <a:rPr lang="en-US" altLang="zh-CN" b="0" dirty="0">
                <a:solidFill>
                  <a:srgbClr val="000000"/>
                </a:solidFill>
                <a:effectLst/>
                <a:latin typeface="Consolas" panose="020B0609020204030204" pitchFamily="49" charset="0"/>
              </a:rPr>
              <a:t>::Y),</a:t>
            </a:r>
          </a:p>
          <a:p>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abadGearRatio</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baseID</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JointType</a:t>
            </a:r>
            <a:r>
              <a:rPr lang="en-US" altLang="zh-CN" b="0" dirty="0">
                <a:solidFill>
                  <a:srgbClr val="000000"/>
                </a:solidFill>
                <a:effectLst/>
                <a:latin typeface="Consolas" panose="020B0609020204030204" pitchFamily="49" charset="0"/>
              </a:rPr>
              <a:t>::Revolute,</a:t>
            </a:r>
          </a:p>
          <a:p>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CoordinateAxis</a:t>
            </a:r>
            <a:r>
              <a:rPr lang="en-US" altLang="zh-CN" b="0" dirty="0">
                <a:solidFill>
                  <a:srgbClr val="000000"/>
                </a:solidFill>
                <a:effectLst/>
                <a:latin typeface="Consolas" panose="020B0609020204030204" pitchFamily="49" charset="0"/>
              </a:rPr>
              <a:t>::X, </a:t>
            </a:r>
            <a:r>
              <a:rPr lang="en-US" altLang="zh-CN" b="0" dirty="0" err="1">
                <a:solidFill>
                  <a:srgbClr val="000000"/>
                </a:solidFill>
                <a:effectLst/>
                <a:latin typeface="Consolas" panose="020B0609020204030204" pitchFamily="49" charset="0"/>
              </a:rPr>
              <a:t>xtreeAbad</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xtreeAbadRotor</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 </a:t>
            </a:r>
            <a:r>
              <a:rPr lang="en-US" altLang="zh-CN" b="0" dirty="0">
                <a:solidFill>
                  <a:srgbClr val="AF00DB"/>
                </a:solidFill>
                <a:effectLst/>
                <a:latin typeface="Consolas" panose="020B0609020204030204" pitchFamily="49" charset="0"/>
              </a:rPr>
              <a:t>else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addBody</a:t>
            </a:r>
            <a:r>
              <a:rPr lang="en-US" altLang="zh-CN" b="0" dirty="0">
                <a:solidFill>
                  <a:srgbClr val="000000"/>
                </a:solidFill>
                <a:effectLst/>
                <a:latin typeface="Consolas" panose="020B0609020204030204" pitchFamily="49" charset="0"/>
              </a:rPr>
              <a:t>(_</a:t>
            </a:r>
            <a:r>
              <a:rPr lang="en-US" altLang="zh-CN" b="0" dirty="0" err="1">
                <a:solidFill>
                  <a:srgbClr val="000000"/>
                </a:solidFill>
                <a:effectLst/>
                <a:latin typeface="Consolas" panose="020B0609020204030204" pitchFamily="49" charset="0"/>
              </a:rPr>
              <a:t>abadInertia</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abadRotorInertia</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abadGearRatio</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baseID</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JointType</a:t>
            </a:r>
            <a:r>
              <a:rPr lang="en-US" altLang="zh-CN" b="0" dirty="0">
                <a:solidFill>
                  <a:srgbClr val="000000"/>
                </a:solidFill>
                <a:effectLst/>
                <a:latin typeface="Consolas" panose="020B0609020204030204" pitchFamily="49" charset="0"/>
              </a:rPr>
              <a:t>::Revolute, </a:t>
            </a:r>
            <a:r>
              <a:rPr lang="en-US" altLang="zh-CN" b="0" dirty="0" err="1">
                <a:solidFill>
                  <a:srgbClr val="267F99"/>
                </a:solidFill>
                <a:effectLst/>
                <a:latin typeface="Consolas" panose="020B0609020204030204" pitchFamily="49" charset="0"/>
              </a:rPr>
              <a:t>CoordinateAxis</a:t>
            </a:r>
            <a:r>
              <a:rPr lang="en-US" altLang="zh-CN" b="0" dirty="0">
                <a:solidFill>
                  <a:srgbClr val="000000"/>
                </a:solidFill>
                <a:effectLst/>
                <a:latin typeface="Consolas" panose="020B0609020204030204" pitchFamily="49" charset="0"/>
              </a:rPr>
              <a:t>::X, </a:t>
            </a:r>
            <a:r>
              <a:rPr lang="en-US" altLang="zh-CN" b="0" dirty="0" err="1">
                <a:solidFill>
                  <a:srgbClr val="000000"/>
                </a:solidFill>
                <a:effectLst/>
                <a:latin typeface="Consolas" panose="020B0609020204030204" pitchFamily="49" charset="0"/>
              </a:rPr>
              <a:t>xtreeAbad</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xtreeAbadRotor</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870790973"/>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9719"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12.2 </a:t>
            </a:r>
            <a:r>
              <a:rPr lang="zh-CN" altLang="en-US" sz="2800" b="1" dirty="0">
                <a:latin typeface="Times New Roman" pitchFamily="18" charset="0"/>
                <a:ea typeface="华文中宋" pitchFamily="2" charset="-122"/>
              </a:rPr>
              <a:t>机器人信息数据输入</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167026" y="1238316"/>
            <a:ext cx="10352529" cy="2325016"/>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本节包含以下几部分内容：</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12.2.1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遥控器指令的输入</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12.2</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 本体感受信息输入</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183639826"/>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12.2.1 </a:t>
            </a:r>
            <a:r>
              <a:rPr lang="zh-CN" altLang="en-US" sz="2800" b="1" dirty="0">
                <a:latin typeface="Times New Roman" pitchFamily="18" charset="0"/>
                <a:ea typeface="华文中宋" pitchFamily="2" charset="-122"/>
              </a:rPr>
              <a:t>遥控器指令的输入</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752246" y="825087"/>
            <a:ext cx="10352529" cy="1361931"/>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机器人运动指令可以通过遥控器输入，指令包括前进后退速度、左右横移速度、转向角速度、俯仰角偏移等，这些指令结合状态估计器的数据可生成机器人的运动轨迹。</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a:extLst>
              <a:ext uri="{FF2B5EF4-FFF2-40B4-BE49-F238E27FC236}">
                <a16:creationId xmlns:a16="http://schemas.microsoft.com/office/drawing/2014/main" id="{20FC6534-54D6-087B-CD31-0B2153AA0066}"/>
              </a:ext>
            </a:extLst>
          </p:cNvPr>
          <p:cNvSpPr txBox="1"/>
          <p:nvPr/>
        </p:nvSpPr>
        <p:spPr>
          <a:xfrm>
            <a:off x="1077343" y="2449061"/>
            <a:ext cx="9806232" cy="3416320"/>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GameController</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updateGamepadCommand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GamepadCommand</a:t>
            </a:r>
            <a:r>
              <a:rPr lang="en-US" altLang="zh-CN" b="0" dirty="0">
                <a:solidFill>
                  <a:srgbClr val="000000"/>
                </a:solidFill>
                <a:effectLst/>
                <a:latin typeface="Consolas" panose="020B0609020204030204" pitchFamily="49" charset="0"/>
              </a:rPr>
              <a:t> &amp;</a:t>
            </a:r>
            <a:r>
              <a:rPr lang="en-US" altLang="zh-CN" b="0" dirty="0" err="1">
                <a:solidFill>
                  <a:srgbClr val="000000"/>
                </a:solidFill>
                <a:effectLst/>
                <a:latin typeface="Consolas" panose="020B0609020204030204" pitchFamily="49" charset="0"/>
              </a:rPr>
              <a:t>gamepadCommand</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leftBumper</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buttonL1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rightBumper</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buttonR1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leftTriggerButton</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buttonL2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rightTriggerButton</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buttonR2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back</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buttonSelect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start</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buttonStart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buttonA</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buttonB</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x</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buttonX</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y</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buttonY</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8398051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12.2.1 </a:t>
            </a:r>
            <a:r>
              <a:rPr lang="zh-CN" altLang="en-US" sz="2800" b="1" dirty="0">
                <a:latin typeface="Times New Roman" pitchFamily="18" charset="0"/>
                <a:ea typeface="华文中宋" pitchFamily="2" charset="-122"/>
              </a:rPr>
              <a:t>遥控器指令的输入</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5FAAA829-2B68-5DD3-1B6D-FA98C40C402C}"/>
              </a:ext>
            </a:extLst>
          </p:cNvPr>
          <p:cNvSpPr txBox="1"/>
          <p:nvPr/>
        </p:nvSpPr>
        <p:spPr>
          <a:xfrm>
            <a:off x="784692" y="1545552"/>
            <a:ext cx="9756742" cy="3416320"/>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leftStickButton</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buttonL3</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rightStickButton</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buttonR3</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leftTriggerAnalog</a:t>
            </a:r>
            <a:r>
              <a:rPr lang="en-US" altLang="zh-CN" b="0" dirty="0">
                <a:solidFill>
                  <a:srgbClr val="000000"/>
                </a:solidFill>
                <a:effectLst/>
                <a:latin typeface="Consolas" panose="020B0609020204030204" pitchFamily="49" charset="0"/>
              </a:rPr>
              <a:t> =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buttonL2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rightTriggerAnalog</a:t>
            </a:r>
            <a:r>
              <a:rPr lang="en-US" altLang="zh-CN" b="0" dirty="0">
                <a:solidFill>
                  <a:srgbClr val="000000"/>
                </a:solidFill>
                <a:effectLst/>
                <a:latin typeface="Consolas" panose="020B0609020204030204" pitchFamily="49" charset="0"/>
              </a:rPr>
              <a:t> =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buttonR2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leftStickAnalog</a:t>
            </a:r>
            <a:r>
              <a:rPr lang="en-US" altLang="zh-CN" b="0" dirty="0">
                <a:solidFill>
                  <a:srgbClr val="000000"/>
                </a:solidFill>
                <a:effectLst/>
                <a:latin typeface="Consolas" panose="020B0609020204030204" pitchFamily="49" charset="0"/>
              </a:rPr>
              <a:t> =</a:t>
            </a:r>
          </a:p>
          <a:p>
            <a:r>
              <a:rPr lang="en-US" altLang="zh-CN" dirty="0">
                <a:solidFill>
                  <a:srgbClr val="000000"/>
                </a:solidFill>
                <a:latin typeface="Consolas" panose="020B0609020204030204" pitchFamily="49" charset="0"/>
              </a:rPr>
              <a:t>	</a:t>
            </a:r>
            <a:r>
              <a:rPr lang="en-US" altLang="zh-CN" b="0" dirty="0">
                <a:solidFill>
                  <a:srgbClr val="795E26"/>
                </a:solidFill>
                <a:effectLst/>
                <a:latin typeface="Consolas" panose="020B0609020204030204" pitchFamily="49" charset="0"/>
              </a:rPr>
              <a:t>Vec2</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axisLeftX</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axisLeftY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rightStickAnalog</a:t>
            </a:r>
            <a:r>
              <a:rPr lang="en-US" altLang="zh-CN" b="0" dirty="0">
                <a:solidFill>
                  <a:srgbClr val="000000"/>
                </a:solidFill>
                <a:effectLst/>
                <a:latin typeface="Consolas" panose="020B0609020204030204" pitchFamily="49" charset="0"/>
              </a:rPr>
              <a:t> =</a:t>
            </a:r>
          </a:p>
          <a:p>
            <a:r>
              <a:rPr lang="en-US" altLang="zh-CN" dirty="0">
                <a:solidFill>
                  <a:srgbClr val="000000"/>
                </a:solidFill>
                <a:latin typeface="Consolas" panose="020B0609020204030204" pitchFamily="49" charset="0"/>
              </a:rPr>
              <a:t>	</a:t>
            </a:r>
            <a:r>
              <a:rPr lang="en-US" altLang="zh-CN" b="0" dirty="0">
                <a:solidFill>
                  <a:srgbClr val="795E26"/>
                </a:solidFill>
                <a:effectLst/>
                <a:latin typeface="Consolas" panose="020B0609020204030204" pitchFamily="49" charset="0"/>
              </a:rPr>
              <a:t>Vec2</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axisRightX</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qGamepad</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axisRightY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 </a:t>
            </a:r>
            <a:r>
              <a:rPr lang="en-US" altLang="zh-CN" b="0" dirty="0">
                <a:solidFill>
                  <a:srgbClr val="AF00DB"/>
                </a:solidFill>
                <a:effectLst/>
                <a:latin typeface="Consolas" panose="020B0609020204030204" pitchFamily="49" charset="0"/>
              </a:rPr>
              <a:t>else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gamepadCommand</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zero</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 </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29106907"/>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12.2.1 </a:t>
            </a:r>
            <a:r>
              <a:rPr lang="zh-CN" altLang="en-US" sz="2800" b="1" dirty="0">
                <a:latin typeface="Times New Roman" pitchFamily="18" charset="0"/>
                <a:ea typeface="华文中宋" pitchFamily="2" charset="-122"/>
              </a:rPr>
              <a:t>遥控器指令的输入</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5D2B143C-6A7A-770C-5A10-634A2C14F998}"/>
              </a:ext>
            </a:extLst>
          </p:cNvPr>
          <p:cNvSpPr txBox="1"/>
          <p:nvPr/>
        </p:nvSpPr>
        <p:spPr>
          <a:xfrm>
            <a:off x="810706" y="1183095"/>
            <a:ext cx="11057641" cy="4524315"/>
          </a:xfrm>
          <a:prstGeom prst="rect">
            <a:avLst/>
          </a:prstGeom>
          <a:noFill/>
        </p:spPr>
        <p:txBody>
          <a:bodyPr wrap="square">
            <a:spAutoFit/>
          </a:bodyPr>
          <a:lstStyle/>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deadband</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gamepadCommand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leftStickAnalog</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minVelX</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maxVelX</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deadband</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gamepadCommand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leftStickAnalog</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minVelY</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maxVelY</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0.0</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stateEstimate</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position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dt * </a:t>
            </a:r>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stateEstimate</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position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dt * </a:t>
            </a:r>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0.45</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0.0</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0.0</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deadband</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gamepadCommand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rightStickAnalog</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minTurnRate,maxTurnRate</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0.0</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deadband</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gamepadCommand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rightStickAnalog</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minPitch</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maxPitch</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stateEstimate</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rpy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dt * </a:t>
            </a:r>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44640926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12.2.2 </a:t>
            </a:r>
            <a:r>
              <a:rPr lang="zh-CN" altLang="en-US" sz="2800" b="1" dirty="0">
                <a:latin typeface="Times New Roman" pitchFamily="18" charset="0"/>
                <a:ea typeface="华文中宋" pitchFamily="2" charset="-122"/>
              </a:rPr>
              <a:t>本体感受信息输入</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752246" y="825087"/>
            <a:ext cx="10352529" cy="1361931"/>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机器人运动控制本体感受信息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包括姿态传感器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IMU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的数据，电机驱动的关节位置、速度信息数据</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的输入由以下程序完成，其中</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IMU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的数据通过串行通信读取。</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a:extLst>
              <a:ext uri="{FF2B5EF4-FFF2-40B4-BE49-F238E27FC236}">
                <a16:creationId xmlns:a16="http://schemas.microsoft.com/office/drawing/2014/main" id="{971D6271-B63E-344D-76B9-E12315A298A5}"/>
              </a:ext>
            </a:extLst>
          </p:cNvPr>
          <p:cNvSpPr txBox="1"/>
          <p:nvPr/>
        </p:nvSpPr>
        <p:spPr>
          <a:xfrm>
            <a:off x="567875" y="2187018"/>
            <a:ext cx="11038787" cy="4247317"/>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vectornav_handler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userData</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VnUartPacket</a:t>
            </a:r>
            <a:r>
              <a:rPr lang="en-US" altLang="zh-CN" b="0" dirty="0">
                <a:solidFill>
                  <a:srgbClr val="0000FF"/>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packet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running_index</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userData</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running_index</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vec4f quat;  vec3f omega;  vec3f a;</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VnUartPacket_type</a:t>
            </a:r>
            <a:r>
              <a:rPr lang="en-US" altLang="zh-CN" b="0" dirty="0">
                <a:solidFill>
                  <a:srgbClr val="000000"/>
                </a:solidFill>
                <a:effectLst/>
                <a:latin typeface="Consolas" panose="020B0609020204030204" pitchFamily="49" charset="0"/>
              </a:rPr>
              <a:t>(packet) != PACKETTYPE_BINARY)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vectornav_handler</a:t>
            </a:r>
            <a:r>
              <a:rPr lang="en-US" altLang="zh-CN" b="0" dirty="0">
                <a:solidFill>
                  <a:srgbClr val="A31515"/>
                </a:solidFill>
                <a:effectLst/>
                <a:latin typeface="Consolas" panose="020B0609020204030204" pitchFamily="49" charset="0"/>
              </a:rPr>
              <a:t>] got a packet that wasn't binary.</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VnUartPacket_isCompatible</a:t>
            </a:r>
            <a:r>
              <a:rPr lang="en-US" altLang="zh-CN" b="0" dirty="0">
                <a:solidFill>
                  <a:srgbClr val="000000"/>
                </a:solidFill>
                <a:effectLst/>
                <a:latin typeface="Consolas" panose="020B0609020204030204" pitchFamily="49" charset="0"/>
              </a:rPr>
              <a:t>(packet,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CommonGroup</a:t>
            </a:r>
            <a:r>
              <a:rPr lang="en-US" altLang="zh-CN" b="0" dirty="0">
                <a:solidFill>
                  <a:srgbClr val="000000"/>
                </a:solidFill>
                <a:effectLst/>
                <a:latin typeface="Consolas" panose="020B0609020204030204" pitchFamily="49" charset="0"/>
              </a:rPr>
              <a:t>)(COMMONGROUP_QUATERNION | COMMONGROUP_ANGULARRATE|COMMONGROUP_ACCEL),</a:t>
            </a:r>
          </a:p>
          <a:p>
            <a:r>
              <a:rPr lang="en-US" altLang="zh-CN" b="0" dirty="0">
                <a:solidFill>
                  <a:srgbClr val="000000"/>
                </a:solidFill>
                <a:effectLst/>
                <a:latin typeface="Consolas" panose="020B0609020204030204" pitchFamily="49" charset="0"/>
              </a:rPr>
              <a:t>    TIMEGROUP_NONE,IMUGROUP_NONE, GPSGROUP_NONE,ATTITUDEGROUP_NONE,</a:t>
            </a:r>
          </a:p>
          <a:p>
            <a:r>
              <a:rPr lang="en-US" altLang="zh-CN" b="0" dirty="0">
                <a:solidFill>
                  <a:srgbClr val="000000"/>
                </a:solidFill>
                <a:effectLst/>
                <a:latin typeface="Consolas" panose="020B0609020204030204" pitchFamily="49" charset="0"/>
              </a:rPr>
              <a:t>    INSGROUP_NONE, GPSGROUP_NONE))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vectornav_handler</a:t>
            </a:r>
            <a:r>
              <a:rPr lang="en-US" altLang="zh-CN" b="0" dirty="0">
                <a:solidFill>
                  <a:srgbClr val="A31515"/>
                </a:solidFill>
                <a:effectLst/>
                <a:latin typeface="Consolas" panose="020B0609020204030204" pitchFamily="49" charset="0"/>
              </a:rPr>
              <a:t>] got a packet with the wrong type of data.</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38736382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12.2.2 </a:t>
            </a:r>
            <a:r>
              <a:rPr lang="zh-CN" altLang="en-US" sz="2800" b="1" dirty="0">
                <a:latin typeface="Times New Roman" pitchFamily="18" charset="0"/>
                <a:ea typeface="华文中宋" pitchFamily="2" charset="-122"/>
              </a:rPr>
              <a:t>本体感受信息输入</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2B822294-58A0-0699-DFA7-3E44459A7446}"/>
              </a:ext>
            </a:extLst>
          </p:cNvPr>
          <p:cNvSpPr txBox="1"/>
          <p:nvPr/>
        </p:nvSpPr>
        <p:spPr>
          <a:xfrm>
            <a:off x="1128770" y="1427588"/>
            <a:ext cx="9916998" cy="4247317"/>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quat = </a:t>
            </a:r>
            <a:r>
              <a:rPr lang="en-US" altLang="zh-CN" b="0" dirty="0">
                <a:solidFill>
                  <a:srgbClr val="795E26"/>
                </a:solidFill>
                <a:effectLst/>
                <a:latin typeface="Consolas" panose="020B0609020204030204" pitchFamily="49" charset="0"/>
              </a:rPr>
              <a:t>VnUartPacket_extractVec4f</a:t>
            </a:r>
            <a:r>
              <a:rPr lang="en-US" altLang="zh-CN" b="0" dirty="0">
                <a:solidFill>
                  <a:srgbClr val="000000"/>
                </a:solidFill>
                <a:effectLst/>
                <a:latin typeface="Consolas" panose="020B0609020204030204" pitchFamily="49" charset="0"/>
              </a:rPr>
              <a:t>(packet);</a:t>
            </a:r>
          </a:p>
          <a:p>
            <a:r>
              <a:rPr lang="en-US" altLang="zh-CN" b="0" dirty="0">
                <a:solidFill>
                  <a:srgbClr val="000000"/>
                </a:solidFill>
                <a:effectLst/>
                <a:latin typeface="Consolas" panose="020B0609020204030204" pitchFamily="49" charset="0"/>
              </a:rPr>
              <a:t>  omega = </a:t>
            </a:r>
            <a:r>
              <a:rPr lang="en-US" altLang="zh-CN" b="0" dirty="0">
                <a:solidFill>
                  <a:srgbClr val="795E26"/>
                </a:solidFill>
                <a:effectLst/>
                <a:latin typeface="Consolas" panose="020B0609020204030204" pitchFamily="49" charset="0"/>
              </a:rPr>
              <a:t>VnUartPacket_extractVec3f</a:t>
            </a:r>
            <a:r>
              <a:rPr lang="en-US" altLang="zh-CN" b="0" dirty="0">
                <a:solidFill>
                  <a:srgbClr val="000000"/>
                </a:solidFill>
                <a:effectLst/>
                <a:latin typeface="Consolas" panose="020B0609020204030204" pitchFamily="49" charset="0"/>
              </a:rPr>
              <a:t>(packet);</a:t>
            </a:r>
          </a:p>
          <a:p>
            <a:r>
              <a:rPr lang="en-US" altLang="zh-CN" b="0" dirty="0">
                <a:solidFill>
                  <a:srgbClr val="000000"/>
                </a:solidFill>
                <a:effectLst/>
                <a:latin typeface="Consolas" panose="020B0609020204030204" pitchFamily="49" charset="0"/>
              </a:rPr>
              <a:t>  a = </a:t>
            </a:r>
            <a:r>
              <a:rPr lang="en-US" altLang="zh-CN" b="0" dirty="0">
                <a:solidFill>
                  <a:srgbClr val="795E26"/>
                </a:solidFill>
                <a:effectLst/>
                <a:latin typeface="Consolas" panose="020B0609020204030204" pitchFamily="49" charset="0"/>
              </a:rPr>
              <a:t>VnUartPacket_extractVec3f</a:t>
            </a:r>
            <a:r>
              <a:rPr lang="en-US" altLang="zh-CN" b="0" dirty="0">
                <a:solidFill>
                  <a:srgbClr val="000000"/>
                </a:solidFill>
                <a:effectLst/>
                <a:latin typeface="Consolas" panose="020B0609020204030204" pitchFamily="49" charset="0"/>
              </a:rPr>
              <a:t>(packet);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vectornav_lcm_data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quat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g_vn_data</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quat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quat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vectornav_lcm_data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w</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omega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vectornav_lcm_data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g_vn_data</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gyro</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omega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g_vn_data</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accelerometer</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vectornav_lcm</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publish</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hw_vectornav</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&amp;</a:t>
            </a:r>
            <a:r>
              <a:rPr lang="en-US" altLang="zh-CN" b="0" dirty="0" err="1">
                <a:solidFill>
                  <a:srgbClr val="000000"/>
                </a:solidFill>
                <a:effectLst/>
                <a:latin typeface="Consolas" panose="020B0609020204030204" pitchFamily="49" charset="0"/>
              </a:rPr>
              <a:t>vectornav_lcm_data</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662628352"/>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12.2.2 </a:t>
            </a:r>
            <a:r>
              <a:rPr lang="zh-CN" altLang="en-US" sz="2800" b="1" dirty="0">
                <a:latin typeface="Times New Roman" pitchFamily="18" charset="0"/>
                <a:ea typeface="华文中宋" pitchFamily="2" charset="-122"/>
              </a:rPr>
              <a:t>本体感受信息输入</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752246" y="825088"/>
            <a:ext cx="10352529" cy="1041972"/>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电机关节数据通过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通信发送到</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信号转接板中，然后通过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通信将数据传递过来。</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361BAD0A-59FF-C0A4-02C3-85AE2A623309}"/>
              </a:ext>
            </a:extLst>
          </p:cNvPr>
          <p:cNvSpPr txBox="1"/>
          <p:nvPr/>
        </p:nvSpPr>
        <p:spPr>
          <a:xfrm>
            <a:off x="752246" y="2136338"/>
            <a:ext cx="11038788" cy="2585323"/>
          </a:xfrm>
          <a:prstGeom prst="rect">
            <a:avLst/>
          </a:prstGeom>
          <a:noFill/>
        </p:spPr>
        <p:txBody>
          <a:bodyPr wrap="square">
            <a:spAutoFit/>
          </a:bodyPr>
          <a:lstStyle/>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spi_board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spi_board</a:t>
            </a:r>
            <a:r>
              <a:rPr lang="en-US" altLang="zh-CN" b="0" dirty="0">
                <a:solidFill>
                  <a:srgbClr val="000000"/>
                </a:solidFill>
                <a:effectLst/>
                <a:latin typeface="Consolas" panose="020B0609020204030204" pitchFamily="49" charset="0"/>
              </a:rPr>
              <a:t> &lt;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spi_board</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spi_to_spine</a:t>
            </a:r>
            <a:r>
              <a:rPr lang="en-US" altLang="zh-CN" b="0" dirty="0">
                <a:solidFill>
                  <a:srgbClr val="000000"/>
                </a:solidFill>
                <a:effectLst/>
                <a:latin typeface="Consolas" panose="020B0609020204030204" pitchFamily="49" charset="0"/>
              </a:rPr>
              <a:t>(command, &amp;</a:t>
            </a:r>
            <a:r>
              <a:rPr lang="en-US" altLang="zh-CN" b="0" dirty="0" err="1">
                <a:solidFill>
                  <a:srgbClr val="000000"/>
                </a:solidFill>
                <a:effectLst/>
                <a:latin typeface="Consolas" panose="020B0609020204030204" pitchFamily="49" charset="0"/>
              </a:rPr>
              <a:t>g_spine_cmd</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spi_board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uint16_t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cmd_d</a:t>
            </a:r>
            <a:r>
              <a:rPr lang="en-US" altLang="zh-CN" b="0" dirty="0">
                <a:solidFill>
                  <a:srgbClr val="000000"/>
                </a:solidFill>
                <a:effectLst/>
                <a:latin typeface="Consolas" panose="020B0609020204030204" pitchFamily="49" charset="0"/>
              </a:rPr>
              <a:t> = (</a:t>
            </a:r>
            <a:r>
              <a:rPr lang="en-US" altLang="zh-CN" b="0" dirty="0">
                <a:solidFill>
                  <a:srgbClr val="0000FF"/>
                </a:solidFill>
                <a:effectLst/>
                <a:latin typeface="Consolas" panose="020B0609020204030204" pitchFamily="49" charset="0"/>
              </a:rPr>
              <a:t>uint16_t</a:t>
            </a:r>
            <a:r>
              <a:rPr lang="en-US" altLang="zh-CN" b="0" dirty="0">
                <a:solidFill>
                  <a:srgbClr val="000000"/>
                </a:solidFill>
                <a:effectLst/>
                <a:latin typeface="Consolas" panose="020B0609020204030204" pitchFamily="49" charset="0"/>
              </a:rPr>
              <a:t> *)&amp;</a:t>
            </a:r>
            <a:r>
              <a:rPr lang="en-US" altLang="zh-CN" b="0" dirty="0" err="1">
                <a:solidFill>
                  <a:srgbClr val="000000"/>
                </a:solidFill>
                <a:effectLst/>
                <a:latin typeface="Consolas" panose="020B0609020204030204" pitchFamily="49" charset="0"/>
              </a:rPr>
              <a:t>g_spine_cmd</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uint16_t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data_d</a:t>
            </a:r>
            <a:r>
              <a:rPr lang="en-US" altLang="zh-CN" b="0" dirty="0">
                <a:solidFill>
                  <a:srgbClr val="000000"/>
                </a:solidFill>
                <a:effectLst/>
                <a:latin typeface="Consolas" panose="020B0609020204030204" pitchFamily="49" charset="0"/>
              </a:rPr>
              <a:t> = (</a:t>
            </a:r>
            <a:r>
              <a:rPr lang="en-US" altLang="zh-CN" b="0" dirty="0">
                <a:solidFill>
                  <a:srgbClr val="0000FF"/>
                </a:solidFill>
                <a:effectLst/>
                <a:latin typeface="Consolas" panose="020B0609020204030204" pitchFamily="49" charset="0"/>
              </a:rPr>
              <a:t>uint16_t</a:t>
            </a:r>
            <a:r>
              <a:rPr lang="en-US" altLang="zh-CN" b="0" dirty="0">
                <a:solidFill>
                  <a:srgbClr val="000000"/>
                </a:solidFill>
                <a:effectLst/>
                <a:latin typeface="Consolas" panose="020B0609020204030204" pitchFamily="49" charset="0"/>
              </a:rPr>
              <a:t> *)&amp;</a:t>
            </a:r>
            <a:r>
              <a:rPr lang="en-US" altLang="zh-CN" b="0" dirty="0" err="1">
                <a:solidFill>
                  <a:srgbClr val="000000"/>
                </a:solidFill>
                <a:effectLst/>
                <a:latin typeface="Consolas" panose="020B0609020204030204" pitchFamily="49" charset="0"/>
              </a:rPr>
              <a:t>g_spine_data</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memset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rx_buf</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K_WORDS_PER_MESSAGE * </a:t>
            </a:r>
            <a:r>
              <a:rPr lang="en-US" altLang="zh-CN" b="0" dirty="0" err="1">
                <a:solidFill>
                  <a:srgbClr val="0000FF"/>
                </a:solidFill>
                <a:effectLst/>
                <a:latin typeface="Consolas" panose="020B0609020204030204" pitchFamily="49" charset="0"/>
              </a:rPr>
              <a:t>sizeof</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uint16_t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K_WORDS_PER_MESSAGE;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tx_buf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cmd_d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&gt;&gt;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cmd_d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&amp; </a:t>
            </a:r>
            <a:r>
              <a:rPr lang="en-US" altLang="zh-CN" b="0" dirty="0">
                <a:solidFill>
                  <a:srgbClr val="098658"/>
                </a:solidFill>
                <a:effectLst/>
                <a:latin typeface="Consolas" panose="020B0609020204030204" pitchFamily="49" charset="0"/>
              </a:rPr>
              <a:t>0xff</a:t>
            </a:r>
            <a:r>
              <a:rPr lang="en-US" altLang="zh-CN" b="0" dirty="0">
                <a:solidFill>
                  <a:srgbClr val="000000"/>
                </a:solidFill>
                <a:effectLst/>
                <a:latin typeface="Consolas" panose="020B0609020204030204" pitchFamily="49" charset="0"/>
              </a:rPr>
              <a:t>) &lt;&lt;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word_len</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struct</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spi_ioc_transfer</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spi_message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945433015"/>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12.2.2 </a:t>
            </a:r>
            <a:r>
              <a:rPr lang="zh-CN" altLang="en-US" sz="2800" b="1" dirty="0">
                <a:latin typeface="Times New Roman" pitchFamily="18" charset="0"/>
                <a:ea typeface="华文中宋" pitchFamily="2" charset="-122"/>
              </a:rPr>
              <a:t>本体感受信息输入</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a:extLst>
              <a:ext uri="{FF2B5EF4-FFF2-40B4-BE49-F238E27FC236}">
                <a16:creationId xmlns:a16="http://schemas.microsoft.com/office/drawing/2014/main" id="{7DD8E75D-27A5-B0DC-31CB-3E8CF6C534A8}"/>
              </a:ext>
            </a:extLst>
          </p:cNvPr>
          <p:cNvSpPr txBox="1"/>
          <p:nvPr/>
        </p:nvSpPr>
        <p:spPr>
          <a:xfrm>
            <a:off x="531046" y="1305341"/>
            <a:ext cx="11252459" cy="4247317"/>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memset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spi_message</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err="1">
                <a:solidFill>
                  <a:srgbClr val="0000FF"/>
                </a:solidFill>
                <a:effectLst/>
                <a:latin typeface="Consolas" panose="020B0609020204030204" pitchFamily="49" charset="0"/>
              </a:rPr>
              <a:t>sizeof</a:t>
            </a:r>
            <a:r>
              <a:rPr lang="en-US" altLang="zh-CN" b="0" dirty="0">
                <a:solidFill>
                  <a:srgbClr val="000000"/>
                </a:solidFill>
                <a:effectLst/>
                <a:latin typeface="Consolas" panose="020B0609020204030204" pitchFamily="49" charset="0"/>
              </a:rPr>
              <a:t>(struct </a:t>
            </a:r>
            <a:r>
              <a:rPr lang="en-US" altLang="zh-CN" b="0" dirty="0" err="1">
                <a:solidFill>
                  <a:srgbClr val="000000"/>
                </a:solidFill>
                <a:effectLst/>
                <a:latin typeface="Consolas" panose="020B0609020204030204" pitchFamily="49" charset="0"/>
              </a:rPr>
              <a:t>spi_ioc_transfer</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spi_message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bits_per_word</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spi_bits_per_word</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spi_message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cs_change</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spi_message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delay_usecs</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spi_message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len</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word_len</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66</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spi_message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rx_buf</a:t>
            </a:r>
            <a:r>
              <a:rPr lang="en-US" altLang="zh-CN" b="0" dirty="0">
                <a:solidFill>
                  <a:srgbClr val="000000"/>
                </a:solidFill>
                <a:effectLst/>
                <a:latin typeface="Consolas" panose="020B0609020204030204" pitchFamily="49" charset="0"/>
              </a:rPr>
              <a:t> = (</a:t>
            </a:r>
            <a:r>
              <a:rPr lang="en-US" altLang="zh-CN" b="0" dirty="0">
                <a:solidFill>
                  <a:srgbClr val="0000FF"/>
                </a:solidFill>
                <a:effectLst/>
                <a:latin typeface="Consolas" panose="020B0609020204030204" pitchFamily="49" charset="0"/>
              </a:rPr>
              <a:t>uint64_t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rx_buf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spi_message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tx_buf</a:t>
            </a:r>
            <a:r>
              <a:rPr lang="en-US" altLang="zh-CN" b="0" dirty="0">
                <a:solidFill>
                  <a:srgbClr val="000000"/>
                </a:solidFill>
                <a:effectLst/>
                <a:latin typeface="Consolas" panose="020B0609020204030204" pitchFamily="49" charset="0"/>
              </a:rPr>
              <a:t> = (</a:t>
            </a:r>
            <a:r>
              <a:rPr lang="en-US" altLang="zh-CN" b="0" dirty="0">
                <a:solidFill>
                  <a:srgbClr val="0000FF"/>
                </a:solidFill>
                <a:effectLst/>
                <a:latin typeface="Consolas" panose="020B0609020204030204" pitchFamily="49" charset="0"/>
              </a:rPr>
              <a:t>uint64_t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tx_buf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}n</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rv</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ioctl</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spi_board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spi_1_fd : spi_2_fd, </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SPI_IOC_MESSAGE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&amp;</a:t>
            </a:r>
            <a:r>
              <a:rPr lang="en-US" altLang="zh-CN" b="0" dirty="0" err="1">
                <a:solidFill>
                  <a:srgbClr val="000000"/>
                </a:solidFill>
                <a:effectLst/>
                <a:latin typeface="Consolas" panose="020B0609020204030204" pitchFamily="49" charset="0"/>
              </a:rPr>
              <a:t>spi_message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a:solidFill>
                  <a:srgbClr val="098658"/>
                </a:solidFill>
                <a:effectLst/>
                <a:latin typeface="Consolas" panose="020B0609020204030204" pitchFamily="49" charset="0"/>
              </a:rPr>
              <a:t>30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data_d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rx_buf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&gt;&gt;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rx_buf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&amp; </a:t>
            </a:r>
            <a:r>
              <a:rPr lang="en-US" altLang="zh-CN" b="0" dirty="0">
                <a:solidFill>
                  <a:srgbClr val="098658"/>
                </a:solidFill>
                <a:effectLst/>
                <a:latin typeface="Consolas" panose="020B0609020204030204" pitchFamily="49" charset="0"/>
              </a:rPr>
              <a:t>0xff</a:t>
            </a:r>
            <a:r>
              <a:rPr lang="en-US" altLang="zh-CN" b="0" dirty="0">
                <a:solidFill>
                  <a:srgbClr val="000000"/>
                </a:solidFill>
                <a:effectLst/>
                <a:latin typeface="Consolas" panose="020B0609020204030204" pitchFamily="49" charset="0"/>
              </a:rPr>
              <a:t>) &lt;&lt;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spine_to_spi</a:t>
            </a:r>
            <a:r>
              <a:rPr lang="en-US" altLang="zh-CN" b="0" dirty="0">
                <a:solidFill>
                  <a:srgbClr val="000000"/>
                </a:solidFill>
                <a:effectLst/>
                <a:latin typeface="Consolas" panose="020B0609020204030204" pitchFamily="49" charset="0"/>
              </a:rPr>
              <a:t>(data, &amp;</a:t>
            </a:r>
            <a:r>
              <a:rPr lang="en-US" altLang="zh-CN" b="0" dirty="0" err="1">
                <a:solidFill>
                  <a:srgbClr val="000000"/>
                </a:solidFill>
                <a:effectLst/>
                <a:latin typeface="Consolas" panose="020B0609020204030204" pitchFamily="49" charset="0"/>
              </a:rPr>
              <a:t>g_spine_data</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spi_board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537033166"/>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9719"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12.3 </a:t>
            </a:r>
            <a:r>
              <a:rPr lang="zh-CN" altLang="en-US" sz="2800" b="1" dirty="0">
                <a:latin typeface="Times New Roman" pitchFamily="18" charset="0"/>
                <a:ea typeface="华文中宋" pitchFamily="2" charset="-122"/>
              </a:rPr>
              <a:t>机器人运动轨迹规划</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167026" y="1238316"/>
            <a:ext cx="10352529" cy="2325016"/>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本节包含以下几部分内容：</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12.3.1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步态序列规划</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12.3</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 摆动腿轨迹规划</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12.3.3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机器人状态轨迹规划</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369992501"/>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12.3.1 </a:t>
            </a:r>
            <a:r>
              <a:rPr lang="zh-CN" altLang="en-US" sz="2800" b="1" dirty="0">
                <a:latin typeface="Times New Roman" pitchFamily="18" charset="0"/>
                <a:ea typeface="华文中宋" pitchFamily="2" charset="-122"/>
              </a:rPr>
              <a:t>步态序列规划</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内容占位符 2">
            <a:extLst>
              <a:ext uri="{FF2B5EF4-FFF2-40B4-BE49-F238E27FC236}">
                <a16:creationId xmlns:a16="http://schemas.microsoft.com/office/drawing/2014/main" id="{3A06873B-41DE-F269-1258-4624BADD3DD7}"/>
              </a:ext>
            </a:extLst>
          </p:cNvPr>
          <p:cNvSpPr>
            <a:spLocks noChangeArrowheads="1"/>
          </p:cNvSpPr>
          <p:nvPr/>
        </p:nvSpPr>
        <p:spPr bwMode="auto">
          <a:xfrm>
            <a:off x="1006768" y="1013413"/>
            <a:ext cx="10352529" cy="283272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机器人每条腿的状态分成支撑相和摆动相两种，不同的支撑相和摆动相序列可构成不同的步态种类。在支撑相中通过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或</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WBC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控制器计算支撑力，保证机器人的姿态稳定，在摆动相中执行摆动操作，实现抬腿和落足点控制。在本章四足机器人的控制中，使用求解一次</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的时间间隔作为基本相位时间段，通过指定支撑相和摆动相的时间段及初始的相位偏移来确定步态。</a:t>
            </a:r>
          </a:p>
          <a:p>
            <a:pPr marL="0" marR="0" lvl="0" indent="457200" algn="l" defTabSz="914400" rtl="0" eaLnBrk="1" fontAlgn="base" latinLnBrk="0" hangingPunct="1">
              <a:lnSpc>
                <a:spcPct val="120000"/>
              </a:lnSpc>
              <a:spcBef>
                <a:spcPct val="10000"/>
              </a:spcBef>
              <a:spcAft>
                <a:spcPct val="10000"/>
              </a:spcAft>
              <a:buClrTx/>
              <a:buSzTx/>
              <a:defRPr/>
            </a:pPr>
            <a:endPar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478150567"/>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12.3.1 </a:t>
            </a:r>
            <a:r>
              <a:rPr lang="zh-CN" altLang="en-US" sz="2800" b="1" dirty="0">
                <a:latin typeface="Times New Roman" pitchFamily="18" charset="0"/>
                <a:ea typeface="华文中宋" pitchFamily="2" charset="-122"/>
              </a:rPr>
              <a:t>步态序列规划</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742414" y="898602"/>
            <a:ext cx="10352529" cy="1041972"/>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我们可按照下面的代码设置摆动相和支撑相的占比，从而实现各种不同的步态运动：</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a:extLst>
              <a:ext uri="{FF2B5EF4-FFF2-40B4-BE49-F238E27FC236}">
                <a16:creationId xmlns:a16="http://schemas.microsoft.com/office/drawing/2014/main" id="{E64A41EB-05DF-9A40-4302-C502D37D9348}"/>
              </a:ext>
            </a:extLst>
          </p:cNvPr>
          <p:cNvSpPr txBox="1"/>
          <p:nvPr/>
        </p:nvSpPr>
        <p:spPr>
          <a:xfrm>
            <a:off x="742414" y="2016692"/>
            <a:ext cx="10352529" cy="2585323"/>
          </a:xfrm>
          <a:prstGeom prst="rect">
            <a:avLst/>
          </a:prstGeom>
          <a:noFill/>
        </p:spPr>
        <p:txBody>
          <a:bodyPr wrap="square">
            <a:spAutoFit/>
          </a:bodyPr>
          <a:lstStyle/>
          <a:p>
            <a:r>
              <a:rPr lang="en-US" altLang="zh-CN" b="0" dirty="0">
                <a:solidFill>
                  <a:srgbClr val="795E26"/>
                </a:solidFill>
                <a:effectLst/>
                <a:latin typeface="Consolas" panose="020B0609020204030204" pitchFamily="49" charset="0"/>
              </a:rPr>
              <a:t>trotting</a:t>
            </a:r>
            <a:r>
              <a:rPr lang="en-US" altLang="zh-CN" b="0" dirty="0">
                <a:solidFill>
                  <a:srgbClr val="000000"/>
                </a:solidFill>
                <a:effectLst/>
                <a:latin typeface="Consolas" panose="020B0609020204030204" pitchFamily="49" charset="0"/>
              </a:rPr>
              <a:t>(horizonLength,</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"Trotting"</a:t>
            </a:r>
            <a:r>
              <a:rPr lang="en-US" altLang="zh-CN" b="0" dirty="0">
                <a:solidFill>
                  <a:srgbClr val="000000"/>
                </a:solidFill>
                <a:effectLst/>
                <a:latin typeface="Consolas" panose="020B0609020204030204" pitchFamily="49" charset="0"/>
              </a:rPr>
              <a:t>),  </a:t>
            </a:r>
          </a:p>
          <a:p>
            <a:r>
              <a:rPr lang="en-US" altLang="zh-CN" b="0" dirty="0">
                <a:solidFill>
                  <a:srgbClr val="795E26"/>
                </a:solidFill>
                <a:effectLst/>
                <a:latin typeface="Consolas" panose="020B0609020204030204" pitchFamily="49" charset="0"/>
              </a:rPr>
              <a:t>bounding</a:t>
            </a:r>
            <a:r>
              <a:rPr lang="en-US" altLang="zh-CN" b="0" dirty="0">
                <a:solidFill>
                  <a:srgbClr val="000000"/>
                </a:solidFill>
                <a:effectLst/>
                <a:latin typeface="Consolas" panose="020B0609020204030204" pitchFamily="49" charset="0"/>
              </a:rPr>
              <a:t>(horizonLength,</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"Bounding"</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pronking</a:t>
            </a:r>
            <a:r>
              <a:rPr lang="en-US" altLang="zh-CN" b="0" dirty="0">
                <a:solidFill>
                  <a:srgbClr val="000000"/>
                </a:solidFill>
                <a:effectLst/>
                <a:latin typeface="Consolas" panose="020B0609020204030204" pitchFamily="49" charset="0"/>
              </a:rPr>
              <a:t>(horizonLength,</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"Pronking"</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galloping</a:t>
            </a:r>
            <a:r>
              <a:rPr lang="en-US" altLang="zh-CN" b="0" dirty="0">
                <a:solidFill>
                  <a:srgbClr val="000000"/>
                </a:solidFill>
                <a:effectLst/>
                <a:latin typeface="Consolas" panose="020B0609020204030204" pitchFamily="49" charset="0"/>
              </a:rPr>
              <a:t>(horizonLength,</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"Galloping"</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standing</a:t>
            </a:r>
            <a:r>
              <a:rPr lang="en-US" altLang="zh-CN" b="0" dirty="0">
                <a:solidFill>
                  <a:srgbClr val="000000"/>
                </a:solidFill>
                <a:effectLst/>
                <a:latin typeface="Consolas" panose="020B0609020204030204" pitchFamily="49" charset="0"/>
              </a:rPr>
              <a:t>(horizonLength,</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"Standing"</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trotRunning</a:t>
            </a:r>
            <a:r>
              <a:rPr lang="en-US" altLang="zh-CN" b="0" dirty="0">
                <a:solidFill>
                  <a:srgbClr val="000000"/>
                </a:solidFill>
                <a:effectLst/>
                <a:latin typeface="Consolas" panose="020B0609020204030204" pitchFamily="49" charset="0"/>
              </a:rPr>
              <a:t>(horizonLength,</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"Trot Running"</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walking</a:t>
            </a:r>
            <a:r>
              <a:rPr lang="en-US" altLang="zh-CN" b="0" dirty="0">
                <a:solidFill>
                  <a:srgbClr val="000000"/>
                </a:solidFill>
                <a:effectLst/>
                <a:latin typeface="Consolas" panose="020B0609020204030204" pitchFamily="49" charset="0"/>
              </a:rPr>
              <a:t>(horizonLength,</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"Walking"</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walking2</a:t>
            </a:r>
            <a:r>
              <a:rPr lang="en-US" altLang="zh-CN" b="0" dirty="0">
                <a:solidFill>
                  <a:srgbClr val="000000"/>
                </a:solidFill>
                <a:effectLst/>
                <a:latin typeface="Consolas" panose="020B0609020204030204" pitchFamily="49" charset="0"/>
              </a:rPr>
              <a:t>(horizonLength,</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"Walking2"</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pacing</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horizonLength</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Vec4</a:t>
            </a:r>
            <a:r>
              <a:rPr lang="en-US" altLang="zh-CN" b="0" dirty="0">
                <a:solidFill>
                  <a:srgbClr val="000000"/>
                </a:solidFill>
                <a:effectLst/>
                <a:latin typeface="Consolas" panose="020B0609020204030204" pitchFamily="49" charset="0"/>
              </a:rPr>
              <a:t>&lt;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&gt;(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"Pacing"</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001484825"/>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12.3.2 </a:t>
            </a:r>
            <a:r>
              <a:rPr lang="zh-CN" altLang="en-US" sz="2800" b="1" dirty="0">
                <a:latin typeface="Times New Roman" pitchFamily="18" charset="0"/>
                <a:ea typeface="华文中宋" pitchFamily="2" charset="-122"/>
              </a:rPr>
              <a:t>摆动腿轨迹规划</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742414" y="898602"/>
            <a:ext cx="10352529" cy="1041972"/>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摆动腿轨迹使用三次贝塞尔曲线规划，基本的贝塞尔曲线生成函数对应的代码如下：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a:extLst>
              <a:ext uri="{FF2B5EF4-FFF2-40B4-BE49-F238E27FC236}">
                <a16:creationId xmlns:a16="http://schemas.microsoft.com/office/drawing/2014/main" id="{B2D2494E-1788-BC56-6A44-28D27DEB4078}"/>
              </a:ext>
            </a:extLst>
          </p:cNvPr>
          <p:cNvSpPr txBox="1"/>
          <p:nvPr/>
        </p:nvSpPr>
        <p:spPr>
          <a:xfrm>
            <a:off x="612515" y="1940574"/>
            <a:ext cx="11123856" cy="4247317"/>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template &lt;</a:t>
            </a:r>
            <a:r>
              <a:rPr lang="en-US" altLang="zh-CN" b="0" dirty="0" err="1">
                <a:solidFill>
                  <a:srgbClr val="0000FF"/>
                </a:solidFill>
                <a:effectLst/>
                <a:latin typeface="Consolas" panose="020B0609020204030204" pitchFamily="49" charset="0"/>
              </a:rPr>
              <a:t>typename</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FootSwingTrajectory</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computeSwingTrajectoryBezier</a:t>
            </a:r>
            <a:r>
              <a:rPr lang="en-US" altLang="zh-CN" b="0" dirty="0">
                <a:solidFill>
                  <a:srgbClr val="000000"/>
                </a:solidFill>
                <a:effectLst/>
                <a:latin typeface="Consolas" panose="020B0609020204030204" pitchFamily="49" charset="0"/>
              </a:rPr>
              <a:t>(T phase, T </a:t>
            </a:r>
            <a:r>
              <a:rPr lang="en-US" altLang="zh-CN" b="0" dirty="0" err="1">
                <a:solidFill>
                  <a:srgbClr val="000000"/>
                </a:solidFill>
                <a:effectLst/>
                <a:latin typeface="Consolas" panose="020B0609020204030204" pitchFamily="49" charset="0"/>
              </a:rPr>
              <a:t>swingTime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_p = </a:t>
            </a:r>
            <a:r>
              <a:rPr lang="en-US" altLang="zh-CN" b="0" dirty="0">
                <a:solidFill>
                  <a:srgbClr val="267F99"/>
                </a:solidFill>
                <a:effectLst/>
                <a:latin typeface="Consolas" panose="020B0609020204030204" pitchFamily="49" charset="0"/>
              </a:rPr>
              <a:t>Interpolate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cubicBezier</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Vec3</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&gt;&gt;(_p0, _pf, phase);</a:t>
            </a:r>
          </a:p>
          <a:p>
            <a:r>
              <a:rPr lang="en-US" altLang="zh-CN" b="0" dirty="0">
                <a:solidFill>
                  <a:srgbClr val="000000"/>
                </a:solidFill>
                <a:effectLst/>
                <a:latin typeface="Consolas" panose="020B0609020204030204" pitchFamily="49" charset="0"/>
              </a:rPr>
              <a:t>  _v = </a:t>
            </a:r>
            <a:r>
              <a:rPr lang="en-US" altLang="zh-CN" b="0" dirty="0">
                <a:solidFill>
                  <a:srgbClr val="267F99"/>
                </a:solidFill>
                <a:effectLst/>
                <a:latin typeface="Consolas" panose="020B0609020204030204" pitchFamily="49" charset="0"/>
              </a:rPr>
              <a:t>Interpolate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cubicBezierFirstDerivative</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Vec3</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&gt;&gt;(_p0, _pf, phase) </a:t>
            </a:r>
          </a:p>
          <a:p>
            <a:r>
              <a:rPr lang="en-US" altLang="zh-CN" dirty="0">
                <a:solidFill>
                  <a:srgbClr val="000000"/>
                </a:solidFill>
                <a:latin typeface="Consolas" panose="020B0609020204030204" pitchFamily="49" charset="0"/>
              </a:rPr>
              <a:t>	</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swingTime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_a = </a:t>
            </a:r>
            <a:r>
              <a:rPr lang="en-US" altLang="zh-CN" b="0" dirty="0">
                <a:solidFill>
                  <a:srgbClr val="267F99"/>
                </a:solidFill>
                <a:effectLst/>
                <a:latin typeface="Consolas" panose="020B0609020204030204" pitchFamily="49" charset="0"/>
              </a:rPr>
              <a:t>Interpolate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cubicBezierSecondDerivative</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Vec3</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&gt;&gt;(_p0, _pf, phase) </a:t>
            </a:r>
          </a:p>
          <a:p>
            <a:r>
              <a:rPr lang="en-US" altLang="zh-CN" dirty="0">
                <a:solidFill>
                  <a:srgbClr val="000000"/>
                </a:solidFill>
                <a:latin typeface="Consolas" panose="020B0609020204030204" pitchFamily="49" charset="0"/>
              </a:rPr>
              <a:t>	</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swingTime</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swingTime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T </a:t>
            </a:r>
            <a:r>
              <a:rPr lang="en-US" altLang="zh-CN" b="0" dirty="0" err="1">
                <a:solidFill>
                  <a:srgbClr val="000000"/>
                </a:solidFill>
                <a:effectLst/>
                <a:latin typeface="Consolas" panose="020B0609020204030204" pitchFamily="49" charset="0"/>
              </a:rPr>
              <a:t>zp</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zv</a:t>
            </a:r>
            <a:r>
              <a:rPr lang="en-US" altLang="zh-CN" b="0" dirty="0">
                <a:solidFill>
                  <a:srgbClr val="000000"/>
                </a:solidFill>
                <a:effectLst/>
                <a:latin typeface="Consolas" panose="020B0609020204030204" pitchFamily="49" charset="0"/>
              </a:rPr>
              <a:t>, za;</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(phase &lt; </a:t>
            </a:r>
            <a:r>
              <a:rPr lang="en-US" altLang="zh-CN" b="0" dirty="0">
                <a:solidFill>
                  <a:srgbClr val="795E26"/>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0.5</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zp</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Interpolate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cubicBezier</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_p0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_p0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_height, phase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zv</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Interpolate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cubicBezierFirstDerivative</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_p0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_p0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_height, phase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swingTime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za = </a:t>
            </a:r>
            <a:r>
              <a:rPr lang="en-US" altLang="zh-CN" b="0" dirty="0">
                <a:solidFill>
                  <a:srgbClr val="267F99"/>
                </a:solidFill>
                <a:effectLst/>
                <a:latin typeface="Consolas" panose="020B0609020204030204" pitchFamily="49" charset="0"/>
              </a:rPr>
              <a:t>Interpolate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cubicBezierSecondDerivative</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_p0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_p0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_height, phase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swingTime</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swingTime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 </a:t>
            </a:r>
          </a:p>
        </p:txBody>
      </p:sp>
    </p:spTree>
    <p:extLst>
      <p:ext uri="{BB962C8B-B14F-4D97-AF65-F5344CB8AC3E}">
        <p14:creationId xmlns:p14="http://schemas.microsoft.com/office/powerpoint/2010/main" val="1317332385"/>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12.3.2 </a:t>
            </a:r>
            <a:r>
              <a:rPr lang="zh-CN" altLang="en-US" sz="2800" b="1" dirty="0">
                <a:latin typeface="Times New Roman" pitchFamily="18" charset="0"/>
                <a:ea typeface="华文中宋" pitchFamily="2" charset="-122"/>
              </a:rPr>
              <a:t>摆动腿轨迹规划</a:t>
            </a:r>
          </a:p>
        </p:txBody>
      </p:sp>
      <p:sp>
        <p:nvSpPr>
          <p:cNvPr id="4" name="文本框 3">
            <a:extLst>
              <a:ext uri="{FF2B5EF4-FFF2-40B4-BE49-F238E27FC236}">
                <a16:creationId xmlns:a16="http://schemas.microsoft.com/office/drawing/2014/main" id="{E5C10358-E205-7413-6F1C-2DC9167122E0}"/>
              </a:ext>
            </a:extLst>
          </p:cNvPr>
          <p:cNvSpPr txBox="1"/>
          <p:nvPr/>
        </p:nvSpPr>
        <p:spPr>
          <a:xfrm>
            <a:off x="832701" y="1344687"/>
            <a:ext cx="10799975" cy="3139321"/>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else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zp</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Interpolate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cubicBezier</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_p0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_height, </a:t>
            </a:r>
            <a:r>
              <a:rPr lang="en-US" altLang="zh-CN" b="0" dirty="0">
                <a:solidFill>
                  <a:srgbClr val="001080"/>
                </a:solidFill>
                <a:effectLst/>
                <a:latin typeface="Consolas" panose="020B0609020204030204" pitchFamily="49" charset="0"/>
              </a:rPr>
              <a:t>_pf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phase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zv</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Interpolate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cubicBezierFirstDerivative</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_p0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_height, </a:t>
            </a:r>
            <a:r>
              <a:rPr lang="en-US" altLang="zh-CN" b="0" dirty="0">
                <a:solidFill>
                  <a:srgbClr val="001080"/>
                </a:solidFill>
                <a:effectLst/>
                <a:latin typeface="Consolas" panose="020B0609020204030204" pitchFamily="49" charset="0"/>
              </a:rPr>
              <a:t>_pf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phase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swingTime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za = </a:t>
            </a:r>
            <a:r>
              <a:rPr lang="en-US" altLang="zh-CN" b="0" dirty="0">
                <a:solidFill>
                  <a:srgbClr val="267F99"/>
                </a:solidFill>
                <a:effectLst/>
                <a:latin typeface="Consolas" panose="020B0609020204030204" pitchFamily="49" charset="0"/>
              </a:rPr>
              <a:t>Interpolate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cubicBezierSecondDerivative</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_p0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_height,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_pf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phase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swingTime</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swingTime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zp</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_v</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zv</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za;</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68658575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12.3.2 </a:t>
            </a:r>
            <a:r>
              <a:rPr lang="zh-CN" altLang="en-US" sz="2800" b="1" dirty="0">
                <a:latin typeface="Times New Roman" pitchFamily="18" charset="0"/>
                <a:ea typeface="华文中宋" pitchFamily="2" charset="-122"/>
              </a:rPr>
              <a:t>摆动腿轨迹规划</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742414" y="898602"/>
            <a:ext cx="10352529" cy="600260"/>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摆动相的落足点规划函数算法对应的代码如下：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11AE4F8B-F858-BACB-8AB2-84FE3FA8FD9B}"/>
              </a:ext>
            </a:extLst>
          </p:cNvPr>
          <p:cNvSpPr txBox="1"/>
          <p:nvPr/>
        </p:nvSpPr>
        <p:spPr>
          <a:xfrm>
            <a:off x="1097057" y="1582340"/>
            <a:ext cx="10228082" cy="3693319"/>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pfx_rel</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seResult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gait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_stance</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dtMPC</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.03f</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seResult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v_des_world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0.5f</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seResult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position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9.81f</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seResult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stateCommand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pfy_rel</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seResult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gait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_stance</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dtMPC</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.03f</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seResult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v_des_world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0.5f</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seResult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position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9.81f</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seResult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stateCommand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pfx_rel</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fminf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fmaxf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pfx_rel</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p_rel_max</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p_rel_max</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pfy_rel</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fminf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fmaxf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pfy_rel</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p_rel_max</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p_rel_max</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Pf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pfx_rel</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Pf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pfy_rel</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Pf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0.01</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361919267"/>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12.3.3 </a:t>
            </a:r>
            <a:r>
              <a:rPr lang="zh-CN" altLang="en-US" sz="2800" b="1" dirty="0">
                <a:latin typeface="Times New Roman" pitchFamily="18" charset="0"/>
                <a:ea typeface="华文中宋" pitchFamily="2" charset="-122"/>
              </a:rPr>
              <a:t>机器人状态轨迹规划</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742414" y="898601"/>
            <a:ext cx="10352529" cy="1081027"/>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机器人的状态轨迹信息包括躯干姿态角、躯干位置及由它们的导数构成的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维信息，代码如下：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C4C4CA2E-8CBC-B909-7DBD-7367C89F3163}"/>
              </a:ext>
            </a:extLst>
          </p:cNvPr>
          <p:cNvSpPr txBox="1"/>
          <p:nvPr/>
        </p:nvSpPr>
        <p:spPr>
          <a:xfrm>
            <a:off x="1015739" y="1979628"/>
            <a:ext cx="8429919" cy="3416320"/>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trajInitial</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rpy_comp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rpy_comp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stateCommand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xStart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yStart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0.26</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stateCommand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v_des_world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v_des_world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50559442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12.3.3 </a:t>
            </a:r>
            <a:r>
              <a:rPr lang="zh-CN" altLang="en-US" sz="2800" b="1" dirty="0">
                <a:latin typeface="Times New Roman" pitchFamily="18" charset="0"/>
                <a:ea typeface="华文中宋" pitchFamily="2" charset="-122"/>
              </a:rPr>
              <a:t>机器人状态轨迹规划</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732987" y="728918"/>
            <a:ext cx="10352529" cy="1081027"/>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使用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算法之前需要构建模型预测的状态轨迹，本节仅针对躯干的位置和旋转角构建</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维的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期望轨迹，代码如下：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D6AE7543-1A4A-49AB-5160-66ED1C0ECB67}"/>
              </a:ext>
            </a:extLst>
          </p:cNvPr>
          <p:cNvSpPr txBox="1"/>
          <p:nvPr/>
        </p:nvSpPr>
        <p:spPr>
          <a:xfrm>
            <a:off x="804368" y="1709837"/>
            <a:ext cx="10847162" cy="4524315"/>
          </a:xfrm>
          <a:prstGeom prst="rect">
            <a:avLst/>
          </a:prstGeom>
          <a:noFill/>
        </p:spPr>
        <p:txBody>
          <a:bodyPr wrap="square">
            <a:spAutoFit/>
          </a:bodyPr>
          <a:lstStyle/>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err="1">
                <a:solidFill>
                  <a:srgbClr val="000000"/>
                </a:solidFill>
                <a:effectLst/>
                <a:latin typeface="Consolas" panose="020B0609020204030204" pitchFamily="49" charset="0"/>
              </a:rPr>
              <a:t>horizonLength</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j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j &lt;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trajAll</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i+j</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trajInitial</a:t>
            </a:r>
            <a:r>
              <a:rPr lang="en-US" altLang="zh-CN" b="0" dirty="0">
                <a:solidFill>
                  <a:srgbClr val="000000"/>
                </a:solidFill>
                <a:effectLst/>
                <a:latin typeface="Consolas" panose="020B0609020204030204" pitchFamily="49" charset="0"/>
              </a:rPr>
              <a:t>[j];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trajAll</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seResult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rpy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else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trajAll</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trajAll</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dtMPC</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v_des_world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trajAll</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trajAll</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dtMPC</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v_des_world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trajAll</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*I+</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trajAll</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*(i-</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dtMPC</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stateCommand</a:t>
            </a:r>
            <a:r>
              <a:rPr lang="en-US" altLang="zh-CN" b="0" dirty="0">
                <a:solidFill>
                  <a:srgbClr val="000000"/>
                </a:solidFill>
                <a:effectLst/>
                <a:latin typeface="Consolas" panose="020B0609020204030204" pitchFamily="49" charset="0"/>
              </a:rPr>
              <a:t>-&gt;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stateDes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435296787"/>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9719"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 </a:t>
            </a:r>
            <a:r>
              <a:rPr lang="zh-CN" altLang="en-US" sz="2800" b="1" dirty="0">
                <a:latin typeface="Times New Roman" pitchFamily="18" charset="0"/>
                <a:ea typeface="华文中宋" pitchFamily="2" charset="-122"/>
              </a:rPr>
              <a:t>机器人控制器设计</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167026" y="1238316"/>
            <a:ext cx="10352529" cy="2702088"/>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本节包含以下几部分内容：</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12.4.1 MPC</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控制器</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12.4</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WBC</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控制器</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12.4.3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腿部控制器</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6" eaLnBrk="1" hangingPunct="1">
              <a:lnSpc>
                <a:spcPct val="120000"/>
              </a:lnSpc>
              <a:spcBef>
                <a:spcPct val="10000"/>
              </a:spcBef>
              <a:spcAft>
                <a:spcPct val="10000"/>
              </a:spcAft>
              <a:buFont typeface="Wingdings" panose="05000000000000000000" pitchFamily="2" charset="2"/>
              <a:buChar char="p"/>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12.4.4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关节电机控制器</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558492494"/>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12.4.1 MPC</a:t>
            </a:r>
            <a:r>
              <a:rPr lang="zh-CN" altLang="en-US" sz="2800" b="1" dirty="0">
                <a:latin typeface="Times New Roman" pitchFamily="18" charset="0"/>
                <a:ea typeface="华文中宋" pitchFamily="2" charset="-122"/>
              </a:rPr>
              <a:t>控制器</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844321" y="823186"/>
            <a:ext cx="10352529" cy="1929441"/>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先通过获取的状态估计器的数据和期望位置、速度等参数构建连续的状态空间，再对其进行离散化处理，离散化处理后结合开源的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QP(Quadratic Programming)</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标准库进行求解，求出的状态空间的值即为最优的足底力，将其作为前馈力从而计算出关节扭矩。</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控制器程序模块如下图所示：</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050" name="Picture 2">
            <a:extLst>
              <a:ext uri="{FF2B5EF4-FFF2-40B4-BE49-F238E27FC236}">
                <a16:creationId xmlns:a16="http://schemas.microsoft.com/office/drawing/2014/main" id="{246FEC58-6456-F144-C10A-0603A8006B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8978" y="2870511"/>
            <a:ext cx="10556581" cy="3058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377693"/>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12.4.1 MPC</a:t>
            </a:r>
            <a:r>
              <a:rPr lang="zh-CN" altLang="en-US" sz="2800" b="1" dirty="0">
                <a:latin typeface="Times New Roman" pitchFamily="18" charset="0"/>
                <a:ea typeface="华文中宋" pitchFamily="2" charset="-122"/>
              </a:rPr>
              <a:t>控制器</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844321" y="823187"/>
            <a:ext cx="10352529" cy="675676"/>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根据机器人质心动力学模型构建机器人连续状态轨迹空间的代码如下：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96600ADF-A80D-8946-0D80-34EF21636E2E}"/>
              </a:ext>
            </a:extLst>
          </p:cNvPr>
          <p:cNvSpPr txBox="1"/>
          <p:nvPr/>
        </p:nvSpPr>
        <p:spPr>
          <a:xfrm>
            <a:off x="1153212" y="1365723"/>
            <a:ext cx="10043638" cy="4524315"/>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ct_ss_mats</a:t>
            </a:r>
            <a:r>
              <a:rPr lang="en-US" altLang="zh-CN" b="0" dirty="0">
                <a:solidFill>
                  <a:srgbClr val="000000"/>
                </a:solidFill>
                <a:effectLst/>
                <a:latin typeface="Consolas" panose="020B0609020204030204" pitchFamily="49" charset="0"/>
              </a:rPr>
              <a:t>(Matrix&lt;fpt,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 </a:t>
            </a:r>
            <a:r>
              <a:rPr lang="en-US" altLang="zh-CN" b="0" dirty="0" err="1">
                <a:solidFill>
                  <a:srgbClr val="000000"/>
                </a:solidFill>
                <a:effectLst/>
                <a:latin typeface="Consolas" panose="020B0609020204030204" pitchFamily="49" charset="0"/>
              </a:rPr>
              <a:t>I_world</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fpt</a:t>
            </a:r>
            <a:r>
              <a:rPr lang="en-US" altLang="zh-CN" b="0" dirty="0">
                <a:solidFill>
                  <a:srgbClr val="000000"/>
                </a:solidFill>
                <a:effectLst/>
                <a:latin typeface="Consolas" panose="020B0609020204030204" pitchFamily="49" charset="0"/>
              </a:rPr>
              <a:t> m, Matrix&lt;fpt,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&gt; </a:t>
            </a:r>
            <a:r>
              <a:rPr lang="en-US" altLang="zh-CN" b="0" dirty="0" err="1">
                <a:solidFill>
                  <a:srgbClr val="000000"/>
                </a:solidFill>
                <a:effectLst/>
                <a:latin typeface="Consolas" panose="020B0609020204030204" pitchFamily="49" charset="0"/>
              </a:rPr>
              <a:t>r_feet</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Matrix&lt;fpt,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 </a:t>
            </a:r>
            <a:r>
              <a:rPr lang="en-US" altLang="zh-CN" b="0" dirty="0" err="1">
                <a:solidFill>
                  <a:srgbClr val="000000"/>
                </a:solidFill>
                <a:effectLst/>
                <a:latin typeface="Consolas" panose="020B0609020204030204" pitchFamily="49" charset="0"/>
              </a:rPr>
              <a:t>R_yaw</a:t>
            </a:r>
            <a:r>
              <a:rPr lang="en-US" altLang="zh-CN" b="0" dirty="0">
                <a:solidFill>
                  <a:srgbClr val="000000"/>
                </a:solidFill>
                <a:effectLst/>
                <a:latin typeface="Consolas" panose="020B0609020204030204" pitchFamily="49" charset="0"/>
              </a:rPr>
              <a:t>, Matrix&lt;fpt,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&gt;&amp; A, Matrix&lt;fpt,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&gt;&amp; B){</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R_yaw</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transpose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Matrix&lt;fpt,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 </a:t>
            </a:r>
            <a:r>
              <a:rPr lang="en-US" altLang="zh-CN" b="0" dirty="0" err="1">
                <a:solidFill>
                  <a:srgbClr val="000000"/>
                </a:solidFill>
                <a:effectLst/>
                <a:latin typeface="Consolas" panose="020B0609020204030204" pitchFamily="49" charset="0"/>
              </a:rPr>
              <a:t>I_inv</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I_world</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inverse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(s16 b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b &lt;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b++)</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cross_mat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I_inv,</a:t>
            </a:r>
            <a:r>
              <a:rPr lang="en-US" altLang="zh-CN" b="0" dirty="0" err="1">
                <a:solidFill>
                  <a:srgbClr val="001080"/>
                </a:solidFill>
                <a:effectLst/>
                <a:latin typeface="Consolas" panose="020B0609020204030204" pitchFamily="49" charset="0"/>
              </a:rPr>
              <a:t>r_feet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col</a:t>
            </a:r>
            <a:r>
              <a:rPr lang="en-US" altLang="zh-CN" b="0" dirty="0">
                <a:solidFill>
                  <a:srgbClr val="000000"/>
                </a:solidFill>
                <a:effectLst/>
                <a:latin typeface="Consolas" panose="020B0609020204030204" pitchFamily="49" charset="0"/>
              </a:rPr>
              <a:t>(b));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a:t>
            </a: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fpt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 / m;</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674429634"/>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12.4.1 MPC</a:t>
            </a:r>
            <a:r>
              <a:rPr lang="zh-CN" altLang="en-US" sz="2800" b="1" dirty="0">
                <a:latin typeface="Times New Roman" pitchFamily="18" charset="0"/>
                <a:ea typeface="华文中宋" pitchFamily="2" charset="-122"/>
              </a:rPr>
              <a:t>控制器</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825467" y="1030577"/>
            <a:ext cx="10352529" cy="675676"/>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将连续状态矩阵离散化，构建离散状态空间的代码如下：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00D83055-CBA7-8F76-15F8-665D2D4887F6}"/>
              </a:ext>
            </a:extLst>
          </p:cNvPr>
          <p:cNvSpPr txBox="1"/>
          <p:nvPr/>
        </p:nvSpPr>
        <p:spPr>
          <a:xfrm>
            <a:off x="1102936" y="1819909"/>
            <a:ext cx="10352528" cy="2031325"/>
          </a:xfrm>
          <a:prstGeom prst="rect">
            <a:avLst/>
          </a:prstGeom>
          <a:noFill/>
        </p:spPr>
        <p:txBody>
          <a:bodyPr wrap="square">
            <a:spAutoFit/>
          </a:bodyPr>
          <a:lstStyle/>
          <a:p>
            <a:r>
              <a:rPr lang="en-US" altLang="zh-CN" b="0" dirty="0" err="1">
                <a:solidFill>
                  <a:srgbClr val="001080"/>
                </a:solidFill>
                <a:effectLst/>
                <a:latin typeface="Consolas" panose="020B0609020204030204" pitchFamily="49" charset="0"/>
              </a:rPr>
              <a:t>ABc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ABc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 = Ac;</a:t>
            </a:r>
          </a:p>
          <a:p>
            <a:r>
              <a:rPr lang="en-US" altLang="zh-CN" b="0" dirty="0" err="1">
                <a:solidFill>
                  <a:srgbClr val="001080"/>
                </a:solidFill>
                <a:effectLst/>
                <a:latin typeface="Consolas" panose="020B0609020204030204" pitchFamily="49" charset="0"/>
              </a:rPr>
              <a:t>ABc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Bc</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ABc</a:t>
            </a:r>
            <a:r>
              <a:rPr lang="en-US" altLang="zh-CN" b="0" dirty="0">
                <a:solidFill>
                  <a:srgbClr val="000000"/>
                </a:solidFill>
                <a:effectLst/>
                <a:latin typeface="Consolas" panose="020B0609020204030204" pitchFamily="49" charset="0"/>
              </a:rPr>
              <a:t> = dt*</a:t>
            </a:r>
            <a:r>
              <a:rPr lang="en-US" altLang="zh-CN" b="0" dirty="0" err="1">
                <a:solidFill>
                  <a:srgbClr val="000000"/>
                </a:solidFill>
                <a:effectLst/>
                <a:latin typeface="Consolas" panose="020B0609020204030204" pitchFamily="49" charset="0"/>
              </a:rPr>
              <a:t>ABc</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expmm</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ABc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exp</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Adt</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expmm</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Bdt</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expmm</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095931998"/>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12.4.1 MPC</a:t>
            </a:r>
            <a:r>
              <a:rPr lang="zh-CN" altLang="en-US" sz="2800" b="1" dirty="0">
                <a:latin typeface="Times New Roman" pitchFamily="18" charset="0"/>
                <a:ea typeface="华文中宋" pitchFamily="2" charset="-122"/>
              </a:rPr>
              <a:t>控制器</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825467" y="1030576"/>
            <a:ext cx="10352529" cy="1590075"/>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构建优化问题的目标函数，本控制器中，我们期望能对机器人的运动状态轨迹实现很好的追踪，同时希望得到优化变量，即足底支撑力尽量小，得到较高的能量利用率。基于此，我们构建二次型的优化目标如下：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858F1D04-F7FD-91EA-000B-4C0588150773}"/>
              </a:ext>
            </a:extLst>
          </p:cNvPr>
          <p:cNvSpPr txBox="1"/>
          <p:nvPr/>
        </p:nvSpPr>
        <p:spPr>
          <a:xfrm>
            <a:off x="825467" y="2964632"/>
            <a:ext cx="9033234" cy="1754326"/>
          </a:xfrm>
          <a:prstGeom prst="rect">
            <a:avLst/>
          </a:prstGeom>
          <a:noFill/>
        </p:spPr>
        <p:txBody>
          <a:bodyPr wrap="square">
            <a:spAutoFit/>
          </a:bodyPr>
          <a:lstStyle/>
          <a:p>
            <a:r>
              <a:rPr lang="en-US" altLang="zh-CN" b="0" dirty="0" err="1">
                <a:solidFill>
                  <a:srgbClr val="000000"/>
                </a:solidFill>
                <a:effectLst/>
                <a:latin typeface="Consolas" panose="020B0609020204030204" pitchFamily="49" charset="0"/>
              </a:rPr>
              <a:t>qH</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B_qp</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transpose</a:t>
            </a:r>
            <a:r>
              <a:rPr lang="en-US" altLang="zh-CN" b="0" dirty="0">
                <a:solidFill>
                  <a:srgbClr val="000000"/>
                </a:solidFill>
                <a:effectLst/>
                <a:latin typeface="Consolas" panose="020B0609020204030204" pitchFamily="49" charset="0"/>
              </a:rPr>
              <a:t>()*S*</a:t>
            </a:r>
            <a:r>
              <a:rPr lang="en-US" altLang="zh-CN" b="0" dirty="0" err="1">
                <a:solidFill>
                  <a:srgbClr val="000000"/>
                </a:solidFill>
                <a:effectLst/>
                <a:latin typeface="Consolas" panose="020B0609020204030204" pitchFamily="49" charset="0"/>
              </a:rPr>
              <a:t>B_qp</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update</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alpha</a:t>
            </a:r>
            <a:r>
              <a:rPr lang="en-US" altLang="zh-CN" b="0" dirty="0">
                <a:solidFill>
                  <a:srgbClr val="000000"/>
                </a:solidFill>
                <a:effectLst/>
                <a:latin typeface="Consolas" panose="020B0609020204030204" pitchFamily="49" charset="0"/>
              </a:rPr>
              <a:t>*eye_12h);   </a:t>
            </a:r>
          </a:p>
          <a:p>
            <a:r>
              <a:rPr lang="en-US" altLang="zh-CN" b="0" dirty="0" err="1">
                <a:solidFill>
                  <a:srgbClr val="000000"/>
                </a:solidFill>
                <a:effectLst/>
                <a:latin typeface="Consolas" panose="020B0609020204030204" pitchFamily="49" charset="0"/>
              </a:rPr>
              <a:t>qg</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B_qp</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transpose</a:t>
            </a:r>
            <a:r>
              <a:rPr lang="en-US" altLang="zh-CN" b="0" dirty="0">
                <a:solidFill>
                  <a:srgbClr val="000000"/>
                </a:solidFill>
                <a:effectLst/>
                <a:latin typeface="Consolas" panose="020B0609020204030204" pitchFamily="49" charset="0"/>
              </a:rPr>
              <a:t>()*S*(</a:t>
            </a:r>
            <a:r>
              <a:rPr lang="en-US" altLang="zh-CN" b="0" dirty="0" err="1">
                <a:solidFill>
                  <a:srgbClr val="000000"/>
                </a:solidFill>
                <a:effectLst/>
                <a:latin typeface="Consolas" panose="020B0609020204030204" pitchFamily="49" charset="0"/>
              </a:rPr>
              <a:t>A_qp</a:t>
            </a:r>
            <a:r>
              <a:rPr lang="en-US" altLang="zh-CN" b="0" dirty="0">
                <a:solidFill>
                  <a:srgbClr val="000000"/>
                </a:solidFill>
                <a:effectLst/>
                <a:latin typeface="Consolas" panose="020B0609020204030204" pitchFamily="49" charset="0"/>
              </a:rPr>
              <a:t>*x_0 - </a:t>
            </a:r>
            <a:r>
              <a:rPr lang="en-US" altLang="zh-CN" b="0" dirty="0" err="1">
                <a:solidFill>
                  <a:srgbClr val="000000"/>
                </a:solidFill>
                <a:effectLst/>
                <a:latin typeface="Consolas" panose="020B0609020204030204" pitchFamily="49" charset="0"/>
              </a:rPr>
              <a:t>X_d</a:t>
            </a:r>
            <a:r>
              <a:rPr lang="en-US" altLang="zh-CN" b="0" dirty="0">
                <a:solidFill>
                  <a:srgbClr val="000000"/>
                </a:solidFill>
                <a:effectLst/>
                <a:latin typeface="Consolas" panose="020B0609020204030204" pitchFamily="49" charset="0"/>
              </a:rPr>
              <a:t>);  </a:t>
            </a:r>
          </a:p>
          <a:p>
            <a:r>
              <a:rPr lang="en-US" altLang="zh-CN" b="0" dirty="0" err="1">
                <a:solidFill>
                  <a:srgbClr val="795E26"/>
                </a:solidFill>
                <a:effectLst/>
                <a:latin typeface="Consolas" panose="020B0609020204030204" pitchFamily="49" charset="0"/>
              </a:rPr>
              <a:t>matrix_to_real</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H_qpoases,qH,</a:t>
            </a:r>
            <a:r>
              <a:rPr lang="en-US" altLang="zh-CN" b="0" dirty="0" err="1">
                <a:solidFill>
                  <a:srgbClr val="001080"/>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horizon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horizon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p>
          <a:p>
            <a:r>
              <a:rPr lang="en-US" altLang="zh-CN" b="0" dirty="0" err="1">
                <a:solidFill>
                  <a:srgbClr val="795E26"/>
                </a:solidFill>
                <a:effectLst/>
                <a:latin typeface="Consolas" panose="020B0609020204030204" pitchFamily="49" charset="0"/>
              </a:rPr>
              <a:t>matrix_to_real</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g_qpoases,qg,</a:t>
            </a:r>
            <a:r>
              <a:rPr lang="en-US" altLang="zh-CN" b="0" dirty="0" err="1">
                <a:solidFill>
                  <a:srgbClr val="001080"/>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horizon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matrix_to_real</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A_qpoases,fmat,</a:t>
            </a:r>
            <a:r>
              <a:rPr lang="en-US" altLang="zh-CN" b="0" dirty="0" err="1">
                <a:solidFill>
                  <a:srgbClr val="001080"/>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horizon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horizon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matrix_to_real</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ub_qpoases,U_b,</a:t>
            </a:r>
            <a:r>
              <a:rPr lang="en-US" altLang="zh-CN" b="0" dirty="0" err="1">
                <a:solidFill>
                  <a:srgbClr val="001080"/>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horizon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444869721"/>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12.4.1 MPC</a:t>
            </a:r>
            <a:r>
              <a:rPr lang="zh-CN" altLang="en-US" sz="2800" b="1" dirty="0">
                <a:latin typeface="Times New Roman" pitchFamily="18" charset="0"/>
                <a:ea typeface="华文中宋" pitchFamily="2" charset="-122"/>
              </a:rPr>
              <a:t>控制器</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825467" y="1030577"/>
            <a:ext cx="10352529" cy="562554"/>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设置整型规划问题的条件约束，如摩擦锥等约束不等式，代码如下：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8A5414AC-E018-946B-1E3C-B1C3407BC9AB}"/>
              </a:ext>
            </a:extLst>
          </p:cNvPr>
          <p:cNvSpPr txBox="1"/>
          <p:nvPr/>
        </p:nvSpPr>
        <p:spPr>
          <a:xfrm>
            <a:off x="825468" y="1788465"/>
            <a:ext cx="9804824" cy="3693319"/>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s16 k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(s16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a:solidFill>
                  <a:srgbClr val="001080"/>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horizon</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(s16 j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j &lt;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U_b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*k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BIG_NUMBER;</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U_b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*k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BIG_NUMBER;</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U_b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*k +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BIG_NUMBER;</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U_b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*k +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BIG_NUMBER;</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U_b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*k +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update</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gait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j] * </a:t>
            </a:r>
            <a:r>
              <a:rPr lang="en-US" altLang="zh-CN" b="0" dirty="0">
                <a:solidFill>
                  <a:srgbClr val="001080"/>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f_max</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k++;</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141242744"/>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12.4.1 MPC</a:t>
            </a:r>
            <a:r>
              <a:rPr lang="zh-CN" altLang="en-US" sz="2800" b="1" dirty="0">
                <a:latin typeface="Times New Roman" pitchFamily="18" charset="0"/>
                <a:ea typeface="华文中宋" pitchFamily="2" charset="-122"/>
              </a:rPr>
              <a:t>控制器</a:t>
            </a:r>
          </a:p>
        </p:txBody>
      </p:sp>
      <p:sp>
        <p:nvSpPr>
          <p:cNvPr id="4" name="文本框 3">
            <a:extLst>
              <a:ext uri="{FF2B5EF4-FFF2-40B4-BE49-F238E27FC236}">
                <a16:creationId xmlns:a16="http://schemas.microsoft.com/office/drawing/2014/main" id="{DCB42F54-41B3-6366-2889-82006D23DC81}"/>
              </a:ext>
            </a:extLst>
          </p:cNvPr>
          <p:cNvSpPr txBox="1"/>
          <p:nvPr/>
        </p:nvSpPr>
        <p:spPr>
          <a:xfrm>
            <a:off x="1070220" y="1013283"/>
            <a:ext cx="10298505" cy="3139321"/>
          </a:xfrm>
          <a:prstGeom prst="rect">
            <a:avLst/>
          </a:prstGeom>
          <a:noFill/>
        </p:spPr>
        <p:txBody>
          <a:bodyPr wrap="square">
            <a:spAutoFit/>
          </a:bodyPr>
          <a:lstStyle/>
          <a:p>
            <a:r>
              <a:rPr lang="en-US" altLang="zh-CN" b="0" dirty="0" err="1">
                <a:solidFill>
                  <a:srgbClr val="000000"/>
                </a:solidFill>
                <a:effectLst/>
                <a:latin typeface="Consolas" panose="020B0609020204030204" pitchFamily="49" charset="0"/>
              </a:rPr>
              <a:t>fpt</a:t>
            </a:r>
            <a:r>
              <a:rPr lang="en-US" altLang="zh-CN" b="0" dirty="0">
                <a:solidFill>
                  <a:srgbClr val="000000"/>
                </a:solidFill>
                <a:effectLst/>
                <a:latin typeface="Consolas" panose="020B0609020204030204" pitchFamily="49" charset="0"/>
              </a:rPr>
              <a:t> mu =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mu</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Matrix&lt;fpt,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 </a:t>
            </a:r>
            <a:r>
              <a:rPr lang="en-US" altLang="zh-CN" b="0" dirty="0" err="1">
                <a:solidFill>
                  <a:srgbClr val="000000"/>
                </a:solidFill>
                <a:effectLst/>
                <a:latin typeface="Consolas" panose="020B0609020204030204" pitchFamily="49" charset="0"/>
              </a:rPr>
              <a:t>f_block</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f_block</a:t>
            </a:r>
            <a:r>
              <a:rPr lang="en-US" altLang="zh-CN" b="0" dirty="0">
                <a:solidFill>
                  <a:srgbClr val="000000"/>
                </a:solidFill>
                <a:effectLst/>
                <a:latin typeface="Consolas" panose="020B0609020204030204" pitchFamily="49" charset="0"/>
              </a:rPr>
              <a:t> &lt;&lt;  mu,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-mu,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mu,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-mu,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1.f</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(s16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a:solidFill>
                  <a:srgbClr val="001080"/>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horizon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fmat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,i*</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f_block</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552681260"/>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12.4.1 MPC</a:t>
            </a:r>
            <a:r>
              <a:rPr lang="zh-CN" altLang="en-US" sz="2800" b="1" dirty="0">
                <a:latin typeface="Times New Roman" pitchFamily="18" charset="0"/>
                <a:ea typeface="华文中宋" pitchFamily="2" charset="-122"/>
              </a:rPr>
              <a:t>控制器</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825467" y="1030576"/>
            <a:ext cx="10352529" cy="1590075"/>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由于建模过程中要针对每条腿的支撑力建模，而处于摆动相的腿不受地面反作用力，因此我们可以省略该部分优化变量及其对应的约束，从而加快优化求解速度：</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FB15C5ED-53C0-097E-BCE1-8BF89E3DA09A}"/>
              </a:ext>
            </a:extLst>
          </p:cNvPr>
          <p:cNvSpPr txBox="1"/>
          <p:nvPr/>
        </p:nvSpPr>
        <p:spPr>
          <a:xfrm>
            <a:off x="825467" y="2620651"/>
            <a:ext cx="10276165" cy="2862322"/>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new_vars</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num_variables</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new_cons</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num_constraints</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err="1">
                <a:solidFill>
                  <a:srgbClr val="000000"/>
                </a:solidFill>
                <a:effectLst/>
                <a:latin typeface="Consolas" panose="020B0609020204030204" pitchFamily="49" charset="0"/>
              </a:rPr>
              <a:t>num_constraints</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con_elim</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err="1">
                <a:solidFill>
                  <a:srgbClr val="000000"/>
                </a:solidFill>
                <a:effectLst/>
                <a:latin typeface="Consolas" panose="020B0609020204030204" pitchFamily="49" charset="0"/>
              </a:rPr>
              <a:t>num_variables</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var_elim</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err="1">
                <a:solidFill>
                  <a:srgbClr val="000000"/>
                </a:solidFill>
                <a:effectLst/>
                <a:latin typeface="Consolas" panose="020B0609020204030204" pitchFamily="49" charset="0"/>
              </a:rPr>
              <a:t>num_constraints</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near_zero</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lb_qpoases</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])&amp;&amp;</a:t>
            </a:r>
            <a:r>
              <a:rPr lang="en-US" altLang="zh-CN" b="0" dirty="0" err="1">
                <a:solidFill>
                  <a:srgbClr val="795E26"/>
                </a:solidFill>
                <a:effectLst/>
                <a:latin typeface="Consolas" panose="020B0609020204030204" pitchFamily="49" charset="0"/>
              </a:rPr>
              <a:t>near_zero</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ub_qpoases</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continue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double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c_row</a:t>
            </a:r>
            <a:r>
              <a:rPr lang="en-US" altLang="zh-CN" b="0" dirty="0">
                <a:solidFill>
                  <a:srgbClr val="000000"/>
                </a:solidFill>
                <a:effectLst/>
                <a:latin typeface="Consolas" panose="020B0609020204030204" pitchFamily="49" charset="0"/>
              </a:rPr>
              <a:t> = &amp;</a:t>
            </a:r>
            <a:r>
              <a:rPr lang="en-US" altLang="zh-CN" b="0" dirty="0" err="1">
                <a:solidFill>
                  <a:srgbClr val="001080"/>
                </a:solidFill>
                <a:effectLst/>
                <a:latin typeface="Consolas" panose="020B0609020204030204" pitchFamily="49" charset="0"/>
              </a:rPr>
              <a:t>A_qpoases</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num_variables</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967031253"/>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12.4.1 MPC</a:t>
            </a:r>
            <a:r>
              <a:rPr lang="zh-CN" altLang="en-US" sz="2800" b="1" dirty="0">
                <a:latin typeface="Times New Roman" pitchFamily="18" charset="0"/>
                <a:ea typeface="华文中宋" pitchFamily="2" charset="-122"/>
              </a:rPr>
              <a:t>控制器</a:t>
            </a:r>
          </a:p>
        </p:txBody>
      </p:sp>
      <p:sp>
        <p:nvSpPr>
          <p:cNvPr id="4" name="文本框 3">
            <a:extLst>
              <a:ext uri="{FF2B5EF4-FFF2-40B4-BE49-F238E27FC236}">
                <a16:creationId xmlns:a16="http://schemas.microsoft.com/office/drawing/2014/main" id="{751B047B-3359-39C5-45CA-A0F450BB48D4}"/>
              </a:ext>
            </a:extLst>
          </p:cNvPr>
          <p:cNvSpPr txBox="1"/>
          <p:nvPr/>
        </p:nvSpPr>
        <p:spPr>
          <a:xfrm>
            <a:off x="1065230" y="889843"/>
            <a:ext cx="9954704" cy="5078313"/>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j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j &lt; </a:t>
            </a:r>
            <a:r>
              <a:rPr lang="en-US" altLang="zh-CN" b="0" dirty="0" err="1">
                <a:solidFill>
                  <a:srgbClr val="000000"/>
                </a:solidFill>
                <a:effectLst/>
                <a:latin typeface="Consolas" panose="020B0609020204030204" pitchFamily="49" charset="0"/>
              </a:rPr>
              <a:t>num_variables</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near_one</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c_row</a:t>
            </a:r>
            <a:r>
              <a:rPr lang="en-US" altLang="zh-CN" b="0" dirty="0">
                <a:solidFill>
                  <a:srgbClr val="000000"/>
                </a:solidFill>
                <a:effectLst/>
                <a:latin typeface="Consolas" panose="020B0609020204030204" pitchFamily="49" charset="0"/>
              </a:rPr>
              <a:t>[j]))</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new_vars</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new_cons</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cs = (j*</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var_elim</a:t>
            </a:r>
            <a:r>
              <a:rPr lang="en-US" altLang="zh-CN" b="0" dirty="0">
                <a:solidFill>
                  <a:srgbClr val="000000"/>
                </a:solidFill>
                <a:effectLst/>
                <a:latin typeface="Consolas" panose="020B0609020204030204" pitchFamily="49" charset="0"/>
              </a:rPr>
              <a:t>[j-</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var_elim</a:t>
            </a:r>
            <a:r>
              <a:rPr lang="en-US" altLang="zh-CN" b="0" dirty="0">
                <a:solidFill>
                  <a:srgbClr val="000000"/>
                </a:solidFill>
                <a:effectLst/>
                <a:latin typeface="Consolas" panose="020B0609020204030204" pitchFamily="49" charset="0"/>
              </a:rPr>
              <a:t>[j-</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var_elim</a:t>
            </a:r>
            <a:r>
              <a:rPr lang="en-US" altLang="zh-CN" b="0" dirty="0">
                <a:solidFill>
                  <a:srgbClr val="000000"/>
                </a:solidFill>
                <a:effectLst/>
                <a:latin typeface="Consolas" panose="020B0609020204030204" pitchFamily="49" charset="0"/>
              </a:rPr>
              <a:t>[j  ]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con_elim</a:t>
            </a:r>
            <a:r>
              <a:rPr lang="en-US" altLang="zh-CN" b="0" dirty="0">
                <a:solidFill>
                  <a:srgbClr val="000000"/>
                </a:solidFill>
                <a:effectLst/>
                <a:latin typeface="Consolas" panose="020B0609020204030204" pitchFamily="49" charset="0"/>
              </a:rPr>
              <a:t>[cs]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con_elim</a:t>
            </a:r>
            <a:r>
              <a:rPr lang="en-US" altLang="zh-CN" b="0" dirty="0">
                <a:solidFill>
                  <a:srgbClr val="000000"/>
                </a:solidFill>
                <a:effectLst/>
                <a:latin typeface="Consolas" panose="020B0609020204030204" pitchFamily="49" charset="0"/>
              </a:rPr>
              <a:t>[cs+</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con_elim</a:t>
            </a:r>
            <a:r>
              <a:rPr lang="en-US" altLang="zh-CN" b="0" dirty="0">
                <a:solidFill>
                  <a:srgbClr val="000000"/>
                </a:solidFill>
                <a:effectLst/>
                <a:latin typeface="Consolas" panose="020B0609020204030204" pitchFamily="49" charset="0"/>
              </a:rPr>
              <a:t>[cs+</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con_elim</a:t>
            </a:r>
            <a:r>
              <a:rPr lang="en-US" altLang="zh-CN" b="0" dirty="0">
                <a:solidFill>
                  <a:srgbClr val="000000"/>
                </a:solidFill>
                <a:effectLst/>
                <a:latin typeface="Consolas" panose="020B0609020204030204" pitchFamily="49" charset="0"/>
              </a:rPr>
              <a:t>[cs+</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con_elim</a:t>
            </a:r>
            <a:r>
              <a:rPr lang="en-US" altLang="zh-CN" b="0" dirty="0">
                <a:solidFill>
                  <a:srgbClr val="000000"/>
                </a:solidFill>
                <a:effectLst/>
                <a:latin typeface="Consolas" panose="020B0609020204030204" pitchFamily="49" charset="0"/>
              </a:rPr>
              <a:t>[cs+</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341674472"/>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12.4.1 MPC</a:t>
            </a:r>
            <a:r>
              <a:rPr lang="zh-CN" altLang="en-US" sz="2800" b="1" dirty="0">
                <a:latin typeface="Times New Roman" pitchFamily="18" charset="0"/>
                <a:ea typeface="华文中宋" pitchFamily="2" charset="-122"/>
              </a:rPr>
              <a:t>控制器</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825467" y="1030576"/>
            <a:ext cx="10352529" cy="647395"/>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结合四足机器人的运动数据，利用开源的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QP</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标准库，求解</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问题：</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C1B2913D-E33B-C5DC-66AD-5A85912C2FE1}"/>
              </a:ext>
            </a:extLst>
          </p:cNvPr>
          <p:cNvSpPr txBox="1"/>
          <p:nvPr/>
        </p:nvSpPr>
        <p:spPr>
          <a:xfrm>
            <a:off x="825467" y="1677971"/>
            <a:ext cx="10352529" cy="3970318"/>
          </a:xfrm>
          <a:prstGeom prst="rect">
            <a:avLst/>
          </a:prstGeom>
          <a:noFill/>
        </p:spPr>
        <p:txBody>
          <a:bodyPr wrap="square">
            <a:spAutoFit/>
          </a:bodyPr>
          <a:lstStyle/>
          <a:p>
            <a:r>
              <a:rPr lang="en-US" altLang="zh-CN" b="0" dirty="0" err="1">
                <a:solidFill>
                  <a:srgbClr val="267F99"/>
                </a:solidFill>
                <a:effectLst/>
                <a:latin typeface="Consolas" panose="020B0609020204030204" pitchFamily="49" charset="0"/>
              </a:rPr>
              <a:t>qpOASES</a:t>
            </a:r>
            <a:r>
              <a:rPr lang="en-US" altLang="zh-CN" b="0" dirty="0">
                <a:solidFill>
                  <a:srgbClr val="000000"/>
                </a:solidFill>
                <a:effectLst/>
                <a:latin typeface="Consolas" panose="020B0609020204030204" pitchFamily="49" charset="0"/>
              </a:rPr>
              <a:t>::</a:t>
            </a:r>
            <a:r>
              <a:rPr lang="en-US" altLang="zh-CN" b="0" dirty="0" err="1">
                <a:solidFill>
                  <a:srgbClr val="267F99"/>
                </a:solidFill>
                <a:effectLst/>
                <a:latin typeface="Consolas" panose="020B0609020204030204" pitchFamily="49" charset="0"/>
              </a:rPr>
              <a:t>QProblem</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problem_red</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new_vars</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new_cons</a:t>
            </a:r>
            <a:r>
              <a:rPr lang="en-US" altLang="zh-CN" b="0" dirty="0">
                <a:solidFill>
                  <a:srgbClr val="000000"/>
                </a:solidFill>
                <a:effectLst/>
                <a:latin typeface="Consolas" panose="020B0609020204030204" pitchFamily="49" charset="0"/>
              </a:rPr>
              <a:t>);</a:t>
            </a:r>
          </a:p>
          <a:p>
            <a:r>
              <a:rPr lang="en-US" altLang="zh-CN" b="0" dirty="0" err="1">
                <a:solidFill>
                  <a:srgbClr val="267F99"/>
                </a:solidFill>
                <a:effectLst/>
                <a:latin typeface="Consolas" panose="020B0609020204030204" pitchFamily="49" charset="0"/>
              </a:rPr>
              <a:t>qpOASES</a:t>
            </a:r>
            <a:r>
              <a:rPr lang="en-US" altLang="zh-CN" b="0" dirty="0">
                <a:solidFill>
                  <a:srgbClr val="000000"/>
                </a:solidFill>
                <a:effectLst/>
                <a:latin typeface="Consolas" panose="020B0609020204030204" pitchFamily="49" charset="0"/>
              </a:rPr>
              <a:t>::Options op;</a:t>
            </a:r>
          </a:p>
          <a:p>
            <a:r>
              <a:rPr lang="en-US" altLang="zh-CN" b="0" dirty="0" err="1">
                <a:solidFill>
                  <a:srgbClr val="001080"/>
                </a:solidFill>
                <a:effectLst/>
                <a:latin typeface="Consolas" panose="020B0609020204030204" pitchFamily="49" charset="0"/>
              </a:rPr>
              <a:t>op</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setToMPC</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op</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printLevel</a:t>
            </a:r>
            <a:r>
              <a:rPr lang="en-US" altLang="zh-CN" b="0" dirty="0">
                <a:solidFill>
                  <a:srgbClr val="000000"/>
                </a:solidFill>
                <a:effectLst/>
                <a:latin typeface="Consolas" panose="020B0609020204030204" pitchFamily="49" charset="0"/>
              </a:rPr>
              <a:t> = </a:t>
            </a:r>
            <a:r>
              <a:rPr lang="en-US" altLang="zh-CN" b="0" dirty="0" err="1">
                <a:solidFill>
                  <a:srgbClr val="267F99"/>
                </a:solidFill>
                <a:effectLst/>
                <a:latin typeface="Consolas" panose="020B0609020204030204" pitchFamily="49" charset="0"/>
              </a:rPr>
              <a:t>qpOASES</a:t>
            </a:r>
            <a:r>
              <a:rPr lang="en-US" altLang="zh-CN" b="0" dirty="0">
                <a:solidFill>
                  <a:srgbClr val="000000"/>
                </a:solidFill>
                <a:effectLst/>
                <a:latin typeface="Consolas" panose="020B0609020204030204" pitchFamily="49" charset="0"/>
              </a:rPr>
              <a:t>::PL_NONE;</a:t>
            </a:r>
          </a:p>
          <a:p>
            <a:r>
              <a:rPr lang="en-US" altLang="zh-CN" b="0" dirty="0" err="1">
                <a:solidFill>
                  <a:srgbClr val="001080"/>
                </a:solidFill>
                <a:effectLst/>
                <a:latin typeface="Consolas" panose="020B0609020204030204" pitchFamily="49" charset="0"/>
              </a:rPr>
              <a:t>problem_red</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setOptions</a:t>
            </a:r>
            <a:r>
              <a:rPr lang="en-US" altLang="zh-CN" b="0" dirty="0">
                <a:solidFill>
                  <a:srgbClr val="000000"/>
                </a:solidFill>
                <a:effectLst/>
                <a:latin typeface="Consolas" panose="020B0609020204030204" pitchFamily="49" charset="0"/>
              </a:rPr>
              <a:t>(op); </a:t>
            </a:r>
          </a:p>
          <a:p>
            <a:r>
              <a:rPr lang="en-US" altLang="zh-CN" b="0" dirty="0">
                <a:solidFill>
                  <a:srgbClr val="0000FF"/>
                </a:solidFill>
                <a:effectLst/>
                <a:latin typeface="Consolas" panose="020B0609020204030204" pitchFamily="49" charset="0"/>
              </a:rPr>
              <a:t>struct</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timeval</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t1</a:t>
            </a:r>
            <a:r>
              <a:rPr lang="en-US" altLang="zh-CN" b="0" dirty="0">
                <a:solidFill>
                  <a:srgbClr val="000000"/>
                </a:solidFill>
                <a:effectLst/>
                <a:latin typeface="Consolas" panose="020B0609020204030204" pitchFamily="49" charset="0"/>
              </a:rPr>
              <a:t>, t2;</a:t>
            </a:r>
          </a:p>
          <a:p>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elapsed_time</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gettimeofday</a:t>
            </a:r>
            <a:r>
              <a:rPr lang="en-US" altLang="zh-CN" b="0" dirty="0">
                <a:solidFill>
                  <a:srgbClr val="000000"/>
                </a:solidFill>
                <a:effectLst/>
                <a:latin typeface="Consolas" panose="020B0609020204030204" pitchFamily="49" charset="0"/>
              </a:rPr>
              <a:t>(&amp;t1, </a:t>
            </a:r>
            <a:r>
              <a:rPr lang="en-US" altLang="zh-CN" b="0" dirty="0">
                <a:solidFill>
                  <a:srgbClr val="0000FF"/>
                </a:solidFill>
                <a:effectLst/>
                <a:latin typeface="Consolas" panose="020B0609020204030204" pitchFamily="49" charset="0"/>
              </a:rPr>
              <a:t>NULL</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rval</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problem_red</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init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H_red</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g_red</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A_red</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NULL</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NULL</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lb_red</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ub_red</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nWSR</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rval2 = </a:t>
            </a:r>
            <a:r>
              <a:rPr lang="en-US" altLang="zh-CN" b="0" dirty="0" err="1">
                <a:solidFill>
                  <a:srgbClr val="001080"/>
                </a:solidFill>
                <a:effectLst/>
                <a:latin typeface="Consolas" panose="020B0609020204030204" pitchFamily="49" charset="0"/>
              </a:rPr>
              <a:t>problem_red</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getPrimalSolution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q_red</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(rval2 != </a:t>
            </a:r>
            <a:r>
              <a:rPr lang="en-US" altLang="zh-CN" b="0" dirty="0" err="1">
                <a:solidFill>
                  <a:srgbClr val="267F99"/>
                </a:solidFill>
                <a:effectLst/>
                <a:latin typeface="Consolas" panose="020B0609020204030204" pitchFamily="49" charset="0"/>
              </a:rPr>
              <a:t>qpOASES</a:t>
            </a:r>
            <a:r>
              <a:rPr lang="en-US" altLang="zh-CN" b="0" dirty="0">
                <a:solidFill>
                  <a:srgbClr val="000000"/>
                </a:solidFill>
                <a:effectLst/>
                <a:latin typeface="Consolas" panose="020B0609020204030204" pitchFamily="49" charset="0"/>
              </a:rPr>
              <a:t>::SUCCESSFUL_RETURN)</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"failed to solve!</a:t>
            </a:r>
            <a:r>
              <a:rPr lang="en-US" altLang="zh-CN" b="0" dirty="0">
                <a:solidFill>
                  <a:srgbClr val="EE0000"/>
                </a:solidFill>
                <a:effectLst/>
                <a:latin typeface="Consolas" panose="020B0609020204030204" pitchFamily="49" charset="0"/>
              </a:rPr>
              <a:t>\n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gettimeofday</a:t>
            </a:r>
            <a:r>
              <a:rPr lang="en-US" altLang="zh-CN" b="0" dirty="0">
                <a:solidFill>
                  <a:srgbClr val="000000"/>
                </a:solidFill>
                <a:effectLst/>
                <a:latin typeface="Consolas" panose="020B0609020204030204" pitchFamily="49" charset="0"/>
              </a:rPr>
              <a:t>(&amp;t2,</a:t>
            </a:r>
            <a:r>
              <a:rPr lang="en-US" altLang="zh-CN" b="0" dirty="0">
                <a:solidFill>
                  <a:srgbClr val="0000FF"/>
                </a:solidFill>
                <a:effectLst/>
                <a:latin typeface="Consolas" panose="020B0609020204030204" pitchFamily="49" charset="0"/>
              </a:rPr>
              <a:t>NULL</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957055965"/>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12.4.1 MPC</a:t>
            </a:r>
            <a:r>
              <a:rPr lang="zh-CN" altLang="en-US" sz="2800" b="1" dirty="0">
                <a:latin typeface="Times New Roman" pitchFamily="18" charset="0"/>
                <a:ea typeface="华文中宋" pitchFamily="2" charset="-122"/>
              </a:rPr>
              <a:t>控制器</a:t>
            </a:r>
          </a:p>
        </p:txBody>
      </p:sp>
      <p:sp>
        <p:nvSpPr>
          <p:cNvPr id="6" name="文本框 5">
            <a:extLst>
              <a:ext uri="{FF2B5EF4-FFF2-40B4-BE49-F238E27FC236}">
                <a16:creationId xmlns:a16="http://schemas.microsoft.com/office/drawing/2014/main" id="{53BCD9A7-2F0C-F22C-C13F-2929CCCC9716}"/>
              </a:ext>
            </a:extLst>
          </p:cNvPr>
          <p:cNvSpPr txBox="1"/>
          <p:nvPr/>
        </p:nvSpPr>
        <p:spPr>
          <a:xfrm>
            <a:off x="829559" y="1084357"/>
            <a:ext cx="7477811" cy="4247317"/>
          </a:xfrm>
          <a:prstGeom prst="rect">
            <a:avLst/>
          </a:prstGeom>
          <a:noFill/>
        </p:spPr>
        <p:txBody>
          <a:bodyPr wrap="square">
            <a:spAutoFit/>
          </a:bodyPr>
          <a:lstStyle/>
          <a:p>
            <a:r>
              <a:rPr lang="en-US" altLang="zh-CN" b="0" dirty="0" err="1">
                <a:solidFill>
                  <a:srgbClr val="000000"/>
                </a:solidFill>
                <a:effectLst/>
                <a:latin typeface="Consolas" panose="020B0609020204030204" pitchFamily="49" charset="0"/>
              </a:rPr>
              <a:t>elapsed_time</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t2</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tv_sec</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t1</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tv_sec</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1000000</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elapsed_time</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t2</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tv_usec</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t1</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tv_usec</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vc</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err="1">
                <a:solidFill>
                  <a:srgbClr val="000000"/>
                </a:solidFill>
                <a:effectLst/>
                <a:latin typeface="Consolas" panose="020B0609020204030204" pitchFamily="49" charset="0"/>
              </a:rPr>
              <a:t>num_variables</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var_elim</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q_soln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0.0f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else</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q_soln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q_red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vc</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vc</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244172587"/>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2" name="内容占位符 2">
            <a:extLst>
              <a:ext uri="{FF2B5EF4-FFF2-40B4-BE49-F238E27FC236}">
                <a16:creationId xmlns:a16="http://schemas.microsoft.com/office/drawing/2014/main" id="{3650DF43-5722-2D84-EF65-E026FBF1AA2E}"/>
              </a:ext>
            </a:extLst>
          </p:cNvPr>
          <p:cNvSpPr>
            <a:spLocks noChangeArrowheads="1"/>
          </p:cNvSpPr>
          <p:nvPr/>
        </p:nvSpPr>
        <p:spPr bwMode="auto">
          <a:xfrm>
            <a:off x="480768" y="992869"/>
            <a:ext cx="10678375" cy="1854026"/>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基于零空间映射，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WBC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控制器将低优先级的任务投影到高优先级上，实现多任务执行，结合</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控制器的最优足底力，代入动力学方程等式约束和接触力不等式约束，计算出系统运动的最优关节扭矩，最终实现具有优先级的多任务执行和高速动态的运动。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WBC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控制器程序模块如下图所示：</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074" name="Picture 2">
            <a:extLst>
              <a:ext uri="{FF2B5EF4-FFF2-40B4-BE49-F238E27FC236}">
                <a16:creationId xmlns:a16="http://schemas.microsoft.com/office/drawing/2014/main" id="{A940BC28-E38C-B51F-0EF3-197EA3274B9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96445" y="3157980"/>
            <a:ext cx="6992005" cy="2017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0352653"/>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3" name="内容占位符 2">
            <a:extLst>
              <a:ext uri="{FF2B5EF4-FFF2-40B4-BE49-F238E27FC236}">
                <a16:creationId xmlns:a16="http://schemas.microsoft.com/office/drawing/2014/main" id="{0AF33F25-869C-6D78-C917-2041E0566558}"/>
              </a:ext>
            </a:extLst>
          </p:cNvPr>
          <p:cNvSpPr>
            <a:spLocks noChangeArrowheads="1"/>
          </p:cNvSpPr>
          <p:nvPr/>
        </p:nvSpPr>
        <p:spPr bwMode="auto">
          <a:xfrm>
            <a:off x="480768" y="992869"/>
            <a:ext cx="10678375" cy="1118735"/>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将由状态估计器得到的机器人运动状态参数、由</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控制器计算得到的足底力传递到</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WBC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控制器中，更新动力学模型参数。</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9CFBCE90-065F-4E25-7EA5-E6C34804C5A8}"/>
              </a:ext>
            </a:extLst>
          </p:cNvPr>
          <p:cNvSpPr txBox="1"/>
          <p:nvPr/>
        </p:nvSpPr>
        <p:spPr>
          <a:xfrm>
            <a:off x="1032857" y="1815306"/>
            <a:ext cx="9872220" cy="3970318"/>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template&lt;</a:t>
            </a:r>
            <a:r>
              <a:rPr lang="en-US" altLang="zh-CN" b="0" dirty="0" err="1">
                <a:solidFill>
                  <a:srgbClr val="0000FF"/>
                </a:solidFill>
                <a:effectLst/>
                <a:latin typeface="Consolas" panose="020B0609020204030204" pitchFamily="49" charset="0"/>
              </a:rPr>
              <a:t>typename</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WBC_Ctrl</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UpdateModel</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const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StateEstimate</a:t>
            </a:r>
            <a:r>
              <a:rPr lang="en-US" altLang="zh-CN" b="0" dirty="0">
                <a:solidFill>
                  <a:srgbClr val="000000"/>
                </a:solidFill>
                <a:effectLst/>
                <a:latin typeface="Consolas" panose="020B0609020204030204" pitchFamily="49" charset="0"/>
              </a:rPr>
              <a:t>&lt;T&gt; &amp; </a:t>
            </a:r>
            <a:r>
              <a:rPr lang="en-US" altLang="zh-CN" b="0" dirty="0" err="1">
                <a:solidFill>
                  <a:srgbClr val="000000"/>
                </a:solidFill>
                <a:effectLst/>
                <a:latin typeface="Consolas" panose="020B0609020204030204" pitchFamily="49" charset="0"/>
              </a:rPr>
              <a:t>state_est</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const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LegControllerData</a:t>
            </a:r>
            <a:r>
              <a:rPr lang="en-US" altLang="zh-CN" b="0" dirty="0">
                <a:solidFill>
                  <a:srgbClr val="000000"/>
                </a:solidFill>
                <a:effectLst/>
                <a:latin typeface="Consolas" panose="020B0609020204030204" pitchFamily="49" charset="0"/>
              </a:rPr>
              <a:t>&lt;T&gt; * </a:t>
            </a:r>
            <a:r>
              <a:rPr lang="en-US" altLang="zh-CN" b="0" dirty="0" err="1">
                <a:solidFill>
                  <a:srgbClr val="000000"/>
                </a:solidFill>
                <a:effectLst/>
                <a:latin typeface="Consolas" panose="020B0609020204030204" pitchFamily="49" charset="0"/>
              </a:rPr>
              <a:t>leg_data</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bodyOrientation</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state_est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orientation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bodyPosition</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state_est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position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&lt;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bodyVelocity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state_est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omegaBody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bodyVelocity</a:t>
            </a:r>
            <a:r>
              <a:rPr lang="en-US" altLang="zh-CN" b="0" dirty="0">
                <a:solidFill>
                  <a:srgbClr val="000000"/>
                </a:solidFill>
                <a:effectLst/>
                <a:latin typeface="Consolas" panose="020B0609020204030204" pitchFamily="49" charset="0"/>
              </a:rPr>
              <a:t>[i+</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state_est</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vBody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leg</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leg&lt;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++leg)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*leg +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leg_data</a:t>
            </a:r>
            <a:r>
              <a:rPr lang="en-US" altLang="zh-CN" b="0" dirty="0">
                <a:solidFill>
                  <a:srgbClr val="000000"/>
                </a:solidFill>
                <a:effectLst/>
                <a:latin typeface="Consolas" panose="020B0609020204030204" pitchFamily="49" charset="0"/>
              </a:rPr>
              <a:t>[leg].</a:t>
            </a:r>
            <a:r>
              <a:rPr lang="en-US" altLang="zh-CN" b="0" dirty="0">
                <a:solidFill>
                  <a:srgbClr val="001080"/>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*leg +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leg_data</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qd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full_config</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*leg +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*leg +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470787529"/>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4" name="文本框 3">
            <a:extLst>
              <a:ext uri="{FF2B5EF4-FFF2-40B4-BE49-F238E27FC236}">
                <a16:creationId xmlns:a16="http://schemas.microsoft.com/office/drawing/2014/main" id="{80671C43-42AC-0F7B-2410-9232F93FA4A9}"/>
              </a:ext>
            </a:extLst>
          </p:cNvPr>
          <p:cNvSpPr txBox="1"/>
          <p:nvPr/>
        </p:nvSpPr>
        <p:spPr>
          <a:xfrm>
            <a:off x="1383384" y="1403950"/>
            <a:ext cx="6122708" cy="2862322"/>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setState</a:t>
            </a:r>
            <a:r>
              <a:rPr lang="en-US" altLang="zh-CN" b="0" dirty="0">
                <a:solidFill>
                  <a:srgbClr val="000000"/>
                </a:solidFill>
                <a:effectLst/>
                <a:latin typeface="Consolas" panose="020B0609020204030204" pitchFamily="49" charset="0"/>
              </a:rPr>
              <a:t>(_state);</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contactJacobians</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massMatrix</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generalizedGravityForce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generalizedCoriolisForce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_A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getMassMatrix</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grav</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getGravityForce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coriolis</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model</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getCoriolisForce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Ainv</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inverse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829322889"/>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3" name="内容占位符 2">
            <a:extLst>
              <a:ext uri="{FF2B5EF4-FFF2-40B4-BE49-F238E27FC236}">
                <a16:creationId xmlns:a16="http://schemas.microsoft.com/office/drawing/2014/main" id="{0AF33F25-869C-6D78-C917-2041E0566558}"/>
              </a:ext>
            </a:extLst>
          </p:cNvPr>
          <p:cNvSpPr>
            <a:spLocks noChangeArrowheads="1"/>
          </p:cNvSpPr>
          <p:nvPr/>
        </p:nvSpPr>
        <p:spPr bwMode="auto">
          <a:xfrm>
            <a:off x="480768" y="992869"/>
            <a:ext cx="10678375" cy="1429820"/>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以零空间矩阵实现层级任务求解，首先计算出第一个任务的零空间投影矩阵，以方便后面的多个任务按照优先级执行，本程序以足端支撑腿任务开始构建矩阵。</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a:extLst>
              <a:ext uri="{FF2B5EF4-FFF2-40B4-BE49-F238E27FC236}">
                <a16:creationId xmlns:a16="http://schemas.microsoft.com/office/drawing/2014/main" id="{3EA3EC93-4EAC-991B-969D-D5E95497A664}"/>
              </a:ext>
            </a:extLst>
          </p:cNvPr>
          <p:cNvSpPr txBox="1"/>
          <p:nvPr/>
        </p:nvSpPr>
        <p:spPr>
          <a:xfrm>
            <a:off x="1550988" y="2450153"/>
            <a:ext cx="9200561" cy="3970318"/>
          </a:xfrm>
          <a:prstGeom prst="rect">
            <a:avLst/>
          </a:prstGeom>
          <a:noFill/>
        </p:spPr>
        <p:txBody>
          <a:bodyPr wrap="square">
            <a:spAutoFit/>
          </a:bodyPr>
          <a:lstStyle/>
          <a:p>
            <a:r>
              <a:rPr lang="en-US" altLang="zh-CN" b="0" dirty="0" err="1">
                <a:solidFill>
                  <a:srgbClr val="267F99"/>
                </a:solidFill>
                <a:effectLst/>
                <a:latin typeface="Consolas" panose="020B0609020204030204" pitchFamily="49" charset="0"/>
              </a:rPr>
              <a:t>DMat</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 </a:t>
            </a:r>
            <a:r>
              <a:rPr lang="en-US" altLang="zh-CN" b="0" dirty="0">
                <a:solidFill>
                  <a:srgbClr val="795E26"/>
                </a:solidFill>
                <a:effectLst/>
                <a:latin typeface="Consolas" panose="020B0609020204030204" pitchFamily="49" charset="0"/>
              </a:rPr>
              <a:t>Nc</a:t>
            </a:r>
            <a:r>
              <a:rPr lang="en-US" altLang="zh-CN" b="0" dirty="0">
                <a:solidFill>
                  <a:srgbClr val="000000"/>
                </a:solidFill>
                <a:effectLst/>
                <a:latin typeface="Consolas" panose="020B0609020204030204" pitchFamily="49" charset="0"/>
              </a:rPr>
              <a:t>(</a:t>
            </a:r>
            <a:r>
              <a:rPr lang="en-US" altLang="zh-CN" b="0" dirty="0" err="1">
                <a:solidFill>
                  <a:srgbClr val="267F99"/>
                </a:solidFill>
                <a:effectLst/>
                <a:latin typeface="Consolas" panose="020B0609020204030204" pitchFamily="49" charset="0"/>
              </a:rPr>
              <a:t>num_qdot</a:t>
            </a:r>
            <a:r>
              <a:rPr lang="en-US" altLang="zh-CN" b="0" dirty="0">
                <a:solidFill>
                  <a:srgbClr val="267F99"/>
                </a:solidFill>
                <a:effectLst/>
                <a:latin typeface="Consolas" panose="020B0609020204030204" pitchFamily="49" charset="0"/>
              </a:rPr>
              <a:t>_</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num_qdot</a:t>
            </a:r>
            <a:r>
              <a:rPr lang="en-US" altLang="zh-CN" b="0" dirty="0">
                <a:solidFill>
                  <a:srgbClr val="267F99"/>
                </a:solidFill>
                <a:effectLst/>
                <a:latin typeface="Consolas" panose="020B0609020204030204" pitchFamily="49" charset="0"/>
              </a:rPr>
              <a:t>_</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Nc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setIdentity</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contact_list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size</a:t>
            </a:r>
            <a:r>
              <a:rPr lang="en-US" altLang="zh-CN" b="0" dirty="0">
                <a:solidFill>
                  <a:srgbClr val="000000"/>
                </a:solidFill>
                <a:effectLst/>
                <a:latin typeface="Consolas" panose="020B0609020204030204" pitchFamily="49" charset="0"/>
              </a:rPr>
              <a:t>() &gt;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DMat</a:t>
            </a:r>
            <a:r>
              <a:rPr lang="en-US" altLang="zh-CN" b="0" dirty="0">
                <a:solidFill>
                  <a:srgbClr val="000000"/>
                </a:solidFill>
                <a:effectLst/>
                <a:latin typeface="Consolas" panose="020B0609020204030204" pitchFamily="49" charset="0"/>
              </a:rPr>
              <a:t>&lt;T&gt; </a:t>
            </a:r>
            <a:r>
              <a:rPr lang="en-US" altLang="zh-CN" b="0" dirty="0" err="1">
                <a:solidFill>
                  <a:srgbClr val="000000"/>
                </a:solidFill>
                <a:effectLst/>
                <a:latin typeface="Consolas" panose="020B0609020204030204" pitchFamily="49" charset="0"/>
              </a:rPr>
              <a:t>Jc</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Jc_i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getContactJacobian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Jc</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num_rows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Jc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rows</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err="1">
                <a:solidFill>
                  <a:srgbClr val="001080"/>
                </a:solidFill>
                <a:effectLst/>
                <a:latin typeface="Consolas" panose="020B0609020204030204" pitchFamily="49" charset="0"/>
              </a:rPr>
              <a:t>contact_list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size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getContactJacobian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Jc_i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num_new_rows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Jc_i</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rows</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Jc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conservativeResize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num_rows</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num_new_rows</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num_qdot</a:t>
            </a:r>
            <a:r>
              <a:rPr lang="en-US" altLang="zh-CN" b="0" dirty="0">
                <a:solidFill>
                  <a:srgbClr val="000000"/>
                </a:solidFill>
                <a:effectLst/>
                <a:latin typeface="Consolas" panose="020B0609020204030204" pitchFamily="49" charset="0"/>
              </a:rPr>
              <a:t>_);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Jc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num_rows</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num_new_rows</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num_qdot</a:t>
            </a:r>
            <a:r>
              <a:rPr lang="en-US" altLang="zh-CN" b="0" dirty="0">
                <a:solidFill>
                  <a:srgbClr val="000000"/>
                </a:solidFill>
                <a:effectLst/>
                <a:latin typeface="Consolas" panose="020B0609020204030204" pitchFamily="49" charset="0"/>
              </a:rPr>
              <a:t>_) = </a:t>
            </a:r>
            <a:r>
              <a:rPr lang="en-US" altLang="zh-CN" b="0" dirty="0" err="1">
                <a:solidFill>
                  <a:srgbClr val="000000"/>
                </a:solidFill>
                <a:effectLst/>
                <a:latin typeface="Consolas" panose="020B0609020204030204" pitchFamily="49" charset="0"/>
              </a:rPr>
              <a:t>Jc_i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num_rows</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num_new_rows</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BuildProjectionMatrix</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Jc</a:t>
            </a:r>
            <a:r>
              <a:rPr lang="en-US" altLang="zh-CN" b="0" dirty="0">
                <a:solidFill>
                  <a:srgbClr val="000000"/>
                </a:solidFill>
                <a:effectLst/>
                <a:latin typeface="Consolas" panose="020B0609020204030204" pitchFamily="49" charset="0"/>
              </a:rPr>
              <a:t>, Nc);</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51903748"/>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3" name="内容占位符 2">
            <a:extLst>
              <a:ext uri="{FF2B5EF4-FFF2-40B4-BE49-F238E27FC236}">
                <a16:creationId xmlns:a16="http://schemas.microsoft.com/office/drawing/2014/main" id="{0AF33F25-869C-6D78-C917-2041E0566558}"/>
              </a:ext>
            </a:extLst>
          </p:cNvPr>
          <p:cNvSpPr>
            <a:spLocks noChangeArrowheads="1"/>
          </p:cNvSpPr>
          <p:nvPr/>
        </p:nvSpPr>
        <p:spPr bwMode="auto">
          <a:xfrm>
            <a:off x="480768" y="992869"/>
            <a:ext cx="10678375" cy="619115"/>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构建所有任务对应的零空间矩阵：</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a:extLst>
              <a:ext uri="{FF2B5EF4-FFF2-40B4-BE49-F238E27FC236}">
                <a16:creationId xmlns:a16="http://schemas.microsoft.com/office/drawing/2014/main" id="{6368F361-7FFF-6329-99A4-E0B64796188F}"/>
              </a:ext>
            </a:extLst>
          </p:cNvPr>
          <p:cNvSpPr txBox="1"/>
          <p:nvPr/>
        </p:nvSpPr>
        <p:spPr>
          <a:xfrm>
            <a:off x="1130758" y="1582340"/>
            <a:ext cx="9492792" cy="3416320"/>
          </a:xfrm>
          <a:prstGeom prst="rect">
            <a:avLst/>
          </a:prstGeom>
          <a:noFill/>
        </p:spPr>
        <p:txBody>
          <a:bodyPr wrap="square">
            <a:spAutoFit/>
          </a:bodyPr>
          <a:lstStyle/>
          <a:p>
            <a:r>
              <a:rPr lang="en-US" altLang="zh-CN" b="0" dirty="0" err="1">
                <a:solidFill>
                  <a:srgbClr val="000000"/>
                </a:solidFill>
                <a:effectLst/>
                <a:latin typeface="Consolas" panose="020B0609020204030204" pitchFamily="49" charset="0"/>
              </a:rPr>
              <a:t>DVec</a:t>
            </a:r>
            <a:r>
              <a:rPr lang="en-US" altLang="zh-CN" b="0" dirty="0">
                <a:solidFill>
                  <a:srgbClr val="000000"/>
                </a:solidFill>
                <a:effectLst/>
                <a:latin typeface="Consolas" panose="020B0609020204030204" pitchFamily="49" charset="0"/>
              </a:rPr>
              <a:t>&lt;T&gt; </a:t>
            </a:r>
            <a:r>
              <a:rPr lang="en-US" altLang="zh-CN" b="0" dirty="0" err="1">
                <a:solidFill>
                  <a:srgbClr val="000000"/>
                </a:solidFill>
                <a:effectLst/>
                <a:latin typeface="Consolas" panose="020B0609020204030204" pitchFamily="49" charset="0"/>
              </a:rPr>
              <a:t>delta_q</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qdot</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DMat</a:t>
            </a:r>
            <a:r>
              <a:rPr lang="en-US" altLang="zh-CN" b="0" dirty="0">
                <a:solidFill>
                  <a:srgbClr val="000000"/>
                </a:solidFill>
                <a:effectLst/>
                <a:latin typeface="Consolas" panose="020B0609020204030204" pitchFamily="49" charset="0"/>
              </a:rPr>
              <a:t>&lt;T&gt; </a:t>
            </a:r>
            <a:r>
              <a:rPr lang="en-US" altLang="zh-CN" b="0" dirty="0" err="1">
                <a:solidFill>
                  <a:srgbClr val="000000"/>
                </a:solidFill>
                <a:effectLst/>
                <a:latin typeface="Consolas" panose="020B0609020204030204" pitchFamily="49" charset="0"/>
              </a:rPr>
              <a:t>Jt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JtPre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JtPre_pinv</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N_nx</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N_pre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Task&lt;T&gt;* task = </a:t>
            </a:r>
            <a:r>
              <a:rPr lang="en-US" altLang="zh-CN" b="0" dirty="0" err="1">
                <a:solidFill>
                  <a:srgbClr val="001080"/>
                </a:solidFill>
                <a:effectLst/>
                <a:latin typeface="Consolas" panose="020B0609020204030204" pitchFamily="49" charset="0"/>
              </a:rPr>
              <a:t>task_list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task</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getTaskJacobian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Jt</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JtPre</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Jt</a:t>
            </a:r>
            <a:r>
              <a:rPr lang="en-US" altLang="zh-CN" b="0" dirty="0">
                <a:solidFill>
                  <a:srgbClr val="000000"/>
                </a:solidFill>
                <a:effectLst/>
                <a:latin typeface="Consolas" panose="020B0609020204030204" pitchFamily="49" charset="0"/>
              </a:rPr>
              <a:t> * Nc;</a:t>
            </a:r>
          </a:p>
          <a:p>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PseudoInverse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JtPre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JtPre_pinv</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delta_q</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JtPre_pinv</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task</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getPosError</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qdot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JtPre_pinv</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task</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getDesVel</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DVec</a:t>
            </a:r>
            <a:r>
              <a:rPr lang="en-US" altLang="zh-CN" b="0" dirty="0">
                <a:solidFill>
                  <a:srgbClr val="000000"/>
                </a:solidFill>
                <a:effectLst/>
                <a:latin typeface="Consolas" panose="020B0609020204030204" pitchFamily="49" charset="0"/>
              </a:rPr>
              <a:t>&lt;T&gt; </a:t>
            </a:r>
            <a:r>
              <a:rPr lang="en-US" altLang="zh-CN" b="0" dirty="0" err="1">
                <a:solidFill>
                  <a:srgbClr val="000000"/>
                </a:solidFill>
                <a:effectLst/>
                <a:latin typeface="Consolas" panose="020B0609020204030204" pitchFamily="49" charset="0"/>
              </a:rPr>
              <a:t>prev_delta_q</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delta_q</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DVec</a:t>
            </a:r>
            <a:r>
              <a:rPr lang="en-US" altLang="zh-CN" b="0" dirty="0">
                <a:solidFill>
                  <a:srgbClr val="000000"/>
                </a:solidFill>
                <a:effectLst/>
                <a:latin typeface="Consolas" panose="020B0609020204030204" pitchFamily="49" charset="0"/>
              </a:rPr>
              <a:t>&lt;T&gt; </a:t>
            </a:r>
            <a:r>
              <a:rPr lang="en-US" altLang="zh-CN" b="0" dirty="0" err="1">
                <a:solidFill>
                  <a:srgbClr val="000000"/>
                </a:solidFill>
                <a:effectLst/>
                <a:latin typeface="Consolas" panose="020B0609020204030204" pitchFamily="49" charset="0"/>
              </a:rPr>
              <a:t>prev_qdot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qdot</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BuildProjectionMatrix</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JtPre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N_nx</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N_pre</a:t>
            </a:r>
            <a:r>
              <a:rPr lang="en-US" altLang="zh-CN" b="0" dirty="0">
                <a:solidFill>
                  <a:srgbClr val="000000"/>
                </a:solidFill>
                <a:effectLst/>
                <a:latin typeface="Consolas" panose="020B0609020204030204" pitchFamily="49" charset="0"/>
              </a:rPr>
              <a:t> = Nc * </a:t>
            </a:r>
            <a:r>
              <a:rPr lang="en-US" altLang="zh-CN" b="0" dirty="0" err="1">
                <a:solidFill>
                  <a:srgbClr val="000000"/>
                </a:solidFill>
                <a:effectLst/>
                <a:latin typeface="Consolas" panose="020B0609020204030204" pitchFamily="49" charset="0"/>
              </a:rPr>
              <a:t>N_nx</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189901788"/>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4" name="文本框 3">
            <a:extLst>
              <a:ext uri="{FF2B5EF4-FFF2-40B4-BE49-F238E27FC236}">
                <a16:creationId xmlns:a16="http://schemas.microsoft.com/office/drawing/2014/main" id="{B0A7991B-A1B7-ADEF-DD65-E2DA0868AB31}"/>
              </a:ext>
            </a:extLst>
          </p:cNvPr>
          <p:cNvSpPr txBox="1"/>
          <p:nvPr/>
        </p:nvSpPr>
        <p:spPr>
          <a:xfrm>
            <a:off x="754144" y="1443841"/>
            <a:ext cx="10840825" cy="3693319"/>
          </a:xfrm>
          <a:prstGeom prst="rect">
            <a:avLst/>
          </a:prstGeom>
          <a:noFill/>
        </p:spPr>
        <p:txBody>
          <a:bodyPr wrap="square">
            <a:spAutoFit/>
          </a:bodyPr>
          <a:lstStyle/>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err="1">
                <a:solidFill>
                  <a:srgbClr val="001080"/>
                </a:solidFill>
                <a:effectLst/>
                <a:latin typeface="Consolas" panose="020B0609020204030204" pitchFamily="49" charset="0"/>
              </a:rPr>
              <a:t>task_list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size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task = </a:t>
            </a:r>
            <a:r>
              <a:rPr lang="en-US" altLang="zh-CN" b="0" dirty="0" err="1">
                <a:solidFill>
                  <a:srgbClr val="001080"/>
                </a:solidFill>
                <a:effectLst/>
                <a:latin typeface="Consolas" panose="020B0609020204030204" pitchFamily="49" charset="0"/>
              </a:rPr>
              <a:t>task_list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task</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getTaskJacobian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JtPre</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Jt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N_pre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PseudoInverse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JtPre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JtPre_pinv</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delta_q</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prev_delta_q</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JtPre_pinv</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task</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getPosError</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Jt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prev_delta_q</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qdot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prev_qdot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JtPre_pinv</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task</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getDesVel</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Jt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prev_qdot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BuildProjectionMatrix</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JtPre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N_nx</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N_pre</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N_nx</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prev_delta_q</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delta_q</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prev_qdot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qdot</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202705767"/>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3" name="内容占位符 2">
            <a:extLst>
              <a:ext uri="{FF2B5EF4-FFF2-40B4-BE49-F238E27FC236}">
                <a16:creationId xmlns:a16="http://schemas.microsoft.com/office/drawing/2014/main" id="{0AF33F25-869C-6D78-C917-2041E0566558}"/>
              </a:ext>
            </a:extLst>
          </p:cNvPr>
          <p:cNvSpPr>
            <a:spLocks noChangeArrowheads="1"/>
          </p:cNvSpPr>
          <p:nvPr/>
        </p:nvSpPr>
        <p:spPr bwMode="auto">
          <a:xfrm>
            <a:off x="480768" y="992869"/>
            <a:ext cx="10678375" cy="1495807"/>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WBC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控制器的优化目标是在对</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求解结果做尽量小的调整情况下，使系统满足多任务对应的加速度要求。由此构建的二次型目标函数可分成两部分，一是前馈力调整部分，二是多任务运动加速度追踪部分。</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A3AE042B-DCC0-B81A-DD63-3CEDF6389F4A}"/>
              </a:ext>
            </a:extLst>
          </p:cNvPr>
          <p:cNvSpPr txBox="1"/>
          <p:nvPr/>
        </p:nvSpPr>
        <p:spPr>
          <a:xfrm>
            <a:off x="1082986" y="2522665"/>
            <a:ext cx="9473937" cy="3139321"/>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template &lt;</a:t>
            </a:r>
            <a:r>
              <a:rPr lang="en-US" altLang="zh-CN" b="0" dirty="0" err="1">
                <a:solidFill>
                  <a:srgbClr val="0000FF"/>
                </a:solidFill>
                <a:effectLst/>
                <a:latin typeface="Consolas" panose="020B0609020204030204" pitchFamily="49" charset="0"/>
              </a:rPr>
              <a:t>typename</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WBIC</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SetCost</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idx_offset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G</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idx_offset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idx_offset</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_data</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W_floating</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idx_offset</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_</a:t>
            </a:r>
            <a:r>
              <a:rPr lang="en-US" altLang="zh-CN" b="0" dirty="0" err="1">
                <a:solidFill>
                  <a:srgbClr val="000000"/>
                </a:solidFill>
                <a:effectLst/>
                <a:latin typeface="Consolas" panose="020B0609020204030204" pitchFamily="49" charset="0"/>
              </a:rPr>
              <a:t>dim_rf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G</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idx_offset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idx_offset</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_data</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W_rf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978339523"/>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3" name="内容占位符 2">
            <a:extLst>
              <a:ext uri="{FF2B5EF4-FFF2-40B4-BE49-F238E27FC236}">
                <a16:creationId xmlns:a16="http://schemas.microsoft.com/office/drawing/2014/main" id="{0AF33F25-869C-6D78-C917-2041E0566558}"/>
              </a:ext>
            </a:extLst>
          </p:cNvPr>
          <p:cNvSpPr>
            <a:spLocks noChangeArrowheads="1"/>
          </p:cNvSpPr>
          <p:nvPr/>
        </p:nvSpPr>
        <p:spPr bwMode="auto">
          <a:xfrm>
            <a:off x="480768" y="992869"/>
            <a:ext cx="10678375" cy="66624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构建优化目标对应的浮动基动力学约束</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等式约束</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a:extLst>
              <a:ext uri="{FF2B5EF4-FFF2-40B4-BE49-F238E27FC236}">
                <a16:creationId xmlns:a16="http://schemas.microsoft.com/office/drawing/2014/main" id="{6B119B5D-8A3D-6606-A12A-A8E1111DEF92}"/>
              </a:ext>
            </a:extLst>
          </p:cNvPr>
          <p:cNvSpPr txBox="1"/>
          <p:nvPr/>
        </p:nvSpPr>
        <p:spPr>
          <a:xfrm>
            <a:off x="878493" y="1828800"/>
            <a:ext cx="10435014" cy="3970318"/>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template</a:t>
            </a:r>
            <a:r>
              <a:rPr lang="en-US" altLang="zh-CN" b="0" dirty="0">
                <a:solidFill>
                  <a:srgbClr val="000000"/>
                </a:solidFill>
                <a:effectLst/>
                <a:latin typeface="Consolas" panose="020B0609020204030204" pitchFamily="49" charset="0"/>
              </a:rPr>
              <a:t> &lt;</a:t>
            </a:r>
            <a:r>
              <a:rPr lang="en-US" altLang="zh-CN" b="0" dirty="0" err="1">
                <a:solidFill>
                  <a:srgbClr val="0000FF"/>
                </a:solidFill>
                <a:effectLst/>
                <a:latin typeface="Consolas" panose="020B0609020204030204" pitchFamily="49" charset="0"/>
              </a:rPr>
              <a:t>typename</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WBIC</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SetEqualityConstraint</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const</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DVec</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00FF"/>
                </a:solidFill>
                <a:effectLst/>
                <a:latin typeface="Consolas" panose="020B0609020204030204" pitchFamily="49" charset="0"/>
              </a:rPr>
              <a:t>&amp;</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qddot</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dim_rf</a:t>
            </a:r>
            <a:r>
              <a:rPr lang="en-US" altLang="zh-CN" b="0" dirty="0">
                <a:solidFill>
                  <a:srgbClr val="000000"/>
                </a:solidFill>
                <a:effectLst/>
                <a:latin typeface="Consolas" panose="020B0609020204030204" pitchFamily="49" charset="0"/>
              </a:rPr>
              <a:t> &gt;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dyn_CE</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dim_eq_cstr</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A_</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dyn_CE</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dim_eq_cstr</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dim_rf</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Sv</a:t>
            </a:r>
            <a:r>
              <a:rPr lang="en-US" altLang="zh-CN" b="0" dirty="0">
                <a:solidFill>
                  <a:srgbClr val="000000"/>
                </a:solidFill>
                <a:effectLst/>
                <a:latin typeface="Consolas" panose="020B0609020204030204" pitchFamily="49" charset="0"/>
              </a:rPr>
              <a:t>_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Jc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transpose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_dyn_ce0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Sv</a:t>
            </a:r>
            <a:r>
              <a:rPr lang="en-US" altLang="zh-CN" b="0" dirty="0">
                <a:solidFill>
                  <a:srgbClr val="000000"/>
                </a:solidFill>
                <a:effectLst/>
                <a:latin typeface="Consolas" panose="020B0609020204030204" pitchFamily="49" charset="0"/>
              </a:rPr>
              <a:t>_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::A_ * </a:t>
            </a:r>
            <a:r>
              <a:rPr lang="en-US" altLang="zh-CN" b="0" dirty="0" err="1">
                <a:solidFill>
                  <a:srgbClr val="000000"/>
                </a:solidFill>
                <a:effectLst/>
                <a:latin typeface="Consolas" panose="020B0609020204030204" pitchFamily="49" charset="0"/>
              </a:rPr>
              <a:t>qddot</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cori</a:t>
            </a:r>
            <a:r>
              <a:rPr lang="en-US" altLang="zh-CN" b="0" dirty="0">
                <a:solidFill>
                  <a:srgbClr val="000000"/>
                </a:solidFill>
                <a:effectLst/>
                <a:latin typeface="Consolas" panose="020B0609020204030204" pitchFamily="49" charset="0"/>
              </a:rPr>
              <a:t>_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grav</a:t>
            </a:r>
            <a:r>
              <a:rPr lang="en-US" altLang="zh-CN" b="0" dirty="0">
                <a:solidFill>
                  <a:srgbClr val="000000"/>
                </a:solidFill>
                <a:effectLst/>
                <a:latin typeface="Consolas" panose="020B0609020204030204" pitchFamily="49" charset="0"/>
              </a:rPr>
              <a:t>_ -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Jc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transpose</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Fr_des</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 </a:t>
            </a:r>
            <a:r>
              <a:rPr lang="en-US" altLang="zh-CN" b="0" dirty="0">
                <a:solidFill>
                  <a:srgbClr val="AF00DB"/>
                </a:solidFill>
                <a:effectLst/>
                <a:latin typeface="Consolas" panose="020B0609020204030204" pitchFamily="49" charset="0"/>
              </a:rPr>
              <a:t>else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dyn_CE</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dim_eq_cstr</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A_</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_dyn_ce0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Sv</a:t>
            </a:r>
            <a:r>
              <a:rPr lang="en-US" altLang="zh-CN" b="0" dirty="0">
                <a:solidFill>
                  <a:srgbClr val="000000"/>
                </a:solidFill>
                <a:effectLst/>
                <a:latin typeface="Consolas" panose="020B0609020204030204" pitchFamily="49" charset="0"/>
              </a:rPr>
              <a:t>_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::A_ * </a:t>
            </a:r>
            <a:r>
              <a:rPr lang="en-US" altLang="zh-CN" b="0" dirty="0" err="1">
                <a:solidFill>
                  <a:srgbClr val="000000"/>
                </a:solidFill>
                <a:effectLst/>
                <a:latin typeface="Consolas" panose="020B0609020204030204" pitchFamily="49" charset="0"/>
              </a:rPr>
              <a:t>qddot</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cori</a:t>
            </a:r>
            <a:r>
              <a:rPr lang="en-US" altLang="zh-CN" b="0" dirty="0">
                <a:solidFill>
                  <a:srgbClr val="000000"/>
                </a:solidFill>
                <a:effectLst/>
                <a:latin typeface="Consolas" panose="020B0609020204030204" pitchFamily="49" charset="0"/>
              </a:rPr>
              <a:t>_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grav</a:t>
            </a:r>
            <a:r>
              <a:rPr lang="en-US" altLang="zh-CN" b="0" dirty="0">
                <a:solidFill>
                  <a:srgbClr val="000000"/>
                </a:solidFill>
                <a:effectLst/>
                <a:latin typeface="Consolas" panose="020B0609020204030204" pitchFamily="49" charset="0"/>
              </a:rPr>
              <a:t>_);</a:t>
            </a:r>
          </a:p>
          <a:p>
            <a:r>
              <a:rPr lang="en-US" altLang="zh-CN"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4030862147"/>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4" name="文本框 3">
            <a:extLst>
              <a:ext uri="{FF2B5EF4-FFF2-40B4-BE49-F238E27FC236}">
                <a16:creationId xmlns:a16="http://schemas.microsoft.com/office/drawing/2014/main" id="{D15E9AE2-A393-3330-858C-AC4873A5E745}"/>
              </a:ext>
            </a:extLst>
          </p:cNvPr>
          <p:cNvSpPr txBox="1"/>
          <p:nvPr/>
        </p:nvSpPr>
        <p:spPr>
          <a:xfrm>
            <a:off x="2505173" y="1331611"/>
            <a:ext cx="6122708" cy="2031325"/>
          </a:xfrm>
          <a:prstGeom prst="rect">
            <a:avLst/>
          </a:prstGeom>
          <a:noFill/>
        </p:spPr>
        <p:txBody>
          <a:bodyPr wrap="square">
            <a:spAutoFit/>
          </a:bodyPr>
          <a:lstStyle/>
          <a:p>
            <a:r>
              <a:rPr lang="nn-NO" altLang="zh-CN" b="0" dirty="0">
                <a:solidFill>
                  <a:srgbClr val="000000"/>
                </a:solidFill>
                <a:effectLst/>
                <a:latin typeface="Consolas" panose="020B0609020204030204" pitchFamily="49" charset="0"/>
              </a:rPr>
              <a:t>  </a:t>
            </a:r>
            <a:r>
              <a:rPr lang="nn-NO" altLang="zh-CN" b="0" dirty="0">
                <a:solidFill>
                  <a:srgbClr val="AF00DB"/>
                </a:solidFill>
                <a:effectLst/>
                <a:latin typeface="Consolas" panose="020B0609020204030204" pitchFamily="49" charset="0"/>
              </a:rPr>
              <a:t>for</a:t>
            </a:r>
            <a:r>
              <a:rPr lang="nn-NO" altLang="zh-CN" b="0" dirty="0">
                <a:solidFill>
                  <a:srgbClr val="000000"/>
                </a:solidFill>
                <a:effectLst/>
                <a:latin typeface="Consolas" panose="020B0609020204030204" pitchFamily="49" charset="0"/>
              </a:rPr>
              <a:t> (</a:t>
            </a:r>
            <a:r>
              <a:rPr lang="nn-NO" altLang="zh-CN" b="0" dirty="0">
                <a:solidFill>
                  <a:srgbClr val="0000FF"/>
                </a:solidFill>
                <a:effectLst/>
                <a:latin typeface="Consolas" panose="020B0609020204030204" pitchFamily="49" charset="0"/>
              </a:rPr>
              <a:t>size_t</a:t>
            </a:r>
            <a:r>
              <a:rPr lang="nn-NO" altLang="zh-CN" b="0" dirty="0">
                <a:solidFill>
                  <a:srgbClr val="000000"/>
                </a:solidFill>
                <a:effectLst/>
                <a:latin typeface="Consolas" panose="020B0609020204030204" pitchFamily="49" charset="0"/>
              </a:rPr>
              <a:t> </a:t>
            </a:r>
            <a:r>
              <a:rPr lang="nn-NO" altLang="zh-CN" b="0" dirty="0">
                <a:solidFill>
                  <a:srgbClr val="795E26"/>
                </a:solidFill>
                <a:effectLst/>
                <a:latin typeface="Consolas" panose="020B0609020204030204" pitchFamily="49" charset="0"/>
              </a:rPr>
              <a:t>i</a:t>
            </a:r>
            <a:r>
              <a:rPr lang="nn-NO" altLang="zh-CN" b="0" dirty="0">
                <a:solidFill>
                  <a:srgbClr val="000000"/>
                </a:solidFill>
                <a:effectLst/>
                <a:latin typeface="Consolas" panose="020B0609020204030204" pitchFamily="49" charset="0"/>
              </a:rPr>
              <a:t>(</a:t>
            </a:r>
            <a:r>
              <a:rPr lang="nn-NO" altLang="zh-CN" b="0" dirty="0">
                <a:solidFill>
                  <a:srgbClr val="098658"/>
                </a:solidFill>
                <a:effectLst/>
                <a:latin typeface="Consolas" panose="020B0609020204030204" pitchFamily="49" charset="0"/>
              </a:rPr>
              <a:t>0</a:t>
            </a:r>
            <a:r>
              <a:rPr lang="nn-NO" altLang="zh-CN" b="0" dirty="0">
                <a:solidFill>
                  <a:srgbClr val="000000"/>
                </a:solidFill>
                <a:effectLst/>
                <a:latin typeface="Consolas" panose="020B0609020204030204" pitchFamily="49" charset="0"/>
              </a:rPr>
              <a:t>); i &lt; _dim_eq_cstr; ++i) {</a:t>
            </a:r>
          </a:p>
          <a:p>
            <a:r>
              <a:rPr lang="nn-NO" altLang="zh-CN" b="0" dirty="0">
                <a:solidFill>
                  <a:srgbClr val="000000"/>
                </a:solidFill>
                <a:effectLst/>
                <a:latin typeface="Consolas" panose="020B0609020204030204" pitchFamily="49" charset="0"/>
              </a:rPr>
              <a:t>    </a:t>
            </a:r>
            <a:r>
              <a:rPr lang="nn-NO" altLang="zh-CN" b="0" dirty="0">
                <a:solidFill>
                  <a:srgbClr val="AF00DB"/>
                </a:solidFill>
                <a:effectLst/>
                <a:latin typeface="Consolas" panose="020B0609020204030204" pitchFamily="49" charset="0"/>
              </a:rPr>
              <a:t>for</a:t>
            </a:r>
            <a:r>
              <a:rPr lang="nn-NO" altLang="zh-CN" b="0" dirty="0">
                <a:solidFill>
                  <a:srgbClr val="000000"/>
                </a:solidFill>
                <a:effectLst/>
                <a:latin typeface="Consolas" panose="020B0609020204030204" pitchFamily="49" charset="0"/>
              </a:rPr>
              <a:t> (</a:t>
            </a:r>
            <a:r>
              <a:rPr lang="nn-NO" altLang="zh-CN" b="0" dirty="0">
                <a:solidFill>
                  <a:srgbClr val="0000FF"/>
                </a:solidFill>
                <a:effectLst/>
                <a:latin typeface="Consolas" panose="020B0609020204030204" pitchFamily="49" charset="0"/>
              </a:rPr>
              <a:t>size_t</a:t>
            </a:r>
            <a:r>
              <a:rPr lang="nn-NO" altLang="zh-CN" b="0" dirty="0">
                <a:solidFill>
                  <a:srgbClr val="000000"/>
                </a:solidFill>
                <a:effectLst/>
                <a:latin typeface="Consolas" panose="020B0609020204030204" pitchFamily="49" charset="0"/>
              </a:rPr>
              <a:t> </a:t>
            </a:r>
            <a:r>
              <a:rPr lang="nn-NO" altLang="zh-CN" b="0" dirty="0">
                <a:solidFill>
                  <a:srgbClr val="795E26"/>
                </a:solidFill>
                <a:effectLst/>
                <a:latin typeface="Consolas" panose="020B0609020204030204" pitchFamily="49" charset="0"/>
              </a:rPr>
              <a:t>j</a:t>
            </a:r>
            <a:r>
              <a:rPr lang="nn-NO" altLang="zh-CN" b="0" dirty="0">
                <a:solidFill>
                  <a:srgbClr val="000000"/>
                </a:solidFill>
                <a:effectLst/>
                <a:latin typeface="Consolas" panose="020B0609020204030204" pitchFamily="49" charset="0"/>
              </a:rPr>
              <a:t>(</a:t>
            </a:r>
            <a:r>
              <a:rPr lang="nn-NO" altLang="zh-CN" b="0" dirty="0">
                <a:solidFill>
                  <a:srgbClr val="098658"/>
                </a:solidFill>
                <a:effectLst/>
                <a:latin typeface="Consolas" panose="020B0609020204030204" pitchFamily="49" charset="0"/>
              </a:rPr>
              <a:t>0</a:t>
            </a:r>
            <a:r>
              <a:rPr lang="nn-NO" altLang="zh-CN" b="0" dirty="0">
                <a:solidFill>
                  <a:srgbClr val="000000"/>
                </a:solidFill>
                <a:effectLst/>
                <a:latin typeface="Consolas" panose="020B0609020204030204" pitchFamily="49" charset="0"/>
              </a:rPr>
              <a:t>); j &lt; _dim_opt; ++j) {</a:t>
            </a:r>
          </a:p>
          <a:p>
            <a:r>
              <a:rPr lang="nn-NO" altLang="zh-CN" b="0" dirty="0">
                <a:solidFill>
                  <a:srgbClr val="000000"/>
                </a:solidFill>
                <a:effectLst/>
                <a:latin typeface="Consolas" panose="020B0609020204030204" pitchFamily="49" charset="0"/>
              </a:rPr>
              <a:t>      </a:t>
            </a:r>
            <a:r>
              <a:rPr lang="nn-NO" altLang="zh-CN" b="0" dirty="0">
                <a:solidFill>
                  <a:srgbClr val="001080"/>
                </a:solidFill>
                <a:effectLst/>
                <a:latin typeface="Consolas" panose="020B0609020204030204" pitchFamily="49" charset="0"/>
              </a:rPr>
              <a:t>CE</a:t>
            </a:r>
            <a:r>
              <a:rPr lang="nn-NO" altLang="zh-CN" b="0" dirty="0">
                <a:solidFill>
                  <a:srgbClr val="000000"/>
                </a:solidFill>
                <a:effectLst/>
                <a:latin typeface="Consolas" panose="020B0609020204030204" pitchFamily="49" charset="0"/>
              </a:rPr>
              <a:t>[j][i] = </a:t>
            </a:r>
            <a:r>
              <a:rPr lang="nn-NO" altLang="zh-CN" b="0" dirty="0">
                <a:solidFill>
                  <a:srgbClr val="795E26"/>
                </a:solidFill>
                <a:effectLst/>
                <a:latin typeface="Consolas" panose="020B0609020204030204" pitchFamily="49" charset="0"/>
              </a:rPr>
              <a:t>_dyn_CE</a:t>
            </a:r>
            <a:r>
              <a:rPr lang="nn-NO" altLang="zh-CN" b="0" dirty="0">
                <a:solidFill>
                  <a:srgbClr val="000000"/>
                </a:solidFill>
                <a:effectLst/>
                <a:latin typeface="Consolas" panose="020B0609020204030204" pitchFamily="49" charset="0"/>
              </a:rPr>
              <a:t>(i, j);</a:t>
            </a:r>
          </a:p>
          <a:p>
            <a:r>
              <a:rPr lang="nn-NO" altLang="zh-CN" b="0" dirty="0">
                <a:solidFill>
                  <a:srgbClr val="000000"/>
                </a:solidFill>
                <a:effectLst/>
                <a:latin typeface="Consolas" panose="020B0609020204030204" pitchFamily="49" charset="0"/>
              </a:rPr>
              <a:t>    }</a:t>
            </a:r>
          </a:p>
          <a:p>
            <a:r>
              <a:rPr lang="nn-NO" altLang="zh-CN" b="0" dirty="0">
                <a:solidFill>
                  <a:srgbClr val="000000"/>
                </a:solidFill>
                <a:effectLst/>
                <a:latin typeface="Consolas" panose="020B0609020204030204" pitchFamily="49" charset="0"/>
              </a:rPr>
              <a:t>    </a:t>
            </a:r>
            <a:r>
              <a:rPr lang="nn-NO" altLang="zh-CN" b="0" dirty="0">
                <a:solidFill>
                  <a:srgbClr val="001080"/>
                </a:solidFill>
                <a:effectLst/>
                <a:latin typeface="Consolas" panose="020B0609020204030204" pitchFamily="49" charset="0"/>
              </a:rPr>
              <a:t>ce0</a:t>
            </a:r>
            <a:r>
              <a:rPr lang="nn-NO" altLang="zh-CN" b="0" dirty="0">
                <a:solidFill>
                  <a:srgbClr val="000000"/>
                </a:solidFill>
                <a:effectLst/>
                <a:latin typeface="Consolas" panose="020B0609020204030204" pitchFamily="49" charset="0"/>
              </a:rPr>
              <a:t>[i] = -</a:t>
            </a:r>
            <a:r>
              <a:rPr lang="nn-NO" altLang="zh-CN" b="0" dirty="0">
                <a:solidFill>
                  <a:srgbClr val="001080"/>
                </a:solidFill>
                <a:effectLst/>
                <a:latin typeface="Consolas" panose="020B0609020204030204" pitchFamily="49" charset="0"/>
              </a:rPr>
              <a:t>_dyn_ce0</a:t>
            </a:r>
            <a:r>
              <a:rPr lang="nn-NO" altLang="zh-CN" b="0" dirty="0">
                <a:solidFill>
                  <a:srgbClr val="000000"/>
                </a:solidFill>
                <a:effectLst/>
                <a:latin typeface="Consolas" panose="020B0609020204030204" pitchFamily="49" charset="0"/>
              </a:rPr>
              <a:t>[i];</a:t>
            </a:r>
          </a:p>
          <a:p>
            <a:r>
              <a:rPr lang="nn-NO" altLang="zh-CN" b="0" dirty="0">
                <a:solidFill>
                  <a:srgbClr val="000000"/>
                </a:solidFill>
                <a:effectLst/>
                <a:latin typeface="Consolas" panose="020B0609020204030204" pitchFamily="49" charset="0"/>
              </a:rPr>
              <a:t>  }</a:t>
            </a:r>
          </a:p>
          <a:p>
            <a:r>
              <a:rPr lang="nn-NO"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330332443"/>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3" name="内容占位符 2">
            <a:extLst>
              <a:ext uri="{FF2B5EF4-FFF2-40B4-BE49-F238E27FC236}">
                <a16:creationId xmlns:a16="http://schemas.microsoft.com/office/drawing/2014/main" id="{0AF33F25-869C-6D78-C917-2041E0566558}"/>
              </a:ext>
            </a:extLst>
          </p:cNvPr>
          <p:cNvSpPr>
            <a:spLocks noChangeArrowheads="1"/>
          </p:cNvSpPr>
          <p:nvPr/>
        </p:nvSpPr>
        <p:spPr bwMode="auto">
          <a:xfrm>
            <a:off x="480768" y="992869"/>
            <a:ext cx="10678375" cy="66624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构建支撑相对应的摩擦锥约束：</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CD56E908-8E02-CD52-DCC6-79D07C1B8471}"/>
              </a:ext>
            </a:extLst>
          </p:cNvPr>
          <p:cNvSpPr txBox="1"/>
          <p:nvPr/>
        </p:nvSpPr>
        <p:spPr>
          <a:xfrm>
            <a:off x="961534" y="1500600"/>
            <a:ext cx="9935393" cy="4801314"/>
          </a:xfrm>
          <a:prstGeom prst="rect">
            <a:avLst/>
          </a:prstGeom>
          <a:noFill/>
        </p:spPr>
        <p:txBody>
          <a:bodyPr wrap="square">
            <a:spAutoFit/>
          </a:bodyPr>
          <a:lstStyle/>
          <a:p>
            <a:r>
              <a:rPr lang="en-US" altLang="zh-CN" b="0" dirty="0" err="1">
                <a:solidFill>
                  <a:srgbClr val="000000"/>
                </a:solidFill>
                <a:effectLst/>
                <a:latin typeface="Consolas" panose="020B0609020204030204" pitchFamily="49" charset="0"/>
              </a:rPr>
              <a:t>DMat</a:t>
            </a:r>
            <a:r>
              <a:rPr lang="en-US" altLang="zh-CN" b="0" dirty="0">
                <a:solidFill>
                  <a:srgbClr val="000000"/>
                </a:solidFill>
                <a:effectLst/>
                <a:latin typeface="Consolas" panose="020B0609020204030204" pitchFamily="49" charset="0"/>
              </a:rPr>
              <a:t>&lt;T&gt; </a:t>
            </a:r>
            <a:r>
              <a:rPr lang="en-US" altLang="zh-CN" b="0" dirty="0" err="1">
                <a:solidFill>
                  <a:srgbClr val="000000"/>
                </a:solidFill>
                <a:effectLst/>
                <a:latin typeface="Consolas" panose="020B0609020204030204" pitchFamily="49" charset="0"/>
              </a:rPr>
              <a:t>Uf</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DVec</a:t>
            </a:r>
            <a:r>
              <a:rPr lang="en-US" altLang="zh-CN" b="0" dirty="0">
                <a:solidFill>
                  <a:srgbClr val="000000"/>
                </a:solidFill>
                <a:effectLst/>
                <a:latin typeface="Consolas" panose="020B0609020204030204" pitchFamily="49" charset="0"/>
              </a:rPr>
              <a:t>&lt;T&gt; </a:t>
            </a:r>
            <a:r>
              <a:rPr lang="en-US" altLang="zh-CN" b="0" dirty="0" err="1">
                <a:solidFill>
                  <a:srgbClr val="000000"/>
                </a:solidFill>
                <a:effectLst/>
                <a:latin typeface="Consolas" panose="020B0609020204030204" pitchFamily="49" charset="0"/>
              </a:rPr>
              <a:t>Uf_ieq_vec</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DMat</a:t>
            </a:r>
            <a:r>
              <a:rPr lang="en-US" altLang="zh-CN" b="0" dirty="0">
                <a:solidFill>
                  <a:srgbClr val="000000"/>
                </a:solidFill>
                <a:effectLst/>
                <a:latin typeface="Consolas" panose="020B0609020204030204" pitchFamily="49" charset="0"/>
              </a:rPr>
              <a:t>&lt;T&gt; </a:t>
            </a:r>
            <a:r>
              <a:rPr lang="en-US" altLang="zh-CN" b="0" dirty="0" err="1">
                <a:solidFill>
                  <a:srgbClr val="000000"/>
                </a:solidFill>
                <a:effectLst/>
                <a:latin typeface="Consolas" panose="020B0609020204030204" pitchFamily="49" charset="0"/>
              </a:rPr>
              <a:t>Jc</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DVec</a:t>
            </a:r>
            <a:r>
              <a:rPr lang="en-US" altLang="zh-CN" b="0" dirty="0">
                <a:solidFill>
                  <a:srgbClr val="000000"/>
                </a:solidFill>
                <a:effectLst/>
                <a:latin typeface="Consolas" panose="020B0609020204030204" pitchFamily="49" charset="0"/>
              </a:rPr>
              <a:t>&lt;T&gt; </a:t>
            </a:r>
            <a:r>
              <a:rPr lang="en-US" altLang="zh-CN" b="0" dirty="0" err="1">
                <a:solidFill>
                  <a:srgbClr val="000000"/>
                </a:solidFill>
                <a:effectLst/>
                <a:latin typeface="Consolas" panose="020B0609020204030204" pitchFamily="49" charset="0"/>
              </a:rPr>
              <a:t>JcDotQdot</a:t>
            </a:r>
            <a:r>
              <a:rPr lang="en-US" altLang="zh-CN" b="0" dirty="0">
                <a:solidFill>
                  <a:srgbClr val="000000"/>
                </a:solidFill>
                <a:effectLst/>
                <a:latin typeface="Consolas" panose="020B0609020204030204" pitchFamily="49" charset="0"/>
              </a:rPr>
              <a:t>;</a:t>
            </a:r>
          </a:p>
          <a:p>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dim_accumul_rf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dim_accumul_uf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getContactJacobian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Jc</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getJcDotQdot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JcDotQdot</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getRFConstraintMtx</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Uf</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getRFConstraintVec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Uf_ieq_vec</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dim_accumul_rf</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getDim</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dim_accumul_uf</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getDimRFConstraint</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Jc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dim_accumul_rf</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num_qdot</a:t>
            </a:r>
            <a:r>
              <a:rPr lang="en-US" altLang="zh-CN" b="0" dirty="0">
                <a:solidFill>
                  <a:srgbClr val="000000"/>
                </a:solidFill>
                <a:effectLst/>
                <a:latin typeface="Consolas" panose="020B0609020204030204" pitchFamily="49" charset="0"/>
              </a:rPr>
              <a:t>_) = </a:t>
            </a:r>
            <a:r>
              <a:rPr lang="en-US" altLang="zh-CN" b="0" dirty="0" err="1">
                <a:solidFill>
                  <a:srgbClr val="000000"/>
                </a:solidFill>
                <a:effectLst/>
                <a:latin typeface="Consolas" panose="020B0609020204030204" pitchFamily="49" charset="0"/>
              </a:rPr>
              <a:t>Jc</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JcDotQdot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head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dim_accumul_rf</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JcDotQdot</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Uf</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dim_accumul_uf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dim_accumul_rf</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Uf</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Uf_ieq_vec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head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dim_accumul_uf</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Uf_ieq_vec</a:t>
            </a:r>
            <a:r>
              <a:rPr lang="en-US" altLang="zh-CN" b="0" dirty="0">
                <a:solidFill>
                  <a:srgbClr val="000000"/>
                </a:solidFill>
                <a:effectLst/>
                <a:latin typeface="Consolas" panose="020B0609020204030204" pitchFamily="49" charset="0"/>
              </a:rPr>
              <a:t>;</a:t>
            </a:r>
          </a:p>
          <a:p>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Fr_des</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head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dim_accumul_rf</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getRFDesired</a:t>
            </a:r>
            <a:r>
              <a:rPr lang="en-US" altLang="zh-CN" b="0" dirty="0">
                <a:solidFill>
                  <a:srgbClr val="000000"/>
                </a:solidFill>
                <a:effectLst/>
                <a:latin typeface="Consolas" panose="020B0609020204030204" pitchFamily="49" charset="0"/>
              </a:rPr>
              <a:t>();</a:t>
            </a:r>
          </a:p>
          <a:p>
            <a:endParaRPr lang="en-US" altLang="zh-C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4100957875"/>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8" name="文本框 7">
            <a:extLst>
              <a:ext uri="{FF2B5EF4-FFF2-40B4-BE49-F238E27FC236}">
                <a16:creationId xmlns:a16="http://schemas.microsoft.com/office/drawing/2014/main" id="{B979B543-8EB2-0007-1F35-1B1D3C46D67F}"/>
              </a:ext>
            </a:extLst>
          </p:cNvPr>
          <p:cNvSpPr txBox="1"/>
          <p:nvPr/>
        </p:nvSpPr>
        <p:spPr>
          <a:xfrm>
            <a:off x="732844" y="1166842"/>
            <a:ext cx="10708850" cy="4524315"/>
          </a:xfrm>
          <a:prstGeom prst="rect">
            <a:avLst/>
          </a:prstGeom>
          <a:noFill/>
        </p:spPr>
        <p:txBody>
          <a:bodyPr wrap="square">
            <a:spAutoFit/>
          </a:bodyPr>
          <a:lstStyle/>
          <a:p>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dim_new_rf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dim_new_uf</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size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getContactJacobian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Jc</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getJcDotQdot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JcDotQdot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dim_new_rf</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getDim</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dim_new_uf</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getDimRFConstraint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Jc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dim_accumul_rf</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dim_new_rf</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num_qdot</a:t>
            </a:r>
            <a:r>
              <a:rPr lang="en-US" altLang="zh-CN" b="0" dirty="0">
                <a:solidFill>
                  <a:srgbClr val="000000"/>
                </a:solidFill>
                <a:effectLst/>
                <a:latin typeface="Consolas" panose="020B0609020204030204" pitchFamily="49" charset="0"/>
              </a:rPr>
              <a:t>_) = </a:t>
            </a:r>
            <a:r>
              <a:rPr lang="en-US" altLang="zh-CN" b="0" dirty="0" err="1">
                <a:solidFill>
                  <a:srgbClr val="000000"/>
                </a:solidFill>
                <a:effectLst/>
                <a:latin typeface="Consolas" panose="020B0609020204030204" pitchFamily="49" charset="0"/>
              </a:rPr>
              <a:t>Jc</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JcDotQdot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segment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dim_accumul_rf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dim_new_rf</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JcDotQdot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getRFConstraintMtx</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Uf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Uf</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dim_accumul_uf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dim_accumul_rf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dim_new_uf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dim_new_rf</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Uf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getRFConstraintVec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Uf_ieq_vec</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Uf_ieq_vec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segment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dim_accumul_uf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dim_new_uf</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Uf_ieq_vec</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Fr_des</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segment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dim_accumul_rf,dim_new_rf</a:t>
            </a:r>
            <a:r>
              <a:rPr lang="en-US" altLang="zh-CN" b="0" dirty="0">
                <a:solidFill>
                  <a:srgbClr val="000000"/>
                </a:solidFill>
                <a:effectLst/>
                <a:latin typeface="Consolas" panose="020B0609020204030204" pitchFamily="49" charset="0"/>
              </a:rPr>
              <a:t>)=(*_</a:t>
            </a:r>
            <a:r>
              <a:rPr lang="en-US" altLang="zh-CN" b="0" dirty="0" err="1">
                <a:solidFill>
                  <a:srgbClr val="000000"/>
                </a:solidFill>
                <a:effectLst/>
                <a:latin typeface="Consolas" panose="020B0609020204030204" pitchFamily="49" charset="0"/>
              </a:rPr>
              <a:t>contact_list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]-&gt;</a:t>
            </a:r>
            <a:r>
              <a:rPr lang="en-US" altLang="zh-CN" b="0" dirty="0" err="1">
                <a:solidFill>
                  <a:srgbClr val="795E26"/>
                </a:solidFill>
                <a:effectLst/>
                <a:latin typeface="Consolas" panose="020B0609020204030204" pitchFamily="49" charset="0"/>
              </a:rPr>
              <a:t>getRFDesired</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dim_accumul_rf</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dim_new_rf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dim_accumul_uf</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dim_new_uf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677810168"/>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3" name="文本框 2">
            <a:extLst>
              <a:ext uri="{FF2B5EF4-FFF2-40B4-BE49-F238E27FC236}">
                <a16:creationId xmlns:a16="http://schemas.microsoft.com/office/drawing/2014/main" id="{D1A7871D-D53C-01D2-F7B0-15A4578DAF8B}"/>
              </a:ext>
            </a:extLst>
          </p:cNvPr>
          <p:cNvSpPr txBox="1"/>
          <p:nvPr/>
        </p:nvSpPr>
        <p:spPr>
          <a:xfrm>
            <a:off x="1220354" y="1471575"/>
            <a:ext cx="9072562" cy="3416320"/>
          </a:xfrm>
          <a:prstGeom prst="rect">
            <a:avLst/>
          </a:prstGeom>
          <a:noFill/>
        </p:spPr>
        <p:txBody>
          <a:bodyPr wrap="square">
            <a:spAutoFit/>
          </a:bodyPr>
          <a:lstStyle/>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将不等式约束更新到优化器中</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template &lt;</a:t>
            </a:r>
            <a:r>
              <a:rPr lang="en-US" altLang="zh-CN" b="0" dirty="0" err="1">
                <a:solidFill>
                  <a:srgbClr val="0000FF"/>
                </a:solidFill>
                <a:effectLst/>
                <a:latin typeface="Consolas" panose="020B0609020204030204" pitchFamily="49" charset="0"/>
              </a:rPr>
              <a:t>typename</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WBIC</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SetInEqualityConstraint</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dyn_CI</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dim_Uf</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dim_rf</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Uf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_dyn_ci0 = _</a:t>
            </a:r>
            <a:r>
              <a:rPr lang="en-US" altLang="zh-CN" b="0" dirty="0" err="1">
                <a:solidFill>
                  <a:srgbClr val="000000"/>
                </a:solidFill>
                <a:effectLst/>
                <a:latin typeface="Consolas" panose="020B0609020204030204" pitchFamily="49" charset="0"/>
              </a:rPr>
              <a:t>Uf_ieq_vec</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Uf</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Fr_des</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_</a:t>
            </a:r>
            <a:r>
              <a:rPr lang="en-US" altLang="zh-CN" b="0" dirty="0" err="1">
                <a:solidFill>
                  <a:srgbClr val="000000"/>
                </a:solidFill>
                <a:effectLst/>
                <a:latin typeface="Consolas" panose="020B0609020204030204" pitchFamily="49" charset="0"/>
              </a:rPr>
              <a:t>dim_Uf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j &lt; _</a:t>
            </a:r>
            <a:r>
              <a:rPr lang="en-US" altLang="zh-CN" b="0" dirty="0" err="1">
                <a:solidFill>
                  <a:srgbClr val="000000"/>
                </a:solidFill>
                <a:effectLst/>
                <a:latin typeface="Consolas" panose="020B0609020204030204" pitchFamily="49" charset="0"/>
              </a:rPr>
              <a:t>dim_opt</a:t>
            </a:r>
            <a:r>
              <a:rPr lang="en-US" altLang="zh-CN" b="0" dirty="0">
                <a:solidFill>
                  <a:srgbClr val="000000"/>
                </a:solidFill>
                <a:effectLst/>
                <a:latin typeface="Consolas" panose="020B0609020204030204" pitchFamily="49" charset="0"/>
              </a:rPr>
              <a:t>; ++j)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CI</a:t>
            </a:r>
            <a:r>
              <a:rPr lang="en-US" altLang="zh-CN" b="0" dirty="0">
                <a:solidFill>
                  <a:srgbClr val="000000"/>
                </a:solidFill>
                <a:effectLst/>
                <a:latin typeface="Consolas" panose="020B0609020204030204" pitchFamily="49" charset="0"/>
              </a:rPr>
              <a:t>[j][</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dyn_CI</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j);</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ci0</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_dyn_ci0</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67092778"/>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3" name="内容占位符 2">
            <a:extLst>
              <a:ext uri="{FF2B5EF4-FFF2-40B4-BE49-F238E27FC236}">
                <a16:creationId xmlns:a16="http://schemas.microsoft.com/office/drawing/2014/main" id="{0AF33F25-869C-6D78-C917-2041E0566558}"/>
              </a:ext>
            </a:extLst>
          </p:cNvPr>
          <p:cNvSpPr>
            <a:spLocks noChangeArrowheads="1"/>
          </p:cNvSpPr>
          <p:nvPr/>
        </p:nvSpPr>
        <p:spPr bwMode="auto">
          <a:xfrm>
            <a:off x="480768" y="992869"/>
            <a:ext cx="10678375" cy="66624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求解出</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QP</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问题的解，得到最优化的结果：</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a:extLst>
              <a:ext uri="{FF2B5EF4-FFF2-40B4-BE49-F238E27FC236}">
                <a16:creationId xmlns:a16="http://schemas.microsoft.com/office/drawing/2014/main" id="{BDA05198-5B3E-946E-817B-A0F4944DFE80}"/>
              </a:ext>
            </a:extLst>
          </p:cNvPr>
          <p:cNvSpPr txBox="1"/>
          <p:nvPr/>
        </p:nvSpPr>
        <p:spPr>
          <a:xfrm>
            <a:off x="820991" y="1515833"/>
            <a:ext cx="10678375" cy="4801314"/>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T f = </a:t>
            </a:r>
            <a:r>
              <a:rPr lang="en-US" altLang="zh-CN" b="0" dirty="0" err="1">
                <a:solidFill>
                  <a:srgbClr val="795E26"/>
                </a:solidFill>
                <a:effectLst/>
                <a:latin typeface="Consolas" panose="020B0609020204030204" pitchFamily="49" charset="0"/>
              </a:rPr>
              <a:t>solve_quadprog</a:t>
            </a:r>
            <a:r>
              <a:rPr lang="en-US" altLang="zh-CN" b="0" dirty="0">
                <a:solidFill>
                  <a:srgbClr val="000000"/>
                </a:solidFill>
                <a:effectLst/>
                <a:latin typeface="Consolas" panose="020B0609020204030204" pitchFamily="49" charset="0"/>
              </a:rPr>
              <a:t>(G, g0, CE, ce0, CI, ci0, z);</a:t>
            </a:r>
          </a:p>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qddot_pre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z</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GetSolution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qddot_pre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cmd</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WBIC</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GetSolution</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const</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DVec</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00FF"/>
                </a:solidFill>
                <a:effectLst/>
                <a:latin typeface="Consolas" panose="020B0609020204030204" pitchFamily="49" charset="0"/>
              </a:rPr>
              <a:t>&amp;</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qddot</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DVec</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0000FF"/>
                </a:solidFill>
                <a:effectLst/>
                <a:latin typeface="Consolas" panose="020B0609020204030204" pitchFamily="49" charset="0"/>
              </a:rPr>
              <a:t>&amp;</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cmd</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DVec</a:t>
            </a:r>
            <a:r>
              <a:rPr lang="en-US" altLang="zh-CN" b="0" dirty="0">
                <a:solidFill>
                  <a:srgbClr val="000000"/>
                </a:solidFill>
                <a:effectLst/>
                <a:latin typeface="Consolas" panose="020B0609020204030204" pitchFamily="49" charset="0"/>
              </a:rPr>
              <a:t>&lt;T&gt; </a:t>
            </a:r>
            <a:r>
              <a:rPr lang="en-US" altLang="zh-CN" b="0" dirty="0" err="1">
                <a:solidFill>
                  <a:srgbClr val="000000"/>
                </a:solidFill>
                <a:effectLst/>
                <a:latin typeface="Consolas" panose="020B0609020204030204" pitchFamily="49" charset="0"/>
              </a:rPr>
              <a:t>tot_tau</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 (_</a:t>
            </a:r>
            <a:r>
              <a:rPr lang="en-US" altLang="zh-CN" b="0" dirty="0" err="1">
                <a:solidFill>
                  <a:srgbClr val="000000"/>
                </a:solidFill>
                <a:effectLst/>
                <a:latin typeface="Consolas" panose="020B0609020204030204" pitchFamily="49" charset="0"/>
              </a:rPr>
              <a:t>dim_rf</a:t>
            </a:r>
            <a:r>
              <a:rPr lang="en-US" altLang="zh-CN" b="0" dirty="0">
                <a:solidFill>
                  <a:srgbClr val="000000"/>
                </a:solidFill>
                <a:effectLst/>
                <a:latin typeface="Consolas" panose="020B0609020204030204" pitchFamily="49" charset="0"/>
              </a:rPr>
              <a:t> &gt;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_data</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_Fr</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DVec</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&gt;(_</a:t>
            </a:r>
            <a:r>
              <a:rPr lang="en-US" altLang="zh-CN" b="0" dirty="0" err="1">
                <a:solidFill>
                  <a:srgbClr val="000000"/>
                </a:solidFill>
                <a:effectLst/>
                <a:latin typeface="Consolas" panose="020B0609020204030204" pitchFamily="49" charset="0"/>
              </a:rPr>
              <a:t>dim_rf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_</a:t>
            </a:r>
            <a:r>
              <a:rPr lang="en-US" altLang="zh-CN" b="0" dirty="0" err="1">
                <a:solidFill>
                  <a:srgbClr val="000000"/>
                </a:solidFill>
                <a:effectLst/>
                <a:latin typeface="Consolas" panose="020B0609020204030204" pitchFamily="49" charset="0"/>
              </a:rPr>
              <a:t>dim_rf</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_data</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_Fr</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z</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_</a:t>
            </a:r>
            <a:r>
              <a:rPr lang="en-US" altLang="zh-CN" b="0" dirty="0" err="1">
                <a:solidFill>
                  <a:srgbClr val="000000"/>
                </a:solidFill>
                <a:effectLst/>
                <a:latin typeface="Consolas" panose="020B0609020204030204" pitchFamily="49" charset="0"/>
              </a:rPr>
              <a:t>dim_floating</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Fr_des</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tot_tau</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::A_ * </a:t>
            </a:r>
            <a:r>
              <a:rPr lang="en-US" altLang="zh-CN" b="0" dirty="0" err="1">
                <a:solidFill>
                  <a:srgbClr val="000000"/>
                </a:solidFill>
                <a:effectLst/>
                <a:latin typeface="Consolas" panose="020B0609020204030204" pitchFamily="49" charset="0"/>
              </a:rPr>
              <a:t>qddot</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cori</a:t>
            </a:r>
            <a:r>
              <a:rPr lang="en-US" altLang="zh-CN" b="0" dirty="0">
                <a:solidFill>
                  <a:srgbClr val="000000"/>
                </a:solidFill>
                <a:effectLst/>
                <a:latin typeface="Consolas" panose="020B0609020204030204" pitchFamily="49" charset="0"/>
              </a:rPr>
              <a:t>_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grav</a:t>
            </a:r>
            <a:r>
              <a:rPr lang="en-US" altLang="zh-CN" b="0" dirty="0">
                <a:solidFill>
                  <a:srgbClr val="000000"/>
                </a:solidFill>
                <a:effectLst/>
                <a:latin typeface="Consolas" panose="020B0609020204030204" pitchFamily="49" charset="0"/>
              </a:rPr>
              <a:t>_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Jc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transpose</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_data</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_Fr</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 </a:t>
            </a:r>
            <a:r>
              <a:rPr lang="en-US" altLang="zh-CN" b="0" dirty="0">
                <a:solidFill>
                  <a:srgbClr val="AF00DB"/>
                </a:solidFill>
                <a:effectLst/>
                <a:latin typeface="Consolas" panose="020B0609020204030204" pitchFamily="49" charset="0"/>
              </a:rPr>
              <a:t>else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tot_tau</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::A_ * </a:t>
            </a:r>
            <a:r>
              <a:rPr lang="en-US" altLang="zh-CN" b="0" dirty="0" err="1">
                <a:solidFill>
                  <a:srgbClr val="000000"/>
                </a:solidFill>
                <a:effectLst/>
                <a:latin typeface="Consolas" panose="020B0609020204030204" pitchFamily="49" charset="0"/>
              </a:rPr>
              <a:t>qddot</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cori</a:t>
            </a:r>
            <a:r>
              <a:rPr lang="en-US" altLang="zh-CN" b="0" dirty="0">
                <a:solidFill>
                  <a:srgbClr val="000000"/>
                </a:solidFill>
                <a:effectLst/>
                <a:latin typeface="Consolas" panose="020B0609020204030204" pitchFamily="49" charset="0"/>
              </a:rPr>
              <a:t>_ + </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grav</a:t>
            </a:r>
            <a:r>
              <a:rPr lang="en-US" altLang="zh-CN" b="0" dirty="0">
                <a:solidFill>
                  <a:srgbClr val="000000"/>
                </a:solidFill>
                <a:effectLst/>
                <a:latin typeface="Consolas" panose="020B0609020204030204" pitchFamily="49" charset="0"/>
              </a:rPr>
              <a:t>_;</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_data</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qddot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qddot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cmd</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tot_tau</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tail</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WB</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num_act_joint</a:t>
            </a:r>
            <a:r>
              <a:rPr lang="en-US" altLang="zh-CN" b="0" dirty="0">
                <a:solidFill>
                  <a:srgbClr val="000000"/>
                </a:solidFill>
                <a:effectLst/>
                <a:latin typeface="Consolas" panose="020B0609020204030204" pitchFamily="49" charset="0"/>
              </a:rPr>
              <a:t>_);</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374869490"/>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12.4.2 WBC</a:t>
            </a:r>
            <a:r>
              <a:rPr lang="zh-CN" altLang="en-US" sz="2800" b="1" dirty="0">
                <a:latin typeface="Times New Roman" pitchFamily="18" charset="0"/>
                <a:ea typeface="华文中宋" pitchFamily="2" charset="-122"/>
              </a:rPr>
              <a:t>控制器</a:t>
            </a:r>
          </a:p>
        </p:txBody>
      </p:sp>
      <p:sp>
        <p:nvSpPr>
          <p:cNvPr id="3" name="内容占位符 2">
            <a:extLst>
              <a:ext uri="{FF2B5EF4-FFF2-40B4-BE49-F238E27FC236}">
                <a16:creationId xmlns:a16="http://schemas.microsoft.com/office/drawing/2014/main" id="{0AF33F25-869C-6D78-C917-2041E0566558}"/>
              </a:ext>
            </a:extLst>
          </p:cNvPr>
          <p:cNvSpPr>
            <a:spLocks noChangeArrowheads="1"/>
          </p:cNvSpPr>
          <p:nvPr/>
        </p:nvSpPr>
        <p:spPr bwMode="auto">
          <a:xfrm>
            <a:off x="480768" y="992869"/>
            <a:ext cx="10678375" cy="66624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计算出最终的期望指令，并进行指令更新：</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83AB5FDC-AA5C-EDF2-196F-EE592652A091}"/>
              </a:ext>
            </a:extLst>
          </p:cNvPr>
          <p:cNvSpPr txBox="1"/>
          <p:nvPr/>
        </p:nvSpPr>
        <p:spPr>
          <a:xfrm>
            <a:off x="961534" y="1736271"/>
            <a:ext cx="10541523" cy="3693319"/>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template&lt;</a:t>
            </a:r>
            <a:r>
              <a:rPr lang="en-US" altLang="zh-CN" b="0" dirty="0" err="1">
                <a:solidFill>
                  <a:srgbClr val="0000FF"/>
                </a:solidFill>
                <a:effectLst/>
                <a:latin typeface="Consolas" panose="020B0609020204030204" pitchFamily="49" charset="0"/>
              </a:rPr>
              <a:t>typename</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WBC_Ctrl</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_</a:t>
            </a:r>
            <a:r>
              <a:rPr lang="en-US" altLang="zh-CN" b="0" dirty="0" err="1">
                <a:solidFill>
                  <a:srgbClr val="795E26"/>
                </a:solidFill>
                <a:effectLst/>
                <a:latin typeface="Consolas" panose="020B0609020204030204" pitchFamily="49" charset="0"/>
              </a:rPr>
              <a:t>UpdateLegCMD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ControlFSMData</a:t>
            </a:r>
            <a:r>
              <a:rPr lang="en-US" altLang="zh-CN" b="0" dirty="0">
                <a:solidFill>
                  <a:srgbClr val="000000"/>
                </a:solidFill>
                <a:effectLst/>
                <a:latin typeface="Consolas" panose="020B0609020204030204" pitchFamily="49" charset="0"/>
              </a:rPr>
              <a:t>&lt;T&gt; &amp; data)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LegControllerCommand</a:t>
            </a:r>
            <a:r>
              <a:rPr lang="en-US" altLang="zh-CN" b="0" dirty="0">
                <a:solidFill>
                  <a:srgbClr val="000000"/>
                </a:solidFill>
                <a:effectLst/>
                <a:latin typeface="Consolas" panose="020B0609020204030204" pitchFamily="49" charset="0"/>
              </a:rPr>
              <a:t>&lt;T&gt; * </a:t>
            </a:r>
            <a:r>
              <a:rPr lang="en-US" altLang="zh-CN" b="0" dirty="0" err="1">
                <a:solidFill>
                  <a:srgbClr val="000000"/>
                </a:solidFill>
                <a:effectLst/>
                <a:latin typeface="Consolas" panose="020B0609020204030204" pitchFamily="49" charset="0"/>
              </a:rPr>
              <a:t>cmd</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data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legController</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leg</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leg &lt; </a:t>
            </a:r>
            <a:r>
              <a:rPr lang="en-US" altLang="zh-CN" b="0" dirty="0">
                <a:solidFill>
                  <a:srgbClr val="267F99"/>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num_leg</a:t>
            </a:r>
            <a:r>
              <a:rPr lang="en-US" altLang="zh-CN" b="0" dirty="0">
                <a:solidFill>
                  <a:srgbClr val="000000"/>
                </a:solidFill>
                <a:effectLst/>
                <a:latin typeface="Consolas" panose="020B0609020204030204" pitchFamily="49" charset="0"/>
              </a:rPr>
              <a:t>; ++leg)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cmd</a:t>
            </a:r>
            <a:r>
              <a:rPr lang="en-US" altLang="zh-CN" b="0" dirty="0">
                <a:solidFill>
                  <a:srgbClr val="000000"/>
                </a:solidFill>
                <a:effectLst/>
                <a:latin typeface="Consolas" panose="020B0609020204030204" pitchFamily="49" charset="0"/>
              </a:rPr>
              <a:t>[leg].</a:t>
            </a:r>
            <a:r>
              <a:rPr lang="en-US" altLang="zh-CN" b="0" dirty="0">
                <a:solidFill>
                  <a:srgbClr val="795E26"/>
                </a:solidFill>
                <a:effectLst/>
                <a:latin typeface="Consolas" panose="020B0609020204030204" pitchFamily="49" charset="0"/>
              </a:rPr>
              <a:t>zero</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FF"/>
                </a:solidFill>
                <a:effectLst/>
                <a:latin typeface="Consolas" panose="020B0609020204030204" pitchFamily="49" charset="0"/>
              </a:rPr>
              <a:t>size_t</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 &lt; </a:t>
            </a:r>
            <a:r>
              <a:rPr lang="en-US" altLang="zh-CN" b="0" dirty="0">
                <a:solidFill>
                  <a:srgbClr val="267F99"/>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num_leg_joint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cmd</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tauFeedForward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tau_ff</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num_leg_joint</a:t>
            </a:r>
            <a:r>
              <a:rPr lang="en-US" altLang="zh-CN" b="0" dirty="0">
                <a:solidFill>
                  <a:srgbClr val="000000"/>
                </a:solidFill>
                <a:effectLst/>
                <a:latin typeface="Consolas" panose="020B0609020204030204" pitchFamily="49" charset="0"/>
              </a:rPr>
              <a:t> * leg + </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cmd</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qDes</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des_jpos</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num_leg_joint</a:t>
            </a:r>
            <a:r>
              <a:rPr lang="en-US" altLang="zh-CN" b="0" dirty="0">
                <a:solidFill>
                  <a:srgbClr val="000000"/>
                </a:solidFill>
                <a:effectLst/>
                <a:latin typeface="Consolas" panose="020B0609020204030204" pitchFamily="49" charset="0"/>
              </a:rPr>
              <a:t> * leg + </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cmd</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qdDes</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des_jvel</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cheetah</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num_leg_joint</a:t>
            </a:r>
            <a:r>
              <a:rPr lang="en-US" altLang="zh-CN" b="0" dirty="0">
                <a:solidFill>
                  <a:srgbClr val="000000"/>
                </a:solidFill>
                <a:effectLst/>
                <a:latin typeface="Consolas" panose="020B0609020204030204" pitchFamily="49" charset="0"/>
              </a:rPr>
              <a:t> * leg + </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cmd</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kpJoint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Kp_joint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cmd</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kdJoint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Kd_joint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jidx</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930597772"/>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12.4.3 </a:t>
            </a:r>
            <a:r>
              <a:rPr lang="zh-CN" altLang="en-US" sz="2800" b="1" dirty="0">
                <a:latin typeface="Times New Roman" pitchFamily="18" charset="0"/>
                <a:ea typeface="华文中宋" pitchFamily="2" charset="-122"/>
              </a:rPr>
              <a:t>腿部控制器</a:t>
            </a:r>
          </a:p>
        </p:txBody>
      </p:sp>
      <p:sp>
        <p:nvSpPr>
          <p:cNvPr id="3" name="内容占位符 2">
            <a:extLst>
              <a:ext uri="{FF2B5EF4-FFF2-40B4-BE49-F238E27FC236}">
                <a16:creationId xmlns:a16="http://schemas.microsoft.com/office/drawing/2014/main" id="{0AF33F25-869C-6D78-C917-2041E0566558}"/>
              </a:ext>
            </a:extLst>
          </p:cNvPr>
          <p:cNvSpPr>
            <a:spLocks noChangeArrowheads="1"/>
          </p:cNvSpPr>
          <p:nvPr/>
        </p:nvSpPr>
        <p:spPr bwMode="auto">
          <a:xfrm>
            <a:off x="480768" y="992869"/>
            <a:ext cx="10678375" cy="1552368"/>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控制器求解出状态空间的值，即最优的足底力，利用腿部的运动学原理，计算出关节角和足端位置，进而利用关节空间和笛卡尔坐标系下足端位置的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控制求解出关节扭矩，最后将控制参数传递给驱动器执行。</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AA50E47F-9C64-F775-64CE-30E4709107E2}"/>
              </a:ext>
            </a:extLst>
          </p:cNvPr>
          <p:cNvSpPr txBox="1"/>
          <p:nvPr/>
        </p:nvSpPr>
        <p:spPr>
          <a:xfrm>
            <a:off x="657429" y="2327605"/>
            <a:ext cx="10859679" cy="3970318"/>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computeLegJacobianAndPosition</a:t>
            </a:r>
            <a:r>
              <a:rPr lang="en-US" altLang="zh-CN" b="0" dirty="0">
                <a:solidFill>
                  <a:srgbClr val="000000"/>
                </a:solidFill>
                <a:effectLst/>
                <a:latin typeface="Consolas" panose="020B0609020204030204" pitchFamily="49" charset="0"/>
              </a:rPr>
              <a:t>(Quadruped&lt;T&gt;&amp; quad, Vec3&lt;T&gt;&amp; q, Mat3&lt;T&gt;* J,</a:t>
            </a:r>
          </a:p>
          <a:p>
            <a:r>
              <a:rPr lang="en-US" altLang="zh-CN" b="0" dirty="0">
                <a:solidFill>
                  <a:srgbClr val="000000"/>
                </a:solidFill>
                <a:effectLst/>
                <a:latin typeface="Consolas" panose="020B0609020204030204" pitchFamily="49" charset="0"/>
              </a:rPr>
              <a:t>                                   Vec3&lt;T&gt;* p,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leg) {</a:t>
            </a:r>
          </a:p>
          <a:p>
            <a:r>
              <a:rPr lang="en-US" altLang="zh-CN" b="0" dirty="0">
                <a:solidFill>
                  <a:srgbClr val="000000"/>
                </a:solidFill>
                <a:effectLst/>
                <a:latin typeface="Consolas" panose="020B0609020204030204" pitchFamily="49" charset="0"/>
              </a:rPr>
              <a:t>  T l1 = </a:t>
            </a:r>
            <a:r>
              <a:rPr lang="en-US" altLang="zh-CN" b="0" dirty="0">
                <a:solidFill>
                  <a:srgbClr val="001080"/>
                </a:solidFill>
                <a:effectLst/>
                <a:latin typeface="Consolas" panose="020B0609020204030204" pitchFamily="49" charset="0"/>
              </a:rPr>
              <a:t>quad</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abadLinkLength</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T l2 = </a:t>
            </a:r>
            <a:r>
              <a:rPr lang="en-US" altLang="zh-CN" b="0" dirty="0">
                <a:solidFill>
                  <a:srgbClr val="001080"/>
                </a:solidFill>
                <a:effectLst/>
                <a:latin typeface="Consolas" panose="020B0609020204030204" pitchFamily="49" charset="0"/>
              </a:rPr>
              <a:t>quad</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hipLinkLength</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T l3 = </a:t>
            </a:r>
            <a:r>
              <a:rPr lang="en-US" altLang="zh-CN" b="0" dirty="0">
                <a:solidFill>
                  <a:srgbClr val="001080"/>
                </a:solidFill>
                <a:effectLst/>
                <a:latin typeface="Consolas" panose="020B0609020204030204" pitchFamily="49" charset="0"/>
              </a:rPr>
              <a:t>quad</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kneeLinkLength</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T </a:t>
            </a:r>
            <a:r>
              <a:rPr lang="en-US" altLang="zh-CN" b="0" dirty="0" err="1">
                <a:solidFill>
                  <a:srgbClr val="000000"/>
                </a:solidFill>
                <a:effectLst/>
                <a:latin typeface="Consolas" panose="020B0609020204030204" pitchFamily="49" charset="0"/>
              </a:rPr>
              <a:t>sideSign</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quad</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getSideSign</a:t>
            </a:r>
            <a:r>
              <a:rPr lang="en-US" altLang="zh-CN" b="0" dirty="0">
                <a:solidFill>
                  <a:srgbClr val="000000"/>
                </a:solidFill>
                <a:effectLst/>
                <a:latin typeface="Consolas" panose="020B0609020204030204" pitchFamily="49" charset="0"/>
              </a:rPr>
              <a:t>(leg);</a:t>
            </a:r>
          </a:p>
          <a:p>
            <a:r>
              <a:rPr lang="en-US" altLang="zh-CN" b="0" dirty="0">
                <a:solidFill>
                  <a:srgbClr val="000000"/>
                </a:solidFill>
                <a:effectLst/>
                <a:latin typeface="Consolas" panose="020B0609020204030204" pitchFamily="49" charset="0"/>
              </a:rPr>
              <a:t>  T s1 = </a:t>
            </a:r>
            <a:r>
              <a:rPr lang="en-US" altLang="zh-CN" b="0" dirty="0">
                <a:solidFill>
                  <a:srgbClr val="267F99"/>
                </a:solidFill>
                <a:effectLst/>
                <a:latin typeface="Consolas" panose="020B0609020204030204" pitchFamily="49" charset="0"/>
              </a:rPr>
              <a:t>std</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T s2 = </a:t>
            </a:r>
            <a:r>
              <a:rPr lang="en-US" altLang="zh-CN" b="0" dirty="0">
                <a:solidFill>
                  <a:srgbClr val="267F99"/>
                </a:solidFill>
                <a:effectLst/>
                <a:latin typeface="Consolas" panose="020B0609020204030204" pitchFamily="49" charset="0"/>
              </a:rPr>
              <a:t>std</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T s3 = </a:t>
            </a:r>
            <a:r>
              <a:rPr lang="en-US" altLang="zh-CN" b="0" dirty="0">
                <a:solidFill>
                  <a:srgbClr val="267F99"/>
                </a:solidFill>
                <a:effectLst/>
                <a:latin typeface="Consolas" panose="020B0609020204030204" pitchFamily="49" charset="0"/>
              </a:rPr>
              <a:t>std</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T c1 = </a:t>
            </a:r>
            <a:r>
              <a:rPr lang="en-US" altLang="zh-CN" b="0" dirty="0">
                <a:solidFill>
                  <a:srgbClr val="267F99"/>
                </a:solidFill>
                <a:effectLst/>
                <a:latin typeface="Consolas" panose="020B0609020204030204" pitchFamily="49" charset="0"/>
              </a:rPr>
              <a:t>std</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cos</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T c2 = </a:t>
            </a:r>
            <a:r>
              <a:rPr lang="en-US" altLang="zh-CN" b="0" dirty="0">
                <a:solidFill>
                  <a:srgbClr val="267F99"/>
                </a:solidFill>
                <a:effectLst/>
                <a:latin typeface="Consolas" panose="020B0609020204030204" pitchFamily="49" charset="0"/>
              </a:rPr>
              <a:t>std</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cos</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T c3 = </a:t>
            </a:r>
            <a:r>
              <a:rPr lang="en-US" altLang="zh-CN" b="0" dirty="0">
                <a:solidFill>
                  <a:srgbClr val="267F99"/>
                </a:solidFill>
                <a:effectLst/>
                <a:latin typeface="Consolas" panose="020B0609020204030204" pitchFamily="49" charset="0"/>
              </a:rPr>
              <a:t>std</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cos</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T c23 = c2 * c3 - s2 * s3;</a:t>
            </a:r>
          </a:p>
          <a:p>
            <a:r>
              <a:rPr lang="en-US" altLang="zh-CN" b="0" dirty="0">
                <a:solidFill>
                  <a:srgbClr val="000000"/>
                </a:solidFill>
                <a:effectLst/>
                <a:latin typeface="Consolas" panose="020B0609020204030204" pitchFamily="49" charset="0"/>
              </a:rPr>
              <a:t>  T s23 = s2 * c3 + c2 * s3;</a:t>
            </a:r>
          </a:p>
        </p:txBody>
      </p:sp>
    </p:spTree>
    <p:extLst>
      <p:ext uri="{BB962C8B-B14F-4D97-AF65-F5344CB8AC3E}">
        <p14:creationId xmlns:p14="http://schemas.microsoft.com/office/powerpoint/2010/main" val="2176465494"/>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12.4.3 </a:t>
            </a:r>
            <a:r>
              <a:rPr lang="zh-CN" altLang="en-US" sz="2800" b="1" dirty="0">
                <a:latin typeface="Times New Roman" pitchFamily="18" charset="0"/>
                <a:ea typeface="华文中宋" pitchFamily="2" charset="-122"/>
              </a:rPr>
              <a:t>腿部控制器</a:t>
            </a:r>
          </a:p>
        </p:txBody>
      </p:sp>
      <p:sp>
        <p:nvSpPr>
          <p:cNvPr id="4" name="文本框 3">
            <a:extLst>
              <a:ext uri="{FF2B5EF4-FFF2-40B4-BE49-F238E27FC236}">
                <a16:creationId xmlns:a16="http://schemas.microsoft.com/office/drawing/2014/main" id="{890E391B-23AF-289E-0885-572C93C51CD8}"/>
              </a:ext>
            </a:extLst>
          </p:cNvPr>
          <p:cNvSpPr txBox="1"/>
          <p:nvPr/>
        </p:nvSpPr>
        <p:spPr>
          <a:xfrm>
            <a:off x="848412" y="1267834"/>
            <a:ext cx="10301647" cy="4801314"/>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 (J)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l3 * c23 + l2 * c2;</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l3 * c23;</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l3 * c1 * c23 + l2 * c1 * c2 - l1 * </a:t>
            </a:r>
            <a:r>
              <a:rPr lang="en-US" altLang="zh-CN" b="0" dirty="0" err="1">
                <a:solidFill>
                  <a:srgbClr val="000000"/>
                </a:solidFill>
                <a:effectLst/>
                <a:latin typeface="Consolas" panose="020B0609020204030204" pitchFamily="49" charset="0"/>
              </a:rPr>
              <a:t>sideSign</a:t>
            </a:r>
            <a:r>
              <a:rPr lang="en-US" altLang="zh-CN" b="0" dirty="0">
                <a:solidFill>
                  <a:srgbClr val="000000"/>
                </a:solidFill>
                <a:effectLst/>
                <a:latin typeface="Consolas" panose="020B0609020204030204" pitchFamily="49" charset="0"/>
              </a:rPr>
              <a:t> * s1;</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-l3 * s1 * s23 - l2 * s1 * s2;</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-l3 * s1 * s23;</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l3 * s1 * c23 + l2 * c2 * s1 + l1 * </a:t>
            </a:r>
            <a:r>
              <a:rPr lang="en-US" altLang="zh-CN" b="0" dirty="0" err="1">
                <a:solidFill>
                  <a:srgbClr val="000000"/>
                </a:solidFill>
                <a:effectLst/>
                <a:latin typeface="Consolas" panose="020B0609020204030204" pitchFamily="49" charset="0"/>
              </a:rPr>
              <a:t>sideSign</a:t>
            </a:r>
            <a:r>
              <a:rPr lang="en-US" altLang="zh-CN" b="0" dirty="0">
                <a:solidFill>
                  <a:srgbClr val="000000"/>
                </a:solidFill>
                <a:effectLst/>
                <a:latin typeface="Consolas" panose="020B0609020204030204" pitchFamily="49" charset="0"/>
              </a:rPr>
              <a:t> * c1;</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l3 * c1 * s23 + l2 * c1 * s2;</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l3 * c1 * s23;</a:t>
            </a:r>
          </a:p>
          <a:p>
            <a:r>
              <a:rPr lang="en-US" altLang="zh-CN" b="0" dirty="0">
                <a:solidFill>
                  <a:srgbClr val="000000"/>
                </a:solidFill>
                <a:effectLst/>
                <a:latin typeface="Consolas" panose="020B0609020204030204" pitchFamily="49" charset="0"/>
              </a:rPr>
              <a:t>  }</a:t>
            </a:r>
            <a:br>
              <a:rPr lang="en-US" altLang="zh-CN" b="0" dirty="0">
                <a:solidFill>
                  <a:srgbClr val="000000"/>
                </a:solidFill>
                <a:effectLst/>
                <a:latin typeface="Consolas" panose="020B0609020204030204" pitchFamily="49" charset="0"/>
              </a:rPr>
            </a:br>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 (p)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l3 * s23 + l2 * s2;</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l1 * </a:t>
            </a:r>
            <a:r>
              <a:rPr lang="en-US" altLang="zh-CN" b="0" dirty="0" err="1">
                <a:solidFill>
                  <a:srgbClr val="000000"/>
                </a:solidFill>
                <a:effectLst/>
                <a:latin typeface="Consolas" panose="020B0609020204030204" pitchFamily="49" charset="0"/>
              </a:rPr>
              <a:t>sideSign</a:t>
            </a:r>
            <a:r>
              <a:rPr lang="en-US" altLang="zh-CN" b="0" dirty="0">
                <a:solidFill>
                  <a:srgbClr val="000000"/>
                </a:solidFill>
                <a:effectLst/>
                <a:latin typeface="Consolas" panose="020B0609020204030204" pitchFamily="49" charset="0"/>
              </a:rPr>
              <a:t> * c1 + l3 * (s1 * c23) + l2 * c2 * s1;</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operator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l1 * </a:t>
            </a:r>
            <a:r>
              <a:rPr lang="en-US" altLang="zh-CN" b="0" dirty="0" err="1">
                <a:solidFill>
                  <a:srgbClr val="000000"/>
                </a:solidFill>
                <a:effectLst/>
                <a:latin typeface="Consolas" panose="020B0609020204030204" pitchFamily="49" charset="0"/>
              </a:rPr>
              <a:t>sideSign</a:t>
            </a:r>
            <a:r>
              <a:rPr lang="en-US" altLang="zh-CN" b="0" dirty="0">
                <a:solidFill>
                  <a:srgbClr val="000000"/>
                </a:solidFill>
                <a:effectLst/>
                <a:latin typeface="Consolas" panose="020B0609020204030204" pitchFamily="49" charset="0"/>
              </a:rPr>
              <a:t> * s1 - l3 * (c1 * c23) - l2 * c1 * c2;</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840875045"/>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12.4.3 </a:t>
            </a:r>
            <a:r>
              <a:rPr lang="zh-CN" altLang="en-US" sz="2800" b="1" dirty="0">
                <a:latin typeface="Times New Roman" pitchFamily="18" charset="0"/>
                <a:ea typeface="华文中宋" pitchFamily="2" charset="-122"/>
              </a:rPr>
              <a:t>腿部控制器</a:t>
            </a:r>
          </a:p>
        </p:txBody>
      </p:sp>
      <p:sp>
        <p:nvSpPr>
          <p:cNvPr id="9" name="文本框 8">
            <a:extLst>
              <a:ext uri="{FF2B5EF4-FFF2-40B4-BE49-F238E27FC236}">
                <a16:creationId xmlns:a16="http://schemas.microsoft.com/office/drawing/2014/main" id="{AC0E766C-2978-EA03-5280-320DF0D58CE9}"/>
              </a:ext>
            </a:extLst>
          </p:cNvPr>
          <p:cNvSpPr txBox="1"/>
          <p:nvPr/>
        </p:nvSpPr>
        <p:spPr>
          <a:xfrm>
            <a:off x="980389" y="939880"/>
            <a:ext cx="10032475" cy="5355312"/>
          </a:xfrm>
          <a:prstGeom prst="rect">
            <a:avLst/>
          </a:prstGeom>
          <a:noFill/>
        </p:spPr>
        <p:txBody>
          <a:bodyPr wrap="square">
            <a:spAutoFit/>
          </a:bodyPr>
          <a:lstStyle/>
          <a:p>
            <a:r>
              <a:rPr lang="en-US" altLang="zh-CN" b="0" dirty="0" err="1">
                <a:solidFill>
                  <a:srgbClr val="000000"/>
                </a:solidFill>
                <a:effectLst/>
                <a:latin typeface="Consolas" panose="020B0609020204030204" pitchFamily="49" charset="0"/>
              </a:rPr>
              <a:t>legTorque</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datas</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J</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transpose</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footForce</a:t>
            </a:r>
            <a:r>
              <a:rPr lang="en-US" altLang="zh-CN" b="0" dirty="0">
                <a:solidFill>
                  <a:srgbClr val="000000"/>
                </a:solidFill>
                <a:effectLst/>
                <a:latin typeface="Consolas" panose="020B0609020204030204" pitchFamily="49" charset="0"/>
              </a:rPr>
              <a:t>; </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tau_abad_ff</a:t>
            </a:r>
            <a:r>
              <a:rPr lang="en-US" altLang="zh-CN" b="0" dirty="0">
                <a:solidFill>
                  <a:srgbClr val="000000"/>
                </a:solidFill>
                <a:effectLst/>
                <a:latin typeface="Consolas" panose="020B0609020204030204" pitchFamily="49" charset="0"/>
              </a:rPr>
              <a:t>[leg] = </a:t>
            </a:r>
            <a:r>
              <a:rPr lang="en-US" altLang="zh-CN" b="0" dirty="0" err="1">
                <a:solidFill>
                  <a:srgbClr val="795E26"/>
                </a:solidFill>
                <a:effectLst/>
                <a:latin typeface="Consolas" panose="020B0609020204030204" pitchFamily="49" charset="0"/>
              </a:rPr>
              <a:t>legTorque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tau_hip_ff</a:t>
            </a:r>
            <a:r>
              <a:rPr lang="en-US" altLang="zh-CN" b="0" dirty="0">
                <a:solidFill>
                  <a:srgbClr val="000000"/>
                </a:solidFill>
                <a:effectLst/>
                <a:latin typeface="Consolas" panose="020B0609020204030204" pitchFamily="49" charset="0"/>
              </a:rPr>
              <a:t>[leg] = </a:t>
            </a:r>
            <a:r>
              <a:rPr lang="en-US" altLang="zh-CN" b="0" dirty="0" err="1">
                <a:solidFill>
                  <a:srgbClr val="795E26"/>
                </a:solidFill>
                <a:effectLst/>
                <a:latin typeface="Consolas" panose="020B0609020204030204" pitchFamily="49" charset="0"/>
              </a:rPr>
              <a:t>legTorque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tau_knee_ff</a:t>
            </a:r>
            <a:r>
              <a:rPr lang="en-US" altLang="zh-CN" b="0" dirty="0">
                <a:solidFill>
                  <a:srgbClr val="000000"/>
                </a:solidFill>
                <a:effectLst/>
                <a:latin typeface="Consolas" panose="020B0609020204030204" pitchFamily="49" charset="0"/>
              </a:rPr>
              <a:t>[leg] = </a:t>
            </a:r>
            <a:r>
              <a:rPr lang="en-US" altLang="zh-CN" b="0" dirty="0" err="1">
                <a:solidFill>
                  <a:srgbClr val="795E26"/>
                </a:solidFill>
                <a:effectLst/>
                <a:latin typeface="Consolas" panose="020B0609020204030204" pitchFamily="49" charset="0"/>
              </a:rPr>
              <a:t>legTorque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kd_abad</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kdJoint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kd_hip</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kdJoint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kd_knee</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kdJoint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kp_abad</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kpJoint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kp_hip</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kpJoint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kp_knee</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kpJoint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q_des_abad</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qDes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q_des_hip</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qDes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q_des_knee</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qDes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qd_des_abad</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qdDes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qd_des_hip</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qdDes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spiCommand</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qd_des_knee</a:t>
            </a:r>
            <a:r>
              <a:rPr lang="en-US" altLang="zh-CN" b="0" dirty="0">
                <a:solidFill>
                  <a:srgbClr val="000000"/>
                </a:solidFill>
                <a:effectLst/>
                <a:latin typeface="Consolas" panose="020B0609020204030204" pitchFamily="49" charset="0"/>
              </a:rPr>
              <a:t>[leg]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795E26"/>
                </a:solidFill>
                <a:effectLst/>
                <a:latin typeface="Consolas" panose="020B0609020204030204" pitchFamily="49" charset="0"/>
              </a:rPr>
              <a:t>qdDes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datas</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tauEstimate</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legTorque</a:t>
            </a:r>
            <a:r>
              <a:rPr lang="en-US" altLang="zh-CN" b="0" dirty="0">
                <a:solidFill>
                  <a:srgbClr val="000000"/>
                </a:solidFill>
                <a:effectLst/>
                <a:latin typeface="Consolas" panose="020B0609020204030204" pitchFamily="49" charset="0"/>
              </a:rPr>
              <a:t> +</a:t>
            </a:r>
          </a:p>
          <a:p>
            <a:pPr lvl="1"/>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kpJoint</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qDes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datas</a:t>
            </a:r>
            <a:r>
              <a:rPr lang="en-US" altLang="zh-CN" b="0" dirty="0">
                <a:solidFill>
                  <a:srgbClr val="000000"/>
                </a:solidFill>
                <a:effectLst/>
                <a:latin typeface="Consolas" panose="020B0609020204030204" pitchFamily="49" charset="0"/>
              </a:rPr>
              <a:t>[leg].</a:t>
            </a:r>
            <a:r>
              <a:rPr lang="en-US" altLang="zh-CN" b="0" dirty="0">
                <a:solidFill>
                  <a:srgbClr val="001080"/>
                </a:solidFill>
                <a:effectLst/>
                <a:latin typeface="Consolas" panose="020B0609020204030204" pitchFamily="49" charset="0"/>
              </a:rPr>
              <a:t>q</a:t>
            </a:r>
            <a:r>
              <a:rPr lang="en-US" altLang="zh-CN" b="0" dirty="0">
                <a:solidFill>
                  <a:srgbClr val="000000"/>
                </a:solidFill>
                <a:effectLst/>
                <a:latin typeface="Consolas" panose="020B0609020204030204" pitchFamily="49" charset="0"/>
              </a:rPr>
              <a:t>) +</a:t>
            </a:r>
          </a:p>
          <a:p>
            <a:pPr lvl="1"/>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kpJoint</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commands</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qdDes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datas</a:t>
            </a:r>
            <a:r>
              <a:rPr lang="en-US" altLang="zh-CN" b="0" dirty="0">
                <a:solidFill>
                  <a:srgbClr val="000000"/>
                </a:solidFill>
                <a:effectLst/>
                <a:latin typeface="Consolas" panose="020B0609020204030204" pitchFamily="49" charset="0"/>
              </a:rPr>
              <a:t>[leg].</a:t>
            </a:r>
            <a:r>
              <a:rPr lang="en-US" altLang="zh-CN" b="0" dirty="0" err="1">
                <a:solidFill>
                  <a:srgbClr val="001080"/>
                </a:solidFill>
                <a:effectLst/>
                <a:latin typeface="Consolas" panose="020B0609020204030204" pitchFamily="49" charset="0"/>
              </a:rPr>
              <a:t>qd</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10923016"/>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12.4.3 </a:t>
            </a:r>
            <a:r>
              <a:rPr lang="zh-CN" altLang="en-US" sz="2800" b="1" dirty="0">
                <a:latin typeface="Times New Roman" pitchFamily="18" charset="0"/>
                <a:ea typeface="华文中宋" pitchFamily="2" charset="-122"/>
              </a:rPr>
              <a:t>腿部控制器</a:t>
            </a:r>
          </a:p>
        </p:txBody>
      </p:sp>
      <p:sp>
        <p:nvSpPr>
          <p:cNvPr id="3" name="内容占位符 2">
            <a:extLst>
              <a:ext uri="{FF2B5EF4-FFF2-40B4-BE49-F238E27FC236}">
                <a16:creationId xmlns:a16="http://schemas.microsoft.com/office/drawing/2014/main" id="{0AF33F25-869C-6D78-C917-2041E0566558}"/>
              </a:ext>
            </a:extLst>
          </p:cNvPr>
          <p:cNvSpPr>
            <a:spLocks noChangeArrowheads="1"/>
          </p:cNvSpPr>
          <p:nvPr/>
        </p:nvSpPr>
        <p:spPr bwMode="auto">
          <a:xfrm>
            <a:off x="480768" y="992869"/>
            <a:ext cx="10678375" cy="1052747"/>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腿部控制器输出的关节位置、速度、扭矩等指令由关节电机控制器具体执行。该部分代码写在关节电机驱动板上，使用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FOC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技术控制电机的扭矩伺服。</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a:extLst>
              <a:ext uri="{FF2B5EF4-FFF2-40B4-BE49-F238E27FC236}">
                <a16:creationId xmlns:a16="http://schemas.microsoft.com/office/drawing/2014/main" id="{8995F2AF-F64A-97B8-1210-FF3813E78830}"/>
              </a:ext>
            </a:extLst>
          </p:cNvPr>
          <p:cNvSpPr txBox="1"/>
          <p:nvPr/>
        </p:nvSpPr>
        <p:spPr>
          <a:xfrm>
            <a:off x="1414021" y="2489210"/>
            <a:ext cx="9106292" cy="2308324"/>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dq0</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theta,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b,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c,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*d,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*q)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cf</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FastCos</a:t>
            </a:r>
            <a:r>
              <a:rPr lang="en-US" altLang="zh-CN" b="0" dirty="0">
                <a:solidFill>
                  <a:srgbClr val="000000"/>
                </a:solidFill>
                <a:effectLst/>
                <a:latin typeface="Consolas" panose="020B0609020204030204" pitchFamily="49" charset="0"/>
              </a:rPr>
              <a:t>(theta);</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sf = </a:t>
            </a:r>
            <a:r>
              <a:rPr lang="en-US" altLang="zh-CN" b="0" dirty="0" err="1">
                <a:solidFill>
                  <a:srgbClr val="795E26"/>
                </a:solidFill>
                <a:effectLst/>
                <a:latin typeface="Consolas" panose="020B0609020204030204" pitchFamily="49" charset="0"/>
              </a:rPr>
              <a:t>FastSin</a:t>
            </a:r>
            <a:r>
              <a:rPr lang="en-US" altLang="zh-CN" b="0" dirty="0">
                <a:solidFill>
                  <a:srgbClr val="000000"/>
                </a:solidFill>
                <a:effectLst/>
                <a:latin typeface="Consolas" panose="020B0609020204030204" pitchFamily="49" charset="0"/>
              </a:rPr>
              <a:t>(theta);</a:t>
            </a:r>
          </a:p>
          <a:p>
            <a:r>
              <a:rPr lang="en-US" altLang="zh-CN" b="0" dirty="0">
                <a:solidFill>
                  <a:srgbClr val="000000"/>
                </a:solidFill>
                <a:effectLst/>
                <a:latin typeface="Consolas" panose="020B0609020204030204" pitchFamily="49" charset="0"/>
              </a:rPr>
              <a:t>    *d = </a:t>
            </a:r>
            <a:r>
              <a:rPr lang="en-US" altLang="zh-CN" b="0" dirty="0">
                <a:solidFill>
                  <a:srgbClr val="098658"/>
                </a:solidFill>
                <a:effectLst/>
                <a:latin typeface="Consolas" panose="020B0609020204030204" pitchFamily="49" charset="0"/>
              </a:rPr>
              <a:t>0.6666667f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cf</a:t>
            </a:r>
            <a:r>
              <a:rPr lang="en-US" altLang="zh-CN" b="0" dirty="0">
                <a:solidFill>
                  <a:srgbClr val="000000"/>
                </a:solidFill>
                <a:effectLst/>
                <a:latin typeface="Consolas" panose="020B0609020204030204" pitchFamily="49" charset="0"/>
              </a:rPr>
              <a:t>*a + (</a:t>
            </a:r>
            <a:r>
              <a:rPr lang="en-US" altLang="zh-CN" b="0" dirty="0">
                <a:solidFill>
                  <a:srgbClr val="098658"/>
                </a:solidFill>
                <a:effectLst/>
                <a:latin typeface="Consolas" panose="020B0609020204030204" pitchFamily="49" charset="0"/>
              </a:rPr>
              <a:t>0.86602540378f</a:t>
            </a:r>
            <a:r>
              <a:rPr lang="en-US" altLang="zh-CN" b="0" dirty="0">
                <a:solidFill>
                  <a:srgbClr val="000000"/>
                </a:solidFill>
                <a:effectLst/>
                <a:latin typeface="Consolas" panose="020B0609020204030204" pitchFamily="49" charset="0"/>
              </a:rPr>
              <a:t>*sf-</a:t>
            </a:r>
            <a:r>
              <a:rPr lang="en-US" altLang="zh-CN" b="0" dirty="0">
                <a:solidFill>
                  <a:srgbClr val="098658"/>
                </a:solidFill>
                <a:effectLst/>
                <a:latin typeface="Consolas" panose="020B0609020204030204" pitchFamily="49" charset="0"/>
              </a:rPr>
              <a:t>.5f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cf</a:t>
            </a:r>
            <a:r>
              <a:rPr lang="en-US" altLang="zh-CN" b="0" dirty="0">
                <a:solidFill>
                  <a:srgbClr val="000000"/>
                </a:solidFill>
                <a:effectLst/>
                <a:latin typeface="Consolas" panose="020B0609020204030204" pitchFamily="49" charset="0"/>
              </a:rPr>
              <a:t>)*b </a:t>
            </a:r>
          </a:p>
          <a:p>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0.86602540378f</a:t>
            </a:r>
            <a:r>
              <a:rPr lang="en-US" altLang="zh-CN" b="0" dirty="0">
                <a:solidFill>
                  <a:srgbClr val="000000"/>
                </a:solidFill>
                <a:effectLst/>
                <a:latin typeface="Consolas" panose="020B0609020204030204" pitchFamily="49" charset="0"/>
              </a:rPr>
              <a:t>* sf-</a:t>
            </a:r>
            <a:r>
              <a:rPr lang="en-US" altLang="zh-CN" b="0" dirty="0">
                <a:solidFill>
                  <a:srgbClr val="098658"/>
                </a:solidFill>
                <a:effectLst/>
                <a:latin typeface="Consolas" panose="020B0609020204030204" pitchFamily="49" charset="0"/>
              </a:rPr>
              <a:t>.5f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cf</a:t>
            </a:r>
            <a:r>
              <a:rPr lang="en-US" altLang="zh-CN" b="0" dirty="0">
                <a:solidFill>
                  <a:srgbClr val="000000"/>
                </a:solidFill>
                <a:effectLst/>
                <a:latin typeface="Consolas" panose="020B0609020204030204" pitchFamily="49" charset="0"/>
              </a:rPr>
              <a:t>)*c);   </a:t>
            </a:r>
          </a:p>
          <a:p>
            <a:r>
              <a:rPr lang="en-US" altLang="zh-CN" b="0" dirty="0">
                <a:solidFill>
                  <a:srgbClr val="000000"/>
                </a:solidFill>
                <a:effectLst/>
                <a:latin typeface="Consolas" panose="020B0609020204030204" pitchFamily="49" charset="0"/>
              </a:rPr>
              <a:t>    *q = </a:t>
            </a:r>
            <a:r>
              <a:rPr lang="en-US" altLang="zh-CN" b="0" dirty="0">
                <a:solidFill>
                  <a:srgbClr val="098658"/>
                </a:solidFill>
                <a:effectLst/>
                <a:latin typeface="Consolas" panose="020B0609020204030204" pitchFamily="49" charset="0"/>
              </a:rPr>
              <a:t>0.6666667f</a:t>
            </a:r>
            <a:r>
              <a:rPr lang="en-US" altLang="zh-CN" b="0" dirty="0">
                <a:solidFill>
                  <a:srgbClr val="000000"/>
                </a:solidFill>
                <a:effectLst/>
                <a:latin typeface="Consolas" panose="020B0609020204030204" pitchFamily="49" charset="0"/>
              </a:rPr>
              <a:t>*(-sf*a - (-</a:t>
            </a:r>
            <a:r>
              <a:rPr lang="en-US" altLang="zh-CN" b="0" dirty="0">
                <a:solidFill>
                  <a:srgbClr val="098658"/>
                </a:solidFill>
                <a:effectLst/>
                <a:latin typeface="Consolas" panose="020B0609020204030204" pitchFamily="49" charset="0"/>
              </a:rPr>
              <a:t>0.86602540378f</a:t>
            </a:r>
            <a:r>
              <a:rPr lang="en-US" altLang="zh-CN" b="0" dirty="0">
                <a:solidFill>
                  <a:srgbClr val="000000"/>
                </a:solidFill>
                <a:effectLst/>
                <a:latin typeface="Consolas" panose="020B0609020204030204" pitchFamily="49" charset="0"/>
              </a:rPr>
              <a:t>*cf-</a:t>
            </a:r>
            <a:r>
              <a:rPr lang="en-US" altLang="zh-CN" b="0" dirty="0">
                <a:solidFill>
                  <a:srgbClr val="098658"/>
                </a:solidFill>
                <a:effectLst/>
                <a:latin typeface="Consolas" panose="020B0609020204030204" pitchFamily="49" charset="0"/>
              </a:rPr>
              <a:t>.5f</a:t>
            </a:r>
            <a:r>
              <a:rPr lang="en-US" altLang="zh-CN" b="0" dirty="0">
                <a:solidFill>
                  <a:srgbClr val="000000"/>
                </a:solidFill>
                <a:effectLst/>
                <a:latin typeface="Consolas" panose="020B0609020204030204" pitchFamily="49" charset="0"/>
              </a:rPr>
              <a:t>*sf)*b </a:t>
            </a:r>
          </a:p>
          <a:p>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0.86602540378f</a:t>
            </a:r>
            <a:r>
              <a:rPr lang="en-US" altLang="zh-CN" b="0" dirty="0">
                <a:solidFill>
                  <a:srgbClr val="000000"/>
                </a:solidFill>
                <a:effectLst/>
                <a:latin typeface="Consolas" panose="020B0609020204030204" pitchFamily="49" charset="0"/>
              </a:rPr>
              <a:t>* cf-</a:t>
            </a:r>
            <a:r>
              <a:rPr lang="en-US" altLang="zh-CN" b="0" dirty="0">
                <a:solidFill>
                  <a:srgbClr val="098658"/>
                </a:solidFill>
                <a:effectLst/>
                <a:latin typeface="Consolas" panose="020B0609020204030204" pitchFamily="49" charset="0"/>
              </a:rPr>
              <a:t>.5f</a:t>
            </a:r>
            <a:r>
              <a:rPr lang="en-US" altLang="zh-CN" b="0" dirty="0">
                <a:solidFill>
                  <a:srgbClr val="000000"/>
                </a:solidFill>
                <a:effectLst/>
                <a:latin typeface="Consolas" panose="020B0609020204030204" pitchFamily="49" charset="0"/>
              </a:rPr>
              <a:t>*sf)*c);</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614153680"/>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12.4.3 </a:t>
            </a:r>
            <a:r>
              <a:rPr lang="zh-CN" altLang="en-US" sz="2800" b="1" dirty="0">
                <a:latin typeface="Times New Roman" pitchFamily="18" charset="0"/>
                <a:ea typeface="华文中宋" pitchFamily="2" charset="-122"/>
              </a:rPr>
              <a:t>腿部控制器</a:t>
            </a:r>
          </a:p>
        </p:txBody>
      </p:sp>
      <p:sp>
        <p:nvSpPr>
          <p:cNvPr id="7" name="文本框 6">
            <a:extLst>
              <a:ext uri="{FF2B5EF4-FFF2-40B4-BE49-F238E27FC236}">
                <a16:creationId xmlns:a16="http://schemas.microsoft.com/office/drawing/2014/main" id="{A38A972F-BD65-80AB-E287-E2B9BCC670BB}"/>
              </a:ext>
            </a:extLst>
          </p:cNvPr>
          <p:cNvSpPr txBox="1"/>
          <p:nvPr/>
        </p:nvSpPr>
        <p:spPr>
          <a:xfrm>
            <a:off x="797325" y="1492612"/>
            <a:ext cx="10597349" cy="2862322"/>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svm</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v_bus</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u</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v</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w</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dtc_u</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dtc_v</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dtc_w</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v_offset</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fminf3</a:t>
            </a:r>
            <a:r>
              <a:rPr lang="en-US" altLang="zh-CN" b="0" dirty="0">
                <a:solidFill>
                  <a:srgbClr val="000000"/>
                </a:solidFill>
                <a:effectLst/>
                <a:latin typeface="Consolas" panose="020B0609020204030204" pitchFamily="49" charset="0"/>
              </a:rPr>
              <a:t>(u, v, w) + </a:t>
            </a:r>
            <a:r>
              <a:rPr lang="en-US" altLang="zh-CN" b="0" dirty="0">
                <a:solidFill>
                  <a:srgbClr val="795E26"/>
                </a:solidFill>
                <a:effectLst/>
                <a:latin typeface="Consolas" panose="020B0609020204030204" pitchFamily="49" charset="0"/>
              </a:rPr>
              <a:t>fmaxf3</a:t>
            </a:r>
            <a:r>
              <a:rPr lang="en-US" altLang="zh-CN" b="0" dirty="0">
                <a:solidFill>
                  <a:srgbClr val="000000"/>
                </a:solidFill>
                <a:effectLst/>
                <a:latin typeface="Consolas" panose="020B0609020204030204" pitchFamily="49" charset="0"/>
              </a:rPr>
              <a:t>(u, v, w))*</a:t>
            </a:r>
            <a:r>
              <a:rPr lang="en-US" altLang="zh-CN" b="0" dirty="0">
                <a:solidFill>
                  <a:srgbClr val="098658"/>
                </a:solidFill>
                <a:effectLst/>
                <a:latin typeface="Consolas" panose="020B0609020204030204" pitchFamily="49" charset="0"/>
              </a:rPr>
              <a:t>0.5f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dtc_u</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fminf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fmaxf</a:t>
            </a:r>
            <a:r>
              <a:rPr lang="en-US" altLang="zh-CN" b="0" dirty="0">
                <a:solidFill>
                  <a:srgbClr val="000000"/>
                </a:solidFill>
                <a:effectLst/>
                <a:latin typeface="Consolas" panose="020B0609020204030204" pitchFamily="49" charset="0"/>
              </a:rPr>
              <a:t>(((u -</a:t>
            </a:r>
            <a:r>
              <a:rPr lang="en-US" altLang="zh-CN" b="0" dirty="0" err="1">
                <a:solidFill>
                  <a:srgbClr val="000000"/>
                </a:solidFill>
                <a:effectLst/>
                <a:latin typeface="Consolas" panose="020B0609020204030204" pitchFamily="49" charset="0"/>
              </a:rPr>
              <a:t>v_offset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v_bus</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.5f</a:t>
            </a:r>
            <a:r>
              <a:rPr lang="en-US" altLang="zh-CN" b="0" dirty="0">
                <a:solidFill>
                  <a:srgbClr val="000000"/>
                </a:solidFill>
                <a:effectLst/>
                <a:latin typeface="Consolas" panose="020B0609020204030204" pitchFamily="49" charset="0"/>
              </a:rPr>
              <a:t>), DTC_MIN), DTC_MAX);</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dtc_v</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fminf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fmaxf</a:t>
            </a:r>
            <a:r>
              <a:rPr lang="en-US" altLang="zh-CN" b="0" dirty="0">
                <a:solidFill>
                  <a:srgbClr val="000000"/>
                </a:solidFill>
                <a:effectLst/>
                <a:latin typeface="Consolas" panose="020B0609020204030204" pitchFamily="49" charset="0"/>
              </a:rPr>
              <a:t>(((v -</a:t>
            </a:r>
            <a:r>
              <a:rPr lang="en-US" altLang="zh-CN" b="0" dirty="0" err="1">
                <a:solidFill>
                  <a:srgbClr val="000000"/>
                </a:solidFill>
                <a:effectLst/>
                <a:latin typeface="Consolas" panose="020B0609020204030204" pitchFamily="49" charset="0"/>
              </a:rPr>
              <a:t>v_offset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v_bus</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.5f</a:t>
            </a:r>
            <a:r>
              <a:rPr lang="en-US" altLang="zh-CN" b="0" dirty="0">
                <a:solidFill>
                  <a:srgbClr val="000000"/>
                </a:solidFill>
                <a:effectLst/>
                <a:latin typeface="Consolas" panose="020B0609020204030204" pitchFamily="49" charset="0"/>
              </a:rPr>
              <a:t>), DTC_MIN), DTC_MAX);</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dtc_w</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fminf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fmaxf</a:t>
            </a:r>
            <a:r>
              <a:rPr lang="en-US" altLang="zh-CN" b="0" dirty="0">
                <a:solidFill>
                  <a:srgbClr val="000000"/>
                </a:solidFill>
                <a:effectLst/>
                <a:latin typeface="Consolas" panose="020B0609020204030204" pitchFamily="49" charset="0"/>
              </a:rPr>
              <a:t>(((w -</a:t>
            </a:r>
            <a:r>
              <a:rPr lang="en-US" altLang="zh-CN" b="0" dirty="0" err="1">
                <a:solidFill>
                  <a:srgbClr val="000000"/>
                </a:solidFill>
                <a:effectLst/>
                <a:latin typeface="Consolas" panose="020B0609020204030204" pitchFamily="49" charset="0"/>
              </a:rPr>
              <a:t>v_offset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v_bus</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.5f</a:t>
            </a:r>
            <a:r>
              <a:rPr lang="en-US" altLang="zh-CN" b="0" dirty="0">
                <a:solidFill>
                  <a:srgbClr val="000000"/>
                </a:solidFill>
                <a:effectLst/>
                <a:latin typeface="Consolas" panose="020B0609020204030204" pitchFamily="49" charset="0"/>
              </a:rPr>
              <a:t>), DTC_MIN), DTC_MAX); </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dtc_u</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fminf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fmaxf</a:t>
            </a:r>
            <a:r>
              <a:rPr lang="en-US" altLang="zh-CN" b="0" dirty="0">
                <a:solidFill>
                  <a:srgbClr val="000000"/>
                </a:solidFill>
                <a:effectLst/>
                <a:latin typeface="Consolas" panose="020B0609020204030204" pitchFamily="49" charset="0"/>
              </a:rPr>
              <a:t>((u/</a:t>
            </a:r>
            <a:r>
              <a:rPr lang="en-US" altLang="zh-CN" b="0" dirty="0" err="1">
                <a:solidFill>
                  <a:srgbClr val="000000"/>
                </a:solidFill>
                <a:effectLst/>
                <a:latin typeface="Consolas" panose="020B0609020204030204" pitchFamily="49" charset="0"/>
              </a:rPr>
              <a:t>v_bus</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.5f</a:t>
            </a:r>
            <a:r>
              <a:rPr lang="en-US" altLang="zh-CN" b="0" dirty="0">
                <a:solidFill>
                  <a:srgbClr val="000000"/>
                </a:solidFill>
                <a:effectLst/>
                <a:latin typeface="Consolas" panose="020B0609020204030204" pitchFamily="49" charset="0"/>
              </a:rPr>
              <a:t>), DTC_MIN), DTC_MAX);</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dtc_v</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fminf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fmaxf</a:t>
            </a:r>
            <a:r>
              <a:rPr lang="en-US" altLang="zh-CN" b="0" dirty="0">
                <a:solidFill>
                  <a:srgbClr val="000000"/>
                </a:solidFill>
                <a:effectLst/>
                <a:latin typeface="Consolas" panose="020B0609020204030204" pitchFamily="49" charset="0"/>
              </a:rPr>
              <a:t>((v/</a:t>
            </a:r>
            <a:r>
              <a:rPr lang="en-US" altLang="zh-CN" b="0" dirty="0" err="1">
                <a:solidFill>
                  <a:srgbClr val="000000"/>
                </a:solidFill>
                <a:effectLst/>
                <a:latin typeface="Consolas" panose="020B0609020204030204" pitchFamily="49" charset="0"/>
              </a:rPr>
              <a:t>v_bus</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.5f</a:t>
            </a:r>
            <a:r>
              <a:rPr lang="en-US" altLang="zh-CN" b="0" dirty="0">
                <a:solidFill>
                  <a:srgbClr val="000000"/>
                </a:solidFill>
                <a:effectLst/>
                <a:latin typeface="Consolas" panose="020B0609020204030204" pitchFamily="49" charset="0"/>
              </a:rPr>
              <a:t>), DTC_MIN), DTC_MAX);</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dtc_w</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fminf</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fmaxf</a:t>
            </a:r>
            <a:r>
              <a:rPr lang="en-US" altLang="zh-CN" b="0" dirty="0">
                <a:solidFill>
                  <a:srgbClr val="000000"/>
                </a:solidFill>
                <a:effectLst/>
                <a:latin typeface="Consolas" panose="020B0609020204030204" pitchFamily="49" charset="0"/>
              </a:rPr>
              <a:t>((w/</a:t>
            </a:r>
            <a:r>
              <a:rPr lang="en-US" altLang="zh-CN" b="0" dirty="0" err="1">
                <a:solidFill>
                  <a:srgbClr val="000000"/>
                </a:solidFill>
                <a:effectLst/>
                <a:latin typeface="Consolas" panose="020B0609020204030204" pitchFamily="49" charset="0"/>
              </a:rPr>
              <a:t>v_bus</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.5f</a:t>
            </a:r>
            <a:r>
              <a:rPr lang="en-US" altLang="zh-CN" b="0" dirty="0">
                <a:solidFill>
                  <a:srgbClr val="000000"/>
                </a:solidFill>
                <a:effectLst/>
                <a:latin typeface="Consolas" panose="020B0609020204030204" pitchFamily="49" charset="0"/>
              </a:rPr>
              <a:t>), DTC_MIN), DTC_MAX);</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53779275"/>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12.5 </a:t>
            </a:r>
            <a:r>
              <a:rPr lang="zh-CN" altLang="en-US" sz="2800" b="1" dirty="0">
                <a:latin typeface="Times New Roman" pitchFamily="18" charset="0"/>
                <a:ea typeface="华文中宋" pitchFamily="2" charset="-122"/>
              </a:rPr>
              <a:t>状态估计器</a:t>
            </a:r>
          </a:p>
        </p:txBody>
      </p:sp>
      <p:sp>
        <p:nvSpPr>
          <p:cNvPr id="2" name="内容占位符 2">
            <a:extLst>
              <a:ext uri="{FF2B5EF4-FFF2-40B4-BE49-F238E27FC236}">
                <a16:creationId xmlns:a16="http://schemas.microsoft.com/office/drawing/2014/main" id="{378F37D8-58C1-278A-ACAE-3FE65898C837}"/>
              </a:ext>
            </a:extLst>
          </p:cNvPr>
          <p:cNvSpPr>
            <a:spLocks noChangeArrowheads="1"/>
          </p:cNvSpPr>
          <p:nvPr/>
        </p:nvSpPr>
        <p:spPr bwMode="auto">
          <a:xfrm>
            <a:off x="659877" y="1181405"/>
            <a:ext cx="10678375" cy="2890974"/>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状态估计器利用已有的传感器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IMU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驱动器获取的机器人的关节角、四元数等数据进行数据融合，利用腿部运动学原理推导出机器人运动的参数，再结合卡尔曼滤波估计出四足机器人的姿态角、线速度、足端位置等参数，估计出四足机器人的整个运动状态和运动数据。</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控制器利用状态估计器输出的这些数据计算出最优的足底力，从而推导出关节扭矩，实现机器人平稳、快速运动。</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961633091"/>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12.5 </a:t>
            </a:r>
            <a:r>
              <a:rPr lang="zh-CN" altLang="en-US" sz="2800" b="1" dirty="0">
                <a:latin typeface="Times New Roman" pitchFamily="18" charset="0"/>
                <a:ea typeface="华文中宋" pitchFamily="2" charset="-122"/>
              </a:rPr>
              <a:t>状态估计器</a:t>
            </a:r>
          </a:p>
        </p:txBody>
      </p:sp>
      <p:sp>
        <p:nvSpPr>
          <p:cNvPr id="4" name="文本框 3">
            <a:extLst>
              <a:ext uri="{FF2B5EF4-FFF2-40B4-BE49-F238E27FC236}">
                <a16:creationId xmlns:a16="http://schemas.microsoft.com/office/drawing/2014/main" id="{368FD5C6-6960-EA07-61E9-1A019A36F62A}"/>
              </a:ext>
            </a:extLst>
          </p:cNvPr>
          <p:cNvSpPr txBox="1"/>
          <p:nvPr/>
        </p:nvSpPr>
        <p:spPr>
          <a:xfrm>
            <a:off x="650450" y="766774"/>
            <a:ext cx="10730059" cy="5632311"/>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template &lt;</a:t>
            </a:r>
            <a:r>
              <a:rPr lang="en-US" altLang="zh-CN" b="0" dirty="0" err="1">
                <a:solidFill>
                  <a:srgbClr val="0000FF"/>
                </a:solidFill>
                <a:effectLst/>
                <a:latin typeface="Consolas" panose="020B0609020204030204" pitchFamily="49" charset="0"/>
              </a:rPr>
              <a:t>typename</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CheaterOrientationEstimator</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run</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orientation</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cheaterState</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orientation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templatecast</a:t>
            </a:r>
            <a:r>
              <a:rPr lang="en-US" altLang="zh-CN" b="0" dirty="0">
                <a:solidFill>
                  <a:srgbClr val="000000"/>
                </a:solidFill>
                <a:effectLst/>
                <a:latin typeface="Consolas" panose="020B0609020204030204" pitchFamily="49" charset="0"/>
              </a:rPr>
              <a:t>&lt;T&gt;();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rBody</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ori</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quaternionToRotationMatrix</a:t>
            </a:r>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orientation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omegaBody</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cheaterState</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omegaBody</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templatecast</a:t>
            </a:r>
            <a:r>
              <a:rPr lang="en-US" altLang="zh-CN" b="0" dirty="0">
                <a:solidFill>
                  <a:srgbClr val="000000"/>
                </a:solidFill>
                <a:effectLst/>
                <a:latin typeface="Consolas" panose="020B0609020204030204" pitchFamily="49" charset="0"/>
              </a:rPr>
              <a:t>&lt;T&gt;();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omegaWorld</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rBody</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transpose</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omegaBody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rpy</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ori</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quatToRPY</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orientation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aBody</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cheaterState</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acceleration</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template</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cast</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aWorld</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rBody</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transpose</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aBody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942005355"/>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12.5 </a:t>
            </a:r>
            <a:r>
              <a:rPr lang="zh-CN" altLang="en-US" sz="2800" b="1" dirty="0">
                <a:latin typeface="Times New Roman" pitchFamily="18" charset="0"/>
                <a:ea typeface="华文中宋" pitchFamily="2" charset="-122"/>
              </a:rPr>
              <a:t>状态估计器</a:t>
            </a:r>
          </a:p>
        </p:txBody>
      </p:sp>
      <p:sp>
        <p:nvSpPr>
          <p:cNvPr id="7" name="文本框 6">
            <a:extLst>
              <a:ext uri="{FF2B5EF4-FFF2-40B4-BE49-F238E27FC236}">
                <a16:creationId xmlns:a16="http://schemas.microsoft.com/office/drawing/2014/main" id="{8B57AD7C-184A-2465-44C4-A528AA8F3722}"/>
              </a:ext>
            </a:extLst>
          </p:cNvPr>
          <p:cNvSpPr txBox="1"/>
          <p:nvPr/>
        </p:nvSpPr>
        <p:spPr>
          <a:xfrm>
            <a:off x="1104025" y="1069153"/>
            <a:ext cx="9966488" cy="4247317"/>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template &lt;</a:t>
            </a:r>
            <a:r>
              <a:rPr lang="en-US" altLang="zh-CN" b="0" dirty="0" err="1">
                <a:solidFill>
                  <a:srgbClr val="0000FF"/>
                </a:solidFill>
                <a:effectLst/>
                <a:latin typeface="Consolas" panose="020B0609020204030204" pitchFamily="49" charset="0"/>
              </a:rPr>
              <a:t>typename</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p>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LinearKFPositionVelocityEstimator</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setup</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T dt =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parameters</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controller_dt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xhat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ps</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vs</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dt *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B</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dt *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::Matrix&lt;T,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::Dynamic,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::Dynamic&gt; </a:t>
            </a:r>
            <a:r>
              <a:rPr lang="en-US" altLang="zh-CN" b="0" dirty="0">
                <a:solidFill>
                  <a:srgbClr val="795E26"/>
                </a:solidFill>
                <a:effectLst/>
                <a:latin typeface="Consolas" panose="020B0609020204030204" pitchFamily="49" charset="0"/>
              </a:rPr>
              <a:t>C1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C1 &lt;&lt;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Zero</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::Matrix&lt;T,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::Dynamic,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::Dynamic&gt; </a:t>
            </a:r>
            <a:r>
              <a:rPr lang="en-US" altLang="zh-CN" b="0" dirty="0">
                <a:solidFill>
                  <a:srgbClr val="795E26"/>
                </a:solidFill>
                <a:effectLst/>
                <a:latin typeface="Consolas" panose="020B0609020204030204" pitchFamily="49" charset="0"/>
              </a:rPr>
              <a:t>C2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C2 &lt;&lt;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Zero</a:t>
            </a:r>
            <a:r>
              <a:rPr lang="en-US" altLang="zh-CN" b="0" dirty="0">
                <a:solidFill>
                  <a:srgbClr val="000000"/>
                </a:solidFill>
                <a:effectLst/>
                <a:latin typeface="Consolas" panose="020B0609020204030204" pitchFamily="49" charset="0"/>
              </a:rPr>
              <a:t>(),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setZero</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42760074"/>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12.5 </a:t>
            </a:r>
            <a:r>
              <a:rPr lang="zh-CN" altLang="en-US" sz="2800" b="1" dirty="0">
                <a:latin typeface="Times New Roman" pitchFamily="18" charset="0"/>
                <a:ea typeface="华文中宋" pitchFamily="2" charset="-122"/>
              </a:rPr>
              <a:t>状态估计器</a:t>
            </a:r>
          </a:p>
        </p:txBody>
      </p:sp>
      <p:sp>
        <p:nvSpPr>
          <p:cNvPr id="3" name="文本框 2">
            <a:extLst>
              <a:ext uri="{FF2B5EF4-FFF2-40B4-BE49-F238E27FC236}">
                <a16:creationId xmlns:a16="http://schemas.microsoft.com/office/drawing/2014/main" id="{09C08899-D58C-B591-74AC-49247AE6174E}"/>
              </a:ext>
            </a:extLst>
          </p:cNvPr>
          <p:cNvSpPr txBox="1"/>
          <p:nvPr/>
        </p:nvSpPr>
        <p:spPr>
          <a:xfrm>
            <a:off x="612906" y="1038687"/>
            <a:ext cx="10966187" cy="5355312"/>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 C1;</a:t>
            </a:r>
            <a:r>
              <a:rPr lang="en-US" altLang="zh-CN" b="0" dirty="0">
                <a:solidFill>
                  <a:srgbClr val="001080"/>
                </a:solidFill>
                <a:effectLst/>
                <a:latin typeface="Consolas" panose="020B0609020204030204" pitchFamily="49" charset="0"/>
              </a:rPr>
              <a:t>_C</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 C1;</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 C1;</a:t>
            </a:r>
            <a:r>
              <a:rPr lang="en-US" altLang="zh-CN" b="0" dirty="0">
                <a:solidFill>
                  <a:srgbClr val="001080"/>
                </a:solidFill>
                <a:effectLst/>
                <a:latin typeface="Consolas" panose="020B0609020204030204" pitchFamily="49" charset="0"/>
              </a:rPr>
              <a:t>_C</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 C1;</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 C2;</a:t>
            </a:r>
            <a:r>
              <a:rPr lang="en-US" altLang="zh-CN" b="0" dirty="0">
                <a:solidFill>
                  <a:srgbClr val="001080"/>
                </a:solidFill>
                <a:effectLst/>
                <a:latin typeface="Consolas" panose="020B0609020204030204" pitchFamily="49" charset="0"/>
              </a:rPr>
              <a:t>_C</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15</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 C2;</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18</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 C2;</a:t>
            </a:r>
            <a:r>
              <a:rPr lang="en-US" altLang="zh-CN" b="0" dirty="0">
                <a:solidFill>
                  <a:srgbClr val="001080"/>
                </a:solidFill>
                <a:effectLst/>
                <a:latin typeface="Consolas" panose="020B0609020204030204" pitchFamily="49" charset="0"/>
              </a:rPr>
              <a:t>_C</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 C2;</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_C</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27</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17</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_C</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26</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_C</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25</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11</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_C</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P</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setIdentity</a:t>
            </a:r>
            <a:r>
              <a:rPr lang="en-US" altLang="zh-CN" b="0" dirty="0">
                <a:solidFill>
                  <a:srgbClr val="000000"/>
                </a:solidFill>
                <a:effectLst/>
                <a:latin typeface="Consolas" panose="020B0609020204030204" pitchFamily="49" charset="0"/>
              </a:rPr>
              <a:t>();_P = </a:t>
            </a:r>
            <a:r>
              <a:rPr lang="en-US" altLang="zh-CN" b="0" dirty="0">
                <a:solidFill>
                  <a:srgbClr val="795E26"/>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 * _P;</a:t>
            </a:r>
            <a:r>
              <a:rPr lang="en-US" altLang="zh-CN" b="0" dirty="0">
                <a:solidFill>
                  <a:srgbClr val="001080"/>
                </a:solidFill>
                <a:effectLst/>
                <a:latin typeface="Consolas" panose="020B0609020204030204" pitchFamily="49" charset="0"/>
              </a:rPr>
              <a:t>_Q0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setIdentity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_Q0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 (dt / </a:t>
            </a:r>
            <a:r>
              <a:rPr lang="en-US" altLang="zh-CN" b="0" dirty="0">
                <a:solidFill>
                  <a:srgbClr val="098658"/>
                </a:solidFill>
                <a:effectLst/>
                <a:latin typeface="Consolas" panose="020B0609020204030204" pitchFamily="49" charset="0"/>
              </a:rPr>
              <a:t>20.f</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_Q0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(dt * </a:t>
            </a:r>
            <a:r>
              <a:rPr lang="en-US" altLang="zh-CN" b="0" dirty="0">
                <a:solidFill>
                  <a:srgbClr val="098658"/>
                </a:solidFill>
                <a:effectLst/>
                <a:latin typeface="Consolas" panose="020B0609020204030204" pitchFamily="49" charset="0"/>
              </a:rPr>
              <a:t>9.8f</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20.f</a:t>
            </a:r>
            <a:r>
              <a:rPr lang="en-US" altLang="zh-CN" b="0" dirty="0">
                <a:solidFill>
                  <a:srgbClr val="000000"/>
                </a:solidFill>
                <a:effectLst/>
                <a:latin typeface="Consolas" panose="020B0609020204030204" pitchFamily="49" charset="0"/>
              </a:rPr>
              <a:t>) *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_Q0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 dt * </a:t>
            </a:r>
            <a:r>
              <a:rPr lang="en-US" altLang="zh-CN" b="0" dirty="0">
                <a:solidFill>
                  <a:srgbClr val="267F99"/>
                </a:solidFill>
                <a:effectLst/>
                <a:latin typeface="Consolas" panose="020B0609020204030204" pitchFamily="49" charset="0"/>
              </a:rPr>
              <a:t>Eigen</a:t>
            </a:r>
            <a:r>
              <a:rPr lang="en-US" altLang="zh-CN" b="0" dirty="0">
                <a:solidFill>
                  <a:srgbClr val="000000"/>
                </a:solidFill>
                <a:effectLst/>
                <a:latin typeface="Consolas" panose="020B0609020204030204" pitchFamily="49" charset="0"/>
              </a:rPr>
              <a:t>::</a:t>
            </a:r>
            <a:r>
              <a:rPr lang="en-US" altLang="zh-CN" b="0" dirty="0">
                <a:solidFill>
                  <a:srgbClr val="267F99"/>
                </a:solidFill>
                <a:effectLst/>
                <a:latin typeface="Consolas" panose="020B0609020204030204" pitchFamily="49" charset="0"/>
              </a:rPr>
              <a:t>Matrix</a:t>
            </a:r>
            <a:r>
              <a:rPr lang="en-US" altLang="zh-CN" b="0" dirty="0">
                <a:solidFill>
                  <a:srgbClr val="000000"/>
                </a:solidFill>
                <a:effectLst/>
                <a:latin typeface="Consolas" panose="020B0609020204030204" pitchFamily="49" charset="0"/>
              </a:rPr>
              <a:t>&lt;</a:t>
            </a:r>
            <a:r>
              <a:rPr lang="en-US" altLang="zh-CN" b="0" dirty="0">
                <a:solidFill>
                  <a:srgbClr val="267F99"/>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&gt;::</a:t>
            </a:r>
            <a:r>
              <a:rPr lang="en-US" altLang="zh-CN" b="0" dirty="0">
                <a:solidFill>
                  <a:srgbClr val="795E26"/>
                </a:solidFill>
                <a:effectLst/>
                <a:latin typeface="Consolas" panose="020B0609020204030204" pitchFamily="49" charset="0"/>
              </a:rPr>
              <a: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_R0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setIdentity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position</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xhat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vWorld</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xhat</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block</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vBody</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rBody</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this</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_</a:t>
            </a:r>
            <a:r>
              <a:rPr lang="en-US" altLang="zh-CN" b="0" dirty="0" err="1">
                <a:solidFill>
                  <a:srgbClr val="001080"/>
                </a:solidFill>
                <a:effectLst/>
                <a:latin typeface="Consolas" panose="020B0609020204030204" pitchFamily="49" charset="0"/>
              </a:rPr>
              <a:t>stateEstimatorData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result</a:t>
            </a:r>
            <a:r>
              <a:rPr lang="en-US" altLang="zh-CN" b="0" dirty="0">
                <a:solidFill>
                  <a:srgbClr val="000000"/>
                </a:solidFill>
                <a:effectLst/>
                <a:latin typeface="Consolas" panose="020B0609020204030204" pitchFamily="49" charset="0"/>
              </a:rPr>
              <a:t>-&gt;</a:t>
            </a:r>
            <a:r>
              <a:rPr lang="en-US" altLang="zh-CN" b="0" dirty="0" err="1">
                <a:solidFill>
                  <a:srgbClr val="001080"/>
                </a:solidFill>
                <a:effectLst/>
                <a:latin typeface="Consolas" panose="020B0609020204030204" pitchFamily="49" charset="0"/>
              </a:rPr>
              <a:t>vWorld</a:t>
            </a:r>
            <a:r>
              <a:rPr lang="en-US" altLang="zh-CN" b="0" dirty="0">
                <a:solidFill>
                  <a:srgbClr val="000000"/>
                </a:solidFill>
                <a:effectLst/>
                <a:latin typeface="Consolas" panose="020B0609020204030204" pitchFamily="49" charset="0"/>
              </a:rPr>
              <a:t>;</a:t>
            </a:r>
          </a:p>
          <a:p>
            <a:endParaRPr lang="en-US" altLang="zh-C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092686487"/>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习    题</a:t>
            </a:r>
          </a:p>
        </p:txBody>
      </p:sp>
      <p:sp>
        <p:nvSpPr>
          <p:cNvPr id="4" name="Rectangle 2">
            <a:extLst>
              <a:ext uri="{FF2B5EF4-FFF2-40B4-BE49-F238E27FC236}">
                <a16:creationId xmlns:a16="http://schemas.microsoft.com/office/drawing/2014/main" id="{47F6D60D-CCCE-BD2B-59A9-50E7E443B65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a:extLst>
              <a:ext uri="{FF2B5EF4-FFF2-40B4-BE49-F238E27FC236}">
                <a16:creationId xmlns:a16="http://schemas.microsoft.com/office/drawing/2014/main" id="{E3ED215E-8E5A-6D97-F1BD-A3D3245CFE7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6">
            <a:extLst>
              <a:ext uri="{FF2B5EF4-FFF2-40B4-BE49-F238E27FC236}">
                <a16:creationId xmlns:a16="http://schemas.microsoft.com/office/drawing/2014/main" id="{434C1007-6F73-8CD7-A998-A804DD6386E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Rectangle 12">
            <a:extLst>
              <a:ext uri="{FF2B5EF4-FFF2-40B4-BE49-F238E27FC236}">
                <a16:creationId xmlns:a16="http://schemas.microsoft.com/office/drawing/2014/main" id="{7803F50F-66FA-3C3E-A727-FBAD1C75F96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Rectangle 14">
            <a:extLst>
              <a:ext uri="{FF2B5EF4-FFF2-40B4-BE49-F238E27FC236}">
                <a16:creationId xmlns:a16="http://schemas.microsoft.com/office/drawing/2014/main" id="{37DABA74-EC27-F8E3-1DF7-55117CD91C4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294AEAD9-7A75-873B-24F8-D0E93311AE4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内容占位符 2">
            <a:extLst>
              <a:ext uri="{FF2B5EF4-FFF2-40B4-BE49-F238E27FC236}">
                <a16:creationId xmlns:a16="http://schemas.microsoft.com/office/drawing/2014/main" id="{260CB8D4-3764-3BD1-2D4E-2AE87A88ACA2}"/>
              </a:ext>
            </a:extLst>
          </p:cNvPr>
          <p:cNvSpPr>
            <a:spLocks noChangeArrowheads="1"/>
          </p:cNvSpPr>
          <p:nvPr/>
        </p:nvSpPr>
        <p:spPr bwMode="auto">
          <a:xfrm>
            <a:off x="685119" y="1140156"/>
            <a:ext cx="10821762" cy="228884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12.1</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理解</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MPC</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控制程序的实现过程。</a:t>
            </a:r>
          </a:p>
          <a:p>
            <a:pPr marL="0" marR="0" lvl="0" indent="0" algn="l" defTabSz="914400" rtl="0" eaLnBrk="1" fontAlgn="base" latinLnBrk="0" hangingPunct="1">
              <a:lnSpc>
                <a:spcPct val="120000"/>
              </a:lnSpc>
              <a:spcBef>
                <a:spcPct val="10000"/>
              </a:spcBef>
              <a:spcAft>
                <a:spcPct val="10000"/>
              </a:spcAft>
              <a:buClrTx/>
              <a:buSzTx/>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12.2</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理解</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WPC</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控制程序的实现过程。</a:t>
            </a:r>
          </a:p>
          <a:p>
            <a:pPr marL="0" marR="0" lvl="0" indent="0" algn="l" defTabSz="914400" rtl="0" eaLnBrk="1" fontAlgn="base" latinLnBrk="0" hangingPunct="1">
              <a:lnSpc>
                <a:spcPct val="120000"/>
              </a:lnSpc>
              <a:spcBef>
                <a:spcPct val="10000"/>
              </a:spcBef>
              <a:spcAft>
                <a:spcPct val="10000"/>
              </a:spcAft>
              <a:buClrTx/>
              <a:buSzTx/>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12.3</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理解四足机器人步态规划程序的实现过程。</a:t>
            </a:r>
          </a:p>
          <a:p>
            <a:pPr marL="0" marR="0" lvl="0" indent="0" algn="l" defTabSz="914400" rtl="0" eaLnBrk="1" fontAlgn="base" latinLnBrk="0" hangingPunct="1">
              <a:lnSpc>
                <a:spcPct val="120000"/>
              </a:lnSpc>
              <a:spcBef>
                <a:spcPct val="10000"/>
              </a:spcBef>
              <a:spcAft>
                <a:spcPct val="10000"/>
              </a:spcAft>
              <a:buClrTx/>
              <a:buSzTx/>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12.4</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固定基动力学模型和浮动基动力学模型的区别和联系是什么？</a:t>
            </a:r>
          </a:p>
          <a:p>
            <a:pPr marL="0" marR="0" lvl="0" indent="0" algn="l" defTabSz="914400" rtl="0" eaLnBrk="1" fontAlgn="base" latinLnBrk="0" hangingPunct="1">
              <a:lnSpc>
                <a:spcPct val="120000"/>
              </a:lnSpc>
              <a:spcBef>
                <a:spcPct val="10000"/>
              </a:spcBef>
              <a:spcAft>
                <a:spcPct val="10000"/>
              </a:spcAft>
              <a:buClrTx/>
              <a:buSzTx/>
              <a:defRPr/>
            </a:pP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29614297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A3YTM3NGM4NjQ1MjY4MmM1MzFiMWQ3MWE3NTU2OD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1763</TotalTime>
  <Words>10010</Words>
  <Application>Microsoft Office PowerPoint</Application>
  <PresentationFormat>宽屏</PresentationFormat>
  <Paragraphs>758</Paragraphs>
  <Slides>60</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60</vt:i4>
      </vt:variant>
    </vt:vector>
  </HeadingPairs>
  <TitlesOfParts>
    <vt:vector size="69" baseType="lpstr">
      <vt:lpstr>等线</vt:lpstr>
      <vt:lpstr>等线 Light</vt:lpstr>
      <vt:lpstr>微软雅黑</vt:lpstr>
      <vt:lpstr>Arial</vt:lpstr>
      <vt:lpstr>Calibri</vt:lpstr>
      <vt:lpstr>Consolas</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libin ribben</dc:creator>
  <cp:lastModifiedBy>19 19</cp:lastModifiedBy>
  <cp:revision>1149</cp:revision>
  <dcterms:created xsi:type="dcterms:W3CDTF">2019-06-19T02:08:00Z</dcterms:created>
  <dcterms:modified xsi:type="dcterms:W3CDTF">2023-05-29T10:59:03Z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2052-11.1.0.11636</vt:lpwstr>
  </property>
  <property fmtid="{D5CDD505-2E9C-101B-9397-08002B2CF9AE}" pid="3" name="ICV">
    <vt:lpwstr>82CFBE4CAFC14D248354FA9E7AB4A679</vt:lpwstr>
  </property>
</Properties>
</file>