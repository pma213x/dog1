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8" r:id="rId3"/>
    <p:sldId id="259" r:id="rId4"/>
    <p:sldId id="260" r:id="rId5"/>
    <p:sldId id="261" r:id="rId6"/>
    <p:sldId id="262" r:id="rId7"/>
    <p:sldId id="263" r:id="rId8"/>
    <p:sldId id="264" r:id="rId9"/>
    <p:sldId id="265" r:id="rId10"/>
    <p:sldId id="266" r:id="rId11"/>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292" r:id="rId55"/>
    <p:sldId id="311" r:id="rId56"/>
    <p:sldId id="312" r:id="rId57"/>
    <p:sldId id="313" r:id="rId58"/>
    <p:sldId id="314" r:id="rId59"/>
    <p:sldId id="315" r:id="rId60"/>
    <p:sldId id="316" r:id="rId61"/>
    <p:sldId id="317" r:id="rId62"/>
    <p:sldId id="318"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9" r:id="rId97"/>
    <p:sldId id="360" r:id="rId98"/>
    <p:sldId id="361" r:id="rId99"/>
    <p:sldId id="358" r:id="rId100"/>
    <p:sldId id="362" r:id="rId101"/>
    <p:sldId id="363" r:id="rId102"/>
    <p:sldId id="364" r:id="rId103"/>
    <p:sldId id="365" r:id="rId104"/>
    <p:sldId id="366" r:id="rId105"/>
    <p:sldId id="367" r:id="rId106"/>
  </p:sldIdLst>
  <p:sldSz cx="12192000" cy="6858000"/>
  <p:notesSz cx="6858000" cy="9144000"/>
  <p:custDataLst>
    <p:tags r:id="rId1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0" Type="http://schemas.openxmlformats.org/officeDocument/2006/relationships/tags" Target="tags/tag209.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
        <p:nvSpPr>
          <p:cNvPr id="7" name="Line 7"/>
          <p:cNvSpPr/>
          <p:nvPr/>
        </p:nvSpPr>
        <p:spPr>
          <a:xfrm>
            <a:off x="0" y="684213"/>
            <a:ext cx="12192000" cy="0"/>
          </a:xfrm>
          <a:prstGeom prst="line">
            <a:avLst/>
          </a:prstGeom>
          <a:ln w="114300" cap="flat" cmpd="thickThin">
            <a:solidFill>
              <a:srgbClr val="660033"/>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hyperlink" Target="https://baike.baidu.com/item/GUI" TargetMode="External"/><Relationship Id="rId3" Type="http://schemas.openxmlformats.org/officeDocument/2006/relationships/hyperlink" Target="https://baike.baidu.com/item/%E5%9B%BE%E5%BD%A2%E7%94%A8%E6%88%B7%E7%95%8C%E9%9D%A2" TargetMode="External"/><Relationship Id="rId2" Type="http://schemas.openxmlformats.org/officeDocument/2006/relationships/hyperlink" Target="https://baike.baidu.com/item/C%2B%2B" TargetMode="Externa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tags" Target="../tags/tag11.xml"/><Relationship Id="rId3" Type="http://schemas.openxmlformats.org/officeDocument/2006/relationships/image" Target="../media/image3.png"/><Relationship Id="rId2" Type="http://schemas.openxmlformats.org/officeDocument/2006/relationships/tags" Target="../tags/tag10.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tags" Target="../tags/tag14.xml"/><Relationship Id="rId3" Type="http://schemas.openxmlformats.org/officeDocument/2006/relationships/image" Target="../media/image5.png"/><Relationship Id="rId2" Type="http://schemas.openxmlformats.org/officeDocument/2006/relationships/tags" Target="../tags/tag13.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tags" Target="../tags/tag18.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tags" Target="../tags/tag23.xml"/><Relationship Id="rId3" Type="http://schemas.openxmlformats.org/officeDocument/2006/relationships/image" Target="../media/image8.png"/><Relationship Id="rId2" Type="http://schemas.openxmlformats.org/officeDocument/2006/relationships/tags" Target="../tags/tag2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tags" Target="../tags/tag25.xml"/><Relationship Id="rId1" Type="http://schemas.openxmlformats.org/officeDocument/2006/relationships/tags" Target="../tags/tag24.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tags" Target="../tags/tag28.xml"/><Relationship Id="rId3" Type="http://schemas.openxmlformats.org/officeDocument/2006/relationships/image" Target="../media/image11.png"/><Relationship Id="rId2" Type="http://schemas.openxmlformats.org/officeDocument/2006/relationships/tags" Target="../tags/tag27.xml"/><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tags" Target="../tags/tag33.xml"/><Relationship Id="rId1" Type="http://schemas.openxmlformats.org/officeDocument/2006/relationships/tags" Target="../tags/tag3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tags" Target="../tags/tag35.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tags" Target="../tags/tag38.xml"/><Relationship Id="rId3" Type="http://schemas.openxmlformats.org/officeDocument/2006/relationships/image" Target="../media/image15.png"/><Relationship Id="rId2" Type="http://schemas.openxmlformats.org/officeDocument/2006/relationships/tags" Target="../tags/tag37.xml"/><Relationship Id="rId1" Type="http://schemas.openxmlformats.org/officeDocument/2006/relationships/tags" Target="../tags/tag36.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tags" Target="../tags/tag40.xml"/><Relationship Id="rId1" Type="http://schemas.openxmlformats.org/officeDocument/2006/relationships/tags" Target="../tags/tag3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tags" Target="../tags/tag45.xml"/><Relationship Id="rId3" Type="http://schemas.openxmlformats.org/officeDocument/2006/relationships/image" Target="../media/image18.png"/><Relationship Id="rId2" Type="http://schemas.openxmlformats.org/officeDocument/2006/relationships/tags" Target="../tags/tag44.xml"/><Relationship Id="rId1" Type="http://schemas.openxmlformats.org/officeDocument/2006/relationships/tags" Target="../tags/tag43.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tags" Target="../tags/tag47.xml"/><Relationship Id="rId1" Type="http://schemas.openxmlformats.org/officeDocument/2006/relationships/tags" Target="../tags/tag46.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tags" Target="../tags/tag49.xml"/><Relationship Id="rId1" Type="http://schemas.openxmlformats.org/officeDocument/2006/relationships/tags" Target="../tags/tag48.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tags" Target="../tags/tag51.xml"/><Relationship Id="rId1" Type="http://schemas.openxmlformats.org/officeDocument/2006/relationships/tags" Target="../tags/tag50.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tags" Target="../tags/tag53.xml"/><Relationship Id="rId1" Type="http://schemas.openxmlformats.org/officeDocument/2006/relationships/tags" Target="../tags/tag52.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tags" Target="../tags/tag56.xml"/><Relationship Id="rId3" Type="http://schemas.openxmlformats.org/officeDocument/2006/relationships/image" Target="../media/image24.png"/><Relationship Id="rId2" Type="http://schemas.openxmlformats.org/officeDocument/2006/relationships/tags" Target="../tags/tag55.xml"/><Relationship Id="rId1" Type="http://schemas.openxmlformats.org/officeDocument/2006/relationships/tags" Target="../tags/tag54.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6.png"/><Relationship Id="rId2" Type="http://schemas.openxmlformats.org/officeDocument/2006/relationships/tags" Target="../tags/tag58.xml"/><Relationship Id="rId1" Type="http://schemas.openxmlformats.org/officeDocument/2006/relationships/tags" Target="../tags/tag57.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tags" Target="../tags/tag61.xml"/><Relationship Id="rId3" Type="http://schemas.openxmlformats.org/officeDocument/2006/relationships/image" Target="../media/image27.png"/><Relationship Id="rId2" Type="http://schemas.openxmlformats.org/officeDocument/2006/relationships/tags" Target="../tags/tag60.xml"/><Relationship Id="rId1" Type="http://schemas.openxmlformats.org/officeDocument/2006/relationships/tags" Target="../tags/tag59.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tags" Target="../tags/tag63.xml"/><Relationship Id="rId1" Type="http://schemas.openxmlformats.org/officeDocument/2006/relationships/tags" Target="../tags/tag62.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tags" Target="../tags/tag65.xml"/><Relationship Id="rId1" Type="http://schemas.openxmlformats.org/officeDocument/2006/relationships/tags" Target="../tags/tag64.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tags" Target="../tags/tag67.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tags" Target="../tags/tag69.xml"/><Relationship Id="rId1" Type="http://schemas.openxmlformats.org/officeDocument/2006/relationships/tags" Target="../tags/tag68.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1.xml"/><Relationship Id="rId2" Type="http://schemas.openxmlformats.org/officeDocument/2006/relationships/image" Target="../media/image33.png"/><Relationship Id="rId1" Type="http://schemas.openxmlformats.org/officeDocument/2006/relationships/tags" Target="../tags/tag70.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tags" Target="../tags/tag73.xml"/><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tags" Target="../tags/tag76.xml"/><Relationship Id="rId3" Type="http://schemas.openxmlformats.org/officeDocument/2006/relationships/image" Target="../media/image35.png"/><Relationship Id="rId2" Type="http://schemas.openxmlformats.org/officeDocument/2006/relationships/tags" Target="../tags/tag75.xml"/><Relationship Id="rId1" Type="http://schemas.openxmlformats.org/officeDocument/2006/relationships/tags" Target="../tags/tag74.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tags" Target="../tags/tag78.xml"/><Relationship Id="rId1" Type="http://schemas.openxmlformats.org/officeDocument/2006/relationships/tags" Target="../tags/tag77.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8.png"/><Relationship Id="rId2" Type="http://schemas.openxmlformats.org/officeDocument/2006/relationships/tags" Target="../tags/tag80.xml"/><Relationship Id="rId1" Type="http://schemas.openxmlformats.org/officeDocument/2006/relationships/tags" Target="../tags/tag79.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9.png"/><Relationship Id="rId2" Type="http://schemas.openxmlformats.org/officeDocument/2006/relationships/tags" Target="../tags/tag82.xml"/><Relationship Id="rId1" Type="http://schemas.openxmlformats.org/officeDocument/2006/relationships/tags" Target="../tags/tag81.xml"/></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40.png"/><Relationship Id="rId1" Type="http://schemas.openxmlformats.org/officeDocument/2006/relationships/tags" Target="../tags/tag8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6.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tags" Target="../tags/tag89.xml"/><Relationship Id="rId3" Type="http://schemas.openxmlformats.org/officeDocument/2006/relationships/image" Target="../media/image42.png"/><Relationship Id="rId2" Type="http://schemas.openxmlformats.org/officeDocument/2006/relationships/tags" Target="../tags/tag88.xml"/><Relationship Id="rId1" Type="http://schemas.openxmlformats.org/officeDocument/2006/relationships/tags" Target="../tags/tag87.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4.png"/><Relationship Id="rId2" Type="http://schemas.openxmlformats.org/officeDocument/2006/relationships/tags" Target="../tags/tag91.xml"/><Relationship Id="rId1" Type="http://schemas.openxmlformats.org/officeDocument/2006/relationships/tags" Target="../tags/tag90.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5.png"/><Relationship Id="rId2" Type="http://schemas.openxmlformats.org/officeDocument/2006/relationships/tags" Target="../tags/tag93.xml"/><Relationship Id="rId1" Type="http://schemas.openxmlformats.org/officeDocument/2006/relationships/tags" Target="../tags/tag92.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6.png"/><Relationship Id="rId2" Type="http://schemas.openxmlformats.org/officeDocument/2006/relationships/tags" Target="../tags/tag95.xml"/><Relationship Id="rId1" Type="http://schemas.openxmlformats.org/officeDocument/2006/relationships/tags" Target="../tags/tag94.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7.png"/><Relationship Id="rId2" Type="http://schemas.openxmlformats.org/officeDocument/2006/relationships/tags" Target="../tags/tag97.xml"/><Relationship Id="rId1" Type="http://schemas.openxmlformats.org/officeDocument/2006/relationships/tags" Target="../tags/tag96.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tags" Target="../tags/tag100.xml"/><Relationship Id="rId3" Type="http://schemas.openxmlformats.org/officeDocument/2006/relationships/image" Target="../media/image48.png"/><Relationship Id="rId2" Type="http://schemas.openxmlformats.org/officeDocument/2006/relationships/tags" Target="../tags/tag99.xml"/><Relationship Id="rId1" Type="http://schemas.openxmlformats.org/officeDocument/2006/relationships/tags" Target="../tags/tag9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1.xml"/></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tags" Target="../tags/tag104.xml"/><Relationship Id="rId3" Type="http://schemas.openxmlformats.org/officeDocument/2006/relationships/image" Target="../media/image50.png"/><Relationship Id="rId2" Type="http://schemas.openxmlformats.org/officeDocument/2006/relationships/tags" Target="../tags/tag103.xml"/><Relationship Id="rId1" Type="http://schemas.openxmlformats.org/officeDocument/2006/relationships/tags" Target="../tags/tag102.xm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tags" Target="../tags/tag107.xml"/><Relationship Id="rId3" Type="http://schemas.openxmlformats.org/officeDocument/2006/relationships/image" Target="../media/image52.jpeg"/><Relationship Id="rId2" Type="http://schemas.openxmlformats.org/officeDocument/2006/relationships/tags" Target="../tags/tag106.xml"/><Relationship Id="rId1" Type="http://schemas.openxmlformats.org/officeDocument/2006/relationships/tags" Target="../tags/tag105.xml"/></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tags" Target="../tags/tag110.xml"/><Relationship Id="rId3" Type="http://schemas.openxmlformats.org/officeDocument/2006/relationships/image" Target="../media/image54.png"/><Relationship Id="rId2" Type="http://schemas.openxmlformats.org/officeDocument/2006/relationships/tags" Target="../tags/tag109.xml"/><Relationship Id="rId1" Type="http://schemas.openxmlformats.org/officeDocument/2006/relationships/tags" Target="../tags/tag108.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6.png"/><Relationship Id="rId2" Type="http://schemas.openxmlformats.org/officeDocument/2006/relationships/tags" Target="../tags/tag112.xml"/><Relationship Id="rId1" Type="http://schemas.openxmlformats.org/officeDocument/2006/relationships/tags" Target="../tags/tag111.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tags" Target="../tags/tag115.xml"/><Relationship Id="rId3" Type="http://schemas.openxmlformats.org/officeDocument/2006/relationships/image" Target="../media/image57.png"/><Relationship Id="rId2" Type="http://schemas.openxmlformats.org/officeDocument/2006/relationships/tags" Target="../tags/tag114.xml"/><Relationship Id="rId1" Type="http://schemas.openxmlformats.org/officeDocument/2006/relationships/tags" Target="../tags/tag113.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9.png"/><Relationship Id="rId2" Type="http://schemas.openxmlformats.org/officeDocument/2006/relationships/tags" Target="../tags/tag117.xml"/><Relationship Id="rId1" Type="http://schemas.openxmlformats.org/officeDocument/2006/relationships/tags" Target="../tags/tag11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8.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9.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0.png"/><Relationship Id="rId2" Type="http://schemas.openxmlformats.org/officeDocument/2006/relationships/tags" Target="../tags/tag121.xml"/><Relationship Id="rId1" Type="http://schemas.openxmlformats.org/officeDocument/2006/relationships/tags" Target="../tags/tag120.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1.png"/><Relationship Id="rId2" Type="http://schemas.openxmlformats.org/officeDocument/2006/relationships/tags" Target="../tags/tag123.xml"/><Relationship Id="rId1" Type="http://schemas.openxmlformats.org/officeDocument/2006/relationships/tags" Target="../tags/tag122.xml"/></Relationships>
</file>

<file path=ppt/slides/_rels/slide6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tags" Target="../tags/tag126.xml"/><Relationship Id="rId3" Type="http://schemas.openxmlformats.org/officeDocument/2006/relationships/image" Target="../media/image62.png"/><Relationship Id="rId2" Type="http://schemas.openxmlformats.org/officeDocument/2006/relationships/tags" Target="../tags/tag125.xml"/><Relationship Id="rId1" Type="http://schemas.openxmlformats.org/officeDocument/2006/relationships/tags" Target="../tags/tag124.xml"/></Relationships>
</file>

<file path=ppt/slides/_rels/slide6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tags" Target="../tags/tag129.xml"/><Relationship Id="rId3" Type="http://schemas.openxmlformats.org/officeDocument/2006/relationships/image" Target="../media/image64.png"/><Relationship Id="rId2" Type="http://schemas.openxmlformats.org/officeDocument/2006/relationships/tags" Target="../tags/tag128.xml"/><Relationship Id="rId1" Type="http://schemas.openxmlformats.org/officeDocument/2006/relationships/tags" Target="../tags/tag127.xml"/></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tags" Target="../tags/tag132.xml"/><Relationship Id="rId3" Type="http://schemas.openxmlformats.org/officeDocument/2006/relationships/image" Target="../media/image66.png"/><Relationship Id="rId2" Type="http://schemas.openxmlformats.org/officeDocument/2006/relationships/tags" Target="../tags/tag131.xml"/><Relationship Id="rId1" Type="http://schemas.openxmlformats.org/officeDocument/2006/relationships/tags" Target="../tags/tag130.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8.png"/><Relationship Id="rId2" Type="http://schemas.openxmlformats.org/officeDocument/2006/relationships/tags" Target="../tags/tag134.xml"/><Relationship Id="rId1" Type="http://schemas.openxmlformats.org/officeDocument/2006/relationships/tags" Target="../tags/tag133.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9.png"/><Relationship Id="rId2" Type="http://schemas.openxmlformats.org/officeDocument/2006/relationships/tags" Target="../tags/tag136.xml"/><Relationship Id="rId1" Type="http://schemas.openxmlformats.org/officeDocument/2006/relationships/tags" Target="../tags/tag13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8.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9.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0.png"/><Relationship Id="rId2" Type="http://schemas.openxmlformats.org/officeDocument/2006/relationships/tags" Target="../tags/tag141.xml"/><Relationship Id="rId1" Type="http://schemas.openxmlformats.org/officeDocument/2006/relationships/tags" Target="../tags/tag14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2.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1.png"/><Relationship Id="rId2" Type="http://schemas.openxmlformats.org/officeDocument/2006/relationships/tags" Target="../tags/tag144.xml"/><Relationship Id="rId1" Type="http://schemas.openxmlformats.org/officeDocument/2006/relationships/tags" Target="../tags/tag14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5.xml"/></Relationships>
</file>

<file path=ppt/slides/_rels/slide7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tags" Target="../tags/tag148.xml"/><Relationship Id="rId3" Type="http://schemas.openxmlformats.org/officeDocument/2006/relationships/image" Target="../media/image72.png"/><Relationship Id="rId2" Type="http://schemas.openxmlformats.org/officeDocument/2006/relationships/tags" Target="../tags/tag147.xml"/><Relationship Id="rId1" Type="http://schemas.openxmlformats.org/officeDocument/2006/relationships/tags" Target="../tags/tag146.xml"/></Relationships>
</file>

<file path=ppt/slides/_rels/slide7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tags" Target="../tags/tag151.xml"/><Relationship Id="rId3" Type="http://schemas.openxmlformats.org/officeDocument/2006/relationships/image" Target="../media/image74.png"/><Relationship Id="rId2" Type="http://schemas.openxmlformats.org/officeDocument/2006/relationships/tags" Target="../tags/tag150.xml"/><Relationship Id="rId1" Type="http://schemas.openxmlformats.org/officeDocument/2006/relationships/tags" Target="../tags/tag149.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tags" Target="../tags/tag154.xml"/><Relationship Id="rId3" Type="http://schemas.openxmlformats.org/officeDocument/2006/relationships/image" Target="../media/image76.png"/><Relationship Id="rId2" Type="http://schemas.openxmlformats.org/officeDocument/2006/relationships/tags" Target="../tags/tag153.xml"/><Relationship Id="rId1" Type="http://schemas.openxmlformats.org/officeDocument/2006/relationships/tags" Target="../tags/tag15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5.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6.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7.xml"/></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8.png"/><Relationship Id="rId2" Type="http://schemas.openxmlformats.org/officeDocument/2006/relationships/tags" Target="../tags/tag159.xml"/><Relationship Id="rId1" Type="http://schemas.openxmlformats.org/officeDocument/2006/relationships/tags" Target="../tags/tag158.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9.png"/><Relationship Id="rId2" Type="http://schemas.openxmlformats.org/officeDocument/2006/relationships/tags" Target="../tags/tag161.xml"/><Relationship Id="rId1" Type="http://schemas.openxmlformats.org/officeDocument/2006/relationships/tags" Target="../tags/tag160.xml"/></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0.png"/><Relationship Id="rId2" Type="http://schemas.openxmlformats.org/officeDocument/2006/relationships/tags" Target="../tags/tag163.xml"/><Relationship Id="rId1" Type="http://schemas.openxmlformats.org/officeDocument/2006/relationships/tags" Target="../tags/tag162.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1.png"/><Relationship Id="rId2" Type="http://schemas.openxmlformats.org/officeDocument/2006/relationships/tags" Target="../tags/tag165.xml"/><Relationship Id="rId1" Type="http://schemas.openxmlformats.org/officeDocument/2006/relationships/tags" Target="../tags/tag164.xml"/></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tags" Target="../tags/tag168.xml"/><Relationship Id="rId3" Type="http://schemas.openxmlformats.org/officeDocument/2006/relationships/image" Target="../media/image82.png"/><Relationship Id="rId2" Type="http://schemas.openxmlformats.org/officeDocument/2006/relationships/tags" Target="../tags/tag167.xml"/><Relationship Id="rId1" Type="http://schemas.openxmlformats.org/officeDocument/2006/relationships/tags" Target="../tags/tag166.xml"/></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4.png"/><Relationship Id="rId2" Type="http://schemas.openxmlformats.org/officeDocument/2006/relationships/tags" Target="../tags/tag170.xml"/><Relationship Id="rId1" Type="http://schemas.openxmlformats.org/officeDocument/2006/relationships/tags" Target="../tags/tag169.xml"/></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5.png"/><Relationship Id="rId2" Type="http://schemas.openxmlformats.org/officeDocument/2006/relationships/tags" Target="../tags/tag172.xml"/><Relationship Id="rId1" Type="http://schemas.openxmlformats.org/officeDocument/2006/relationships/tags" Target="../tags/tag171.xml"/></Relationships>
</file>

<file path=ppt/slides/_rels/slide8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tags" Target="../tags/tag175.xml"/><Relationship Id="rId3" Type="http://schemas.openxmlformats.org/officeDocument/2006/relationships/image" Target="../media/image86.png"/><Relationship Id="rId2" Type="http://schemas.openxmlformats.org/officeDocument/2006/relationships/tags" Target="../tags/tag174.xml"/><Relationship Id="rId1" Type="http://schemas.openxmlformats.org/officeDocument/2006/relationships/tags" Target="../tags/tag173.xml"/></Relationships>
</file>

<file path=ppt/slides/_rels/slide9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8.png"/><Relationship Id="rId2" Type="http://schemas.openxmlformats.org/officeDocument/2006/relationships/tags" Target="../tags/tag177.xml"/><Relationship Id="rId1" Type="http://schemas.openxmlformats.org/officeDocument/2006/relationships/tags" Target="../tags/tag176.xml"/></Relationships>
</file>

<file path=ppt/slides/_rels/slide9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tags" Target="../tags/tag180.xml"/><Relationship Id="rId3" Type="http://schemas.openxmlformats.org/officeDocument/2006/relationships/image" Target="../media/image89.png"/><Relationship Id="rId2" Type="http://schemas.openxmlformats.org/officeDocument/2006/relationships/tags" Target="../tags/tag179.xml"/><Relationship Id="rId1" Type="http://schemas.openxmlformats.org/officeDocument/2006/relationships/tags" Target="../tags/tag178.xml"/></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2.png"/><Relationship Id="rId4" Type="http://schemas.openxmlformats.org/officeDocument/2006/relationships/tags" Target="../tags/tag183.xml"/><Relationship Id="rId3" Type="http://schemas.openxmlformats.org/officeDocument/2006/relationships/image" Target="../media/image91.png"/><Relationship Id="rId2" Type="http://schemas.openxmlformats.org/officeDocument/2006/relationships/tags" Target="../tags/tag182.xml"/><Relationship Id="rId1" Type="http://schemas.openxmlformats.org/officeDocument/2006/relationships/tags" Target="../tags/tag181.xml"/></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3.png"/><Relationship Id="rId2" Type="http://schemas.openxmlformats.org/officeDocument/2006/relationships/tags" Target="../tags/tag185.xml"/><Relationship Id="rId1" Type="http://schemas.openxmlformats.org/officeDocument/2006/relationships/tags" Target="../tags/tag184.xml"/></Relationships>
</file>

<file path=ppt/slides/_rels/slide9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5.png"/><Relationship Id="rId4" Type="http://schemas.openxmlformats.org/officeDocument/2006/relationships/tags" Target="../tags/tag188.xml"/><Relationship Id="rId3" Type="http://schemas.openxmlformats.org/officeDocument/2006/relationships/image" Target="../media/image94.png"/><Relationship Id="rId2" Type="http://schemas.openxmlformats.org/officeDocument/2006/relationships/tags" Target="../tags/tag187.xml"/><Relationship Id="rId1" Type="http://schemas.openxmlformats.org/officeDocument/2006/relationships/tags" Target="../tags/tag186.xml"/></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6.png"/><Relationship Id="rId2" Type="http://schemas.openxmlformats.org/officeDocument/2006/relationships/tags" Target="../tags/tag190.xml"/><Relationship Id="rId1" Type="http://schemas.openxmlformats.org/officeDocument/2006/relationships/tags" Target="../tags/tag189.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7.png"/><Relationship Id="rId2" Type="http://schemas.openxmlformats.org/officeDocument/2006/relationships/tags" Target="../tags/tag192.xml"/><Relationship Id="rId1" Type="http://schemas.openxmlformats.org/officeDocument/2006/relationships/tags" Target="../tags/tag191.xml"/></Relationships>
</file>

<file path=ppt/slides/_rels/slide9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tags" Target="../tags/tag195.xml"/><Relationship Id="rId3" Type="http://schemas.openxmlformats.org/officeDocument/2006/relationships/image" Target="../media/image98.png"/><Relationship Id="rId2" Type="http://schemas.openxmlformats.org/officeDocument/2006/relationships/tags" Target="../tags/tag194.xml"/><Relationship Id="rId1" Type="http://schemas.openxmlformats.org/officeDocument/2006/relationships/tags" Target="../tags/tag193.xml"/></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0.png"/><Relationship Id="rId2" Type="http://schemas.openxmlformats.org/officeDocument/2006/relationships/tags" Target="../tags/tag197.xml"/><Relationship Id="rId1" Type="http://schemas.openxmlformats.org/officeDocument/2006/relationships/tags" Target="../tags/tag196.xml"/></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1.png"/><Relationship Id="rId2" Type="http://schemas.openxmlformats.org/officeDocument/2006/relationships/tags" Target="../tags/tag199.xml"/><Relationship Id="rId1" Type="http://schemas.openxmlformats.org/officeDocument/2006/relationships/tags" Target="../tags/tag198.xml"/></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2.png"/><Relationship Id="rId2" Type="http://schemas.openxmlformats.org/officeDocument/2006/relationships/tags" Target="../tags/tag201.xml"/><Relationship Id="rId1" Type="http://schemas.openxmlformats.org/officeDocument/2006/relationships/tags" Target="../tags/tag200.xml"/></Relationships>
</file>

<file path=ppt/slides/_rels/slide10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4.png"/><Relationship Id="rId4" Type="http://schemas.openxmlformats.org/officeDocument/2006/relationships/tags" Target="../tags/tag204.xml"/><Relationship Id="rId3" Type="http://schemas.openxmlformats.org/officeDocument/2006/relationships/image" Target="../media/image103.png"/><Relationship Id="rId2" Type="http://schemas.openxmlformats.org/officeDocument/2006/relationships/tags" Target="../tags/tag203.xml"/><Relationship Id="rId1" Type="http://schemas.openxmlformats.org/officeDocument/2006/relationships/tags" Target="../tags/tag202.xml"/></Relationships>
</file>

<file path=ppt/slides/_rels/slide10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tags" Target="../tags/tag207.xml"/><Relationship Id="rId3" Type="http://schemas.openxmlformats.org/officeDocument/2006/relationships/image" Target="../media/image105.png"/><Relationship Id="rId2" Type="http://schemas.openxmlformats.org/officeDocument/2006/relationships/tags" Target="../tags/tag206.xml"/><Relationship Id="rId1" Type="http://schemas.openxmlformats.org/officeDocument/2006/relationships/tags" Target="../tags/tag205.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245235" y="1878965"/>
            <a:ext cx="9144000" cy="586740"/>
          </a:xfrm>
        </p:spPr>
        <p:txBody>
          <a:bodyPr>
            <a:normAutofit fontScale="90000"/>
          </a:bodyPr>
          <a:p>
            <a:r>
              <a:rPr lang="zh-CN" altLang="en-US" sz="4800" b="1">
                <a:latin typeface="微软雅黑" panose="020B0503020204020204" pitchFamily="34" charset="-122"/>
                <a:ea typeface="微软雅黑" panose="020B0503020204020204" pitchFamily="34" charset="-122"/>
                <a:cs typeface="微软雅黑" panose="020B0503020204020204" pitchFamily="34" charset="-122"/>
              </a:rPr>
              <a:t>第十三章</a:t>
            </a:r>
            <a:r>
              <a:rPr lang="en-US" altLang="zh-CN" sz="48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a:latin typeface="微软雅黑" panose="020B0503020204020204" pitchFamily="34" charset="-122"/>
                <a:ea typeface="微软雅黑" panose="020B0503020204020204" pitchFamily="34" charset="-122"/>
                <a:cs typeface="微软雅黑" panose="020B0503020204020204" pitchFamily="34" charset="-122"/>
              </a:rPr>
              <a:t>四足机器人实验仿真与验证</a:t>
            </a:r>
            <a:endParaRPr lang="zh-CN" altLang="en-US" sz="48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副标题 2"/>
          <p:cNvSpPr>
            <a:spLocks noGrp="1"/>
          </p:cNvSpPr>
          <p:nvPr>
            <p:ph type="subTitle" idx="1"/>
          </p:nvPr>
        </p:nvSpPr>
        <p:spPr>
          <a:xfrm>
            <a:off x="1176020" y="2601595"/>
            <a:ext cx="6405880" cy="1655445"/>
          </a:xfrm>
        </p:spPr>
        <p:txBody>
          <a:bodyPr>
            <a:noAutofit/>
          </a:bodyPr>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1.</a:t>
            </a:r>
            <a:r>
              <a:rPr lang="zh-CN" altLang="en-US" b="1">
                <a:latin typeface="微软雅黑" panose="020B0503020204020204" pitchFamily="34" charset="-122"/>
                <a:ea typeface="微软雅黑" panose="020B0503020204020204" pitchFamily="34" charset="-122"/>
                <a:cs typeface="微软雅黑" panose="020B0503020204020204" pitchFamily="34" charset="-122"/>
              </a:rPr>
              <a:t>Ubuntu系统环境配置与软件安装实验。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4.</a:t>
            </a:r>
            <a:r>
              <a:rPr lang="zh-CN" altLang="en-US" b="1">
                <a:latin typeface="微软雅黑" panose="020B0503020204020204" pitchFamily="34" charset="-122"/>
                <a:ea typeface="微软雅黑" panose="020B0503020204020204" pitchFamily="34" charset="-122"/>
                <a:cs typeface="微软雅黑" panose="020B0503020204020204" pitchFamily="34" charset="-122"/>
              </a:rPr>
              <a:t>trot步态设计及验证实验。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5.</a:t>
            </a:r>
            <a:r>
              <a:rPr lang="zh-CN" altLang="en-US" b="1">
                <a:latin typeface="微软雅黑" panose="020B0503020204020204" pitchFamily="34" charset="-122"/>
                <a:ea typeface="微软雅黑" panose="020B0503020204020204" pitchFamily="34" charset="-122"/>
                <a:cs typeface="微软雅黑" panose="020B0503020204020204" pitchFamily="34" charset="-122"/>
              </a:rPr>
              <a:t>bound步态设计及验证实验。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b="1">
                <a:latin typeface="微软雅黑" panose="020B0503020204020204" pitchFamily="34" charset="-122"/>
                <a:ea typeface="微软雅黑" panose="020B0503020204020204" pitchFamily="34" charset="-122"/>
                <a:cs typeface="微软雅黑" panose="020B0503020204020204" pitchFamily="34" charset="-122"/>
              </a:rPr>
              <a:t>6.</a:t>
            </a:r>
            <a:r>
              <a:rPr lang="zh-CN" altLang="en-US" b="1">
                <a:latin typeface="微软雅黑" panose="020B0503020204020204" pitchFamily="34" charset="-122"/>
                <a:ea typeface="微软雅黑" panose="020B0503020204020204" pitchFamily="34" charset="-122"/>
                <a:cs typeface="微软雅黑" panose="020B0503020204020204" pitchFamily="34" charset="-122"/>
              </a:rPr>
              <a:t>pace步态设计及验证实验。</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pPr algn="l"/>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7581900" y="2601595"/>
            <a:ext cx="4478020" cy="2676525"/>
          </a:xfrm>
          <a:prstGeom prst="rect">
            <a:avLst/>
          </a:prstGeom>
          <a:noFill/>
        </p:spPr>
        <p:txBody>
          <a:bodyPr wrap="square" rtlCol="0">
            <a:spAutoFit/>
          </a:bodyPr>
          <a:p>
            <a:pPr algn="l"/>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walk步态设计及验证实验。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后空翻步态设计与运行实验。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864235" y="1236980"/>
            <a:ext cx="9519285" cy="493903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a:t>
            </a:r>
            <a:r>
              <a:rPr lang="en-US" sz="2000" b="0">
                <a:latin typeface="Times New Roman" panose="02020603050405020304" charset="0"/>
                <a:ea typeface="宋体" panose="02010600030101010101" pitchFamily="2" charset="-122"/>
              </a:rPr>
              <a:t>Ubuntu</a:t>
            </a:r>
            <a:r>
              <a:rPr lang="zh-CN" sz="2000" b="0">
                <a:latin typeface="Times New Roman" panose="02020603050405020304" charset="0"/>
                <a:ea typeface="宋体" panose="02010600030101010101" pitchFamily="2" charset="-122"/>
              </a:rPr>
              <a:t>系统的</a:t>
            </a:r>
            <a:r>
              <a:rPr lang="zh-CN" sz="2000" b="0">
                <a:ea typeface="宋体" panose="02010600030101010101" pitchFamily="2" charset="-122"/>
              </a:rPr>
              <a:t>基本操作指令及用法；</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环境配置的步骤，实现</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系统环境配置。</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a:t>
            </a:r>
            <a:r>
              <a:rPr lang="en-US" sz="2000" b="0">
                <a:latin typeface="Times New Roman" panose="02020603050405020304" charset="0"/>
                <a:ea typeface="宋体" panose="02010600030101010101" pitchFamily="2" charset="-122"/>
              </a:rPr>
              <a:t>Ubuntu</a:t>
            </a:r>
            <a:r>
              <a:rPr lang="zh-CN" sz="2000" b="0">
                <a:latin typeface="Times New Roman" panose="02020603050405020304" charset="0"/>
                <a:ea typeface="宋体" panose="02010600030101010101" pitchFamily="2" charset="-122"/>
              </a:rPr>
              <a:t>系统的</a:t>
            </a:r>
            <a:r>
              <a:rPr lang="zh-CN" sz="2000" b="0">
                <a:ea typeface="宋体" panose="02010600030101010101" pitchFamily="2" charset="-122"/>
              </a:rPr>
              <a:t>操作指令；</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a:t>
            </a:r>
            <a:r>
              <a:rPr lang="zh-CN" sz="2000" b="0">
                <a:latin typeface="Times New Roman" panose="02020603050405020304" charset="0"/>
                <a:ea typeface="宋体" panose="02010600030101010101" pitchFamily="2" charset="-122"/>
              </a:rPr>
              <a:t>在</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系统中</a:t>
            </a:r>
            <a:r>
              <a:rPr lang="zh-CN" sz="2000" b="0">
                <a:latin typeface="Times New Roman" panose="02020603050405020304" charset="0"/>
                <a:ea typeface="宋体" panose="02010600030101010101" pitchFamily="2" charset="-122"/>
              </a:rPr>
              <a:t>安装</a:t>
            </a:r>
            <a:r>
              <a:rPr lang="en-US" sz="2000" b="0">
                <a:latin typeface="Times New Roman" panose="02020603050405020304" charset="0"/>
                <a:ea typeface="宋体" panose="02010600030101010101" pitchFamily="2" charset="-122"/>
              </a:rPr>
              <a:t>Qt5.10</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LCM</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LCD</a:t>
            </a:r>
            <a:r>
              <a:rPr lang="zh-CN" sz="2000" b="0">
                <a:latin typeface="Times New Roman" panose="02020603050405020304" charset="0"/>
                <a:ea typeface="宋体" panose="02010600030101010101" pitchFamily="2" charset="-122"/>
              </a:rPr>
              <a:t>显示驱动接口</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Eigen</a:t>
            </a:r>
            <a:r>
              <a:rPr lang="zh-CN" sz="2000" b="0">
                <a:latin typeface="Times New Roman" panose="02020603050405020304" charset="0"/>
                <a:ea typeface="宋体" panose="02010600030101010101" pitchFamily="2" charset="-122"/>
              </a:rPr>
              <a:t>模版库</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git</a:t>
            </a:r>
            <a:r>
              <a:rPr lang="zh-CN" sz="2000" b="0">
                <a:latin typeface="Times New Roman" panose="02020603050405020304" charset="0"/>
                <a:ea typeface="宋体" panose="02010600030101010101" pitchFamily="2" charset="-122"/>
              </a:rPr>
              <a:t>系统</a:t>
            </a:r>
            <a:r>
              <a:rPr lang="zh-CN" sz="2000" b="0">
                <a:ea typeface="宋体" panose="02010600030101010101" pitchFamily="2" charset="-122"/>
              </a:rPr>
              <a:t>。</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三、实验原理</a:t>
            </a:r>
            <a:endParaRPr lang="en-US" sz="2000" b="1">
              <a:latin typeface="Arial" panose="020B0604020202020204" pitchFamily="34" charset="0"/>
              <a:ea typeface="黑体" panose="02010609060101010101" charset="-122"/>
              <a:cs typeface="Times New Roman" panose="02020603050405020304" charset="0"/>
            </a:endParaRPr>
          </a:p>
          <a:p>
            <a:pPr indent="0" fontAlgn="auto">
              <a:lnSpc>
                <a:spcPct val="125000"/>
              </a:lnSpc>
            </a:pPr>
            <a:r>
              <a:rPr lang="en-US" sz="2000" b="1">
                <a:latin typeface="微软雅黑" panose="020B0503020204020204" pitchFamily="34" charset="-122"/>
                <a:ea typeface="微软雅黑" panose="020B0503020204020204" pitchFamily="34" charset="-122"/>
                <a:cs typeface="微软雅黑" panose="020B0503020204020204" pitchFamily="34" charset="-122"/>
              </a:rPr>
              <a:t>1</a:t>
            </a:r>
            <a:r>
              <a:rPr lang="zh-CN" sz="2000" b="1">
                <a:latin typeface="微软雅黑" panose="020B0503020204020204" pitchFamily="34" charset="-122"/>
                <a:ea typeface="微软雅黑" panose="020B0503020204020204" pitchFamily="34" charset="-122"/>
                <a:cs typeface="微软雅黑" panose="020B0503020204020204" pitchFamily="34" charset="-122"/>
              </a:rPr>
              <a:t>．机器人系统总体结构</a:t>
            </a:r>
            <a:r>
              <a:rPr lang="zh-CN" sz="2000" b="0">
                <a:latin typeface="Times New Roman" panose="02020603050405020304" charset="0"/>
                <a:ea typeface="宋体" panose="02010600030101010101" pitchFamily="2" charset="-122"/>
              </a:rPr>
              <a:t>机器人</a:t>
            </a:r>
            <a:r>
              <a:rPr lang="zh-CN" sz="2000" b="0">
                <a:ea typeface="宋体" panose="02010600030101010101" pitchFamily="2" charset="-122"/>
              </a:rPr>
              <a:t>系统分为</a:t>
            </a:r>
            <a:r>
              <a:rPr lang="en-US" sz="2000" b="0">
                <a:latin typeface="Times New Roman" panose="02020603050405020304" charset="0"/>
                <a:ea typeface="宋体" panose="02010600030101010101" pitchFamily="2" charset="-122"/>
              </a:rPr>
              <a:t>4</a:t>
            </a:r>
            <a:r>
              <a:rPr lang="zh-CN" sz="2000" b="0">
                <a:ea typeface="宋体" panose="02010600030101010101" pitchFamily="2" charset="-122"/>
              </a:rPr>
              <a:t>部分</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上位机、通信</a:t>
            </a:r>
            <a:r>
              <a:rPr lang="zh-CN" sz="2000" b="0">
                <a:latin typeface="Times New Roman" panose="02020603050405020304" charset="0"/>
                <a:ea typeface="宋体" panose="02010600030101010101" pitchFamily="2" charset="-122"/>
              </a:rPr>
              <a:t>模块</a:t>
            </a:r>
            <a:r>
              <a:rPr lang="zh-CN" sz="2000" b="0">
                <a:ea typeface="宋体" panose="02010600030101010101" pitchFamily="2" charset="-122"/>
              </a:rPr>
              <a:t>、控制器及执行器，如图</a:t>
            </a:r>
            <a:r>
              <a:rPr lang="en-US" sz="2000" b="0">
                <a:latin typeface="Times New Roman" panose="02020603050405020304" charset="0"/>
                <a:ea typeface="宋体" panose="02010600030101010101" pitchFamily="2" charset="-122"/>
              </a:rPr>
              <a:t>13.1</a:t>
            </a:r>
            <a:r>
              <a:rPr lang="zh-CN" sz="2000" b="0">
                <a:ea typeface="宋体" panose="02010600030101010101" pitchFamily="2" charset="-122"/>
              </a:rPr>
              <a:t>所示。上位机位于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端，提供图形控制界面，负责机器人参数调整、发送控制指令及</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机器人的实时和离线仿真。</a:t>
            </a:r>
            <a:endParaRPr lang="zh-CN" altLang="en-US" sz="2000" b="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864235" y="1073150"/>
            <a:ext cx="9519285" cy="2784475"/>
          </a:xfrm>
          <a:prstGeom prst="rect">
            <a:avLst/>
          </a:prstGeom>
          <a:noFill/>
          <a:ln w="9525">
            <a:noFill/>
          </a:ln>
        </p:spPr>
        <p:txBody>
          <a:bodyPr wrap="square">
            <a:spAutoFit/>
          </a:bodyPr>
          <a:p>
            <a:pPr indent="629920" fontAlgn="auto">
              <a:lnSpc>
                <a:spcPct val="125000"/>
              </a:lnSpc>
            </a:pPr>
            <a:r>
              <a:rPr lang="zh-CN" sz="2000" b="0">
                <a:ea typeface="宋体" panose="02010600030101010101" pitchFamily="2" charset="-122"/>
              </a:rPr>
              <a:t>通信模块存在于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端和控制器</a:t>
            </a:r>
            <a:r>
              <a:rPr lang="zh-CN" sz="2000" b="0">
                <a:latin typeface="Times New Roman" panose="02020603050405020304" charset="0"/>
                <a:ea typeface="宋体" panose="02010600030101010101" pitchFamily="2" charset="-122"/>
              </a:rPr>
              <a:t>之间</a:t>
            </a:r>
            <a:r>
              <a:rPr lang="zh-CN" sz="2000" b="0">
                <a:ea typeface="宋体" panose="02010600030101010101" pitchFamily="2" charset="-122"/>
              </a:rPr>
              <a:t>，是两者的中间件，基于</a:t>
            </a:r>
            <a:r>
              <a:rPr lang="en-US" sz="2000" b="0">
                <a:latin typeface="Times New Roman" panose="02020603050405020304" charset="0"/>
                <a:ea typeface="宋体" panose="02010600030101010101" pitchFamily="2" charset="-122"/>
              </a:rPr>
              <a:t>LCM</a:t>
            </a:r>
            <a:r>
              <a:rPr lang="zh-CN" sz="2000" b="0">
                <a:ea typeface="宋体" panose="02010600030101010101" pitchFamily="2" charset="-122"/>
              </a:rPr>
              <a:t>通信实现双方的数据交互。利用该模块还可以实时监控机器人的各项参数，并可以通过图表的方式展现数据的变化，使操作者</a:t>
            </a:r>
            <a:r>
              <a:rPr lang="zh-CN" sz="2000" b="0">
                <a:latin typeface="Times New Roman" panose="02020603050405020304" charset="0"/>
                <a:ea typeface="宋体" panose="02010600030101010101" pitchFamily="2" charset="-122"/>
              </a:rPr>
              <a:t>可以更直观地观察</a:t>
            </a:r>
            <a:r>
              <a:rPr lang="zh-CN" sz="2000" b="0">
                <a:ea typeface="宋体" panose="02010600030101010101" pitchFamily="2" charset="-122"/>
              </a:rPr>
              <a:t>数据。</a:t>
            </a:r>
            <a:endParaRPr lang="zh-CN" sz="2000" b="0">
              <a:ea typeface="宋体" panose="02010600030101010101" pitchFamily="2" charset="-122"/>
            </a:endParaRPr>
          </a:p>
          <a:p>
            <a:pPr indent="62992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控制器位于机器人躯干</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，负责机器人控制算法</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足底力控制算法、摆动轨迹控制算法</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和状态估计器的实现及机器人状态数据的综合与转发等。</a:t>
            </a:r>
            <a:endParaRPr lang="zh-CN" sz="2000" b="0">
              <a:ea typeface="宋体" panose="02010600030101010101" pitchFamily="2" charset="-122"/>
            </a:endParaRPr>
          </a:p>
          <a:p>
            <a:pPr indent="62992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执行器位于每个关节</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，负责执行运动控制指令、</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伺服控制、计算力足底力大小和反馈当前角度等。</a:t>
            </a:r>
            <a:endParaRPr lang="zh-CN" altLang="en-US" sz="2000" b="0">
              <a:ea typeface="宋体" panose="02010600030101010101" pitchFamily="2" charset="-122"/>
            </a:endParaRPr>
          </a:p>
        </p:txBody>
      </p:sp>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MV{_N}G0`KT(}CV`5UXVE0E"/>
          <p:cNvPicPr>
            <a:picLocks noChangeAspect="1"/>
          </p:cNvPicPr>
          <p:nvPr>
            <p:custDataLst>
              <p:tags r:id="rId2"/>
            </p:custDataLst>
          </p:nvPr>
        </p:nvPicPr>
        <p:blipFill>
          <a:blip r:embed="rId3"/>
          <a:stretch>
            <a:fillRect/>
          </a:stretch>
        </p:blipFill>
        <p:spPr>
          <a:xfrm>
            <a:off x="2419350" y="3811905"/>
            <a:ext cx="7353300" cy="30460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29005"/>
            <a:ext cx="10125710" cy="5939155"/>
          </a:xfrm>
          <a:prstGeom prst="rect">
            <a:avLst/>
          </a:prstGeom>
          <a:noFill/>
          <a:ln w="9525">
            <a:noFill/>
          </a:ln>
        </p:spPr>
        <p:txBody>
          <a:bodyPr wrap="square">
            <a:spAutoFit/>
          </a:bodyPr>
          <a:p>
            <a:pPr indent="0" fontAlgn="auto">
              <a:lnSpc>
                <a:spcPct val="125000"/>
              </a:lnSpc>
            </a:pPr>
            <a:r>
              <a:rPr lang="en-US" sz="2400" b="1">
                <a:latin typeface="微软雅黑" panose="020B0503020204020204" pitchFamily="34" charset="-122"/>
                <a:ea typeface="微软雅黑" panose="020B0503020204020204" pitchFamily="34" charset="-122"/>
                <a:cs typeface="微软雅黑" panose="020B0503020204020204" pitchFamily="34" charset="-122"/>
              </a:rPr>
              <a:t>2</a:t>
            </a:r>
            <a:r>
              <a:rPr lang="zh-CN" sz="2400" b="1">
                <a:latin typeface="微软雅黑" panose="020B0503020204020204" pitchFamily="34" charset="-122"/>
                <a:ea typeface="微软雅黑" panose="020B0503020204020204" pitchFamily="34" charset="-122"/>
                <a:cs typeface="微软雅黑" panose="020B0503020204020204" pitchFamily="34" charset="-122"/>
              </a:rPr>
              <a:t>．</a:t>
            </a:r>
            <a:r>
              <a:rPr lang="en-US" sz="2400" b="1">
                <a:latin typeface="微软雅黑" panose="020B0503020204020204" pitchFamily="34" charset="-122"/>
                <a:ea typeface="微软雅黑" panose="020B0503020204020204" pitchFamily="34" charset="-122"/>
                <a:cs typeface="微软雅黑" panose="020B0503020204020204" pitchFamily="34" charset="-122"/>
              </a:rPr>
              <a:t>PC</a:t>
            </a:r>
            <a:r>
              <a:rPr lang="zh-CN" sz="2400" b="1">
                <a:latin typeface="微软雅黑" panose="020B0503020204020204" pitchFamily="34" charset="-122"/>
                <a:ea typeface="微软雅黑" panose="020B0503020204020204" pitchFamily="34" charset="-122"/>
                <a:cs typeface="微软雅黑" panose="020B0503020204020204" pitchFamily="34" charset="-122"/>
              </a:rPr>
              <a:t>端系统软件介绍</a:t>
            </a:r>
            <a:endParaRPr lang="zh-CN"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上位机程序位于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端，采用</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编写。</a:t>
            </a:r>
            <a:r>
              <a:rPr lang="en-US" sz="2000" b="0">
                <a:latin typeface="Times New Roman" panose="02020603050405020304" charset="0"/>
                <a:ea typeface="宋体" panose="02010600030101010101" pitchFamily="2" charset="-122"/>
              </a:rPr>
              <a:t>Qt </a:t>
            </a:r>
            <a:r>
              <a:rPr lang="zh-CN" sz="2000" b="0">
                <a:ea typeface="宋体" panose="02010600030101010101" pitchFamily="2" charset="-122"/>
              </a:rPr>
              <a:t>是由</a:t>
            </a:r>
            <a:r>
              <a:rPr lang="en-US" sz="2000" b="0">
                <a:latin typeface="Times New Roman" panose="02020603050405020304" charset="0"/>
                <a:ea typeface="宋体" panose="02010600030101010101" pitchFamily="2" charset="-122"/>
              </a:rPr>
              <a:t>Qt Company</a:t>
            </a:r>
            <a:r>
              <a:rPr lang="zh-CN" sz="2000" b="0">
                <a:ea typeface="宋体" panose="02010600030101010101" pitchFamily="2" charset="-122"/>
              </a:rPr>
              <a:t>开发的跨平台</a:t>
            </a:r>
            <a:r>
              <a:rPr lang="en-US" sz="2000" b="0">
                <a:solidFill>
                  <a:srgbClr val="0000FF"/>
                </a:solidFill>
                <a:latin typeface="Times New Roman" panose="02020603050405020304" charset="0"/>
                <a:ea typeface="宋体" panose="02010600030101010101" pitchFamily="2" charset="-122"/>
                <a:hlinkClick r:id="rId2"/>
              </a:rPr>
              <a:t>C++</a:t>
            </a:r>
            <a:r>
              <a:rPr lang="zh-CN" sz="2000" b="0">
                <a:solidFill>
                  <a:srgbClr val="0000FF"/>
                </a:solidFill>
                <a:ea typeface="宋体" panose="02010600030101010101" pitchFamily="2" charset="-122"/>
                <a:hlinkClick r:id="rId3"/>
              </a:rPr>
              <a:t>图形用户界面</a:t>
            </a:r>
            <a:r>
              <a:rPr lang="zh-CN" sz="2000" b="0">
                <a:ea typeface="宋体" panose="02010600030101010101" pitchFamily="2" charset="-122"/>
              </a:rPr>
              <a:t>应用程序开发框架。它既可以开发</a:t>
            </a:r>
            <a:r>
              <a:rPr lang="en-US" sz="2000" b="0">
                <a:solidFill>
                  <a:srgbClr val="0000FF"/>
                </a:solidFill>
                <a:latin typeface="Times New Roman" panose="02020603050405020304" charset="0"/>
                <a:ea typeface="宋体" panose="02010600030101010101" pitchFamily="2" charset="-122"/>
                <a:hlinkClick r:id="rId4"/>
              </a:rPr>
              <a:t>GUI</a:t>
            </a:r>
            <a:r>
              <a:rPr lang="zh-CN" sz="2000" b="0">
                <a:ea typeface="宋体" panose="02010600030101010101" pitchFamily="2" charset="-122"/>
              </a:rPr>
              <a:t>程序，也可开发非</a:t>
            </a:r>
            <a:r>
              <a:rPr lang="en-US" sz="2000" b="0">
                <a:latin typeface="Times New Roman" panose="02020603050405020304" charset="0"/>
                <a:ea typeface="宋体" panose="02010600030101010101" pitchFamily="2" charset="-122"/>
              </a:rPr>
              <a:t>GUI</a:t>
            </a:r>
            <a:r>
              <a:rPr lang="zh-CN" sz="2000" b="0">
                <a:ea typeface="宋体" panose="02010600030101010101" pitchFamily="2" charset="-122"/>
              </a:rPr>
              <a:t>程序，如控制台工具和服务器。</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是面向对象的框架，使用特殊的代码生成扩展</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元对象编译器</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Meta Object Compiler</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MOC</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及一些宏，允许</a:t>
            </a:r>
            <a:r>
              <a:rPr lang="zh-CN" sz="2000" b="0">
                <a:latin typeface="Times New Roman" panose="02020603050405020304" charset="0"/>
                <a:ea typeface="宋体" panose="02010600030101010101" pitchFamily="2" charset="-122"/>
              </a:rPr>
              <a:t>用户进行</a:t>
            </a:r>
            <a:r>
              <a:rPr lang="zh-CN" sz="2000" b="0">
                <a:ea typeface="宋体" panose="02010600030101010101" pitchFamily="2" charset="-122"/>
              </a:rPr>
              <a:t>真正</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组件编程。</a:t>
            </a:r>
            <a:r>
              <a:rPr lang="zh-CN" sz="2000" b="0">
                <a:latin typeface="Times New Roman" panose="02020603050405020304" charset="0"/>
                <a:ea typeface="宋体" panose="02010600030101010101" pitchFamily="2" charset="-122"/>
              </a:rPr>
              <a:t>该软件</a:t>
            </a:r>
            <a:r>
              <a:rPr lang="zh-CN" sz="2000" b="0">
                <a:ea typeface="宋体" panose="02010600030101010101" pitchFamily="2" charset="-122"/>
              </a:rPr>
              <a:t>具有优良的跨平台的特性，支持</a:t>
            </a:r>
            <a:r>
              <a:rPr lang="en-US" sz="2000" b="0">
                <a:latin typeface="Times New Roman" panose="02020603050405020304" charset="0"/>
                <a:ea typeface="宋体" panose="02010600030101010101" pitchFamily="2" charset="-122"/>
              </a:rPr>
              <a:t>Windows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Linux</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Solaris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SunOS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HP-UX</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Digital UNIX </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OSF/1</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Tru64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Irix</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FreeBSD</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BSD/OS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SCO</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AIX</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OS390</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QNX</a:t>
            </a:r>
            <a:r>
              <a:rPr lang="zh-CN" sz="2000" b="0">
                <a:ea typeface="宋体" panose="02010600030101010101" pitchFamily="2" charset="-122"/>
              </a:rPr>
              <a:t>等操作系统。</a:t>
            </a:r>
            <a:r>
              <a:rPr lang="zh-CN" sz="2000" b="0">
                <a:latin typeface="Times New Roman" panose="02020603050405020304" charset="0"/>
                <a:ea typeface="宋体" panose="02010600030101010101" pitchFamily="2" charset="-122"/>
              </a:rPr>
              <a:t>该软件</a:t>
            </a:r>
            <a:r>
              <a:rPr lang="zh-CN" sz="2000" b="0">
                <a:ea typeface="宋体" panose="02010600030101010101" pitchFamily="2" charset="-122"/>
              </a:rPr>
              <a:t>具有丰富的</a:t>
            </a:r>
            <a:r>
              <a:rPr lang="en-US" sz="2000" b="0">
                <a:latin typeface="Times New Roman" panose="02020603050405020304" charset="0"/>
                <a:ea typeface="宋体" panose="02010600030101010101" pitchFamily="2" charset="-122"/>
              </a:rPr>
              <a:t>API</a:t>
            </a:r>
            <a:r>
              <a:rPr lang="zh-CN" sz="2000" b="0">
                <a:ea typeface="宋体" panose="02010600030101010101" pitchFamily="2" charset="-122"/>
              </a:rPr>
              <a:t>，包含</a:t>
            </a:r>
            <a:r>
              <a:rPr lang="en-US" sz="2000" b="0">
                <a:latin typeface="Times New Roman" panose="02020603050405020304" charset="0"/>
                <a:ea typeface="宋体" panose="02010600030101010101" pitchFamily="2" charset="-122"/>
              </a:rPr>
              <a:t>250 </a:t>
            </a:r>
            <a:r>
              <a:rPr lang="zh-CN" sz="2000" b="0">
                <a:ea typeface="宋体" panose="02010600030101010101" pitchFamily="2" charset="-122"/>
              </a:rPr>
              <a:t>个以上的 </a:t>
            </a:r>
            <a:r>
              <a:rPr lang="en-US" sz="2000" b="0">
                <a:latin typeface="Times New Roman" panose="02020603050405020304" charset="0"/>
                <a:ea typeface="宋体" panose="02010600030101010101" pitchFamily="2" charset="-122"/>
              </a:rPr>
              <a:t>C++ </a:t>
            </a:r>
            <a:r>
              <a:rPr lang="zh-CN" sz="2000" b="0">
                <a:ea typeface="宋体" panose="02010600030101010101" pitchFamily="2" charset="-122"/>
              </a:rPr>
              <a:t>类，还提供基于模板的</a:t>
            </a:r>
            <a:r>
              <a:rPr lang="en-US" sz="2000" b="0">
                <a:latin typeface="Times New Roman" panose="02020603050405020304" charset="0"/>
                <a:ea typeface="宋体" panose="02010600030101010101" pitchFamily="2" charset="-122"/>
              </a:rPr>
              <a:t>collections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serialization</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file</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I/O device</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directory management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date/time </a:t>
            </a:r>
            <a:r>
              <a:rPr lang="zh-CN" sz="2000" b="0">
                <a:ea typeface="宋体" panose="02010600030101010101" pitchFamily="2" charset="-122"/>
              </a:rPr>
              <a:t>类，甚至还包括正则表达式的处理功能。</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的良好封装机制使得</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模块化程度非常高，可重用性较好，方便用户开发。</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提供了一种称为</a:t>
            </a:r>
            <a:r>
              <a:rPr lang="en-US" sz="2000" b="0">
                <a:latin typeface="Times New Roman" panose="02020603050405020304" charset="0"/>
                <a:ea typeface="宋体" panose="02010600030101010101" pitchFamily="2" charset="-122"/>
              </a:rPr>
              <a:t>signals/slots</a:t>
            </a:r>
            <a:r>
              <a:rPr lang="zh-CN" sz="2000" b="0">
                <a:ea typeface="宋体" panose="02010600030101010101" pitchFamily="2" charset="-122"/>
              </a:rPr>
              <a:t>的安全类型来替代 </a:t>
            </a:r>
            <a:r>
              <a:rPr lang="en-US" sz="2000" b="0">
                <a:latin typeface="Times New Roman" panose="02020603050405020304" charset="0"/>
                <a:ea typeface="宋体" panose="02010600030101010101" pitchFamily="2" charset="-122"/>
              </a:rPr>
              <a:t>callback</a:t>
            </a:r>
            <a:r>
              <a:rPr lang="zh-CN" sz="2000" b="0">
                <a:ea typeface="宋体" panose="02010600030101010101" pitchFamily="2" charset="-122"/>
              </a:rPr>
              <a:t>，使得各个元件之间的协同工作变得十分简单。</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通信模块是基于</a:t>
            </a:r>
            <a:r>
              <a:rPr lang="en-US" sz="2000" b="0">
                <a:latin typeface="Times New Roman" panose="02020603050405020304" charset="0"/>
                <a:ea typeface="宋体" panose="02010600030101010101" pitchFamily="2" charset="-122"/>
              </a:rPr>
              <a:t>LCM</a:t>
            </a:r>
            <a:r>
              <a:rPr lang="zh-CN" sz="2000" b="0">
                <a:ea typeface="宋体" panose="02010600030101010101" pitchFamily="2" charset="-122"/>
              </a:rPr>
              <a:t>编写</a:t>
            </a:r>
            <a:r>
              <a:rPr lang="zh-CN" sz="2000" b="0">
                <a:latin typeface="Times New Roman" panose="02020603050405020304" charset="0"/>
                <a:ea typeface="宋体" panose="02010600030101010101" pitchFamily="2" charset="-122"/>
              </a:rPr>
              <a:t>的，其中</a:t>
            </a:r>
            <a:r>
              <a:rPr lang="en-US" sz="2000" b="0">
                <a:latin typeface="Times New Roman" panose="02020603050405020304" charset="0"/>
                <a:ea typeface="宋体" panose="02010600030101010101" pitchFamily="2" charset="-122"/>
              </a:rPr>
              <a:t>make_types.sh</a:t>
            </a:r>
            <a:r>
              <a:rPr lang="zh-CN" sz="2000" b="0">
                <a:ea typeface="宋体" panose="02010600030101010101" pitchFamily="2" charset="-122"/>
              </a:rPr>
              <a:t>脚本运行一个</a:t>
            </a:r>
            <a:r>
              <a:rPr lang="en-US" sz="2000" b="0">
                <a:latin typeface="Times New Roman" panose="02020603050405020304" charset="0"/>
                <a:ea typeface="宋体" panose="02010600030101010101" pitchFamily="2" charset="-122"/>
              </a:rPr>
              <a:t>LCM</a:t>
            </a:r>
            <a:r>
              <a:rPr lang="zh-CN" sz="2000" b="0">
                <a:ea typeface="宋体" panose="02010600030101010101" pitchFamily="2" charset="-122"/>
              </a:rPr>
              <a:t>工具来为</a:t>
            </a:r>
            <a:r>
              <a:rPr lang="en-US" sz="2000" b="0">
                <a:latin typeface="Times New Roman" panose="02020603050405020304" charset="0"/>
                <a:ea typeface="宋体" panose="02010600030101010101" pitchFamily="2" charset="-122"/>
              </a:rPr>
              <a:t>LCM</a:t>
            </a:r>
            <a:r>
              <a:rPr lang="zh-CN" sz="2000" b="0">
                <a:ea typeface="宋体" panose="02010600030101010101" pitchFamily="2" charset="-122"/>
              </a:rPr>
              <a:t>数据类型生成</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头文件。模拟器运行时，通过运行</a:t>
            </a:r>
            <a:r>
              <a:rPr lang="en-US" sz="2000" b="0">
                <a:latin typeface="Times New Roman" panose="02020603050405020304" charset="0"/>
                <a:ea typeface="宋体" panose="02010600030101010101" pitchFamily="2" charset="-122"/>
              </a:rPr>
              <a:t>scripts/launch_lcm_spy.sh</a:t>
            </a:r>
            <a:r>
              <a:rPr lang="zh-CN" sz="2000" b="0">
                <a:ea typeface="宋体" panose="02010600030101010101" pitchFamily="2" charset="-122"/>
              </a:rPr>
              <a:t>打开</a:t>
            </a:r>
            <a:r>
              <a:rPr lang="en-US" sz="2000" b="0">
                <a:latin typeface="Times New Roman" panose="02020603050405020304" charset="0"/>
                <a:ea typeface="宋体" panose="02010600030101010101" pitchFamily="2" charset="-122"/>
              </a:rPr>
              <a:t>LCM spy</a:t>
            </a:r>
            <a:r>
              <a:rPr lang="zh-CN" sz="2000" b="0">
                <a:ea typeface="宋体" panose="02010600030101010101" pitchFamily="2" charset="-122"/>
              </a:rPr>
              <a:t>实用程序，其中显示了来自模拟器和控制器的详细信息。</a:t>
            </a:r>
            <a:r>
              <a:rPr lang="zh-CN" sz="2000" b="0">
                <a:latin typeface="Times New Roman" panose="02020603050405020304" charset="0"/>
                <a:ea typeface="宋体" panose="02010600030101010101" pitchFamily="2" charset="-122"/>
              </a:rPr>
              <a:t>用户</a:t>
            </a:r>
            <a:r>
              <a:rPr lang="zh-CN" sz="2000" b="0">
                <a:ea typeface="宋体" panose="02010600030101010101" pitchFamily="2" charset="-122"/>
              </a:rPr>
              <a:t>可以利用</a:t>
            </a:r>
            <a:r>
              <a:rPr lang="en-US" sz="2000" b="0">
                <a:latin typeface="Times New Roman" panose="02020603050405020304" charset="0"/>
                <a:ea typeface="宋体" panose="02010600030101010101" pitchFamily="2" charset="-122"/>
              </a:rPr>
              <a:t>LCM spy</a:t>
            </a:r>
            <a:r>
              <a:rPr lang="zh-CN" sz="2000" b="0">
                <a:ea typeface="宋体" panose="02010600030101010101" pitchFamily="2" charset="-122"/>
              </a:rPr>
              <a:t>实时监控变量的变化，</a:t>
            </a:r>
            <a:r>
              <a:rPr lang="zh-CN" sz="2000" b="0">
                <a:latin typeface="Times New Roman" panose="02020603050405020304" charset="0"/>
                <a:ea typeface="宋体" panose="02010600030101010101" pitchFamily="2" charset="-122"/>
              </a:rPr>
              <a:t>并</a:t>
            </a:r>
            <a:r>
              <a:rPr lang="zh-CN" sz="2000" b="0">
                <a:ea typeface="宋体" panose="02010600030101010101" pitchFamily="2" charset="-122"/>
              </a:rPr>
              <a:t>将其绘制出来。利用该特性，</a:t>
            </a:r>
            <a:r>
              <a:rPr lang="zh-CN" sz="2000" b="0">
                <a:latin typeface="Times New Roman" panose="02020603050405020304" charset="0"/>
                <a:ea typeface="宋体" panose="02010600030101010101" pitchFamily="2" charset="-122"/>
              </a:rPr>
              <a:t>用户</a:t>
            </a:r>
            <a:r>
              <a:rPr lang="zh-CN" sz="2000" b="0">
                <a:ea typeface="宋体" panose="02010600030101010101" pitchFamily="2" charset="-122"/>
              </a:rPr>
              <a:t>可以非常</a:t>
            </a:r>
            <a:r>
              <a:rPr lang="zh-CN" sz="2000" b="0">
                <a:latin typeface="Times New Roman" panose="02020603050405020304" charset="0"/>
                <a:ea typeface="宋体" panose="02010600030101010101" pitchFamily="2" charset="-122"/>
              </a:rPr>
              <a:t>方</a:t>
            </a:r>
            <a:r>
              <a:rPr lang="zh-CN" sz="2000" b="0">
                <a:ea typeface="宋体" panose="02010600030101010101" pitchFamily="2" charset="-122"/>
              </a:rPr>
              <a:t>便</a:t>
            </a:r>
            <a:r>
              <a:rPr lang="zh-CN" sz="2000" b="0">
                <a:latin typeface="Times New Roman" panose="02020603050405020304" charset="0"/>
                <a:ea typeface="宋体" panose="02010600030101010101" pitchFamily="2" charset="-122"/>
              </a:rPr>
              <a:t>地</a:t>
            </a:r>
            <a:r>
              <a:rPr lang="zh-CN" sz="2000" b="0">
                <a:ea typeface="宋体" panose="02010600030101010101" pitchFamily="2" charset="-122"/>
              </a:rPr>
              <a:t>进行调试工作。</a:t>
            </a:r>
            <a:endParaRPr lang="zh-CN" altLang="en-US" sz="2000" b="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30910"/>
            <a:ext cx="9916795" cy="5169535"/>
          </a:xfrm>
          <a:prstGeom prst="rect">
            <a:avLst/>
          </a:prstGeom>
          <a:noFill/>
          <a:ln w="9525">
            <a:noFill/>
          </a:ln>
        </p:spPr>
        <p:txBody>
          <a:bodyPr wrap="square">
            <a:spAutoFit/>
          </a:bodyPr>
          <a:p>
            <a:pPr indent="0" fontAlgn="auto">
              <a:lnSpc>
                <a:spcPct val="125000"/>
              </a:lnSpc>
            </a:pPr>
            <a:r>
              <a:rPr lang="en-US" b="0">
                <a:latin typeface="Times New Roman" panose="02020603050405020304" charset="0"/>
                <a:ea typeface="宋体" panose="02010600030101010101" pitchFamily="2" charset="-122"/>
              </a:rPr>
              <a:t>      </a:t>
            </a:r>
            <a:r>
              <a:rPr lang="en-US" sz="2000" b="0">
                <a:latin typeface="Times New Roman" panose="02020603050405020304" charset="0"/>
                <a:ea typeface="宋体" panose="02010600030101010101" pitchFamily="2" charset="-122"/>
              </a:rPr>
              <a:t>  LCM</a:t>
            </a:r>
            <a:r>
              <a:rPr lang="zh-CN" sz="2000" b="0">
                <a:ea typeface="宋体" panose="02010600030101010101" pitchFamily="2" charset="-122"/>
              </a:rPr>
              <a:t>是一组用于消息传递和数据编组的库和工具，其是对高带宽和低延迟至关重要的实时系统。它提供了一种发布</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订阅消息传递模型及带有各种编程语言的应用程序绑定的自动编组</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解组代码生成</a:t>
            </a:r>
            <a:r>
              <a:rPr lang="zh-CN" sz="2000" b="0">
                <a:latin typeface="Times New Roman" panose="02020603050405020304" charset="0"/>
                <a:ea typeface="宋体" panose="02010600030101010101" pitchFamily="2" charset="-122"/>
              </a:rPr>
              <a:t>功能，支持</a:t>
            </a:r>
            <a:r>
              <a:rPr lang="zh-CN" sz="2000" b="0">
                <a:ea typeface="宋体" panose="02010600030101010101" pitchFamily="2" charset="-122"/>
              </a:rPr>
              <a:t>低延迟进程间通信，使用</a:t>
            </a:r>
            <a:r>
              <a:rPr lang="en-US" sz="2000" b="0">
                <a:latin typeface="Times New Roman" panose="02020603050405020304" charset="0"/>
                <a:ea typeface="宋体" panose="02010600030101010101" pitchFamily="2" charset="-122"/>
              </a:rPr>
              <a:t>UDP</a:t>
            </a:r>
            <a:r>
              <a:rPr lang="zh-CN" sz="2000" b="0">
                <a:ea typeface="宋体" panose="02010600030101010101" pitchFamily="2" charset="-122"/>
              </a:rPr>
              <a:t>组播的高效广播机制，</a:t>
            </a:r>
            <a:r>
              <a:rPr lang="zh-CN" sz="2000" b="0">
                <a:latin typeface="Times New Roman" panose="02020603050405020304" charset="0"/>
                <a:ea typeface="宋体" panose="02010600030101010101" pitchFamily="2" charset="-122"/>
              </a:rPr>
              <a:t>具有</a:t>
            </a:r>
            <a:r>
              <a:rPr lang="zh-CN" sz="2000" b="0">
                <a:ea typeface="宋体" panose="02010600030101010101" pitchFamily="2" charset="-122"/>
              </a:rPr>
              <a:t>类型安全的消息封送</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用户友好的日志记录和回放</a:t>
            </a:r>
            <a:r>
              <a:rPr lang="zh-CN" sz="2000" b="0">
                <a:latin typeface="Times New Roman" panose="02020603050405020304" charset="0"/>
                <a:ea typeface="宋体" panose="02010600030101010101" pitchFamily="2" charset="-122"/>
              </a:rPr>
              <a:t>等功能</a:t>
            </a:r>
            <a:r>
              <a:rPr lang="zh-CN" sz="2000" b="0">
                <a:ea typeface="宋体" panose="02010600030101010101" pitchFamily="2" charset="-122"/>
              </a:rPr>
              <a:t>，没有集中的</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数据库</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或</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集线器</a:t>
            </a:r>
            <a:r>
              <a:rPr lang="en-US" sz="2000" b="0">
                <a:latin typeface="宋体" panose="02010600030101010101" pitchFamily="2" charset="-122"/>
                <a:ea typeface="宋体" panose="02010600030101010101" pitchFamily="2" charset="-122"/>
              </a:rPr>
              <a:t>”</a:t>
            </a:r>
            <a:r>
              <a:rPr lang="zh-CN" sz="2000" b="0">
                <a:latin typeface="Times New Roman" panose="02020603050405020304" charset="0"/>
                <a:ea typeface="宋体" panose="02010600030101010101" pitchFamily="2" charset="-122"/>
              </a:rPr>
              <a:t>，支持与</a:t>
            </a:r>
            <a:r>
              <a:rPr lang="zh-CN" sz="2000" b="0">
                <a:ea typeface="宋体" panose="02010600030101010101" pitchFamily="2" charset="-122"/>
              </a:rPr>
              <a:t>对等方直接通信</a:t>
            </a:r>
            <a:r>
              <a:rPr lang="zh-CN" sz="2000" b="0">
                <a:latin typeface="Times New Roman" panose="02020603050405020304" charset="0"/>
                <a:ea typeface="宋体" panose="02010600030101010101" pitchFamily="2" charset="-122"/>
              </a:rPr>
              <a:t>。</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a:t>
            </a:r>
            <a:r>
              <a:rPr lang="zh-CN" sz="2400" b="1">
                <a:latin typeface="微软雅黑" panose="020B0503020204020204" pitchFamily="34" charset="-122"/>
                <a:ea typeface="微软雅黑" panose="020B0503020204020204" pitchFamily="34" charset="-122"/>
                <a:cs typeface="方正黑体简体" charset="0"/>
              </a:rPr>
              <a:t>、实验步骤</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在一台已经安装好</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的系统上进行以下操作</a:t>
            </a:r>
            <a:r>
              <a:rPr lang="zh-CN" sz="2000" b="0">
                <a:latin typeface="Times New Roman" panose="02020603050405020304" charset="0"/>
                <a:ea typeface="宋体" panose="02010600030101010101" pitchFamily="2" charset="-122"/>
              </a:rPr>
              <a:t>。</a:t>
            </a:r>
            <a:endParaRPr lang="zh-CN" sz="2000" b="0">
              <a:latin typeface="Times New Roman" panose="02020603050405020304" charset="0"/>
              <a:ea typeface="宋体" panose="02010600030101010101" pitchFamily="2" charset="-122"/>
            </a:endParaRPr>
          </a:p>
          <a:p>
            <a:pPr indent="0" fontAlgn="auto">
              <a:lnSpc>
                <a:spcPct val="125000"/>
              </a:lnSpc>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1．安装依赖</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5000"/>
              </a:lnSpc>
            </a:pPr>
            <a:r>
              <a:rPr lang="zh-CN" altLang="en-US" sz="2000" b="0">
                <a:latin typeface="Times New Roman" panose="02020603050405020304" charset="0"/>
                <a:ea typeface="宋体" panose="02010600030101010101" pitchFamily="2" charset="-122"/>
              </a:rPr>
              <a:t>在Ubuntu系统桌面下打开终端，输入以下指令：</a:t>
            </a:r>
            <a:endParaRPr lang="zh-CN" altLang="en-US" sz="2000" b="0">
              <a:latin typeface="Times New Roman" panose="02020603050405020304" charset="0"/>
              <a:ea typeface="宋体" panose="02010600030101010101" pitchFamily="2" charset="-122"/>
            </a:endParaRPr>
          </a:p>
          <a:p>
            <a:pPr indent="0" fontAlgn="auto">
              <a:lnSpc>
                <a:spcPct val="125000"/>
              </a:lnSpc>
            </a:pPr>
            <a:r>
              <a:rPr lang="en-US" altLang="zh-CN" sz="2000" b="0">
                <a:latin typeface="Times New Roman" panose="02020603050405020304" charset="0"/>
                <a:ea typeface="宋体" panose="02010600030101010101" pitchFamily="2" charset="-122"/>
              </a:rPr>
              <a:t>        </a:t>
            </a:r>
            <a:r>
              <a:rPr lang="zh-CN" altLang="en-US" sz="2000" b="1">
                <a:latin typeface="Times New Roman" panose="02020603050405020304" charset="0"/>
                <a:ea typeface="宋体" panose="02010600030101010101" pitchFamily="2" charset="-122"/>
              </a:rPr>
              <a:t>sudo apt install mesa-common-dev freeglut3-dev coinor-libipopt-dev libblas-dev liblapack-dev gfortran liblapack-dev coinor-libipopt-dev cmake gcc</a:t>
            </a:r>
            <a:endParaRPr lang="zh-CN" altLang="en-US" sz="2000" b="1">
              <a:latin typeface="Times New Roman" panose="02020603050405020304" charset="0"/>
              <a:ea typeface="宋体" panose="02010600030101010101" pitchFamily="2" charset="-122"/>
            </a:endParaRPr>
          </a:p>
          <a:p>
            <a:pPr indent="0" fontAlgn="auto">
              <a:lnSpc>
                <a:spcPct val="125000"/>
              </a:lnSpc>
            </a:pPr>
            <a:r>
              <a:rPr lang="en-US" altLang="zh-CN" sz="2000" b="1">
                <a:latin typeface="Times New Roman" panose="02020603050405020304" charset="0"/>
                <a:ea typeface="宋体" panose="02010600030101010101" pitchFamily="2" charset="-122"/>
              </a:rPr>
              <a:t>        </a:t>
            </a:r>
            <a:r>
              <a:rPr lang="zh-CN" altLang="en-US" sz="2000" b="1">
                <a:latin typeface="Times New Roman" panose="02020603050405020304" charset="0"/>
                <a:ea typeface="宋体" panose="02010600030101010101" pitchFamily="2" charset="-122"/>
              </a:rPr>
              <a:t>build-essential libglib2.0-dev</a:t>
            </a:r>
            <a:endParaRPr lang="zh-CN" altLang="en-US" sz="2000" b="1">
              <a:latin typeface="Times New Roman" panose="02020603050405020304" charset="0"/>
              <a:ea typeface="宋体" panose="02010600030101010101" pitchFamily="2" charset="-122"/>
            </a:endParaRPr>
          </a:p>
          <a:p>
            <a:pPr indent="0" fontAlgn="auto">
              <a:lnSpc>
                <a:spcPct val="125000"/>
              </a:lnSpc>
            </a:pPr>
            <a:endParaRPr lang="zh-CN" altLang="en-US" sz="2000" b="1">
              <a:latin typeface="Times New Roman" panose="02020603050405020304"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29030"/>
            <a:ext cx="10056495" cy="4292600"/>
          </a:xfrm>
          <a:prstGeom prst="rect">
            <a:avLst/>
          </a:prstGeom>
          <a:noFill/>
          <a:ln w="9525">
            <a:noFill/>
          </a:ln>
        </p:spPr>
        <p:txBody>
          <a:bodyPr wrap="square">
            <a:spAutoFit/>
          </a:bodyPr>
          <a:p>
            <a:pPr indent="0" fontAlgn="auto"/>
            <a:r>
              <a:rPr lang="en-US" sz="2100" b="1">
                <a:latin typeface="微软雅黑" panose="020B0503020204020204" pitchFamily="34" charset="-122"/>
                <a:ea typeface="微软雅黑" panose="020B0503020204020204" pitchFamily="34" charset="-122"/>
                <a:cs typeface="微软雅黑" panose="020B0503020204020204" pitchFamily="34" charset="-122"/>
              </a:rPr>
              <a:t>2</a:t>
            </a:r>
            <a:r>
              <a:rPr lang="zh-CN" sz="2100" b="1">
                <a:latin typeface="微软雅黑" panose="020B0503020204020204" pitchFamily="34" charset="-122"/>
                <a:ea typeface="微软雅黑" panose="020B0503020204020204" pitchFamily="34" charset="-122"/>
                <a:cs typeface="微软雅黑" panose="020B0503020204020204" pitchFamily="34" charset="-122"/>
              </a:rPr>
              <a:t>．安装</a:t>
            </a:r>
            <a:r>
              <a:rPr lang="en-US" sz="2100" b="1">
                <a:latin typeface="微软雅黑" panose="020B0503020204020204" pitchFamily="34" charset="-122"/>
                <a:ea typeface="微软雅黑" panose="020B0503020204020204" pitchFamily="34" charset="-122"/>
                <a:cs typeface="微软雅黑" panose="020B0503020204020204" pitchFamily="34" charset="-122"/>
              </a:rPr>
              <a:t>openjdk(</a:t>
            </a:r>
            <a:r>
              <a:rPr lang="zh-CN" sz="2100" b="1">
                <a:latin typeface="微软雅黑" panose="020B0503020204020204" pitchFamily="34" charset="-122"/>
                <a:ea typeface="微软雅黑" panose="020B0503020204020204" pitchFamily="34" charset="-122"/>
                <a:cs typeface="微软雅黑" panose="020B0503020204020204" pitchFamily="34" charset="-122"/>
              </a:rPr>
              <a:t>主要是为了安装</a:t>
            </a:r>
            <a:r>
              <a:rPr lang="en-US" sz="2100" b="1">
                <a:latin typeface="微软雅黑" panose="020B0503020204020204" pitchFamily="34" charset="-122"/>
                <a:ea typeface="微软雅黑" panose="020B0503020204020204" pitchFamily="34" charset="-122"/>
                <a:cs typeface="微软雅黑" panose="020B0503020204020204" pitchFamily="34" charset="-122"/>
              </a:rPr>
              <a:t>java JDK8)</a:t>
            </a:r>
            <a:endParaRPr lang="zh-CN" sz="2100" b="0">
              <a:ea typeface="宋体" panose="02010600030101010101" pitchFamily="2" charset="-122"/>
            </a:endParaRPr>
          </a:p>
          <a:p>
            <a:pPr indent="0" fontAlgn="auto"/>
            <a:r>
              <a:rPr lang="en-US" altLang="zh-CN" sz="2100" b="0">
                <a:ea typeface="宋体" panose="02010600030101010101" pitchFamily="2" charset="-122"/>
              </a:rPr>
              <a:t>      </a:t>
            </a:r>
            <a:r>
              <a:rPr lang="zh-CN" sz="2100" b="0">
                <a:ea typeface="宋体" panose="02010600030101010101" pitchFamily="2" charset="-122"/>
              </a:rPr>
              <a:t>在终端中继续输入以下指令：</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sudo apt-get update   sudo apt-get install openjdk-8-jdk</a:t>
            </a:r>
            <a:endParaRPr lang="en-US" b="1">
              <a:latin typeface="宋体" panose="02010600030101010101" pitchFamily="2" charset="-122"/>
              <a:ea typeface="宋体" panose="02010600030101010101" pitchFamily="2" charset="-122"/>
              <a:cs typeface="Times New Roman" panose="02020603050405020304" charset="0"/>
            </a:endParaRPr>
          </a:p>
          <a:p>
            <a:pPr indent="0" fontAlgn="auto"/>
            <a:r>
              <a:rPr lang="en-US" sz="2000" b="1">
                <a:latin typeface="微软雅黑" panose="020B0503020204020204" pitchFamily="34" charset="-122"/>
                <a:ea typeface="微软雅黑" panose="020B0503020204020204" pitchFamily="34" charset="-122"/>
                <a:cs typeface="微软雅黑" panose="020B0503020204020204" pitchFamily="34" charset="-122"/>
              </a:rPr>
              <a:t>3．安装LCM</a:t>
            </a:r>
            <a:endParaRPr lang="en-US" sz="2000" b="1">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5000"/>
              </a:lnSpc>
            </a:pPr>
            <a:r>
              <a:rPr lang="en-US" altLang="en-US" b="0">
                <a:latin typeface="Courier New" panose="02070309020205020404" charset="0"/>
                <a:ea typeface="宋体" panose="02010600030101010101" pitchFamily="2" charset="-122"/>
                <a:cs typeface="Times New Roman" panose="02020603050405020304" charset="0"/>
              </a:rPr>
              <a:t>   </a:t>
            </a:r>
            <a:r>
              <a:rPr lang="en-US" altLang="en-US" sz="2000" b="0">
                <a:latin typeface="Courier New" panose="02070309020205020404" charset="0"/>
                <a:ea typeface="宋体" panose="02010600030101010101" pitchFamily="2" charset="-122"/>
                <a:cs typeface="Times New Roman" panose="02020603050405020304" charset="0"/>
              </a:rPr>
              <a:t>下载LCM 1.3.1安装包并进行解压，然后进入解压后的目录，打开终端，执行以下步骤：</a:t>
            </a:r>
            <a:endParaRPr lang="en-US" altLang="en-US" sz="2000" b="0">
              <a:latin typeface="Courier New" panose="02070309020205020404" charset="0"/>
              <a:ea typeface="宋体" panose="02010600030101010101" pitchFamily="2" charset="-122"/>
              <a:cs typeface="Times New Roman" panose="02020603050405020304" charset="0"/>
            </a:endParaRPr>
          </a:p>
          <a:p>
            <a:pPr indent="0" fontAlgn="auto">
              <a:lnSpc>
                <a:spcPct val="125000"/>
              </a:lnSpc>
            </a:pPr>
            <a:r>
              <a:rPr lang="en-US" altLang="en-US" sz="2000" b="0">
                <a:latin typeface="Courier New" panose="02070309020205020404" charset="0"/>
                <a:ea typeface="宋体" panose="02010600030101010101" pitchFamily="2" charset="-122"/>
                <a:cs typeface="Times New Roman" panose="02020603050405020304" charset="0"/>
              </a:rPr>
              <a:t>   在终端中输入指令 ./configure，会出现如图 13.2所示的命令行。</a:t>
            </a:r>
            <a:endParaRPr lang="en-US" altLang="en-US" sz="2000" b="0">
              <a:latin typeface="Courier New" panose="02070309020205020404" charset="0"/>
              <a:ea typeface="宋体" panose="02010600030101010101" pitchFamily="2" charset="-122"/>
              <a:cs typeface="Times New Roman" panose="02020603050405020304" charset="0"/>
            </a:endParaRPr>
          </a:p>
          <a:p>
            <a:pPr indent="0" fontAlgn="auto">
              <a:lnSpc>
                <a:spcPct val="125000"/>
              </a:lnSpc>
            </a:pPr>
            <a:r>
              <a:rPr lang="en-US" altLang="en-US" sz="2000" b="0">
                <a:latin typeface="Courier New" panose="02070309020205020404" charset="0"/>
                <a:ea typeface="宋体" panose="02010600030101010101" pitchFamily="2" charset="-122"/>
                <a:cs typeface="Times New Roman" panose="02020603050405020304" charset="0"/>
              </a:rPr>
              <a:t>   确保Java Support的状态为Enabled再在终端中依次输入如下指令：</a:t>
            </a:r>
            <a:endParaRPr lang="en-US" altLang="en-US" sz="2000" b="0">
              <a:latin typeface="Courier New" panose="02070309020205020404" charset="0"/>
              <a:ea typeface="宋体" panose="02010600030101010101" pitchFamily="2" charset="-122"/>
              <a:cs typeface="Times New Roman" panose="02020603050405020304" charset="0"/>
            </a:endParaRPr>
          </a:p>
          <a:p>
            <a:pPr indent="0" fontAlgn="auto">
              <a:lnSpc>
                <a:spcPct val="125000"/>
              </a:lnSpc>
            </a:pPr>
            <a:r>
              <a:rPr lang="en-US" altLang="en-US" sz="2000" b="0">
                <a:latin typeface="Courier New" panose="02070309020205020404" charset="0"/>
                <a:ea typeface="宋体" panose="02010600030101010101" pitchFamily="2" charset="-122"/>
                <a:cs typeface="Times New Roman" panose="02020603050405020304" charset="0"/>
              </a:rPr>
              <a:t>     </a:t>
            </a:r>
            <a:r>
              <a:rPr lang="en-US" altLang="en-US" sz="2000" b="1">
                <a:latin typeface="宋体" panose="02010600030101010101" pitchFamily="2" charset="-122"/>
                <a:ea typeface="宋体" panose="02010600030101010101" pitchFamily="2" charset="-122"/>
                <a:cs typeface="Times New Roman" panose="02020603050405020304" charset="0"/>
              </a:rPr>
              <a:t>make</a:t>
            </a:r>
            <a:endParaRPr lang="en-US" altLang="en-US" sz="2000" b="1">
              <a:latin typeface="宋体" panose="02010600030101010101" pitchFamily="2" charset="-122"/>
              <a:ea typeface="宋体" panose="02010600030101010101" pitchFamily="2" charset="-122"/>
              <a:cs typeface="Times New Roman" panose="02020603050405020304" charset="0"/>
            </a:endParaRPr>
          </a:p>
          <a:p>
            <a:pPr indent="0" fontAlgn="auto">
              <a:lnSpc>
                <a:spcPct val="125000"/>
              </a:lnSpc>
            </a:pPr>
            <a:r>
              <a:rPr lang="en-US" altLang="en-US" sz="2000" b="1">
                <a:latin typeface="宋体" panose="02010600030101010101" pitchFamily="2" charset="-122"/>
                <a:ea typeface="宋体" panose="02010600030101010101" pitchFamily="2" charset="-122"/>
                <a:cs typeface="Times New Roman" panose="02020603050405020304" charset="0"/>
              </a:rPr>
              <a:t>     sudo make install</a:t>
            </a:r>
            <a:endParaRPr lang="en-US" altLang="en-US" sz="2000" b="1">
              <a:latin typeface="宋体" panose="02010600030101010101" pitchFamily="2" charset="-122"/>
              <a:ea typeface="宋体" panose="02010600030101010101" pitchFamily="2" charset="-122"/>
              <a:cs typeface="Times New Roman" panose="02020603050405020304" charset="0"/>
            </a:endParaRPr>
          </a:p>
          <a:p>
            <a:pPr indent="0" fontAlgn="auto">
              <a:lnSpc>
                <a:spcPct val="125000"/>
              </a:lnSpc>
            </a:pPr>
            <a:r>
              <a:rPr lang="en-US" altLang="en-US" sz="2000" b="1">
                <a:latin typeface="宋体" panose="02010600030101010101" pitchFamily="2" charset="-122"/>
                <a:ea typeface="宋体" panose="02010600030101010101" pitchFamily="2" charset="-122"/>
                <a:cs typeface="Times New Roman" panose="02020603050405020304" charset="0"/>
              </a:rPr>
              <a:t>     sudo ldconfig</a:t>
            </a:r>
            <a:endParaRPr lang="en-US" altLang="en-US" sz="2000" b="1">
              <a:latin typeface="宋体" panose="02010600030101010101" pitchFamily="2" charset="-122"/>
              <a:ea typeface="宋体" panose="02010600030101010101" pitchFamily="2" charset="-122"/>
              <a:cs typeface="Times New Roman" panose="02020603050405020304" charset="0"/>
            </a:endParaRPr>
          </a:p>
        </p:txBody>
      </p:sp>
      <p:pic>
        <p:nvPicPr>
          <p:cNvPr id="2" name="图片 1" descr="S@{08MQQD8Z}5@NI(9PTIEC"/>
          <p:cNvPicPr>
            <a:picLocks noChangeAspect="1"/>
          </p:cNvPicPr>
          <p:nvPr>
            <p:custDataLst>
              <p:tags r:id="rId2"/>
            </p:custDataLst>
          </p:nvPr>
        </p:nvPicPr>
        <p:blipFill>
          <a:blip r:embed="rId3"/>
          <a:stretch>
            <a:fillRect/>
          </a:stretch>
        </p:blipFill>
        <p:spPr>
          <a:xfrm>
            <a:off x="6222365" y="4135755"/>
            <a:ext cx="3648075" cy="2228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54405"/>
            <a:ext cx="10184765" cy="5323205"/>
          </a:xfrm>
          <a:prstGeom prst="rect">
            <a:avLst/>
          </a:prstGeom>
          <a:noFill/>
          <a:ln w="9525">
            <a:noFill/>
          </a:ln>
        </p:spPr>
        <p:txBody>
          <a:bodyPr wrap="square">
            <a:spAutoFit/>
          </a:bodyPr>
          <a:p>
            <a:pPr indent="0" fontAlgn="auto"/>
            <a:r>
              <a:rPr lang="en-US" sz="2000" b="1">
                <a:latin typeface="微软雅黑" panose="020B0503020204020204" pitchFamily="34" charset="-122"/>
                <a:ea typeface="微软雅黑" panose="020B0503020204020204" pitchFamily="34" charset="-122"/>
                <a:cs typeface="微软雅黑" panose="020B0503020204020204" pitchFamily="34" charset="-122"/>
              </a:rPr>
              <a:t>4</a:t>
            </a:r>
            <a:r>
              <a:rPr lang="zh-CN" sz="2000" b="1">
                <a:latin typeface="微软雅黑" panose="020B0503020204020204" pitchFamily="34" charset="-122"/>
                <a:ea typeface="微软雅黑" panose="020B0503020204020204" pitchFamily="34" charset="-122"/>
                <a:cs typeface="微软雅黑" panose="020B0503020204020204" pitchFamily="34" charset="-122"/>
              </a:rPr>
              <a:t>．安装</a:t>
            </a:r>
            <a:r>
              <a:rPr lang="en-US" sz="2000" b="1">
                <a:latin typeface="微软雅黑" panose="020B0503020204020204" pitchFamily="34" charset="-122"/>
                <a:ea typeface="微软雅黑" panose="020B0503020204020204" pitchFamily="34" charset="-122"/>
                <a:cs typeface="微软雅黑" panose="020B0503020204020204" pitchFamily="34" charset="-122"/>
              </a:rPr>
              <a:t>Eigen</a:t>
            </a:r>
            <a:endParaRPr lang="zh-CN" sz="2400" b="0">
              <a:ea typeface="宋体" panose="02010600030101010101" pitchFamily="2" charset="-122"/>
            </a:endParaRPr>
          </a:p>
          <a:p>
            <a:pPr indent="0" fontAlgn="auto"/>
            <a:r>
              <a:rPr lang="en-US" altLang="zh-CN" sz="2000" b="0">
                <a:ea typeface="宋体" panose="02010600030101010101" pitchFamily="2" charset="-122"/>
              </a:rPr>
              <a:t>      </a:t>
            </a:r>
            <a:r>
              <a:rPr lang="zh-CN" sz="2000" b="0">
                <a:ea typeface="宋体" panose="02010600030101010101" pitchFamily="2" charset="-122"/>
              </a:rPr>
              <a:t>注意：必须</a:t>
            </a:r>
            <a:r>
              <a:rPr lang="zh-CN" sz="2000" b="0">
                <a:latin typeface="Times New Roman" panose="02020603050405020304" charset="0"/>
                <a:ea typeface="宋体" panose="02010600030101010101" pitchFamily="2" charset="-122"/>
              </a:rPr>
              <a:t>在</a:t>
            </a:r>
            <a:r>
              <a:rPr lang="en-US" sz="2000" b="0">
                <a:latin typeface="Times New Roman" panose="02020603050405020304" charset="0"/>
                <a:ea typeface="宋体" panose="02010600030101010101" pitchFamily="2" charset="-122"/>
              </a:rPr>
              <a:t>Eigen</a:t>
            </a:r>
            <a:r>
              <a:rPr lang="zh-CN" sz="2000" b="0">
                <a:ea typeface="宋体" panose="02010600030101010101" pitchFamily="2" charset="-122"/>
              </a:rPr>
              <a:t>官网下载</a:t>
            </a:r>
            <a:r>
              <a:rPr lang="en-US" sz="2000" b="0">
                <a:latin typeface="Times New Roman" panose="02020603050405020304" charset="0"/>
                <a:ea typeface="宋体" panose="02010600030101010101" pitchFamily="2" charset="-122"/>
              </a:rPr>
              <a:t>Eigen</a:t>
            </a:r>
            <a:r>
              <a:rPr lang="zh-CN" sz="2000" b="0">
                <a:ea typeface="宋体" panose="02010600030101010101" pitchFamily="2" charset="-122"/>
              </a:rPr>
              <a:t>的安装包</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不可以直接利用</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的快捷方式</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安装，否则</a:t>
            </a:r>
            <a:r>
              <a:rPr lang="zh-CN" sz="2000" b="0">
                <a:latin typeface="Times New Roman" panose="02020603050405020304" charset="0"/>
                <a:ea typeface="宋体" panose="02010600030101010101" pitchFamily="2" charset="-122"/>
              </a:rPr>
              <a:t>会导致</a:t>
            </a:r>
            <a:r>
              <a:rPr lang="zh-CN" sz="2000" b="0">
                <a:ea typeface="宋体" panose="02010600030101010101" pitchFamily="2" charset="-122"/>
              </a:rPr>
              <a:t>机器人无法运行。</a:t>
            </a:r>
            <a:endParaRPr lang="zh-CN" sz="2000" b="0">
              <a:latin typeface="Times New Roman" panose="02020603050405020304" charset="0"/>
              <a:ea typeface="宋体" panose="02010600030101010101" pitchFamily="2" charset="-122"/>
            </a:endParaRPr>
          </a:p>
          <a:p>
            <a:pPr indent="0" fontAlgn="auto"/>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压缩包</a:t>
            </a:r>
            <a:r>
              <a:rPr lang="en-US" sz="2000" b="0">
                <a:latin typeface="Times New Roman" panose="02020603050405020304" charset="0"/>
                <a:ea typeface="宋体" panose="02010600030101010101" pitchFamily="2" charset="-122"/>
              </a:rPr>
              <a:t>eigen-eigen-bf4cb8c934fa.tar.bz2</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解压缩，并在文件夹内打开终端，输入以下指令：</a:t>
            </a:r>
            <a:r>
              <a:rPr lang="en-US" b="0">
                <a:latin typeface="Courier New" panose="02070309020205020404" charset="0"/>
                <a:ea typeface="宋体" panose="02010600030101010101" pitchFamily="2" charset="-122"/>
                <a:cs typeface="Times New Roman" panose="02020603050405020304" charset="0"/>
              </a:rPr>
              <a:t>    </a:t>
            </a:r>
            <a:r>
              <a:rPr lang="en-US" sz="2000" b="1">
                <a:latin typeface="宋体" panose="02010600030101010101" pitchFamily="2" charset="-122"/>
                <a:ea typeface="宋体" panose="02010600030101010101" pitchFamily="2" charset="-122"/>
                <a:cs typeface="Times New Roman" panose="02020603050405020304" charset="0"/>
              </a:rPr>
              <a:t>mkdir build     cd build     cmake ..    make install</a:t>
            </a:r>
            <a:endParaRPr lang="en-US" sz="2000" b="1">
              <a:latin typeface="宋体" panose="02010600030101010101" pitchFamily="2" charset="-122"/>
              <a:ea typeface="宋体" panose="02010600030101010101" pitchFamily="2" charset="-122"/>
              <a:cs typeface="Times New Roman" panose="02020603050405020304" charset="0"/>
            </a:endParaRPr>
          </a:p>
          <a:p>
            <a:pPr indent="0" fontAlgn="auto"/>
            <a:r>
              <a:rPr lang="en-US" sz="2000" b="1">
                <a:latin typeface="微软雅黑" panose="020B0503020204020204" pitchFamily="34" charset="-122"/>
                <a:ea typeface="微软雅黑" panose="020B0503020204020204" pitchFamily="34" charset="-122"/>
                <a:cs typeface="微软雅黑" panose="020B0503020204020204" pitchFamily="34" charset="-122"/>
              </a:rPr>
              <a:t>5</a:t>
            </a:r>
            <a:r>
              <a:rPr lang="zh-CN" sz="2000" b="1">
                <a:latin typeface="微软雅黑" panose="020B0503020204020204" pitchFamily="34" charset="-122"/>
                <a:ea typeface="微软雅黑" panose="020B0503020204020204" pitchFamily="34" charset="-122"/>
                <a:cs typeface="微软雅黑" panose="020B0503020204020204" pitchFamily="34" charset="-122"/>
              </a:rPr>
              <a:t>．安装</a:t>
            </a:r>
            <a:r>
              <a:rPr lang="en-US" sz="2000" b="1">
                <a:latin typeface="微软雅黑" panose="020B0503020204020204" pitchFamily="34" charset="-122"/>
                <a:ea typeface="微软雅黑" panose="020B0503020204020204" pitchFamily="34" charset="-122"/>
                <a:cs typeface="微软雅黑" panose="020B0503020204020204" pitchFamily="34" charset="-122"/>
              </a:rPr>
              <a:t>Qt5.10</a:t>
            </a:r>
            <a:endParaRPr lang="en-US" sz="2400" b="0">
              <a:latin typeface="宋体" panose="02010600030101010101" pitchFamily="2" charset="-122"/>
              <a:ea typeface="宋体" panose="02010600030101010101" pitchFamily="2" charset="-122"/>
              <a:cs typeface="Times New Roman" panose="02020603050405020304" charset="0"/>
            </a:endParaRPr>
          </a:p>
          <a:p>
            <a:pPr indent="0" fontAlgn="auto"/>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Qt</a:t>
            </a:r>
            <a:r>
              <a:rPr lang="zh-CN" sz="2000" b="0">
                <a:latin typeface="Times New Roman" panose="02020603050405020304" charset="0"/>
                <a:ea typeface="宋体" panose="02010600030101010101" pitchFamily="2" charset="-122"/>
              </a:rPr>
              <a:t>官网</a:t>
            </a:r>
            <a:r>
              <a:rPr lang="zh-CN" sz="2000" b="0">
                <a:ea typeface="宋体" panose="02010600030101010101" pitchFamily="2" charset="-122"/>
              </a:rPr>
              <a:t>下载</a:t>
            </a:r>
            <a:r>
              <a:rPr lang="en-US" sz="2000" b="0">
                <a:latin typeface="Times New Roman" panose="02020603050405020304" charset="0"/>
                <a:ea typeface="宋体" panose="02010600030101010101" pitchFamily="2" charset="-122"/>
              </a:rPr>
              <a:t>qt-opensource-linux-x64-5.10.0.run</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中使用</a:t>
            </a:r>
            <a:r>
              <a:rPr lang="en-US" sz="2000" b="0">
                <a:latin typeface="Times New Roman" panose="02020603050405020304" charset="0"/>
                <a:ea typeface="宋体" panose="02010600030101010101" pitchFamily="2" charset="-122"/>
              </a:rPr>
              <a:t>chmod</a:t>
            </a:r>
            <a:r>
              <a:rPr lang="zh-CN" sz="2000" b="0">
                <a:latin typeface="Times New Roman" panose="02020603050405020304" charset="0"/>
                <a:ea typeface="宋体" panose="02010600030101010101" pitchFamily="2" charset="-122"/>
              </a:rPr>
              <a:t>指令为该文件添加</a:t>
            </a:r>
            <a:r>
              <a:rPr lang="en-US" sz="2000" b="0">
                <a:latin typeface="Times New Roman" panose="02020603050405020304" charset="0"/>
                <a:ea typeface="宋体" panose="02010600030101010101" pitchFamily="2" charset="-122"/>
              </a:rPr>
              <a:t>x</a:t>
            </a:r>
            <a:r>
              <a:rPr lang="zh-CN" sz="2000" b="0">
                <a:latin typeface="Times New Roman" panose="02020603050405020304" charset="0"/>
                <a:ea typeface="宋体" panose="02010600030101010101" pitchFamily="2" charset="-122"/>
              </a:rPr>
              <a:t>权限，指令如下：</a:t>
            </a:r>
            <a:endParaRPr lang="en-US" sz="2000" b="0">
              <a:latin typeface="Courier New" panose="02070309020205020404" charset="0"/>
              <a:ea typeface="宋体" panose="02010600030101010101" pitchFamily="2" charset="-122"/>
              <a:cs typeface="Times New Roman" panose="02020603050405020304" charset="0"/>
            </a:endParaRPr>
          </a:p>
          <a:p>
            <a:pPr indent="0" fontAlgn="auto"/>
            <a:r>
              <a:rPr lang="en-US" sz="2000" b="1">
                <a:latin typeface="宋体" panose="02010600030101010101" pitchFamily="2" charset="-122"/>
                <a:ea typeface="宋体" panose="02010600030101010101" pitchFamily="2" charset="-122"/>
                <a:cs typeface="Times New Roman" panose="02020603050405020304" charset="0"/>
              </a:rPr>
              <a:t>      chmod a+x qt-opensource-linux-x64-5.10.0.run</a:t>
            </a:r>
            <a:endParaRPr lang="en-US" sz="2400" b="0">
              <a:latin typeface="宋体" panose="02010600030101010101" pitchFamily="2" charset="-122"/>
              <a:ea typeface="宋体" panose="02010600030101010101" pitchFamily="2" charset="-122"/>
              <a:cs typeface="Times New Roman" panose="02020603050405020304" charset="0"/>
            </a:endParaRPr>
          </a:p>
          <a:p>
            <a:pPr indent="0" fontAlgn="auto"/>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运行文件，指令如下：</a:t>
            </a:r>
            <a:endParaRPr lang="en-US" sz="2000" b="0">
              <a:latin typeface="Courier New" panose="02070309020205020404" charset="0"/>
              <a:ea typeface="宋体" panose="02010600030101010101" pitchFamily="2" charset="-122"/>
              <a:cs typeface="Times New Roman" panose="02020603050405020304" charset="0"/>
            </a:endParaRPr>
          </a:p>
          <a:p>
            <a:pPr indent="0" fontAlgn="auto"/>
            <a:r>
              <a:rPr lang="en-US" sz="2000" b="1">
                <a:latin typeface="宋体" panose="02010600030101010101" pitchFamily="2" charset="-122"/>
                <a:ea typeface="宋体" panose="02010600030101010101" pitchFamily="2" charset="-122"/>
                <a:cs typeface="Times New Roman" panose="02020603050405020304" charset="0"/>
              </a:rPr>
              <a:t>      ./qt-opensource-linux-x64-5.10.0.run</a:t>
            </a:r>
            <a:endParaRPr lang="zh-CN" sz="2400" b="0">
              <a:latin typeface="Times New Roman" panose="02020603050405020304" charset="0"/>
              <a:ea typeface="宋体" panose="02010600030101010101" pitchFamily="2" charset="-122"/>
            </a:endParaRPr>
          </a:p>
          <a:p>
            <a:pPr indent="0" fontAlgn="auto"/>
            <a:r>
              <a:rPr lang="zh-CN" sz="2000" b="0">
                <a:latin typeface="Times New Roman" panose="02020603050405020304" charset="0"/>
                <a:ea typeface="宋体" panose="02010600030101010101" pitchFamily="2" charset="-122"/>
              </a:rPr>
              <a:t>安装时需要填写邮箱进行注册，这里可以直接跳过，单击</a:t>
            </a:r>
            <a:r>
              <a:rPr lang="en-US" sz="2000" b="0">
                <a:latin typeface="Times New Roman" panose="02020603050405020304" charset="0"/>
                <a:ea typeface="宋体" panose="02010600030101010101" pitchFamily="2" charset="-122"/>
              </a:rPr>
              <a:t>Skip</a:t>
            </a:r>
            <a:r>
              <a:rPr lang="zh-CN" sz="2000" b="0">
                <a:latin typeface="Times New Roman" panose="02020603050405020304" charset="0"/>
                <a:ea typeface="宋体" panose="02010600030101010101" pitchFamily="2" charset="-122"/>
              </a:rPr>
              <a:t>按钮，如图</a:t>
            </a:r>
            <a:r>
              <a:rPr lang="en-US" sz="2000" b="0">
                <a:latin typeface="Times New Roman" panose="02020603050405020304" charset="0"/>
                <a:ea typeface="宋体" panose="02010600030101010101" pitchFamily="2" charset="-122"/>
              </a:rPr>
              <a:t>13.3</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安装目录</a:t>
            </a:r>
            <a:r>
              <a:rPr lang="zh-CN" sz="2000" b="0">
                <a:latin typeface="Times New Roman" panose="02020603050405020304" charset="0"/>
                <a:ea typeface="宋体" panose="02010600030101010101" pitchFamily="2" charset="-122"/>
              </a:rPr>
              <a:t>选择</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13.4</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K$R4IK868CW9UC5I%_JSJJ"/>
          <p:cNvPicPr>
            <a:picLocks noChangeAspect="1"/>
          </p:cNvPicPr>
          <p:nvPr>
            <p:custDataLst>
              <p:tags r:id="rId2"/>
            </p:custDataLst>
          </p:nvPr>
        </p:nvPicPr>
        <p:blipFill>
          <a:blip r:embed="rId3"/>
          <a:stretch>
            <a:fillRect/>
          </a:stretch>
        </p:blipFill>
        <p:spPr>
          <a:xfrm>
            <a:off x="864235" y="1085215"/>
            <a:ext cx="7402830" cy="4121150"/>
          </a:xfrm>
          <a:prstGeom prst="rect">
            <a:avLst/>
          </a:prstGeom>
        </p:spPr>
      </p:pic>
      <p:sp>
        <p:nvSpPr>
          <p:cNvPr id="100" name="文本框 99"/>
          <p:cNvSpPr txBox="1"/>
          <p:nvPr/>
        </p:nvSpPr>
        <p:spPr>
          <a:xfrm>
            <a:off x="864235" y="5474335"/>
            <a:ext cx="5080000" cy="398780"/>
          </a:xfrm>
          <a:prstGeom prst="rect">
            <a:avLst/>
          </a:prstGeom>
          <a:noFill/>
          <a:ln w="9525">
            <a:noFill/>
          </a:ln>
        </p:spPr>
        <p:txBody>
          <a:bodyPr>
            <a:spAutoFit/>
          </a:bodyPr>
          <a:p>
            <a:pPr indent="269875"/>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安装完毕</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界面如图</a:t>
            </a:r>
            <a:r>
              <a:rPr lang="en-US" sz="2000" b="0">
                <a:latin typeface="Times New Roman" panose="02020603050405020304" charset="0"/>
                <a:ea typeface="宋体" panose="02010600030101010101" pitchFamily="2" charset="-122"/>
              </a:rPr>
              <a:t>13.5</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3" name="图片 2" descr="R(7%$P2)UP1{R4L~D7BDHC1"/>
          <p:cNvPicPr>
            <a:picLocks noChangeAspect="1"/>
          </p:cNvPicPr>
          <p:nvPr>
            <p:custDataLst>
              <p:tags r:id="rId4"/>
            </p:custDataLst>
          </p:nvPr>
        </p:nvPicPr>
        <p:blipFill>
          <a:blip r:embed="rId5"/>
          <a:stretch>
            <a:fillRect/>
          </a:stretch>
        </p:blipFill>
        <p:spPr>
          <a:xfrm>
            <a:off x="8267065" y="849630"/>
            <a:ext cx="3769995" cy="43567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06475"/>
            <a:ext cx="9498965" cy="398780"/>
          </a:xfrm>
          <a:prstGeom prst="rect">
            <a:avLst/>
          </a:prstGeom>
          <a:noFill/>
          <a:ln w="9525">
            <a:noFill/>
          </a:ln>
        </p:spPr>
        <p:txBody>
          <a:bodyPr wrap="square">
            <a:spAutoFit/>
          </a:bodyPr>
          <a:p>
            <a:pPr indent="269875"/>
            <a:r>
              <a:rPr lang="zh-CN" sz="2000" b="0">
                <a:ea typeface="宋体" panose="02010600030101010101" pitchFamily="2" charset="-122"/>
              </a:rPr>
              <a:t>注意</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安装完</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以后</a:t>
            </a:r>
            <a:r>
              <a:rPr lang="zh-CN" sz="2000" b="0">
                <a:latin typeface="Times New Roman" panose="02020603050405020304" charset="0"/>
                <a:ea typeface="宋体" panose="02010600030101010101" pitchFamily="2" charset="-122"/>
              </a:rPr>
              <a:t>，可</a:t>
            </a:r>
            <a:r>
              <a:rPr lang="zh-CN" sz="2000" b="0">
                <a:ea typeface="宋体" panose="02010600030101010101" pitchFamily="2" charset="-122"/>
              </a:rPr>
              <a:t>查</a:t>
            </a:r>
            <a:r>
              <a:rPr lang="zh-CN" sz="2000" b="0">
                <a:latin typeface="Times New Roman" panose="02020603050405020304" charset="0"/>
                <a:ea typeface="宋体" panose="02010600030101010101" pitchFamily="2" charset="-122"/>
              </a:rPr>
              <a:t>询</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对应版本的安装目录，如图</a:t>
            </a:r>
            <a:r>
              <a:rPr lang="en-US" sz="2000" b="0">
                <a:latin typeface="Times New Roman" panose="02020603050405020304" charset="0"/>
                <a:ea typeface="宋体" panose="02010600030101010101" pitchFamily="2" charset="-122"/>
              </a:rPr>
              <a:t>13.6</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2" name="图片 1" descr="_BKDND3O2EHE22Z[C9L9BI2"/>
          <p:cNvPicPr>
            <a:picLocks noChangeAspect="1"/>
          </p:cNvPicPr>
          <p:nvPr>
            <p:custDataLst>
              <p:tags r:id="rId2"/>
            </p:custDataLst>
          </p:nvPr>
        </p:nvPicPr>
        <p:blipFill>
          <a:blip r:embed="rId3"/>
          <a:stretch>
            <a:fillRect/>
          </a:stretch>
        </p:blipFill>
        <p:spPr>
          <a:xfrm>
            <a:off x="1314450" y="1509395"/>
            <a:ext cx="9048750" cy="971550"/>
          </a:xfrm>
          <a:prstGeom prst="rect">
            <a:avLst/>
          </a:prstGeom>
        </p:spPr>
      </p:pic>
      <p:sp>
        <p:nvSpPr>
          <p:cNvPr id="3" name="文本框 2"/>
          <p:cNvSpPr txBox="1"/>
          <p:nvPr/>
        </p:nvSpPr>
        <p:spPr>
          <a:xfrm>
            <a:off x="864235" y="2585085"/>
            <a:ext cx="10106025" cy="860425"/>
          </a:xfrm>
          <a:prstGeom prst="rect">
            <a:avLst/>
          </a:prstGeom>
          <a:noFill/>
          <a:ln w="9525">
            <a:noFill/>
          </a:ln>
        </p:spPr>
        <p:txBody>
          <a:bodyPr wrap="square">
            <a:spAutoFit/>
          </a:bodyPr>
          <a:p>
            <a:pPr indent="269875"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在</a:t>
            </a:r>
            <a:r>
              <a:rPr lang="en-US" sz="2000" b="0">
                <a:latin typeface="Times New Roman" panose="02020603050405020304" charset="0"/>
                <a:ea typeface="宋体" panose="02010600030101010101" pitchFamily="2" charset="-122"/>
              </a:rPr>
              <a:t>sim/CMakeLists.txt</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需要根据自己</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对应版本的安装目录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第</a:t>
            </a:r>
            <a:r>
              <a:rPr lang="en-US" sz="2000" b="0">
                <a:latin typeface="Times New Roman" panose="02020603050405020304" charset="0"/>
                <a:ea typeface="宋体" panose="02010600030101010101" pitchFamily="2" charset="-122"/>
              </a:rPr>
              <a:t>13</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16</a:t>
            </a:r>
            <a:r>
              <a:rPr lang="zh-CN" sz="2000" b="0">
                <a:ea typeface="宋体" panose="02010600030101010101" pitchFamily="2" charset="-122"/>
              </a:rPr>
              <a:t>行</a:t>
            </a:r>
            <a:r>
              <a:rPr lang="zh-CN" sz="2000" b="0">
                <a:latin typeface="Times New Roman" panose="02020603050405020304" charset="0"/>
                <a:ea typeface="宋体" panose="02010600030101010101" pitchFamily="2" charset="-122"/>
              </a:rPr>
              <a:t>进行修改，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 13.7</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这样</a:t>
            </a:r>
            <a:r>
              <a:rPr lang="zh-CN" sz="2000" b="0">
                <a:latin typeface="Times New Roman" panose="02020603050405020304" charset="0"/>
                <a:ea typeface="宋体" panose="02010600030101010101" pitchFamily="2" charset="-122"/>
              </a:rPr>
              <a:t>可</a:t>
            </a:r>
            <a:r>
              <a:rPr lang="zh-CN" sz="2000" b="0">
                <a:ea typeface="宋体" panose="02010600030101010101" pitchFamily="2" charset="-122"/>
              </a:rPr>
              <a:t>防止后面编译程序</a:t>
            </a:r>
            <a:r>
              <a:rPr lang="en-US" sz="2000" b="0">
                <a:latin typeface="Times New Roman" panose="02020603050405020304" charset="0"/>
                <a:ea typeface="宋体" panose="02010600030101010101" pitchFamily="2" charset="-122"/>
              </a:rPr>
              <a:t>cmake</a:t>
            </a:r>
            <a:r>
              <a:rPr lang="zh-CN" sz="2000" b="0">
                <a:latin typeface="Times New Roman" panose="02020603050405020304" charset="0"/>
                <a:ea typeface="宋体" panose="02010600030101010101" pitchFamily="2" charset="-122"/>
              </a:rPr>
              <a:t>时</a:t>
            </a:r>
            <a:r>
              <a:rPr lang="zh-CN" sz="2000" b="0">
                <a:ea typeface="宋体" panose="02010600030101010101" pitchFamily="2" charset="-122"/>
              </a:rPr>
              <a:t>出现错误。</a:t>
            </a:r>
            <a:endParaRPr lang="zh-CN" altLang="en-US" sz="2000" b="0">
              <a:ea typeface="宋体" panose="02010600030101010101" pitchFamily="2" charset="-122"/>
            </a:endParaRPr>
          </a:p>
        </p:txBody>
      </p:sp>
      <p:pic>
        <p:nvPicPr>
          <p:cNvPr id="4" name="图片 3" descr="D}T510](Z1000@I3WIN{8OB"/>
          <p:cNvPicPr>
            <a:picLocks noChangeAspect="1"/>
          </p:cNvPicPr>
          <p:nvPr>
            <p:custDataLst>
              <p:tags r:id="rId4"/>
            </p:custDataLst>
          </p:nvPr>
        </p:nvPicPr>
        <p:blipFill>
          <a:blip r:embed="rId5"/>
          <a:stretch>
            <a:fillRect/>
          </a:stretch>
        </p:blipFill>
        <p:spPr>
          <a:xfrm>
            <a:off x="3051175" y="3549650"/>
            <a:ext cx="6505575" cy="2943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864235" y="228600"/>
            <a:ext cx="5925185"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sym typeface="+mn-ea"/>
              </a:rPr>
              <a:t>Ubuntu系统环境配置与软件安装实验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222375"/>
            <a:ext cx="9966960" cy="4169410"/>
          </a:xfrm>
          <a:prstGeom prst="rect">
            <a:avLst/>
          </a:prstGeom>
          <a:noFill/>
          <a:ln w="9525">
            <a:noFill/>
          </a:ln>
        </p:spPr>
        <p:txBody>
          <a:bodyPr wrap="square">
            <a:spAutoFit/>
          </a:bodyPr>
          <a:p>
            <a:pPr indent="0" fontAlgn="auto">
              <a:lnSpc>
                <a:spcPct val="125000"/>
              </a:lnSpc>
            </a:pPr>
            <a:r>
              <a:rPr lang="en-US" sz="2000" b="1">
                <a:latin typeface="微软雅黑" panose="020B0503020204020204" pitchFamily="34" charset="-122"/>
                <a:ea typeface="微软雅黑" panose="020B0503020204020204" pitchFamily="34" charset="-122"/>
                <a:cs typeface="微软雅黑" panose="020B0503020204020204" pitchFamily="34" charset="-122"/>
              </a:rPr>
              <a:t>6</a:t>
            </a:r>
            <a:r>
              <a:rPr lang="zh-CN" sz="2000" b="1">
                <a:latin typeface="微软雅黑" panose="020B0503020204020204" pitchFamily="34" charset="-122"/>
                <a:ea typeface="微软雅黑" panose="020B0503020204020204" pitchFamily="34" charset="-122"/>
                <a:cs typeface="微软雅黑" panose="020B0503020204020204" pitchFamily="34" charset="-122"/>
              </a:rPr>
              <a:t>．安装</a:t>
            </a:r>
            <a:r>
              <a:rPr lang="en-US" sz="2000" b="1">
                <a:latin typeface="微软雅黑" panose="020B0503020204020204" pitchFamily="34" charset="-122"/>
                <a:ea typeface="微软雅黑" panose="020B0503020204020204" pitchFamily="34" charset="-122"/>
                <a:cs typeface="微软雅黑" panose="020B0503020204020204" pitchFamily="34" charset="-122"/>
              </a:rPr>
              <a:t>git</a:t>
            </a:r>
            <a:r>
              <a:rPr lang="zh-CN" sz="2100" b="0">
                <a:latin typeface="Times New Roman" panose="02020603050405020304" charset="0"/>
                <a:ea typeface="宋体" panose="02010600030101010101" pitchFamily="2" charset="-122"/>
              </a:rPr>
              <a:t>在</a:t>
            </a:r>
            <a:r>
              <a:rPr lang="zh-CN" sz="2100" b="0">
                <a:ea typeface="宋体" panose="02010600030101010101" pitchFamily="2" charset="-122"/>
              </a:rPr>
              <a:t>终端输入</a:t>
            </a:r>
            <a:r>
              <a:rPr lang="zh-CN" sz="2100" b="0">
                <a:latin typeface="Times New Roman" panose="02020603050405020304" charset="0"/>
                <a:ea typeface="宋体" panose="02010600030101010101" pitchFamily="2" charset="-122"/>
              </a:rPr>
              <a:t>指令</a:t>
            </a:r>
            <a:r>
              <a:rPr lang="zh-CN" sz="2100" b="0">
                <a:ea typeface="宋体" panose="02010600030101010101" pitchFamily="2" charset="-122"/>
              </a:rPr>
              <a:t>：</a:t>
            </a:r>
            <a:endParaRPr lang="en-US" b="0">
              <a:latin typeface="Courier New" panose="02070309020205020404" charset="0"/>
              <a:ea typeface="宋体" panose="02010600030101010101" pitchFamily="2" charset="-122"/>
              <a:cs typeface="Times New Roman" panose="02020603050405020304" charset="0"/>
            </a:endParaRPr>
          </a:p>
          <a:p>
            <a:pPr indent="0" fontAlgn="auto">
              <a:lnSpc>
                <a:spcPct val="125000"/>
              </a:lnSpc>
            </a:pPr>
            <a:r>
              <a:rPr lang="en-US" b="1">
                <a:latin typeface="宋体" panose="02010600030101010101" pitchFamily="2" charset="-122"/>
                <a:ea typeface="宋体" panose="02010600030101010101" pitchFamily="2" charset="-122"/>
                <a:cs typeface="Times New Roman" panose="02020603050405020304" charset="0"/>
              </a:rPr>
              <a:t>     sudo apt install git </a:t>
            </a:r>
            <a:r>
              <a:rPr lang="zh-CN" sz="2100" b="0">
                <a:ea typeface="宋体" panose="02010600030101010101" pitchFamily="2" charset="-122"/>
              </a:rPr>
              <a:t>安装</a:t>
            </a:r>
            <a:r>
              <a:rPr lang="en-US" sz="2100" b="0">
                <a:latin typeface="Times New Roman" panose="02020603050405020304" charset="0"/>
                <a:ea typeface="宋体" panose="02010600030101010101" pitchFamily="2" charset="-122"/>
              </a:rPr>
              <a:t>git</a:t>
            </a:r>
            <a:r>
              <a:rPr lang="zh-CN" sz="2100" b="0">
                <a:ea typeface="宋体" panose="02010600030101010101" pitchFamily="2" charset="-122"/>
              </a:rPr>
              <a:t>，</a:t>
            </a:r>
            <a:r>
              <a:rPr lang="zh-CN" sz="2100" b="0">
                <a:latin typeface="Times New Roman" panose="02020603050405020304" charset="0"/>
                <a:ea typeface="宋体" panose="02010600030101010101" pitchFamily="2" charset="-122"/>
              </a:rPr>
              <a:t>安装完成后</a:t>
            </a:r>
            <a:r>
              <a:rPr lang="zh-CN" sz="2100" b="0">
                <a:ea typeface="宋体" panose="02010600030101010101" pitchFamily="2" charset="-122"/>
              </a:rPr>
              <a:t>即实现了系统环境的配置。</a:t>
            </a:r>
            <a:endParaRPr lang="zh-CN" sz="2100" b="0">
              <a:ea typeface="宋体" panose="02010600030101010101" pitchFamily="2" charset="-122"/>
            </a:endParaRPr>
          </a:p>
          <a:p>
            <a:pPr indent="0" fontAlgn="auto">
              <a:lnSpc>
                <a:spcPct val="125000"/>
              </a:lnSpc>
            </a:pPr>
            <a:endParaRPr lang="zh-CN" sz="2100" b="0">
              <a:ea typeface="宋体" panose="02010600030101010101" pitchFamily="2" charset="-122"/>
              <a:cs typeface="方正黑体简体" charset="0"/>
            </a:endParaRPr>
          </a:p>
          <a:p>
            <a:pPr indent="0" fontAlgn="auto">
              <a:lnSpc>
                <a:spcPct val="125000"/>
              </a:lnSpc>
            </a:pP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五</a:t>
            </a:r>
            <a:r>
              <a:rPr lang="zh-CN" sz="2400" b="1">
                <a:latin typeface="微软雅黑" panose="020B0503020204020204" pitchFamily="34" charset="-122"/>
                <a:ea typeface="微软雅黑" panose="020B0503020204020204" pitchFamily="34" charset="-122"/>
                <a:cs typeface="方正黑体简体" charset="0"/>
              </a:rPr>
              <a:t>、思考题</a:t>
            </a: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1</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如何快速找到</a:t>
            </a:r>
            <a:r>
              <a:rPr lang="en-US" sz="2100" b="0">
                <a:latin typeface="Times New Roman" panose="02020603050405020304" charset="0"/>
                <a:ea typeface="宋体" panose="02010600030101010101" pitchFamily="2" charset="-122"/>
              </a:rPr>
              <a:t>Qt</a:t>
            </a:r>
            <a:r>
              <a:rPr lang="zh-CN" sz="2100" b="0">
                <a:ea typeface="宋体" panose="02010600030101010101" pitchFamily="2" charset="-122"/>
              </a:rPr>
              <a:t>在安装目录中的位置</a:t>
            </a:r>
            <a:r>
              <a:rPr lang="zh-CN" sz="2100" b="0">
                <a:latin typeface="Times New Roman" panose="02020603050405020304" charset="0"/>
                <a:ea typeface="宋体" panose="02010600030101010101" pitchFamily="2" charset="-122"/>
              </a:rPr>
              <a:t>？</a:t>
            </a: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2</a:t>
            </a:r>
            <a:r>
              <a:rPr lang="en-US" sz="2100" b="0">
                <a:latin typeface="宋体" panose="02010600030101010101" pitchFamily="2" charset="-122"/>
                <a:ea typeface="宋体" panose="02010600030101010101" pitchFamily="2" charset="-122"/>
                <a:cs typeface="Times New Roman" panose="02020603050405020304" charset="0"/>
              </a:rPr>
              <a:t>)</a:t>
            </a:r>
            <a:r>
              <a:rPr lang="en-US" sz="2100" b="0">
                <a:latin typeface="Times New Roman" panose="02020603050405020304" charset="0"/>
                <a:ea typeface="宋体" panose="02010600030101010101" pitchFamily="2" charset="-122"/>
              </a:rPr>
              <a:t>sudo</a:t>
            </a:r>
            <a:r>
              <a:rPr lang="zh-CN" sz="2100" b="0">
                <a:ea typeface="宋体" panose="02010600030101010101" pitchFamily="2" charset="-122"/>
              </a:rPr>
              <a:t>指令在编译中的作用</a:t>
            </a:r>
            <a:r>
              <a:rPr lang="zh-CN" sz="2100" b="0">
                <a:latin typeface="Times New Roman" panose="02020603050405020304" charset="0"/>
                <a:ea typeface="宋体" panose="02010600030101010101" pitchFamily="2" charset="-122"/>
              </a:rPr>
              <a:t>是什么？</a:t>
            </a: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3</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如何列举出当前目录下的所有文件</a:t>
            </a:r>
            <a:r>
              <a:rPr lang="zh-CN" sz="2100" b="0">
                <a:latin typeface="Times New Roman" panose="02020603050405020304" charset="0"/>
                <a:ea typeface="宋体" panose="02010600030101010101" pitchFamily="2" charset="-122"/>
              </a:rPr>
              <a:t>？</a:t>
            </a:r>
            <a:endParaRPr lang="zh-CN" altLang="en-US" sz="2100" b="0">
              <a:latin typeface="Times New Roman" panose="0202060305040502030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24890"/>
            <a:ext cx="10265410" cy="455422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Ubuntu</a:t>
            </a:r>
            <a:r>
              <a:rPr lang="zh-CN" sz="2000" b="0">
                <a:latin typeface="Times New Roman" panose="02020603050405020304" charset="0"/>
                <a:ea typeface="宋体" panose="02010600030101010101" pitchFamily="2" charset="-122"/>
              </a:rPr>
              <a:t>系统中</a:t>
            </a:r>
            <a:r>
              <a:rPr lang="zh-CN" sz="2000" b="0">
                <a:ea typeface="宋体" panose="02010600030101010101" pitchFamily="2" charset="-122"/>
              </a:rPr>
              <a:t>的代码编译，学会运行仿真程序；</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能够在上位机控制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中进行简单</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仿真操作。</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实现上位机代码编译与运行仿真；</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实现在控制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中进行四足机器人步态切换的简单仿真操作。</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三、实验原理</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上位机机器人仿真程序位于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端，采用</a:t>
            </a:r>
            <a:r>
              <a:rPr lang="en-US" sz="2000" b="0">
                <a:latin typeface="Times New Roman" panose="02020603050405020304" charset="0"/>
                <a:ea typeface="宋体" panose="02010600030101010101" pitchFamily="2" charset="-122"/>
              </a:rPr>
              <a:t>Qt</a:t>
            </a:r>
            <a:r>
              <a:rPr lang="zh-CN" sz="2000" b="0">
                <a:ea typeface="宋体" panose="02010600030101010101" pitchFamily="2" charset="-122"/>
              </a:rPr>
              <a:t>编写</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其控制界面由图</a:t>
            </a:r>
            <a:r>
              <a:rPr lang="en-US" sz="2000" b="0">
                <a:latin typeface="Times New Roman" panose="02020603050405020304" charset="0"/>
                <a:ea typeface="宋体" panose="02010600030101010101" pitchFamily="2" charset="-122"/>
              </a:rPr>
              <a:t>13.8</a:t>
            </a:r>
            <a:r>
              <a:rPr lang="zh-CN" sz="2000" b="0">
                <a:ea typeface="宋体" panose="02010600030101010101" pitchFamily="2" charset="-122"/>
              </a:rPr>
              <a:t>所示。</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控制界面左侧的面板用于更改模拟器设置。模拟器打开时，将默认载入模拟器</a:t>
            </a:r>
            <a:r>
              <a:rPr lang="en-US" sz="2000" b="0">
                <a:latin typeface="Times New Roman" panose="02020603050405020304" charset="0"/>
                <a:ea typeface="宋体" panose="02010600030101010101" pitchFamily="2" charset="-122"/>
              </a:rPr>
              <a:t>Simulator-defaults.yaml</a:t>
            </a:r>
            <a:r>
              <a:rPr lang="zh-CN" sz="2000" b="0">
                <a:ea typeface="宋体" panose="02010600030101010101" pitchFamily="2" charset="-122"/>
              </a:rPr>
              <a:t>。加载的设置文件必须具有与代码中定义的参数完全相同的参数集。如果</a:t>
            </a:r>
            <a:r>
              <a:rPr lang="zh-CN" sz="2000" b="0">
                <a:latin typeface="Times New Roman" panose="02020603050405020304" charset="0"/>
                <a:ea typeface="宋体" panose="02010600030101010101" pitchFamily="2" charset="-122"/>
              </a:rPr>
              <a:t>要</a:t>
            </a:r>
            <a:r>
              <a:rPr lang="zh-CN" sz="2000" b="0">
                <a:ea typeface="宋体" panose="02010600030101010101" pitchFamily="2" charset="-122"/>
              </a:rPr>
              <a:t>添加或删除参数，则必须重新编译。</a:t>
            </a:r>
            <a:endParaRPr lang="zh-CN" altLang="en-US" sz="2000" b="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N(TKAGNPNWEPSKA3{W}GC2"/>
          <p:cNvPicPr>
            <a:picLocks noChangeAspect="1"/>
          </p:cNvPicPr>
          <p:nvPr>
            <p:custDataLst>
              <p:tags r:id="rId2"/>
            </p:custDataLst>
          </p:nvPr>
        </p:nvPicPr>
        <p:blipFill>
          <a:blip r:embed="rId3"/>
          <a:stretch>
            <a:fillRect/>
          </a:stretch>
        </p:blipFill>
        <p:spPr>
          <a:xfrm>
            <a:off x="2994025" y="977265"/>
            <a:ext cx="6203315" cy="3895090"/>
          </a:xfrm>
          <a:prstGeom prst="rect">
            <a:avLst/>
          </a:prstGeom>
        </p:spPr>
      </p:pic>
      <p:sp>
        <p:nvSpPr>
          <p:cNvPr id="100" name="文本框 99"/>
          <p:cNvSpPr txBox="1"/>
          <p:nvPr/>
        </p:nvSpPr>
        <p:spPr>
          <a:xfrm>
            <a:off x="794385" y="5017135"/>
            <a:ext cx="10305415" cy="163004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中间</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面板允许</a:t>
            </a:r>
            <a:r>
              <a:rPr lang="zh-CN" sz="2000" b="0">
                <a:latin typeface="Times New Roman" panose="02020603050405020304" charset="0"/>
                <a:ea typeface="宋体" panose="02010600030101010101" pitchFamily="2" charset="-122"/>
              </a:rPr>
              <a:t>用户</a:t>
            </a:r>
            <a:r>
              <a:rPr lang="zh-CN" sz="2000" b="0">
                <a:ea typeface="宋体" panose="02010600030101010101" pitchFamily="2" charset="-122"/>
              </a:rPr>
              <a:t>更改非特定于控制器的机器人设置。加载的设置文件必须具有与代码中定义的参数完全相同的参数集。如果添加或删除参数，则必须重新编译</a:t>
            </a:r>
            <a:r>
              <a:rPr lang="en-US" sz="2000" b="0">
                <a:latin typeface="Times New Roman" panose="02020603050405020304" charset="0"/>
                <a:ea typeface="宋体" panose="02010600030101010101" pitchFamily="2" charset="-122"/>
              </a:rPr>
              <a:t>sim</a:t>
            </a:r>
            <a:r>
              <a:rPr lang="zh-CN" sz="2000" b="0">
                <a:ea typeface="宋体" panose="02010600030101010101" pitchFamily="2" charset="-122"/>
              </a:rPr>
              <a:t>。当前，这些参数大多数都不起作用，许多参数将被删除。</a:t>
            </a:r>
            <a:r>
              <a:rPr lang="en-US" sz="2000" b="0">
                <a:latin typeface="Times New Roman" panose="02020603050405020304" charset="0"/>
                <a:ea typeface="宋体" panose="02010600030101010101" pitchFamily="2" charset="-122"/>
              </a:rPr>
              <a:t>contorl_mode</a:t>
            </a:r>
            <a:r>
              <a:rPr lang="zh-CN" sz="2000" b="0">
                <a:ea typeface="宋体" panose="02010600030101010101" pitchFamily="2" charset="-122"/>
              </a:rPr>
              <a:t>参数</a:t>
            </a:r>
            <a:r>
              <a:rPr lang="zh-CN" sz="2000" b="0">
                <a:latin typeface="Times New Roman" panose="02020603050405020304" charset="0"/>
                <a:ea typeface="宋体" panose="02010600030101010101" pitchFamily="2" charset="-122"/>
              </a:rPr>
              <a:t>用于</a:t>
            </a:r>
            <a:r>
              <a:rPr lang="zh-CN" sz="2000" b="0">
                <a:ea typeface="宋体" panose="02010600030101010101" pitchFamily="2" charset="-122"/>
              </a:rPr>
              <a:t>更改机器人运动状态，依次输入</a:t>
            </a:r>
            <a:r>
              <a:rPr lang="en-US" sz="2000" b="0">
                <a:latin typeface="Times New Roman" panose="02020603050405020304" charset="0"/>
                <a:ea typeface="宋体" panose="02010600030101010101" pitchFamily="2" charset="-122"/>
              </a:rPr>
              <a:t>0</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6</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4</a:t>
            </a:r>
            <a:r>
              <a:rPr lang="zh-CN" sz="2000" b="0">
                <a:latin typeface="Times New Roman" panose="02020603050405020304" charset="0"/>
                <a:ea typeface="宋体" panose="02010600030101010101" pitchFamily="2" charset="-122"/>
              </a:rPr>
              <a:t>即</a:t>
            </a:r>
            <a:r>
              <a:rPr lang="zh-CN" sz="2000" b="0">
                <a:ea typeface="宋体" panose="02010600030101010101" pitchFamily="2" charset="-122"/>
              </a:rPr>
              <a:t>可使机器</a:t>
            </a:r>
            <a:r>
              <a:rPr lang="zh-CN" sz="2000" b="0">
                <a:latin typeface="Times New Roman" panose="02020603050405020304" charset="0"/>
                <a:ea typeface="宋体" panose="02010600030101010101" pitchFamily="2" charset="-122"/>
              </a:rPr>
              <a:t>人</a:t>
            </a:r>
            <a:r>
              <a:rPr lang="zh-CN" sz="2000" b="0">
                <a:ea typeface="宋体" panose="02010600030101010101" pitchFamily="2" charset="-122"/>
              </a:rPr>
              <a:t>开始运动。</a:t>
            </a:r>
            <a:endParaRPr lang="zh-CN" altLang="en-US" sz="2000" b="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28700"/>
            <a:ext cx="10255885" cy="5862320"/>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右侧</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面板允许更改特定于控制器的参数，称为</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用户参数</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 </a:t>
            </a:r>
            <a:r>
              <a:rPr lang="zh-CN" sz="2000" b="0">
                <a:ea typeface="宋体" panose="02010600030101010101" pitchFamily="2" charset="-122"/>
              </a:rPr>
              <a:t>如果的控制代码不使用用户参数，它将被忽略。如果代码确实使用了用户参数，那么必须加载与代码期望的参数匹配的用户配置参数，否则控制器将无法启动。其中</a:t>
            </a:r>
            <a:r>
              <a:rPr lang="en-US" sz="2000" b="0">
                <a:latin typeface="Times New Roman" panose="02020603050405020304" charset="0"/>
                <a:ea typeface="宋体" panose="02010600030101010101" pitchFamily="2" charset="-122"/>
              </a:rPr>
              <a:t>cmpc_gait</a:t>
            </a:r>
            <a:r>
              <a:rPr lang="zh-CN" sz="2000" b="0">
                <a:ea typeface="宋体" panose="02010600030101010101" pitchFamily="2" charset="-122"/>
              </a:rPr>
              <a:t>参数代表步态</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1</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pronk</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gallop</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4</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stand</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5</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trot run</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walk1</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7</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walk2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8</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pace</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上位机还提供仿真功能，在仿真模式下，</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会在三维仿真中仿真</a:t>
            </a:r>
            <a:r>
              <a:rPr lang="zh-CN" sz="2000" b="0">
                <a:latin typeface="Times New Roman" panose="02020603050405020304" charset="0"/>
                <a:ea typeface="宋体" panose="02010600030101010101" pitchFamily="2" charset="-122"/>
              </a:rPr>
              <a:t>出</a:t>
            </a:r>
            <a:r>
              <a:rPr lang="zh-CN" sz="2000" b="0">
                <a:ea typeface="宋体" panose="02010600030101010101" pitchFamily="2" charset="-122"/>
              </a:rPr>
              <a:t>一个</a:t>
            </a:r>
            <a:r>
              <a:rPr lang="zh-CN" sz="2000" b="0">
                <a:latin typeface="Times New Roman" panose="02020603050405020304" charset="0"/>
                <a:ea typeface="宋体" panose="02010600030101010101" pitchFamily="2" charset="-122"/>
              </a:rPr>
              <a:t>四足机器人</a:t>
            </a:r>
            <a:r>
              <a:rPr lang="zh-CN" sz="2000" b="0">
                <a:ea typeface="宋体" panose="02010600030101010101" pitchFamily="2" charset="-122"/>
              </a:rPr>
              <a:t>模型，</a:t>
            </a:r>
            <a:r>
              <a:rPr lang="zh-CN" sz="2000" b="0">
                <a:latin typeface="Times New Roman" panose="02020603050405020304" charset="0"/>
                <a:ea typeface="宋体" panose="02010600030101010101" pitchFamily="2" charset="-122"/>
              </a:rPr>
              <a:t>并</a:t>
            </a:r>
            <a:r>
              <a:rPr lang="zh-CN" sz="2000" b="0">
                <a:ea typeface="宋体" panose="02010600030101010101" pitchFamily="2" charset="-122"/>
              </a:rPr>
              <a:t>在该仿真界面执行算法期望结果</a:t>
            </a:r>
            <a:r>
              <a:rPr lang="zh-CN" sz="2000" b="0">
                <a:latin typeface="Times New Roman" panose="02020603050405020304" charset="0"/>
                <a:ea typeface="宋体" panose="02010600030101010101" pitchFamily="2" charset="-122"/>
              </a:rPr>
              <a:t>，以</a:t>
            </a:r>
            <a:r>
              <a:rPr lang="zh-CN" sz="2000" b="0">
                <a:ea typeface="宋体" panose="02010600030101010101" pitchFamily="2" charset="-122"/>
              </a:rPr>
              <a:t>模仿在真实环境运行的情况。利用此功能</a:t>
            </a:r>
            <a:r>
              <a:rPr lang="zh-CN" sz="2000" b="0">
                <a:latin typeface="Times New Roman" panose="02020603050405020304" charset="0"/>
                <a:ea typeface="宋体" panose="02010600030101010101" pitchFamily="2" charset="-122"/>
              </a:rPr>
              <a:t>，用户</a:t>
            </a:r>
            <a:r>
              <a:rPr lang="zh-CN" sz="2000" b="0">
                <a:ea typeface="宋体" panose="02010600030101010101" pitchFamily="2" charset="-122"/>
              </a:rPr>
              <a:t>可以安全</a:t>
            </a:r>
            <a:r>
              <a:rPr lang="zh-CN" sz="2000" b="0">
                <a:latin typeface="Times New Roman" panose="02020603050405020304" charset="0"/>
                <a:ea typeface="宋体" panose="02010600030101010101" pitchFamily="2" charset="-122"/>
              </a:rPr>
              <a:t>地</a:t>
            </a:r>
            <a:r>
              <a:rPr lang="zh-CN" sz="2000" b="0">
                <a:ea typeface="宋体" panose="02010600030101010101" pitchFamily="2" charset="-122"/>
              </a:rPr>
              <a:t>做功能测试和调试工作。</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若</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在实体模式下，</a:t>
            </a:r>
            <a:r>
              <a:rPr lang="zh-CN" sz="2000" b="0">
                <a:latin typeface="Times New Roman" panose="02020603050405020304" charset="0"/>
                <a:ea typeface="宋体" panose="02010600030101010101" pitchFamily="2" charset="-122"/>
              </a:rPr>
              <a:t>则</a:t>
            </a:r>
            <a:r>
              <a:rPr lang="zh-CN" sz="2000" b="0">
                <a:ea typeface="宋体" panose="02010600030101010101" pitchFamily="2" charset="-122"/>
              </a:rPr>
              <a:t>该仿真模块则会实时跟踪</a:t>
            </a:r>
            <a:r>
              <a:rPr lang="zh-CN" sz="2000" b="0">
                <a:latin typeface="Times New Roman" panose="02020603050405020304" charset="0"/>
                <a:ea typeface="宋体" panose="02010600030101010101" pitchFamily="2" charset="-122"/>
              </a:rPr>
              <a:t>机器人</a:t>
            </a:r>
            <a:r>
              <a:rPr lang="zh-CN" sz="2000" b="0">
                <a:ea typeface="宋体" panose="02010600030101010101" pitchFamily="2" charset="-122"/>
              </a:rPr>
              <a:t>实体的位姿，</a:t>
            </a:r>
            <a:r>
              <a:rPr lang="zh-CN" sz="2000" b="0">
                <a:latin typeface="Times New Roman" panose="02020603050405020304" charset="0"/>
                <a:ea typeface="宋体" panose="02010600030101010101" pitchFamily="2" charset="-122"/>
              </a:rPr>
              <a:t>并</a:t>
            </a:r>
            <a:r>
              <a:rPr lang="zh-CN" sz="2000" b="0">
                <a:ea typeface="宋体" panose="02010600030101010101" pitchFamily="2" charset="-122"/>
              </a:rPr>
              <a:t>在仿真中体现，借此辅助</a:t>
            </a:r>
            <a:r>
              <a:rPr lang="zh-CN" sz="2000" b="0">
                <a:latin typeface="Times New Roman" panose="02020603050405020304" charset="0"/>
                <a:ea typeface="宋体" panose="02010600030101010101" pitchFamily="2" charset="-122"/>
              </a:rPr>
              <a:t>用户进行</a:t>
            </a:r>
            <a:r>
              <a:rPr lang="zh-CN" sz="2000" b="0">
                <a:ea typeface="宋体" panose="02010600030101010101" pitchFamily="2" charset="-122"/>
              </a:rPr>
              <a:t>实体的调试，快速定位机器人的异常原因。</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altLang="en-US" sz="2000" b="0">
                <a:ea typeface="宋体" panose="02010600030101010101" pitchFamily="2" charset="-122"/>
              </a:rPr>
              <a:t>用户可以使用遥控器来驱动机器人。在界面上，用户可看到两种颜色的标记：灰色的是仿真中的实际机器人位置；红色的是根据状态估算器估算的机器人位置。打开 cheater_mode将使估计位置等于实际位置。若要调整模拟视图，可以在屏幕上单击鼠标左键并拖动鼠标。按住T键可使仿真尽可能快地进行，按空格键可打开免费相机模式，在相机模式下可以使用W、A、S、D、R、F键来移动相机，也可通过单击鼠标左键并拖动鼠标来调整方向。</a:t>
            </a:r>
            <a:endParaRPr lang="zh-CN" altLang="en-US" sz="2000" b="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69010"/>
            <a:ext cx="10175240" cy="511175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endParaRPr lang="en-US" sz="2100" b="1">
              <a:latin typeface="Arial" panose="020B0604020202020204" pitchFamily="34" charset="0"/>
              <a:ea typeface="黑体" panose="02010609060101010101" charset="-122"/>
            </a:endParaRPr>
          </a:p>
          <a:p>
            <a:pPr indent="0" fontAlgn="auto">
              <a:lnSpc>
                <a:spcPct val="125000"/>
              </a:lnSpc>
            </a:pPr>
            <a:r>
              <a:rPr lang="en-US" sz="2100" b="1">
                <a:latin typeface="微软雅黑" panose="020B0503020204020204" pitchFamily="34" charset="-122"/>
                <a:ea typeface="微软雅黑" panose="020B0503020204020204" pitchFamily="34" charset="-122"/>
                <a:cs typeface="微软雅黑" panose="020B0503020204020204" pitchFamily="34" charset="-122"/>
              </a:rPr>
              <a:t>1</a:t>
            </a:r>
            <a:r>
              <a:rPr lang="zh-CN" sz="2100" b="1">
                <a:latin typeface="微软雅黑" panose="020B0503020204020204" pitchFamily="34" charset="-122"/>
                <a:ea typeface="微软雅黑" panose="020B0503020204020204" pitchFamily="34" charset="-122"/>
                <a:cs typeface="微软雅黑" panose="020B0503020204020204" pitchFamily="34" charset="-122"/>
              </a:rPr>
              <a:t>．代码的编译与运行</a:t>
            </a:r>
            <a:r>
              <a:rPr lang="en-US" sz="2100" b="1">
                <a:latin typeface="微软雅黑" panose="020B0503020204020204" pitchFamily="34" charset="-122"/>
                <a:ea typeface="微软雅黑" panose="020B0503020204020204" pitchFamily="34" charset="-122"/>
                <a:cs typeface="微软雅黑" panose="020B0503020204020204" pitchFamily="34" charset="-122"/>
              </a:rPr>
              <a:t>(</a:t>
            </a:r>
            <a:r>
              <a:rPr lang="zh-CN" sz="2100" b="1">
                <a:latin typeface="微软雅黑" panose="020B0503020204020204" pitchFamily="34" charset="-122"/>
                <a:ea typeface="微软雅黑" panose="020B0503020204020204" pitchFamily="34" charset="-122"/>
                <a:cs typeface="微软雅黑" panose="020B0503020204020204" pitchFamily="34" charset="-122"/>
              </a:rPr>
              <a:t>全程需要连接网络</a:t>
            </a:r>
            <a:r>
              <a:rPr lang="en-US" sz="2100" b="1">
                <a:latin typeface="微软雅黑" panose="020B0503020204020204" pitchFamily="34" charset="-122"/>
                <a:ea typeface="微软雅黑" panose="020B0503020204020204" pitchFamily="34" charset="-122"/>
                <a:cs typeface="微软雅黑" panose="020B0503020204020204" pitchFamily="34" charset="-122"/>
              </a:rPr>
              <a:t>)</a:t>
            </a:r>
            <a:endParaRPr lang="zh-CN" sz="2100" b="0">
              <a:ea typeface="宋体" panose="02010600030101010101" pitchFamily="2" charset="-122"/>
            </a:endParaRPr>
          </a:p>
          <a:p>
            <a:pPr indent="0" fontAlgn="auto">
              <a:lnSpc>
                <a:spcPct val="125000"/>
              </a:lnSpc>
            </a:pPr>
            <a:r>
              <a:rPr lang="en-US" altLang="zh-CN" sz="2100" b="0">
                <a:ea typeface="宋体" panose="02010600030101010101" pitchFamily="2" charset="-122"/>
              </a:rPr>
              <a:t>      </a:t>
            </a:r>
            <a:r>
              <a:rPr lang="zh-CN" sz="2100" b="0">
                <a:ea typeface="宋体" panose="02010600030101010101" pitchFamily="2" charset="-122"/>
              </a:rPr>
              <a:t>首先确保已经安装了</a:t>
            </a:r>
            <a:r>
              <a:rPr lang="en-US" sz="2100" b="0" baseline="-25000">
                <a:latin typeface="Times New Roman" panose="02020603050405020304" charset="0"/>
                <a:ea typeface="宋体" panose="02010600030101010101" pitchFamily="2" charset="-122"/>
              </a:rPr>
              <a:t> </a:t>
            </a:r>
            <a:r>
              <a:rPr lang="en-US" sz="2100" b="0">
                <a:latin typeface="Times New Roman" panose="02020603050405020304" charset="0"/>
                <a:ea typeface="宋体" panose="02010600030101010101" pitchFamily="2" charset="-122"/>
              </a:rPr>
              <a:t>git</a:t>
            </a:r>
            <a:r>
              <a:rPr lang="zh-CN" sz="2100" b="0">
                <a:ea typeface="宋体" panose="02010600030101010101" pitchFamily="2" charset="-122"/>
              </a:rPr>
              <a:t>，且</a:t>
            </a:r>
            <a:r>
              <a:rPr lang="zh-CN" sz="2100" b="0">
                <a:latin typeface="Times New Roman" panose="02020603050405020304" charset="0"/>
                <a:ea typeface="宋体" panose="02010600030101010101" pitchFamily="2" charset="-122"/>
              </a:rPr>
              <a:t>已</a:t>
            </a:r>
            <a:r>
              <a:rPr lang="zh-CN" sz="2100" b="0">
                <a:ea typeface="宋体" panose="02010600030101010101" pitchFamily="2" charset="-122"/>
              </a:rPr>
              <a:t>根据自己主机</a:t>
            </a:r>
            <a:r>
              <a:rPr lang="en-US" sz="2100" b="0">
                <a:latin typeface="Times New Roman" panose="02020603050405020304" charset="0"/>
                <a:ea typeface="宋体" panose="02010600030101010101" pitchFamily="2" charset="-122"/>
              </a:rPr>
              <a:t>Qt</a:t>
            </a:r>
            <a:r>
              <a:rPr lang="zh-CN" sz="2100" b="0">
                <a:ea typeface="宋体" panose="02010600030101010101" pitchFamily="2" charset="-122"/>
              </a:rPr>
              <a:t>的安装路径对</a:t>
            </a:r>
            <a:r>
              <a:rPr lang="en-US" sz="2100" b="0">
                <a:latin typeface="Times New Roman" panose="02020603050405020304" charset="0"/>
                <a:ea typeface="宋体" panose="02010600030101010101" pitchFamily="2" charset="-122"/>
              </a:rPr>
              <a:t>Ubuntu</a:t>
            </a:r>
            <a:r>
              <a:rPr lang="zh-CN" sz="2100" b="0">
                <a:ea typeface="宋体" panose="02010600030101010101" pitchFamily="2" charset="-122"/>
              </a:rPr>
              <a:t>环境配置</a:t>
            </a:r>
            <a:r>
              <a:rPr lang="en-US" sz="2100" b="0">
                <a:latin typeface="Times New Roman" panose="02020603050405020304" charset="0"/>
                <a:ea typeface="宋体" panose="02010600030101010101" pitchFamily="2" charset="-122"/>
              </a:rPr>
              <a:t>/MINI/</a:t>
            </a:r>
            <a:r>
              <a:rPr lang="en-US" sz="2100" b="0">
                <a:latin typeface="Times New Roman" panose="02020603050405020304" charset="0"/>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sim/CMakeLists.txt</a:t>
            </a:r>
            <a:r>
              <a:rPr lang="zh-CN" sz="2100" b="0">
                <a:ea typeface="宋体" panose="02010600030101010101" pitchFamily="2" charset="-122"/>
              </a:rPr>
              <a:t>文件中的内容进行了修改。</a:t>
            </a:r>
            <a:endParaRPr lang="zh-CN" sz="2100" b="0">
              <a:latin typeface="Times New Roman" panose="02020603050405020304" charset="0"/>
              <a:ea typeface="宋体" panose="02010600030101010101" pitchFamily="2" charset="-122"/>
            </a:endParaRPr>
          </a:p>
          <a:p>
            <a:pPr indent="0" fontAlgn="auto">
              <a:lnSpc>
                <a:spcPct val="125000"/>
              </a:lnSpc>
            </a:pPr>
            <a:r>
              <a:rPr lang="en-US" altLang="zh-CN" sz="2100" b="0">
                <a:latin typeface="Times New Roman" panose="02020603050405020304" charset="0"/>
                <a:ea typeface="宋体" panose="02010600030101010101" pitchFamily="2" charset="-122"/>
              </a:rPr>
              <a:t>     </a:t>
            </a:r>
            <a:r>
              <a:rPr lang="zh-CN" sz="2100" b="0">
                <a:latin typeface="Times New Roman" panose="02020603050405020304" charset="0"/>
                <a:ea typeface="宋体" panose="02010600030101010101" pitchFamily="2" charset="-122"/>
              </a:rPr>
              <a:t>然后输入以下指令</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cd wbc_v4      mkdir mc-build      cd mc-build      cmake -DMINI_CHEETAH_BUILD=TRUE .. #there are still some warnings here      make –j</a:t>
            </a:r>
            <a:endParaRPr lang="zh-CN" sz="2100" b="1">
              <a:latin typeface="宋体" panose="02010600030101010101" pitchFamily="2" charset="-122"/>
              <a:ea typeface="宋体" panose="02010600030101010101" pitchFamily="2" charset="-122"/>
            </a:endParaRPr>
          </a:p>
          <a:p>
            <a:pPr indent="0" fontAlgn="auto">
              <a:lnSpc>
                <a:spcPct val="125000"/>
              </a:lnSpc>
            </a:pPr>
            <a:r>
              <a:rPr lang="en-US" altLang="zh-CN" sz="2100" b="0">
                <a:ea typeface="宋体" panose="02010600030101010101" pitchFamily="2" charset="-122"/>
              </a:rPr>
              <a:t>       </a:t>
            </a:r>
            <a:r>
              <a:rPr lang="zh-CN" sz="2100" b="0">
                <a:ea typeface="宋体" panose="02010600030101010101" pitchFamily="2" charset="-122"/>
              </a:rPr>
              <a:t>此过程与计算机配置有关，</a:t>
            </a:r>
            <a:r>
              <a:rPr lang="zh-CN" sz="2100" b="0">
                <a:latin typeface="Times New Roman" panose="02020603050405020304" charset="0"/>
                <a:ea typeface="宋体" panose="02010600030101010101" pitchFamily="2" charset="-122"/>
              </a:rPr>
              <a:t>若具有</a:t>
            </a:r>
            <a:r>
              <a:rPr lang="zh-CN" sz="2100" b="0">
                <a:ea typeface="宋体" panose="02010600030101010101" pitchFamily="2" charset="-122"/>
              </a:rPr>
              <a:t>比较高的配置</a:t>
            </a:r>
            <a:r>
              <a:rPr lang="zh-CN" sz="2100" b="0">
                <a:latin typeface="Times New Roman" panose="02020603050405020304" charset="0"/>
                <a:ea typeface="宋体" panose="02010600030101010101" pitchFamily="2" charset="-122"/>
              </a:rPr>
              <a:t>，则可</a:t>
            </a:r>
            <a:r>
              <a:rPr lang="zh-CN" sz="2100" b="0">
                <a:ea typeface="宋体" panose="02010600030101010101" pitchFamily="2" charset="-122"/>
              </a:rPr>
              <a:t>使用</a:t>
            </a:r>
            <a:r>
              <a:rPr lang="en-US" sz="2100" b="0">
                <a:latin typeface="Times New Roman" panose="02020603050405020304" charset="0"/>
                <a:ea typeface="宋体" panose="02010600030101010101" pitchFamily="2" charset="-122"/>
              </a:rPr>
              <a:t>make -j4</a:t>
            </a:r>
            <a:r>
              <a:rPr lang="zh-CN" sz="2100" b="0">
                <a:ea typeface="宋体" panose="02010600030101010101" pitchFamily="2" charset="-122"/>
              </a:rPr>
              <a:t>或</a:t>
            </a:r>
            <a:r>
              <a:rPr lang="en-US" sz="2100" b="0">
                <a:latin typeface="Times New Roman" panose="02020603050405020304" charset="0"/>
                <a:ea typeface="宋体" panose="02010600030101010101" pitchFamily="2" charset="-122"/>
              </a:rPr>
              <a:t>j8</a:t>
            </a:r>
            <a:r>
              <a:rPr lang="zh-CN" sz="2100" b="0">
                <a:latin typeface="Times New Roman" panose="02020603050405020304" charset="0"/>
                <a:ea typeface="宋体" panose="02010600030101010101" pitchFamily="2" charset="-122"/>
              </a:rPr>
              <a:t>指令</a:t>
            </a:r>
            <a:r>
              <a:rPr lang="zh-CN" sz="2100" b="0">
                <a:ea typeface="宋体" panose="02010600030101010101" pitchFamily="2" charset="-122"/>
              </a:rPr>
              <a:t>，</a:t>
            </a:r>
            <a:r>
              <a:rPr lang="zh-CN" sz="2100" b="0">
                <a:latin typeface="Times New Roman" panose="02020603050405020304" charset="0"/>
                <a:ea typeface="宋体" panose="02010600030101010101" pitchFamily="2" charset="-122"/>
              </a:rPr>
              <a:t>若计算机配置较低，则</a:t>
            </a:r>
            <a:r>
              <a:rPr lang="zh-CN" sz="2100" b="0">
                <a:ea typeface="宋体" panose="02010600030101010101" pitchFamily="2" charset="-122"/>
              </a:rPr>
              <a:t>会出现计算机卡死的情况，需要重启</a:t>
            </a:r>
            <a:r>
              <a:rPr lang="zh-CN" sz="2100" b="0">
                <a:latin typeface="Times New Roman" panose="02020603050405020304" charset="0"/>
                <a:ea typeface="宋体" panose="02010600030101010101" pitchFamily="2" charset="-122"/>
              </a:rPr>
              <a:t>后</a:t>
            </a:r>
            <a:r>
              <a:rPr lang="zh-CN" sz="2100" b="0">
                <a:ea typeface="宋体" panose="02010600030101010101" pitchFamily="2" charset="-122"/>
              </a:rPr>
              <a:t>编译，编译完成后</a:t>
            </a:r>
            <a:r>
              <a:rPr lang="zh-CN" sz="2100" b="0">
                <a:latin typeface="Times New Roman" panose="02020603050405020304" charset="0"/>
                <a:ea typeface="宋体" panose="02010600030101010101" pitchFamily="2" charset="-122"/>
              </a:rPr>
              <a:t>的结果</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a:t>
            </a:r>
            <a:r>
              <a:rPr lang="zh-CN" sz="2100" b="0">
                <a:ea typeface="宋体" panose="02010600030101010101" pitchFamily="2" charset="-122"/>
              </a:rPr>
              <a:t>所示。</a:t>
            </a:r>
            <a:endParaRPr lang="zh-CN" altLang="en-US" sz="2100" b="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VJF0V9E0E7BD85AAXKN{L%A"/>
          <p:cNvPicPr>
            <a:picLocks noChangeAspect="1"/>
          </p:cNvPicPr>
          <p:nvPr>
            <p:custDataLst>
              <p:tags r:id="rId2"/>
            </p:custDataLst>
          </p:nvPr>
        </p:nvPicPr>
        <p:blipFill>
          <a:blip r:embed="rId3"/>
          <a:stretch>
            <a:fillRect/>
          </a:stretch>
        </p:blipFill>
        <p:spPr>
          <a:xfrm>
            <a:off x="3997960" y="805815"/>
            <a:ext cx="4107180" cy="3223895"/>
          </a:xfrm>
          <a:prstGeom prst="rect">
            <a:avLst/>
          </a:prstGeom>
        </p:spPr>
      </p:pic>
      <p:sp>
        <p:nvSpPr>
          <p:cNvPr id="100" name="文本框 99"/>
          <p:cNvSpPr txBox="1"/>
          <p:nvPr/>
        </p:nvSpPr>
        <p:spPr>
          <a:xfrm>
            <a:off x="864235" y="4029710"/>
            <a:ext cx="10374630"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编译通过后</a:t>
            </a:r>
            <a:r>
              <a:rPr lang="zh-CN" sz="2000" b="0">
                <a:latin typeface="Times New Roman" panose="02020603050405020304" charset="0"/>
                <a:ea typeface="宋体" panose="02010600030101010101" pitchFamily="2" charset="-122"/>
              </a:rPr>
              <a:t>就</a:t>
            </a:r>
            <a:r>
              <a:rPr lang="zh-CN" sz="2000" b="0">
                <a:ea typeface="宋体" panose="02010600030101010101" pitchFamily="2" charset="-122"/>
              </a:rPr>
              <a:t>可以开始仿真、连接机器人</a:t>
            </a:r>
            <a:r>
              <a:rPr lang="zh-CN" sz="2000" b="0">
                <a:latin typeface="Times New Roman" panose="02020603050405020304" charset="0"/>
                <a:ea typeface="宋体" panose="02010600030101010101" pitchFamily="2" charset="-122"/>
              </a:rPr>
              <a:t>并进行</a:t>
            </a:r>
            <a:r>
              <a:rPr lang="zh-CN" sz="2000" b="0">
                <a:ea typeface="宋体" panose="02010600030101010101" pitchFamily="2" charset="-122"/>
              </a:rPr>
              <a:t>控制。</a:t>
            </a:r>
            <a:endParaRPr lang="en-US" sz="2000" b="1">
              <a:latin typeface="Arial" panose="020B0604020202020204" pitchFamily="34" charset="0"/>
              <a:ea typeface="黑体" panose="02010609060101010101" charset="-122"/>
            </a:endParaRPr>
          </a:p>
          <a:p>
            <a:pPr indent="0" fontAlgn="auto">
              <a:lnSpc>
                <a:spcPct val="125000"/>
              </a:lnSpc>
            </a:pPr>
            <a:r>
              <a:rPr lang="en-US" sz="2000" b="1">
                <a:latin typeface="微软雅黑" panose="020B0503020204020204" pitchFamily="34" charset="-122"/>
                <a:ea typeface="微软雅黑" panose="020B0503020204020204" pitchFamily="34" charset="-122"/>
                <a:cs typeface="微软雅黑" panose="020B0503020204020204" pitchFamily="34" charset="-122"/>
              </a:rPr>
              <a:t>2</a:t>
            </a:r>
            <a:r>
              <a:rPr lang="zh-CN" sz="2000" b="1">
                <a:latin typeface="微软雅黑" panose="020B0503020204020204" pitchFamily="34" charset="-122"/>
                <a:ea typeface="微软雅黑" panose="020B0503020204020204" pitchFamily="34" charset="-122"/>
                <a:cs typeface="微软雅黑" panose="020B0503020204020204" pitchFamily="34" charset="-122"/>
              </a:rPr>
              <a:t>．运行仿真</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中打开控制板，输入如图</a:t>
            </a:r>
            <a:r>
              <a:rPr lang="en-US" sz="2000" b="0">
                <a:latin typeface="Times New Roman" panose="02020603050405020304" charset="0"/>
                <a:ea typeface="宋体" panose="02010600030101010101" pitchFamily="2" charset="-122"/>
              </a:rPr>
              <a:t>13.10</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的</a:t>
            </a:r>
            <a:r>
              <a:rPr lang="zh-CN" sz="2000" b="0">
                <a:latin typeface="Times New Roman" panose="02020603050405020304" charset="0"/>
                <a:ea typeface="宋体" panose="02010600030101010101" pitchFamily="2" charset="-122"/>
              </a:rPr>
              <a:t>指令</a:t>
            </a:r>
            <a:r>
              <a:rPr lang="zh-CN" b="0">
                <a:ea typeface="宋体" panose="02010600030101010101" pitchFamily="2" charset="-122"/>
              </a:rPr>
              <a:t>。</a:t>
            </a:r>
            <a:endParaRPr lang="zh-CN" altLang="en-US" b="0">
              <a:ea typeface="宋体" panose="02010600030101010101" pitchFamily="2" charset="-122"/>
            </a:endParaRPr>
          </a:p>
        </p:txBody>
      </p:sp>
      <p:pic>
        <p:nvPicPr>
          <p:cNvPr id="4" name="图片 3" descr="~4~KXM(7K2_6@JBPFO}[@XT"/>
          <p:cNvPicPr>
            <a:picLocks noChangeAspect="1"/>
          </p:cNvPicPr>
          <p:nvPr>
            <p:custDataLst>
              <p:tags r:id="rId4"/>
            </p:custDataLst>
          </p:nvPr>
        </p:nvPicPr>
        <p:blipFill>
          <a:blip r:embed="rId5"/>
          <a:stretch>
            <a:fillRect/>
          </a:stretch>
        </p:blipFill>
        <p:spPr>
          <a:xfrm>
            <a:off x="2653665" y="5182235"/>
            <a:ext cx="6885305" cy="15322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76960"/>
            <a:ext cx="929957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选</a:t>
            </a:r>
            <a:r>
              <a:rPr lang="zh-CN" sz="2000" b="0">
                <a:latin typeface="Times New Roman" panose="02020603050405020304" charset="0"/>
                <a:ea typeface="宋体" panose="02010600030101010101" pitchFamily="2" charset="-122"/>
              </a:rPr>
              <a:t>择</a:t>
            </a:r>
            <a:r>
              <a:rPr lang="en-US" sz="2000" b="0">
                <a:latin typeface="Times New Roman" panose="02020603050405020304" charset="0"/>
                <a:ea typeface="宋体" panose="02010600030101010101" pitchFamily="2" charset="-122"/>
              </a:rPr>
              <a:t>Mini Cheetah</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Simulator</a:t>
            </a:r>
            <a:r>
              <a:rPr lang="zh-CN" sz="2000" b="0">
                <a:latin typeface="Times New Roman" panose="02020603050405020304" charset="0"/>
                <a:ea typeface="宋体" panose="02010600030101010101" pitchFamily="2" charset="-122"/>
              </a:rPr>
              <a:t>选项，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13.11</a:t>
            </a:r>
            <a:r>
              <a:rPr lang="zh-CN" sz="2000" b="0">
                <a:ea typeface="宋体" panose="02010600030101010101" pitchFamily="2" charset="-122"/>
              </a:rPr>
              <a:t>所示</a:t>
            </a:r>
            <a:r>
              <a:rPr lang="en-US" sz="2000" b="0">
                <a:latin typeface="宋体" panose="02010600030101010101" pitchFamily="2" charset="-122"/>
                <a:ea typeface="宋体" panose="02010600030101010101" pitchFamily="2" charset="-122"/>
              </a:rPr>
              <a:t>(</a:t>
            </a:r>
            <a:r>
              <a:rPr lang="zh-CN" sz="2000" b="0">
                <a:latin typeface="Times New Roman" panose="02020603050405020304" charset="0"/>
                <a:ea typeface="宋体" panose="02010600030101010101" pitchFamily="2" charset="-122"/>
              </a:rPr>
              <a:t>仿真时必须先打开仿真界面再运行程序，连接机器人时必须先运行程序再打开控制界面</a:t>
            </a:r>
            <a:r>
              <a:rPr lang="en-US" sz="2000" b="0">
                <a:latin typeface="宋体" panose="02010600030101010101" pitchFamily="2" charset="-122"/>
                <a:ea typeface="宋体" panose="02010600030101010101" pitchFamily="2" charset="-122"/>
              </a:rPr>
              <a:t>)</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pic>
        <p:nvPicPr>
          <p:cNvPr id="3" name="图片 2" descr="0]87IJPM[KFLP]W7XFT1%1W"/>
          <p:cNvPicPr>
            <a:picLocks noChangeAspect="1"/>
          </p:cNvPicPr>
          <p:nvPr>
            <p:custDataLst>
              <p:tags r:id="rId2"/>
            </p:custDataLst>
          </p:nvPr>
        </p:nvPicPr>
        <p:blipFill>
          <a:blip r:embed="rId3"/>
          <a:stretch>
            <a:fillRect/>
          </a:stretch>
        </p:blipFill>
        <p:spPr>
          <a:xfrm>
            <a:off x="995045" y="2179955"/>
            <a:ext cx="10201275" cy="40100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36320"/>
            <a:ext cx="8484235" cy="398780"/>
          </a:xfrm>
          <a:prstGeom prst="rect">
            <a:avLst/>
          </a:prstGeom>
          <a:noFill/>
          <a:ln w="9525">
            <a:noFill/>
          </a:ln>
        </p:spPr>
        <p:txBody>
          <a:bodyPr wrap="square">
            <a:spAutoFit/>
          </a:bodyPr>
          <a:p>
            <a:pPr indent="269875"/>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打开</a:t>
            </a:r>
            <a:r>
              <a:rPr lang="zh-CN" sz="2000" b="0">
                <a:ea typeface="宋体" panose="02010600030101010101" pitchFamily="2" charset="-122"/>
              </a:rPr>
              <a:t>终端，输入如图</a:t>
            </a:r>
            <a:r>
              <a:rPr lang="en-US" sz="2000" b="0">
                <a:latin typeface="Times New Roman" panose="02020603050405020304" charset="0"/>
                <a:ea typeface="宋体" panose="02010600030101010101" pitchFamily="2" charset="-122"/>
              </a:rPr>
              <a:t>13.12</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的指令。</a:t>
            </a:r>
            <a:endParaRPr lang="zh-CN" altLang="en-US" sz="2000" b="0">
              <a:ea typeface="宋体" panose="02010600030101010101" pitchFamily="2" charset="-122"/>
            </a:endParaRPr>
          </a:p>
        </p:txBody>
      </p:sp>
      <p:pic>
        <p:nvPicPr>
          <p:cNvPr id="3" name="图片 2" descr="1T$2`3HT_B`JO$B~7_3[XRC"/>
          <p:cNvPicPr>
            <a:picLocks noChangeAspect="1"/>
          </p:cNvPicPr>
          <p:nvPr>
            <p:custDataLst>
              <p:tags r:id="rId2"/>
            </p:custDataLst>
          </p:nvPr>
        </p:nvPicPr>
        <p:blipFill>
          <a:blip r:embed="rId3"/>
          <a:stretch>
            <a:fillRect/>
          </a:stretch>
        </p:blipFill>
        <p:spPr>
          <a:xfrm>
            <a:off x="3143885" y="1463675"/>
            <a:ext cx="5904230" cy="1330325"/>
          </a:xfrm>
          <a:prstGeom prst="rect">
            <a:avLst/>
          </a:prstGeom>
        </p:spPr>
      </p:pic>
      <p:sp>
        <p:nvSpPr>
          <p:cNvPr id="4" name="文本框 3"/>
          <p:cNvSpPr txBox="1"/>
          <p:nvPr/>
        </p:nvSpPr>
        <p:spPr>
          <a:xfrm>
            <a:off x="784860" y="2900680"/>
            <a:ext cx="8563610" cy="398780"/>
          </a:xfrm>
          <a:prstGeom prst="rect">
            <a:avLst/>
          </a:prstGeom>
          <a:noFill/>
          <a:ln w="9525">
            <a:noFill/>
          </a:ln>
        </p:spPr>
        <p:txBody>
          <a:bodyPr wrap="square">
            <a:spAutoFit/>
          </a:bodyPr>
          <a:p>
            <a:pPr indent="269875"/>
            <a:r>
              <a:rPr lang="zh-CN" sz="2000" b="0">
                <a:ea typeface="宋体" panose="02010600030101010101" pitchFamily="2" charset="-122"/>
              </a:rPr>
              <a:t>仿真开始运行，</a:t>
            </a:r>
            <a:r>
              <a:rPr lang="zh-CN" sz="2000" b="0">
                <a:latin typeface="Times New Roman" panose="02020603050405020304" charset="0"/>
                <a:ea typeface="宋体" panose="02010600030101010101" pitchFamily="2" charset="-122"/>
              </a:rPr>
              <a:t>图</a:t>
            </a:r>
            <a:r>
              <a:rPr lang="en-US" sz="2000" b="0">
                <a:latin typeface="Times New Roman" panose="02020603050405020304" charset="0"/>
                <a:ea typeface="宋体" panose="02010600030101010101" pitchFamily="2" charset="-122"/>
              </a:rPr>
              <a:t>13.13</a:t>
            </a:r>
            <a:r>
              <a:rPr lang="zh-CN" sz="2000" b="0">
                <a:ea typeface="宋体" panose="02010600030101010101" pitchFamily="2" charset="-122"/>
              </a:rPr>
              <a:t>为仿真运行时</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虚拟四足机器人。</a:t>
            </a:r>
            <a:endParaRPr lang="zh-CN" altLang="en-US" sz="2000" b="0">
              <a:ea typeface="宋体" panose="02010600030101010101" pitchFamily="2" charset="-122"/>
            </a:endParaRPr>
          </a:p>
        </p:txBody>
      </p:sp>
      <p:pic>
        <p:nvPicPr>
          <p:cNvPr id="5" name="图片 4" descr="AD_@DJDE{Q[C(U8P_U3X{)N"/>
          <p:cNvPicPr>
            <a:picLocks noChangeAspect="1"/>
          </p:cNvPicPr>
          <p:nvPr>
            <p:custDataLst>
              <p:tags r:id="rId4"/>
            </p:custDataLst>
          </p:nvPr>
        </p:nvPicPr>
        <p:blipFill>
          <a:blip r:embed="rId5"/>
          <a:stretch>
            <a:fillRect/>
          </a:stretch>
        </p:blipFill>
        <p:spPr>
          <a:xfrm>
            <a:off x="3250565" y="3299460"/>
            <a:ext cx="5909945" cy="34366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四足机器人上位机代码编译与运行仿真实验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536700"/>
            <a:ext cx="9887585" cy="332295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回到控制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use_rc</a:t>
            </a:r>
            <a:r>
              <a:rPr lang="zh-CN" sz="2000" b="0">
                <a:ea typeface="宋体" panose="02010600030101010101" pitchFamily="2" charset="-122"/>
              </a:rPr>
              <a:t>的值改为</a:t>
            </a:r>
            <a:r>
              <a:rPr lang="en-US" sz="2000" b="0">
                <a:latin typeface="Times New Roman" panose="02020603050405020304" charset="0"/>
                <a:ea typeface="宋体" panose="02010600030101010101" pitchFamily="2" charset="-122"/>
              </a:rPr>
              <a:t>1</a:t>
            </a:r>
            <a:r>
              <a:rPr lang="zh-CN" sz="2000" b="0">
                <a:ea typeface="宋体" panose="02010600030101010101" pitchFamily="2" charset="-122"/>
              </a:rPr>
              <a:t>，之后</a:t>
            </a:r>
            <a:r>
              <a:rPr lang="zh-CN" sz="2000" b="0">
                <a:latin typeface="Times New Roman" panose="02020603050405020304" charset="0"/>
                <a:ea typeface="宋体" panose="02010600030101010101" pitchFamily="2" charset="-122"/>
              </a:rPr>
              <a:t>先</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control_mode</a:t>
            </a:r>
            <a:r>
              <a:rPr lang="zh-CN" sz="2000" b="0">
                <a:ea typeface="宋体" panose="02010600030101010101" pitchFamily="2" charset="-122"/>
              </a:rPr>
              <a:t>的值改为</a:t>
            </a:r>
            <a:r>
              <a:rPr lang="en-US" sz="2000" b="0">
                <a:latin typeface="Times New Roman" panose="02020603050405020304" charset="0"/>
                <a:ea typeface="宋体" panose="02010600030101010101" pitchFamily="2" charset="-122"/>
              </a:rPr>
              <a:t>6</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JOINT_PD</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机器人电机会上电</a:t>
            </a:r>
            <a:r>
              <a:rPr lang="zh-CN" sz="2000" b="0">
                <a:latin typeface="Times New Roman" panose="02020603050405020304" charset="0"/>
                <a:ea typeface="宋体" panose="02010600030101010101" pitchFamily="2" charset="-122"/>
              </a:rPr>
              <a:t>并</a:t>
            </a:r>
            <a:r>
              <a:rPr lang="zh-CN" sz="2000" b="0">
                <a:ea typeface="宋体" panose="02010600030101010101" pitchFamily="2" charset="-122"/>
              </a:rPr>
              <a:t>处于准备站立姿态；</a:t>
            </a:r>
            <a:r>
              <a:rPr lang="zh-CN" sz="2000" b="0">
                <a:latin typeface="Times New Roman" panose="02020603050405020304" charset="0"/>
                <a:ea typeface="宋体" panose="02010600030101010101" pitchFamily="2" charset="-122"/>
              </a:rPr>
              <a:t>再</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的值</a:t>
            </a:r>
            <a:r>
              <a:rPr lang="zh-CN" sz="2000" b="0">
                <a:ea typeface="宋体" panose="02010600030101010101" pitchFamily="2" charset="-122"/>
              </a:rPr>
              <a:t>改为</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STAND_UP</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机器人站立；</a:t>
            </a:r>
            <a:r>
              <a:rPr lang="zh-CN" sz="2000" b="0">
                <a:latin typeface="Times New Roman" panose="02020603050405020304" charset="0"/>
                <a:ea typeface="宋体" panose="02010600030101010101" pitchFamily="2" charset="-122"/>
              </a:rPr>
              <a:t>最后</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的值</a:t>
            </a:r>
            <a:r>
              <a:rPr lang="zh-CN" sz="2000" b="0">
                <a:ea typeface="宋体" panose="02010600030101010101" pitchFamily="2" charset="-122"/>
              </a:rPr>
              <a:t>改为</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LOCOMOTION</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机器人默认以</a:t>
            </a:r>
            <a:r>
              <a:rPr lang="en-US" sz="2000" b="0">
                <a:latin typeface="Times New Roman" panose="02020603050405020304" charset="0"/>
                <a:ea typeface="宋体" panose="02010600030101010101" pitchFamily="2" charset="-122"/>
              </a:rPr>
              <a:t>tort</a:t>
            </a:r>
            <a:r>
              <a:rPr lang="zh-CN" sz="2000" b="0">
                <a:ea typeface="宋体" panose="02010600030101010101" pitchFamily="2" charset="-122"/>
              </a:rPr>
              <a:t>步态运行。</a:t>
            </a:r>
            <a:r>
              <a:rPr lang="zh-CN" sz="2400" b="1">
                <a:cs typeface="方正黑体简体" charset="0"/>
              </a:rPr>
              <a:t>五、思考题</a:t>
            </a:r>
            <a:endParaRPr lang="zh-CN" sz="2400" b="1">
              <a:cs typeface="方正黑体简体" charset="0"/>
            </a:endParaRPr>
          </a:p>
          <a:p>
            <a:pPr indent="0" fontAlgn="auto">
              <a:lnSpc>
                <a:spcPct val="125000"/>
              </a:lnSpc>
            </a:pPr>
            <a:endParaRPr lang="zh-CN" sz="2000" b="0">
              <a:latin typeface="Times New Roman" panose="02020603050405020304" charset="0"/>
              <a:ea typeface="宋体" panose="02010600030101010101" pitchFamily="2" charset="-122"/>
            </a:endParaRPr>
          </a:p>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思考</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中</a:t>
            </a:r>
            <a:r>
              <a:rPr lang="en-US" sz="2000" b="0">
                <a:latin typeface="Times New Roman" panose="02020603050405020304" charset="0"/>
                <a:ea typeface="宋体" panose="02010600030101010101" pitchFamily="2" charset="-122"/>
              </a:rPr>
              <a:t>chmod +x</a:t>
            </a:r>
            <a:r>
              <a:rPr lang="zh-CN" sz="2000" b="0">
                <a:ea typeface="宋体" panose="02010600030101010101" pitchFamily="2" charset="-122"/>
              </a:rPr>
              <a:t>指令的用法及其与</a:t>
            </a:r>
            <a:r>
              <a:rPr lang="en-US" sz="2000" b="0">
                <a:latin typeface="Times New Roman" panose="02020603050405020304" charset="0"/>
                <a:ea typeface="宋体" panose="02010600030101010101" pitchFamily="2" charset="-122"/>
              </a:rPr>
              <a:t>sudo</a:t>
            </a:r>
            <a:r>
              <a:rPr lang="zh-CN" sz="2000" b="0">
                <a:ea typeface="宋体" panose="02010600030101010101" pitchFamily="2" charset="-122"/>
              </a:rPr>
              <a:t>指令的区别。</a:t>
            </a:r>
            <a:endParaRPr lang="zh-CN" altLang="en-US" sz="2000" b="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55700"/>
            <a:ext cx="8970645" cy="4554220"/>
          </a:xfrm>
          <a:prstGeom prst="rect">
            <a:avLst/>
          </a:prstGeom>
          <a:noFill/>
          <a:ln w="9525">
            <a:noFill/>
          </a:ln>
        </p:spPr>
        <p:txBody>
          <a:bodyPr wrap="square">
            <a:spAutoFit/>
          </a:bodyPr>
          <a:p>
            <a:pPr indent="0" fontAlgn="auto">
              <a:lnSpc>
                <a:spcPct val="125000"/>
              </a:lnSpc>
            </a:pPr>
            <a:r>
              <a:rPr lang="zh-CN" sz="2400" b="1">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熟悉上位机控制原理及其与机器人的通信；</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了解实体机器人的整体结构及操作；</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学会在上位机控制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中对实体机器人进行简单操作</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学会使用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运行实体机器人。</a:t>
            </a:r>
            <a:r>
              <a:rPr lang="zh-CN" sz="2400" b="1">
                <a:cs typeface="方正黑体简体" charset="0"/>
              </a:rPr>
              <a:t>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实现上位机与实体机器人的通信连接；</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在实体模式下进行简单的机器人</a:t>
            </a:r>
            <a:r>
              <a:rPr lang="zh-CN" sz="2000" b="0">
                <a:latin typeface="Times New Roman" panose="02020603050405020304" charset="0"/>
                <a:ea typeface="宋体" panose="02010600030101010101" pitchFamily="2" charset="-122"/>
              </a:rPr>
              <a:t>操作</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包括</a:t>
            </a:r>
            <a:r>
              <a:rPr lang="zh-CN" sz="2000" b="0">
                <a:ea typeface="宋体" panose="02010600030101010101" pitchFamily="2" charset="-122"/>
              </a:rPr>
              <a:t>站立、</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其他步态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切换等。</a:t>
            </a:r>
            <a:r>
              <a:rPr lang="zh-CN" sz="2400" b="1">
                <a:cs typeface="方正黑体简体" charset="0"/>
              </a:rPr>
              <a:t>三、实验原理</a:t>
            </a:r>
            <a:r>
              <a:rPr lang="zh-CN" sz="2000" b="0">
                <a:ea typeface="宋体" panose="02010600030101010101" pitchFamily="2" charset="-122"/>
              </a:rPr>
              <a:t>通信模块</a:t>
            </a:r>
            <a:r>
              <a:rPr lang="zh-CN" sz="2000" b="0">
                <a:latin typeface="Times New Roman" panose="02020603050405020304" charset="0"/>
                <a:ea typeface="宋体" panose="02010600030101010101" pitchFamily="2" charset="-122"/>
              </a:rPr>
              <a:t>的基本原理已在</a:t>
            </a:r>
            <a:r>
              <a:rPr lang="en-US" sz="2000" b="0">
                <a:latin typeface="Times New Roman" panose="02020603050405020304" charset="0"/>
                <a:ea typeface="宋体" panose="02010600030101010101" pitchFamily="2" charset="-122"/>
              </a:rPr>
              <a:t>13.1</a:t>
            </a:r>
            <a:r>
              <a:rPr lang="zh-CN" sz="2000" b="0">
                <a:latin typeface="Times New Roman" panose="02020603050405020304" charset="0"/>
                <a:ea typeface="宋体" panose="02010600030101010101" pitchFamily="2" charset="-122"/>
              </a:rPr>
              <a:t>节中介绍过，这里不再赘述。</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14730"/>
            <a:ext cx="8722360" cy="5554345"/>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endParaRPr lang="en-US" sz="2000" b="1">
              <a:latin typeface="Arial" panose="020B0604020202020204" pitchFamily="34" charset="0"/>
              <a:ea typeface="黑体" panose="02010609060101010101" charset="-122"/>
            </a:endParaRPr>
          </a:p>
          <a:p>
            <a:pPr indent="0" fontAlgn="auto">
              <a:lnSpc>
                <a:spcPct val="125000"/>
              </a:lnSpc>
            </a:pPr>
            <a:r>
              <a:rPr lang="en-US" sz="2000" b="1">
                <a:latin typeface="微软雅黑" panose="020B0503020204020204" pitchFamily="34" charset="-122"/>
                <a:ea typeface="微软雅黑" panose="020B0503020204020204" pitchFamily="34" charset="-122"/>
                <a:cs typeface="微软雅黑" panose="020B0503020204020204" pitchFamily="34" charset="-122"/>
              </a:rPr>
              <a:t>1</a:t>
            </a:r>
            <a:r>
              <a:rPr lang="zh-CN" sz="2000" b="1">
                <a:latin typeface="微软雅黑" panose="020B0503020204020204" pitchFamily="34" charset="-122"/>
                <a:ea typeface="微软雅黑" panose="020B0503020204020204" pitchFamily="34" charset="-122"/>
                <a:cs typeface="微软雅黑" panose="020B0503020204020204" pitchFamily="34" charset="-122"/>
              </a:rPr>
              <a:t>．四足机器人的零位摆放及</a:t>
            </a:r>
            <a:r>
              <a:rPr lang="en-US" sz="2000" b="1">
                <a:latin typeface="微软雅黑" panose="020B0503020204020204" pitchFamily="34" charset="-122"/>
                <a:ea typeface="微软雅黑" panose="020B0503020204020204" pitchFamily="34" charset="-122"/>
                <a:cs typeface="微软雅黑" panose="020B0503020204020204" pitchFamily="34" charset="-122"/>
              </a:rPr>
              <a:t>IP</a:t>
            </a:r>
            <a:r>
              <a:rPr lang="zh-CN" sz="2000" b="1">
                <a:latin typeface="微软雅黑" panose="020B0503020204020204" pitchFamily="34" charset="-122"/>
                <a:ea typeface="微软雅黑" panose="020B0503020204020204" pitchFamily="34" charset="-122"/>
                <a:cs typeface="微软雅黑" panose="020B0503020204020204" pitchFamily="34" charset="-122"/>
              </a:rPr>
              <a:t>地址设置</a:t>
            </a:r>
            <a:r>
              <a:rPr lang="zh-CN" sz="2000" b="0">
                <a:ea typeface="宋体" panose="02010600030101010101" pitchFamily="2" charset="-122"/>
              </a:rPr>
              <a:t>在运行实体机器人前，要按照设定好的电机零位进行正确的姿势摆放，若没有正确摆</a:t>
            </a:r>
            <a:r>
              <a:rPr lang="zh-CN" sz="2000" b="0">
                <a:latin typeface="Times New Roman" panose="02020603050405020304" charset="0"/>
                <a:ea typeface="宋体" panose="02010600030101010101" pitchFamily="2" charset="-122"/>
              </a:rPr>
              <a:t>放</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可能会</a:t>
            </a:r>
            <a:r>
              <a:rPr lang="zh-CN" sz="2000" b="0">
                <a:ea typeface="宋体" panose="02010600030101010101" pitchFamily="2" charset="-122"/>
              </a:rPr>
              <a:t>使电机烧毁，本实验使用的机器人</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四条腿</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初始零位如图</a:t>
            </a:r>
            <a:r>
              <a:rPr lang="en-US" sz="2000" b="0">
                <a:latin typeface="Times New Roman" panose="02020603050405020304" charset="0"/>
                <a:ea typeface="宋体" panose="02010600030101010101" pitchFamily="2" charset="-122"/>
              </a:rPr>
              <a:t>13.14</a:t>
            </a:r>
            <a:r>
              <a:rPr lang="zh-CN" sz="2000" b="0">
                <a:ea typeface="宋体" panose="02010600030101010101" pitchFamily="2" charset="-122"/>
              </a:rPr>
              <a:t>所示。需要在</a:t>
            </a:r>
            <a:r>
              <a:rPr lang="en-US" sz="2000" b="0">
                <a:latin typeface="Times New Roman" panose="02020603050405020304" charset="0"/>
                <a:ea typeface="宋体" panose="02010600030101010101" pitchFamily="2" charset="-122"/>
              </a:rPr>
              <a:t>PC</a:t>
            </a:r>
            <a:r>
              <a:rPr lang="zh-CN" sz="2000" b="0">
                <a:latin typeface="Times New Roman" panose="02020603050405020304" charset="0"/>
                <a:ea typeface="宋体" panose="02010600030101010101" pitchFamily="2" charset="-122"/>
              </a:rPr>
              <a:t>端</a:t>
            </a:r>
            <a:r>
              <a:rPr lang="zh-CN" sz="2000" b="0">
                <a:ea typeface="宋体" panose="02010600030101010101" pitchFamily="2" charset="-122"/>
              </a:rPr>
              <a:t>的设置中将四足机器人的</a:t>
            </a:r>
            <a:r>
              <a:rPr lang="en-US" sz="2000" b="0">
                <a:latin typeface="Times New Roman" panose="02020603050405020304" charset="0"/>
                <a:ea typeface="宋体" panose="02010600030101010101" pitchFamily="2" charset="-122"/>
              </a:rPr>
              <a:t>IP</a:t>
            </a:r>
            <a:r>
              <a:rPr lang="zh-CN" sz="2000" b="0">
                <a:ea typeface="宋体" panose="02010600030101010101" pitchFamily="2" charset="-122"/>
              </a:rPr>
              <a:t>地址设置在同一网段下。四足机器人的</a:t>
            </a:r>
            <a:r>
              <a:rPr lang="en-US" sz="2000" b="0">
                <a:latin typeface="Times New Roman" panose="02020603050405020304" charset="0"/>
                <a:ea typeface="宋体" panose="02010600030101010101" pitchFamily="2" charset="-122"/>
              </a:rPr>
              <a:t>IP</a:t>
            </a:r>
            <a:r>
              <a:rPr lang="zh-CN" sz="2000" b="0">
                <a:ea typeface="宋体" panose="02010600030101010101" pitchFamily="2" charset="-122"/>
              </a:rPr>
              <a:t>地址信息</a:t>
            </a:r>
            <a:r>
              <a:rPr lang="zh-CN" sz="2000" b="0">
                <a:latin typeface="Times New Roman" panose="02020603050405020304" charset="0"/>
                <a:ea typeface="宋体" panose="02010600030101010101" pitchFamily="2" charset="-122"/>
              </a:rPr>
              <a:t>如下</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IPv4</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10.0.0.34</a:t>
            </a:r>
            <a:r>
              <a:rPr lang="zh-CN" sz="2000" b="0">
                <a:ea typeface="宋体" panose="02010600030101010101" pitchFamily="2" charset="-122"/>
              </a:rPr>
              <a:t>子网掩码：</a:t>
            </a:r>
            <a:r>
              <a:rPr lang="en-US" sz="2000" b="0">
                <a:latin typeface="Times New Roman" panose="02020603050405020304" charset="0"/>
                <a:ea typeface="宋体" panose="02010600030101010101" pitchFamily="2" charset="-122"/>
              </a:rPr>
              <a:t>255.255.255.0</a:t>
            </a:r>
            <a:r>
              <a:rPr lang="zh-CN" sz="2000" b="0">
                <a:ea typeface="宋体" panose="02010600030101010101" pitchFamily="2" charset="-122"/>
              </a:rPr>
              <a:t>默认网关：</a:t>
            </a:r>
            <a:r>
              <a:rPr lang="en-US" sz="2000" b="0">
                <a:latin typeface="Times New Roman" panose="02020603050405020304" charset="0"/>
                <a:ea typeface="宋体" panose="02010600030101010101" pitchFamily="2" charset="-122"/>
              </a:rPr>
              <a:t>10.0.0.1</a:t>
            </a:r>
            <a:r>
              <a:rPr lang="zh-CN" sz="2000" b="0">
                <a:ea typeface="宋体" panose="02010600030101010101" pitchFamily="2" charset="-122"/>
              </a:rPr>
              <a:t>因此需要将</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的</a:t>
            </a:r>
            <a:r>
              <a:rPr lang="en-US" sz="2000" b="0">
                <a:latin typeface="Times New Roman" panose="02020603050405020304" charset="0"/>
                <a:ea typeface="宋体" panose="02010600030101010101" pitchFamily="2" charset="-122"/>
              </a:rPr>
              <a:t>IP</a:t>
            </a:r>
            <a:r>
              <a:rPr lang="zh-CN" sz="2000" b="0">
                <a:ea typeface="宋体" panose="02010600030101010101" pitchFamily="2" charset="-122"/>
              </a:rPr>
              <a:t>地址信息设置</a:t>
            </a:r>
            <a:r>
              <a:rPr lang="zh-CN" sz="2000" b="0">
                <a:latin typeface="Times New Roman" panose="02020603050405020304" charset="0"/>
                <a:ea typeface="宋体" panose="02010600030101010101" pitchFamily="2" charset="-122"/>
              </a:rPr>
              <a:t>如下</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IPv4</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10.0.0.n </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n</a:t>
            </a:r>
            <a:r>
              <a:rPr lang="zh-CN" sz="2000" b="0">
                <a:ea typeface="宋体" panose="02010600030101010101" pitchFamily="2" charset="-122"/>
              </a:rPr>
              <a:t>不可以为</a:t>
            </a:r>
            <a:r>
              <a:rPr lang="en-US" sz="2000" b="0">
                <a:latin typeface="Times New Roman" panose="02020603050405020304" charset="0"/>
                <a:ea typeface="宋体" panose="02010600030101010101" pitchFamily="2" charset="-122"/>
              </a:rPr>
              <a:t>1</a:t>
            </a:r>
            <a:r>
              <a:rPr lang="zh-CN" sz="2000" b="0">
                <a:ea typeface="宋体" panose="02010600030101010101" pitchFamily="2" charset="-122"/>
              </a:rPr>
              <a:t>或</a:t>
            </a:r>
            <a:r>
              <a:rPr lang="en-US" sz="2000" b="0">
                <a:latin typeface="Times New Roman" panose="02020603050405020304" charset="0"/>
                <a:ea typeface="宋体" panose="02010600030101010101" pitchFamily="2" charset="-122"/>
              </a:rPr>
              <a:t>34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子网掩码：</a:t>
            </a:r>
            <a:r>
              <a:rPr lang="en-US" sz="2000" b="0">
                <a:latin typeface="Times New Roman" panose="02020603050405020304" charset="0"/>
                <a:ea typeface="宋体" panose="02010600030101010101" pitchFamily="2" charset="-122"/>
              </a:rPr>
              <a:t>255.255.255.0</a:t>
            </a:r>
            <a:r>
              <a:rPr lang="zh-CN" sz="2000" b="0">
                <a:ea typeface="宋体" panose="02010600030101010101" pitchFamily="2" charset="-122"/>
              </a:rPr>
              <a:t>默认网关：</a:t>
            </a:r>
            <a:r>
              <a:rPr lang="en-US" sz="2000" b="0">
                <a:latin typeface="Times New Roman" panose="02020603050405020304" charset="0"/>
                <a:ea typeface="宋体" panose="02010600030101010101" pitchFamily="2" charset="-122"/>
              </a:rPr>
              <a:t>10.0.0.1</a:t>
            </a:r>
            <a:endParaRPr lang="en-US" altLang="en-US" sz="2000" b="0">
              <a:latin typeface="Times New Roman" panose="0202060305040502030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25220"/>
            <a:ext cx="9010650" cy="398780"/>
          </a:xfrm>
          <a:prstGeom prst="rect">
            <a:avLst/>
          </a:prstGeom>
          <a:noFill/>
          <a:ln w="9525">
            <a:noFill/>
          </a:ln>
        </p:spPr>
        <p:txBody>
          <a:bodyPr wrap="square">
            <a:spAutoFit/>
          </a:bodyPr>
          <a:p>
            <a:pPr indent="0" fontAlgn="auto"/>
            <a:r>
              <a:rPr lang="en-US" altLang="zh-CN" sz="2000" b="0">
                <a:ea typeface="宋体" panose="02010600030101010101" pitchFamily="2" charset="-122"/>
              </a:rPr>
              <a:t>    </a:t>
            </a:r>
            <a:r>
              <a:rPr lang="zh-CN" sz="2000" b="0">
                <a:ea typeface="宋体" panose="02010600030101010101" pitchFamily="2" charset="-122"/>
              </a:rPr>
              <a:t>设置成功后保存，使用网线将机器人与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端连接起来</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13.15</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4" name="图片 3" descr="SE_QLIW0UG0R0JZ$DM{@_ZW"/>
          <p:cNvPicPr>
            <a:picLocks noChangeAspect="1"/>
          </p:cNvPicPr>
          <p:nvPr>
            <p:custDataLst>
              <p:tags r:id="rId2"/>
            </p:custDataLst>
          </p:nvPr>
        </p:nvPicPr>
        <p:blipFill>
          <a:blip r:embed="rId3"/>
          <a:stretch>
            <a:fillRect/>
          </a:stretch>
        </p:blipFill>
        <p:spPr>
          <a:xfrm>
            <a:off x="2472055" y="1703070"/>
            <a:ext cx="7247890" cy="2706370"/>
          </a:xfrm>
          <a:prstGeom prst="rect">
            <a:avLst/>
          </a:prstGeom>
        </p:spPr>
      </p:pic>
      <p:sp>
        <p:nvSpPr>
          <p:cNvPr id="5" name="文本框 4"/>
          <p:cNvSpPr txBox="1"/>
          <p:nvPr/>
        </p:nvSpPr>
        <p:spPr>
          <a:xfrm>
            <a:off x="864235" y="4588510"/>
            <a:ext cx="10196195" cy="1938020"/>
          </a:xfrm>
          <a:prstGeom prst="rect">
            <a:avLst/>
          </a:prstGeom>
          <a:noFill/>
          <a:ln w="9525">
            <a:noFill/>
          </a:ln>
        </p:spPr>
        <p:txBody>
          <a:bodyPr wrap="square">
            <a:spAutoFit/>
          </a:bodyPr>
          <a:p>
            <a:pPr indent="0" fontAlgn="auto"/>
            <a:r>
              <a:rPr lang="en-US" sz="2000" b="1">
                <a:latin typeface="Arial" panose="020B0604020202020204" pitchFamily="34" charset="0"/>
                <a:ea typeface="黑体" panose="02010609060101010101" charset="-122"/>
              </a:rPr>
              <a:t>2</a:t>
            </a:r>
            <a:r>
              <a:rPr lang="zh-CN" sz="2000" b="1">
                <a:latin typeface="Arial" panose="020B0604020202020204" pitchFamily="34" charset="0"/>
                <a:ea typeface="黑体" panose="02010609060101010101" charset="-122"/>
              </a:rPr>
              <a:t>．</a:t>
            </a:r>
            <a:r>
              <a:rPr lang="zh-CN" sz="2000" b="1">
                <a:ea typeface="黑体" panose="02010609060101010101" charset="-122"/>
              </a:rPr>
              <a:t>运行四足机器人</a:t>
            </a:r>
            <a:endParaRPr lang="zh-CN" sz="2000" b="0">
              <a:ea typeface="宋体" panose="02010600030101010101" pitchFamily="2" charset="-122"/>
            </a:endParaRPr>
          </a:p>
          <a:p>
            <a:pPr indent="0" fontAlgn="auto"/>
            <a:r>
              <a:rPr lang="en-US" altLang="zh-CN" sz="2000" b="0">
                <a:ea typeface="宋体" panose="02010600030101010101" pitchFamily="2" charset="-122"/>
              </a:rPr>
              <a:t>       </a:t>
            </a:r>
            <a:r>
              <a:rPr lang="zh-CN" sz="2000" b="0">
                <a:ea typeface="宋体" panose="02010600030101010101" pitchFamily="2" charset="-122"/>
              </a:rPr>
              <a:t>打开机器人电源开关与电机开关，并保证</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端全程连接网络。之后，在</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端找到</a:t>
            </a:r>
            <a:r>
              <a:rPr lang="en-US" sz="2000" b="0">
                <a:latin typeface="Times New Roman" panose="02020603050405020304" charset="0"/>
                <a:ea typeface="宋体" panose="02010600030101010101" pitchFamily="2" charset="-122"/>
              </a:rPr>
              <a:t>wbc_v4</a:t>
            </a:r>
            <a:r>
              <a:rPr lang="zh-CN" sz="2000" b="0">
                <a:ea typeface="宋体" panose="02010600030101010101" pitchFamily="2" charset="-122"/>
              </a:rPr>
              <a:t>文件夹，并在其中打开上位机终端，之后在终端中进行以下操作：</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创建</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a:t>
            </a:r>
            <a:r>
              <a:rPr lang="en-US" sz="2000" b="0">
                <a:latin typeface="Times New Roman" panose="02020603050405020304" charset="0"/>
                <a:ea typeface="宋体" panose="02010600030101010101" pitchFamily="2" charset="-122"/>
              </a:rPr>
              <a:t>mkdir mc-build</a:t>
            </a:r>
            <a:r>
              <a:rPr lang="zh-CN" sz="2000" b="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打开新创建的文件夹</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输指指令：</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78840" y="937260"/>
            <a:ext cx="10196195" cy="2399665"/>
          </a:xfrm>
          <a:prstGeom prst="rect">
            <a:avLst/>
          </a:prstGeom>
          <a:noFill/>
          <a:ln w="9525">
            <a:noFill/>
          </a:ln>
        </p:spPr>
        <p:txBody>
          <a:bodyPr wrap="square">
            <a:spAutoFit/>
          </a:bodyPr>
          <a:p>
            <a:pPr indent="0" fontAlgn="auto">
              <a:lnSpc>
                <a:spcPct val="125000"/>
              </a:lnSpc>
            </a:pPr>
            <a:r>
              <a:rPr lang="en-US" sz="2000" b="1">
                <a:latin typeface="Courier New" panose="02070309020205020404" charset="0"/>
                <a:ea typeface="宋体" panose="02010600030101010101" pitchFamily="2" charset="-122"/>
                <a:cs typeface="Times New Roman" panose="02020603050405020304" charset="0"/>
              </a:rPr>
              <a:t>    </a:t>
            </a:r>
            <a:r>
              <a:rPr lang="en-US" sz="2000" b="1">
                <a:latin typeface="宋体" panose="02010600030101010101" pitchFamily="2" charset="-122"/>
                <a:ea typeface="宋体" panose="02010600030101010101" pitchFamily="2" charset="-122"/>
                <a:cs typeface="宋体" panose="02010600030101010101" pitchFamily="2" charset="-122"/>
              </a:rPr>
              <a:t>cmake -DMINI_CHEETAH_BUILD=TRUE ..;     make –j4</a:t>
            </a:r>
            <a:r>
              <a:rPr lang="zh-CN" sz="2000" b="1">
                <a:latin typeface="宋体" panose="02010600030101010101" pitchFamily="2" charset="-122"/>
                <a:ea typeface="宋体" panose="02010600030101010101" pitchFamily="2" charset="-122"/>
                <a:cs typeface="宋体" panose="02010600030101010101" pitchFamily="2" charset="-122"/>
              </a:rPr>
              <a:t>或</a:t>
            </a:r>
            <a:r>
              <a:rPr lang="en-US" sz="2000" b="1">
                <a:latin typeface="宋体" panose="02010600030101010101" pitchFamily="2" charset="-122"/>
                <a:ea typeface="宋体" panose="02010600030101010101" pitchFamily="2" charset="-122"/>
                <a:cs typeface="宋体" panose="02010600030101010101" pitchFamily="2" charset="-122"/>
              </a:rPr>
              <a:t>j8;</a:t>
            </a:r>
            <a:endParaRPr lang="zh-CN" sz="2100" b="0">
              <a:latin typeface="宋体" panose="02010600030101010101" pitchFamily="2" charset="-122"/>
              <a:ea typeface="宋体" panose="02010600030101010101" pitchFamily="2" charset="-122"/>
              <a:cs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在文件夹</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下新开一个终端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，连接</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确保机器人和</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在同一局域网下，输入指令：</a:t>
            </a:r>
            <a:endParaRPr lang="en-US" b="0">
              <a:latin typeface="Courier New" panose="02070309020205020404" charset="0"/>
              <a:ea typeface="宋体" panose="02010600030101010101" pitchFamily="2" charset="-122"/>
              <a:cs typeface="Times New Roman" panose="02020603050405020304" charset="0"/>
            </a:endParaRPr>
          </a:p>
          <a:p>
            <a:pPr indent="0" fontAlgn="auto">
              <a:lnSpc>
                <a:spcPct val="125000"/>
              </a:lnSpc>
            </a:pPr>
            <a:r>
              <a:rPr lang="en-US" b="1">
                <a:latin typeface="宋体" panose="02010600030101010101" pitchFamily="2" charset="-122"/>
                <a:ea typeface="宋体" panose="02010600030101010101" pitchFamily="2" charset="-122"/>
                <a:cs typeface="Times New Roman" panose="02020603050405020304" charset="0"/>
              </a:rPr>
              <a:t>      </a:t>
            </a:r>
            <a:r>
              <a:rPr lang="en-US" sz="2000" b="1">
                <a:latin typeface="宋体" panose="02010600030101010101" pitchFamily="2" charset="-122"/>
                <a:ea typeface="宋体" panose="02010600030101010101" pitchFamily="2" charset="-122"/>
                <a:cs typeface="Times New Roman" panose="02020603050405020304" charset="0"/>
              </a:rPr>
              <a:t>ssh user@10.0.0.34</a:t>
            </a:r>
            <a:endParaRPr lang="zh-CN" sz="2000" b="0">
              <a:latin typeface="Times New Roman" panose="02020603050405020304" charset="0"/>
              <a:ea typeface="宋体" panose="02010600030101010101" pitchFamily="2" charset="-122"/>
            </a:endParaRPr>
          </a:p>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结果</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13.16</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4" name="图片 3" descr="@6%(~YYKINRLWLYKVA2{}ZG"/>
          <p:cNvPicPr>
            <a:picLocks noChangeAspect="1"/>
          </p:cNvPicPr>
          <p:nvPr>
            <p:custDataLst>
              <p:tags r:id="rId2"/>
            </p:custDataLst>
          </p:nvPr>
        </p:nvPicPr>
        <p:blipFill>
          <a:blip r:embed="rId3"/>
          <a:stretch>
            <a:fillRect/>
          </a:stretch>
        </p:blipFill>
        <p:spPr>
          <a:xfrm>
            <a:off x="2966720" y="3368040"/>
            <a:ext cx="6257925" cy="29908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99185"/>
            <a:ext cx="9617710" cy="1283970"/>
          </a:xfrm>
          <a:prstGeom prst="rect">
            <a:avLst/>
          </a:prstGeom>
          <a:noFill/>
          <a:ln w="9525">
            <a:noFill/>
          </a:ln>
        </p:spPr>
        <p:txBody>
          <a:bodyPr wrap="square">
            <a:spAutoFit/>
          </a:bodyPr>
          <a:p>
            <a:pPr indent="0" fontAlgn="auto">
              <a:lnSpc>
                <a:spcPct val="125000"/>
              </a:lnSpc>
            </a:pP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4</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回到上位机终端，发送代码到</a:t>
            </a:r>
            <a:r>
              <a:rPr lang="en-US" sz="2100" b="0">
                <a:latin typeface="Times New Roman" panose="02020603050405020304" charset="0"/>
                <a:ea typeface="宋体" panose="02010600030101010101" pitchFamily="2" charset="-122"/>
              </a:rPr>
              <a:t>UP</a:t>
            </a:r>
            <a:r>
              <a:rPr lang="en-US" sz="2100" b="0">
                <a:latin typeface="Times New Roman" panose="02020603050405020304" charset="0"/>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board</a:t>
            </a:r>
            <a:r>
              <a:rPr lang="zh-CN" sz="2100" b="0">
                <a:ea typeface="宋体" panose="02010600030101010101" pitchFamily="2" charset="-122"/>
              </a:rPr>
              <a:t>上，输入以下指令：</a:t>
            </a:r>
            <a:r>
              <a:rPr lang="en-US" b="0">
                <a:latin typeface="Courier New" panose="02070309020205020404" charset="0"/>
                <a:ea typeface="宋体" panose="02010600030101010101" pitchFamily="2" charset="-122"/>
                <a:cs typeface="Times New Roman" panose="02020603050405020304" charset="0"/>
              </a:rPr>
              <a:t>      </a:t>
            </a:r>
            <a:r>
              <a:rPr lang="en-US" sz="2000" b="1">
                <a:latin typeface="宋体" panose="02010600030101010101" pitchFamily="2" charset="-122"/>
                <a:ea typeface="宋体" panose="02010600030101010101" pitchFamily="2" charset="-122"/>
                <a:cs typeface="Times New Roman" panose="02020603050405020304" charset="0"/>
              </a:rPr>
              <a:t> ../scripts/send_to_mini_cheetah.sh  ./user/MIT_Controller/mit_ctrl </a:t>
            </a:r>
            <a:endParaRPr lang="zh-CN" sz="2000" b="1">
              <a:latin typeface="宋体" panose="02010600030101010101" pitchFamily="2" charset="-122"/>
              <a:ea typeface="宋体" panose="02010600030101010101" pitchFamily="2" charset="-122"/>
            </a:endParaRPr>
          </a:p>
          <a:p>
            <a:pPr indent="0" fontAlgn="auto">
              <a:lnSpc>
                <a:spcPct val="125000"/>
              </a:lnSpc>
            </a:pPr>
            <a:r>
              <a:rPr lang="en-US" altLang="zh-CN" sz="2100" b="0">
                <a:latin typeface="Times New Roman" panose="02020603050405020304" charset="0"/>
                <a:ea typeface="宋体" panose="02010600030101010101" pitchFamily="2" charset="-122"/>
              </a:rPr>
              <a:t>      </a:t>
            </a:r>
            <a:r>
              <a:rPr lang="zh-CN" sz="2100" b="0">
                <a:latin typeface="Times New Roman" panose="02020603050405020304" charset="0"/>
                <a:ea typeface="宋体" panose="02010600030101010101" pitchFamily="2" charset="-122"/>
              </a:rPr>
              <a:t>结果</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13.17</a:t>
            </a:r>
            <a:r>
              <a:rPr lang="zh-CN" sz="2100" b="0">
                <a:ea typeface="宋体" panose="02010600030101010101" pitchFamily="2" charset="-122"/>
              </a:rPr>
              <a:t>所示。</a:t>
            </a:r>
            <a:endParaRPr lang="zh-CN" altLang="en-US" sz="2100" b="0">
              <a:ea typeface="宋体" panose="02010600030101010101" pitchFamily="2" charset="-122"/>
            </a:endParaRPr>
          </a:p>
        </p:txBody>
      </p:sp>
      <p:pic>
        <p:nvPicPr>
          <p:cNvPr id="3" name="图片 2" descr="ADLTPKR2V762WERFLK2G~}N"/>
          <p:cNvPicPr>
            <a:picLocks noChangeAspect="1"/>
          </p:cNvPicPr>
          <p:nvPr>
            <p:custDataLst>
              <p:tags r:id="rId2"/>
            </p:custDataLst>
          </p:nvPr>
        </p:nvPicPr>
        <p:blipFill>
          <a:blip r:embed="rId3"/>
          <a:stretch>
            <a:fillRect/>
          </a:stretch>
        </p:blipFill>
        <p:spPr>
          <a:xfrm>
            <a:off x="2249170" y="2524125"/>
            <a:ext cx="6848475" cy="904875"/>
          </a:xfrm>
          <a:prstGeom prst="rect">
            <a:avLst/>
          </a:prstGeom>
        </p:spPr>
      </p:pic>
      <p:sp>
        <p:nvSpPr>
          <p:cNvPr id="4" name="文本框 3"/>
          <p:cNvSpPr txBox="1"/>
          <p:nvPr/>
        </p:nvSpPr>
        <p:spPr>
          <a:xfrm>
            <a:off x="864235" y="3656330"/>
            <a:ext cx="9987280" cy="86042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5</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再回到机器人终端中，输入以下如图</a:t>
            </a:r>
            <a:r>
              <a:rPr lang="en-US" sz="2000" b="0">
                <a:latin typeface="Times New Roman" panose="02020603050405020304" charset="0"/>
                <a:ea typeface="宋体" panose="02010600030101010101" pitchFamily="2" charset="-122"/>
              </a:rPr>
              <a:t>13.18</a:t>
            </a:r>
            <a:r>
              <a:rPr lang="zh-CN" sz="2000" b="0">
                <a:ea typeface="宋体" panose="02010600030101010101" pitchFamily="2" charset="-122"/>
              </a:rPr>
              <a:t>所示</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指令</a:t>
            </a:r>
            <a:r>
              <a:rPr lang="zh-CN" sz="2000" b="0">
                <a:latin typeface="Times New Roman" panose="02020603050405020304" charset="0"/>
                <a:ea typeface="宋体" panose="02010600030101010101" pitchFamily="2" charset="-122"/>
              </a:rPr>
              <a:t>打开</a:t>
            </a:r>
            <a:r>
              <a:rPr lang="en-US" sz="2000" b="0">
                <a:latin typeface="Times New Roman" panose="02020603050405020304" charset="0"/>
                <a:ea typeface="宋体" panose="02010600030101010101" pitchFamily="2" charset="-122"/>
              </a:rPr>
              <a:t>UP board</a:t>
            </a:r>
            <a:r>
              <a:rPr lang="zh-CN" sz="2000" b="0">
                <a:latin typeface="Times New Roman" panose="02020603050405020304" charset="0"/>
                <a:ea typeface="宋体" panose="02010600030101010101" pitchFamily="2" charset="-122"/>
              </a:rPr>
              <a:t>文件夹并运行其上的程序。</a:t>
            </a:r>
            <a:endParaRPr lang="zh-CN" altLang="en-US" sz="2000" b="0">
              <a:latin typeface="Times New Roman" panose="02020603050405020304" charset="0"/>
              <a:ea typeface="宋体" panose="02010600030101010101" pitchFamily="2" charset="-122"/>
            </a:endParaRPr>
          </a:p>
        </p:txBody>
      </p:sp>
      <p:pic>
        <p:nvPicPr>
          <p:cNvPr id="6" name="图片 5" descr="FA17@BMMKH5%5TI%]O)`JFV"/>
          <p:cNvPicPr>
            <a:picLocks noChangeAspect="1"/>
          </p:cNvPicPr>
          <p:nvPr>
            <p:custDataLst>
              <p:tags r:id="rId4"/>
            </p:custDataLst>
          </p:nvPr>
        </p:nvPicPr>
        <p:blipFill>
          <a:blip r:embed="rId5"/>
          <a:stretch>
            <a:fillRect/>
          </a:stretch>
        </p:blipFill>
        <p:spPr>
          <a:xfrm>
            <a:off x="2366645" y="4625340"/>
            <a:ext cx="6981825" cy="11334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864235" y="1049020"/>
            <a:ext cx="10017125"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此时</a:t>
            </a:r>
            <a:r>
              <a:rPr lang="zh-CN" sz="2000" b="0">
                <a:latin typeface="Times New Roman" panose="02020603050405020304" charset="0"/>
                <a:ea typeface="宋体" panose="02010600030101010101" pitchFamily="2" charset="-122"/>
              </a:rPr>
              <a:t>可</a:t>
            </a:r>
            <a:r>
              <a:rPr lang="zh-CN" sz="2000" b="0">
                <a:ea typeface="宋体" panose="02010600030101010101" pitchFamily="2" charset="-122"/>
              </a:rPr>
              <a:t>听到机器人电机的蜂鸣声，这时打开</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E</a:t>
            </a:r>
            <a:r>
              <a:rPr lang="zh-CN" sz="2000" b="0">
                <a:ea typeface="宋体" panose="02010600030101010101" pitchFamily="2" charset="-122"/>
              </a:rPr>
              <a:t>键从最下方</a:t>
            </a:r>
            <a:r>
              <a:rPr lang="zh-CN" sz="2000" b="0">
                <a:latin typeface="Times New Roman" panose="02020603050405020304" charset="0"/>
                <a:ea typeface="宋体" panose="02010600030101010101" pitchFamily="2" charset="-122"/>
              </a:rPr>
              <a:t>拔</a:t>
            </a:r>
            <a:r>
              <a:rPr lang="zh-CN" sz="2000" b="0">
                <a:ea typeface="宋体" panose="02010600030101010101" pitchFamily="2" charset="-122"/>
              </a:rPr>
              <a:t>到最上方，此时机器人处于站立姿态，如图</a:t>
            </a:r>
            <a:r>
              <a:rPr lang="en-US" sz="2000" b="0">
                <a:latin typeface="Times New Roman" panose="02020603050405020304" charset="0"/>
                <a:ea typeface="宋体" panose="02010600030101010101" pitchFamily="2" charset="-122"/>
              </a:rPr>
              <a:t>13.19</a:t>
            </a:r>
            <a:r>
              <a:rPr lang="zh-CN" sz="2000" b="0">
                <a:ea typeface="宋体" panose="02010600030101010101" pitchFamily="2" charset="-122"/>
              </a:rPr>
              <a:t>所示。</a:t>
            </a:r>
            <a:r>
              <a:rPr lang="zh-CN" sz="2000" b="0">
                <a:latin typeface="Times New Roman" panose="02020603050405020304" charset="0"/>
                <a:ea typeface="宋体" panose="02010600030101010101" pitchFamily="2" charset="-122"/>
              </a:rPr>
              <a:t>然后</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A</a:t>
            </a:r>
            <a:r>
              <a:rPr lang="zh-CN" sz="2000" b="0">
                <a:ea typeface="宋体" panose="02010600030101010101" pitchFamily="2" charset="-122"/>
              </a:rPr>
              <a:t>键</a:t>
            </a:r>
            <a:r>
              <a:rPr lang="zh-CN" sz="2000" b="0">
                <a:latin typeface="Times New Roman" panose="02020603050405020304" charset="0"/>
                <a:ea typeface="宋体" panose="02010600030101010101" pitchFamily="2" charset="-122"/>
              </a:rPr>
              <a:t>拔</a:t>
            </a:r>
            <a:r>
              <a:rPr lang="zh-CN" sz="2000" b="0">
                <a:ea typeface="宋体" panose="02010600030101010101" pitchFamily="2" charset="-122"/>
              </a:rPr>
              <a:t>到最上方，此时机器人原地踏步，</a:t>
            </a:r>
            <a:r>
              <a:rPr lang="zh-CN" sz="2000" b="0">
                <a:latin typeface="Times New Roman" panose="02020603050405020304" charset="0"/>
                <a:ea typeface="宋体" panose="02010600030101010101" pitchFamily="2" charset="-122"/>
              </a:rPr>
              <a:t>这时</a:t>
            </a:r>
            <a:r>
              <a:rPr lang="zh-CN" sz="2000" b="0">
                <a:ea typeface="宋体" panose="02010600030101010101" pitchFamily="2" charset="-122"/>
              </a:rPr>
              <a:t>使用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就可以控制机器人运动</a:t>
            </a:r>
            <a:r>
              <a:rPr lang="zh-CN" sz="2000" b="0">
                <a:latin typeface="Times New Roman" panose="02020603050405020304" charset="0"/>
                <a:ea typeface="宋体" panose="02010600030101010101" pitchFamily="2" charset="-122"/>
              </a:rPr>
              <a:t>了</a:t>
            </a:r>
            <a:r>
              <a:rPr lang="zh-CN" sz="2000" b="0">
                <a:ea typeface="宋体" panose="02010600030101010101" pitchFamily="2" charset="-122"/>
              </a:rPr>
              <a:t>。</a:t>
            </a:r>
            <a:endParaRPr lang="zh-CN" altLang="en-US" sz="2000" b="0">
              <a:ea typeface="宋体" panose="02010600030101010101" pitchFamily="2" charset="-122"/>
            </a:endParaRPr>
          </a:p>
        </p:txBody>
      </p:sp>
      <p:pic>
        <p:nvPicPr>
          <p:cNvPr id="4" name="图片 3" descr="SQX17{TUCNVA__W8XEW}0%F"/>
          <p:cNvPicPr>
            <a:picLocks noChangeAspect="1"/>
          </p:cNvPicPr>
          <p:nvPr>
            <p:custDataLst>
              <p:tags r:id="rId2"/>
            </p:custDataLst>
          </p:nvPr>
        </p:nvPicPr>
        <p:blipFill>
          <a:blip r:embed="rId3"/>
          <a:stretch>
            <a:fillRect/>
          </a:stretch>
        </p:blipFill>
        <p:spPr>
          <a:xfrm>
            <a:off x="3731895" y="2440305"/>
            <a:ext cx="4907280" cy="39973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实体机器人运行实验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383665"/>
            <a:ext cx="9230995" cy="132207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机器人四条腿</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零位如何确定？</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机器人两个终端各自所属的主机位置及两个终端的作用</a:t>
            </a:r>
            <a:r>
              <a:rPr lang="zh-CN" sz="2000" b="0">
                <a:latin typeface="Times New Roman" panose="02020603050405020304" charset="0"/>
                <a:ea typeface="宋体" panose="02010600030101010101" pitchFamily="2" charset="-122"/>
              </a:rPr>
              <a:t>是什么？</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34720"/>
            <a:ext cx="10135235" cy="4892675"/>
          </a:xfrm>
          <a:prstGeom prst="rect">
            <a:avLst/>
          </a:prstGeom>
          <a:noFill/>
          <a:ln w="9525">
            <a:noFill/>
          </a:ln>
        </p:spPr>
        <p:txBody>
          <a:bodyPr wrap="square">
            <a:spAutoFit/>
          </a:bodyPr>
          <a:p>
            <a:pPr indent="0" fontAlgn="auto">
              <a:lnSpc>
                <a:spcPct val="100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了解步态的概念，掌握</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步态的设计原理；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掌握使用</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步态进行机器人行走验证的</a:t>
            </a:r>
            <a:r>
              <a:rPr lang="zh-CN" sz="2000" b="0">
                <a:latin typeface="Times New Roman" panose="02020603050405020304" charset="0"/>
                <a:ea typeface="宋体" panose="02010600030101010101" pitchFamily="2" charset="-122"/>
              </a:rPr>
              <a:t>方法</a:t>
            </a:r>
            <a:r>
              <a:rPr lang="zh-CN" sz="2000" b="0">
                <a:ea typeface="宋体" panose="02010600030101010101" pitchFamily="2" charset="-122"/>
              </a:rPr>
              <a:t>。</a:t>
            </a:r>
            <a:endParaRPr lang="zh-CN" sz="2400" b="1">
              <a:cs typeface="方正黑体简体" charset="0"/>
            </a:endParaRPr>
          </a:p>
          <a:p>
            <a:pPr indent="0" fontAlgn="auto">
              <a:lnSpc>
                <a:spcPct val="100000"/>
              </a:lnSpc>
            </a:pP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步态下稳定行走。</a:t>
            </a:r>
            <a:endParaRPr lang="zh-CN" sz="2400" b="1">
              <a:cs typeface="方正黑体简体" charset="0"/>
            </a:endParaRPr>
          </a:p>
          <a:p>
            <a:pPr indent="0" fontAlgn="auto">
              <a:lnSpc>
                <a:spcPct val="100000"/>
              </a:lnSpc>
            </a:pPr>
            <a:r>
              <a:rPr lang="zh-CN" sz="2400" b="1">
                <a:latin typeface="微软雅黑" panose="020B0503020204020204" pitchFamily="34" charset="-122"/>
                <a:ea typeface="微软雅黑" panose="020B0503020204020204" pitchFamily="34" charset="-122"/>
                <a:cs typeface="方正黑体简体" charset="0"/>
              </a:rPr>
              <a:t>三、实验原理</a:t>
            </a:r>
            <a:endParaRPr lang="zh-CN" sz="2000" b="0">
              <a:ea typeface="宋体" panose="02010600030101010101" pitchFamily="2" charset="-122"/>
            </a:endParaRPr>
          </a:p>
          <a:p>
            <a:pPr indent="0" fontAlgn="auto">
              <a:lnSpc>
                <a:spcPct val="100000"/>
              </a:lnSpc>
            </a:pPr>
            <a:r>
              <a:rPr lang="en-US" altLang="zh-CN" sz="2000" b="0">
                <a:ea typeface="宋体" panose="02010600030101010101" pitchFamily="2" charset="-122"/>
              </a:rPr>
              <a:t>        </a:t>
            </a:r>
            <a:r>
              <a:rPr lang="zh-CN" sz="2000" b="0">
                <a:ea typeface="宋体" panose="02010600030101010101" pitchFamily="2" charset="-122"/>
              </a:rPr>
              <a:t>所谓步态，就是有关腿部摆动顺序及其时间相序等的步行模式。</a:t>
            </a:r>
            <a:r>
              <a:rPr lang="zh-CN" sz="2000" b="0">
                <a:latin typeface="Times New Roman" panose="02020603050405020304" charset="0"/>
                <a:ea typeface="宋体" panose="02010600030101010101" pitchFamily="2" charset="-122"/>
              </a:rPr>
              <a:t>如第</a:t>
            </a:r>
            <a:r>
              <a:rPr lang="en-US" sz="2000" b="0">
                <a:latin typeface="Times New Roman" panose="02020603050405020304" charset="0"/>
                <a:ea typeface="宋体" panose="02010600030101010101" pitchFamily="2" charset="-122"/>
              </a:rPr>
              <a:t>5</a:t>
            </a:r>
            <a:r>
              <a:rPr lang="zh-CN" sz="2000" b="0">
                <a:latin typeface="Times New Roman" panose="02020603050405020304" charset="0"/>
                <a:ea typeface="宋体" panose="02010600030101010101" pitchFamily="2" charset="-122"/>
              </a:rPr>
              <a:t>章所述，</a:t>
            </a:r>
            <a:r>
              <a:rPr lang="zh-CN" sz="2000" b="0">
                <a:ea typeface="宋体" panose="02010600030101010101" pitchFamily="2" charset="-122"/>
              </a:rPr>
              <a:t>对于四足机器人来说，</a:t>
            </a:r>
            <a:r>
              <a:rPr lang="zh-CN" sz="2000" b="0">
                <a:latin typeface="Times New Roman" panose="02020603050405020304" charset="0"/>
                <a:ea typeface="宋体" panose="02010600030101010101" pitchFamily="2" charset="-122"/>
              </a:rPr>
              <a:t>可</a:t>
            </a:r>
            <a:r>
              <a:rPr lang="zh-CN" sz="2000" b="0">
                <a:ea typeface="宋体" panose="02010600030101010101" pitchFamily="2" charset="-122"/>
              </a:rPr>
              <a:t>用步态周期、</a:t>
            </a:r>
            <a:r>
              <a:rPr lang="zh-CN" sz="2000" b="0">
                <a:latin typeface="Times New Roman" panose="02020603050405020304" charset="0"/>
                <a:ea typeface="宋体" panose="02010600030101010101" pitchFamily="2" charset="-122"/>
              </a:rPr>
              <a:t>步态频率、</a:t>
            </a:r>
            <a:r>
              <a:rPr lang="zh-CN" sz="2000" b="0">
                <a:ea typeface="宋体" panose="02010600030101010101" pitchFamily="2" charset="-122"/>
              </a:rPr>
              <a:t>步长、</a:t>
            </a:r>
            <a:r>
              <a:rPr lang="zh-CN" sz="2000" b="0">
                <a:latin typeface="Times New Roman" panose="02020603050405020304" charset="0"/>
                <a:ea typeface="宋体" panose="02010600030101010101" pitchFamily="2" charset="-122"/>
              </a:rPr>
              <a:t>步幅、</a:t>
            </a:r>
            <a:r>
              <a:rPr lang="zh-CN" sz="2000" b="0">
                <a:ea typeface="宋体" panose="02010600030101010101" pitchFamily="2" charset="-122"/>
              </a:rPr>
              <a:t>相对位移</a:t>
            </a:r>
            <a:r>
              <a:rPr lang="zh-CN" sz="2000" b="0">
                <a:latin typeface="Times New Roman" panose="02020603050405020304" charset="0"/>
                <a:ea typeface="宋体" panose="02010600030101010101" pitchFamily="2" charset="-122"/>
              </a:rPr>
              <a:t>、占空比</a:t>
            </a:r>
            <a:r>
              <a:rPr lang="zh-CN" sz="2000" b="0">
                <a:ea typeface="宋体" panose="02010600030101010101" pitchFamily="2" charset="-122"/>
              </a:rPr>
              <a:t>等来</a:t>
            </a:r>
            <a:r>
              <a:rPr lang="zh-CN" sz="2000" b="0">
                <a:latin typeface="Times New Roman" panose="02020603050405020304" charset="0"/>
                <a:ea typeface="宋体" panose="02010600030101010101" pitchFamily="2" charset="-122"/>
              </a:rPr>
              <a:t>进行步态描述</a:t>
            </a:r>
            <a:r>
              <a:rPr lang="zh-CN" sz="2000" b="0">
                <a:ea typeface="宋体" panose="02010600030101010101" pitchFamily="2" charset="-122"/>
              </a:rPr>
              <a:t>。</a:t>
            </a:r>
            <a:endParaRPr lang="zh-CN" sz="2000" b="0">
              <a:ea typeface="宋体" panose="02010600030101010101" pitchFamily="2" charset="-122"/>
            </a:endParaRPr>
          </a:p>
          <a:p>
            <a:pPr indent="0" fontAlgn="auto">
              <a:lnSpc>
                <a:spcPct val="100000"/>
              </a:lnSpc>
            </a:pPr>
            <a:r>
              <a:rPr lang="en-US" altLang="zh-CN" sz="2000" b="0">
                <a:ea typeface="宋体" panose="02010600030101010101" pitchFamily="2" charset="-122"/>
              </a:rPr>
              <a:t>       </a:t>
            </a:r>
            <a:r>
              <a:rPr lang="zh-CN" altLang="en-US" sz="2000" b="0">
                <a:ea typeface="宋体" panose="02010600030101010101" pitchFamily="2" charset="-122"/>
              </a:rPr>
              <a:t>四足机器人的对角小跑步态、也就是trot步态的占空比为0.5，即每条腿抬起来的时间与在地面上的时间相等，该步态下，腿抬起来完成“迈步”动作，又在地面上进行“向后蹬地”动作，从而在一个步态周期内达到机器人向前行走的效果。采用trot步态，四条腿的步态周期、步长、占空比均一致，处于一条对角线上的两条腿动作一致，且与处在另外一条对角线上的两条腿相位相反。trot步态的原理如图13.20所示。</a:t>
            </a:r>
            <a:endParaRPr lang="zh-CN" altLang="en-US" sz="2000" b="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64PU8NW0W%Y[BKMF)8J5173"/>
          <p:cNvPicPr>
            <a:picLocks noChangeAspect="1"/>
          </p:cNvPicPr>
          <p:nvPr>
            <p:custDataLst>
              <p:tags r:id="rId2"/>
            </p:custDataLst>
          </p:nvPr>
        </p:nvPicPr>
        <p:blipFill>
          <a:blip r:embed="rId3"/>
          <a:stretch>
            <a:fillRect/>
          </a:stretch>
        </p:blipFill>
        <p:spPr>
          <a:xfrm>
            <a:off x="2987675" y="926465"/>
            <a:ext cx="5768340" cy="2957830"/>
          </a:xfrm>
          <a:prstGeom prst="rect">
            <a:avLst/>
          </a:prstGeom>
        </p:spPr>
      </p:pic>
      <p:sp>
        <p:nvSpPr>
          <p:cNvPr id="100" name="文本框 99"/>
          <p:cNvSpPr txBox="1"/>
          <p:nvPr/>
        </p:nvSpPr>
        <p:spPr>
          <a:xfrm>
            <a:off x="864235" y="3884295"/>
            <a:ext cx="7617460" cy="398780"/>
          </a:xfrm>
          <a:prstGeom prst="rect">
            <a:avLst/>
          </a:prstGeom>
          <a:noFill/>
          <a:ln w="9525">
            <a:noFill/>
          </a:ln>
        </p:spPr>
        <p:txBody>
          <a:bodyPr wrap="square">
            <a:spAutoFit/>
          </a:bodyPr>
          <a:p>
            <a:pPr indent="269875"/>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13.21</a:t>
            </a:r>
            <a:r>
              <a:rPr lang="zh-CN" sz="2000" b="0">
                <a:ea typeface="宋体" panose="02010600030101010101" pitchFamily="2" charset="-122"/>
              </a:rPr>
              <a:t>为以哺乳动物</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马</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为代表的四足动物</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a:t>
            </a:r>
            <a:endParaRPr lang="zh-CN" altLang="en-US" sz="2000" b="0">
              <a:ea typeface="宋体" panose="02010600030101010101" pitchFamily="2" charset="-122"/>
            </a:endParaRPr>
          </a:p>
        </p:txBody>
      </p:sp>
      <p:pic>
        <p:nvPicPr>
          <p:cNvPr id="5" name="图片 4" descr="23O4[6]V$[8_H(R%@M)BFTB"/>
          <p:cNvPicPr>
            <a:picLocks noChangeAspect="1"/>
          </p:cNvPicPr>
          <p:nvPr>
            <p:custDataLst>
              <p:tags r:id="rId4"/>
            </p:custDataLst>
          </p:nvPr>
        </p:nvPicPr>
        <p:blipFill>
          <a:blip r:embed="rId5"/>
          <a:stretch>
            <a:fillRect/>
          </a:stretch>
        </p:blipFill>
        <p:spPr>
          <a:xfrm>
            <a:off x="2547620" y="4361180"/>
            <a:ext cx="7096760" cy="1955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75385"/>
            <a:ext cx="9518650" cy="398780"/>
          </a:xfrm>
          <a:prstGeom prst="rect">
            <a:avLst/>
          </a:prstGeom>
          <a:noFill/>
          <a:ln w="9525">
            <a:noFill/>
          </a:ln>
        </p:spPr>
        <p:txBody>
          <a:bodyPr wrap="square">
            <a:spAutoFit/>
          </a:bodyPr>
          <a:p>
            <a:pPr indent="269875"/>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13.22</a:t>
            </a:r>
            <a:r>
              <a:rPr lang="zh-CN" sz="2000" b="0">
                <a:ea typeface="宋体" panose="02010600030101010101" pitchFamily="2" charset="-122"/>
              </a:rPr>
              <a:t>为一个步态周期中四足机器人各</a:t>
            </a:r>
            <a:r>
              <a:rPr lang="zh-CN" sz="2000" b="0">
                <a:latin typeface="Times New Roman" panose="02020603050405020304" charset="0"/>
                <a:ea typeface="宋体" panose="02010600030101010101" pitchFamily="2" charset="-122"/>
              </a:rPr>
              <a:t>条</a:t>
            </a:r>
            <a:r>
              <a:rPr lang="zh-CN" sz="2000" b="0">
                <a:ea typeface="宋体" panose="02010600030101010101" pitchFamily="2" charset="-122"/>
              </a:rPr>
              <a:t>腿抬放时间占一个步态周期的比例。</a:t>
            </a:r>
            <a:endParaRPr lang="zh-CN" altLang="en-US" sz="2000" b="0">
              <a:ea typeface="宋体" panose="02010600030101010101" pitchFamily="2" charset="-122"/>
            </a:endParaRPr>
          </a:p>
        </p:txBody>
      </p:sp>
      <p:pic>
        <p:nvPicPr>
          <p:cNvPr id="4" name="图片 3" descr="ZB(X%@PV2Y4A)R00SG}BA3J"/>
          <p:cNvPicPr>
            <a:picLocks noChangeAspect="1"/>
          </p:cNvPicPr>
          <p:nvPr>
            <p:custDataLst>
              <p:tags r:id="rId2"/>
            </p:custDataLst>
          </p:nvPr>
        </p:nvPicPr>
        <p:blipFill>
          <a:blip r:embed="rId3"/>
          <a:stretch>
            <a:fillRect/>
          </a:stretch>
        </p:blipFill>
        <p:spPr>
          <a:xfrm>
            <a:off x="3738880" y="1574165"/>
            <a:ext cx="4714875" cy="2992755"/>
          </a:xfrm>
          <a:prstGeom prst="rect">
            <a:avLst/>
          </a:prstGeom>
        </p:spPr>
      </p:pic>
      <p:sp>
        <p:nvSpPr>
          <p:cNvPr id="5" name="文本框 4"/>
          <p:cNvSpPr txBox="1"/>
          <p:nvPr/>
        </p:nvSpPr>
        <p:spPr>
          <a:xfrm>
            <a:off x="864235" y="4660265"/>
            <a:ext cx="10194925" cy="209169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zh-CN" sz="2000" b="0">
                <a:latin typeface="Times New Roman" panose="02020603050405020304" charset="0"/>
                <a:ea typeface="宋体" panose="02010600030101010101" pitchFamily="2" charset="-122"/>
              </a:rPr>
              <a:t>本书配套资源（</a:t>
            </a:r>
            <a:r>
              <a:rPr lang="en-US" sz="2000" b="0">
                <a:latin typeface="Times New Roman" panose="02020603050405020304" charset="0"/>
                <a:ea typeface="宋体" panose="02010600030101010101" pitchFamily="2" charset="-122"/>
              </a:rPr>
              <a:t>vs code</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找到步态相关代码</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ConvexMPCLocomotion.cpp</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，根据实验原理将设计好的</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步态植入代码中，如图</a:t>
            </a:r>
            <a:r>
              <a:rPr lang="en-US" sz="2000" b="0">
                <a:latin typeface="Times New Roman" panose="02020603050405020304" charset="0"/>
                <a:ea typeface="宋体" panose="02010600030101010101" pitchFamily="2" charset="-122"/>
              </a:rPr>
              <a:t>13.23</a:t>
            </a:r>
            <a:r>
              <a:rPr lang="zh-CN" sz="2000" b="0">
                <a:ea typeface="宋体" panose="02010600030101010101" pitchFamily="2" charset="-122"/>
              </a:rPr>
              <a:t>所示。</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在控制界面中</a:t>
            </a:r>
            <a:r>
              <a:rPr lang="zh-CN" sz="2000" b="0">
                <a:latin typeface="Times New Roman" panose="02020603050405020304" charset="0"/>
                <a:ea typeface="宋体" panose="02010600030101010101" pitchFamily="2" charset="-122"/>
              </a:rPr>
              <a:t>为</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设计</a:t>
            </a:r>
            <a:r>
              <a:rPr lang="zh-CN" sz="2000" b="0">
                <a:ea typeface="宋体" panose="02010600030101010101" pitchFamily="2" charset="-122"/>
              </a:rPr>
              <a:t>序号，本实验</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机器人</a:t>
            </a:r>
            <a:r>
              <a:rPr lang="zh-CN" sz="2000" b="0">
                <a:latin typeface="Times New Roman" panose="02020603050405020304" charset="0"/>
                <a:ea typeface="宋体" panose="02010600030101010101" pitchFamily="2" charset="-122"/>
              </a:rPr>
              <a:t>的默认</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设计</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13.24</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LVOK3SH`(6TC@6[L[Z]L]PY"/>
          <p:cNvPicPr>
            <a:picLocks noChangeAspect="1"/>
          </p:cNvPicPr>
          <p:nvPr>
            <p:custDataLst>
              <p:tags r:id="rId2"/>
            </p:custDataLst>
          </p:nvPr>
        </p:nvPicPr>
        <p:blipFill>
          <a:blip r:embed="rId3"/>
          <a:stretch>
            <a:fillRect/>
          </a:stretch>
        </p:blipFill>
        <p:spPr>
          <a:xfrm>
            <a:off x="1004570" y="880745"/>
            <a:ext cx="10182225" cy="50958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97585"/>
            <a:ext cx="10135870" cy="86042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，按环境配置时的编译方法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修改好的步态类型进行编译，编译指令为</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make -j4</a:t>
            </a:r>
            <a:r>
              <a:rPr lang="zh-CN" sz="2000" b="0">
                <a:ea typeface="宋体" panose="02010600030101010101" pitchFamily="2" charset="-122"/>
              </a:rPr>
              <a:t>或</a:t>
            </a:r>
            <a:r>
              <a:rPr lang="en-US" sz="2000" b="0">
                <a:latin typeface="Times New Roman" panose="02020603050405020304" charset="0"/>
                <a:ea typeface="宋体" panose="02010600030101010101" pitchFamily="2" charset="-122"/>
              </a:rPr>
              <a:t>j8</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13.25</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4" name="图片 3" descr="_(MG`WXTC8QI)[GFR9C5H{4"/>
          <p:cNvPicPr>
            <a:picLocks noChangeAspect="1"/>
          </p:cNvPicPr>
          <p:nvPr>
            <p:custDataLst>
              <p:tags r:id="rId2"/>
            </p:custDataLst>
          </p:nvPr>
        </p:nvPicPr>
        <p:blipFill>
          <a:blip r:embed="rId3"/>
          <a:stretch>
            <a:fillRect/>
          </a:stretch>
        </p:blipFill>
        <p:spPr>
          <a:xfrm>
            <a:off x="3148330" y="1899920"/>
            <a:ext cx="5895340" cy="2840990"/>
          </a:xfrm>
          <a:prstGeom prst="rect">
            <a:avLst/>
          </a:prstGeom>
        </p:spPr>
      </p:pic>
      <p:sp>
        <p:nvSpPr>
          <p:cNvPr id="5" name="文本框 4"/>
          <p:cNvSpPr txBox="1"/>
          <p:nvPr/>
        </p:nvSpPr>
        <p:spPr>
          <a:xfrm>
            <a:off x="864235" y="4782820"/>
            <a:ext cx="10135235" cy="124523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将机器人用网线与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相</a:t>
            </a:r>
            <a:r>
              <a:rPr lang="zh-CN" sz="2000" b="0">
                <a:ea typeface="宋体" panose="02010600030101010101" pitchFamily="2" charset="-122"/>
              </a:rPr>
              <a:t>连，在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中新开</a:t>
            </a:r>
            <a:r>
              <a:rPr lang="zh-CN" sz="2000" b="0">
                <a:latin typeface="Times New Roman" panose="02020603050405020304" charset="0"/>
                <a:ea typeface="宋体" panose="02010600030101010101" pitchFamily="2" charset="-122"/>
              </a:rPr>
              <a:t>一个</a:t>
            </a:r>
            <a:r>
              <a:rPr lang="zh-CN" sz="2000" b="0">
                <a:ea typeface="宋体" panose="02010600030101010101" pitchFamily="2" charset="-122"/>
              </a:rPr>
              <a:t>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连接机器人，之后回到上位机终端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，将编译完成的程序下载到机器人中，如图</a:t>
            </a:r>
            <a:r>
              <a:rPr lang="en-US" sz="2000" b="0">
                <a:latin typeface="Times New Roman" panose="02020603050405020304" charset="0"/>
                <a:ea typeface="宋体" panose="02010600030101010101" pitchFamily="2" charset="-122"/>
              </a:rPr>
              <a:t>13.26</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MN{_RQF%EZ{SV$Q([9SLPZ3"/>
          <p:cNvPicPr>
            <a:picLocks noChangeAspect="1"/>
          </p:cNvPicPr>
          <p:nvPr>
            <p:custDataLst>
              <p:tags r:id="rId2"/>
            </p:custDataLst>
          </p:nvPr>
        </p:nvPicPr>
        <p:blipFill>
          <a:blip r:embed="rId3"/>
          <a:stretch>
            <a:fillRect/>
          </a:stretch>
        </p:blipFill>
        <p:spPr>
          <a:xfrm>
            <a:off x="2085340" y="863600"/>
            <a:ext cx="8062595" cy="2831465"/>
          </a:xfrm>
          <a:prstGeom prst="rect">
            <a:avLst/>
          </a:prstGeom>
        </p:spPr>
      </p:pic>
      <p:sp>
        <p:nvSpPr>
          <p:cNvPr id="100" name="文本框 99"/>
          <p:cNvSpPr txBox="1"/>
          <p:nvPr/>
        </p:nvSpPr>
        <p:spPr>
          <a:xfrm>
            <a:off x="864235" y="3869055"/>
            <a:ext cx="10504805" cy="163004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在机器人终端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运行实体机器人，如图</a:t>
            </a:r>
            <a:r>
              <a:rPr lang="en-US" sz="2000" b="0">
                <a:latin typeface="Times New Roman" panose="02020603050405020304" charset="0"/>
                <a:ea typeface="宋体" panose="02010600030101010101" pitchFamily="2" charset="-122"/>
              </a:rPr>
              <a:t>13.27</a:t>
            </a:r>
            <a:r>
              <a:rPr lang="zh-CN" sz="2000" b="0">
                <a:ea typeface="宋体" panose="02010600030101010101" pitchFamily="2" charset="-122"/>
              </a:rPr>
              <a:t>所示。同时在步骤</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的上位机终端中运行控制界面，选择</a:t>
            </a:r>
            <a:r>
              <a:rPr lang="en-US" sz="2000" b="0">
                <a:latin typeface="Times New Roman" panose="02020603050405020304" charset="0"/>
                <a:ea typeface="宋体" panose="02010600030101010101" pitchFamily="2" charset="-122"/>
              </a:rPr>
              <a:t>Mini Cheetah</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Robot</a:t>
            </a:r>
            <a:r>
              <a:rPr lang="zh-CN" sz="2000" b="0">
                <a:latin typeface="Times New Roman" panose="02020603050405020304" charset="0"/>
                <a:ea typeface="宋体" panose="02010600030101010101" pitchFamily="2" charset="-122"/>
              </a:rPr>
              <a:t>选项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13.28</a:t>
            </a:r>
            <a:r>
              <a:rPr lang="zh-CN" sz="2000" b="0">
                <a:ea typeface="宋体" panose="02010600030101010101" pitchFamily="2" charset="-122"/>
              </a:rPr>
              <a:t>所示，将控制界面中的</a:t>
            </a:r>
            <a:r>
              <a:rPr lang="en-US" sz="2000" b="0">
                <a:latin typeface="Times New Roman" panose="02020603050405020304" charset="0"/>
                <a:ea typeface="宋体" panose="02010600030101010101" pitchFamily="2" charset="-122"/>
              </a:rPr>
              <a:t>use_rc</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仿真时为</a:t>
            </a:r>
            <a:r>
              <a:rPr lang="en-US" sz="2000" b="0">
                <a:latin typeface="Times New Roman" panose="02020603050405020304" charset="0"/>
                <a:ea typeface="宋体" panose="02010600030101010101" pitchFamily="2" charset="-122"/>
              </a:rPr>
              <a:t>0</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，之后依次</a:t>
            </a:r>
            <a:r>
              <a:rPr lang="zh-CN" sz="2000" b="0">
                <a:latin typeface="Times New Roman" panose="02020603050405020304" charset="0"/>
                <a:ea typeface="宋体" panose="02010600030101010101" pitchFamily="2" charset="-122"/>
              </a:rPr>
              <a:t>修</a:t>
            </a:r>
            <a:r>
              <a:rPr lang="zh-CN" sz="2000" b="0">
                <a:ea typeface="宋体" panose="02010600030101010101" pitchFamily="2" charset="-122"/>
              </a:rPr>
              <a:t>改</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值</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分别</a:t>
            </a:r>
            <a:r>
              <a:rPr lang="zh-CN" sz="2000" b="0">
                <a:latin typeface="Times New Roman" panose="02020603050405020304" charset="0"/>
                <a:ea typeface="宋体" panose="02010600030101010101" pitchFamily="2" charset="-122"/>
              </a:rPr>
              <a:t>表示</a:t>
            </a:r>
            <a:r>
              <a:rPr lang="zh-CN" sz="2000" b="0">
                <a:ea typeface="宋体" panose="02010600030101010101" pitchFamily="2" charset="-122"/>
              </a:rPr>
              <a:t>机器人站起、预备运动</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以</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步态运动</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观察机器人</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步态是否为</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若是，</a:t>
            </a:r>
            <a:r>
              <a:rPr lang="zh-CN" sz="2000" b="0">
                <a:ea typeface="宋体" panose="02010600030101010101" pitchFamily="2" charset="-122"/>
              </a:rPr>
              <a:t>可以用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控制机器人</a:t>
            </a:r>
            <a:r>
              <a:rPr lang="zh-CN" sz="2000" b="0">
                <a:latin typeface="Times New Roman" panose="02020603050405020304" charset="0"/>
                <a:ea typeface="宋体" panose="02010600030101010101" pitchFamily="2" charset="-122"/>
              </a:rPr>
              <a:t>运</a:t>
            </a:r>
            <a:r>
              <a:rPr lang="zh-CN" sz="2000" b="0">
                <a:ea typeface="宋体" panose="02010600030101010101" pitchFamily="2" charset="-122"/>
              </a:rPr>
              <a:t>动。</a:t>
            </a:r>
            <a:endParaRPr lang="zh-CN" altLang="en-US" sz="2000" b="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4.trot</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09C3BAM`2Z46T9V]7M8SZWD"/>
          <p:cNvPicPr>
            <a:picLocks noChangeAspect="1"/>
          </p:cNvPicPr>
          <p:nvPr>
            <p:custDataLst>
              <p:tags r:id="rId2"/>
            </p:custDataLst>
          </p:nvPr>
        </p:nvPicPr>
        <p:blipFill>
          <a:blip r:embed="rId3"/>
          <a:stretch>
            <a:fillRect/>
          </a:stretch>
        </p:blipFill>
        <p:spPr>
          <a:xfrm>
            <a:off x="675005" y="1310005"/>
            <a:ext cx="5453380" cy="2983865"/>
          </a:xfrm>
          <a:prstGeom prst="rect">
            <a:avLst/>
          </a:prstGeom>
        </p:spPr>
      </p:pic>
      <p:pic>
        <p:nvPicPr>
          <p:cNvPr id="5" name="图片 4" descr="(0LY6AFJI$G~0U6`O@MNKOI"/>
          <p:cNvPicPr>
            <a:picLocks noChangeAspect="1"/>
          </p:cNvPicPr>
          <p:nvPr>
            <p:custDataLst>
              <p:tags r:id="rId4"/>
            </p:custDataLst>
          </p:nvPr>
        </p:nvPicPr>
        <p:blipFill>
          <a:blip r:embed="rId5"/>
          <a:stretch>
            <a:fillRect/>
          </a:stretch>
        </p:blipFill>
        <p:spPr>
          <a:xfrm>
            <a:off x="6502400" y="1310005"/>
            <a:ext cx="5388610" cy="3286125"/>
          </a:xfrm>
          <a:prstGeom prst="rect">
            <a:avLst/>
          </a:prstGeom>
        </p:spPr>
      </p:pic>
      <p:sp>
        <p:nvSpPr>
          <p:cNvPr id="100" name="文本框 99"/>
          <p:cNvSpPr txBox="1"/>
          <p:nvPr/>
        </p:nvSpPr>
        <p:spPr>
          <a:xfrm>
            <a:off x="864235" y="4914900"/>
            <a:ext cx="10734040" cy="93726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五、思考题</a:t>
            </a:r>
            <a:r>
              <a:rPr lang="zh-CN" sz="2000" b="0">
                <a:ea typeface="宋体" panose="02010600030101010101" pitchFamily="2" charset="-122"/>
              </a:rPr>
              <a:t>从机器人稳定性</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角度分析，为什么说</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步态是四足机器人最稳定的运动步态</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04900"/>
            <a:ext cx="10434320" cy="416941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步态的设计原理；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掌握使用</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步态进行机器人行走验证的</a:t>
            </a:r>
            <a:r>
              <a:rPr lang="zh-CN" sz="2000" b="0">
                <a:latin typeface="Times New Roman" panose="02020603050405020304" charset="0"/>
                <a:ea typeface="宋体" panose="02010600030101010101" pitchFamily="2" charset="-122"/>
              </a:rPr>
              <a:t>方法</a:t>
            </a:r>
            <a:r>
              <a:rPr lang="zh-CN" sz="2000" b="0">
                <a:ea typeface="宋体" panose="02010600030101010101" pitchFamily="2" charset="-122"/>
              </a:rPr>
              <a:t>。</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步态下稳定行走。</a:t>
            </a:r>
            <a:endParaRPr lang="zh-CN" sz="2400" b="1">
              <a:cs typeface="方正黑体简体" charset="0"/>
            </a:endParaRPr>
          </a:p>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三、实验原理</a:t>
            </a:r>
            <a:endParaRPr lang="zh-CN" sz="2000" b="0">
              <a:latin typeface="Times New Roman" panose="02020603050405020304" charset="0"/>
              <a:ea typeface="宋体" panose="02010600030101010101" pitchFamily="2" charset="-122"/>
            </a:endParaRPr>
          </a:p>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在</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下</a:t>
            </a:r>
            <a:r>
              <a:rPr lang="zh-CN" sz="2000" b="0">
                <a:ea typeface="宋体" panose="02010600030101010101" pitchFamily="2" charset="-122"/>
              </a:rPr>
              <a:t>，机器人两条前腿</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两条后腿分别同时运动，</a:t>
            </a:r>
            <a:r>
              <a:rPr lang="zh-CN" sz="2000" b="0">
                <a:latin typeface="Times New Roman" panose="02020603050405020304" charset="0"/>
                <a:ea typeface="宋体" panose="02010600030101010101" pitchFamily="2" charset="-122"/>
              </a:rPr>
              <a:t>机器人</a:t>
            </a:r>
            <a:r>
              <a:rPr lang="zh-CN" sz="2000" b="0">
                <a:ea typeface="宋体" panose="02010600030101010101" pitchFamily="2" charset="-122"/>
              </a:rPr>
              <a:t>主要利用后腿的蹬地动作完成跳跃</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13.29</a:t>
            </a:r>
            <a:r>
              <a:rPr lang="zh-CN" sz="2000" b="0">
                <a:ea typeface="宋体" panose="02010600030101010101" pitchFamily="2" charset="-122"/>
              </a:rPr>
              <a:t>所示</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该步态下</a:t>
            </a:r>
            <a:r>
              <a:rPr lang="zh-CN" sz="2000" b="0">
                <a:ea typeface="宋体" panose="02010600030101010101" pitchFamily="2" charset="-122"/>
              </a:rPr>
              <a:t>一般</a:t>
            </a:r>
            <a:r>
              <a:rPr lang="zh-CN" sz="2000" b="0">
                <a:latin typeface="Times New Roman" panose="02020603050405020304" charset="0"/>
                <a:ea typeface="宋体" panose="02010600030101010101" pitchFamily="2" charset="-122"/>
              </a:rPr>
              <a:t>占空比为</a:t>
            </a:r>
            <a:r>
              <a:rPr lang="en-US" sz="2000" b="0">
                <a:latin typeface="Times New Roman" panose="02020603050405020304" charset="0"/>
                <a:ea typeface="宋体" panose="02010600030101010101" pitchFamily="2" charset="-122"/>
              </a:rPr>
              <a:t>0.5</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机器人</a:t>
            </a:r>
            <a:r>
              <a:rPr lang="zh-CN" sz="2000" b="0">
                <a:ea typeface="宋体" panose="02010600030101010101" pitchFamily="2" charset="-122"/>
              </a:rPr>
              <a:t>前进时躯体会有明显的俯仰运动。</a:t>
            </a:r>
            <a:endParaRPr lang="zh-CN" altLang="en-US" sz="2000" b="0">
              <a:ea typeface="宋体" panose="02010600030101010101" pitchFamily="2" charset="-122"/>
            </a:endParaRPr>
          </a:p>
        </p:txBody>
      </p:sp>
      <p:pic>
        <p:nvPicPr>
          <p:cNvPr id="4" name="图片 3" descr="Y3~YOV4]P@[YS@48]TL[8EI"/>
          <p:cNvPicPr>
            <a:picLocks noChangeAspect="1"/>
          </p:cNvPicPr>
          <p:nvPr>
            <p:custDataLst>
              <p:tags r:id="rId2"/>
            </p:custDataLst>
          </p:nvPr>
        </p:nvPicPr>
        <p:blipFill>
          <a:blip r:embed="rId3"/>
          <a:stretch>
            <a:fillRect/>
          </a:stretch>
        </p:blipFill>
        <p:spPr>
          <a:xfrm>
            <a:off x="2888615" y="4959985"/>
            <a:ext cx="6369050" cy="17487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876300"/>
            <a:ext cx="5080000" cy="475615"/>
          </a:xfrm>
          <a:prstGeom prst="rect">
            <a:avLst/>
          </a:prstGeom>
          <a:noFill/>
          <a:ln w="9525">
            <a:noFill/>
          </a:ln>
        </p:spPr>
        <p:txBody>
          <a:bodyPr>
            <a:spAutoFit/>
          </a:bodyPr>
          <a:p>
            <a:pPr indent="0" fontAlgn="auto">
              <a:lnSpc>
                <a:spcPct val="125000"/>
              </a:lnSpc>
            </a:pP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13.30</a:t>
            </a:r>
            <a:r>
              <a:rPr lang="zh-CN" sz="2000" b="0">
                <a:ea typeface="宋体" panose="02010600030101010101" pitchFamily="2" charset="-122"/>
              </a:rPr>
              <a:t>为哺乳动物的</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a:t>
            </a:r>
            <a:endParaRPr lang="zh-CN" altLang="en-US" sz="2000" b="0">
              <a:ea typeface="宋体" panose="02010600030101010101" pitchFamily="2" charset="-122"/>
            </a:endParaRPr>
          </a:p>
        </p:txBody>
      </p:sp>
      <p:pic>
        <p:nvPicPr>
          <p:cNvPr id="2" name="图片 1" descr="D~WEGW[10E871%3P]NS[LZD"/>
          <p:cNvPicPr>
            <a:picLocks noChangeAspect="1"/>
          </p:cNvPicPr>
          <p:nvPr>
            <p:custDataLst>
              <p:tags r:id="rId2"/>
            </p:custDataLst>
          </p:nvPr>
        </p:nvPicPr>
        <p:blipFill>
          <a:blip r:embed="rId3"/>
          <a:stretch>
            <a:fillRect/>
          </a:stretch>
        </p:blipFill>
        <p:spPr>
          <a:xfrm>
            <a:off x="2717800" y="1351915"/>
            <a:ext cx="6756400" cy="1595755"/>
          </a:xfrm>
          <a:prstGeom prst="rect">
            <a:avLst/>
          </a:prstGeom>
        </p:spPr>
      </p:pic>
      <p:sp>
        <p:nvSpPr>
          <p:cNvPr id="4" name="文本框 3"/>
          <p:cNvSpPr txBox="1"/>
          <p:nvPr/>
        </p:nvSpPr>
        <p:spPr>
          <a:xfrm>
            <a:off x="864235" y="3106420"/>
            <a:ext cx="9737725" cy="475615"/>
          </a:xfrm>
          <a:prstGeom prst="rect">
            <a:avLst/>
          </a:prstGeom>
          <a:noFill/>
          <a:ln w="9525">
            <a:noFill/>
          </a:ln>
        </p:spPr>
        <p:txBody>
          <a:bodyPr wrap="square">
            <a:spAutoFit/>
          </a:bodyPr>
          <a:p>
            <a:pPr indent="0" fontAlgn="auto">
              <a:lnSpc>
                <a:spcPct val="125000"/>
              </a:lnSpc>
            </a:pP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13.31</a:t>
            </a:r>
            <a:r>
              <a:rPr lang="zh-CN" sz="2000" b="0">
                <a:ea typeface="宋体" panose="02010600030101010101" pitchFamily="2" charset="-122"/>
              </a:rPr>
              <a:t>为一个</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步态周期中各腿</a:t>
            </a:r>
            <a:r>
              <a:rPr lang="zh-CN" sz="2000" b="0">
                <a:latin typeface="Times New Roman" panose="02020603050405020304" charset="0"/>
                <a:ea typeface="宋体" panose="02010600030101010101" pitchFamily="2" charset="-122"/>
              </a:rPr>
              <a:t>支撑相、摆动相</a:t>
            </a:r>
            <a:r>
              <a:rPr lang="zh-CN" sz="2000" b="0">
                <a:ea typeface="宋体" panose="02010600030101010101" pitchFamily="2" charset="-122"/>
              </a:rPr>
              <a:t>时间占周期的比例。</a:t>
            </a:r>
            <a:endParaRPr lang="zh-CN" altLang="en-US" sz="2000" b="0">
              <a:ea typeface="宋体" panose="02010600030101010101" pitchFamily="2" charset="-122"/>
            </a:endParaRPr>
          </a:p>
        </p:txBody>
      </p:sp>
      <p:pic>
        <p:nvPicPr>
          <p:cNvPr id="5" name="图片 4" descr="Y3D3SA3JI2JCFFIQ86QJW[S"/>
          <p:cNvPicPr>
            <a:picLocks noChangeAspect="1"/>
          </p:cNvPicPr>
          <p:nvPr>
            <p:custDataLst>
              <p:tags r:id="rId4"/>
            </p:custDataLst>
          </p:nvPr>
        </p:nvPicPr>
        <p:blipFill>
          <a:blip r:embed="rId5"/>
          <a:stretch>
            <a:fillRect/>
          </a:stretch>
        </p:blipFill>
        <p:spPr>
          <a:xfrm>
            <a:off x="4169410" y="3740785"/>
            <a:ext cx="3852545" cy="26409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45540"/>
            <a:ext cx="10085705" cy="1322070"/>
          </a:xfrm>
          <a:prstGeom prst="rect">
            <a:avLst/>
          </a:prstGeom>
          <a:noFill/>
          <a:ln w="9525">
            <a:noFill/>
          </a:ln>
        </p:spPr>
        <p:txBody>
          <a:bodyPr wrap="square">
            <a:spAutoFit/>
          </a:bodyPr>
          <a:p>
            <a:pPr indent="0" fontAlgn="auto">
              <a:lnSpc>
                <a:spcPct val="125000"/>
              </a:lnSpc>
            </a:pPr>
            <a:r>
              <a:rPr lang="zh-CN" sz="2400" b="1">
                <a:cs typeface="方正黑体简体" charset="0"/>
              </a:rPr>
              <a:t>四、实验步骤</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zh-CN" sz="2000" b="0">
                <a:latin typeface="Times New Roman" panose="02020603050405020304" charset="0"/>
                <a:ea typeface="宋体" panose="02010600030101010101" pitchFamily="2" charset="-122"/>
              </a:rPr>
              <a:t>本书配套资源中</a:t>
            </a:r>
            <a:r>
              <a:rPr lang="zh-CN" sz="2000" b="0">
                <a:ea typeface="宋体" panose="02010600030101010101" pitchFamily="2" charset="-122"/>
              </a:rPr>
              <a:t>的</a:t>
            </a:r>
            <a:r>
              <a:rPr lang="en-US" sz="2000" b="0">
                <a:latin typeface="Times New Roman" panose="02020603050405020304" charset="0"/>
                <a:ea typeface="宋体" panose="02010600030101010101" pitchFamily="2" charset="-122"/>
              </a:rPr>
              <a:t>ConvexMPCLocomotion.cpp</a:t>
            </a:r>
            <a:r>
              <a:rPr lang="zh-CN" sz="2000" b="0">
                <a:ea typeface="宋体" panose="02010600030101010101" pitchFamily="2" charset="-122"/>
              </a:rPr>
              <a:t>中找到步态相关代码，将设计好的</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步态植入代码中，如图</a:t>
            </a:r>
            <a:r>
              <a:rPr lang="en-US" sz="2000" b="0">
                <a:latin typeface="Times New Roman" panose="02020603050405020304" charset="0"/>
                <a:ea typeface="宋体" panose="02010600030101010101" pitchFamily="2" charset="-122"/>
              </a:rPr>
              <a:t>13.32</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J5~V_K$(T]H`H2(Y{4RA53"/>
          <p:cNvPicPr>
            <a:picLocks noChangeAspect="1"/>
          </p:cNvPicPr>
          <p:nvPr>
            <p:custDataLst>
              <p:tags r:id="rId2"/>
            </p:custDataLst>
          </p:nvPr>
        </p:nvPicPr>
        <p:blipFill>
          <a:blip r:embed="rId3"/>
          <a:stretch>
            <a:fillRect/>
          </a:stretch>
        </p:blipFill>
        <p:spPr>
          <a:xfrm>
            <a:off x="1760220" y="2600325"/>
            <a:ext cx="8672195" cy="3429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88720"/>
            <a:ext cx="9856470" cy="1630045"/>
          </a:xfrm>
          <a:prstGeom prst="rect">
            <a:avLst/>
          </a:prstGeom>
          <a:noFill/>
          <a:ln w="9525">
            <a:noFill/>
          </a:ln>
        </p:spPr>
        <p:txBody>
          <a:bodyPr wrap="square">
            <a:spAutoFit/>
          </a:bodyPr>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将设计好的</a:t>
            </a:r>
            <a:r>
              <a:rPr lang="en-US" sz="2000" b="0">
                <a:latin typeface="Times New Roman" panose="02020603050405020304" charset="0"/>
                <a:ea typeface="宋体" panose="02010600030101010101" pitchFamily="2" charset="-122"/>
              </a:rPr>
              <a:t>Bound</a:t>
            </a:r>
            <a:r>
              <a:rPr lang="zh-CN" sz="2000" b="0">
                <a:latin typeface="Times New Roman" panose="02020603050405020304" charset="0"/>
                <a:ea typeface="宋体" panose="02010600030101010101" pitchFamily="2" charset="-122"/>
              </a:rPr>
              <a:t>步态指定在控制界面中的步态序号</a:t>
            </a:r>
            <a:r>
              <a:rPr lang="zh-CN" sz="2000" b="0">
                <a:ea typeface="宋体" panose="02010600030101010101" pitchFamily="2" charset="-122"/>
              </a:rPr>
              <a:t>，本实验</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机器人</a:t>
            </a:r>
            <a:r>
              <a:rPr lang="zh-CN" sz="2000" b="0">
                <a:latin typeface="Times New Roman" panose="02020603050405020304" charset="0"/>
                <a:ea typeface="宋体" panose="02010600030101010101" pitchFamily="2" charset="-122"/>
              </a:rPr>
              <a:t>的默认</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设计</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13.33</a:t>
            </a:r>
            <a:r>
              <a:rPr lang="zh-CN" sz="2000" b="0">
                <a:ea typeface="宋体" panose="02010600030101010101" pitchFamily="2" charset="-122"/>
              </a:rPr>
              <a:t>所示。</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，按环境配置时的编译方法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修改好的步态类型进行编译，编译指令</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make -j4</a:t>
            </a:r>
            <a:r>
              <a:rPr lang="zh-CN" sz="2000" b="0">
                <a:ea typeface="宋体" panose="02010600030101010101" pitchFamily="2" charset="-122"/>
              </a:rPr>
              <a:t>或</a:t>
            </a:r>
            <a:r>
              <a:rPr lang="en-US" sz="2000" b="0">
                <a:latin typeface="Times New Roman" panose="02020603050405020304" charset="0"/>
                <a:ea typeface="宋体" panose="02010600030101010101" pitchFamily="2" charset="-122"/>
              </a:rPr>
              <a:t>j8</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13.34</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1ZX23O`FLIN0EH}@RT15N@U"/>
          <p:cNvPicPr>
            <a:picLocks noChangeAspect="1"/>
          </p:cNvPicPr>
          <p:nvPr>
            <p:custDataLst>
              <p:tags r:id="rId2"/>
            </p:custDataLst>
          </p:nvPr>
        </p:nvPicPr>
        <p:blipFill>
          <a:blip r:embed="rId3"/>
          <a:stretch>
            <a:fillRect/>
          </a:stretch>
        </p:blipFill>
        <p:spPr>
          <a:xfrm>
            <a:off x="1023620" y="2938145"/>
            <a:ext cx="10144125" cy="29527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08710"/>
            <a:ext cx="9937115" cy="124523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将机器人用网线与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相</a:t>
            </a:r>
            <a:r>
              <a:rPr lang="zh-CN" sz="2000" b="0">
                <a:ea typeface="宋体" panose="02010600030101010101" pitchFamily="2" charset="-122"/>
              </a:rPr>
              <a:t>连，在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中新开</a:t>
            </a:r>
            <a:r>
              <a:rPr lang="zh-CN" sz="2000" b="0">
                <a:latin typeface="Times New Roman" panose="02020603050405020304" charset="0"/>
                <a:ea typeface="宋体" panose="02010600030101010101" pitchFamily="2" charset="-122"/>
              </a:rPr>
              <a:t>一个</a:t>
            </a:r>
            <a:r>
              <a:rPr lang="zh-CN" sz="2000" b="0">
                <a:ea typeface="宋体" panose="02010600030101010101" pitchFamily="2" charset="-122"/>
              </a:rPr>
              <a:t>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连接机器人，之后回到上位机终端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，将编译完成的程序下载到机器人中，如图</a:t>
            </a:r>
            <a:r>
              <a:rPr lang="en-US" sz="2000" b="0">
                <a:latin typeface="Times New Roman" panose="02020603050405020304" charset="0"/>
                <a:ea typeface="宋体" panose="02010600030101010101" pitchFamily="2" charset="-122"/>
              </a:rPr>
              <a:t>13.35</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F)T9(~7BMD((37VG]QU7MK"/>
          <p:cNvPicPr>
            <a:picLocks noChangeAspect="1"/>
          </p:cNvPicPr>
          <p:nvPr>
            <p:custDataLst>
              <p:tags r:id="rId2"/>
            </p:custDataLst>
          </p:nvPr>
        </p:nvPicPr>
        <p:blipFill>
          <a:blip r:embed="rId3"/>
          <a:stretch>
            <a:fillRect/>
          </a:stretch>
        </p:blipFill>
        <p:spPr>
          <a:xfrm>
            <a:off x="1776730" y="2603500"/>
            <a:ext cx="8639175" cy="29241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42340"/>
            <a:ext cx="10365740" cy="201485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在机器人终端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运行实体机器人，如图</a:t>
            </a:r>
            <a:r>
              <a:rPr lang="en-US" sz="2000" b="0">
                <a:latin typeface="Times New Roman" panose="02020603050405020304" charset="0"/>
                <a:ea typeface="宋体" panose="02010600030101010101" pitchFamily="2" charset="-122"/>
              </a:rPr>
              <a:t>13.36</a:t>
            </a:r>
            <a:r>
              <a:rPr lang="zh-CN" sz="2000" b="0">
                <a:ea typeface="宋体" panose="02010600030101010101" pitchFamily="2" charset="-122"/>
              </a:rPr>
              <a:t>所示。同时在步骤</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的上位机终端中运行控制界面，选择</a:t>
            </a:r>
            <a:r>
              <a:rPr lang="en-US" sz="2000" b="0">
                <a:latin typeface="Times New Roman" panose="02020603050405020304" charset="0"/>
                <a:ea typeface="宋体" panose="02010600030101010101" pitchFamily="2" charset="-122"/>
              </a:rPr>
              <a:t>Mini Cheetah</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Robot</a:t>
            </a:r>
            <a:r>
              <a:rPr lang="zh-CN" sz="2000" b="0">
                <a:latin typeface="Times New Roman" panose="02020603050405020304" charset="0"/>
                <a:ea typeface="宋体" panose="02010600030101010101" pitchFamily="2" charset="-122"/>
              </a:rPr>
              <a:t>选项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13.37</a:t>
            </a:r>
            <a:r>
              <a:rPr lang="zh-CN" sz="2000" b="0">
                <a:ea typeface="宋体" panose="02010600030101010101" pitchFamily="2" charset="-122"/>
              </a:rPr>
              <a:t>所示，将控制界面中的</a:t>
            </a:r>
            <a:r>
              <a:rPr lang="en-US" sz="2000" b="0">
                <a:latin typeface="Times New Roman" panose="02020603050405020304" charset="0"/>
                <a:ea typeface="宋体" panose="02010600030101010101" pitchFamily="2" charset="-122"/>
              </a:rPr>
              <a:t>use_rc</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仿真时为</a:t>
            </a:r>
            <a:r>
              <a:rPr lang="en-US" sz="2000" b="0">
                <a:latin typeface="Times New Roman" panose="02020603050405020304" charset="0"/>
                <a:ea typeface="宋体" panose="02010600030101010101" pitchFamily="2" charset="-122"/>
              </a:rPr>
              <a:t>0</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，之后依次</a:t>
            </a:r>
            <a:r>
              <a:rPr lang="zh-CN" sz="2000" b="0">
                <a:latin typeface="Times New Roman" panose="02020603050405020304" charset="0"/>
                <a:ea typeface="宋体" panose="02010600030101010101" pitchFamily="2" charset="-122"/>
              </a:rPr>
              <a:t>修</a:t>
            </a:r>
            <a:r>
              <a:rPr lang="zh-CN" sz="2000" b="0">
                <a:ea typeface="宋体" panose="02010600030101010101" pitchFamily="2" charset="-122"/>
              </a:rPr>
              <a:t>改</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值</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分别</a:t>
            </a:r>
            <a:r>
              <a:rPr lang="zh-CN" sz="2000" b="0">
                <a:latin typeface="Times New Roman" panose="02020603050405020304" charset="0"/>
                <a:ea typeface="宋体" panose="02010600030101010101" pitchFamily="2" charset="-122"/>
              </a:rPr>
              <a:t>表示</a:t>
            </a:r>
            <a:r>
              <a:rPr lang="zh-CN" sz="2000" b="0">
                <a:ea typeface="宋体" panose="02010600030101010101" pitchFamily="2" charset="-122"/>
              </a:rPr>
              <a:t>机器人站起、预备运动</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以</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步态运动</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。之后将控制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的</a:t>
            </a:r>
            <a:r>
              <a:rPr lang="en-US" sz="2000" b="0">
                <a:latin typeface="Times New Roman" panose="02020603050405020304" charset="0"/>
                <a:ea typeface="宋体" panose="02010600030101010101" pitchFamily="2" charset="-122"/>
              </a:rPr>
              <a:t>gait_type</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1</a:t>
            </a:r>
            <a:r>
              <a:rPr lang="zh-CN" sz="2000" b="0">
                <a:ea typeface="宋体" panose="02010600030101010101" pitchFamily="2" charset="-122"/>
              </a:rPr>
              <a:t>，观察机器人步态是否变化为</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若是，</a:t>
            </a:r>
            <a:r>
              <a:rPr lang="zh-CN" sz="2000" b="0">
                <a:ea typeface="宋体" panose="02010600030101010101" pitchFamily="2" charset="-122"/>
              </a:rPr>
              <a:t>可以用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控制机器人</a:t>
            </a:r>
            <a:r>
              <a:rPr lang="zh-CN" sz="2000" b="0">
                <a:latin typeface="Times New Roman" panose="02020603050405020304" charset="0"/>
                <a:ea typeface="宋体" panose="02010600030101010101" pitchFamily="2" charset="-122"/>
              </a:rPr>
              <a:t>运</a:t>
            </a:r>
            <a:r>
              <a:rPr lang="zh-CN" sz="2000" b="0">
                <a:ea typeface="宋体" panose="02010600030101010101" pitchFamily="2" charset="-122"/>
              </a:rPr>
              <a:t>动。</a:t>
            </a:r>
            <a:endParaRPr lang="zh-CN" altLang="en-US" sz="2000" b="0">
              <a:ea typeface="宋体" panose="02010600030101010101" pitchFamily="2" charset="-122"/>
            </a:endParaRPr>
          </a:p>
        </p:txBody>
      </p:sp>
      <p:pic>
        <p:nvPicPr>
          <p:cNvPr id="2" name="图片 1" descr="42S(A@JZP@IK2HWUHU13FLR"/>
          <p:cNvPicPr>
            <a:picLocks noChangeAspect="1"/>
          </p:cNvPicPr>
          <p:nvPr>
            <p:custDataLst>
              <p:tags r:id="rId2"/>
            </p:custDataLst>
          </p:nvPr>
        </p:nvPicPr>
        <p:blipFill>
          <a:blip r:embed="rId3"/>
          <a:stretch>
            <a:fillRect/>
          </a:stretch>
        </p:blipFill>
        <p:spPr>
          <a:xfrm>
            <a:off x="2768600" y="2908935"/>
            <a:ext cx="6694170" cy="35693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BVI(~WH@00WRF~9WK0AB7L"/>
          <p:cNvPicPr>
            <a:picLocks noChangeAspect="1"/>
          </p:cNvPicPr>
          <p:nvPr>
            <p:custDataLst>
              <p:tags r:id="rId1"/>
            </p:custDataLst>
          </p:nvPr>
        </p:nvPicPr>
        <p:blipFill>
          <a:blip r:embed="rId2"/>
          <a:stretch>
            <a:fillRect/>
          </a:stretch>
        </p:blipFill>
        <p:spPr>
          <a:xfrm>
            <a:off x="2692400" y="950595"/>
            <a:ext cx="6807835" cy="4177030"/>
          </a:xfrm>
          <a:prstGeom prst="rect">
            <a:avLst/>
          </a:prstGeom>
        </p:spPr>
      </p:pic>
      <p:sp>
        <p:nvSpPr>
          <p:cNvPr id="3" name="文本框 2"/>
          <p:cNvSpPr txBox="1"/>
          <p:nvPr>
            <p:custDataLst>
              <p:tags r:id="rId3"/>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5.bound</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5389245"/>
            <a:ext cx="8065770" cy="1076325"/>
          </a:xfrm>
          <a:prstGeom prst="rect">
            <a:avLst/>
          </a:prstGeom>
          <a:noFill/>
          <a:ln w="9525">
            <a:noFill/>
          </a:ln>
        </p:spPr>
        <p:txBody>
          <a:bodyPr wrap="square">
            <a:spAutoFit/>
          </a:bodyPr>
          <a:p>
            <a:pPr indent="0"/>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在什么情况下</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步态的占空比会小于</a:t>
            </a:r>
            <a:r>
              <a:rPr lang="en-US" sz="2000" b="0">
                <a:latin typeface="Times New Roman" panose="02020603050405020304" charset="0"/>
                <a:ea typeface="宋体" panose="02010600030101010101" pitchFamily="2" charset="-122"/>
              </a:rPr>
              <a:t>0.5</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bound</a:t>
            </a:r>
            <a:r>
              <a:rPr lang="zh-CN" sz="2000" b="0">
                <a:ea typeface="宋体" panose="02010600030101010101" pitchFamily="2" charset="-122"/>
              </a:rPr>
              <a:t>步态在复杂地形中</a:t>
            </a:r>
            <a:r>
              <a:rPr lang="zh-CN" sz="2000" b="0">
                <a:latin typeface="Times New Roman" panose="02020603050405020304" charset="0"/>
                <a:ea typeface="宋体" panose="02010600030101010101" pitchFamily="2" charset="-122"/>
              </a:rPr>
              <a:t>有哪些</a:t>
            </a:r>
            <a:r>
              <a:rPr lang="zh-CN" sz="2000" b="0">
                <a:ea typeface="宋体" panose="02010600030101010101" pitchFamily="2" charset="-122"/>
              </a:rPr>
              <a:t>具体应用</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13765"/>
            <a:ext cx="10344150" cy="3046095"/>
          </a:xfrm>
          <a:prstGeom prst="rect">
            <a:avLst/>
          </a:prstGeom>
          <a:noFill/>
          <a:ln w="9525">
            <a:noFill/>
          </a:ln>
        </p:spPr>
        <p:txBody>
          <a:bodyPr wrap="square">
            <a:spAutoFit/>
          </a:bodyPr>
          <a:p>
            <a:pPr indent="0"/>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步态的设计原理；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掌握使用</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步态进行机器人行走验证的</a:t>
            </a:r>
            <a:r>
              <a:rPr lang="zh-CN" sz="2000" b="0">
                <a:latin typeface="Times New Roman" panose="02020603050405020304" charset="0"/>
                <a:ea typeface="宋体" panose="02010600030101010101" pitchFamily="2" charset="-122"/>
              </a:rPr>
              <a:t>方法</a:t>
            </a:r>
            <a:r>
              <a:rPr lang="zh-CN" sz="2000" b="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步态下稳定行走。</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三、实验原理</a:t>
            </a:r>
            <a:r>
              <a:rPr lang="en-US" sz="2000" b="0">
                <a:latin typeface="Times New Roman" panose="02020603050405020304" charset="0"/>
                <a:ea typeface="宋体" panose="02010600030101010101" pitchFamily="2" charset="-122"/>
              </a:rPr>
              <a:t>        pace</a:t>
            </a:r>
            <a:r>
              <a:rPr lang="zh-CN" sz="2000" b="0">
                <a:ea typeface="宋体" panose="02010600030101010101" pitchFamily="2" charset="-122"/>
              </a:rPr>
              <a:t>步态占空比</a:t>
            </a:r>
            <a:r>
              <a:rPr lang="zh-CN" sz="2000" b="0">
                <a:latin typeface="Times New Roman" panose="02020603050405020304" charset="0"/>
                <a:ea typeface="宋体" panose="02010600030101010101" pitchFamily="2" charset="-122"/>
              </a:rPr>
              <a:t>也</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0.5</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该步态下机器人</a:t>
            </a:r>
            <a:r>
              <a:rPr lang="zh-CN" sz="2000" b="0">
                <a:ea typeface="宋体" panose="02010600030101010101" pitchFamily="2" charset="-122"/>
              </a:rPr>
              <a:t>同侧的两条腿同时迈步、相位相同，其原理如图</a:t>
            </a:r>
            <a:r>
              <a:rPr lang="en-US" sz="2000" b="0">
                <a:latin typeface="Times New Roman" panose="02020603050405020304" charset="0"/>
                <a:ea typeface="宋体" panose="02010600030101010101" pitchFamily="2" charset="-122"/>
              </a:rPr>
              <a:t>13.8</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46`N}WVKSJRIX)L%S3PYR74"/>
          <p:cNvPicPr>
            <a:picLocks noChangeAspect="1"/>
          </p:cNvPicPr>
          <p:nvPr>
            <p:custDataLst>
              <p:tags r:id="rId2"/>
            </p:custDataLst>
          </p:nvPr>
        </p:nvPicPr>
        <p:blipFill>
          <a:blip r:embed="rId3"/>
          <a:stretch>
            <a:fillRect/>
          </a:stretch>
        </p:blipFill>
        <p:spPr>
          <a:xfrm>
            <a:off x="3198495" y="3885565"/>
            <a:ext cx="5675630" cy="259778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04900"/>
            <a:ext cx="6353810" cy="398780"/>
          </a:xfrm>
          <a:prstGeom prst="rect">
            <a:avLst/>
          </a:prstGeom>
          <a:noFill/>
          <a:ln w="9525">
            <a:noFill/>
          </a:ln>
        </p:spPr>
        <p:txBody>
          <a:bodyPr wrap="square">
            <a:spAutoFit/>
          </a:bodyPr>
          <a:p>
            <a:pPr indent="269875"/>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13.39</a:t>
            </a:r>
            <a:r>
              <a:rPr lang="zh-CN" sz="2000" b="0">
                <a:ea typeface="宋体" panose="02010600030101010101" pitchFamily="2" charset="-122"/>
              </a:rPr>
              <a:t>为以马为代表的四足动物</a:t>
            </a:r>
            <a:r>
              <a:rPr lang="zh-CN" sz="2000" b="0">
                <a:latin typeface="Times New Roman" panose="02020603050405020304" charset="0"/>
                <a:ea typeface="宋体" panose="02010600030101010101" pitchFamily="2" charset="-122"/>
              </a:rPr>
              <a:t>的</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a:t>
            </a:r>
            <a:endParaRPr lang="zh-CN" altLang="en-US" sz="2000" b="0">
              <a:ea typeface="宋体" panose="02010600030101010101" pitchFamily="2" charset="-122"/>
            </a:endParaRPr>
          </a:p>
        </p:txBody>
      </p:sp>
      <p:pic>
        <p:nvPicPr>
          <p:cNvPr id="2" name="图片 1" descr=")Y$KI%G1W$@NJ2_C3`_{%2E"/>
          <p:cNvPicPr>
            <a:picLocks noChangeAspect="1"/>
          </p:cNvPicPr>
          <p:nvPr>
            <p:custDataLst>
              <p:tags r:id="rId2"/>
            </p:custDataLst>
          </p:nvPr>
        </p:nvPicPr>
        <p:blipFill>
          <a:blip r:embed="rId3"/>
          <a:stretch>
            <a:fillRect/>
          </a:stretch>
        </p:blipFill>
        <p:spPr>
          <a:xfrm>
            <a:off x="2941320" y="1623695"/>
            <a:ext cx="6308725" cy="1670685"/>
          </a:xfrm>
          <a:prstGeom prst="rect">
            <a:avLst/>
          </a:prstGeom>
        </p:spPr>
      </p:pic>
      <p:sp>
        <p:nvSpPr>
          <p:cNvPr id="4" name="文本框 3"/>
          <p:cNvSpPr txBox="1"/>
          <p:nvPr/>
        </p:nvSpPr>
        <p:spPr>
          <a:xfrm>
            <a:off x="864235" y="3495040"/>
            <a:ext cx="9707880" cy="398780"/>
          </a:xfrm>
          <a:prstGeom prst="rect">
            <a:avLst/>
          </a:prstGeom>
          <a:noFill/>
          <a:ln w="9525">
            <a:noFill/>
          </a:ln>
        </p:spPr>
        <p:txBody>
          <a:bodyPr wrap="square">
            <a:spAutoFit/>
          </a:bodyPr>
          <a:p>
            <a:pPr indent="269875"/>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13.40</a:t>
            </a:r>
            <a:r>
              <a:rPr lang="zh-CN" sz="2000" b="0">
                <a:ea typeface="宋体" panose="02010600030101010101" pitchFamily="2" charset="-122"/>
              </a:rPr>
              <a:t>为一个</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步态周期中各腿</a:t>
            </a:r>
            <a:r>
              <a:rPr lang="zh-CN" sz="2000" b="0">
                <a:latin typeface="Times New Roman" panose="02020603050405020304" charset="0"/>
                <a:ea typeface="宋体" panose="02010600030101010101" pitchFamily="2" charset="-122"/>
              </a:rPr>
              <a:t>支撑相、摆动相</a:t>
            </a:r>
            <a:r>
              <a:rPr lang="zh-CN" sz="2000" b="0">
                <a:ea typeface="宋体" panose="02010600030101010101" pitchFamily="2" charset="-122"/>
              </a:rPr>
              <a:t>时间占周期的比例。</a:t>
            </a:r>
            <a:endParaRPr lang="zh-CN" altLang="en-US" sz="2000" b="0">
              <a:ea typeface="宋体" panose="02010600030101010101" pitchFamily="2" charset="-122"/>
            </a:endParaRPr>
          </a:p>
        </p:txBody>
      </p:sp>
      <p:pic>
        <p:nvPicPr>
          <p:cNvPr id="5" name="图片 4" descr="AD2I}TI{K35NKVTX`}6HF`9"/>
          <p:cNvPicPr>
            <a:picLocks noChangeAspect="1"/>
          </p:cNvPicPr>
          <p:nvPr>
            <p:custDataLst>
              <p:tags r:id="rId4"/>
            </p:custDataLst>
          </p:nvPr>
        </p:nvPicPr>
        <p:blipFill>
          <a:blip r:embed="rId5"/>
          <a:stretch>
            <a:fillRect/>
          </a:stretch>
        </p:blipFill>
        <p:spPr>
          <a:xfrm>
            <a:off x="4400550" y="3917950"/>
            <a:ext cx="3391535" cy="241427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53160"/>
            <a:ext cx="9508490" cy="132207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zh-CN" sz="2000" b="0">
                <a:latin typeface="Times New Roman" panose="02020603050405020304" charset="0"/>
                <a:ea typeface="宋体" panose="02010600030101010101" pitchFamily="2" charset="-122"/>
              </a:rPr>
              <a:t>本书配套资源中</a:t>
            </a:r>
            <a:r>
              <a:rPr lang="zh-CN" sz="2000" b="0">
                <a:ea typeface="宋体" panose="02010600030101010101" pitchFamily="2" charset="-122"/>
              </a:rPr>
              <a:t>找到步态相关代码，将设计好的</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步态植入代码中，如图</a:t>
            </a:r>
            <a:r>
              <a:rPr lang="en-US" sz="2000" b="0">
                <a:latin typeface="Times New Roman" panose="02020603050405020304" charset="0"/>
                <a:ea typeface="宋体" panose="02010600030101010101" pitchFamily="2" charset="-122"/>
              </a:rPr>
              <a:t>13.41</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E}4N_VY[K~B)[V[7YLEZQIS"/>
          <p:cNvPicPr>
            <a:picLocks noChangeAspect="1"/>
          </p:cNvPicPr>
          <p:nvPr>
            <p:custDataLst>
              <p:tags r:id="rId2"/>
            </p:custDataLst>
          </p:nvPr>
        </p:nvPicPr>
        <p:blipFill>
          <a:blip r:embed="rId3"/>
          <a:stretch>
            <a:fillRect/>
          </a:stretch>
        </p:blipFill>
        <p:spPr>
          <a:xfrm>
            <a:off x="2352040" y="2475230"/>
            <a:ext cx="7488555" cy="1713865"/>
          </a:xfrm>
          <a:prstGeom prst="rect">
            <a:avLst/>
          </a:prstGeom>
        </p:spPr>
      </p:pic>
      <p:sp>
        <p:nvSpPr>
          <p:cNvPr id="4" name="文本框 3"/>
          <p:cNvSpPr txBox="1"/>
          <p:nvPr/>
        </p:nvSpPr>
        <p:spPr>
          <a:xfrm>
            <a:off x="864235" y="4324350"/>
            <a:ext cx="9507855" cy="1630045"/>
          </a:xfrm>
          <a:prstGeom prst="rect">
            <a:avLst/>
          </a:prstGeom>
          <a:noFill/>
          <a:ln w="9525">
            <a:noFill/>
          </a:ln>
        </p:spPr>
        <p:txBody>
          <a:bodyPr wrap="square">
            <a:spAutoFit/>
          </a:bodyPr>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将设计好的</a:t>
            </a:r>
            <a:r>
              <a:rPr lang="en-US" sz="2000" b="0">
                <a:latin typeface="Times New Roman" panose="02020603050405020304" charset="0"/>
                <a:ea typeface="宋体" panose="02010600030101010101" pitchFamily="2" charset="-122"/>
              </a:rPr>
              <a:t>pace</a:t>
            </a:r>
            <a:r>
              <a:rPr lang="zh-CN" sz="2000" b="0">
                <a:latin typeface="Times New Roman" panose="02020603050405020304" charset="0"/>
                <a:ea typeface="宋体" panose="02010600030101010101" pitchFamily="2" charset="-122"/>
              </a:rPr>
              <a:t>步态指定在控制界面中的步态序号</a:t>
            </a:r>
            <a:r>
              <a:rPr lang="zh-CN" sz="2000" b="0">
                <a:ea typeface="宋体" panose="02010600030101010101" pitchFamily="2" charset="-122"/>
              </a:rPr>
              <a:t>，本实验</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机器人</a:t>
            </a:r>
            <a:r>
              <a:rPr lang="zh-CN" sz="2000" b="0">
                <a:latin typeface="Times New Roman" panose="02020603050405020304" charset="0"/>
                <a:ea typeface="宋体" panose="02010600030101010101" pitchFamily="2" charset="-122"/>
              </a:rPr>
              <a:t>的默认</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设计</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13.42</a:t>
            </a:r>
            <a:r>
              <a:rPr lang="zh-CN" sz="2000" b="0">
                <a:ea typeface="宋体" panose="02010600030101010101" pitchFamily="2" charset="-122"/>
              </a:rPr>
              <a:t>所示。</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，按环境配置时的编译方法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修改好的步态类型进行编译，编译指令</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make -j4</a:t>
            </a:r>
            <a:r>
              <a:rPr lang="zh-CN" sz="2000" b="0">
                <a:ea typeface="宋体" panose="02010600030101010101" pitchFamily="2" charset="-122"/>
              </a:rPr>
              <a:t>或</a:t>
            </a:r>
            <a:r>
              <a:rPr lang="en-US" sz="2000" b="0">
                <a:latin typeface="Times New Roman" panose="02020603050405020304" charset="0"/>
                <a:ea typeface="宋体" panose="02010600030101010101" pitchFamily="2" charset="-122"/>
              </a:rPr>
              <a:t>j8</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13.43</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D]BXQN5LDV{3DBD~LWCPAL8"/>
          <p:cNvPicPr>
            <a:picLocks noChangeAspect="1"/>
          </p:cNvPicPr>
          <p:nvPr>
            <p:custDataLst>
              <p:tags r:id="rId2"/>
            </p:custDataLst>
          </p:nvPr>
        </p:nvPicPr>
        <p:blipFill>
          <a:blip r:embed="rId3"/>
          <a:stretch>
            <a:fillRect/>
          </a:stretch>
        </p:blipFill>
        <p:spPr>
          <a:xfrm>
            <a:off x="1890395" y="1065530"/>
            <a:ext cx="8411210" cy="2468880"/>
          </a:xfrm>
          <a:prstGeom prst="rect">
            <a:avLst/>
          </a:prstGeom>
        </p:spPr>
      </p:pic>
      <p:sp>
        <p:nvSpPr>
          <p:cNvPr id="100" name="文本框 99"/>
          <p:cNvSpPr txBox="1"/>
          <p:nvPr/>
        </p:nvSpPr>
        <p:spPr>
          <a:xfrm>
            <a:off x="864235" y="4167505"/>
            <a:ext cx="9846945" cy="124523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将机器人用网线与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相</a:t>
            </a:r>
            <a:r>
              <a:rPr lang="zh-CN" sz="2000" b="0">
                <a:ea typeface="宋体" panose="02010600030101010101" pitchFamily="2" charset="-122"/>
              </a:rPr>
              <a:t>连，在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中新开</a:t>
            </a:r>
            <a:r>
              <a:rPr lang="zh-CN" sz="2000" b="0">
                <a:latin typeface="Times New Roman" panose="02020603050405020304" charset="0"/>
                <a:ea typeface="宋体" panose="02010600030101010101" pitchFamily="2" charset="-122"/>
              </a:rPr>
              <a:t>一个</a:t>
            </a:r>
            <a:r>
              <a:rPr lang="zh-CN" sz="2000" b="0">
                <a:ea typeface="宋体" panose="02010600030101010101" pitchFamily="2" charset="-122"/>
              </a:rPr>
              <a:t>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连接机器人，之后回到上位机终端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，将编译完成的程序下载到机器人中，如图</a:t>
            </a:r>
            <a:r>
              <a:rPr lang="en-US" sz="2000" b="0">
                <a:latin typeface="Times New Roman" panose="02020603050405020304" charset="0"/>
                <a:ea typeface="宋体" panose="02010600030101010101" pitchFamily="2" charset="-122"/>
              </a:rPr>
              <a:t>13.44</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J@5V@5XB~[O]TX}OTDIYODM"/>
          <p:cNvPicPr>
            <a:picLocks noChangeAspect="1"/>
          </p:cNvPicPr>
          <p:nvPr>
            <p:custDataLst>
              <p:tags r:id="rId2"/>
            </p:custDataLst>
          </p:nvPr>
        </p:nvPicPr>
        <p:blipFill>
          <a:blip r:embed="rId3"/>
          <a:stretch>
            <a:fillRect/>
          </a:stretch>
        </p:blipFill>
        <p:spPr>
          <a:xfrm>
            <a:off x="2657475" y="915035"/>
            <a:ext cx="6877050" cy="2419350"/>
          </a:xfrm>
          <a:prstGeom prst="rect">
            <a:avLst/>
          </a:prstGeom>
        </p:spPr>
      </p:pic>
      <p:sp>
        <p:nvSpPr>
          <p:cNvPr id="100" name="文本框 99"/>
          <p:cNvSpPr txBox="1"/>
          <p:nvPr/>
        </p:nvSpPr>
        <p:spPr>
          <a:xfrm>
            <a:off x="864235" y="3560445"/>
            <a:ext cx="9876790" cy="201485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在机器人终端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运行实体机器人，如图</a:t>
            </a:r>
            <a:r>
              <a:rPr lang="en-US" sz="2000" b="0">
                <a:latin typeface="Times New Roman" panose="02020603050405020304" charset="0"/>
                <a:ea typeface="宋体" panose="02010600030101010101" pitchFamily="2" charset="-122"/>
              </a:rPr>
              <a:t>13.45</a:t>
            </a:r>
            <a:r>
              <a:rPr lang="zh-CN" sz="2000" b="0">
                <a:ea typeface="宋体" panose="02010600030101010101" pitchFamily="2" charset="-122"/>
              </a:rPr>
              <a:t>所示。同时在步骤</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的上位机终端中运行控制界面，选择</a:t>
            </a:r>
            <a:r>
              <a:rPr lang="en-US" sz="2000" b="0">
                <a:latin typeface="Times New Roman" panose="02020603050405020304" charset="0"/>
                <a:ea typeface="宋体" panose="02010600030101010101" pitchFamily="2" charset="-122"/>
              </a:rPr>
              <a:t>Mini Cheetah</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Robot</a:t>
            </a:r>
            <a:r>
              <a:rPr lang="zh-CN" sz="2000" b="0">
                <a:latin typeface="Times New Roman" panose="02020603050405020304" charset="0"/>
                <a:ea typeface="宋体" panose="02010600030101010101" pitchFamily="2" charset="-122"/>
              </a:rPr>
              <a:t>选项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13.46</a:t>
            </a:r>
            <a:r>
              <a:rPr lang="zh-CN" sz="2000" b="0">
                <a:ea typeface="宋体" panose="02010600030101010101" pitchFamily="2" charset="-122"/>
              </a:rPr>
              <a:t>所示，将控制界面中的</a:t>
            </a:r>
            <a:r>
              <a:rPr lang="en-US" sz="2000" b="0">
                <a:latin typeface="Times New Roman" panose="02020603050405020304" charset="0"/>
                <a:ea typeface="宋体" panose="02010600030101010101" pitchFamily="2" charset="-122"/>
              </a:rPr>
              <a:t>use_rc</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仿真时为</a:t>
            </a:r>
            <a:r>
              <a:rPr lang="en-US" sz="2000" b="0">
                <a:latin typeface="Times New Roman" panose="02020603050405020304" charset="0"/>
                <a:ea typeface="宋体" panose="02010600030101010101" pitchFamily="2" charset="-122"/>
              </a:rPr>
              <a:t>0</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，之后依次改动</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值</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分别</a:t>
            </a:r>
            <a:r>
              <a:rPr lang="zh-CN" sz="2000" b="0">
                <a:latin typeface="Times New Roman" panose="02020603050405020304" charset="0"/>
                <a:ea typeface="宋体" panose="02010600030101010101" pitchFamily="2" charset="-122"/>
              </a:rPr>
              <a:t>表示</a:t>
            </a:r>
            <a:r>
              <a:rPr lang="zh-CN" sz="2000" b="0">
                <a:ea typeface="宋体" panose="02010600030101010101" pitchFamily="2" charset="-122"/>
              </a:rPr>
              <a:t>机器人站起、预备运动</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以</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步态运动</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。之后将控制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的</a:t>
            </a:r>
            <a:r>
              <a:rPr lang="en-US" sz="2000" b="0">
                <a:latin typeface="Times New Roman" panose="02020603050405020304" charset="0"/>
                <a:ea typeface="宋体" panose="02010600030101010101" pitchFamily="2" charset="-122"/>
              </a:rPr>
              <a:t>gait_type</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8</a:t>
            </a:r>
            <a:r>
              <a:rPr lang="zh-CN" sz="2000" b="0">
                <a:ea typeface="宋体" panose="02010600030101010101" pitchFamily="2" charset="-122"/>
              </a:rPr>
              <a:t>，观察机器人步态是否变化为</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若是，</a:t>
            </a:r>
            <a:r>
              <a:rPr lang="zh-CN" sz="2000" b="0">
                <a:ea typeface="宋体" panose="02010600030101010101" pitchFamily="2" charset="-122"/>
              </a:rPr>
              <a:t>此时可以用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控制机器人</a:t>
            </a:r>
            <a:r>
              <a:rPr lang="zh-CN" sz="2000" b="0">
                <a:latin typeface="Times New Roman" panose="02020603050405020304" charset="0"/>
                <a:ea typeface="宋体" panose="02010600030101010101" pitchFamily="2" charset="-122"/>
              </a:rPr>
              <a:t>运</a:t>
            </a:r>
            <a:r>
              <a:rPr lang="zh-CN" sz="2000" b="0">
                <a:ea typeface="宋体" panose="02010600030101010101" pitchFamily="2" charset="-122"/>
              </a:rPr>
              <a:t>动。</a:t>
            </a:r>
            <a:endParaRPr lang="zh-CN" altLang="en-US" sz="2000" b="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86TK@A7Z$J`~T{H$(@H[U6W"/>
          <p:cNvPicPr>
            <a:picLocks noChangeAspect="1"/>
          </p:cNvPicPr>
          <p:nvPr>
            <p:custDataLst>
              <p:tags r:id="rId1"/>
            </p:custDataLst>
          </p:nvPr>
        </p:nvPicPr>
        <p:blipFill>
          <a:blip r:embed="rId2"/>
          <a:stretch>
            <a:fillRect/>
          </a:stretch>
        </p:blipFill>
        <p:spPr>
          <a:xfrm>
            <a:off x="864235" y="1016635"/>
            <a:ext cx="4660900" cy="2632710"/>
          </a:xfrm>
          <a:prstGeom prst="rect">
            <a:avLst/>
          </a:prstGeom>
        </p:spPr>
      </p:pic>
      <p:sp>
        <p:nvSpPr>
          <p:cNvPr id="3" name="文本框 2"/>
          <p:cNvSpPr txBox="1"/>
          <p:nvPr>
            <p:custDataLst>
              <p:tags r:id="rId3"/>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6.pace</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6TC2EF@8IHOS@{8AA@Z36~M"/>
          <p:cNvPicPr>
            <a:picLocks noChangeAspect="1"/>
          </p:cNvPicPr>
          <p:nvPr>
            <p:custDataLst>
              <p:tags r:id="rId4"/>
            </p:custDataLst>
          </p:nvPr>
        </p:nvPicPr>
        <p:blipFill>
          <a:blip r:embed="rId5"/>
          <a:stretch>
            <a:fillRect/>
          </a:stretch>
        </p:blipFill>
        <p:spPr>
          <a:xfrm>
            <a:off x="6264275" y="1016635"/>
            <a:ext cx="5266690" cy="3268980"/>
          </a:xfrm>
          <a:prstGeom prst="rect">
            <a:avLst/>
          </a:prstGeom>
        </p:spPr>
      </p:pic>
      <p:sp>
        <p:nvSpPr>
          <p:cNvPr id="100" name="文本框 99"/>
          <p:cNvSpPr txBox="1"/>
          <p:nvPr/>
        </p:nvSpPr>
        <p:spPr>
          <a:xfrm>
            <a:off x="864235" y="4817110"/>
            <a:ext cx="9549130" cy="132207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步态下，机器人的俯仰角、横滚角会如何变化</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pace</a:t>
            </a:r>
            <a:r>
              <a:rPr lang="zh-CN" sz="2000" b="0">
                <a:ea typeface="宋体" panose="02010600030101010101" pitchFamily="2" charset="-122"/>
              </a:rPr>
              <a:t>步态下，机器人如何保持平衡</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69010"/>
            <a:ext cx="10195560" cy="493903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步态的设计原理；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掌握使用</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步态进行机器人行走验证的</a:t>
            </a:r>
            <a:r>
              <a:rPr lang="zh-CN" sz="2000" b="0">
                <a:latin typeface="Times New Roman" panose="02020603050405020304" charset="0"/>
                <a:ea typeface="宋体" panose="02010600030101010101" pitchFamily="2" charset="-122"/>
              </a:rPr>
              <a:t>方法</a:t>
            </a:r>
            <a:r>
              <a:rPr lang="zh-CN" sz="2000" b="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步态下稳定行走。</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三、实验原理</a:t>
            </a:r>
            <a:r>
              <a:rPr lang="en-US" sz="2000" b="0">
                <a:latin typeface="Times New Roman" panose="02020603050405020304" charset="0"/>
                <a:ea typeface="宋体" panose="02010600030101010101" pitchFamily="2" charset="-122"/>
              </a:rPr>
              <a:t>       walk</a:t>
            </a:r>
            <a:r>
              <a:rPr lang="zh-CN" sz="2000" b="0">
                <a:ea typeface="宋体" panose="02010600030101010101" pitchFamily="2" charset="-122"/>
              </a:rPr>
              <a:t>步态占空比</a:t>
            </a:r>
            <a:r>
              <a:rPr lang="en-US" sz="2000" b="0" i="1">
                <a:latin typeface="Times New Roman" panose="02020603050405020304" charset="0"/>
                <a:ea typeface="宋体" panose="02010600030101010101" pitchFamily="2" charset="-122"/>
              </a:rPr>
              <a:t>β</a:t>
            </a:r>
            <a:r>
              <a:rPr lang="en-US" sz="16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0.75</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该步态下机器人</a:t>
            </a:r>
            <a:r>
              <a:rPr lang="zh-CN" sz="2000" b="0">
                <a:ea typeface="宋体" panose="02010600030101010101" pitchFamily="2" charset="-122"/>
              </a:rPr>
              <a:t>在任意时刻至少有三条腿接触地面</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walk</a:t>
            </a:r>
            <a:r>
              <a:rPr lang="zh-CN" sz="2000" b="0">
                <a:latin typeface="Times New Roman" panose="02020603050405020304" charset="0"/>
                <a:ea typeface="宋体" panose="02010600030101010101" pitchFamily="2" charset="-122"/>
              </a:rPr>
              <a:t>步态</a:t>
            </a:r>
            <a:r>
              <a:rPr lang="zh-CN" sz="2000" b="0">
                <a:ea typeface="宋体" panose="02010600030101010101" pitchFamily="2" charset="-122"/>
              </a:rPr>
              <a:t>是一种静步态</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与</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下</a:t>
            </a:r>
            <a:r>
              <a:rPr lang="zh-CN" sz="2000" b="0">
                <a:ea typeface="宋体" panose="02010600030101010101" pitchFamily="2" charset="-122"/>
              </a:rPr>
              <a:t>对角线上两条腿同时迈步不同，</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下</a:t>
            </a:r>
            <a:r>
              <a:rPr lang="zh-CN" sz="2000" b="0">
                <a:ea typeface="宋体" panose="02010600030101010101" pitchFamily="2" charset="-122"/>
              </a:rPr>
              <a:t>的四条腿分别在不同时刻迈步，存在迈步时序</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问题。韩国的</a:t>
            </a:r>
            <a:r>
              <a:rPr lang="en-US" sz="2000" b="0">
                <a:latin typeface="Times New Roman" panose="02020603050405020304" charset="0"/>
                <a:ea typeface="宋体" panose="02010600030101010101" pitchFamily="2" charset="-122"/>
              </a:rPr>
              <a:t>Heeseon Hwang</a:t>
            </a:r>
            <a:r>
              <a:rPr lang="zh-CN" sz="2000" b="0">
                <a:ea typeface="宋体" panose="02010600030101010101" pitchFamily="2" charset="-122"/>
              </a:rPr>
              <a:t>和</a:t>
            </a:r>
            <a:r>
              <a:rPr lang="en-US" sz="2000" b="0">
                <a:latin typeface="Times New Roman" panose="02020603050405020304" charset="0"/>
                <a:ea typeface="宋体" panose="02010600030101010101" pitchFamily="2" charset="-122"/>
              </a:rPr>
              <a:t>Youngil Youm</a:t>
            </a:r>
            <a:r>
              <a:rPr lang="zh-CN" sz="2000" b="0">
                <a:ea typeface="宋体" panose="02010600030101010101" pitchFamily="2" charset="-122"/>
              </a:rPr>
              <a:t>提出了如图</a:t>
            </a:r>
            <a:r>
              <a:rPr lang="en-US" sz="2000" b="0">
                <a:latin typeface="Times New Roman" panose="02020603050405020304" charset="0"/>
                <a:ea typeface="宋体" panose="02010600030101010101" pitchFamily="2" charset="-122"/>
              </a:rPr>
              <a:t>13.47</a:t>
            </a:r>
            <a:r>
              <a:rPr lang="zh-CN" sz="2000" b="0">
                <a:ea typeface="宋体" panose="02010600030101010101" pitchFamily="2" charset="-122"/>
              </a:rPr>
              <a:t>所示的四足机器人</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步态步序，其占空比</a:t>
            </a:r>
            <a:r>
              <a:rPr lang="en-US" sz="2000" b="0" i="1">
                <a:latin typeface="Times New Roman" panose="02020603050405020304" charset="0"/>
                <a:ea typeface="宋体" panose="02010600030101010101" pitchFamily="2" charset="-122"/>
              </a:rPr>
              <a:t>β</a:t>
            </a:r>
            <a:r>
              <a:rPr lang="en-US" sz="2000" b="0">
                <a:latin typeface="Times New Roman" panose="02020603050405020304" charset="0"/>
                <a:ea typeface="宋体" panose="02010600030101010101" pitchFamily="2" charset="-122"/>
              </a:rPr>
              <a:t>=0.75</a:t>
            </a:r>
            <a:r>
              <a:rPr lang="zh-CN" sz="2000" b="0">
                <a:ea typeface="宋体" panose="02010600030101010101" pitchFamily="2" charset="-122"/>
              </a:rPr>
              <a:t>。这种</a:t>
            </a:r>
            <a:r>
              <a:rPr lang="zh-CN" sz="2000" b="0">
                <a:latin typeface="Times New Roman" panose="02020603050405020304" charset="0"/>
                <a:ea typeface="宋体" panose="02010600030101010101" pitchFamily="2" charset="-122"/>
              </a:rPr>
              <a:t>步序</a:t>
            </a:r>
            <a:r>
              <a:rPr lang="zh-CN" sz="2000" b="0">
                <a:ea typeface="宋体" panose="02010600030101010101" pitchFamily="2" charset="-122"/>
              </a:rPr>
              <a:t>已经得到实验的验证，</a:t>
            </a:r>
            <a:r>
              <a:rPr lang="zh-CN" sz="2000" b="0">
                <a:latin typeface="Times New Roman" panose="02020603050405020304" charset="0"/>
                <a:ea typeface="宋体" panose="02010600030101010101" pitchFamily="2" charset="-122"/>
              </a:rPr>
              <a:t>该步序下</a:t>
            </a:r>
            <a:r>
              <a:rPr lang="zh-CN" sz="2000" b="0">
                <a:ea typeface="宋体" panose="02010600030101010101" pitchFamily="2" charset="-122"/>
              </a:rPr>
              <a:t>机器人可以稳定前行，故本</a:t>
            </a:r>
            <a:r>
              <a:rPr lang="zh-CN" sz="2000" b="0">
                <a:latin typeface="Times New Roman" panose="02020603050405020304" charset="0"/>
                <a:ea typeface="宋体" panose="02010600030101010101" pitchFamily="2" charset="-122"/>
              </a:rPr>
              <a:t>书</a:t>
            </a:r>
            <a:r>
              <a:rPr lang="zh-CN" sz="2000" b="0">
                <a:ea typeface="宋体" panose="02010600030101010101" pitchFamily="2" charset="-122"/>
              </a:rPr>
              <a:t>采用了这种步序。</a:t>
            </a:r>
            <a:endParaRPr lang="zh-CN" altLang="en-US" sz="2000" b="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9CXG28ONCUY$]W1Z2R[2%FL"/>
          <p:cNvPicPr>
            <a:picLocks noChangeAspect="1"/>
          </p:cNvPicPr>
          <p:nvPr>
            <p:custDataLst>
              <p:tags r:id="rId2"/>
            </p:custDataLst>
          </p:nvPr>
        </p:nvPicPr>
        <p:blipFill>
          <a:blip r:embed="rId3"/>
          <a:stretch>
            <a:fillRect/>
          </a:stretch>
        </p:blipFill>
        <p:spPr>
          <a:xfrm>
            <a:off x="4157980" y="876935"/>
            <a:ext cx="3876675" cy="3233420"/>
          </a:xfrm>
          <a:prstGeom prst="rect">
            <a:avLst/>
          </a:prstGeom>
        </p:spPr>
      </p:pic>
      <p:sp>
        <p:nvSpPr>
          <p:cNvPr id="100" name="文本框 99"/>
          <p:cNvSpPr txBox="1"/>
          <p:nvPr/>
        </p:nvSpPr>
        <p:spPr>
          <a:xfrm>
            <a:off x="864235" y="4110355"/>
            <a:ext cx="6344285" cy="398780"/>
          </a:xfrm>
          <a:prstGeom prst="rect">
            <a:avLst/>
          </a:prstGeom>
          <a:noFill/>
          <a:ln w="9525">
            <a:noFill/>
          </a:ln>
        </p:spPr>
        <p:txBody>
          <a:bodyPr wrap="square">
            <a:spAutoFit/>
          </a:bodyPr>
          <a:p>
            <a:pPr indent="269875"/>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13.48</a:t>
            </a:r>
            <a:r>
              <a:rPr lang="zh-CN" sz="2000" b="0">
                <a:ea typeface="宋体" panose="02010600030101010101" pitchFamily="2" charset="-122"/>
              </a:rPr>
              <a:t>为以马为代表的四足动物</a:t>
            </a:r>
            <a:r>
              <a:rPr lang="zh-CN" sz="2000" b="0">
                <a:latin typeface="Times New Roman" panose="02020603050405020304" charset="0"/>
                <a:ea typeface="宋体" panose="02010600030101010101" pitchFamily="2" charset="-122"/>
              </a:rPr>
              <a:t>的</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a:t>
            </a:r>
            <a:endParaRPr lang="zh-CN" altLang="en-US" sz="2000" b="0">
              <a:ea typeface="宋体" panose="02010600030101010101" pitchFamily="2" charset="-122"/>
            </a:endParaRPr>
          </a:p>
        </p:txBody>
      </p:sp>
      <p:pic>
        <p:nvPicPr>
          <p:cNvPr id="5" name="图片 4" descr="RD%5)9CH65`JVJO]Y558)CL"/>
          <p:cNvPicPr>
            <a:picLocks noChangeAspect="1"/>
          </p:cNvPicPr>
          <p:nvPr>
            <p:custDataLst>
              <p:tags r:id="rId4"/>
            </p:custDataLst>
          </p:nvPr>
        </p:nvPicPr>
        <p:blipFill>
          <a:blip r:embed="rId5"/>
          <a:stretch>
            <a:fillRect/>
          </a:stretch>
        </p:blipFill>
        <p:spPr>
          <a:xfrm>
            <a:off x="2647950" y="4653915"/>
            <a:ext cx="6896100" cy="15906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226820"/>
            <a:ext cx="10166350"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13.49</a:t>
            </a:r>
            <a:r>
              <a:rPr lang="zh-CN" sz="2000" b="0">
                <a:ea typeface="宋体" panose="02010600030101010101" pitchFamily="2" charset="-122"/>
              </a:rPr>
              <a:t>为一个</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步态周期中各腿</a:t>
            </a:r>
            <a:r>
              <a:rPr lang="zh-CN" sz="2000" b="0">
                <a:latin typeface="Times New Roman" panose="02020603050405020304" charset="0"/>
                <a:ea typeface="宋体" panose="02010600030101010101" pitchFamily="2" charset="-122"/>
              </a:rPr>
              <a:t>支撑相、摆动相</a:t>
            </a:r>
            <a:r>
              <a:rPr lang="zh-CN" sz="2000" b="0">
                <a:ea typeface="宋体" panose="02010600030101010101" pitchFamily="2" charset="-122"/>
              </a:rPr>
              <a:t>时间占周期的比例，其中，虚线框中为一个</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步态周期，灰色部分为四条腿同时着地的时间，箭头方向为四条腿的</a:t>
            </a:r>
            <a:r>
              <a:rPr lang="zh-CN" sz="2000" b="0">
                <a:latin typeface="Times New Roman" panose="02020603050405020304" charset="0"/>
                <a:ea typeface="宋体" panose="02010600030101010101" pitchFamily="2" charset="-122"/>
              </a:rPr>
              <a:t>运</a:t>
            </a:r>
            <a:r>
              <a:rPr lang="zh-CN" sz="2000" b="0">
                <a:ea typeface="宋体" panose="02010600030101010101" pitchFamily="2" charset="-122"/>
              </a:rPr>
              <a:t>动顺序。</a:t>
            </a:r>
            <a:endParaRPr lang="zh-CN" altLang="en-US" sz="2000" b="0">
              <a:ea typeface="宋体" panose="02010600030101010101" pitchFamily="2" charset="-122"/>
            </a:endParaRPr>
          </a:p>
        </p:txBody>
      </p:sp>
      <p:pic>
        <p:nvPicPr>
          <p:cNvPr id="4" name="图片 3" descr="3L%0@6J_DV_6N~IBYC%VHNR"/>
          <p:cNvPicPr>
            <a:picLocks noChangeAspect="1"/>
          </p:cNvPicPr>
          <p:nvPr>
            <p:custDataLst>
              <p:tags r:id="rId2"/>
            </p:custDataLst>
          </p:nvPr>
        </p:nvPicPr>
        <p:blipFill>
          <a:blip r:embed="rId3"/>
          <a:stretch>
            <a:fillRect/>
          </a:stretch>
        </p:blipFill>
        <p:spPr>
          <a:xfrm>
            <a:off x="3489325" y="2348230"/>
            <a:ext cx="5610225" cy="37147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063625"/>
            <a:ext cx="9717405" cy="1322070"/>
          </a:xfrm>
          <a:prstGeom prst="rect">
            <a:avLst/>
          </a:prstGeom>
          <a:noFill/>
          <a:ln w="9525">
            <a:noFill/>
          </a:ln>
        </p:spPr>
        <p:txBody>
          <a:bodyPr wrap="square">
            <a:spAutoFit/>
          </a:bodyPr>
          <a:p>
            <a:pPr indent="0" fontAlgn="auto">
              <a:lnSpc>
                <a:spcPct val="125000"/>
              </a:lnSpc>
            </a:pPr>
            <a:r>
              <a:rPr lang="zh-CN" sz="2400" b="1">
                <a:cs typeface="方正黑体简体" charset="0"/>
              </a:rPr>
              <a:t>四、实验步骤</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zh-CN" sz="2000" b="0">
                <a:latin typeface="Times New Roman" panose="02020603050405020304" charset="0"/>
                <a:ea typeface="宋体" panose="02010600030101010101" pitchFamily="2" charset="-122"/>
              </a:rPr>
              <a:t>本书配套资源</a:t>
            </a:r>
            <a:r>
              <a:rPr lang="zh-CN" sz="2000" b="0">
                <a:ea typeface="宋体" panose="02010600030101010101" pitchFamily="2" charset="-122"/>
              </a:rPr>
              <a:t>中找到步态相关代码，将设计好的</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步态植入代码中，如图</a:t>
            </a:r>
            <a:r>
              <a:rPr lang="en-US" sz="2000" b="0" baseline="-25000">
                <a:latin typeface="Times New Roman" panose="02020603050405020304" charset="0"/>
                <a:ea typeface="宋体" panose="02010600030101010101" pitchFamily="2" charset="-122"/>
              </a:rPr>
              <a:t> </a:t>
            </a:r>
            <a:r>
              <a:rPr lang="en-US" sz="2000" b="0">
                <a:latin typeface="Times New Roman" panose="02020603050405020304" charset="0"/>
                <a:ea typeface="宋体" panose="02010600030101010101" pitchFamily="2" charset="-122"/>
              </a:rPr>
              <a:t>13.50</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6{V}4U8G_P(8}[{A[1)XLF2"/>
          <p:cNvPicPr>
            <a:picLocks noChangeAspect="1"/>
          </p:cNvPicPr>
          <p:nvPr>
            <p:custDataLst>
              <p:tags r:id="rId2"/>
            </p:custDataLst>
          </p:nvPr>
        </p:nvPicPr>
        <p:blipFill>
          <a:blip r:embed="rId3"/>
          <a:stretch>
            <a:fillRect/>
          </a:stretch>
        </p:blipFill>
        <p:spPr>
          <a:xfrm>
            <a:off x="1544320" y="2385695"/>
            <a:ext cx="9103995" cy="1711960"/>
          </a:xfrm>
          <a:prstGeom prst="rect">
            <a:avLst/>
          </a:prstGeom>
        </p:spPr>
      </p:pic>
      <p:sp>
        <p:nvSpPr>
          <p:cNvPr id="4" name="文本框 3"/>
          <p:cNvSpPr txBox="1"/>
          <p:nvPr/>
        </p:nvSpPr>
        <p:spPr>
          <a:xfrm>
            <a:off x="864235" y="4305935"/>
            <a:ext cx="9783445" cy="1630045"/>
          </a:xfrm>
          <a:prstGeom prst="rect">
            <a:avLst/>
          </a:prstGeom>
          <a:noFill/>
          <a:ln w="9525">
            <a:noFill/>
          </a:ln>
        </p:spPr>
        <p:txBody>
          <a:bodyPr wrap="square">
            <a:spAutoFit/>
          </a:bodyPr>
          <a:p>
            <a:pPr indent="0" fontAlgn="auto">
              <a:lnSpc>
                <a:spcPct val="125000"/>
              </a:lnSpc>
            </a:pP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将设计好的</a:t>
            </a:r>
            <a:r>
              <a:rPr lang="en-US" sz="2000" b="0">
                <a:latin typeface="Times New Roman" panose="02020603050405020304" charset="0"/>
                <a:ea typeface="宋体" panose="02010600030101010101" pitchFamily="2" charset="-122"/>
              </a:rPr>
              <a:t>walk</a:t>
            </a:r>
            <a:r>
              <a:rPr lang="zh-CN" sz="2000" b="0">
                <a:latin typeface="Times New Roman" panose="02020603050405020304" charset="0"/>
                <a:ea typeface="宋体" panose="02010600030101010101" pitchFamily="2" charset="-122"/>
              </a:rPr>
              <a:t>步态指定在控制界面中的步态序号</a:t>
            </a:r>
            <a:r>
              <a:rPr lang="zh-CN" sz="2000" b="0">
                <a:ea typeface="宋体" panose="02010600030101010101" pitchFamily="2" charset="-122"/>
              </a:rPr>
              <a:t>，本实验</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机器人</a:t>
            </a:r>
            <a:r>
              <a:rPr lang="zh-CN" sz="2000" b="0">
                <a:latin typeface="Times New Roman" panose="02020603050405020304" charset="0"/>
                <a:ea typeface="宋体" panose="02010600030101010101" pitchFamily="2" charset="-122"/>
              </a:rPr>
              <a:t>默认</a:t>
            </a:r>
            <a:r>
              <a:rPr lang="zh-CN" sz="2000" b="0">
                <a:ea typeface="宋体" panose="02010600030101010101" pitchFamily="2" charset="-122"/>
              </a:rPr>
              <a:t>步态</a:t>
            </a:r>
            <a:r>
              <a:rPr lang="zh-CN" sz="2000" b="0">
                <a:latin typeface="Times New Roman" panose="02020603050405020304" charset="0"/>
                <a:ea typeface="宋体" panose="02010600030101010101" pitchFamily="2" charset="-122"/>
              </a:rPr>
              <a:t>设计</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13.51</a:t>
            </a:r>
            <a:r>
              <a:rPr lang="zh-CN" sz="2000" b="0">
                <a:ea typeface="宋体" panose="02010600030101010101" pitchFamily="2" charset="-122"/>
              </a:rPr>
              <a:t>所示。</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，按环境配置时的编译方法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修改好的步态类型进行编译，编译指令</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make -j4</a:t>
            </a:r>
            <a:r>
              <a:rPr lang="zh-CN" sz="2000" b="0">
                <a:ea typeface="宋体" panose="02010600030101010101" pitchFamily="2" charset="-122"/>
              </a:rPr>
              <a:t>或</a:t>
            </a:r>
            <a:r>
              <a:rPr lang="en-US" sz="2000" b="0">
                <a:latin typeface="Times New Roman" panose="02020603050405020304" charset="0"/>
                <a:ea typeface="宋体" panose="02010600030101010101" pitchFamily="2" charset="-122"/>
              </a:rPr>
              <a:t>j8</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13.52</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PM241FC2`QV}FYP33NB5P@T"/>
          <p:cNvPicPr>
            <a:picLocks noChangeAspect="1"/>
          </p:cNvPicPr>
          <p:nvPr>
            <p:custDataLst>
              <p:tags r:id="rId2"/>
            </p:custDataLst>
          </p:nvPr>
        </p:nvPicPr>
        <p:blipFill>
          <a:blip r:embed="rId3"/>
          <a:stretch>
            <a:fillRect/>
          </a:stretch>
        </p:blipFill>
        <p:spPr>
          <a:xfrm>
            <a:off x="1397635" y="934720"/>
            <a:ext cx="9970135" cy="2816860"/>
          </a:xfrm>
          <a:prstGeom prst="rect">
            <a:avLst/>
          </a:prstGeom>
        </p:spPr>
      </p:pic>
      <p:sp>
        <p:nvSpPr>
          <p:cNvPr id="100" name="文本框 99"/>
          <p:cNvSpPr txBox="1"/>
          <p:nvPr/>
        </p:nvSpPr>
        <p:spPr>
          <a:xfrm>
            <a:off x="864235" y="4443095"/>
            <a:ext cx="10325100" cy="1245235"/>
          </a:xfrm>
          <a:prstGeom prst="rect">
            <a:avLst/>
          </a:prstGeom>
          <a:noFill/>
          <a:ln w="9525">
            <a:noFill/>
          </a:ln>
        </p:spPr>
        <p:txBody>
          <a:bodyPr wrap="square">
            <a:spAutoFit/>
          </a:bodyPr>
          <a:p>
            <a:pPr indent="269875" fontAlgn="auto">
              <a:lnSpc>
                <a:spcPct val="125000"/>
              </a:lnSpc>
            </a:pP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将机器人用网线与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端相连，在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中新开一个终端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连接机器人，之后回到上位机终端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，将编译完成的程序下载到机器人中，如图</a:t>
            </a:r>
            <a:r>
              <a:rPr lang="en-US" sz="2000" b="0">
                <a:latin typeface="Times New Roman" panose="02020603050405020304" charset="0"/>
                <a:ea typeface="宋体" panose="02010600030101010101" pitchFamily="2" charset="-122"/>
              </a:rPr>
              <a:t>13.53</a:t>
            </a:r>
            <a:r>
              <a:rPr lang="zh-CN" sz="2000" b="0">
                <a:ea typeface="宋体" panose="02010600030101010101" pitchFamily="2" charset="-122"/>
              </a:rPr>
              <a:t>所示</a:t>
            </a:r>
            <a:r>
              <a:rPr lang="zh-CN" b="0">
                <a:ea typeface="宋体" panose="02010600030101010101" pitchFamily="2" charset="-122"/>
              </a:rPr>
              <a:t>。</a:t>
            </a:r>
            <a:endParaRPr lang="zh-CN" altLang="en-US" b="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Y_(O(SDF}9(9FEFM2GKS3(T"/>
          <p:cNvPicPr>
            <a:picLocks noChangeAspect="1"/>
          </p:cNvPicPr>
          <p:nvPr>
            <p:custDataLst>
              <p:tags r:id="rId2"/>
            </p:custDataLst>
          </p:nvPr>
        </p:nvPicPr>
        <p:blipFill>
          <a:blip r:embed="rId3"/>
          <a:stretch>
            <a:fillRect/>
          </a:stretch>
        </p:blipFill>
        <p:spPr>
          <a:xfrm>
            <a:off x="2029460" y="949960"/>
            <a:ext cx="8133080" cy="2773045"/>
          </a:xfrm>
          <a:prstGeom prst="rect">
            <a:avLst/>
          </a:prstGeom>
        </p:spPr>
      </p:pic>
      <p:sp>
        <p:nvSpPr>
          <p:cNvPr id="100" name="文本框 99"/>
          <p:cNvSpPr txBox="1"/>
          <p:nvPr/>
        </p:nvSpPr>
        <p:spPr>
          <a:xfrm>
            <a:off x="864235" y="3869055"/>
            <a:ext cx="10245725" cy="201485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在机器人终端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运行实体机器人，如图</a:t>
            </a:r>
            <a:r>
              <a:rPr lang="en-US" sz="2000" b="0">
                <a:latin typeface="Times New Roman" panose="02020603050405020304" charset="0"/>
                <a:ea typeface="宋体" panose="02010600030101010101" pitchFamily="2" charset="-122"/>
              </a:rPr>
              <a:t>13.54</a:t>
            </a:r>
            <a:r>
              <a:rPr lang="zh-CN" sz="2000" b="0">
                <a:ea typeface="宋体" panose="02010600030101010101" pitchFamily="2" charset="-122"/>
              </a:rPr>
              <a:t>所示。同时在步骤</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的上位机终端中运行控制界面，选择</a:t>
            </a:r>
            <a:r>
              <a:rPr lang="en-US" sz="2000" b="0">
                <a:latin typeface="Times New Roman" panose="02020603050405020304" charset="0"/>
                <a:ea typeface="宋体" panose="02010600030101010101" pitchFamily="2" charset="-122"/>
              </a:rPr>
              <a:t>Mini Cheetah</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Robot</a:t>
            </a:r>
            <a:r>
              <a:rPr lang="zh-CN" sz="2000" b="0">
                <a:latin typeface="Times New Roman" panose="02020603050405020304" charset="0"/>
                <a:ea typeface="宋体" panose="02010600030101010101" pitchFamily="2" charset="-122"/>
              </a:rPr>
              <a:t>选项</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13.55</a:t>
            </a:r>
            <a:r>
              <a:rPr lang="zh-CN" sz="2000" b="0">
                <a:ea typeface="宋体" panose="02010600030101010101" pitchFamily="2" charset="-122"/>
              </a:rPr>
              <a:t>所示，将控制界面中的</a:t>
            </a:r>
            <a:r>
              <a:rPr lang="en-US" sz="2000" b="0">
                <a:latin typeface="Times New Roman" panose="02020603050405020304" charset="0"/>
                <a:ea typeface="宋体" panose="02010600030101010101" pitchFamily="2" charset="-122"/>
              </a:rPr>
              <a:t>use_rc</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仿真时为</a:t>
            </a:r>
            <a:r>
              <a:rPr lang="en-US" sz="2000" b="0">
                <a:latin typeface="Times New Roman" panose="02020603050405020304" charset="0"/>
                <a:ea typeface="宋体" panose="02010600030101010101" pitchFamily="2" charset="-122"/>
              </a:rPr>
              <a:t>0</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，之后依次改动</a:t>
            </a:r>
            <a:r>
              <a:rPr lang="en-US" sz="2000" b="0">
                <a:latin typeface="Times New Roman" panose="02020603050405020304" charset="0"/>
                <a:ea typeface="宋体" panose="02010600030101010101" pitchFamily="2" charset="-122"/>
              </a:rPr>
              <a:t>control_mode</a:t>
            </a:r>
            <a:r>
              <a:rPr lang="zh-CN" sz="2000" b="0">
                <a:latin typeface="Times New Roman" panose="02020603050405020304" charset="0"/>
                <a:ea typeface="宋体" panose="02010600030101010101" pitchFamily="2" charset="-122"/>
              </a:rPr>
              <a:t>值</a:t>
            </a:r>
            <a:r>
              <a:rPr lang="zh-CN" sz="2000" b="0">
                <a:ea typeface="宋体" panose="02010600030101010101" pitchFamily="2" charset="-122"/>
              </a:rPr>
              <a:t>为</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分别</a:t>
            </a:r>
            <a:r>
              <a:rPr lang="zh-CN" sz="2000" b="0">
                <a:latin typeface="Times New Roman" panose="02020603050405020304" charset="0"/>
                <a:ea typeface="宋体" panose="02010600030101010101" pitchFamily="2" charset="-122"/>
              </a:rPr>
              <a:t>表示</a:t>
            </a:r>
            <a:r>
              <a:rPr lang="zh-CN" sz="2000" b="0">
                <a:ea typeface="宋体" panose="02010600030101010101" pitchFamily="2" charset="-122"/>
              </a:rPr>
              <a:t>机器人站起、预备运动</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以</a:t>
            </a:r>
            <a:r>
              <a:rPr lang="en-US" sz="2000" b="0">
                <a:latin typeface="Times New Roman" panose="02020603050405020304" charset="0"/>
                <a:ea typeface="宋体" panose="02010600030101010101" pitchFamily="2" charset="-122"/>
              </a:rPr>
              <a:t>trot</a:t>
            </a:r>
            <a:r>
              <a:rPr lang="zh-CN" sz="2000" b="0">
                <a:ea typeface="宋体" panose="02010600030101010101" pitchFamily="2" charset="-122"/>
              </a:rPr>
              <a:t>步态运动</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。之后将控制</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的</a:t>
            </a:r>
            <a:r>
              <a:rPr lang="en-US" sz="2000" b="0">
                <a:latin typeface="Times New Roman" panose="02020603050405020304" charset="0"/>
                <a:ea typeface="宋体" panose="02010600030101010101" pitchFamily="2" charset="-122"/>
              </a:rPr>
              <a:t>gait_type</a:t>
            </a:r>
            <a:r>
              <a:rPr lang="zh-CN" sz="2000" b="0">
                <a:ea typeface="宋体" panose="02010600030101010101" pitchFamily="2" charset="-122"/>
              </a:rPr>
              <a:t>值改为</a:t>
            </a:r>
            <a:r>
              <a:rPr lang="en-US" sz="2000" b="0">
                <a:latin typeface="Times New Roman" panose="02020603050405020304" charset="0"/>
                <a:ea typeface="宋体" panose="02010600030101010101" pitchFamily="2" charset="-122"/>
              </a:rPr>
              <a:t>6</a:t>
            </a:r>
            <a:r>
              <a:rPr lang="zh-CN" sz="2000" b="0">
                <a:ea typeface="宋体" panose="02010600030101010101" pitchFamily="2" charset="-122"/>
              </a:rPr>
              <a:t>，观察机器人步态是否变化为</a:t>
            </a:r>
            <a:r>
              <a:rPr lang="en-US" sz="2000" b="0">
                <a:latin typeface="Times New Roman" panose="02020603050405020304" charset="0"/>
                <a:ea typeface="宋体" panose="02010600030101010101" pitchFamily="2" charset="-122"/>
              </a:rPr>
              <a:t>walk</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若是，</a:t>
            </a:r>
            <a:r>
              <a:rPr lang="zh-CN" sz="2000" b="0">
                <a:ea typeface="宋体" panose="02010600030101010101" pitchFamily="2" charset="-122"/>
              </a:rPr>
              <a:t>此时可以用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控制机器人</a:t>
            </a:r>
            <a:r>
              <a:rPr lang="zh-CN" sz="2000" b="0">
                <a:latin typeface="Times New Roman" panose="02020603050405020304" charset="0"/>
                <a:ea typeface="宋体" panose="02010600030101010101" pitchFamily="2" charset="-122"/>
              </a:rPr>
              <a:t>运</a:t>
            </a:r>
            <a:r>
              <a:rPr lang="zh-CN" sz="2000" b="0">
                <a:ea typeface="宋体" panose="02010600030101010101" pitchFamily="2" charset="-122"/>
              </a:rPr>
              <a:t>动。</a:t>
            </a:r>
            <a:endParaRPr lang="zh-CN" altLang="en-US" sz="2000" b="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7.walk</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步态设计及实验验证</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3@80J$EZUP3FV@OQ47C78@N"/>
          <p:cNvPicPr>
            <a:picLocks noChangeAspect="1"/>
          </p:cNvPicPr>
          <p:nvPr>
            <p:custDataLst>
              <p:tags r:id="rId2"/>
            </p:custDataLst>
          </p:nvPr>
        </p:nvPicPr>
        <p:blipFill>
          <a:blip r:embed="rId3"/>
          <a:stretch>
            <a:fillRect/>
          </a:stretch>
        </p:blipFill>
        <p:spPr>
          <a:xfrm>
            <a:off x="864235" y="1365885"/>
            <a:ext cx="4881245" cy="2608580"/>
          </a:xfrm>
          <a:prstGeom prst="rect">
            <a:avLst/>
          </a:prstGeom>
        </p:spPr>
      </p:pic>
      <p:pic>
        <p:nvPicPr>
          <p:cNvPr id="4" name="图片 3" descr="RN5H%IC8AGK~O0[T%L@VD9I"/>
          <p:cNvPicPr>
            <a:picLocks noChangeAspect="1"/>
          </p:cNvPicPr>
          <p:nvPr>
            <p:custDataLst>
              <p:tags r:id="rId4"/>
            </p:custDataLst>
          </p:nvPr>
        </p:nvPicPr>
        <p:blipFill>
          <a:blip r:embed="rId5"/>
          <a:stretch>
            <a:fillRect/>
          </a:stretch>
        </p:blipFill>
        <p:spPr>
          <a:xfrm>
            <a:off x="6704330" y="1166495"/>
            <a:ext cx="4990465" cy="3007995"/>
          </a:xfrm>
          <a:prstGeom prst="rect">
            <a:avLst/>
          </a:prstGeom>
        </p:spPr>
      </p:pic>
      <p:sp>
        <p:nvSpPr>
          <p:cNvPr id="100" name="文本框 99"/>
          <p:cNvSpPr txBox="1"/>
          <p:nvPr/>
        </p:nvSpPr>
        <p:spPr>
          <a:xfrm>
            <a:off x="864235" y="4785360"/>
            <a:ext cx="6951345" cy="768350"/>
          </a:xfrm>
          <a:prstGeom prst="rect">
            <a:avLst/>
          </a:prstGeom>
          <a:noFill/>
          <a:ln w="9525">
            <a:noFill/>
          </a:ln>
        </p:spPr>
        <p:txBody>
          <a:bodyPr wrap="square">
            <a:spAutoFit/>
          </a:bodyPr>
          <a:p>
            <a:pPr indent="0"/>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Times New Roman" panose="02020603050405020304" charset="0"/>
                <a:ea typeface="宋体" panose="02010600030101010101" pitchFamily="2" charset="-122"/>
              </a:rPr>
              <a:t>walk</a:t>
            </a:r>
            <a:r>
              <a:rPr lang="zh-CN" sz="2000" b="0">
                <a:ea typeface="宋体" panose="02010600030101010101" pitchFamily="2" charset="-122"/>
              </a:rPr>
              <a:t>步态的占空比为什么会大于</a:t>
            </a:r>
            <a:r>
              <a:rPr lang="en-US" sz="2000" b="0">
                <a:latin typeface="Times New Roman" panose="02020603050405020304" charset="0"/>
                <a:ea typeface="宋体" panose="02010600030101010101" pitchFamily="2" charset="-122"/>
              </a:rPr>
              <a:t>0.5</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864235" y="1106170"/>
            <a:ext cx="10036810" cy="455422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了解后空翻步态的概念，掌握后空翻步态的设计原理；</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掌握使用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进行机器人后空翻步态验证</a:t>
            </a:r>
            <a:r>
              <a:rPr lang="zh-CN" sz="2000" b="0">
                <a:latin typeface="Times New Roman" panose="02020603050405020304" charset="0"/>
                <a:ea typeface="宋体" panose="02010600030101010101" pitchFamily="2" charset="-122"/>
              </a:rPr>
              <a:t>的方法</a:t>
            </a:r>
            <a:r>
              <a:rPr lang="zh-CN" sz="2000" b="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学习后空翻步态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原理，理解代码各部分</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含义；</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控制下</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后空翻。</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三、实验原理</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机器人后空翻</a:t>
            </a:r>
            <a:r>
              <a:rPr lang="zh-CN" sz="2000" b="0">
                <a:latin typeface="Times New Roman" panose="02020603050405020304" charset="0"/>
                <a:ea typeface="宋体" panose="02010600030101010101" pitchFamily="2" charset="-122"/>
              </a:rPr>
              <a:t>步态</a:t>
            </a:r>
            <a:r>
              <a:rPr lang="zh-CN" sz="2000" b="0">
                <a:ea typeface="宋体" panose="02010600030101010101" pitchFamily="2" charset="-122"/>
              </a:rPr>
              <a:t>是四足机器人控制算法</a:t>
            </a:r>
            <a:r>
              <a:rPr lang="zh-CN" sz="2000" b="0">
                <a:latin typeface="Times New Roman" panose="02020603050405020304" charset="0"/>
                <a:ea typeface="宋体" panose="02010600030101010101" pitchFamily="2" charset="-122"/>
              </a:rPr>
              <a:t>应用</a:t>
            </a:r>
            <a:r>
              <a:rPr lang="zh-CN" sz="2000" b="0">
                <a:ea typeface="宋体" panose="02010600030101010101" pitchFamily="2" charset="-122"/>
              </a:rPr>
              <a:t>的一个特例，需要对控制算法及机器人硬件有相当深入的了解。在整个代码控制体系中，后空翻与前空翻算法相对独立。</a:t>
            </a:r>
            <a:endParaRPr lang="zh-CN" sz="2000" b="0">
              <a:ea typeface="宋体" panose="02010600030101010101" pitchFamily="2" charset="-122"/>
            </a:endParaRPr>
          </a:p>
          <a:p>
            <a:pPr indent="0" fontAlgn="auto">
              <a:lnSpc>
                <a:spcPct val="125000"/>
              </a:lnSpc>
            </a:pPr>
            <a:r>
              <a:rPr lang="zh-CN" sz="2000" b="1">
                <a:ea typeface="黑体" panose="02010609060101010101" charset="-122"/>
              </a:rPr>
              <a:t>1．动作解析</a:t>
            </a:r>
            <a:endParaRPr lang="zh-CN" sz="2000" b="1">
              <a:ea typeface="黑体" panose="02010609060101010101" charset="-122"/>
            </a:endParaRPr>
          </a:p>
          <a:p>
            <a:pPr indent="0" fontAlgn="auto">
              <a:lnSpc>
                <a:spcPct val="125000"/>
              </a:lnSpc>
            </a:pPr>
            <a:r>
              <a:rPr lang="en-US" altLang="zh-CN" sz="2000" b="0">
                <a:ea typeface="宋体" panose="02010600030101010101" pitchFamily="2" charset="-122"/>
              </a:rPr>
              <a:t>         </a:t>
            </a:r>
            <a:r>
              <a:rPr lang="zh-CN" altLang="en-US" sz="2000" b="0">
                <a:ea typeface="宋体" panose="02010600030101010101" pitchFamily="2" charset="-122"/>
              </a:rPr>
              <a:t>以后空翻为例，下面介绍机器人后空翻过程中各个阶段的动作状态。</a:t>
            </a:r>
            <a:endParaRPr lang="zh-CN" altLang="en-US" sz="2000" b="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864235" y="951865"/>
            <a:ext cx="10354945"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蹲下(预备)阶段：如图</a:t>
            </a:r>
            <a:r>
              <a:rPr lang="en-US" sz="2000" b="0" baseline="-25000">
                <a:latin typeface="Times New Roman" panose="02020603050405020304" charset="0"/>
                <a:ea typeface="宋体" panose="02010600030101010101" pitchFamily="2" charset="-122"/>
              </a:rPr>
              <a:t> </a:t>
            </a:r>
            <a:r>
              <a:rPr lang="en-US" sz="2000" b="0">
                <a:latin typeface="Times New Roman" panose="02020603050405020304" charset="0"/>
                <a:ea typeface="宋体" panose="02010600030101010101" pitchFamily="2" charset="-122"/>
              </a:rPr>
              <a:t>13.56</a:t>
            </a:r>
            <a:r>
              <a:rPr lang="en-US" sz="2000" b="0" baseline="-25000">
                <a:latin typeface="Times New Roman" panose="02020603050405020304" charset="0"/>
                <a:ea typeface="宋体" panose="02010600030101010101" pitchFamily="2" charset="-122"/>
              </a:rPr>
              <a:t> </a:t>
            </a:r>
            <a:r>
              <a:rPr lang="zh-CN" sz="2000" b="0">
                <a:ea typeface="宋体" panose="02010600030101010101" pitchFamily="2" charset="-122"/>
              </a:rPr>
              <a:t>所示，此阶段机器人完</a:t>
            </a:r>
            <a:r>
              <a:rPr lang="zh-CN" sz="2000" b="0">
                <a:latin typeface="Times New Roman" panose="02020603050405020304" charset="0"/>
                <a:ea typeface="宋体" panose="02010600030101010101" pitchFamily="2" charset="-122"/>
              </a:rPr>
              <a:t>成</a:t>
            </a:r>
            <a:r>
              <a:rPr lang="zh-CN" sz="2000" b="0">
                <a:ea typeface="宋体" panose="02010600030101010101" pitchFamily="2" charset="-122"/>
              </a:rPr>
              <a:t>初始化配置</a:t>
            </a:r>
            <a:r>
              <a:rPr lang="zh-CN" sz="2000" b="0">
                <a:latin typeface="Times New Roman" panose="02020603050405020304" charset="0"/>
                <a:ea typeface="宋体" panose="02010600030101010101" pitchFamily="2" charset="-122"/>
              </a:rPr>
              <a:t>并</a:t>
            </a:r>
            <a:r>
              <a:rPr lang="zh-CN" sz="2000" b="0">
                <a:ea typeface="宋体" panose="02010600030101010101" pitchFamily="2" charset="-122"/>
              </a:rPr>
              <a:t>准备</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后空翻，包括各</a:t>
            </a:r>
            <a:r>
              <a:rPr lang="zh-CN" sz="2000" b="0">
                <a:latin typeface="Times New Roman" panose="02020603050405020304" charset="0"/>
                <a:ea typeface="宋体" panose="02010600030101010101" pitchFamily="2" charset="-122"/>
              </a:rPr>
              <a:t>条</a:t>
            </a:r>
            <a:r>
              <a:rPr lang="zh-CN" sz="2000" b="0">
                <a:ea typeface="宋体" panose="02010600030101010101" pitchFamily="2" charset="-122"/>
              </a:rPr>
              <a:t>腿的前向、后向及垂直方向的角度值、角加速度。使机器人执行单元</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电机</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产生向后与向上的加速度，在地面足底力作用下完成腾空。</a:t>
            </a:r>
            <a:endParaRPr lang="zh-CN" altLang="en-US" sz="2000" b="0">
              <a:ea typeface="宋体" panose="02010600030101010101" pitchFamily="2" charset="-122"/>
            </a:endParaRPr>
          </a:p>
        </p:txBody>
      </p:sp>
      <p:pic>
        <p:nvPicPr>
          <p:cNvPr id="7" name="图片 6" descr="88J~E$NCNZL_IM1CCE`O447"/>
          <p:cNvPicPr>
            <a:picLocks noChangeAspect="1"/>
          </p:cNvPicPr>
          <p:nvPr>
            <p:custDataLst>
              <p:tags r:id="rId2"/>
            </p:custDataLst>
          </p:nvPr>
        </p:nvPicPr>
        <p:blipFill>
          <a:blip r:embed="rId3"/>
          <a:stretch>
            <a:fillRect/>
          </a:stretch>
        </p:blipFill>
        <p:spPr>
          <a:xfrm>
            <a:off x="3574415" y="2366645"/>
            <a:ext cx="4934585" cy="1296670"/>
          </a:xfrm>
          <a:prstGeom prst="rect">
            <a:avLst/>
          </a:prstGeom>
        </p:spPr>
      </p:pic>
      <p:sp>
        <p:nvSpPr>
          <p:cNvPr id="8" name="文本框 7"/>
          <p:cNvSpPr txBox="1"/>
          <p:nvPr/>
        </p:nvSpPr>
        <p:spPr>
          <a:xfrm>
            <a:off x="864235" y="3912870"/>
            <a:ext cx="9787890" cy="398780"/>
          </a:xfrm>
          <a:prstGeom prst="rect">
            <a:avLst/>
          </a:prstGeom>
          <a:noFill/>
          <a:ln w="9525">
            <a:noFill/>
          </a:ln>
        </p:spPr>
        <p:txBody>
          <a:bodyPr wrap="square">
            <a:spAutoFit/>
          </a:bodyPr>
          <a:p>
            <a:pPr indent="269875"/>
            <a:r>
              <a:rPr lang="en-US" altLang="zh-CN" sz="2000" b="0">
                <a:ea typeface="宋体" panose="02010600030101010101" pitchFamily="2" charset="-122"/>
              </a:rPr>
              <a:t>     </a:t>
            </a:r>
            <a:r>
              <a:rPr lang="zh-CN" sz="2000" b="0">
                <a:ea typeface="宋体" panose="02010600030101010101" pitchFamily="2" charset="-122"/>
              </a:rPr>
              <a:t>腾空阶段：</a:t>
            </a:r>
            <a:r>
              <a:rPr lang="zh-CN" sz="2000" b="0">
                <a:latin typeface="Times New Roman" panose="02020603050405020304" charset="0"/>
                <a:ea typeface="宋体" panose="02010600030101010101" pitchFamily="2" charset="-122"/>
              </a:rPr>
              <a:t>如图</a:t>
            </a:r>
            <a:r>
              <a:rPr lang="en-US" sz="2000" b="0">
                <a:latin typeface="Times New Roman" panose="02020603050405020304" charset="0"/>
                <a:ea typeface="宋体" panose="02010600030101010101" pitchFamily="2" charset="-122"/>
              </a:rPr>
              <a:t>13.57</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此阶段机器人在惯性作用下</a:t>
            </a:r>
            <a:r>
              <a:rPr lang="zh-CN" sz="2000" b="0">
                <a:latin typeface="Times New Roman" panose="02020603050405020304" charset="0"/>
                <a:ea typeface="宋体" panose="02010600030101010101" pitchFamily="2" charset="-122"/>
              </a:rPr>
              <a:t>完成</a:t>
            </a:r>
            <a:r>
              <a:rPr lang="zh-CN" sz="2000" b="0">
                <a:ea typeface="宋体" panose="02010600030101010101" pitchFamily="2" charset="-122"/>
              </a:rPr>
              <a:t>腾空翻转。</a:t>
            </a:r>
            <a:endParaRPr lang="zh-CN" altLang="en-US" sz="2000" b="0">
              <a:ea typeface="宋体" panose="02010600030101010101" pitchFamily="2" charset="-122"/>
            </a:endParaRPr>
          </a:p>
        </p:txBody>
      </p:sp>
      <p:pic>
        <p:nvPicPr>
          <p:cNvPr id="9" name="图片 8" descr="FMCFRZWA7F95~HCX$EBCO(Y"/>
          <p:cNvPicPr>
            <a:picLocks noChangeAspect="1"/>
          </p:cNvPicPr>
          <p:nvPr>
            <p:custDataLst>
              <p:tags r:id="rId4"/>
            </p:custDataLst>
          </p:nvPr>
        </p:nvPicPr>
        <p:blipFill>
          <a:blip r:embed="rId5"/>
          <a:stretch>
            <a:fillRect/>
          </a:stretch>
        </p:blipFill>
        <p:spPr>
          <a:xfrm>
            <a:off x="3479165" y="4439920"/>
            <a:ext cx="5124450" cy="164274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1159510"/>
            <a:ext cx="971740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落地缓冲阶段：</a:t>
            </a:r>
            <a:r>
              <a:rPr lang="zh-CN" sz="2000" b="0">
                <a:latin typeface="Times New Roman" panose="02020603050405020304" charset="0"/>
                <a:ea typeface="宋体" panose="02010600030101010101" pitchFamily="2" charset="-122"/>
              </a:rPr>
              <a:t>如图</a:t>
            </a:r>
            <a:r>
              <a:rPr lang="en-US" sz="2000" b="0">
                <a:latin typeface="Times New Roman" panose="02020603050405020304" charset="0"/>
                <a:ea typeface="宋体" panose="02010600030101010101" pitchFamily="2" charset="-122"/>
              </a:rPr>
              <a:t>13.58</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，此阶段机器人完成从腾空到落地的配置，此时电机的前向、后向及垂直</a:t>
            </a:r>
            <a:r>
              <a:rPr lang="zh-CN" sz="2000" b="0">
                <a:latin typeface="Times New Roman" panose="02020603050405020304" charset="0"/>
                <a:ea typeface="宋体" panose="02010600030101010101" pitchFamily="2" charset="-122"/>
              </a:rPr>
              <a:t>方</a:t>
            </a:r>
            <a:r>
              <a:rPr lang="zh-CN" sz="2000" b="0">
                <a:ea typeface="宋体" panose="02010600030101010101" pitchFamily="2" charset="-122"/>
              </a:rPr>
              <a:t>向的加速度保持为零，确保足端稳定着地。</a:t>
            </a:r>
            <a:endParaRPr lang="zh-CN" altLang="en-US" sz="2000" b="0">
              <a:ea typeface="宋体" panose="02010600030101010101" pitchFamily="2" charset="-122"/>
            </a:endParaRPr>
          </a:p>
        </p:txBody>
      </p:sp>
      <p:pic>
        <p:nvPicPr>
          <p:cNvPr id="2" name="图片 1" descr="A98_RA)`6R%$2M3KF~U{9AB"/>
          <p:cNvPicPr>
            <a:picLocks noChangeAspect="1"/>
          </p:cNvPicPr>
          <p:nvPr>
            <p:custDataLst>
              <p:tags r:id="rId2"/>
            </p:custDataLst>
          </p:nvPr>
        </p:nvPicPr>
        <p:blipFill>
          <a:blip r:embed="rId3"/>
          <a:stretch>
            <a:fillRect/>
          </a:stretch>
        </p:blipFill>
        <p:spPr>
          <a:xfrm>
            <a:off x="4537710" y="2276475"/>
            <a:ext cx="3116580" cy="1379855"/>
          </a:xfrm>
          <a:prstGeom prst="rect">
            <a:avLst/>
          </a:prstGeom>
        </p:spPr>
      </p:pic>
      <p:sp>
        <p:nvSpPr>
          <p:cNvPr id="3" name="文本框 2"/>
          <p:cNvSpPr txBox="1"/>
          <p:nvPr/>
        </p:nvSpPr>
        <p:spPr>
          <a:xfrm>
            <a:off x="864235" y="3813810"/>
            <a:ext cx="4941570" cy="1630045"/>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2</a:t>
            </a:r>
            <a:r>
              <a:rPr lang="zh-CN" sz="2000" b="1">
                <a:latin typeface="Arial" panose="020B0604020202020204" pitchFamily="34" charset="0"/>
                <a:ea typeface="黑体" panose="02010609060101010101" charset="-122"/>
              </a:rPr>
              <a:t>．</a:t>
            </a:r>
            <a:r>
              <a:rPr lang="zh-CN" sz="2000" b="1">
                <a:ea typeface="黑体" panose="02010609060101010101" charset="-122"/>
              </a:rPr>
              <a:t>后空翻各阶段对应的代码</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在本书配套资源中</a:t>
            </a:r>
            <a:r>
              <a:rPr lang="zh-CN" sz="2000" b="0">
                <a:latin typeface="Times New Roman" panose="02020603050405020304" charset="0"/>
                <a:ea typeface="宋体" panose="02010600030101010101" pitchFamily="2" charset="-122"/>
              </a:rPr>
              <a:t>找</a:t>
            </a:r>
            <a:r>
              <a:rPr lang="zh-CN" sz="2000" b="0">
                <a:ea typeface="宋体" panose="02010600030101010101" pitchFamily="2" charset="-122"/>
              </a:rPr>
              <a:t>到</a:t>
            </a:r>
            <a:r>
              <a:rPr lang="en-US" sz="2000" b="0">
                <a:latin typeface="Times New Roman" panose="02020603050405020304" charset="0"/>
                <a:ea typeface="宋体" panose="02010600030101010101" pitchFamily="2" charset="-122"/>
              </a:rPr>
              <a:t>FSM_State_BackFlip.cpp</a:t>
            </a:r>
            <a:r>
              <a:rPr lang="zh-CN" sz="2000" b="0">
                <a:ea typeface="宋体" panose="02010600030101010101" pitchFamily="2" charset="-122"/>
              </a:rPr>
              <a:t>文件，如图</a:t>
            </a:r>
            <a:r>
              <a:rPr lang="en-US" sz="2000" b="0">
                <a:latin typeface="Times New Roman" panose="02020603050405020304" charset="0"/>
                <a:ea typeface="宋体" panose="02010600030101010101" pitchFamily="2" charset="-122"/>
              </a:rPr>
              <a:t>13.59</a:t>
            </a:r>
            <a:r>
              <a:rPr lang="zh-CN" sz="2000" b="0">
                <a:ea typeface="宋体" panose="02010600030101010101" pitchFamily="2" charset="-122"/>
              </a:rPr>
              <a:t>所示，后空翻</a:t>
            </a:r>
            <a:r>
              <a:rPr lang="zh-CN" sz="2000" b="0">
                <a:latin typeface="Times New Roman" panose="02020603050405020304" charset="0"/>
                <a:ea typeface="宋体" panose="02010600030101010101" pitchFamily="2" charset="-122"/>
              </a:rPr>
              <a:t>执</a:t>
            </a:r>
            <a:r>
              <a:rPr lang="zh-CN" sz="2000" b="0">
                <a:ea typeface="宋体" panose="02010600030101010101" pitchFamily="2" charset="-122"/>
              </a:rPr>
              <a:t>行函数在</a:t>
            </a:r>
            <a:r>
              <a:rPr lang="en-US" sz="2000" b="0">
                <a:latin typeface="Times New Roman" panose="02020603050405020304" charset="0"/>
                <a:ea typeface="宋体" panose="02010600030101010101" pitchFamily="2" charset="-122"/>
              </a:rPr>
              <a:t>70</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85</a:t>
            </a:r>
            <a:r>
              <a:rPr lang="zh-CN" sz="2000" b="0">
                <a:ea typeface="宋体" panose="02010600030101010101" pitchFamily="2" charset="-122"/>
              </a:rPr>
              <a:t>行。</a:t>
            </a:r>
            <a:endParaRPr lang="zh-CN" altLang="en-US" sz="2000" b="0">
              <a:ea typeface="宋体" panose="02010600030101010101" pitchFamily="2" charset="-122"/>
            </a:endParaRPr>
          </a:p>
        </p:txBody>
      </p:sp>
      <p:pic>
        <p:nvPicPr>
          <p:cNvPr id="4" name="图片 3" descr="({Q9X`H~KU0`BM9KHQFKXTF"/>
          <p:cNvPicPr>
            <a:picLocks noChangeAspect="1"/>
          </p:cNvPicPr>
          <p:nvPr>
            <p:custDataLst>
              <p:tags r:id="rId4"/>
            </p:custDataLst>
          </p:nvPr>
        </p:nvPicPr>
        <p:blipFill>
          <a:blip r:embed="rId5"/>
          <a:stretch>
            <a:fillRect/>
          </a:stretch>
        </p:blipFill>
        <p:spPr>
          <a:xfrm>
            <a:off x="6525260" y="3811905"/>
            <a:ext cx="5111750" cy="304609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97585"/>
            <a:ext cx="9438640"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其中，后空翻</a:t>
            </a:r>
            <a:r>
              <a:rPr lang="zh-CN" sz="2000" b="0">
                <a:latin typeface="Times New Roman" panose="02020603050405020304" charset="0"/>
                <a:ea typeface="宋体" panose="02010600030101010101" pitchFamily="2" charset="-122"/>
              </a:rPr>
              <a:t>蹲下</a:t>
            </a:r>
            <a:r>
              <a:rPr lang="zh-CN" sz="2000" b="0">
                <a:ea typeface="宋体" panose="02010600030101010101" pitchFamily="2" charset="-122"/>
              </a:rPr>
              <a:t>阶段与落地</a:t>
            </a:r>
            <a:r>
              <a:rPr lang="zh-CN" sz="2000" b="0">
                <a:latin typeface="Times New Roman" panose="02020603050405020304" charset="0"/>
                <a:ea typeface="宋体" panose="02010600030101010101" pitchFamily="2" charset="-122"/>
              </a:rPr>
              <a:t>缓冲</a:t>
            </a:r>
            <a:r>
              <a:rPr lang="zh-CN" sz="2000" b="0">
                <a:ea typeface="宋体" panose="02010600030101010101" pitchFamily="2" charset="-122"/>
              </a:rPr>
              <a:t>阶段在</a:t>
            </a:r>
            <a:r>
              <a:rPr lang="en-US" sz="2000" b="0">
                <a:latin typeface="Times New Roman" panose="02020603050405020304" charset="0"/>
                <a:ea typeface="宋体" panose="02010600030101010101" pitchFamily="2" charset="-122"/>
              </a:rPr>
              <a:t>BackFlipCtrl.cpp</a:t>
            </a:r>
            <a:r>
              <a:rPr lang="zh-CN" sz="2000" b="0">
                <a:ea typeface="宋体" panose="02010600030101010101" pitchFamily="2" charset="-122"/>
              </a:rPr>
              <a:t>文件中调用，如图</a:t>
            </a:r>
            <a:r>
              <a:rPr lang="en-US" sz="2000" b="0">
                <a:latin typeface="Times New Roman" panose="02020603050405020304" charset="0"/>
                <a:ea typeface="宋体" panose="02010600030101010101" pitchFamily="2" charset="-122"/>
              </a:rPr>
              <a:t> 13.60</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13.61</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EQZPJE~~_FNA}0WFHV(5TK8"/>
          <p:cNvPicPr>
            <a:picLocks noChangeAspect="1"/>
          </p:cNvPicPr>
          <p:nvPr>
            <p:custDataLst>
              <p:tags r:id="rId2"/>
            </p:custDataLst>
          </p:nvPr>
        </p:nvPicPr>
        <p:blipFill>
          <a:blip r:embed="rId3"/>
          <a:stretch>
            <a:fillRect/>
          </a:stretch>
        </p:blipFill>
        <p:spPr>
          <a:xfrm>
            <a:off x="864235" y="2566670"/>
            <a:ext cx="5332095" cy="2639060"/>
          </a:xfrm>
          <a:prstGeom prst="rect">
            <a:avLst/>
          </a:prstGeom>
        </p:spPr>
      </p:pic>
      <p:pic>
        <p:nvPicPr>
          <p:cNvPr id="3" name="图片 2" descr="$P{J@{$]Q1(PANZ)~O(LOOT"/>
          <p:cNvPicPr>
            <a:picLocks noChangeAspect="1"/>
          </p:cNvPicPr>
          <p:nvPr>
            <p:custDataLst>
              <p:tags r:id="rId4"/>
            </p:custDataLst>
          </p:nvPr>
        </p:nvPicPr>
        <p:blipFill>
          <a:blip r:embed="rId5"/>
          <a:stretch>
            <a:fillRect/>
          </a:stretch>
        </p:blipFill>
        <p:spPr>
          <a:xfrm>
            <a:off x="6299200" y="2776855"/>
            <a:ext cx="5495290" cy="206184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864235" y="995680"/>
            <a:ext cx="9758045" cy="132207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，按之前的编译方法</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后空翻代码进行编译，如图</a:t>
            </a:r>
            <a:r>
              <a:rPr lang="en-US" sz="2000" b="0">
                <a:latin typeface="Times New Roman" panose="02020603050405020304" charset="0"/>
                <a:ea typeface="宋体" panose="02010600030101010101" pitchFamily="2" charset="-122"/>
              </a:rPr>
              <a:t>13.62</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YZ`{_FIV`LQA]`UV9@{QMA3"/>
          <p:cNvPicPr>
            <a:picLocks noChangeAspect="1"/>
          </p:cNvPicPr>
          <p:nvPr>
            <p:custDataLst>
              <p:tags r:id="rId2"/>
            </p:custDataLst>
          </p:nvPr>
        </p:nvPicPr>
        <p:blipFill>
          <a:blip r:embed="rId3"/>
          <a:stretch>
            <a:fillRect/>
          </a:stretch>
        </p:blipFill>
        <p:spPr>
          <a:xfrm>
            <a:off x="3987165" y="2331720"/>
            <a:ext cx="4217035" cy="2078355"/>
          </a:xfrm>
          <a:prstGeom prst="rect">
            <a:avLst/>
          </a:prstGeom>
        </p:spPr>
      </p:pic>
      <p:sp>
        <p:nvSpPr>
          <p:cNvPr id="6" name="文本框 5"/>
          <p:cNvSpPr txBox="1"/>
          <p:nvPr/>
        </p:nvSpPr>
        <p:spPr>
          <a:xfrm>
            <a:off x="864235" y="4540885"/>
            <a:ext cx="9758680" cy="124523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将机器人用网线与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相</a:t>
            </a:r>
            <a:r>
              <a:rPr lang="zh-CN" sz="2000" b="0">
                <a:ea typeface="宋体" panose="02010600030101010101" pitchFamily="2" charset="-122"/>
              </a:rPr>
              <a:t>连，在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文件夹下新开</a:t>
            </a:r>
            <a:r>
              <a:rPr lang="zh-CN" sz="2000" b="0">
                <a:latin typeface="Times New Roman" panose="02020603050405020304" charset="0"/>
                <a:ea typeface="宋体" panose="02010600030101010101" pitchFamily="2" charset="-122"/>
              </a:rPr>
              <a:t>一个</a:t>
            </a:r>
            <a:r>
              <a:rPr lang="zh-CN" sz="2000" b="0">
                <a:ea typeface="宋体" panose="02010600030101010101" pitchFamily="2" charset="-122"/>
              </a:rPr>
              <a:t>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连接机器人，之后回到上位机终端中将编译完成的程序下载到机器人中，如图</a:t>
            </a:r>
            <a:r>
              <a:rPr lang="en-US" sz="2000" b="0">
                <a:latin typeface="Times New Roman" panose="02020603050405020304" charset="0"/>
                <a:ea typeface="宋体" panose="02010600030101010101" pitchFamily="2" charset="-122"/>
              </a:rPr>
              <a:t>13.63</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DNTG(}8)Q(VHA$}BZA1SA6"/>
          <p:cNvPicPr>
            <a:picLocks noChangeAspect="1"/>
          </p:cNvPicPr>
          <p:nvPr>
            <p:custDataLst>
              <p:tags r:id="rId2"/>
            </p:custDataLst>
          </p:nvPr>
        </p:nvPicPr>
        <p:blipFill>
          <a:blip r:embed="rId3"/>
          <a:stretch>
            <a:fillRect/>
          </a:stretch>
        </p:blipFill>
        <p:spPr>
          <a:xfrm>
            <a:off x="2729230" y="966470"/>
            <a:ext cx="6734175" cy="2238375"/>
          </a:xfrm>
          <a:prstGeom prst="rect">
            <a:avLst/>
          </a:prstGeom>
        </p:spPr>
      </p:pic>
      <p:sp>
        <p:nvSpPr>
          <p:cNvPr id="101" name="文本框 100"/>
          <p:cNvSpPr txBox="1"/>
          <p:nvPr/>
        </p:nvSpPr>
        <p:spPr>
          <a:xfrm>
            <a:off x="864235" y="3293110"/>
            <a:ext cx="10066655" cy="86042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代码下载完毕后，</a:t>
            </a:r>
            <a:r>
              <a:rPr lang="zh-CN" sz="2000" b="0">
                <a:latin typeface="Times New Roman" panose="02020603050405020304" charset="0"/>
                <a:ea typeface="宋体" panose="02010600030101010101" pitchFamily="2" charset="-122"/>
              </a:rPr>
              <a:t>回</a:t>
            </a:r>
            <a:r>
              <a:rPr lang="zh-CN" sz="2000" b="0">
                <a:ea typeface="宋体" panose="02010600030101010101" pitchFamily="2" charset="-122"/>
              </a:rPr>
              <a:t>到机器人终端</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“cd ./robot-software/build ./run_mc.sh ./</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mit_ctrl”</a:t>
            </a:r>
            <a:r>
              <a:rPr lang="zh-CN" sz="2000" b="0">
                <a:ea typeface="宋体" panose="02010600030101010101" pitchFamily="2" charset="-122"/>
              </a:rPr>
              <a:t>运行实体机器人，如图</a:t>
            </a:r>
            <a:r>
              <a:rPr lang="en-US" sz="2000" b="0">
                <a:latin typeface="Times New Roman" panose="02020603050405020304" charset="0"/>
                <a:ea typeface="宋体" panose="02010600030101010101" pitchFamily="2" charset="-122"/>
              </a:rPr>
              <a:t>13.64</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3" name="图片 2" descr="P)8_66GSK@][1]`76VO{3OT"/>
          <p:cNvPicPr>
            <a:picLocks noChangeAspect="1"/>
          </p:cNvPicPr>
          <p:nvPr>
            <p:custDataLst>
              <p:tags r:id="rId4"/>
            </p:custDataLst>
          </p:nvPr>
        </p:nvPicPr>
        <p:blipFill>
          <a:blip r:embed="rId5"/>
          <a:stretch>
            <a:fillRect/>
          </a:stretch>
        </p:blipFill>
        <p:spPr>
          <a:xfrm>
            <a:off x="3723005" y="4241800"/>
            <a:ext cx="4745355" cy="261048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1109345"/>
            <a:ext cx="10146030" cy="163004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当听到机器人电机蜂鸣声之后，将网线拔掉，打开</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，检查</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信号，确保</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与机器人保持通信，如图</a:t>
            </a:r>
            <a:r>
              <a:rPr lang="en-US" sz="2000" b="0">
                <a:latin typeface="Times New Roman" panose="02020603050405020304" charset="0"/>
                <a:ea typeface="宋体" panose="02010600030101010101" pitchFamily="2" charset="-122"/>
              </a:rPr>
              <a:t>13.65</a:t>
            </a:r>
            <a:r>
              <a:rPr lang="zh-CN" sz="2000" b="0">
                <a:ea typeface="宋体" panose="02010600030101010101" pitchFamily="2" charset="-122"/>
              </a:rPr>
              <a:t>所示。此时按图</a:t>
            </a:r>
            <a:r>
              <a:rPr lang="en-US" sz="2000" b="0">
                <a:latin typeface="Times New Roman" panose="02020603050405020304" charset="0"/>
                <a:ea typeface="宋体" panose="02010600030101010101" pitchFamily="2" charset="-122"/>
              </a:rPr>
              <a:t>13.66</a:t>
            </a:r>
            <a:r>
              <a:rPr lang="zh-CN" sz="2000" b="0">
                <a:latin typeface="Times New Roman" panose="02020603050405020304" charset="0"/>
                <a:ea typeface="宋体" panose="02010600030101010101" pitchFamily="2" charset="-122"/>
              </a:rPr>
              <a:t>所示的</a:t>
            </a:r>
            <a:r>
              <a:rPr lang="zh-CN" sz="2000" b="0">
                <a:ea typeface="宋体" panose="02010600030101010101" pitchFamily="2" charset="-122"/>
              </a:rPr>
              <a:t>箭头方向拨</a:t>
            </a:r>
            <a:r>
              <a:rPr lang="zh-CN" sz="2000" b="0">
                <a:latin typeface="Times New Roman" panose="02020603050405020304" charset="0"/>
                <a:ea typeface="宋体" panose="02010600030101010101" pitchFamily="2" charset="-122"/>
              </a:rPr>
              <a:t>动遥控器</a:t>
            </a:r>
            <a:r>
              <a:rPr lang="zh-CN" sz="2000" b="0">
                <a:ea typeface="宋体" panose="02010600030101010101" pitchFamily="2" charset="-122"/>
              </a:rPr>
              <a:t>的</a:t>
            </a:r>
            <a:r>
              <a:rPr lang="en-US" sz="2000" b="0">
                <a:latin typeface="Times New Roman" panose="02020603050405020304" charset="0"/>
                <a:ea typeface="宋体" panose="02010600030101010101" pitchFamily="2" charset="-122"/>
              </a:rPr>
              <a:t>E</a:t>
            </a:r>
            <a:r>
              <a:rPr lang="zh-CN" sz="2000" b="0">
                <a:ea typeface="宋体" panose="02010600030101010101" pitchFamily="2" charset="-122"/>
              </a:rPr>
              <a:t>键，此时机器人处于</a:t>
            </a:r>
            <a:r>
              <a:rPr lang="zh-CN" sz="2000" b="0">
                <a:latin typeface="Times New Roman" panose="02020603050405020304" charset="0"/>
                <a:ea typeface="宋体" panose="02010600030101010101" pitchFamily="2" charset="-122"/>
              </a:rPr>
              <a:t>即将</a:t>
            </a:r>
            <a:r>
              <a:rPr lang="zh-CN" sz="2000" b="0">
                <a:ea typeface="宋体" panose="02010600030101010101" pitchFamily="2" charset="-122"/>
              </a:rPr>
              <a:t>运动</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站立状态。之后按图</a:t>
            </a:r>
            <a:r>
              <a:rPr lang="en-US" sz="2000" b="0">
                <a:latin typeface="Times New Roman" panose="02020603050405020304" charset="0"/>
                <a:ea typeface="宋体" panose="02010600030101010101" pitchFamily="2" charset="-122"/>
              </a:rPr>
              <a:t>13.67</a:t>
            </a:r>
            <a:r>
              <a:rPr lang="zh-CN" sz="2000" b="0">
                <a:ea typeface="宋体" panose="02010600030101010101" pitchFamily="2" charset="-122"/>
              </a:rPr>
              <a:t>所示的箭头方向向下拨动</a:t>
            </a:r>
            <a:r>
              <a:rPr lang="en-US" sz="2000" b="0">
                <a:latin typeface="Times New Roman" panose="02020603050405020304" charset="0"/>
                <a:ea typeface="宋体" panose="02010600030101010101" pitchFamily="2" charset="-122"/>
              </a:rPr>
              <a:t>G</a:t>
            </a:r>
            <a:r>
              <a:rPr lang="zh-CN" sz="2000" b="0">
                <a:ea typeface="宋体" panose="02010600030101010101" pitchFamily="2" charset="-122"/>
              </a:rPr>
              <a:t>键，机器人完成一个后空翻动作。</a:t>
            </a:r>
            <a:endParaRPr lang="zh-CN" altLang="en-US" sz="2000" b="0">
              <a:ea typeface="宋体" panose="02010600030101010101" pitchFamily="2" charset="-122"/>
            </a:endParaRPr>
          </a:p>
        </p:txBody>
      </p:sp>
      <p:pic>
        <p:nvPicPr>
          <p:cNvPr id="2" name="图片 1" descr="TAHTAZEJVW]CB}{9FZ63B@8"/>
          <p:cNvPicPr>
            <a:picLocks noChangeAspect="1"/>
          </p:cNvPicPr>
          <p:nvPr>
            <p:custDataLst>
              <p:tags r:id="rId2"/>
            </p:custDataLst>
          </p:nvPr>
        </p:nvPicPr>
        <p:blipFill>
          <a:blip r:embed="rId3"/>
          <a:stretch>
            <a:fillRect/>
          </a:stretch>
        </p:blipFill>
        <p:spPr>
          <a:xfrm>
            <a:off x="1689100" y="2739390"/>
            <a:ext cx="8814435" cy="351917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文本框 100"/>
          <p:cNvSpPr txBox="1"/>
          <p:nvPr/>
        </p:nvSpPr>
        <p:spPr>
          <a:xfrm>
            <a:off x="864235" y="948055"/>
            <a:ext cx="10006330"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注意：当后空翻动作结束时，要</a:t>
            </a:r>
            <a:r>
              <a:rPr lang="zh-CN" sz="2000" b="0">
                <a:latin typeface="Times New Roman" panose="02020603050405020304" charset="0"/>
                <a:ea typeface="宋体" panose="02010600030101010101" pitchFamily="2" charset="-122"/>
              </a:rPr>
              <a:t>先</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E</a:t>
            </a:r>
            <a:r>
              <a:rPr lang="zh-CN" sz="2000" b="0">
                <a:ea typeface="宋体" panose="02010600030101010101" pitchFamily="2" charset="-122"/>
              </a:rPr>
              <a:t>键迅速拨到中间位置，</a:t>
            </a:r>
            <a:r>
              <a:rPr lang="zh-CN" sz="2000" b="0">
                <a:latin typeface="Times New Roman" panose="02020603050405020304" charset="0"/>
                <a:ea typeface="宋体" panose="02010600030101010101" pitchFamily="2" charset="-122"/>
              </a:rPr>
              <a:t>再</a:t>
            </a:r>
            <a:r>
              <a:rPr lang="zh-CN" sz="2000" b="0">
                <a:ea typeface="宋体" panose="02010600030101010101" pitchFamily="2" charset="-122"/>
              </a:rPr>
              <a:t>将</a:t>
            </a:r>
            <a:r>
              <a:rPr lang="en-US" sz="2000" b="0">
                <a:latin typeface="Times New Roman" panose="02020603050405020304" charset="0"/>
                <a:ea typeface="宋体" panose="02010600030101010101" pitchFamily="2" charset="-122"/>
              </a:rPr>
              <a:t>G</a:t>
            </a:r>
            <a:r>
              <a:rPr lang="zh-CN" sz="2000" b="0">
                <a:ea typeface="宋体" panose="02010600030101010101" pitchFamily="2" charset="-122"/>
              </a:rPr>
              <a:t>键也拨到中间位置。倘若省去操作，机器人将一直进行后空翻，会对机器人电机及皮带造成不可逆的损伤。</a:t>
            </a:r>
            <a:endParaRPr lang="zh-CN" altLang="en-US" sz="2000" b="0">
              <a:ea typeface="宋体" panose="02010600030101010101" pitchFamily="2" charset="-122"/>
            </a:endParaRPr>
          </a:p>
        </p:txBody>
      </p:sp>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后空翻步态设计及运行实验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2607310"/>
            <a:ext cx="10005695" cy="132207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如何从后空翻</a:t>
            </a:r>
            <a:r>
              <a:rPr lang="zh-CN" sz="2000" b="0">
                <a:latin typeface="Times New Roman" panose="02020603050405020304" charset="0"/>
                <a:ea typeface="宋体" panose="02010600030101010101" pitchFamily="2" charset="-122"/>
              </a:rPr>
              <a:t>执</a:t>
            </a:r>
            <a:r>
              <a:rPr lang="zh-CN" sz="2000" b="0">
                <a:ea typeface="宋体" panose="02010600030101010101" pitchFamily="2" charset="-122"/>
              </a:rPr>
              <a:t>行函数跳转到后空翻具体的执行算法中</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使用</a:t>
            </a:r>
            <a:r>
              <a:rPr lang="zh-CN" sz="2000" b="0">
                <a:latin typeface="Times New Roman" panose="02020603050405020304" charset="0"/>
                <a:ea typeface="宋体" panose="02010600030101010101" pitchFamily="2" charset="-122"/>
              </a:rPr>
              <a:t>遥控器控制机器人</a:t>
            </a:r>
            <a:r>
              <a:rPr lang="zh-CN" sz="2000" b="0">
                <a:ea typeface="宋体" panose="02010600030101010101" pitchFamily="2" charset="-122"/>
              </a:rPr>
              <a:t>进行前空翻的操作顺序</a:t>
            </a:r>
            <a:r>
              <a:rPr lang="zh-CN" sz="2000" b="0">
                <a:latin typeface="Times New Roman" panose="02020603050405020304" charset="0"/>
                <a:ea typeface="宋体" panose="02010600030101010101" pitchFamily="2" charset="-122"/>
              </a:rPr>
              <a:t>是什么？</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765175"/>
            <a:ext cx="10314940" cy="6092825"/>
          </a:xfrm>
          <a:prstGeom prst="rect">
            <a:avLst/>
          </a:prstGeom>
          <a:noFill/>
          <a:ln w="9525">
            <a:noFill/>
          </a:ln>
        </p:spPr>
        <p:txBody>
          <a:bodyPr wrap="square">
            <a:spAutoFit/>
          </a:bodyPr>
          <a:p>
            <a:pPr indent="0" fontAlgn="auto">
              <a:lnSpc>
                <a:spcPct val="125000"/>
              </a:lnSpc>
            </a:pPr>
            <a:r>
              <a:rPr lang="zh-CN" sz="2400" b="1">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了解机器人斜坡自适应调整的概念；</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学会判断机器人是否在斜坡</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实现了自适应调整；</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掌握机器人在斜坡</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的</a:t>
            </a:r>
            <a:r>
              <a:rPr lang="zh-CN" sz="2000" b="0">
                <a:latin typeface="Times New Roman" panose="02020603050405020304" charset="0"/>
                <a:ea typeface="宋体" panose="02010600030101010101" pitchFamily="2" charset="-122"/>
              </a:rPr>
              <a:t>质</a:t>
            </a:r>
            <a:r>
              <a:rPr lang="zh-CN" sz="2000" b="0">
                <a:ea typeface="宋体" panose="02010600030101010101" pitchFamily="2" charset="-122"/>
              </a:rPr>
              <a:t>心调整方法；</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掌握斜坡自适应调整算法及补偿参数的修改。</a:t>
            </a:r>
            <a:r>
              <a:rPr lang="zh-CN" sz="2400" b="1">
                <a:cs typeface="方正黑体简体" charset="0"/>
              </a:rPr>
              <a:t>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实现</a:t>
            </a:r>
            <a:r>
              <a:rPr lang="zh-CN" sz="2000" b="0">
                <a:ea typeface="宋体" panose="02010600030101010101" pitchFamily="2" charset="-122"/>
              </a:rPr>
              <a:t>机器人在斜坡</a:t>
            </a:r>
            <a:r>
              <a:rPr lang="zh-CN" sz="2000" b="0">
                <a:latin typeface="Times New Roman" panose="02020603050405020304" charset="0"/>
                <a:ea typeface="宋体" panose="02010600030101010101" pitchFamily="2" charset="-122"/>
              </a:rPr>
              <a:t>上质</a:t>
            </a:r>
            <a:r>
              <a:rPr lang="zh-CN" sz="2000" b="0">
                <a:ea typeface="宋体" panose="02010600030101010101" pitchFamily="2" charset="-122"/>
              </a:rPr>
              <a:t>心位置的调整；</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实现机器人在爬坡过程中姿态</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自适应调整。</a:t>
            </a:r>
            <a:r>
              <a:rPr lang="zh-CN" sz="2400" b="1">
                <a:cs typeface="方正黑体简体" charset="0"/>
              </a:rPr>
              <a:t>三、实验原理</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当机器人在斜坡上行走时，质心沿重力方向的投影点在四足支撑面内的位置会向斜面负梯度方向偏移，影响机器人的稳定性。此时，在四足机器人的步态规划中，各</a:t>
            </a:r>
            <a:r>
              <a:rPr lang="zh-CN" sz="2000" b="0">
                <a:latin typeface="Times New Roman" panose="02020603050405020304" charset="0"/>
                <a:ea typeface="宋体" panose="02010600030101010101" pitchFamily="2" charset="-122"/>
              </a:rPr>
              <a:t>条</a:t>
            </a:r>
            <a:r>
              <a:rPr lang="zh-CN" sz="2000" b="0">
                <a:ea typeface="宋体" panose="02010600030101010101" pitchFamily="2" charset="-122"/>
              </a:rPr>
              <a:t>腿关节的角度值除与规划的足端轨迹有关外，还与所处地形的坡度有关。当机器人调整足端位置以适应地面坡度时，落足点总是处于工作空间</a:t>
            </a:r>
            <a:r>
              <a:rPr lang="zh-CN" sz="2000" b="0">
                <a:latin typeface="Times New Roman" panose="02020603050405020304" charset="0"/>
                <a:ea typeface="宋体" panose="02010600030101010101" pitchFamily="2" charset="-122"/>
              </a:rPr>
              <a:t>的</a:t>
            </a:r>
            <a:r>
              <a:rPr lang="zh-CN" sz="2000" b="0">
                <a:ea typeface="宋体" panose="02010600030101010101" pitchFamily="2" charset="-122"/>
              </a:rPr>
              <a:t>上部或者下部，极大地限制了机器人的运动步幅，降低了机器人的运动速度。因此，当机器人在斜坡上行走时，机器人还应调整躯干的姿态以避免足尖处于工作空间的极限位置，以提高机器人的运动速度。</a:t>
            </a:r>
            <a:endParaRPr lang="zh-CN" altLang="en-US" sz="2000" b="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864235" y="976630"/>
            <a:ext cx="10344785" cy="170688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en-US" sz="2000" b="1">
                <a:latin typeface="Arial" panose="020B0604020202020204" pitchFamily="34" charset="0"/>
                <a:ea typeface="黑体" panose="02010609060101010101" charset="-122"/>
              </a:rPr>
              <a:t>1</a:t>
            </a:r>
            <a:r>
              <a:rPr lang="zh-CN" sz="2000" b="1">
                <a:latin typeface="Arial" panose="020B0604020202020204" pitchFamily="34" charset="0"/>
                <a:ea typeface="黑体" panose="02010609060101010101" charset="-122"/>
              </a:rPr>
              <a:t>．</a:t>
            </a:r>
            <a:r>
              <a:rPr lang="zh-CN" sz="2000" b="1">
                <a:ea typeface="黑体" panose="02010609060101010101" charset="-122"/>
              </a:rPr>
              <a:t>算法设计与植入</a:t>
            </a:r>
            <a:r>
              <a:rPr lang="zh-CN" sz="2000" b="0">
                <a:latin typeface="Times New Roman" panose="02020603050405020304" charset="0"/>
                <a:ea typeface="宋体" panose="02010600030101010101" pitchFamily="2" charset="-122"/>
              </a:rPr>
              <a:t></a:t>
            </a: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由实验原理推导</a:t>
            </a:r>
            <a:r>
              <a:rPr lang="zh-CN" sz="2000" b="0">
                <a:latin typeface="Times New Roman" panose="02020603050405020304" charset="0"/>
                <a:ea typeface="宋体" panose="02010600030101010101" pitchFamily="2" charset="-122"/>
              </a:rPr>
              <a:t>出</a:t>
            </a:r>
            <a:r>
              <a:rPr lang="zh-CN" sz="2000" b="0">
                <a:ea typeface="宋体" panose="02010600030101010101" pitchFamily="2" charset="-122"/>
              </a:rPr>
              <a:t>的足端位置坐标映射植入机器人控制代码中。打开</a:t>
            </a:r>
            <a:r>
              <a:rPr lang="zh-CN" sz="2000" b="0">
                <a:latin typeface="Times New Roman" panose="02020603050405020304" charset="0"/>
                <a:ea typeface="宋体" panose="02010600030101010101" pitchFamily="2" charset="-122"/>
              </a:rPr>
              <a:t>本书配套资源中的</a:t>
            </a:r>
            <a:r>
              <a:rPr lang="en-US" sz="2000" b="0">
                <a:latin typeface="Times New Roman" panose="02020603050405020304" charset="0"/>
                <a:ea typeface="宋体" panose="02010600030101010101" pitchFamily="2" charset="-122"/>
              </a:rPr>
              <a:t>wbc_v4</a:t>
            </a:r>
            <a:r>
              <a:rPr lang="zh-CN" sz="2000" b="0">
                <a:ea typeface="宋体" panose="02010600030101010101" pitchFamily="2" charset="-122"/>
              </a:rPr>
              <a:t>文件夹，找到</a:t>
            </a:r>
            <a:r>
              <a:rPr lang="en-US" sz="2000" b="0">
                <a:latin typeface="Times New Roman" panose="02020603050405020304" charset="0"/>
                <a:ea typeface="宋体" panose="02010600030101010101" pitchFamily="2" charset="-122"/>
              </a:rPr>
              <a:t>ConvexMPCLocomotion.cpp</a:t>
            </a:r>
            <a:r>
              <a:rPr lang="zh-CN" sz="2000" b="0">
                <a:ea typeface="宋体" panose="02010600030101010101" pitchFamily="2" charset="-122"/>
              </a:rPr>
              <a:t>文件，如图</a:t>
            </a:r>
            <a:r>
              <a:rPr lang="en-US" sz="2000" b="0">
                <a:latin typeface="Times New Roman" panose="02020603050405020304" charset="0"/>
                <a:ea typeface="宋体" panose="02010600030101010101" pitchFamily="2" charset="-122"/>
              </a:rPr>
              <a:t>13.68</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3" name="图片 2" descr="`SN353[C_Y59YIVD7@MBR7A"/>
          <p:cNvPicPr>
            <a:picLocks noChangeAspect="1"/>
          </p:cNvPicPr>
          <p:nvPr>
            <p:custDataLst>
              <p:tags r:id="rId2"/>
            </p:custDataLst>
          </p:nvPr>
        </p:nvPicPr>
        <p:blipFill>
          <a:blip r:embed="rId3"/>
          <a:stretch>
            <a:fillRect/>
          </a:stretch>
        </p:blipFill>
        <p:spPr>
          <a:xfrm>
            <a:off x="2433320" y="2971165"/>
            <a:ext cx="7524750" cy="28670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887095"/>
            <a:ext cx="935799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在同一执行文件中将</a:t>
            </a:r>
            <a:r>
              <a:rPr lang="zh-CN" sz="2000" b="0">
                <a:latin typeface="Times New Roman" panose="02020603050405020304" charset="0"/>
                <a:ea typeface="宋体" panose="02010600030101010101" pitchFamily="2" charset="-122"/>
              </a:rPr>
              <a:t>由</a:t>
            </a:r>
            <a:r>
              <a:rPr lang="zh-CN" sz="2000" b="0">
                <a:ea typeface="宋体" panose="02010600030101010101" pitchFamily="2" charset="-122"/>
              </a:rPr>
              <a:t>实验原理设计的姿态调整算法植入代码中，如图</a:t>
            </a:r>
            <a:r>
              <a:rPr lang="en-US" sz="2000" b="0">
                <a:latin typeface="Times New Roman" panose="02020603050405020304" charset="0"/>
                <a:ea typeface="宋体" panose="02010600030101010101" pitchFamily="2" charset="-122"/>
              </a:rPr>
              <a:t>13.69</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F{0MKTB84JN[5KH]JQ[$YPX"/>
          <p:cNvPicPr>
            <a:picLocks noChangeAspect="1"/>
          </p:cNvPicPr>
          <p:nvPr>
            <p:custDataLst>
              <p:tags r:id="rId2"/>
            </p:custDataLst>
          </p:nvPr>
        </p:nvPicPr>
        <p:blipFill>
          <a:blip r:embed="rId3"/>
          <a:stretch>
            <a:fillRect/>
          </a:stretch>
        </p:blipFill>
        <p:spPr>
          <a:xfrm>
            <a:off x="2915920" y="1747520"/>
            <a:ext cx="6341745" cy="3259455"/>
          </a:xfrm>
          <a:prstGeom prst="rect">
            <a:avLst/>
          </a:prstGeom>
        </p:spPr>
      </p:pic>
      <p:sp>
        <p:nvSpPr>
          <p:cNvPr id="3" name="文本框 2"/>
          <p:cNvSpPr txBox="1"/>
          <p:nvPr/>
        </p:nvSpPr>
        <p:spPr>
          <a:xfrm>
            <a:off x="864235" y="5006975"/>
            <a:ext cx="9837420" cy="1630045"/>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2</a:t>
            </a:r>
            <a:r>
              <a:rPr lang="zh-CN" sz="2000" b="1">
                <a:latin typeface="Arial" panose="020B0604020202020204" pitchFamily="34" charset="0"/>
                <a:ea typeface="黑体" panose="02010609060101010101" charset="-122"/>
              </a:rPr>
              <a:t>．</a:t>
            </a:r>
            <a:r>
              <a:rPr lang="zh-CN" sz="2000" b="1">
                <a:ea typeface="黑体" panose="02010609060101010101" charset="-122"/>
              </a:rPr>
              <a:t>代码编译与下载</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首先，通过网线将机器人与</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相</a:t>
            </a:r>
            <a:r>
              <a:rPr lang="zh-CN" sz="2000" b="0">
                <a:ea typeface="宋体" panose="02010600030101010101" pitchFamily="2" charset="-122"/>
              </a:rPr>
              <a:t>连，并</a:t>
            </a:r>
            <a:r>
              <a:rPr lang="zh-CN" sz="2000" b="0">
                <a:latin typeface="Times New Roman" panose="02020603050405020304" charset="0"/>
                <a:ea typeface="宋体" panose="02010600030101010101" pitchFamily="2" charset="-122"/>
              </a:rPr>
              <a:t>使</a:t>
            </a:r>
            <a:r>
              <a:rPr lang="zh-CN" sz="2000" b="0">
                <a:ea typeface="宋体" panose="02010600030101010101" pitchFamily="2" charset="-122"/>
              </a:rPr>
              <a:t>机器人处于开机状态</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电机同时开启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。之后在</a:t>
            </a:r>
            <a:r>
              <a:rPr lang="en-US" sz="2000" b="0">
                <a:latin typeface="Times New Roman" panose="02020603050405020304" charset="0"/>
                <a:ea typeface="宋体" panose="02010600030101010101" pitchFamily="2" charset="-122"/>
              </a:rPr>
              <a:t>wbc_v4</a:t>
            </a:r>
            <a:r>
              <a:rPr lang="zh-CN" sz="2000" b="0">
                <a:ea typeface="宋体" panose="02010600030101010101" pitchFamily="2" charset="-122"/>
              </a:rPr>
              <a:t>文件夹下的</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文件夹中打开终端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机器人终端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连接机器人，如图</a:t>
            </a:r>
            <a:r>
              <a:rPr lang="en-US" sz="2000" b="0">
                <a:latin typeface="Times New Roman" panose="02020603050405020304" charset="0"/>
                <a:ea typeface="宋体" panose="02010600030101010101" pitchFamily="2" charset="-122"/>
              </a:rPr>
              <a:t>13.70</a:t>
            </a:r>
            <a:r>
              <a:rPr lang="zh-CN" sz="2000" b="0">
                <a:ea typeface="宋体" panose="02010600030101010101" pitchFamily="2" charset="-122"/>
              </a:rPr>
              <a:t>所示。</a:t>
            </a:r>
            <a:endParaRPr lang="zh-CN" altLang="en-US" sz="2000" b="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M%IU%){Z4XFI91IM]3[5N}R"/>
          <p:cNvPicPr>
            <a:picLocks noChangeAspect="1"/>
          </p:cNvPicPr>
          <p:nvPr>
            <p:custDataLst>
              <p:tags r:id="rId2"/>
            </p:custDataLst>
          </p:nvPr>
        </p:nvPicPr>
        <p:blipFill>
          <a:blip r:embed="rId3"/>
          <a:stretch>
            <a:fillRect/>
          </a:stretch>
        </p:blipFill>
        <p:spPr>
          <a:xfrm>
            <a:off x="2629535" y="1024890"/>
            <a:ext cx="6854190" cy="3178810"/>
          </a:xfrm>
          <a:prstGeom prst="rect">
            <a:avLst/>
          </a:prstGeom>
        </p:spPr>
      </p:pic>
      <p:sp>
        <p:nvSpPr>
          <p:cNvPr id="101" name="文本框 100"/>
          <p:cNvSpPr txBox="1"/>
          <p:nvPr/>
        </p:nvSpPr>
        <p:spPr>
          <a:xfrm>
            <a:off x="864235" y="4290060"/>
            <a:ext cx="10384790"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继续输入指令</a:t>
            </a:r>
            <a:r>
              <a:rPr lang="en-US" sz="2000" b="0">
                <a:latin typeface="Times New Roman" panose="02020603050405020304" charset="0"/>
                <a:ea typeface="宋体" panose="02010600030101010101" pitchFamily="2" charset="-122"/>
              </a:rPr>
              <a:t>“ps -ef | grep mit”</a:t>
            </a:r>
            <a:r>
              <a:rPr lang="zh-CN" sz="2000" b="0">
                <a:ea typeface="宋体" panose="02010600030101010101" pitchFamily="2" charset="-122"/>
              </a:rPr>
              <a:t>查看机器人残留进程，若存在</a:t>
            </a:r>
            <a:r>
              <a:rPr lang="zh-CN" sz="2000" b="0">
                <a:latin typeface="Times New Roman" panose="02020603050405020304" charset="0"/>
                <a:ea typeface="宋体" panose="02010600030101010101" pitchFamily="2" charset="-122"/>
              </a:rPr>
              <a:t>残留</a:t>
            </a:r>
            <a:r>
              <a:rPr lang="zh-CN" sz="2000" b="0">
                <a:ea typeface="宋体" panose="02010600030101010101" pitchFamily="2" charset="-122"/>
              </a:rPr>
              <a:t>进程，</a:t>
            </a:r>
            <a:r>
              <a:rPr lang="zh-CN" sz="2000" b="0">
                <a:latin typeface="Times New Roman" panose="02020603050405020304" charset="0"/>
                <a:ea typeface="宋体" panose="02010600030101010101" pitchFamily="2" charset="-122"/>
              </a:rPr>
              <a:t>则</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“sudo kill ****”</a:t>
            </a:r>
            <a:r>
              <a:rPr lang="zh-CN" sz="2000" b="0">
                <a:ea typeface="宋体" panose="02010600030101010101" pitchFamily="2" charset="-122"/>
              </a:rPr>
              <a:t>将残留进程</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杀死</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13.71</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3" name="图片 2" descr="7YOVZT7_IJZH){DDT(AU`T1"/>
          <p:cNvPicPr>
            <a:picLocks noChangeAspect="1"/>
          </p:cNvPicPr>
          <p:nvPr>
            <p:custDataLst>
              <p:tags r:id="rId4"/>
            </p:custDataLst>
          </p:nvPr>
        </p:nvPicPr>
        <p:blipFill>
          <a:blip r:embed="rId5"/>
          <a:stretch>
            <a:fillRect/>
          </a:stretch>
        </p:blipFill>
        <p:spPr>
          <a:xfrm>
            <a:off x="2852420" y="5089525"/>
            <a:ext cx="6487795" cy="15341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1086485"/>
            <a:ext cx="1015555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mc-build</a:t>
            </a:r>
            <a:r>
              <a:rPr lang="zh-CN" sz="2000" b="0">
                <a:ea typeface="宋体" panose="02010600030101010101" pitchFamily="2" charset="-122"/>
              </a:rPr>
              <a:t>文件夹下新开</a:t>
            </a:r>
            <a:r>
              <a:rPr lang="zh-CN" sz="2000" b="0">
                <a:latin typeface="Times New Roman" panose="02020603050405020304" charset="0"/>
                <a:ea typeface="宋体" panose="02010600030101010101" pitchFamily="2" charset="-122"/>
              </a:rPr>
              <a:t>一个</a:t>
            </a:r>
            <a:r>
              <a:rPr lang="zh-CN" sz="2000" b="0">
                <a:ea typeface="宋体" panose="02010600030101010101" pitchFamily="2" charset="-122"/>
              </a:rPr>
              <a:t>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上位机终端</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，输入指令</a:t>
            </a:r>
            <a:r>
              <a:rPr lang="en-US" sz="2000" b="0">
                <a:latin typeface="Times New Roman" panose="02020603050405020304" charset="0"/>
                <a:ea typeface="宋体" panose="02010600030101010101" pitchFamily="2" charset="-122"/>
              </a:rPr>
              <a:t>“make -j8”</a:t>
            </a:r>
            <a:r>
              <a:rPr lang="zh-CN" sz="2000" b="0">
                <a:ea typeface="宋体" panose="02010600030101010101" pitchFamily="2" charset="-122"/>
              </a:rPr>
              <a:t>对编写好的代码进行编译，如图</a:t>
            </a:r>
            <a:r>
              <a:rPr lang="en-US" sz="2000" b="0">
                <a:latin typeface="Times New Roman" panose="02020603050405020304" charset="0"/>
                <a:ea typeface="宋体" panose="02010600030101010101" pitchFamily="2" charset="-122"/>
              </a:rPr>
              <a:t>13.72</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2" name="图片 1" descr="HVAM_]9J)USEG)Z%LN0YGBU"/>
          <p:cNvPicPr>
            <a:picLocks noChangeAspect="1"/>
          </p:cNvPicPr>
          <p:nvPr>
            <p:custDataLst>
              <p:tags r:id="rId2"/>
            </p:custDataLst>
          </p:nvPr>
        </p:nvPicPr>
        <p:blipFill>
          <a:blip r:embed="rId3"/>
          <a:stretch>
            <a:fillRect/>
          </a:stretch>
        </p:blipFill>
        <p:spPr>
          <a:xfrm>
            <a:off x="2865755" y="1946910"/>
            <a:ext cx="6460490" cy="2395855"/>
          </a:xfrm>
          <a:prstGeom prst="rect">
            <a:avLst/>
          </a:prstGeom>
        </p:spPr>
      </p:pic>
      <p:sp>
        <p:nvSpPr>
          <p:cNvPr id="3" name="文本框 2"/>
          <p:cNvSpPr txBox="1"/>
          <p:nvPr/>
        </p:nvSpPr>
        <p:spPr>
          <a:xfrm>
            <a:off x="864235" y="4342765"/>
            <a:ext cx="1015555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编译完毕后，在同一终端中继续输入图</a:t>
            </a:r>
            <a:r>
              <a:rPr lang="en-US" sz="2000" b="0">
                <a:latin typeface="Times New Roman" panose="02020603050405020304" charset="0"/>
                <a:ea typeface="宋体" panose="02010600030101010101" pitchFamily="2" charset="-122"/>
              </a:rPr>
              <a:t>13.73</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的指令，将编译好的代码下载到机器人机中。</a:t>
            </a:r>
            <a:endParaRPr lang="zh-CN" altLang="en-US" sz="2000" b="0">
              <a:ea typeface="宋体" panose="02010600030101010101" pitchFamily="2" charset="-122"/>
            </a:endParaRPr>
          </a:p>
        </p:txBody>
      </p:sp>
      <p:pic>
        <p:nvPicPr>
          <p:cNvPr id="4" name="图片 3" descr="F$@~D7LB]FYPY`UTV8N`%M2"/>
          <p:cNvPicPr>
            <a:picLocks noChangeAspect="1"/>
          </p:cNvPicPr>
          <p:nvPr>
            <p:custDataLst>
              <p:tags r:id="rId4"/>
            </p:custDataLst>
          </p:nvPr>
        </p:nvPicPr>
        <p:blipFill>
          <a:blip r:embed="rId5"/>
          <a:stretch>
            <a:fillRect/>
          </a:stretch>
        </p:blipFill>
        <p:spPr>
          <a:xfrm>
            <a:off x="2333625" y="5203190"/>
            <a:ext cx="7524750" cy="82867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1203325"/>
            <a:ext cx="9946640" cy="937260"/>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3</a:t>
            </a:r>
            <a:r>
              <a:rPr lang="zh-CN" sz="2000" b="1">
                <a:latin typeface="Arial" panose="020B0604020202020204" pitchFamily="34" charset="0"/>
                <a:ea typeface="黑体" panose="02010609060101010101" charset="-122"/>
              </a:rPr>
              <a:t>．</a:t>
            </a:r>
            <a:r>
              <a:rPr lang="zh-CN" sz="2000" b="1">
                <a:ea typeface="黑体" panose="02010609060101010101" charset="-122"/>
              </a:rPr>
              <a:t>算法验证</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回到机器人终端，输入图</a:t>
            </a:r>
            <a:r>
              <a:rPr lang="en-US" sz="2000" b="0">
                <a:latin typeface="Times New Roman" panose="02020603050405020304" charset="0"/>
                <a:ea typeface="宋体" panose="02010600030101010101" pitchFamily="2" charset="-122"/>
              </a:rPr>
              <a:t>13.74</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的两条指令，运行实体机器人</a:t>
            </a:r>
            <a:r>
              <a:rPr lang="zh-CN" sz="2400" b="0">
                <a:ea typeface="宋体" panose="02010600030101010101" pitchFamily="2" charset="-122"/>
              </a:rPr>
              <a:t>。</a:t>
            </a:r>
            <a:endParaRPr lang="zh-CN" altLang="en-US" sz="2400" b="0">
              <a:ea typeface="宋体" panose="02010600030101010101" pitchFamily="2" charset="-122"/>
            </a:endParaRPr>
          </a:p>
        </p:txBody>
      </p:sp>
      <p:pic>
        <p:nvPicPr>
          <p:cNvPr id="2" name="图片 1" descr="~]AKJTS_T6}1]@B4HQY@AH4"/>
          <p:cNvPicPr>
            <a:picLocks noChangeAspect="1"/>
          </p:cNvPicPr>
          <p:nvPr>
            <p:custDataLst>
              <p:tags r:id="rId2"/>
            </p:custDataLst>
          </p:nvPr>
        </p:nvPicPr>
        <p:blipFill>
          <a:blip r:embed="rId3"/>
          <a:stretch>
            <a:fillRect/>
          </a:stretch>
        </p:blipFill>
        <p:spPr>
          <a:xfrm>
            <a:off x="2697480" y="2242185"/>
            <a:ext cx="6796405" cy="1080135"/>
          </a:xfrm>
          <a:prstGeom prst="rect">
            <a:avLst/>
          </a:prstGeom>
        </p:spPr>
      </p:pic>
      <p:sp>
        <p:nvSpPr>
          <p:cNvPr id="3" name="文本框 2"/>
          <p:cNvSpPr txBox="1"/>
          <p:nvPr/>
        </p:nvSpPr>
        <p:spPr>
          <a:xfrm>
            <a:off x="864235" y="3614420"/>
            <a:ext cx="5080000" cy="1630045"/>
          </a:xfrm>
          <a:prstGeom prst="rect">
            <a:avLst/>
          </a:prstGeom>
          <a:noFill/>
          <a:ln w="9525">
            <a:noFill/>
          </a:ln>
        </p:spPr>
        <p:txBody>
          <a:bodyPr>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机器人启动后，通过</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进行</a:t>
            </a:r>
            <a:r>
              <a:rPr lang="zh-CN" sz="2000" b="0">
                <a:latin typeface="Times New Roman" panose="02020603050405020304" charset="0"/>
                <a:ea typeface="宋体" panose="02010600030101010101" pitchFamily="2" charset="-122"/>
              </a:rPr>
              <a:t>控制</a:t>
            </a:r>
            <a:r>
              <a:rPr lang="zh-CN" sz="2000" b="0">
                <a:ea typeface="宋体" panose="02010600030101010101" pitchFamily="2" charset="-122"/>
              </a:rPr>
              <a:t>操作，使其从平面运动到斜坡，此时机器人终端会</a:t>
            </a:r>
            <a:r>
              <a:rPr lang="zh-CN" sz="2000" b="0">
                <a:latin typeface="Times New Roman" panose="02020603050405020304" charset="0"/>
                <a:ea typeface="宋体" panose="02010600030101010101" pitchFamily="2" charset="-122"/>
              </a:rPr>
              <a:t>实时</a:t>
            </a:r>
            <a:r>
              <a:rPr lang="zh-CN" sz="2000" b="0">
                <a:ea typeface="宋体" panose="02010600030101010101" pitchFamily="2" charset="-122"/>
              </a:rPr>
              <a:t>打印机器人爬坡过程中的俯仰角，如图</a:t>
            </a:r>
            <a:r>
              <a:rPr lang="en-US" sz="2000" b="0">
                <a:latin typeface="Times New Roman" panose="02020603050405020304" charset="0"/>
                <a:ea typeface="宋体" panose="02010600030101010101" pitchFamily="2" charset="-122"/>
              </a:rPr>
              <a:t>13.75</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4" name="图片 3" descr="[KEQ@PS7W{XH197ZTFOU4M3"/>
          <p:cNvPicPr>
            <a:picLocks noChangeAspect="1"/>
          </p:cNvPicPr>
          <p:nvPr>
            <p:custDataLst>
              <p:tags r:id="rId4"/>
            </p:custDataLst>
          </p:nvPr>
        </p:nvPicPr>
        <p:blipFill>
          <a:blip r:embed="rId5"/>
          <a:stretch>
            <a:fillRect/>
          </a:stretch>
        </p:blipFill>
        <p:spPr>
          <a:xfrm>
            <a:off x="8080375" y="3070860"/>
            <a:ext cx="2619375" cy="371094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文本框 100"/>
          <p:cNvSpPr txBox="1"/>
          <p:nvPr/>
        </p:nvSpPr>
        <p:spPr>
          <a:xfrm>
            <a:off x="864235" y="1414145"/>
            <a:ext cx="10166350" cy="201485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当机器人在斜坡</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实现稳定运动后，先通过</a:t>
            </a:r>
            <a:r>
              <a:rPr lang="zh-CN" sz="2000" b="0">
                <a:latin typeface="Times New Roman" panose="02020603050405020304" charset="0"/>
                <a:ea typeface="宋体" panose="02010600030101010101" pitchFamily="2" charset="-122"/>
              </a:rPr>
              <a:t>遥控器</a:t>
            </a:r>
            <a:r>
              <a:rPr lang="zh-CN" sz="2000" b="0">
                <a:ea typeface="宋体" panose="02010600030101010101" pitchFamily="2" charset="-122"/>
              </a:rPr>
              <a:t>控制机器人停止在斜坡的运动，之后在机器人终端下</a:t>
            </a:r>
            <a:r>
              <a:rPr lang="zh-CN" sz="2000" b="0">
                <a:latin typeface="Times New Roman" panose="02020603050405020304" charset="0"/>
                <a:ea typeface="宋体" panose="02010600030101010101" pitchFamily="2" charset="-122"/>
              </a:rPr>
              <a:t>按</a:t>
            </a:r>
            <a:r>
              <a:rPr lang="en-US" sz="2000" b="0">
                <a:latin typeface="Times New Roman" panose="02020603050405020304" charset="0"/>
                <a:ea typeface="宋体" panose="02010600030101010101" pitchFamily="2" charset="-122"/>
              </a:rPr>
              <a:t>Ctrl+C</a:t>
            </a:r>
            <a:r>
              <a:rPr lang="zh-CN" sz="2000" b="0">
                <a:latin typeface="Times New Roman" panose="02020603050405020304" charset="0"/>
                <a:ea typeface="宋体" panose="02010600030101010101" pitchFamily="2" charset="-122"/>
              </a:rPr>
              <a:t>键</a:t>
            </a:r>
            <a:r>
              <a:rPr lang="zh-CN" sz="2000" b="0">
                <a:ea typeface="宋体" panose="02010600030101010101" pitchFamily="2" charset="-122"/>
              </a:rPr>
              <a:t>，使机器人结束运行指令，之后连续输入两次</a:t>
            </a:r>
            <a:r>
              <a:rPr lang="en-US" sz="2000" b="0">
                <a:latin typeface="Times New Roman" panose="02020603050405020304" charset="0"/>
                <a:ea typeface="宋体" panose="02010600030101010101" pitchFamily="2" charset="-122"/>
              </a:rPr>
              <a:t>“cd ..”</a:t>
            </a:r>
            <a:r>
              <a:rPr lang="zh-CN" sz="2000" b="0">
                <a:ea typeface="宋体" panose="02010600030101010101" pitchFamily="2" charset="-122"/>
              </a:rPr>
              <a:t>指令，回到机器人初始文件夹下，再输入指令</a:t>
            </a:r>
            <a:r>
              <a:rPr lang="en-US" sz="2000" b="0">
                <a:latin typeface="Times New Roman" panose="02020603050405020304" charset="0"/>
                <a:ea typeface="宋体" panose="02010600030101010101" pitchFamily="2" charset="-122"/>
              </a:rPr>
              <a:t>“cd log”</a:t>
            </a:r>
            <a:r>
              <a:rPr lang="zh-CN" sz="2000" b="0">
                <a:ea typeface="宋体" panose="02010600030101010101" pitchFamily="2" charset="-122"/>
              </a:rPr>
              <a:t>，打开</a:t>
            </a:r>
            <a:r>
              <a:rPr lang="en-US" sz="2000" b="0">
                <a:latin typeface="Times New Roman" panose="02020603050405020304" charset="0"/>
                <a:ea typeface="宋体" panose="02010600030101010101" pitchFamily="2" charset="-122"/>
              </a:rPr>
              <a:t>log</a:t>
            </a:r>
            <a:r>
              <a:rPr lang="zh-CN" sz="2000" b="0">
                <a:ea typeface="宋体" panose="02010600030101010101" pitchFamily="2" charset="-122"/>
              </a:rPr>
              <a:t>文件夹</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继续输入指令</a:t>
            </a:r>
            <a:r>
              <a:rPr lang="en-US" sz="2000" b="0">
                <a:latin typeface="Times New Roman" panose="02020603050405020304" charset="0"/>
                <a:ea typeface="宋体" panose="02010600030101010101" pitchFamily="2" charset="-122"/>
              </a:rPr>
              <a:t>“scp lizhi.csv robot@10.0.0.2: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”对</a:t>
            </a:r>
            <a:r>
              <a:rPr lang="zh-CN" sz="2000" b="0">
                <a:ea typeface="宋体" panose="02010600030101010101" pitchFamily="2" charset="-122"/>
              </a:rPr>
              <a:t>打印</a:t>
            </a:r>
            <a:r>
              <a:rPr lang="zh-CN" sz="2000" b="0">
                <a:latin typeface="Times New Roman" panose="02020603050405020304" charset="0"/>
                <a:ea typeface="宋体" panose="02010600030101010101" pitchFamily="2" charset="-122"/>
              </a:rPr>
              <a:t>出</a:t>
            </a:r>
            <a:r>
              <a:rPr lang="zh-CN" sz="2000" b="0">
                <a:ea typeface="宋体" panose="02010600030101010101" pitchFamily="2" charset="-122"/>
              </a:rPr>
              <a:t>的机器人俯仰角数据进行复制，如图</a:t>
            </a:r>
            <a:r>
              <a:rPr lang="en-US" sz="2000" b="0">
                <a:latin typeface="Times New Roman" panose="02020603050405020304" charset="0"/>
                <a:ea typeface="宋体" panose="02010600030101010101" pitchFamily="2" charset="-122"/>
              </a:rPr>
              <a:t>13.76</a:t>
            </a:r>
            <a:r>
              <a:rPr lang="zh-CN" sz="2000" b="0">
                <a:ea typeface="宋体" panose="02010600030101010101" pitchFamily="2" charset="-122"/>
              </a:rPr>
              <a:t>所示。复制好的数据将自动保存在</a:t>
            </a:r>
            <a:r>
              <a:rPr lang="en-US" sz="2000" b="0">
                <a:latin typeface="Times New Roman" panose="02020603050405020304" charset="0"/>
                <a:ea typeface="宋体" panose="02010600030101010101" pitchFamily="2" charset="-122"/>
              </a:rPr>
              <a:t>Home</a:t>
            </a:r>
            <a:r>
              <a:rPr lang="zh-CN" sz="2000" b="0">
                <a:ea typeface="宋体" panose="02010600030101010101" pitchFamily="2" charset="-122"/>
              </a:rPr>
              <a:t>目录下，如图</a:t>
            </a:r>
            <a:r>
              <a:rPr lang="en-US" sz="2000" b="0">
                <a:latin typeface="Times New Roman" panose="02020603050405020304" charset="0"/>
                <a:ea typeface="宋体" panose="02010600030101010101" pitchFamily="2" charset="-122"/>
              </a:rPr>
              <a:t>13.77</a:t>
            </a:r>
            <a:r>
              <a:rPr lang="zh-CN" sz="2000" b="0">
                <a:ea typeface="宋体" panose="02010600030101010101" pitchFamily="2" charset="-122"/>
              </a:rPr>
              <a:t>所示。</a:t>
            </a:r>
            <a:endParaRPr lang="zh-CN" altLang="en-US" sz="2000" b="0">
              <a:ea typeface="宋体" panose="02010600030101010101" pitchFamily="2" charset="-122"/>
            </a:endParaRPr>
          </a:p>
        </p:txBody>
      </p:sp>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8TV6KN@I_T`9G@52DBNFG"/>
          <p:cNvPicPr>
            <a:picLocks noChangeAspect="1"/>
          </p:cNvPicPr>
          <p:nvPr>
            <p:custDataLst>
              <p:tags r:id="rId2"/>
            </p:custDataLst>
          </p:nvPr>
        </p:nvPicPr>
        <p:blipFill>
          <a:blip r:embed="rId3"/>
          <a:stretch>
            <a:fillRect/>
          </a:stretch>
        </p:blipFill>
        <p:spPr>
          <a:xfrm>
            <a:off x="2185035" y="4002405"/>
            <a:ext cx="7524750" cy="160972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四足机器人斜坡自适应调整实验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WITSHX]Z0CR~~XFV7C[D_)G"/>
          <p:cNvPicPr>
            <a:picLocks noChangeAspect="1"/>
          </p:cNvPicPr>
          <p:nvPr>
            <p:custDataLst>
              <p:tags r:id="rId2"/>
            </p:custDataLst>
          </p:nvPr>
        </p:nvPicPr>
        <p:blipFill>
          <a:blip r:embed="rId3"/>
          <a:stretch>
            <a:fillRect/>
          </a:stretch>
        </p:blipFill>
        <p:spPr>
          <a:xfrm>
            <a:off x="3439160" y="817245"/>
            <a:ext cx="5313680" cy="3417570"/>
          </a:xfrm>
          <a:prstGeom prst="rect">
            <a:avLst/>
          </a:prstGeom>
        </p:spPr>
      </p:pic>
      <p:sp>
        <p:nvSpPr>
          <p:cNvPr id="101" name="文本框 100"/>
          <p:cNvSpPr txBox="1"/>
          <p:nvPr/>
        </p:nvSpPr>
        <p:spPr>
          <a:xfrm>
            <a:off x="864235" y="4363085"/>
            <a:ext cx="9667875" cy="86042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数据分析可以通过</a:t>
            </a:r>
            <a:r>
              <a:rPr lang="en-US" sz="2000" b="0">
                <a:latin typeface="Times New Roman" panose="02020603050405020304" charset="0"/>
                <a:ea typeface="宋体" panose="02010600030101010101" pitchFamily="2" charset="-122"/>
              </a:rPr>
              <a:t>MATLAB</a:t>
            </a:r>
            <a:r>
              <a:rPr lang="zh-CN" sz="2000" b="0">
                <a:latin typeface="Times New Roman" panose="02020603050405020304" charset="0"/>
                <a:ea typeface="宋体" panose="02010600030101010101" pitchFamily="2" charset="-122"/>
              </a:rPr>
              <a:t>进行，用</a:t>
            </a:r>
            <a:r>
              <a:rPr lang="en-US" sz="2000" b="0">
                <a:latin typeface="Times New Roman" panose="02020603050405020304" charset="0"/>
                <a:ea typeface="宋体" panose="02010600030101010101" pitchFamily="2" charset="-122"/>
              </a:rPr>
              <a:t>MATLAB</a:t>
            </a:r>
            <a:r>
              <a:rPr lang="zh-CN" sz="2000" b="0">
                <a:ea typeface="宋体" panose="02010600030101010101" pitchFamily="2" charset="-122"/>
              </a:rPr>
              <a:t>画出俯仰角变化曲线</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如果所取数据没有达到期望值，可以修改补偿参数值，直到实现机器人斜坡姿态的自适应调整。</a:t>
            </a:r>
            <a:endParaRPr lang="zh-CN" altLang="en-US" sz="2000" b="0">
              <a:ea typeface="宋体" panose="02010600030101010101" pitchFamily="2" charset="-122"/>
            </a:endParaRPr>
          </a:p>
        </p:txBody>
      </p:sp>
      <p:sp>
        <p:nvSpPr>
          <p:cNvPr id="4" name="文本框 3"/>
          <p:cNvSpPr txBox="1"/>
          <p:nvPr/>
        </p:nvSpPr>
        <p:spPr>
          <a:xfrm>
            <a:off x="864235" y="5204460"/>
            <a:ext cx="9285605" cy="1076325"/>
          </a:xfrm>
          <a:prstGeom prst="rect">
            <a:avLst/>
          </a:prstGeom>
          <a:noFill/>
          <a:ln w="9525">
            <a:noFill/>
          </a:ln>
        </p:spPr>
        <p:txBody>
          <a:bodyPr wrap="square">
            <a:spAutoFit/>
          </a:bodyPr>
          <a:p>
            <a:pPr indent="0"/>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简述</a:t>
            </a:r>
            <a:r>
              <a:rPr lang="zh-CN" sz="2000" b="0">
                <a:ea typeface="宋体" panose="02010600030101010101" pitchFamily="2" charset="-122"/>
              </a:rPr>
              <a:t>足端位置调整的必要性</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简述</a:t>
            </a:r>
            <a:r>
              <a:rPr lang="zh-CN" sz="2000" b="0">
                <a:ea typeface="宋体" panose="02010600030101010101" pitchFamily="2" charset="-122"/>
              </a:rPr>
              <a:t>补偿参数如何选择</a:t>
            </a:r>
            <a:r>
              <a:rPr lang="zh-CN" sz="2000" b="0">
                <a:latin typeface="Times New Roman" panose="02020603050405020304" charset="0"/>
                <a:ea typeface="宋体" panose="02010600030101010101" pitchFamily="2" charset="-122"/>
              </a:rPr>
              <a:t>。</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942340"/>
            <a:ext cx="10155555" cy="5708015"/>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学会</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简单的图像处理指令；</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掌握循迹算法的具体原理及其实现过程</a:t>
            </a:r>
            <a:r>
              <a:rPr lang="zh-CN" sz="2000" b="0">
                <a:latin typeface="Times New Roman" panose="02020603050405020304" charset="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将循迹工程导入四足机器人的</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并编译</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实现</a:t>
            </a:r>
            <a:r>
              <a:rPr lang="zh-CN" sz="2000" b="0">
                <a:ea typeface="宋体" panose="02010600030101010101" pitchFamily="2" charset="-122"/>
              </a:rPr>
              <a:t>四足机器人自动避障</a:t>
            </a:r>
            <a:r>
              <a:rPr lang="zh-CN" sz="2000" b="0">
                <a:latin typeface="Times New Roman" panose="02020603050405020304" charset="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三、实验原理</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实现四足机器人自主循迹的核心内容主要包括两方面：图像感知处理和方向调整策略</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其中图像</a:t>
            </a:r>
            <a:r>
              <a:rPr lang="zh-CN" sz="2000" b="0">
                <a:latin typeface="Times New Roman" panose="02020603050405020304" charset="0"/>
                <a:ea typeface="宋体" panose="02010600030101010101" pitchFamily="2" charset="-122"/>
              </a:rPr>
              <a:t>感知</a:t>
            </a:r>
            <a:r>
              <a:rPr lang="zh-CN" sz="2000" b="0">
                <a:ea typeface="宋体" panose="02010600030101010101" pitchFamily="2" charset="-122"/>
              </a:rPr>
              <a:t>处理部分主要调用</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库</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的一些库函数来完成</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方向调整策略使用的是速度分解的策略。</a:t>
            </a:r>
            <a:r>
              <a:rPr lang="en-US" altLang="zh-CN" sz="2000" b="0">
                <a:ea typeface="宋体" panose="02010600030101010101" pitchFamily="2" charset="-122"/>
              </a:rPr>
              <a:t>        </a:t>
            </a:r>
            <a:r>
              <a:rPr lang="zh-CN" sz="2000" b="0">
                <a:ea typeface="宋体" panose="02010600030101010101" pitchFamily="2" charset="-122"/>
              </a:rPr>
              <a:t>四足机器人首先</a:t>
            </a:r>
            <a:r>
              <a:rPr lang="zh-CN" sz="2000" b="0">
                <a:latin typeface="Times New Roman" panose="02020603050405020304" charset="0"/>
                <a:ea typeface="宋体" panose="02010600030101010101" pitchFamily="2" charset="-122"/>
              </a:rPr>
              <a:t>应</a:t>
            </a:r>
            <a:r>
              <a:rPr lang="zh-CN" sz="2000" b="0">
                <a:ea typeface="宋体" panose="02010600030101010101" pitchFamily="2" charset="-122"/>
              </a:rPr>
              <a:t>能够感知到当前位置的红线信息</a:t>
            </a:r>
            <a:r>
              <a:rPr lang="zh-CN" sz="2000" b="0">
                <a:latin typeface="Times New Roman" panose="02020603050405020304" charset="0"/>
                <a:ea typeface="宋体" panose="02010600030101010101" pitchFamily="2" charset="-122"/>
              </a:rPr>
              <a:t>。先利用</a:t>
            </a:r>
            <a:r>
              <a:rPr lang="zh-CN" sz="2000" b="0">
                <a:ea typeface="宋体" panose="02010600030101010101" pitchFamily="2" charset="-122"/>
              </a:rPr>
              <a:t>彩色摄像头拍摄当前位置的图像，然后对图像</a:t>
            </a:r>
            <a:r>
              <a:rPr lang="zh-CN" sz="2000" b="0">
                <a:latin typeface="Times New Roman" panose="02020603050405020304" charset="0"/>
                <a:ea typeface="宋体" panose="02010600030101010101" pitchFamily="2" charset="-122"/>
              </a:rPr>
              <a:t>做</a:t>
            </a:r>
            <a:r>
              <a:rPr lang="zh-CN" sz="2000" b="0">
                <a:ea typeface="宋体" panose="02010600030101010101" pitchFamily="2" charset="-122"/>
              </a:rPr>
              <a:t>进一步的处理，包括图像二值化、腐蚀膨胀处理和轮廓提取，上述</a:t>
            </a:r>
            <a:r>
              <a:rPr lang="zh-CN" sz="2000" b="0">
                <a:latin typeface="Times New Roman" panose="02020603050405020304" charset="0"/>
                <a:ea typeface="宋体" panose="02010600030101010101" pitchFamily="2" charset="-122"/>
              </a:rPr>
              <a:t>处理</a:t>
            </a:r>
            <a:r>
              <a:rPr lang="zh-CN" sz="2000" b="0">
                <a:ea typeface="宋体" panose="02010600030101010101" pitchFamily="2" charset="-122"/>
              </a:rPr>
              <a:t>可以有效地</a:t>
            </a:r>
            <a:r>
              <a:rPr lang="zh-CN" sz="2000" b="0">
                <a:latin typeface="Times New Roman" panose="02020603050405020304" charset="0"/>
                <a:ea typeface="宋体" panose="02010600030101010101" pitchFamily="2" charset="-122"/>
              </a:rPr>
              <a:t>滤掉图像中的</a:t>
            </a:r>
            <a:r>
              <a:rPr lang="zh-CN" sz="2000" b="0">
                <a:ea typeface="宋体" panose="02010600030101010101" pitchFamily="2" charset="-122"/>
              </a:rPr>
              <a:t>其他干扰点，让四足机器人识别出</a:t>
            </a:r>
            <a:r>
              <a:rPr lang="zh-CN" sz="2000" b="0">
                <a:latin typeface="Times New Roman" panose="02020603050405020304" charset="0"/>
                <a:ea typeface="宋体" panose="02010600030101010101" pitchFamily="2" charset="-122"/>
              </a:rPr>
              <a:t>有用的</a:t>
            </a:r>
            <a:r>
              <a:rPr lang="zh-CN" sz="2000" b="0">
                <a:ea typeface="宋体" panose="02010600030101010101" pitchFamily="2" charset="-122"/>
              </a:rPr>
              <a:t>图像信息，并根据当前位置的图像信息做出相应的身体方向调整。</a:t>
            </a:r>
            <a:endParaRPr lang="zh-CN" altLang="en-US" sz="2000" b="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1028700"/>
            <a:ext cx="9926955" cy="5477510"/>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1</a:t>
            </a:r>
            <a:r>
              <a:rPr lang="zh-CN" sz="2000" b="1">
                <a:latin typeface="Arial" panose="020B0604020202020204" pitchFamily="34" charset="0"/>
                <a:ea typeface="黑体" panose="02010609060101010101" charset="-122"/>
              </a:rPr>
              <a:t>．</a:t>
            </a:r>
            <a:r>
              <a:rPr lang="zh-CN" sz="2000" b="1">
                <a:ea typeface="黑体" panose="02010609060101010101" charset="-122"/>
              </a:rPr>
              <a:t>图像二值化</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彩色摄像头拍摄出的彩色图像有三个通道</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R</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G</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B</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红、绿、蓝</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，本</a:t>
            </a:r>
            <a:r>
              <a:rPr lang="zh-CN" sz="2000" b="0">
                <a:latin typeface="Times New Roman" panose="02020603050405020304" charset="0"/>
                <a:ea typeface="宋体" panose="02010600030101010101" pitchFamily="2" charset="-122"/>
              </a:rPr>
              <a:t>书</a:t>
            </a:r>
            <a:r>
              <a:rPr lang="zh-CN" sz="2000" b="0">
                <a:ea typeface="宋体" panose="02010600030101010101" pitchFamily="2" charset="-122"/>
              </a:rPr>
              <a:t>通过削弱蓝色和绿色通道，加强红色通道的方法，提取出红色通道，但其包含的信息量仍然巨大，大大加重了计算机对它的处理负担，因此，</a:t>
            </a:r>
            <a:r>
              <a:rPr lang="zh-CN" sz="2000" b="0">
                <a:latin typeface="Times New Roman" panose="02020603050405020304" charset="0"/>
                <a:ea typeface="宋体" panose="02010600030101010101" pitchFamily="2" charset="-122"/>
              </a:rPr>
              <a:t>还要</a:t>
            </a:r>
            <a:r>
              <a:rPr lang="zh-CN" sz="2000" b="0">
                <a:ea typeface="宋体" panose="02010600030101010101" pitchFamily="2" charset="-122"/>
              </a:rPr>
              <a:t>通过图像二值化处理</a:t>
            </a:r>
            <a:r>
              <a:rPr lang="zh-CN" sz="2000" b="0">
                <a:latin typeface="Times New Roman" panose="02020603050405020304" charset="0"/>
                <a:ea typeface="宋体" panose="02010600030101010101" pitchFamily="2" charset="-122"/>
              </a:rPr>
              <a:t>将</a:t>
            </a:r>
            <a:r>
              <a:rPr lang="zh-CN" sz="2000" b="0">
                <a:ea typeface="宋体" panose="02010600030101010101" pitchFamily="2" charset="-122"/>
              </a:rPr>
              <a:t>其转化成黑白图像，从而减少图像数据量，使图像变得简单，并且凸显出目标图形的轮廓，增强图像的识别率，有利于对图像</a:t>
            </a:r>
            <a:r>
              <a:rPr lang="zh-CN" sz="2000" b="0">
                <a:latin typeface="Times New Roman" panose="02020603050405020304" charset="0"/>
                <a:ea typeface="宋体" panose="02010600030101010101" pitchFamily="2" charset="-122"/>
              </a:rPr>
              <a:t>做</a:t>
            </a:r>
            <a:r>
              <a:rPr lang="zh-CN" sz="2000" b="0">
                <a:ea typeface="宋体" panose="02010600030101010101" pitchFamily="2" charset="-122"/>
              </a:rPr>
              <a:t>进一步的处理。</a:t>
            </a:r>
            <a:r>
              <a:rPr lang="en-US" sz="2000" b="1">
                <a:latin typeface="Arial" panose="020B0604020202020204" pitchFamily="34" charset="0"/>
                <a:ea typeface="黑体" panose="02010609060101010101" charset="-122"/>
              </a:rPr>
              <a:t>2</a:t>
            </a:r>
            <a:r>
              <a:rPr lang="zh-CN" sz="2000" b="1">
                <a:latin typeface="Arial" panose="020B0604020202020204" pitchFamily="34" charset="0"/>
                <a:ea typeface="黑体" panose="02010609060101010101" charset="-122"/>
              </a:rPr>
              <a:t>．</a:t>
            </a:r>
            <a:r>
              <a:rPr lang="zh-CN" sz="2000" b="1">
                <a:ea typeface="黑体" panose="02010609060101010101" charset="-122"/>
              </a:rPr>
              <a:t>腐蚀膨胀处理</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虽然经过二值化处理后的彩色图像变得</a:t>
            </a:r>
            <a:r>
              <a:rPr lang="zh-CN" sz="2000" b="0">
                <a:latin typeface="Times New Roman" panose="02020603050405020304" charset="0"/>
                <a:ea typeface="宋体" panose="02010600030101010101" pitchFamily="2" charset="-122"/>
              </a:rPr>
              <a:t>更</a:t>
            </a:r>
            <a:r>
              <a:rPr lang="zh-CN" sz="2000" b="0">
                <a:ea typeface="宋体" panose="02010600030101010101" pitchFamily="2" charset="-122"/>
              </a:rPr>
              <a:t>简单，即呈现出黑白效果，但在目标轨迹周围出现的干扰点不会</a:t>
            </a:r>
            <a:r>
              <a:rPr lang="zh-CN" sz="2000" b="0">
                <a:latin typeface="Times New Roman" panose="02020603050405020304" charset="0"/>
                <a:ea typeface="宋体" panose="02010600030101010101" pitchFamily="2" charset="-122"/>
              </a:rPr>
              <a:t>消失</a:t>
            </a:r>
            <a:r>
              <a:rPr lang="zh-CN" sz="2000" b="0">
                <a:ea typeface="宋体" panose="02010600030101010101" pitchFamily="2" charset="-122"/>
              </a:rPr>
              <a:t>，反而会特别明显，</a:t>
            </a:r>
            <a:r>
              <a:rPr lang="zh-CN" sz="2000" b="0">
                <a:latin typeface="Times New Roman" panose="02020603050405020304" charset="0"/>
                <a:ea typeface="宋体" panose="02010600030101010101" pitchFamily="2" charset="-122"/>
              </a:rPr>
              <a:t>此时</a:t>
            </a:r>
            <a:r>
              <a:rPr lang="zh-CN" sz="2000" b="0">
                <a:ea typeface="宋体" panose="02010600030101010101" pitchFamily="2" charset="-122"/>
              </a:rPr>
              <a:t>如果图像有特别大的干扰点，就容易使四足机器人产生错误的识别</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图像腐蚀操作可以将图像高亮部分变暗，从而模糊淡化干扰点，因此，腐蚀处理可以有效地消除图像中的干扰点。</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altLang="en-US" sz="2000" b="0">
                <a:ea typeface="宋体" panose="02010600030101010101" pitchFamily="2" charset="-122"/>
              </a:rPr>
              <a:t>与此同时，经过腐蚀处理之后的图像中要识别的目标红线也不清晰。图像膨胀处理操作是腐蚀的反操作，它会使图像重新变得高亮，因此在腐蚀之后，本书做了图像膨胀处理，使得目标红线更加突出，有利于其轮廓的提取。</a:t>
            </a:r>
            <a:endParaRPr lang="zh-CN" altLang="en-US" sz="2000" b="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1" name="文本框 100"/>
          <p:cNvSpPr txBox="1"/>
          <p:nvPr/>
        </p:nvSpPr>
        <p:spPr>
          <a:xfrm>
            <a:off x="864235" y="1088390"/>
            <a:ext cx="9996805" cy="5477510"/>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经过图像腐蚀和膨胀处理后，可以有效地消除图像背景中其他干扰点，并且使得目标红线更加高亮的突显出来。</a:t>
            </a:r>
            <a:r>
              <a:rPr lang="en-US" sz="2000" b="1">
                <a:latin typeface="Arial" panose="020B0604020202020204" pitchFamily="34" charset="0"/>
                <a:ea typeface="黑体" panose="02010609060101010101" charset="-122"/>
              </a:rPr>
              <a:t>3</a:t>
            </a:r>
            <a:r>
              <a:rPr lang="zh-CN" sz="2000" b="1">
                <a:latin typeface="Arial" panose="020B0604020202020204" pitchFamily="34" charset="0"/>
                <a:ea typeface="黑体" panose="02010609060101010101" charset="-122"/>
              </a:rPr>
              <a:t>．</a:t>
            </a:r>
            <a:r>
              <a:rPr lang="zh-CN" sz="2000" b="1">
                <a:ea typeface="黑体" panose="02010609060101010101" charset="-122"/>
              </a:rPr>
              <a:t>轮廓提取</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基于以上图像处理后，</a:t>
            </a:r>
            <a:r>
              <a:rPr lang="zh-CN" sz="2000" b="0">
                <a:latin typeface="Times New Roman" panose="02020603050405020304" charset="0"/>
                <a:ea typeface="宋体" panose="02010600030101010101" pitchFamily="2" charset="-122"/>
              </a:rPr>
              <a:t>我们</a:t>
            </a:r>
            <a:r>
              <a:rPr lang="zh-CN" sz="2000" b="0">
                <a:ea typeface="宋体" panose="02010600030101010101" pitchFamily="2" charset="-122"/>
              </a:rPr>
              <a:t>要提取图像的最大外围轮廓，进而确定其最小包围矩形。一个轮廓一般对应一系列的点，也就是图像中的一条曲线，本</a:t>
            </a:r>
            <a:r>
              <a:rPr lang="zh-CN" sz="2000" b="0">
                <a:latin typeface="Times New Roman" panose="02020603050405020304" charset="0"/>
                <a:ea typeface="宋体" panose="02010600030101010101" pitchFamily="2" charset="-122"/>
              </a:rPr>
              <a:t>书</a:t>
            </a:r>
            <a:r>
              <a:rPr lang="zh-CN" sz="2000" b="0">
                <a:ea typeface="宋体" panose="02010600030101010101" pitchFamily="2" charset="-122"/>
              </a:rPr>
              <a:t>通过</a:t>
            </a:r>
            <a:r>
              <a:rPr lang="en-US" sz="2000" b="0">
                <a:latin typeface="Times New Roman" panose="02020603050405020304" charset="0"/>
                <a:ea typeface="宋体" panose="02010600030101010101" pitchFamily="2" charset="-122"/>
              </a:rPr>
              <a:t>findCours</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函数从二值图像中寻找外轮廓。</a:t>
            </a:r>
            <a:r>
              <a:rPr lang="en-US" altLang="zh-CN" sz="2000" b="0">
                <a:ea typeface="宋体" panose="02010600030101010101" pitchFamily="2" charset="-122"/>
              </a:rPr>
              <a:t>       </a:t>
            </a:r>
            <a:r>
              <a:rPr lang="zh-CN" sz="2000" b="0">
                <a:ea typeface="宋体" panose="02010600030101010101" pitchFamily="2" charset="-122"/>
              </a:rPr>
              <a:t>当寻找轮廓结束后，由于不能保证寻找出的轮廓有且仅有一个，当出现多个轮廓时，出现的干扰点过大</a:t>
            </a:r>
            <a:r>
              <a:rPr lang="zh-CN" sz="2000" b="0">
                <a:latin typeface="Times New Roman" panose="02020603050405020304" charset="0"/>
                <a:ea typeface="宋体" panose="02010600030101010101" pitchFamily="2" charset="-122"/>
              </a:rPr>
              <a:t>会导致</a:t>
            </a:r>
            <a:r>
              <a:rPr lang="zh-CN" sz="2000" b="0">
                <a:ea typeface="宋体" panose="02010600030101010101" pitchFamily="2" charset="-122"/>
              </a:rPr>
              <a:t>图像处理操作不能</a:t>
            </a:r>
            <a:r>
              <a:rPr lang="zh-CN" sz="2000" b="0">
                <a:latin typeface="Times New Roman" panose="02020603050405020304" charset="0"/>
                <a:ea typeface="宋体" panose="02010600030101010101" pitchFamily="2" charset="-122"/>
              </a:rPr>
              <a:t>将其</a:t>
            </a:r>
            <a:r>
              <a:rPr lang="zh-CN" sz="2000" b="0">
                <a:ea typeface="宋体" panose="02010600030101010101" pitchFamily="2" charset="-122"/>
              </a:rPr>
              <a:t>完全消除，此时，就需要寻找出最大轮廓</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本</a:t>
            </a:r>
            <a:r>
              <a:rPr lang="zh-CN" sz="2000" b="0">
                <a:latin typeface="Times New Roman" panose="02020603050405020304" charset="0"/>
                <a:ea typeface="宋体" panose="02010600030101010101" pitchFamily="2" charset="-122"/>
              </a:rPr>
              <a:t>书</a:t>
            </a:r>
            <a:r>
              <a:rPr lang="zh-CN" sz="2000" b="0">
                <a:ea typeface="宋体" panose="02010600030101010101" pitchFamily="2" charset="-122"/>
              </a:rPr>
              <a:t>通过最大面积法寻找最大轮廓，</a:t>
            </a:r>
            <a:r>
              <a:rPr lang="zh-CN" sz="2000" b="0">
                <a:latin typeface="Times New Roman" panose="02020603050405020304" charset="0"/>
                <a:ea typeface="宋体" panose="02010600030101010101" pitchFamily="2" charset="-122"/>
              </a:rPr>
              <a:t>即</a:t>
            </a:r>
            <a:r>
              <a:rPr lang="zh-CN" sz="2000" b="0">
                <a:ea typeface="宋体" panose="02010600030101010101" pitchFamily="2" charset="-122"/>
              </a:rPr>
              <a:t>设定一个轮廓索引，</a:t>
            </a:r>
            <a:r>
              <a:rPr lang="zh-CN" sz="2000" b="0">
                <a:latin typeface="Times New Roman" panose="02020603050405020304" charset="0"/>
                <a:ea typeface="宋体" panose="02010600030101010101" pitchFamily="2" charset="-122"/>
              </a:rPr>
              <a:t>使</a:t>
            </a:r>
            <a:r>
              <a:rPr lang="zh-CN" sz="2000" b="0">
                <a:ea typeface="宋体" panose="02010600030101010101" pitchFamily="2" charset="-122"/>
              </a:rPr>
              <a:t>每个索引号对应于一个轮廓，通过遍历所有的轮廓并比较每个轮廓的面积，确定最大轮廓。</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altLang="en-US" sz="2000" b="0">
                <a:ea typeface="宋体" panose="02010600030101010101" pitchFamily="2" charset="-122"/>
              </a:rPr>
              <a:t>得到最大轮廓后，可通过调用minAreaRect()函数获取其最小包围矩形，从而可以确定红线具体的坐标值。本书将红线上、下顶点像素坐标的横坐标值的偏差作为四足机器人身体调整的一个切入点，因此，需要提取出最小包围矩形上、下顶点的对应的像素坐标点。</a:t>
            </a:r>
            <a:endParaRPr lang="zh-CN" altLang="en-US" sz="2000" b="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864235" y="1179195"/>
            <a:ext cx="10325100" cy="163004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由于拍摄的目标轨迹足够细，在提取最小包围矩形顶点时，</a:t>
            </a:r>
            <a:r>
              <a:rPr lang="zh-CN" sz="2000" b="0">
                <a:latin typeface="Times New Roman" panose="02020603050405020304" charset="0"/>
                <a:ea typeface="宋体" panose="02010600030101010101" pitchFamily="2" charset="-122"/>
              </a:rPr>
              <a:t>将其</a:t>
            </a:r>
            <a:r>
              <a:rPr lang="zh-CN" sz="2000" b="0">
                <a:ea typeface="宋体" panose="02010600030101010101" pitchFamily="2" charset="-122"/>
              </a:rPr>
              <a:t>看成上</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下两个顶点即可。本</a:t>
            </a:r>
            <a:r>
              <a:rPr lang="zh-CN" sz="2000" b="0">
                <a:latin typeface="Times New Roman" panose="02020603050405020304" charset="0"/>
                <a:ea typeface="宋体" panose="02010600030101010101" pitchFamily="2" charset="-122"/>
              </a:rPr>
              <a:t>书</a:t>
            </a:r>
            <a:r>
              <a:rPr lang="zh-CN" sz="2000" b="0">
                <a:ea typeface="宋体" panose="02010600030101010101" pitchFamily="2" charset="-122"/>
              </a:rPr>
              <a:t>通过判断目标红线纵坐标</a:t>
            </a:r>
            <a:r>
              <a:rPr lang="en-US" sz="2000" b="0">
                <a:latin typeface="Times New Roman" panose="02020603050405020304" charset="0"/>
                <a:ea typeface="宋体" panose="02010600030101010101" pitchFamily="2" charset="-122"/>
              </a:rPr>
              <a:t>y</a:t>
            </a:r>
            <a:r>
              <a:rPr lang="zh-CN" sz="2000" b="0">
                <a:ea typeface="宋体" panose="02010600030101010101" pitchFamily="2" charset="-122"/>
              </a:rPr>
              <a:t>值的大小来确定上</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下两顶点，即纵坐标的像素</a:t>
            </a:r>
            <a:r>
              <a:rPr lang="en-US" sz="2000" b="0">
                <a:latin typeface="Times New Roman" panose="02020603050405020304" charset="0"/>
                <a:ea typeface="宋体" panose="02010600030101010101" pitchFamily="2" charset="-122"/>
              </a:rPr>
              <a:t>y</a:t>
            </a:r>
            <a:r>
              <a:rPr lang="zh-CN" sz="2000" b="0">
                <a:ea typeface="宋体" panose="02010600030101010101" pitchFamily="2" charset="-122"/>
              </a:rPr>
              <a:t>最小值对应的点为上顶点，纵坐标</a:t>
            </a:r>
            <a:r>
              <a:rPr lang="en-US" sz="2000" b="0">
                <a:latin typeface="Times New Roman" panose="02020603050405020304" charset="0"/>
                <a:ea typeface="宋体" panose="02010600030101010101" pitchFamily="2" charset="-122"/>
              </a:rPr>
              <a:t>y</a:t>
            </a:r>
            <a:r>
              <a:rPr lang="zh-CN" sz="2000" b="0">
                <a:ea typeface="宋体" panose="02010600030101010101" pitchFamily="2" charset="-122"/>
              </a:rPr>
              <a:t>最大值对应的点</a:t>
            </a:r>
            <a:r>
              <a:rPr lang="zh-CN" sz="2000" b="0">
                <a:latin typeface="Times New Roman" panose="02020603050405020304" charset="0"/>
                <a:ea typeface="宋体" panose="02010600030101010101" pitchFamily="2" charset="-122"/>
              </a:rPr>
              <a:t>为</a:t>
            </a:r>
            <a:r>
              <a:rPr lang="zh-CN" sz="2000" b="0">
                <a:ea typeface="宋体" panose="02010600030101010101" pitchFamily="2" charset="-122"/>
              </a:rPr>
              <a:t>下顶点，从而可以得到上</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下顶点所对应的</a:t>
            </a:r>
            <a:r>
              <a:rPr lang="en-US" sz="2000" b="0">
                <a:latin typeface="Times New Roman" panose="02020603050405020304" charset="0"/>
                <a:ea typeface="宋体" panose="02010600030101010101" pitchFamily="2" charset="-122"/>
              </a:rPr>
              <a:t>x</a:t>
            </a:r>
            <a:r>
              <a:rPr lang="zh-CN" sz="2000" b="0">
                <a:ea typeface="宋体" panose="02010600030101010101" pitchFamily="2" charset="-122"/>
              </a:rPr>
              <a:t>方向的像素值。最小包围矩形取点原理如图</a:t>
            </a:r>
            <a:r>
              <a:rPr lang="en-US" sz="2000" b="0" baseline="-25000">
                <a:latin typeface="Times New Roman" panose="02020603050405020304" charset="0"/>
                <a:ea typeface="宋体" panose="02010600030101010101" pitchFamily="2" charset="-122"/>
              </a:rPr>
              <a:t> </a:t>
            </a:r>
            <a:r>
              <a:rPr lang="en-US" sz="2000" b="0">
                <a:latin typeface="Times New Roman" panose="02020603050405020304" charset="0"/>
                <a:ea typeface="宋体" panose="02010600030101010101" pitchFamily="2" charset="-122"/>
              </a:rPr>
              <a:t>13.78</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8" name="图片 7" descr="ERN@G27N$619`XK%QMK$II8"/>
          <p:cNvPicPr>
            <a:picLocks noChangeAspect="1"/>
          </p:cNvPicPr>
          <p:nvPr>
            <p:custDataLst>
              <p:tags r:id="rId2"/>
            </p:custDataLst>
          </p:nvPr>
        </p:nvPicPr>
        <p:blipFill>
          <a:blip r:embed="rId3"/>
          <a:stretch>
            <a:fillRect/>
          </a:stretch>
        </p:blipFill>
        <p:spPr>
          <a:xfrm>
            <a:off x="4526280" y="2809240"/>
            <a:ext cx="3605530" cy="2389505"/>
          </a:xfrm>
          <a:prstGeom prst="rect">
            <a:avLst/>
          </a:prstGeom>
        </p:spPr>
      </p:pic>
      <p:sp>
        <p:nvSpPr>
          <p:cNvPr id="9" name="文本框 8"/>
          <p:cNvSpPr txBox="1"/>
          <p:nvPr/>
        </p:nvSpPr>
        <p:spPr>
          <a:xfrm>
            <a:off x="864235" y="5307965"/>
            <a:ext cx="10325100" cy="124523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其中，白色背景所存在的区域代表了拍摄</a:t>
            </a:r>
            <a:r>
              <a:rPr lang="zh-CN" sz="2000" b="0">
                <a:latin typeface="Times New Roman" panose="02020603050405020304" charset="0"/>
                <a:ea typeface="宋体" panose="02010600030101010101" pitchFamily="2" charset="-122"/>
              </a:rPr>
              <a:t>图像</a:t>
            </a:r>
            <a:r>
              <a:rPr lang="zh-CN" sz="2000" b="0">
                <a:ea typeface="宋体" panose="02010600030101010101" pitchFamily="2" charset="-122"/>
              </a:rPr>
              <a:t>的大小，</a:t>
            </a:r>
            <a:r>
              <a:rPr lang="zh-CN" sz="2000" b="0">
                <a:latin typeface="Times New Roman" panose="02020603050405020304" charset="0"/>
                <a:ea typeface="宋体" panose="02010600030101010101" pitchFamily="2" charset="-122"/>
              </a:rPr>
              <a:t>中间的粗细</a:t>
            </a:r>
            <a:r>
              <a:rPr lang="zh-CN" sz="2000" b="0">
                <a:ea typeface="宋体" panose="02010600030101010101" pitchFamily="2" charset="-122"/>
              </a:rPr>
              <a:t>代表了彩色相机拍摄当前位置图像中的红线</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红线的最小外包矩阵。至此，机器人便明确地感知到了当前位置的图像信息。</a:t>
            </a:r>
            <a:endParaRPr lang="zh-CN" altLang="en-US" sz="2000" b="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1742440"/>
            <a:ext cx="10076180" cy="316928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当四足机器人感知到目标红线后就会根据设计的方向调整算法</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自动做出相应的调整。本实验整体循迹流程图如图</a:t>
            </a:r>
            <a:r>
              <a:rPr lang="en-US" sz="2000" b="0">
                <a:latin typeface="Times New Roman" panose="02020603050405020304" charset="0"/>
                <a:ea typeface="宋体" panose="02010600030101010101" pitchFamily="2" charset="-122"/>
              </a:rPr>
              <a:t>13.79</a:t>
            </a:r>
            <a:r>
              <a:rPr lang="zh-CN" sz="2000" b="0">
                <a:ea typeface="宋体" panose="02010600030101010101" pitchFamily="2" charset="-122"/>
              </a:rPr>
              <a:t>所示。</a:t>
            </a:r>
            <a:r>
              <a:rPr lang="en-US" altLang="zh-CN" sz="2000" b="0">
                <a:ea typeface="宋体" panose="02010600030101010101" pitchFamily="2" charset="-122"/>
              </a:rPr>
              <a:t>        </a:t>
            </a:r>
            <a:r>
              <a:rPr lang="zh-CN" sz="2000" b="0">
                <a:ea typeface="宋体" panose="02010600030101010101" pitchFamily="2" charset="-122"/>
              </a:rPr>
              <a:t>首先，通过上位机输入指令</a:t>
            </a:r>
            <a:r>
              <a:rPr lang="zh-CN" sz="2000" b="0">
                <a:latin typeface="Times New Roman" panose="02020603050405020304" charset="0"/>
                <a:ea typeface="宋体" panose="02010600030101010101" pitchFamily="2" charset="-122"/>
              </a:rPr>
              <a:t>开</a:t>
            </a:r>
            <a:r>
              <a:rPr lang="zh-CN" sz="2000" b="0">
                <a:ea typeface="宋体" panose="02010600030101010101" pitchFamily="2" charset="-122"/>
              </a:rPr>
              <a:t>启摄像头，摄像头采集当前位置的图像，然后对图像分别进行了二值化、腐蚀膨胀处理，</a:t>
            </a:r>
            <a:r>
              <a:rPr lang="zh-CN" sz="2000" b="0">
                <a:latin typeface="Times New Roman" panose="02020603050405020304" charset="0"/>
                <a:ea typeface="宋体" panose="02010600030101010101" pitchFamily="2" charset="-122"/>
              </a:rPr>
              <a:t>消</a:t>
            </a:r>
            <a:r>
              <a:rPr lang="zh-CN" sz="2000" b="0">
                <a:ea typeface="宋体" panose="02010600030101010101" pitchFamily="2" charset="-122"/>
              </a:rPr>
              <a:t>除了图像周围存在的干扰点</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接着通过寻找最大轮廓，进一步确定所要识别的目标轨迹信息，用最小包围矩形锁定轮廓，获取</a:t>
            </a:r>
            <a:r>
              <a:rPr lang="zh-CN" sz="2000" b="0">
                <a:latin typeface="Times New Roman" panose="02020603050405020304" charset="0"/>
                <a:ea typeface="宋体" panose="02010600030101010101" pitchFamily="2" charset="-122"/>
              </a:rPr>
              <a:t>最小包围矩形</a:t>
            </a:r>
            <a:r>
              <a:rPr lang="zh-CN" sz="2000" b="0">
                <a:ea typeface="宋体" panose="02010600030101010101" pitchFamily="2" charset="-122"/>
              </a:rPr>
              <a:t>上</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下顶点在整个图像中所对应的</a:t>
            </a:r>
            <a:r>
              <a:rPr lang="en-US" sz="2000" b="0">
                <a:latin typeface="Times New Roman" panose="02020603050405020304" charset="0"/>
                <a:ea typeface="宋体" panose="02010600030101010101" pitchFamily="2" charset="-122"/>
              </a:rPr>
              <a:t>x</a:t>
            </a:r>
            <a:r>
              <a:rPr lang="zh-CN" sz="2000" b="0">
                <a:ea typeface="宋体" panose="02010600030101010101" pitchFamily="2" charset="-122"/>
              </a:rPr>
              <a:t>方向的像素值</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通过计算两顶点</a:t>
            </a:r>
            <a:r>
              <a:rPr lang="en-US" sz="2000" b="0">
                <a:latin typeface="Times New Roman" panose="02020603050405020304" charset="0"/>
                <a:ea typeface="宋体" panose="02010600030101010101" pitchFamily="2" charset="-122"/>
              </a:rPr>
              <a:t>x</a:t>
            </a:r>
            <a:r>
              <a:rPr lang="zh-CN" sz="2000" b="0">
                <a:ea typeface="宋体" panose="02010600030101010101" pitchFamily="2" charset="-122"/>
              </a:rPr>
              <a:t>方向像素值偏差是否为零，来决定四足机器人是否需要进行自偏转调整，若偏差为零，</a:t>
            </a:r>
            <a:r>
              <a:rPr lang="zh-CN" sz="2000" b="0">
                <a:latin typeface="Times New Roman" panose="02020603050405020304" charset="0"/>
                <a:ea typeface="宋体" panose="02010600030101010101" pitchFamily="2" charset="-122"/>
              </a:rPr>
              <a:t>则</a:t>
            </a:r>
            <a:r>
              <a:rPr lang="zh-CN" sz="2000" b="0">
                <a:ea typeface="宋体" panose="02010600030101010101" pitchFamily="2" charset="-122"/>
              </a:rPr>
              <a:t>保持直线行驶，若不为零</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就会做出相应的自偏转调整。</a:t>
            </a:r>
            <a:endParaRPr lang="zh-CN" altLang="en-US" sz="2000" b="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4JAK(`9O)XLR[LX`XI@H[1"/>
          <p:cNvPicPr>
            <a:picLocks noChangeAspect="1"/>
          </p:cNvPicPr>
          <p:nvPr>
            <p:custDataLst>
              <p:tags r:id="rId2"/>
            </p:custDataLst>
          </p:nvPr>
        </p:nvPicPr>
        <p:blipFill>
          <a:blip r:embed="rId3"/>
          <a:stretch>
            <a:fillRect/>
          </a:stretch>
        </p:blipFill>
        <p:spPr>
          <a:xfrm>
            <a:off x="3637280" y="933450"/>
            <a:ext cx="5096510" cy="577532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1003935"/>
            <a:ext cx="10026650" cy="3630930"/>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检查机器人前端的彩色摄像头是否安装并正确连接至</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ea typeface="宋体" panose="02010600030101010101" pitchFamily="2" charset="-122"/>
              </a:rPr>
              <a:t>板，确</a:t>
            </a:r>
            <a:r>
              <a:rPr lang="zh-CN" sz="2000" b="0">
                <a:latin typeface="Times New Roman" panose="02020603050405020304" charset="0"/>
                <a:ea typeface="宋体" panose="02010600030101010101" pitchFamily="2" charset="-122"/>
              </a:rPr>
              <a:t>认</a:t>
            </a:r>
            <a:r>
              <a:rPr lang="zh-CN" sz="2000" b="0">
                <a:ea typeface="宋体" panose="02010600030101010101" pitchFamily="2" charset="-122"/>
              </a:rPr>
              <a:t>无误后</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通过网线连接四足机器人</a:t>
            </a:r>
            <a:r>
              <a:rPr lang="zh-CN" sz="2000" b="0">
                <a:latin typeface="Times New Roman" panose="02020603050405020304" charset="0"/>
                <a:ea typeface="宋体" panose="02010600030101010101" pitchFamily="2" charset="-122"/>
              </a:rPr>
              <a:t>与</a:t>
            </a:r>
            <a:r>
              <a:rPr lang="en-US" sz="2000" b="0">
                <a:latin typeface="Times New Roman" panose="02020603050405020304" charset="0"/>
                <a:ea typeface="宋体" panose="02010600030101010101" pitchFamily="2" charset="-122"/>
              </a:rPr>
              <a:t>PC</a:t>
            </a:r>
            <a:r>
              <a:rPr lang="zh-CN" sz="2000" b="0">
                <a:latin typeface="Times New Roman" panose="02020603050405020304" charset="0"/>
                <a:ea typeface="宋体" panose="02010600030101010101" pitchFamily="2" charset="-122"/>
              </a:rPr>
              <a:t>端</a:t>
            </a:r>
            <a:r>
              <a:rPr lang="zh-CN" sz="2000" b="0">
                <a:ea typeface="宋体" panose="02010600030101010101" pitchFamily="2" charset="-122"/>
              </a:rPr>
              <a:t>，实现上位机与四足机器人之间的通信</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首先准备好完整的自主循迹的代码，将此代码导入</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ea typeface="宋体" panose="02010600030101010101" pitchFamily="2" charset="-122"/>
              </a:rPr>
              <a:t>中，这里，需要在</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系统中安装一个数据传输的软件</a:t>
            </a: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Filezilla</a:t>
            </a:r>
            <a:r>
              <a:rPr lang="zh-CN" sz="2000" b="0">
                <a:ea typeface="宋体" panose="02010600030101010101" pitchFamily="2" charset="-122"/>
              </a:rPr>
              <a:t>软件</a:t>
            </a:r>
            <a:r>
              <a:rPr lang="en-US" sz="2000" b="0">
                <a:latin typeface="宋体" panose="02010600030101010101" pitchFamily="2" charset="-122"/>
                <a:ea typeface="宋体" panose="02010600030101010101" pitchFamily="2" charset="-122"/>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打开</a:t>
            </a:r>
            <a:r>
              <a:rPr lang="en-US" sz="2000" b="0">
                <a:latin typeface="Times New Roman" panose="02020603050405020304" charset="0"/>
                <a:ea typeface="宋体" panose="02010600030101010101" pitchFamily="2" charset="-122"/>
              </a:rPr>
              <a:t>Filezilla</a:t>
            </a:r>
            <a:r>
              <a:rPr lang="zh-CN" sz="2000" b="0">
                <a:ea typeface="宋体" panose="02010600030101010101" pitchFamily="2" charset="-122"/>
              </a:rPr>
              <a:t>，输入</a:t>
            </a:r>
            <a:r>
              <a:rPr lang="zh-CN" sz="2000" b="0">
                <a:latin typeface="Times New Roman" panose="02020603050405020304" charset="0"/>
                <a:ea typeface="宋体" panose="02010600030101010101" pitchFamily="2" charset="-122"/>
              </a:rPr>
              <a:t>相关</a:t>
            </a:r>
            <a:r>
              <a:rPr lang="zh-CN" sz="2000" b="0">
                <a:ea typeface="宋体" panose="02010600030101010101" pitchFamily="2" charset="-122"/>
              </a:rPr>
              <a:t>内容</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13.80</a:t>
            </a:r>
            <a:r>
              <a:rPr lang="zh-CN" sz="2000" b="0">
                <a:latin typeface="Times New Roman" panose="02020603050405020304" charset="0"/>
                <a:ea typeface="宋体" panose="02010600030101010101" pitchFamily="2" charset="-122"/>
              </a:rPr>
              <a:t>所示。</a:t>
            </a: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按</a:t>
            </a:r>
            <a:r>
              <a:rPr lang="zh-CN" sz="2000" b="0">
                <a:ea typeface="宋体" panose="02010600030101010101" pitchFamily="2" charset="-122"/>
              </a:rPr>
              <a:t>回车键，连接</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13.81</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r>
              <a:rPr lang="zh-CN" sz="2000" b="0">
                <a:latin typeface="Times New Roman" panose="02020603050405020304" charset="0"/>
                <a:ea typeface="宋体" panose="02010600030101010101" pitchFamily="2" charset="-122"/>
              </a:rPr>
              <a:t>界面</a:t>
            </a:r>
            <a:r>
              <a:rPr lang="zh-CN" sz="2000" b="0">
                <a:ea typeface="宋体" panose="02010600030101010101" pitchFamily="2" charset="-122"/>
              </a:rPr>
              <a:t>左侧为</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端，右侧为</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ea typeface="宋体" panose="02010600030101010101" pitchFamily="2" charset="-122"/>
              </a:rPr>
              <a:t>端，</a:t>
            </a:r>
            <a:r>
              <a:rPr lang="zh-CN" sz="2000" b="0">
                <a:latin typeface="Times New Roman" panose="02020603050405020304" charset="0"/>
                <a:ea typeface="宋体" panose="02010600030101010101" pitchFamily="2" charset="-122"/>
              </a:rPr>
              <a:t>在</a:t>
            </a:r>
            <a:r>
              <a:rPr lang="en-US" sz="2000" b="0">
                <a:latin typeface="Times New Roman" panose="02020603050405020304" charset="0"/>
                <a:ea typeface="宋体" panose="02010600030101010101" pitchFamily="2" charset="-122"/>
              </a:rPr>
              <a:t>PC</a:t>
            </a:r>
            <a:r>
              <a:rPr lang="zh-CN" sz="2000" b="0">
                <a:ea typeface="宋体" panose="02010600030101010101" pitchFamily="2" charset="-122"/>
              </a:rPr>
              <a:t>端找到循迹的代码，右键单击下载即可。此时循迹</a:t>
            </a:r>
            <a:r>
              <a:rPr lang="zh-CN" sz="2000" b="0">
                <a:latin typeface="Times New Roman" panose="02020603050405020304" charset="0"/>
                <a:ea typeface="宋体" panose="02010600030101010101" pitchFamily="2" charset="-122"/>
              </a:rPr>
              <a:t>代码</a:t>
            </a:r>
            <a:r>
              <a:rPr lang="zh-CN" sz="2000" b="0">
                <a:ea typeface="宋体" panose="02010600030101010101" pitchFamily="2" charset="-122"/>
              </a:rPr>
              <a:t>已经传输到</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latin typeface="Times New Roman" panose="02020603050405020304" charset="0"/>
                <a:ea typeface="宋体" panose="02010600030101010101" pitchFamily="2" charset="-122"/>
              </a:rPr>
              <a:t>上了</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接下来</a:t>
            </a:r>
            <a:r>
              <a:rPr lang="zh-CN" sz="2000" b="0">
                <a:latin typeface="Times New Roman" panose="02020603050405020304" charset="0"/>
                <a:ea typeface="宋体" panose="02010600030101010101" pitchFamily="2" charset="-122"/>
              </a:rPr>
              <a:t>进行</a:t>
            </a:r>
            <a:r>
              <a:rPr lang="zh-CN" sz="2000" b="0">
                <a:ea typeface="宋体" panose="02010600030101010101" pitchFamily="2" charset="-122"/>
              </a:rPr>
              <a:t>代码编译，打开一个终端，输入指令</a:t>
            </a:r>
            <a:r>
              <a:rPr lang="en-US" sz="2000" b="0">
                <a:latin typeface="Times New Roman" panose="02020603050405020304" charset="0"/>
                <a:ea typeface="宋体" panose="02010600030101010101" pitchFamily="2" charset="-122"/>
              </a:rPr>
              <a:t>“ssh user@10.0.0.34”</a:t>
            </a:r>
            <a:r>
              <a:rPr lang="zh-CN" sz="2000" b="0">
                <a:ea typeface="宋体" panose="02010600030101010101" pitchFamily="2" charset="-122"/>
              </a:rPr>
              <a:t>进入</a:t>
            </a:r>
            <a:r>
              <a:rPr lang="en-US" sz="2000" b="0">
                <a:latin typeface="Times New Roman" panose="02020603050405020304" charset="0"/>
                <a:ea typeface="宋体" panose="02010600030101010101" pitchFamily="2" charset="-122"/>
              </a:rPr>
              <a:t>UP</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board</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13.82</a:t>
            </a:r>
            <a:r>
              <a:rPr lang="zh-CN" sz="2000" b="0">
                <a:latin typeface="Times New Roman" panose="02020603050405020304" charset="0"/>
                <a:ea typeface="宋体" panose="02010600030101010101" pitchFamily="2" charset="-122"/>
              </a:rPr>
              <a:t>所示</a:t>
            </a:r>
            <a:r>
              <a:rPr lang="zh-CN" b="0">
                <a:ea typeface="宋体" panose="02010600030101010101" pitchFamily="2" charset="-122"/>
              </a:rPr>
              <a:t>。</a:t>
            </a:r>
            <a:endParaRPr lang="zh-CN" altLang="en-US" b="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Y~]8W`1TFOO%W8198NNF5PS"/>
          <p:cNvPicPr>
            <a:picLocks noChangeAspect="1"/>
          </p:cNvPicPr>
          <p:nvPr>
            <p:custDataLst>
              <p:tags r:id="rId2"/>
            </p:custDataLst>
          </p:nvPr>
        </p:nvPicPr>
        <p:blipFill>
          <a:blip r:embed="rId3"/>
          <a:stretch>
            <a:fillRect/>
          </a:stretch>
        </p:blipFill>
        <p:spPr>
          <a:xfrm>
            <a:off x="864235" y="1263650"/>
            <a:ext cx="4517390" cy="3989705"/>
          </a:xfrm>
          <a:prstGeom prst="rect">
            <a:avLst/>
          </a:prstGeom>
        </p:spPr>
      </p:pic>
      <p:pic>
        <p:nvPicPr>
          <p:cNvPr id="3" name="图片 2" descr="%(XI4EIFLR{WA`CNR5BMN9N"/>
          <p:cNvPicPr>
            <a:picLocks noChangeAspect="1"/>
          </p:cNvPicPr>
          <p:nvPr>
            <p:custDataLst>
              <p:tags r:id="rId4"/>
            </p:custDataLst>
          </p:nvPr>
        </p:nvPicPr>
        <p:blipFill>
          <a:blip r:embed="rId5"/>
          <a:stretch>
            <a:fillRect/>
          </a:stretch>
        </p:blipFill>
        <p:spPr>
          <a:xfrm>
            <a:off x="6341110" y="1263650"/>
            <a:ext cx="4525010" cy="398907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9Y4{IWKF)Q}D0E~ZPY4LGXK"/>
          <p:cNvPicPr>
            <a:picLocks noChangeAspect="1"/>
          </p:cNvPicPr>
          <p:nvPr>
            <p:custDataLst>
              <p:tags r:id="rId2"/>
            </p:custDataLst>
          </p:nvPr>
        </p:nvPicPr>
        <p:blipFill>
          <a:blip r:embed="rId3"/>
          <a:stretch>
            <a:fillRect/>
          </a:stretch>
        </p:blipFill>
        <p:spPr>
          <a:xfrm>
            <a:off x="3558540" y="939165"/>
            <a:ext cx="5353050" cy="2133600"/>
          </a:xfrm>
          <a:prstGeom prst="rect">
            <a:avLst/>
          </a:prstGeom>
        </p:spPr>
      </p:pic>
      <p:sp>
        <p:nvSpPr>
          <p:cNvPr id="105" name="文本框 104"/>
          <p:cNvSpPr txBox="1"/>
          <p:nvPr/>
        </p:nvSpPr>
        <p:spPr>
          <a:xfrm>
            <a:off x="864235" y="3179445"/>
            <a:ext cx="10126345" cy="1630045"/>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进入刚才传输的工程目录下，使用</a:t>
            </a:r>
            <a:r>
              <a:rPr lang="en-US" sz="2000" b="0">
                <a:latin typeface="Times New Roman" panose="02020603050405020304" charset="0"/>
                <a:ea typeface="宋体" panose="02010600030101010101" pitchFamily="2" charset="-122"/>
              </a:rPr>
              <a:t>qmake</a:t>
            </a:r>
            <a:r>
              <a:rPr lang="zh-CN" sz="2000" b="0">
                <a:latin typeface="Times New Roman" panose="02020603050405020304" charset="0"/>
                <a:ea typeface="宋体" panose="02010600030101010101" pitchFamily="2" charset="-122"/>
              </a:rPr>
              <a:t>指令</a:t>
            </a:r>
            <a:r>
              <a:rPr lang="zh-CN" sz="2000" b="0">
                <a:ea typeface="宋体" panose="02010600030101010101" pitchFamily="2" charset="-122"/>
              </a:rPr>
              <a:t>生成</a:t>
            </a:r>
            <a:r>
              <a:rPr lang="en-US" sz="2000" b="0">
                <a:latin typeface="Times New Roman" panose="02020603050405020304" charset="0"/>
                <a:ea typeface="宋体" panose="02010600030101010101" pitchFamily="2" charset="-122"/>
              </a:rPr>
              <a:t>makefile</a:t>
            </a:r>
            <a:r>
              <a:rPr lang="zh-CN" sz="2000" b="0">
                <a:ea typeface="宋体" panose="02010600030101010101" pitchFamily="2" charset="-122"/>
              </a:rPr>
              <a:t>文件，</a:t>
            </a:r>
            <a:r>
              <a:rPr lang="zh-CN" sz="2000" b="0">
                <a:latin typeface="Times New Roman" panose="02020603050405020304" charset="0"/>
                <a:ea typeface="宋体" panose="02010600030101010101" pitchFamily="2" charset="-122"/>
              </a:rPr>
              <a:t>再使用</a:t>
            </a:r>
            <a:r>
              <a:rPr lang="en-US" sz="2000" b="0">
                <a:latin typeface="Times New Roman" panose="02020603050405020304" charset="0"/>
                <a:ea typeface="宋体" panose="02010600030101010101" pitchFamily="2" charset="-122"/>
              </a:rPr>
              <a:t>make</a:t>
            </a:r>
            <a:r>
              <a:rPr lang="zh-CN" sz="2000" b="0">
                <a:latin typeface="Times New Roman" panose="02020603050405020304" charset="0"/>
                <a:ea typeface="宋体" panose="02010600030101010101" pitchFamily="2" charset="-122"/>
              </a:rPr>
              <a:t>指令</a:t>
            </a:r>
            <a:r>
              <a:rPr lang="zh-CN" sz="2000" b="0">
                <a:ea typeface="宋体" panose="02010600030101010101" pitchFamily="2" charset="-122"/>
              </a:rPr>
              <a:t>生成可执行的二进制文件。至此就完成了代码的导入及编译。</a:t>
            </a:r>
            <a:r>
              <a:rPr lang="zh-CN" sz="2000" b="0">
                <a:latin typeface="Times New Roman" panose="02020603050405020304" charset="0"/>
                <a:ea typeface="宋体" panose="02010600030101010101" pitchFamily="2" charset="-122"/>
              </a:rPr>
              <a:t></a:t>
            </a:r>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最后，</a:t>
            </a:r>
            <a:r>
              <a:rPr lang="zh-CN" sz="2000" b="0">
                <a:ea typeface="宋体" panose="02010600030101010101" pitchFamily="2" charset="-122"/>
              </a:rPr>
              <a:t>执行代码，将四足机器人放置到指定的红线位置</a:t>
            </a:r>
            <a:r>
              <a:rPr lang="zh-CN" sz="2000" b="0">
                <a:latin typeface="Times New Roman" panose="02020603050405020304" charset="0"/>
                <a:ea typeface="宋体" panose="02010600030101010101" pitchFamily="2" charset="-122"/>
              </a:rPr>
              <a:t>处</a:t>
            </a:r>
            <a:r>
              <a:rPr lang="zh-CN" sz="2000" b="0">
                <a:ea typeface="宋体" panose="02010600030101010101" pitchFamily="2" charset="-122"/>
              </a:rPr>
              <a:t>，打开一个终端，输入</a:t>
            </a:r>
            <a:r>
              <a:rPr lang="en-US" sz="2000" b="0">
                <a:latin typeface="Times New Roman" panose="02020603050405020304" charset="0"/>
                <a:ea typeface="宋体" panose="02010600030101010101" pitchFamily="2" charset="-122"/>
              </a:rPr>
              <a:t>“ls dev/video*</a:t>
            </a:r>
            <a:r>
              <a:rPr lang="zh-CN" sz="2000" b="0">
                <a:latin typeface="Times New Roman" panose="02020603050405020304" charset="0"/>
                <a:ea typeface="宋体" panose="02010600030101010101" pitchFamily="2" charset="-122"/>
              </a:rPr>
              <a:t>”指令，</a:t>
            </a:r>
            <a:r>
              <a:rPr lang="zh-CN" sz="2000" b="0">
                <a:ea typeface="宋体" panose="02010600030101010101" pitchFamily="2" charset="-122"/>
              </a:rPr>
              <a:t>查看摄像头端口号</a:t>
            </a:r>
            <a:r>
              <a:rPr lang="zh-CN" sz="2000" b="0">
                <a:latin typeface="Times New Roman" panose="02020603050405020304" charset="0"/>
                <a:ea typeface="宋体" panose="02010600030101010101" pitchFamily="2" charset="-122"/>
              </a:rPr>
              <a:t>，结果</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13.83</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3" name="图片 2" descr="%~TSKMF1HIZ$9V(WIML~838"/>
          <p:cNvPicPr>
            <a:picLocks noChangeAspect="1"/>
          </p:cNvPicPr>
          <p:nvPr>
            <p:custDataLst>
              <p:tags r:id="rId4"/>
            </p:custDataLst>
          </p:nvPr>
        </p:nvPicPr>
        <p:blipFill>
          <a:blip r:embed="rId5"/>
          <a:stretch>
            <a:fillRect/>
          </a:stretch>
        </p:blipFill>
        <p:spPr>
          <a:xfrm>
            <a:off x="3142615" y="4996815"/>
            <a:ext cx="6115050" cy="66675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循迹测试实验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1136015"/>
            <a:ext cx="8902065" cy="398780"/>
          </a:xfrm>
          <a:prstGeom prst="rect">
            <a:avLst/>
          </a:prstGeom>
          <a:noFill/>
          <a:ln w="9525">
            <a:noFill/>
          </a:ln>
        </p:spPr>
        <p:txBody>
          <a:bodyPr wrap="square">
            <a:spAutoFit/>
          </a:bodyPr>
          <a:p>
            <a:pPr indent="0" fontAlgn="auto"/>
            <a:r>
              <a:rPr lang="zh-CN" sz="2000" b="0">
                <a:ea typeface="宋体" panose="02010600030101010101" pitchFamily="2" charset="-122"/>
              </a:rPr>
              <a:t>经检查后</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通过执行</a:t>
            </a:r>
            <a:r>
              <a:rPr lang="en-US" sz="2000" b="0">
                <a:latin typeface="Times New Roman" panose="02020603050405020304" charset="0"/>
                <a:ea typeface="宋体" panose="02010600030101010101" pitchFamily="2" charset="-122"/>
              </a:rPr>
              <a:t>“./ track 0”</a:t>
            </a:r>
            <a:r>
              <a:rPr lang="zh-CN" sz="2000" b="0">
                <a:ea typeface="宋体" panose="02010600030101010101" pitchFamily="2" charset="-122"/>
              </a:rPr>
              <a:t>启动指令</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13.84</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2" name="图片 1" descr="ROR6P(1RG)8{Y6GXBZH_VU2"/>
          <p:cNvPicPr>
            <a:picLocks noChangeAspect="1"/>
          </p:cNvPicPr>
          <p:nvPr>
            <p:custDataLst>
              <p:tags r:id="rId2"/>
            </p:custDataLst>
          </p:nvPr>
        </p:nvPicPr>
        <p:blipFill>
          <a:blip r:embed="rId3"/>
          <a:stretch>
            <a:fillRect/>
          </a:stretch>
        </p:blipFill>
        <p:spPr>
          <a:xfrm>
            <a:off x="864235" y="2131060"/>
            <a:ext cx="4596130" cy="3027045"/>
          </a:xfrm>
          <a:prstGeom prst="rect">
            <a:avLst/>
          </a:prstGeom>
        </p:spPr>
      </p:pic>
      <p:sp>
        <p:nvSpPr>
          <p:cNvPr id="3" name="文本框 2"/>
          <p:cNvSpPr txBox="1"/>
          <p:nvPr/>
        </p:nvSpPr>
        <p:spPr>
          <a:xfrm>
            <a:off x="864235" y="1534795"/>
            <a:ext cx="5080000" cy="398780"/>
          </a:xfrm>
          <a:prstGeom prst="rect">
            <a:avLst/>
          </a:prstGeom>
          <a:noFill/>
          <a:ln w="9525">
            <a:noFill/>
          </a:ln>
        </p:spPr>
        <p:txBody>
          <a:bodyPr>
            <a:spAutoFit/>
          </a:bodyPr>
          <a:p>
            <a:pPr indent="0" fontAlgn="auto"/>
            <a:r>
              <a:rPr lang="zh-CN" sz="2000" b="0">
                <a:ea typeface="宋体" panose="02010600030101010101" pitchFamily="2" charset="-122"/>
              </a:rPr>
              <a:t>四足机器人开始运动并循迹，如图</a:t>
            </a:r>
            <a:r>
              <a:rPr lang="en-US" sz="2000" b="0">
                <a:latin typeface="Times New Roman" panose="02020603050405020304" charset="0"/>
                <a:ea typeface="宋体" panose="02010600030101010101" pitchFamily="2" charset="-122"/>
              </a:rPr>
              <a:t>13.85</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6" name="图片 5" descr="8@A{NP%D1Z]KEJ1F%_%15DE"/>
          <p:cNvPicPr>
            <a:picLocks noChangeAspect="1"/>
          </p:cNvPicPr>
          <p:nvPr>
            <p:custDataLst>
              <p:tags r:id="rId4"/>
            </p:custDataLst>
          </p:nvPr>
        </p:nvPicPr>
        <p:blipFill>
          <a:blip r:embed="rId5"/>
          <a:stretch>
            <a:fillRect/>
          </a:stretch>
        </p:blipFill>
        <p:spPr>
          <a:xfrm>
            <a:off x="6032500" y="2131060"/>
            <a:ext cx="4505325" cy="3057525"/>
          </a:xfrm>
          <a:prstGeom prst="rect">
            <a:avLst/>
          </a:prstGeom>
        </p:spPr>
      </p:pic>
      <p:sp>
        <p:nvSpPr>
          <p:cNvPr id="7" name="文本框 6"/>
          <p:cNvSpPr txBox="1"/>
          <p:nvPr/>
        </p:nvSpPr>
        <p:spPr>
          <a:xfrm>
            <a:off x="798830" y="5188268"/>
            <a:ext cx="5080000" cy="1076325"/>
          </a:xfrm>
          <a:prstGeom prst="rect">
            <a:avLst/>
          </a:prstGeom>
          <a:noFill/>
          <a:ln w="9525">
            <a:noFill/>
          </a:ln>
        </p:spPr>
        <p:txBody>
          <a:bodyPr>
            <a:spAutoFit/>
          </a:bodyPr>
          <a:p>
            <a:pPr indent="0"/>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怎样修改代码并编译？</a:t>
            </a:r>
            <a:r>
              <a:rPr lang="en-US" sz="2000" b="0">
                <a:latin typeface="宋体" panose="02010600030101010101" pitchFamily="2" charset="-122"/>
                <a:ea typeface="宋体" panose="02010600030101010101" pitchFamily="2" charset="-122"/>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rPr>
              <a:t>)</a:t>
            </a:r>
            <a:r>
              <a:rPr lang="zh-CN" sz="2000" b="0">
                <a:latin typeface="Times New Roman" panose="02020603050405020304" charset="0"/>
                <a:ea typeface="宋体" panose="02010600030101010101" pitchFamily="2" charset="-122"/>
              </a:rPr>
              <a:t>如何调用</a:t>
            </a:r>
            <a:r>
              <a:rPr lang="en-US" sz="2000" b="0">
                <a:latin typeface="Times New Roman" panose="02020603050405020304" charset="0"/>
                <a:ea typeface="宋体" panose="02010600030101010101" pitchFamily="2" charset="-122"/>
              </a:rPr>
              <a:t>OpenCV</a:t>
            </a:r>
            <a:r>
              <a:rPr lang="zh-CN" sz="2000" b="0">
                <a:latin typeface="Times New Roman" panose="02020603050405020304" charset="0"/>
                <a:ea typeface="宋体" panose="02010600030101010101" pitchFamily="2" charset="-122"/>
              </a:rPr>
              <a:t>库？</a:t>
            </a:r>
            <a:endParaRPr lang="zh-CN" altLang="en-US" sz="2000" b="0">
              <a:latin typeface="Times New Roman" panose="0202060305040502030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925830"/>
            <a:ext cx="10385425" cy="5507990"/>
          </a:xfrm>
          <a:prstGeom prst="rect">
            <a:avLst/>
          </a:prstGeom>
          <a:noFill/>
          <a:ln w="9525">
            <a:noFill/>
          </a:ln>
        </p:spPr>
        <p:txBody>
          <a:bodyPr wrap="square">
            <a:spAutoFit/>
          </a:bodyPr>
          <a:p>
            <a:pPr indent="0"/>
            <a:r>
              <a:rPr lang="zh-CN" sz="2400" b="1">
                <a:latin typeface="微软雅黑" panose="020B0503020204020204" pitchFamily="34" charset="-122"/>
                <a:ea typeface="微软雅黑" panose="020B0503020204020204" pitchFamily="34" charset="-122"/>
                <a:cs typeface="方正黑体简体" charset="0"/>
              </a:rPr>
              <a:t>一、实验目的</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掌握</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系统的基础知识及</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通信框架机制的原理和实现方式；</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学会</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基本的图像处理函数及使用</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了解</a:t>
            </a:r>
            <a:r>
              <a:rPr lang="en-US" sz="2000" b="0">
                <a:latin typeface="Times New Roman" panose="02020603050405020304" charset="0"/>
                <a:ea typeface="宋体" panose="02010600030101010101" pitchFamily="2" charset="-122"/>
              </a:rPr>
              <a:t>YOLOv3</a:t>
            </a:r>
            <a:r>
              <a:rPr lang="zh-CN" sz="2000" b="0">
                <a:ea typeface="宋体" panose="02010600030101010101" pitchFamily="2" charset="-122"/>
              </a:rPr>
              <a:t>网络的目标检测原理</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认识并学会使用深度相机和</a:t>
            </a:r>
            <a:r>
              <a:rPr lang="en-US" sz="2000" b="0">
                <a:latin typeface="Times New Roman" panose="02020603050405020304" charset="0"/>
                <a:ea typeface="宋体" panose="02010600030101010101" pitchFamily="2" charset="-122"/>
              </a:rPr>
              <a:t>TX2</a:t>
            </a:r>
            <a:r>
              <a:rPr lang="zh-CN" sz="2000" b="0">
                <a:latin typeface="Times New Roman" panose="02020603050405020304" charset="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二、实验内容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完成</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环境配置安装</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完成</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下</a:t>
            </a:r>
            <a:r>
              <a:rPr lang="en-US" sz="2000" b="0">
                <a:latin typeface="Times New Roman" panose="02020603050405020304" charset="0"/>
                <a:ea typeface="宋体" panose="02010600030101010101" pitchFamily="2" charset="-122"/>
              </a:rPr>
              <a:t>realsense</a:t>
            </a:r>
            <a:r>
              <a:rPr lang="zh-CN" sz="2000" b="0">
                <a:ea typeface="宋体" panose="02010600030101010101" pitchFamily="2" charset="-122"/>
              </a:rPr>
              <a:t>开发包的安装；</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使用</a:t>
            </a:r>
            <a:r>
              <a:rPr lang="en-US" sz="2000" b="0">
                <a:latin typeface="Times New Roman" panose="02020603050405020304" charset="0"/>
                <a:ea typeface="宋体" panose="02010600030101010101" pitchFamily="2" charset="-122"/>
              </a:rPr>
              <a:t>TX2</a:t>
            </a:r>
            <a:r>
              <a:rPr lang="zh-CN" sz="2000" b="0">
                <a:ea typeface="宋体" panose="02010600030101010101" pitchFamily="2" charset="-122"/>
              </a:rPr>
              <a:t>启动彩色深度相机的彩色摄像头及深度节点</a:t>
            </a:r>
            <a:r>
              <a:rPr lang="zh-CN" sz="2000" b="0">
                <a:latin typeface="Times New Roman" panose="02020603050405020304" charset="0"/>
                <a:ea typeface="宋体" panose="02010600030101010101" pitchFamily="2" charset="-122"/>
              </a:rPr>
              <a:t>；</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4</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启动四足机器人完成障碍物识别跟踪</a:t>
            </a:r>
            <a:r>
              <a:rPr lang="zh-CN" sz="2000" b="0">
                <a:latin typeface="Times New Roman" panose="02020603050405020304" charset="0"/>
                <a:ea typeface="宋体" panose="02010600030101010101" pitchFamily="2" charset="-122"/>
              </a:rPr>
              <a:t>。</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三、实验原理</a:t>
            </a:r>
            <a:r>
              <a:rPr lang="en-US" sz="2000" b="1">
                <a:latin typeface="Arial" panose="020B0604020202020204" pitchFamily="34" charset="0"/>
                <a:ea typeface="黑体" panose="02010609060101010101" charset="-122"/>
              </a:rPr>
              <a:t>1</a:t>
            </a:r>
            <a:r>
              <a:rPr lang="zh-CN" sz="2000" b="1">
                <a:latin typeface="Arial" panose="020B0604020202020204" pitchFamily="34" charset="0"/>
                <a:ea typeface="黑体" panose="02010609060101010101" charset="-122"/>
              </a:rPr>
              <a:t>．</a:t>
            </a:r>
            <a:r>
              <a:rPr lang="en-US" sz="2000" b="1">
                <a:latin typeface="Arial" panose="020B0604020202020204" pitchFamily="34" charset="0"/>
                <a:ea typeface="黑体" panose="02010609060101010101" charset="-122"/>
                <a:cs typeface="Times New Roman" panose="02020603050405020304" charset="0"/>
              </a:rPr>
              <a:t>ROS</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机器人操作系统</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Robot Operating System</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ROS</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是一个通用的机器人软件开发平台，不同于常见的</a:t>
            </a:r>
            <a:r>
              <a:rPr lang="en-US" sz="2000" b="0">
                <a:latin typeface="Times New Roman" panose="02020603050405020304" charset="0"/>
                <a:ea typeface="宋体" panose="02010600030101010101" pitchFamily="2" charset="-122"/>
              </a:rPr>
              <a:t>Windows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Linux</a:t>
            </a:r>
            <a:r>
              <a:rPr lang="zh-CN" sz="2000" b="0">
                <a:ea typeface="宋体" panose="02010600030101010101" pitchFamily="2" charset="-122"/>
              </a:rPr>
              <a:t>等操作系统，它并不直接运行在硬件上，而依赖于</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操作系统，因此，准确地说，</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是一个元操作系统，相当于一个中间件</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连接了真正的系统和程序模块，它同样提供一些类操作系统的功能，如底层的硬件抽象</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文件包管理</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通信等。如今</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已经广泛应用于</a:t>
            </a:r>
            <a:r>
              <a:rPr lang="zh-CN" sz="2000" b="0">
                <a:latin typeface="Times New Roman" panose="02020603050405020304" charset="0"/>
                <a:ea typeface="宋体" panose="02010600030101010101" pitchFamily="2" charset="-122"/>
              </a:rPr>
              <a:t>各种智能机器人平台中</a:t>
            </a:r>
            <a:r>
              <a:rPr lang="zh-CN" sz="2000" b="0">
                <a:ea typeface="宋体" panose="02010600030101010101" pitchFamily="2" charset="-122"/>
              </a:rPr>
              <a:t>，成为了机器人开发的一个普遍标准。</a:t>
            </a:r>
            <a:endParaRPr lang="zh-CN" altLang="en-US" sz="2000" b="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894080"/>
            <a:ext cx="10226040" cy="2399665"/>
          </a:xfrm>
          <a:prstGeom prst="rect">
            <a:avLst/>
          </a:prstGeom>
          <a:noFill/>
          <a:ln w="9525">
            <a:noFill/>
          </a:ln>
        </p:spPr>
        <p:txBody>
          <a:bodyPr wrap="square">
            <a:spAutoFit/>
          </a:bodyPr>
          <a:p>
            <a:pPr indent="0" fontAlgn="auto">
              <a:lnSpc>
                <a:spcPct val="125000"/>
              </a:lnSpc>
            </a:pPr>
            <a:r>
              <a:rPr lang="en-US" sz="2000" b="0">
                <a:latin typeface="Times New Roman" panose="02020603050405020304" charset="0"/>
                <a:ea typeface="宋体" panose="02010600030101010101" pitchFamily="2" charset="-122"/>
              </a:rPr>
              <a:t>        ROS</a:t>
            </a:r>
            <a:r>
              <a:rPr lang="zh-CN" sz="2000" b="0">
                <a:ea typeface="宋体" panose="02010600030101010101" pitchFamily="2" charset="-122"/>
              </a:rPr>
              <a:t>主要</a:t>
            </a:r>
            <a:r>
              <a:rPr lang="zh-CN" sz="2000" b="0">
                <a:latin typeface="Times New Roman" panose="02020603050405020304" charset="0"/>
                <a:ea typeface="宋体" panose="02010600030101010101" pitchFamily="2" charset="-122"/>
              </a:rPr>
              <a:t>由</a:t>
            </a:r>
            <a:r>
              <a:rPr lang="zh-CN" sz="2000" b="0">
                <a:ea typeface="宋体" panose="02010600030101010101" pitchFamily="2" charset="-122"/>
              </a:rPr>
              <a:t>四大部分组成，分别是通信框架</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开发工具</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应用功能</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社区。</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核心的部分是通信</a:t>
            </a:r>
            <a:r>
              <a:rPr lang="zh-CN" sz="2000" b="0">
                <a:latin typeface="Times New Roman" panose="02020603050405020304" charset="0"/>
                <a:ea typeface="宋体" panose="02010600030101010101" pitchFamily="2" charset="-122"/>
              </a:rPr>
              <a:t>框架</a:t>
            </a:r>
            <a:r>
              <a:rPr lang="zh-CN" sz="2000" b="0">
                <a:ea typeface="宋体" panose="02010600030101010101" pitchFamily="2" charset="-122"/>
              </a:rPr>
              <a:t>，采用松耦合分布式架构，可同时运行很多个进程，每个进程之间相互独立</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中，</a:t>
            </a:r>
            <a:r>
              <a:rPr lang="zh-CN" sz="2000" b="0">
                <a:latin typeface="Times New Roman" panose="02020603050405020304" charset="0"/>
                <a:ea typeface="宋体" panose="02010600030101010101" pitchFamily="2" charset="-122"/>
              </a:rPr>
              <a:t>称</a:t>
            </a:r>
            <a:r>
              <a:rPr lang="zh-CN" sz="2000" b="0">
                <a:ea typeface="宋体" panose="02010600030101010101" pitchFamily="2" charset="-122"/>
              </a:rPr>
              <a:t>这些进程</a:t>
            </a:r>
            <a:r>
              <a:rPr lang="zh-CN" sz="2000" b="0">
                <a:latin typeface="Times New Roman" panose="02020603050405020304" charset="0"/>
                <a:ea typeface="宋体" panose="02010600030101010101" pitchFamily="2" charset="-122"/>
              </a:rPr>
              <a:t>为</a:t>
            </a:r>
            <a:r>
              <a:rPr lang="zh-CN" sz="2000" b="0">
                <a:ea typeface="宋体" panose="02010600030101010101" pitchFamily="2" charset="-122"/>
              </a:rPr>
              <a:t>节点</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Node</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节点是最基本的执行单元，一个复杂的机器人系统</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包含了大量的节点，每个节点都代表了机器人系统的一个具体功能，</a:t>
            </a:r>
            <a:r>
              <a:rPr lang="zh-CN" sz="2000" b="0">
                <a:latin typeface="Times New Roman" panose="02020603050405020304" charset="0"/>
                <a:ea typeface="宋体" panose="02010600030101010101" pitchFamily="2" charset="-122"/>
              </a:rPr>
              <a:t>机器人</a:t>
            </a:r>
            <a:r>
              <a:rPr lang="zh-CN" sz="2000" b="0">
                <a:ea typeface="宋体" panose="02010600030101010101" pitchFamily="2" charset="-122"/>
              </a:rPr>
              <a:t>通过节点与节点之间的通信实现数据的传输，节点之间的管理和通信依托于一个管理中心</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ROS Master</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，节点之间最常用的通信方式主要有两种：话题</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Topic</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和服务</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Service</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a:t>
            </a:r>
            <a:endParaRPr lang="zh-CN" altLang="en-US" sz="2000" b="0">
              <a:ea typeface="宋体" panose="02010600030101010101" pitchFamily="2" charset="-122"/>
            </a:endParaRPr>
          </a:p>
        </p:txBody>
      </p:sp>
      <p:sp>
        <p:nvSpPr>
          <p:cNvPr id="3" name="文本框 2"/>
          <p:cNvSpPr txBox="1"/>
          <p:nvPr/>
        </p:nvSpPr>
        <p:spPr>
          <a:xfrm>
            <a:off x="894080" y="3293745"/>
            <a:ext cx="10226040" cy="3461385"/>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2</a:t>
            </a:r>
            <a:r>
              <a:rPr lang="zh-CN" sz="2000" b="1">
                <a:latin typeface="Arial" panose="020B0604020202020204" pitchFamily="34" charset="0"/>
                <a:ea typeface="黑体" panose="02010609060101010101" charset="-122"/>
              </a:rPr>
              <a:t>．</a:t>
            </a:r>
            <a:r>
              <a:rPr lang="en-US" sz="2000" b="1">
                <a:latin typeface="Arial" panose="020B0604020202020204" pitchFamily="34" charset="0"/>
                <a:ea typeface="黑体" panose="02010609060101010101" charset="-122"/>
                <a:cs typeface="Times New Roman" panose="02020603050405020304" charset="0"/>
              </a:rPr>
              <a:t>YOLO</a:t>
            </a:r>
            <a:r>
              <a:rPr lang="zh-CN" sz="2000" b="0">
                <a:ea typeface="宋体" panose="02010600030101010101" pitchFamily="2" charset="-122"/>
              </a:rPr>
              <a:t></a:t>
            </a:r>
            <a:r>
              <a:rPr lang="en-US" altLang="zh-CN" sz="2000" b="0">
                <a:ea typeface="宋体" panose="02010600030101010101" pitchFamily="2" charset="-122"/>
              </a:rPr>
              <a:t>       </a:t>
            </a:r>
            <a:r>
              <a:rPr lang="zh-CN" sz="2000" b="0">
                <a:ea typeface="宋体" panose="02010600030101010101" pitchFamily="2" charset="-122"/>
              </a:rPr>
              <a:t>计算机视觉中有一个最核心的问题</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目标检测，</a:t>
            </a:r>
            <a:r>
              <a:rPr lang="zh-CN" sz="2000" b="0">
                <a:latin typeface="Times New Roman" panose="02020603050405020304" charset="0"/>
                <a:ea typeface="宋体" panose="02010600030101010101" pitchFamily="2" charset="-122"/>
              </a:rPr>
              <a:t>在</a:t>
            </a:r>
            <a:r>
              <a:rPr lang="zh-CN" sz="2000" b="0">
                <a:ea typeface="宋体" panose="02010600030101010101" pitchFamily="2" charset="-122"/>
              </a:rPr>
              <a:t>一幅图像中，</a:t>
            </a:r>
            <a:r>
              <a:rPr lang="zh-CN" sz="2000" b="0">
                <a:latin typeface="Times New Roman" panose="02020603050405020304" charset="0"/>
                <a:ea typeface="宋体" panose="02010600030101010101" pitchFamily="2" charset="-122"/>
              </a:rPr>
              <a:t>需</a:t>
            </a:r>
            <a:r>
              <a:rPr lang="zh-CN" sz="2000" b="0">
                <a:ea typeface="宋体" panose="02010600030101010101" pitchFamily="2" charset="-122"/>
              </a:rPr>
              <a:t>要迅速确定图像中有什么目标，这些目标的位置信息及大小等，</a:t>
            </a:r>
            <a:r>
              <a:rPr lang="zh-CN" sz="2000" b="0">
                <a:latin typeface="Times New Roman" panose="02020603050405020304" charset="0"/>
                <a:ea typeface="宋体" panose="02010600030101010101" pitchFamily="2" charset="-122"/>
              </a:rPr>
              <a:t>这是</a:t>
            </a:r>
            <a:r>
              <a:rPr lang="zh-CN" sz="2000" b="0">
                <a:ea typeface="宋体" panose="02010600030101010101" pitchFamily="2" charset="-122"/>
              </a:rPr>
              <a:t>计算机视觉领域的研究热点</a:t>
            </a:r>
            <a:r>
              <a:rPr lang="zh-CN" sz="2000" b="0">
                <a:latin typeface="Times New Roman" panose="02020603050405020304" charset="0"/>
                <a:ea typeface="宋体" panose="02010600030101010101" pitchFamily="2" charset="-122"/>
              </a:rPr>
              <a:t>和</a:t>
            </a:r>
            <a:r>
              <a:rPr lang="zh-CN" sz="2000" b="0">
                <a:ea typeface="宋体" panose="02010600030101010101" pitchFamily="2" charset="-122"/>
              </a:rPr>
              <a:t>难点。</a:t>
            </a:r>
            <a:endParaRPr lang="zh-CN" sz="2000" b="0">
              <a:ea typeface="宋体" panose="02010600030101010101" pitchFamily="2" charset="-122"/>
            </a:endParaRPr>
          </a:p>
          <a:p>
            <a:pPr indent="0" fontAlgn="auto">
              <a:lnSpc>
                <a:spcPct val="120000"/>
              </a:lnSpc>
            </a:pPr>
            <a:r>
              <a:rPr lang="en-US" altLang="zh-CN" sz="2000" b="0">
                <a:ea typeface="宋体" panose="02010600030101010101" pitchFamily="2" charset="-122"/>
              </a:rPr>
              <a:t>        </a:t>
            </a:r>
            <a:r>
              <a:rPr lang="zh-CN" altLang="en-US" sz="2000" b="0">
                <a:ea typeface="宋体" panose="02010600030101010101" pitchFamily="2" charset="-122"/>
              </a:rPr>
              <a:t>近几年，很多学者相继推出了比较有效的算法，像RCNN、fast-RNN、faster-RNN等，而YOLO(you only look once)是目标检测的一个网络框架，YOLO最突出的特点就是快，它能够实现实时检测，YOLO的检测原理是将一整张图片作为输入，并直接在输出层回归出边界框的位置及类别。YOLO的诞生为计算机视觉领域的目标检测提供了更高效的手段，为了更进一步优化YOLO网络，其后继版本YOLOv2、YOLOv3等相继被推出，使目标检测速度进一步提升。</a:t>
            </a:r>
            <a:endParaRPr lang="zh-CN" altLang="en-US" sz="2000" b="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997585" y="839470"/>
            <a:ext cx="10325100" cy="5862320"/>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3</a:t>
            </a:r>
            <a:r>
              <a:rPr lang="zh-CN" sz="2000" b="1">
                <a:latin typeface="Arial" panose="020B0604020202020204" pitchFamily="34" charset="0"/>
                <a:ea typeface="黑体" panose="02010609060101010101" charset="-122"/>
              </a:rPr>
              <a:t>．</a:t>
            </a:r>
            <a:r>
              <a:rPr lang="en-US" sz="2000" b="1">
                <a:latin typeface="Arial" panose="020B0604020202020204" pitchFamily="34" charset="0"/>
                <a:ea typeface="黑体" panose="02010609060101010101" charset="-122"/>
                <a:cs typeface="Times New Roman" panose="02020603050405020304" charset="0"/>
              </a:rPr>
              <a:t>OpenCV</a:t>
            </a:r>
            <a:r>
              <a:rPr lang="en-US" sz="2000" b="0">
                <a:latin typeface="Times New Roman" panose="02020603050405020304" charset="0"/>
                <a:ea typeface="宋体" panose="02010600030101010101" pitchFamily="2" charset="-122"/>
              </a:rPr>
              <a:t>        OpenCV</a:t>
            </a:r>
            <a:r>
              <a:rPr lang="zh-CN" sz="2000" b="0">
                <a:ea typeface="宋体" panose="02010600030101010101" pitchFamily="2" charset="-122"/>
              </a:rPr>
              <a:t>是一个免费开源的机器视觉库，其包含了大量的库函数和算法，主要用于图像视频处理，它主要的编程语言是</a:t>
            </a:r>
            <a:r>
              <a:rPr lang="en-US" sz="2000" b="0">
                <a:latin typeface="Times New Roman" panose="02020603050405020304" charset="0"/>
                <a:ea typeface="宋体" panose="02010600030101010101" pitchFamily="2" charset="-122"/>
              </a:rPr>
              <a:t>C++</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但同样有其他像</a:t>
            </a:r>
            <a:r>
              <a:rPr lang="en-US" sz="2000" b="0">
                <a:latin typeface="Times New Roman" panose="02020603050405020304" charset="0"/>
                <a:ea typeface="宋体" panose="02010600030101010101" pitchFamily="2" charset="-122"/>
              </a:rPr>
              <a:t>Python</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Java</a:t>
            </a:r>
            <a:r>
              <a:rPr lang="zh-CN" sz="2000" b="0">
                <a:ea typeface="宋体" panose="02010600030101010101" pitchFamily="2" charset="-122"/>
              </a:rPr>
              <a:t>等编程语言的接口，可运行在</a:t>
            </a:r>
            <a:r>
              <a:rPr lang="en-US" sz="2000" b="0">
                <a:latin typeface="Times New Roman" panose="02020603050405020304" charset="0"/>
                <a:ea typeface="宋体" panose="02010600030101010101" pitchFamily="2" charset="-122"/>
              </a:rPr>
              <a:t>Windows</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Linux</a:t>
            </a:r>
            <a:r>
              <a:rPr lang="zh-CN" sz="2000" b="0">
                <a:ea typeface="宋体" panose="02010600030101010101" pitchFamily="2" charset="-122"/>
              </a:rPr>
              <a:t>等主流操作系统</a:t>
            </a:r>
            <a:r>
              <a:rPr lang="zh-CN" sz="2000" b="0">
                <a:latin typeface="Times New Roman" panose="02020603050405020304" charset="0"/>
                <a:ea typeface="宋体" panose="02010600030101010101" pitchFamily="2" charset="-122"/>
              </a:rPr>
              <a:t>上</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使用模块化的结构，每个模块负责不同的功能，</a:t>
            </a:r>
            <a:r>
              <a:rPr lang="zh-CN" sz="2000" b="0">
                <a:latin typeface="Times New Roman" panose="02020603050405020304" charset="0"/>
                <a:ea typeface="宋体" panose="02010600030101010101" pitchFamily="2" charset="-122"/>
              </a:rPr>
              <a:t>这样能够降低</a:t>
            </a:r>
            <a:r>
              <a:rPr lang="zh-CN" sz="2000" b="0">
                <a:ea typeface="宋体" panose="02010600030101010101" pitchFamily="2" charset="-122"/>
              </a:rPr>
              <a:t>复杂性，且提高开发效率。</a:t>
            </a:r>
            <a:r>
              <a:rPr lang="en-US" altLang="zh-CN" sz="2000" b="0">
                <a:ea typeface="宋体" panose="02010600030101010101" pitchFamily="2" charset="-122"/>
              </a:rPr>
              <a:t>      </a:t>
            </a:r>
            <a:r>
              <a:rPr lang="zh-CN" sz="2000" b="0">
                <a:ea typeface="宋体" panose="02010600030101010101" pitchFamily="2" charset="-122"/>
              </a:rPr>
              <a:t>本实验主要用到了以下几个模块</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Core</a:t>
            </a:r>
            <a:r>
              <a:rPr lang="zh-CN" sz="2000" b="0">
                <a:ea typeface="宋体" panose="02010600030101010101" pitchFamily="2" charset="-122"/>
              </a:rPr>
              <a:t>模块：</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核心功能模块，也是最基础的模块。它定义了基本的数据结构，包括重要的 </a:t>
            </a:r>
            <a:r>
              <a:rPr lang="en-US" sz="2000" b="0">
                <a:latin typeface="Times New Roman" panose="02020603050405020304" charset="0"/>
                <a:ea typeface="宋体" panose="02010600030101010101" pitchFamily="2" charset="-122"/>
              </a:rPr>
              <a:t>Mat </a:t>
            </a:r>
            <a:r>
              <a:rPr lang="zh-CN" sz="2000" b="0">
                <a:ea typeface="宋体" panose="02010600030101010101" pitchFamily="2" charset="-122"/>
              </a:rPr>
              <a:t>类、</a:t>
            </a:r>
            <a:r>
              <a:rPr lang="en-US" sz="2000" b="0">
                <a:latin typeface="Times New Roman" panose="02020603050405020304" charset="0"/>
                <a:ea typeface="宋体" panose="02010600030101010101" pitchFamily="2" charset="-122"/>
              </a:rPr>
              <a:t>XML </a:t>
            </a:r>
            <a:r>
              <a:rPr lang="zh-CN" sz="2000" b="0">
                <a:ea typeface="宋体" panose="02010600030101010101" pitchFamily="2" charset="-122"/>
              </a:rPr>
              <a:t>读写</a:t>
            </a:r>
            <a:r>
              <a:rPr lang="zh-CN" sz="2000" b="0">
                <a:latin typeface="Times New Roman" panose="02020603050405020304" charset="0"/>
                <a:ea typeface="宋体" panose="02010600030101010101" pitchFamily="2" charset="-122"/>
              </a:rPr>
              <a:t>类</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OpenGL</a:t>
            </a:r>
            <a:r>
              <a:rPr lang="zh-CN" sz="2000" b="0">
                <a:ea typeface="宋体" panose="02010600030101010101" pitchFamily="2" charset="-122"/>
              </a:rPr>
              <a:t>三维渲染</a:t>
            </a:r>
            <a:r>
              <a:rPr lang="zh-CN" sz="2000" b="0">
                <a:latin typeface="Times New Roman" panose="02020603050405020304" charset="0"/>
                <a:ea typeface="宋体" panose="02010600030101010101" pitchFamily="2" charset="-122"/>
              </a:rPr>
              <a:t>类</a:t>
            </a:r>
            <a:r>
              <a:rPr lang="zh-CN" sz="2000" b="0">
                <a:ea typeface="宋体" panose="02010600030101010101" pitchFamily="2" charset="-122"/>
              </a:rPr>
              <a:t>等，这个模块有时候也会被其他模块调用。</a:t>
            </a:r>
            <a:r>
              <a:rPr lang="en-US" sz="2000" b="0">
                <a:latin typeface="Times New Roman" panose="02020603050405020304" charset="0"/>
                <a:ea typeface="宋体" panose="02010600030101010101" pitchFamily="2" charset="-122"/>
              </a:rPr>
              <a:t>       ImgProc</a:t>
            </a:r>
            <a:r>
              <a:rPr lang="zh-CN" sz="2000" b="0">
                <a:ea typeface="宋体" panose="02010600030101010101" pitchFamily="2" charset="-122"/>
              </a:rPr>
              <a:t>模块：全称为 </a:t>
            </a:r>
            <a:r>
              <a:rPr lang="en-US" sz="2000" b="0">
                <a:latin typeface="Times New Roman" panose="02020603050405020304" charset="0"/>
                <a:ea typeface="宋体" panose="02010600030101010101" pitchFamily="2" charset="-122"/>
              </a:rPr>
              <a:t>Image Processing</a:t>
            </a:r>
            <a:r>
              <a:rPr lang="zh-CN" sz="2000" b="0">
                <a:ea typeface="宋体" panose="02010600030101010101" pitchFamily="2" charset="-122"/>
              </a:rPr>
              <a:t>，即图像处理。图像处理是计算机视觉的重要工具。这个模块</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包括基础的图像处理算法，</a:t>
            </a:r>
            <a:r>
              <a:rPr lang="zh-CN" sz="2000" b="0">
                <a:latin typeface="Times New Roman" panose="02020603050405020304" charset="0"/>
                <a:ea typeface="宋体" panose="02010600030101010101" pitchFamily="2" charset="-122"/>
              </a:rPr>
              <a:t>如</a:t>
            </a:r>
            <a:r>
              <a:rPr lang="zh-CN" sz="2000" b="0">
                <a:ea typeface="宋体" panose="02010600030101010101" pitchFamily="2" charset="-122"/>
              </a:rPr>
              <a:t>图像滤波、集合图像变换、直方图计算、形状描述子</a:t>
            </a:r>
            <a:r>
              <a:rPr lang="zh-CN" sz="2000" b="0">
                <a:latin typeface="Times New Roman" panose="02020603050405020304" charset="0"/>
                <a:ea typeface="宋体" panose="02010600030101010101" pitchFamily="2" charset="-122"/>
              </a:rPr>
              <a:t>计算</a:t>
            </a:r>
            <a:r>
              <a:rPr lang="zh-CN" sz="2000" b="0">
                <a:ea typeface="宋体" panose="02010600030101010101" pitchFamily="2" charset="-122"/>
              </a:rPr>
              <a:t>等。</a:t>
            </a:r>
            <a:endParaRPr lang="zh-CN" sz="2000" b="0">
              <a:ea typeface="宋体" panose="02010600030101010101" pitchFamily="2" charset="-122"/>
            </a:endParaRPr>
          </a:p>
          <a:p>
            <a:pPr indent="0" fontAlgn="auto">
              <a:lnSpc>
                <a:spcPct val="125000"/>
              </a:lnSpc>
            </a:pPr>
            <a:r>
              <a:rPr lang="en-US" altLang="zh-CN" sz="2000" b="0">
                <a:ea typeface="宋体" panose="02010600030101010101" pitchFamily="2" charset="-122"/>
              </a:rPr>
              <a:t>       </a:t>
            </a:r>
            <a:r>
              <a:rPr lang="zh-CN" altLang="en-US" sz="2000" b="0">
                <a:ea typeface="宋体" panose="02010600030101010101" pitchFamily="2" charset="-122"/>
              </a:rPr>
              <a:t>HighGUI模块：高级图形界面，它提供了一些编写简单的用户界面的函数，通过此模块可以实现用户交互，包括显示图片、窗口操作、鼠标操作等，读写图片和视频也是通过这个模块完成的，该模块还可以与Qt框架进行整合。</a:t>
            </a:r>
            <a:endParaRPr lang="zh-CN" altLang="en-US" sz="2000" b="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1021715"/>
            <a:ext cx="10105390" cy="2399665"/>
          </a:xfrm>
          <a:prstGeom prst="rect">
            <a:avLst/>
          </a:prstGeom>
          <a:noFill/>
          <a:ln w="9525">
            <a:noFill/>
          </a:ln>
        </p:spPr>
        <p:txBody>
          <a:bodyPr wrap="square">
            <a:spAutoFit/>
          </a:bodyPr>
          <a:p>
            <a:pPr indent="0" fontAlgn="auto">
              <a:lnSpc>
                <a:spcPct val="125000"/>
              </a:lnSpc>
            </a:pPr>
            <a:r>
              <a:rPr lang="en-US" sz="2000" b="1">
                <a:latin typeface="Arial" panose="020B0604020202020204" pitchFamily="34" charset="0"/>
                <a:ea typeface="黑体" panose="02010609060101010101" charset="-122"/>
              </a:rPr>
              <a:t>4</a:t>
            </a:r>
            <a:r>
              <a:rPr lang="zh-CN" sz="2000" b="1">
                <a:latin typeface="Arial" panose="020B0604020202020204" pitchFamily="34" charset="0"/>
                <a:ea typeface="黑体" panose="02010609060101010101" charset="-122"/>
              </a:rPr>
              <a:t>．</a:t>
            </a:r>
            <a:r>
              <a:rPr lang="zh-CN" sz="2000" b="1">
                <a:ea typeface="黑体" panose="02010609060101010101" charset="-122"/>
              </a:rPr>
              <a:t>硬件模块</a:t>
            </a:r>
            <a:r>
              <a:rPr lang="en-US" sz="2000" b="0">
                <a:latin typeface="Times New Roman" panose="02020603050405020304" charset="0"/>
                <a:ea typeface="宋体" panose="02010600030101010101" pitchFamily="2" charset="-122"/>
              </a:rPr>
              <a:t>       RealSense D435</a:t>
            </a:r>
            <a:r>
              <a:rPr lang="zh-CN" sz="2000" b="0">
                <a:ea typeface="宋体" panose="02010600030101010101" pitchFamily="2" charset="-122"/>
              </a:rPr>
              <a:t>是一款</a:t>
            </a:r>
            <a:r>
              <a:rPr lang="en-US" sz="2000" b="0">
                <a:latin typeface="Times New Roman" panose="02020603050405020304" charset="0"/>
                <a:ea typeface="宋体" panose="02010600030101010101" pitchFamily="2" charset="-122"/>
              </a:rPr>
              <a:t>RGBD</a:t>
            </a:r>
            <a:r>
              <a:rPr lang="zh-CN" sz="2000" b="0">
                <a:ea typeface="宋体" panose="02010600030101010101" pitchFamily="2" charset="-122"/>
              </a:rPr>
              <a:t>深度相机</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其不仅能收集彩色信息，而且能获取深度数据</a:t>
            </a:r>
            <a:r>
              <a:rPr lang="zh-CN" sz="2000" b="0">
                <a:latin typeface="Times New Roman" panose="02020603050405020304" charset="0"/>
                <a:ea typeface="宋体" panose="02010600030101010101" pitchFamily="2" charset="-122"/>
              </a:rPr>
              <a:t>。本实验中，</a:t>
            </a:r>
            <a:r>
              <a:rPr lang="zh-CN" sz="2000" b="0">
                <a:ea typeface="宋体" panose="02010600030101010101" pitchFamily="2" charset="-122"/>
              </a:rPr>
              <a:t>左右红外相机进行测量深度，右边的彩色相机用于采集彩色图片。</a:t>
            </a:r>
            <a:r>
              <a:rPr lang="en-US" sz="2000" b="0">
                <a:latin typeface="Times New Roman" panose="02020603050405020304" charset="0"/>
                <a:ea typeface="宋体" panose="02010600030101010101" pitchFamily="2" charset="-122"/>
              </a:rPr>
              <a:t>D435</a:t>
            </a:r>
            <a:r>
              <a:rPr lang="zh-CN" sz="2000" b="0">
                <a:ea typeface="宋体" panose="02010600030101010101" pitchFamily="2" charset="-122"/>
              </a:rPr>
              <a:t>还具有强大的</a:t>
            </a:r>
            <a:r>
              <a:rPr lang="en-US" sz="2000" b="0">
                <a:latin typeface="Times New Roman" panose="02020603050405020304" charset="0"/>
                <a:ea typeface="宋体" panose="02010600030101010101" pitchFamily="2" charset="-122"/>
              </a:rPr>
              <a:t>RealSense</a:t>
            </a:r>
            <a:r>
              <a:rPr lang="zh-CN" sz="2000" b="0">
                <a:ea typeface="宋体" panose="02010600030101010101" pitchFamily="2" charset="-122"/>
              </a:rPr>
              <a:t>模块</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捕捉最远距离可以达到</a:t>
            </a:r>
            <a:r>
              <a:rPr lang="en-US" sz="2000" b="0">
                <a:latin typeface="Times New Roman" panose="02020603050405020304" charset="0"/>
                <a:ea typeface="宋体" panose="02010600030101010101" pitchFamily="2" charset="-122"/>
              </a:rPr>
              <a:t>10</a:t>
            </a:r>
            <a:r>
              <a:rPr lang="zh-CN" sz="2000" b="0">
                <a:ea typeface="宋体" panose="02010600030101010101" pitchFamily="2" charset="-122"/>
              </a:rPr>
              <a:t>米，</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支持输出</a:t>
            </a:r>
            <a:r>
              <a:rPr lang="en-US" sz="2000" b="0">
                <a:latin typeface="Times New Roman" panose="02020603050405020304" charset="0"/>
                <a:ea typeface="宋体" panose="02010600030101010101" pitchFamily="2" charset="-122"/>
              </a:rPr>
              <a:t>1280×720</a:t>
            </a:r>
            <a:r>
              <a:rPr lang="zh-CN" sz="2000" b="0">
                <a:ea typeface="宋体" panose="02010600030101010101" pitchFamily="2" charset="-122"/>
              </a:rPr>
              <a:t>分辨率的深度画面，视频传输</a:t>
            </a:r>
            <a:r>
              <a:rPr lang="zh-CN" sz="2000" b="0">
                <a:latin typeface="Times New Roman" panose="02020603050405020304" charset="0"/>
                <a:ea typeface="宋体" panose="02010600030101010101" pitchFamily="2" charset="-122"/>
              </a:rPr>
              <a:t>速度</a:t>
            </a:r>
            <a:r>
              <a:rPr lang="zh-CN" sz="2000" b="0">
                <a:ea typeface="宋体" panose="02010600030101010101" pitchFamily="2" charset="-122"/>
              </a:rPr>
              <a:t>可以达到</a:t>
            </a:r>
            <a:r>
              <a:rPr lang="en-US" sz="2000" b="0">
                <a:latin typeface="Times New Roman" panose="02020603050405020304" charset="0"/>
                <a:ea typeface="宋体" panose="02010600030101010101" pitchFamily="2" charset="-122"/>
              </a:rPr>
              <a:t>90fps</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         D435</a:t>
            </a:r>
            <a:r>
              <a:rPr lang="zh-CN" sz="2000" b="0">
                <a:ea typeface="宋体" panose="02010600030101010101" pitchFamily="2" charset="-122"/>
              </a:rPr>
              <a:t>实物图及安装图如图</a:t>
            </a:r>
            <a:r>
              <a:rPr lang="en-US" sz="2000" b="0">
                <a:latin typeface="Times New Roman" panose="02020603050405020304" charset="0"/>
                <a:ea typeface="宋体" panose="02010600030101010101" pitchFamily="2" charset="-122"/>
              </a:rPr>
              <a:t>13.86</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13.87</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4" name="图片 3" descr="0`Z6B(_WO6DGHQ(Q[GEFM8T"/>
          <p:cNvPicPr>
            <a:picLocks noChangeAspect="1"/>
          </p:cNvPicPr>
          <p:nvPr>
            <p:custDataLst>
              <p:tags r:id="rId2"/>
            </p:custDataLst>
          </p:nvPr>
        </p:nvPicPr>
        <p:blipFill>
          <a:blip r:embed="rId3"/>
          <a:stretch>
            <a:fillRect/>
          </a:stretch>
        </p:blipFill>
        <p:spPr>
          <a:xfrm>
            <a:off x="2662555" y="3603625"/>
            <a:ext cx="7343775" cy="223837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5" name="文本框 104"/>
          <p:cNvSpPr txBox="1"/>
          <p:nvPr/>
        </p:nvSpPr>
        <p:spPr>
          <a:xfrm>
            <a:off x="864235" y="965835"/>
            <a:ext cx="10314940" cy="3169285"/>
          </a:xfrm>
          <a:prstGeom prst="rect">
            <a:avLst/>
          </a:prstGeom>
          <a:noFill/>
          <a:ln w="9525">
            <a:noFill/>
          </a:ln>
        </p:spPr>
        <p:txBody>
          <a:bodyPr wrap="square">
            <a:spAutoFit/>
          </a:bodyPr>
          <a:p>
            <a:pPr indent="0" fontAlgn="auto">
              <a:lnSpc>
                <a:spcPct val="125000"/>
              </a:lnSpc>
            </a:pPr>
            <a:r>
              <a:rPr lang="en-US" sz="2000" b="0">
                <a:latin typeface="Times New Roman" panose="02020603050405020304" charset="0"/>
                <a:ea typeface="宋体" panose="02010600030101010101" pitchFamily="2" charset="-122"/>
              </a:rPr>
              <a:t>       Jetson TX2</a:t>
            </a:r>
            <a:r>
              <a:rPr lang="zh-CN" sz="2000" b="0">
                <a:ea typeface="宋体" panose="02010600030101010101" pitchFamily="2" charset="-122"/>
              </a:rPr>
              <a:t>是基于 </a:t>
            </a:r>
            <a:r>
              <a:rPr lang="en-US" sz="2000" b="0">
                <a:latin typeface="Times New Roman" panose="02020603050405020304" charset="0"/>
                <a:ea typeface="宋体" panose="02010600030101010101" pitchFamily="2" charset="-122"/>
              </a:rPr>
              <a:t>NVIDIA Pascal™ </a:t>
            </a:r>
            <a:r>
              <a:rPr lang="zh-CN" sz="2000" b="0">
                <a:ea typeface="宋体" panose="02010600030101010101" pitchFamily="2" charset="-122"/>
              </a:rPr>
              <a:t>架构的 </a:t>
            </a:r>
            <a:r>
              <a:rPr lang="en-US" sz="2000" b="0">
                <a:latin typeface="Times New Roman" panose="02020603050405020304" charset="0"/>
                <a:ea typeface="宋体" panose="02010600030101010101" pitchFamily="2" charset="-122"/>
              </a:rPr>
              <a:t>AI </a:t>
            </a:r>
            <a:r>
              <a:rPr lang="zh-CN" sz="2000" b="0">
                <a:ea typeface="宋体" panose="02010600030101010101" pitchFamily="2" charset="-122"/>
              </a:rPr>
              <a:t>单模块超级计算机，</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性能强大，外形小巧，节能高效，非常适合</a:t>
            </a:r>
            <a:r>
              <a:rPr lang="zh-CN" sz="2000" b="0">
                <a:latin typeface="Times New Roman" panose="02020603050405020304" charset="0"/>
                <a:ea typeface="宋体" panose="02010600030101010101" pitchFamily="2" charset="-122"/>
              </a:rPr>
              <a:t>应用于</a:t>
            </a:r>
            <a:r>
              <a:rPr lang="zh-CN" sz="2000" b="0">
                <a:ea typeface="宋体" panose="02010600030101010101" pitchFamily="2" charset="-122"/>
              </a:rPr>
              <a:t>机器人、无人机、智能摄像机和便携医疗设备等智能终端设备</a:t>
            </a:r>
            <a:r>
              <a:rPr lang="zh-CN" sz="2000" b="0">
                <a:latin typeface="Times New Roman" panose="02020603050405020304" charset="0"/>
                <a:ea typeface="宋体" panose="02010600030101010101" pitchFamily="2" charset="-122"/>
              </a:rPr>
              <a:t>中</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        Jetson TX2</a:t>
            </a:r>
            <a:r>
              <a:rPr lang="zh-CN" sz="2000" b="0">
                <a:ea typeface="宋体" panose="02010600030101010101" pitchFamily="2" charset="-122"/>
              </a:rPr>
              <a:t>内核由两个</a:t>
            </a:r>
            <a:r>
              <a:rPr lang="en-US" sz="2000" b="0">
                <a:latin typeface="Times New Roman" panose="02020603050405020304" charset="0"/>
                <a:ea typeface="宋体" panose="02010600030101010101" pitchFamily="2" charset="-122"/>
              </a:rPr>
              <a:t>CPU</a:t>
            </a:r>
            <a:r>
              <a:rPr lang="zh-CN" sz="2000" b="0">
                <a:ea typeface="宋体" panose="02010600030101010101" pitchFamily="2" charset="-122"/>
              </a:rPr>
              <a:t>和一个</a:t>
            </a:r>
            <a:r>
              <a:rPr lang="en-US" sz="2000" b="0">
                <a:latin typeface="Times New Roman" panose="02020603050405020304" charset="0"/>
                <a:ea typeface="宋体" panose="02010600030101010101" pitchFamily="2" charset="-122"/>
              </a:rPr>
              <a:t>GPU</a:t>
            </a:r>
            <a:r>
              <a:rPr lang="zh-CN" sz="2000" b="0">
                <a:ea typeface="宋体" panose="02010600030101010101" pitchFamily="2" charset="-122"/>
              </a:rPr>
              <a:t>组成。</a:t>
            </a:r>
            <a:r>
              <a:rPr lang="zh-CN" sz="2000" b="0">
                <a:latin typeface="Times New Roman" panose="02020603050405020304" charset="0"/>
                <a:ea typeface="宋体" panose="02010600030101010101" pitchFamily="2" charset="-122"/>
              </a:rPr>
              <a:t>其中</a:t>
            </a:r>
            <a:r>
              <a:rPr lang="zh-CN" sz="2000" b="0">
                <a:ea typeface="宋体" panose="02010600030101010101" pitchFamily="2" charset="-122"/>
              </a:rPr>
              <a:t>一个</a:t>
            </a:r>
            <a:r>
              <a:rPr lang="en-US" sz="2000" b="0">
                <a:latin typeface="Times New Roman" panose="02020603050405020304" charset="0"/>
                <a:ea typeface="宋体" panose="02010600030101010101" pitchFamily="2" charset="-122"/>
              </a:rPr>
              <a:t>CPU</a:t>
            </a:r>
            <a:r>
              <a:rPr lang="zh-CN" sz="2000" b="0">
                <a:ea typeface="宋体" panose="02010600030101010101" pitchFamily="2" charset="-122"/>
              </a:rPr>
              <a:t>是双核的</a:t>
            </a:r>
            <a:r>
              <a:rPr lang="en-US" sz="2000" b="0">
                <a:latin typeface="Times New Roman" panose="02020603050405020304" charset="0"/>
                <a:ea typeface="宋体" panose="02010600030101010101" pitchFamily="2" charset="-122"/>
              </a:rPr>
              <a:t>CPU</a:t>
            </a:r>
            <a:r>
              <a:rPr lang="zh-CN" sz="2000" b="0">
                <a:ea typeface="宋体" panose="02010600030101010101" pitchFamily="2" charset="-122"/>
              </a:rPr>
              <a:t>，适</a:t>
            </a:r>
            <a:r>
              <a:rPr lang="zh-CN" sz="2000" b="0">
                <a:latin typeface="Times New Roman" panose="02020603050405020304" charset="0"/>
                <a:ea typeface="宋体" panose="02010600030101010101" pitchFamily="2" charset="-122"/>
              </a:rPr>
              <a:t>用</a:t>
            </a:r>
            <a:r>
              <a:rPr lang="zh-CN" sz="2000" b="0">
                <a:ea typeface="宋体" panose="02010600030101010101" pitchFamily="2" charset="-122"/>
              </a:rPr>
              <a:t>于支持单线程程序，另一个</a:t>
            </a:r>
            <a:r>
              <a:rPr lang="en-US" sz="2000" b="0">
                <a:latin typeface="Times New Roman" panose="02020603050405020304" charset="0"/>
                <a:ea typeface="宋体" panose="02010600030101010101" pitchFamily="2" charset="-122"/>
              </a:rPr>
              <a:t>CPU</a:t>
            </a:r>
            <a:r>
              <a:rPr lang="zh-CN" sz="2000" b="0">
                <a:ea typeface="宋体" panose="02010600030101010101" pitchFamily="2" charset="-122"/>
              </a:rPr>
              <a:t>是</a:t>
            </a:r>
            <a:r>
              <a:rPr lang="en-US" sz="2000" b="0">
                <a:latin typeface="Times New Roman" panose="02020603050405020304" charset="0"/>
                <a:ea typeface="宋体" panose="02010600030101010101" pitchFamily="2" charset="-122"/>
              </a:rPr>
              <a:t>ARM CortexA57</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CPU</a:t>
            </a:r>
            <a:r>
              <a:rPr lang="zh-CN" sz="2000" b="0">
                <a:ea typeface="宋体" panose="02010600030101010101" pitchFamily="2" charset="-122"/>
              </a:rPr>
              <a:t>，适用于多线程应用程序</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GPU</a:t>
            </a:r>
            <a:r>
              <a:rPr lang="zh-CN" sz="2000" b="0">
                <a:ea typeface="宋体" panose="02010600030101010101" pitchFamily="2" charset="-122"/>
              </a:rPr>
              <a:t>有</a:t>
            </a:r>
            <a:r>
              <a:rPr lang="en-US" sz="2000" b="0">
                <a:latin typeface="Times New Roman" panose="02020603050405020304" charset="0"/>
                <a:ea typeface="宋体" panose="02010600030101010101" pitchFamily="2" charset="-122"/>
              </a:rPr>
              <a:t>256</a:t>
            </a:r>
            <a:r>
              <a:rPr lang="zh-CN" sz="2000" b="0">
                <a:ea typeface="宋体" panose="02010600030101010101" pitchFamily="2" charset="-122"/>
              </a:rPr>
              <a:t>个</a:t>
            </a:r>
            <a:r>
              <a:rPr lang="zh-CN" sz="2000" b="0">
                <a:latin typeface="Times New Roman" panose="02020603050405020304" charset="0"/>
                <a:ea typeface="宋体" panose="02010600030101010101" pitchFamily="2" charset="-122"/>
              </a:rPr>
              <a:t>支持</a:t>
            </a:r>
            <a:r>
              <a:rPr lang="en-US" sz="2000" b="0">
                <a:latin typeface="Times New Roman" panose="02020603050405020304" charset="0"/>
                <a:ea typeface="宋体" panose="02010600030101010101" pitchFamily="2" charset="-122"/>
              </a:rPr>
              <a:t>CUDA</a:t>
            </a:r>
            <a:r>
              <a:rPr lang="zh-CN" sz="2000" b="0">
                <a:latin typeface="Times New Roman" panose="02020603050405020304" charset="0"/>
                <a:ea typeface="宋体" panose="02010600030101010101" pitchFamily="2" charset="-122"/>
              </a:rPr>
              <a:t>功能</a:t>
            </a:r>
            <a:r>
              <a:rPr lang="zh-CN" sz="2000" b="0">
                <a:ea typeface="宋体" panose="02010600030101010101" pitchFamily="2" charset="-122"/>
              </a:rPr>
              <a:t>的核心，内存子系统包含一个</a:t>
            </a:r>
            <a:r>
              <a:rPr lang="en-US" sz="2000" b="0">
                <a:latin typeface="Times New Roman" panose="02020603050405020304" charset="0"/>
                <a:ea typeface="宋体" panose="02010600030101010101" pitchFamily="2" charset="-122"/>
              </a:rPr>
              <a:t>128</a:t>
            </a:r>
            <a:r>
              <a:rPr lang="zh-CN" sz="2000" b="0">
                <a:ea typeface="宋体" panose="02010600030101010101" pitchFamily="2" charset="-122"/>
              </a:rPr>
              <a:t>位的内存控制器，它支持硬件视频编码器和解码器，还能进行音频处理，同时支持</a:t>
            </a:r>
            <a:r>
              <a:rPr lang="en-US" sz="2000" b="0">
                <a:latin typeface="Times New Roman" panose="02020603050405020304" charset="0"/>
                <a:ea typeface="宋体" panose="02010600030101010101" pitchFamily="2" charset="-122"/>
              </a:rPr>
              <a:t>Wi-Fi</a:t>
            </a:r>
            <a:r>
              <a:rPr lang="zh-CN" sz="2000" b="0">
                <a:ea typeface="宋体" panose="02010600030101010101" pitchFamily="2" charset="-122"/>
              </a:rPr>
              <a:t>和蓝牙无线连接。</a:t>
            </a:r>
            <a:r>
              <a:rPr lang="en-US" sz="2000" b="0">
                <a:latin typeface="Times New Roman" panose="02020603050405020304" charset="0"/>
                <a:ea typeface="宋体" panose="02010600030101010101" pitchFamily="2" charset="-122"/>
              </a:rPr>
              <a:t>        Jetson TX2</a:t>
            </a:r>
            <a:r>
              <a:rPr lang="zh-CN" sz="2000" b="0">
                <a:ea typeface="宋体" panose="02010600030101010101" pitchFamily="2" charset="-122"/>
              </a:rPr>
              <a:t>实物图及安装图如图</a:t>
            </a:r>
            <a:r>
              <a:rPr lang="en-US" sz="2000" b="0">
                <a:latin typeface="Times New Roman" panose="02020603050405020304" charset="0"/>
                <a:ea typeface="宋体" panose="02010600030101010101" pitchFamily="2" charset="-122"/>
              </a:rPr>
              <a:t>13.88</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图</a:t>
            </a:r>
            <a:r>
              <a:rPr lang="en-US" sz="2000" b="0">
                <a:latin typeface="Times New Roman" panose="02020603050405020304" charset="0"/>
                <a:ea typeface="宋体" panose="02010600030101010101" pitchFamily="2" charset="-122"/>
              </a:rPr>
              <a:t>13.89</a:t>
            </a:r>
            <a:r>
              <a:rPr lang="zh-CN" sz="2000" b="0">
                <a:ea typeface="宋体" panose="02010600030101010101" pitchFamily="2" charset="-122"/>
              </a:rPr>
              <a:t>所示。</a:t>
            </a:r>
            <a:endParaRPr lang="zh-CN" altLang="en-US" sz="2000" b="0">
              <a:ea typeface="宋体" panose="02010600030101010101" pitchFamily="2" charset="-122"/>
            </a:endParaRPr>
          </a:p>
        </p:txBody>
      </p:sp>
      <p:pic>
        <p:nvPicPr>
          <p:cNvPr id="3" name="图片 2" descr="EOA{S1SDMHJLS}AF9C$XV@G"/>
          <p:cNvPicPr>
            <a:picLocks noChangeAspect="1"/>
          </p:cNvPicPr>
          <p:nvPr>
            <p:custDataLst>
              <p:tags r:id="rId2"/>
            </p:custDataLst>
          </p:nvPr>
        </p:nvPicPr>
        <p:blipFill>
          <a:blip r:embed="rId3"/>
          <a:stretch>
            <a:fillRect/>
          </a:stretch>
        </p:blipFill>
        <p:spPr>
          <a:xfrm>
            <a:off x="2574290" y="4135120"/>
            <a:ext cx="7181850" cy="253365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864235" y="688975"/>
            <a:ext cx="6990715" cy="6247130"/>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整个</a:t>
            </a:r>
            <a:r>
              <a:rPr lang="zh-CN" sz="2000" b="0">
                <a:latin typeface="Times New Roman" panose="02020603050405020304" charset="0"/>
                <a:ea typeface="宋体" panose="02010600030101010101" pitchFamily="2" charset="-122"/>
              </a:rPr>
              <a:t>实验</a:t>
            </a:r>
            <a:r>
              <a:rPr lang="zh-CN" sz="2000" b="0">
                <a:ea typeface="宋体" panose="02010600030101010101" pitchFamily="2" charset="-122"/>
              </a:rPr>
              <a:t>流程是在</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的话题</a:t>
            </a:r>
            <a:r>
              <a:rPr lang="en-US" sz="2000" b="0">
                <a:latin typeface="宋体" panose="02010600030101010101" pitchFamily="2" charset="-122"/>
                <a:ea typeface="宋体" panose="02010600030101010101" pitchFamily="2" charset="-122"/>
                <a:cs typeface="Times New Roman" panose="02020603050405020304" charset="0"/>
              </a:rPr>
              <a:t>(</a:t>
            </a:r>
            <a:r>
              <a:rPr lang="en-US" sz="2000" b="0">
                <a:latin typeface="Times New Roman" panose="02020603050405020304" charset="0"/>
                <a:ea typeface="宋体" panose="02010600030101010101" pitchFamily="2" charset="-122"/>
              </a:rPr>
              <a:t>Topic</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通信架构下完成的</a:t>
            </a:r>
            <a:r>
              <a:rPr lang="zh-CN" sz="2000" b="0">
                <a:latin typeface="Times New Roman" panose="02020603050405020304" charset="0"/>
                <a:ea typeface="宋体" panose="02010600030101010101" pitchFamily="2" charset="-122"/>
              </a:rPr>
              <a:t>。首先，</a:t>
            </a:r>
            <a:r>
              <a:rPr lang="zh-CN" sz="2000" b="0">
                <a:ea typeface="宋体" panose="02010600030101010101" pitchFamily="2" charset="-122"/>
              </a:rPr>
              <a:t>深度相机</a:t>
            </a:r>
            <a:r>
              <a:rPr lang="zh-CN" sz="2000" b="0">
                <a:latin typeface="Times New Roman" panose="02020603050405020304" charset="0"/>
                <a:ea typeface="宋体" panose="02010600030101010101" pitchFamily="2" charset="-122"/>
              </a:rPr>
              <a:t>节点</a:t>
            </a:r>
            <a:r>
              <a:rPr lang="zh-CN" sz="2000" b="0">
                <a:ea typeface="宋体" panose="02010600030101010101" pitchFamily="2" charset="-122"/>
              </a:rPr>
              <a:t>的彩色摄像头采集彩色图像信息，并将此信息通过话题发布，另一个节点先作为订阅者订阅彩色图像信息，</a:t>
            </a:r>
            <a:r>
              <a:rPr lang="zh-CN" sz="2000" b="0">
                <a:latin typeface="Times New Roman" panose="02020603050405020304" charset="0"/>
                <a:ea typeface="宋体" panose="02010600030101010101" pitchFamily="2" charset="-122"/>
              </a:rPr>
              <a:t>然后</a:t>
            </a:r>
            <a:r>
              <a:rPr lang="zh-CN" sz="2000" b="0">
                <a:ea typeface="宋体" panose="02010600030101010101" pitchFamily="2" charset="-122"/>
              </a:rPr>
              <a:t>通过调用</a:t>
            </a:r>
            <a:r>
              <a:rPr lang="en-US" sz="2000" b="0">
                <a:latin typeface="Times New Roman" panose="02020603050405020304" charset="0"/>
                <a:ea typeface="宋体" panose="02010600030101010101" pitchFamily="2" charset="-122"/>
              </a:rPr>
              <a:t>YOLOv3</a:t>
            </a:r>
            <a:r>
              <a:rPr lang="zh-CN" sz="2000" b="0">
                <a:ea typeface="宋体" panose="02010600030101010101" pitchFamily="2" charset="-122"/>
              </a:rPr>
              <a:t>网络实现对图像进行实时检测，从而确定出我们要识别的人的类别并确定其在图像中的位置信息，</a:t>
            </a:r>
            <a:r>
              <a:rPr lang="zh-CN" sz="2000" b="0">
                <a:latin typeface="Times New Roman" panose="02020603050405020304" charset="0"/>
                <a:ea typeface="宋体" panose="02010600030101010101" pitchFamily="2" charset="-122"/>
              </a:rPr>
              <a:t>接着</a:t>
            </a:r>
            <a:r>
              <a:rPr lang="zh-CN" sz="2000" b="0">
                <a:ea typeface="宋体" panose="02010600030101010101" pitchFamily="2" charset="-122"/>
              </a:rPr>
              <a:t>此节点作为发布者再将人的位置信息发布</a:t>
            </a:r>
            <a:r>
              <a:rPr lang="zh-CN" sz="2000" b="0">
                <a:latin typeface="Times New Roman" panose="02020603050405020304" charset="0"/>
                <a:ea typeface="宋体" panose="02010600030101010101" pitchFamily="2" charset="-122"/>
              </a:rPr>
              <a:t>出去。</a:t>
            </a:r>
            <a:r>
              <a:rPr lang="zh-CN" sz="2000" b="0">
                <a:ea typeface="宋体" panose="02010600030101010101" pitchFamily="2" charset="-122"/>
              </a:rPr>
              <a:t>由深度相机节点确定人的距离及障碍物的位置和距离</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主要思想是通过调用</a:t>
            </a:r>
            <a:r>
              <a:rPr lang="en-US" sz="2000" b="0">
                <a:latin typeface="Times New Roman" panose="02020603050405020304" charset="0"/>
                <a:ea typeface="宋体" panose="02010600030101010101" pitchFamily="2" charset="-122"/>
              </a:rPr>
              <a:t>OpenCV</a:t>
            </a:r>
            <a:r>
              <a:rPr lang="zh-CN" sz="2000" b="0">
                <a:ea typeface="宋体" panose="02010600030101010101" pitchFamily="2" charset="-122"/>
              </a:rPr>
              <a:t>库函数做一定的图像处理：首先通过二值化，将</a:t>
            </a:r>
            <a:r>
              <a:rPr lang="en-US" sz="2000" b="0">
                <a:latin typeface="Times New Roman" panose="02020603050405020304" charset="0"/>
                <a:ea typeface="宋体" panose="02010600030101010101" pitchFamily="2" charset="-122"/>
              </a:rPr>
              <a:t>0.5m</a:t>
            </a:r>
            <a:r>
              <a:rPr lang="zh-CN" sz="2000" b="0">
                <a:ea typeface="宋体" panose="02010600030101010101" pitchFamily="2" charset="-122"/>
              </a:rPr>
              <a:t>之外的安全距离置零</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不考虑</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，然后通过开运算去除一些噪点，</a:t>
            </a:r>
            <a:r>
              <a:rPr lang="zh-CN" sz="2000" b="0">
                <a:latin typeface="Times New Roman" panose="02020603050405020304" charset="0"/>
                <a:ea typeface="宋体" panose="02010600030101010101" pitchFamily="2" charset="-122"/>
              </a:rPr>
              <a:t>再</a:t>
            </a:r>
            <a:r>
              <a:rPr lang="zh-CN" sz="2000" b="0">
                <a:ea typeface="宋体" panose="02010600030101010101" pitchFamily="2" charset="-122"/>
              </a:rPr>
              <a:t>求出所有障碍物的凸包，这个时候要计算面积，当面积小于一定的阈值时不予考虑，最终输出障碍物的凸包坐标</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最后将这些信息通过指定的话题通道发布。完成所有信息的采集工作之后，由跟踪订阅者订阅所有的信息。当接收者接收到这些信息后，会触发回调函数，跟踪主要通过设定自转速度来完成，躲避障碍物则通过用一个余弦函数去调节横移速度来实现。实验流程图如图 13.90所示。</a:t>
            </a:r>
            <a:endParaRPr lang="zh-CN" sz="2000" b="0">
              <a:ea typeface="宋体" panose="02010600030101010101" pitchFamily="2" charset="-122"/>
            </a:endParaRPr>
          </a:p>
        </p:txBody>
      </p:sp>
      <p:pic>
        <p:nvPicPr>
          <p:cNvPr id="6" name="图片 5" descr="QY)KA]F_@)@~8(8J}SEYELY"/>
          <p:cNvPicPr>
            <a:picLocks noChangeAspect="1"/>
          </p:cNvPicPr>
          <p:nvPr>
            <p:custDataLst>
              <p:tags r:id="rId2"/>
            </p:custDataLst>
          </p:nvPr>
        </p:nvPicPr>
        <p:blipFill>
          <a:blip r:embed="rId3"/>
          <a:stretch>
            <a:fillRect/>
          </a:stretch>
        </p:blipFill>
        <p:spPr>
          <a:xfrm>
            <a:off x="8002270" y="849630"/>
            <a:ext cx="3333750" cy="56769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937895" y="860425"/>
            <a:ext cx="9996805" cy="2784475"/>
          </a:xfrm>
          <a:prstGeom prst="rect">
            <a:avLst/>
          </a:prstGeom>
          <a:noFill/>
          <a:ln w="9525">
            <a:noFill/>
          </a:ln>
        </p:spPr>
        <p:txBody>
          <a:bodyPr wrap="square">
            <a:spAutoFit/>
          </a:bodyPr>
          <a:p>
            <a:pPr indent="0" fontAlgn="auto">
              <a:lnSpc>
                <a:spcPct val="125000"/>
              </a:lnSpc>
            </a:pPr>
            <a:r>
              <a:rPr lang="zh-CN" sz="2400" b="1">
                <a:latin typeface="微软雅黑" panose="020B0503020204020204" pitchFamily="34" charset="-122"/>
                <a:ea typeface="微软雅黑" panose="020B0503020204020204" pitchFamily="34" charset="-122"/>
                <a:cs typeface="方正黑体简体" charset="0"/>
              </a:rPr>
              <a:t>四、实验步骤</a:t>
            </a:r>
            <a:r>
              <a:rPr lang="en-US" sz="2000" b="1">
                <a:latin typeface="Arial" panose="020B0604020202020204" pitchFamily="34" charset="0"/>
                <a:ea typeface="黑体" panose="02010609060101010101" charset="-122"/>
              </a:rPr>
              <a:t>1</a:t>
            </a:r>
            <a:r>
              <a:rPr lang="zh-CN" sz="2000" b="1">
                <a:latin typeface="Arial" panose="020B0604020202020204" pitchFamily="34" charset="0"/>
                <a:ea typeface="黑体" panose="02010609060101010101" charset="-122"/>
              </a:rPr>
              <a:t>．</a:t>
            </a:r>
            <a:r>
              <a:rPr lang="en-US" sz="2000" b="1">
                <a:latin typeface="Arial" panose="020B0604020202020204" pitchFamily="34" charset="0"/>
                <a:ea typeface="黑体" panose="02010609060101010101" charset="-122"/>
                <a:cs typeface="Times New Roman" panose="02020603050405020304" charset="0"/>
              </a:rPr>
              <a:t>ROS</a:t>
            </a:r>
            <a:r>
              <a:rPr lang="zh-CN" sz="2000" b="1">
                <a:ea typeface="黑体" panose="02010609060101010101" charset="-122"/>
              </a:rPr>
              <a:t>安装</a:t>
            </a:r>
            <a:r>
              <a:rPr lang="en-US" sz="2000" b="0">
                <a:latin typeface="Times New Roman" panose="02020603050405020304" charset="0"/>
                <a:ea typeface="宋体" panose="02010600030101010101" pitchFamily="2" charset="-122"/>
              </a:rPr>
              <a:t>        ROS</a:t>
            </a:r>
            <a:r>
              <a:rPr lang="zh-CN" sz="2000" b="0">
                <a:ea typeface="宋体" panose="02010600030101010101" pitchFamily="2" charset="-122"/>
              </a:rPr>
              <a:t>每个版本都有依赖的</a:t>
            </a:r>
            <a:r>
              <a:rPr lang="en-US" sz="2000" b="0">
                <a:latin typeface="Times New Roman" panose="02020603050405020304" charset="0"/>
                <a:ea typeface="宋体" panose="02010600030101010101" pitchFamily="2" charset="-122"/>
              </a:rPr>
              <a:t>Ubuntu</a:t>
            </a:r>
            <a:r>
              <a:rPr lang="zh-CN" sz="2000" b="0">
                <a:ea typeface="宋体" panose="02010600030101010101" pitchFamily="2" charset="-122"/>
              </a:rPr>
              <a:t>版本，以下是</a:t>
            </a:r>
            <a:r>
              <a:rPr lang="en-US" sz="2000" b="0">
                <a:latin typeface="Times New Roman" panose="02020603050405020304" charset="0"/>
                <a:ea typeface="宋体" panose="02010600030101010101" pitchFamily="2" charset="-122"/>
              </a:rPr>
              <a:t>ROS Kinetic </a:t>
            </a:r>
            <a:r>
              <a:rPr lang="zh-CN" sz="2000" b="0">
                <a:ea typeface="宋体" panose="02010600030101010101" pitchFamily="2" charset="-122"/>
              </a:rPr>
              <a:t>对应于</a:t>
            </a:r>
            <a:r>
              <a:rPr lang="en-US" sz="2000" b="0">
                <a:latin typeface="Times New Roman" panose="02020603050405020304" charset="0"/>
                <a:ea typeface="宋体" panose="02010600030101010101" pitchFamily="2" charset="-122"/>
              </a:rPr>
              <a:t>Ubuntu</a:t>
            </a:r>
            <a:r>
              <a:rPr lang="en-US" sz="2000" b="0">
                <a:latin typeface="Times New Roman" panose="02020603050405020304" charset="0"/>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16.04</a:t>
            </a:r>
            <a:r>
              <a:rPr lang="zh-CN" sz="2000" b="0">
                <a:ea typeface="宋体" panose="02010600030101010101" pitchFamily="2" charset="-122"/>
              </a:rPr>
              <a:t>版本的安装</a:t>
            </a:r>
            <a:r>
              <a:rPr lang="zh-CN" sz="2000" b="0">
                <a:latin typeface="Times New Roman" panose="02020603050405020304" charset="0"/>
                <a:ea typeface="宋体" panose="02010600030101010101" pitchFamily="2" charset="-122"/>
              </a:rPr>
              <a:t>过</a:t>
            </a:r>
            <a:r>
              <a:rPr lang="zh-CN" sz="2000" b="0">
                <a:ea typeface="宋体" panose="02010600030101010101" pitchFamily="2" charset="-122"/>
              </a:rPr>
              <a:t>程。</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添加</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官</a:t>
            </a:r>
            <a:r>
              <a:rPr lang="zh-CN" sz="2000" b="0">
                <a:latin typeface="Times New Roman" panose="02020603050405020304" charset="0"/>
                <a:ea typeface="宋体" panose="02010600030101010101" pitchFamily="2" charset="-122"/>
              </a:rPr>
              <a:t>网</a:t>
            </a:r>
            <a:r>
              <a:rPr lang="zh-CN" sz="2000" b="0">
                <a:ea typeface="宋体" panose="02010600030101010101" pitchFamily="2" charset="-122"/>
              </a:rPr>
              <a:t>的软件镜像</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输入</a:t>
            </a:r>
            <a:r>
              <a:rPr lang="zh-CN" sz="2000" b="0">
                <a:latin typeface="Times New Roman" panose="02020603050405020304" charset="0"/>
                <a:ea typeface="宋体" panose="02010600030101010101" pitchFamily="2" charset="-122"/>
              </a:rPr>
              <a:t>以下</a:t>
            </a:r>
            <a:r>
              <a:rPr lang="zh-CN" sz="2000" b="0">
                <a:ea typeface="宋体" panose="02010600030101010101" pitchFamily="2" charset="-122"/>
              </a:rPr>
              <a:t>指令，如图</a:t>
            </a:r>
            <a:r>
              <a:rPr lang="en-US" sz="2000" b="0">
                <a:latin typeface="Times New Roman" panose="02020603050405020304" charset="0"/>
                <a:ea typeface="宋体" panose="02010600030101010101" pitchFamily="2" charset="-122"/>
              </a:rPr>
              <a:t>13.91</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sh -c 'echo "deb http://packages.ros.org/ros/Ubuntu $</a:t>
            </a:r>
            <a:r>
              <a:rPr lang="en-US" b="1">
                <a:latin typeface="宋体" panose="02010600030101010101" pitchFamily="2" charset="-122"/>
                <a:ea typeface="宋体" panose="02010600030101010101" pitchFamily="2" charset="-122"/>
                <a:cs typeface="Times New Roman" panose="02020603050405020304" charset="0"/>
              </a:rPr>
              <a:t>(lsb_release -sc) main" &gt; /etc/apt/sources.list.d/ros-latest.list'</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3" name="图片 2" descr="FU44EW1I[11VV4{3XMR_2]D"/>
          <p:cNvPicPr>
            <a:picLocks noChangeAspect="1"/>
          </p:cNvPicPr>
          <p:nvPr>
            <p:custDataLst>
              <p:tags r:id="rId2"/>
            </p:custDataLst>
          </p:nvPr>
        </p:nvPicPr>
        <p:blipFill>
          <a:blip r:embed="rId3"/>
          <a:stretch>
            <a:fillRect/>
          </a:stretch>
        </p:blipFill>
        <p:spPr>
          <a:xfrm>
            <a:off x="2491105" y="3644900"/>
            <a:ext cx="7210425" cy="178117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915035"/>
            <a:ext cx="9846945" cy="1187450"/>
          </a:xfrm>
          <a:prstGeom prst="rect">
            <a:avLst/>
          </a:prstGeom>
          <a:noFill/>
          <a:ln w="9525">
            <a:noFill/>
          </a:ln>
        </p:spPr>
        <p:txBody>
          <a:bodyPr wrap="square">
            <a:spAutoFit/>
          </a:bodyPr>
          <a:p>
            <a:pPr indent="0" fontAlgn="auto">
              <a:lnSpc>
                <a:spcPct val="125000"/>
              </a:lnSpc>
            </a:pPr>
            <a:r>
              <a:rPr lang="en-US" sz="2100" b="0">
                <a:latin typeface="宋体" panose="02010600030101010101" pitchFamily="2" charset="-122"/>
                <a:ea typeface="宋体" panose="02010600030101010101" pitchFamily="2" charset="-122"/>
              </a:rPr>
              <a:t>(</a:t>
            </a:r>
            <a:r>
              <a:rPr lang="en-US" sz="2100" b="0">
                <a:latin typeface="Times New Roman" panose="02020603050405020304" charset="0"/>
                <a:ea typeface="宋体" panose="02010600030101010101" pitchFamily="2" charset="-122"/>
              </a:rPr>
              <a:t>2</a:t>
            </a:r>
            <a:r>
              <a:rPr lang="en-US" sz="2100" b="0">
                <a:latin typeface="宋体" panose="02010600030101010101" pitchFamily="2" charset="-122"/>
                <a:ea typeface="宋体" panose="02010600030101010101" pitchFamily="2" charset="-122"/>
              </a:rPr>
              <a:t>)</a:t>
            </a:r>
            <a:r>
              <a:rPr lang="zh-CN" sz="2100" b="0">
                <a:ea typeface="宋体" panose="02010600030101010101" pitchFamily="2" charset="-122"/>
              </a:rPr>
              <a:t>设置密钥</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13.92</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apt-key adv --keyserver hkp://ha.pool.sks-keyservers.net:80 --recv-key 421C365BD9FF1F717815A3895523BAEEB01FA116</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3" name="图片 2" descr="O6%DPFE4~KC4~K190E]X)9G"/>
          <p:cNvPicPr>
            <a:picLocks noChangeAspect="1"/>
          </p:cNvPicPr>
          <p:nvPr>
            <p:custDataLst>
              <p:tags r:id="rId2"/>
            </p:custDataLst>
          </p:nvPr>
        </p:nvPicPr>
        <p:blipFill>
          <a:blip r:embed="rId3"/>
          <a:stretch>
            <a:fillRect/>
          </a:stretch>
        </p:blipFill>
        <p:spPr>
          <a:xfrm>
            <a:off x="2496185" y="2212975"/>
            <a:ext cx="6583680" cy="972820"/>
          </a:xfrm>
          <a:prstGeom prst="rect">
            <a:avLst/>
          </a:prstGeom>
        </p:spPr>
      </p:pic>
      <p:sp>
        <p:nvSpPr>
          <p:cNvPr id="4" name="文本框 3"/>
          <p:cNvSpPr txBox="1"/>
          <p:nvPr/>
        </p:nvSpPr>
        <p:spPr>
          <a:xfrm>
            <a:off x="864235" y="3185795"/>
            <a:ext cx="10146030" cy="86042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确</a:t>
            </a:r>
            <a:r>
              <a:rPr lang="zh-CN" sz="2000" b="0">
                <a:latin typeface="Times New Roman" panose="02020603050405020304" charset="0"/>
                <a:ea typeface="宋体" panose="02010600030101010101" pitchFamily="2" charset="-122"/>
              </a:rPr>
              <a:t>认</a:t>
            </a:r>
            <a:r>
              <a:rPr lang="zh-CN" sz="2000" b="0">
                <a:ea typeface="宋体" panose="02010600030101010101" pitchFamily="2" charset="-122"/>
              </a:rPr>
              <a:t>之前的软件源修改得以更新</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输入以下指令</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13.93</a:t>
            </a:r>
            <a:r>
              <a:rPr lang="zh-CN" sz="2000" b="0">
                <a:latin typeface="Times New Roman" panose="02020603050405020304" charset="0"/>
                <a:ea typeface="宋体" panose="02010600030101010101" pitchFamily="2" charset="-122"/>
              </a:rPr>
              <a:t>所示。</a:t>
            </a:r>
            <a:endParaRPr lang="zh-CN" sz="2000" b="0">
              <a:latin typeface="Times New Roman" panose="02020603050405020304" charset="0"/>
              <a:ea typeface="宋体" panose="02010600030101010101" pitchFamily="2" charset="-122"/>
            </a:endParaRPr>
          </a:p>
          <a:p>
            <a:pPr indent="0" fontAlgn="auto">
              <a:lnSpc>
                <a:spcPct val="125000"/>
              </a:lnSpc>
            </a:pPr>
            <a:r>
              <a:rPr lang="en-US" altLang="zh-CN" sz="2000" b="0">
                <a:latin typeface="Times New Roman" panose="02020603050405020304" charset="0"/>
                <a:ea typeface="宋体" panose="02010600030101010101" pitchFamily="2" charset="-122"/>
              </a:rPr>
              <a:t>        </a:t>
            </a:r>
            <a:r>
              <a:rPr lang="zh-CN" altLang="en-US" sz="2000" b="0">
                <a:latin typeface="Times New Roman" panose="02020603050405020304" charset="0"/>
                <a:ea typeface="宋体" panose="02010600030101010101" pitchFamily="2" charset="-122"/>
              </a:rPr>
              <a:t>sudo apt-get update</a:t>
            </a:r>
            <a:endParaRPr lang="zh-CN" altLang="en-US" sz="2000" b="0">
              <a:latin typeface="Times New Roman" panose="02020603050405020304" charset="0"/>
              <a:ea typeface="宋体" panose="02010600030101010101" pitchFamily="2" charset="-122"/>
            </a:endParaRPr>
          </a:p>
        </p:txBody>
      </p:sp>
      <p:pic>
        <p:nvPicPr>
          <p:cNvPr id="6" name="图片 5" descr="RKG50)1`IR7)9G[0C_(8U%O"/>
          <p:cNvPicPr>
            <a:picLocks noChangeAspect="1"/>
          </p:cNvPicPr>
          <p:nvPr>
            <p:custDataLst>
              <p:tags r:id="rId4"/>
            </p:custDataLst>
          </p:nvPr>
        </p:nvPicPr>
        <p:blipFill>
          <a:blip r:embed="rId5"/>
          <a:stretch>
            <a:fillRect/>
          </a:stretch>
        </p:blipFill>
        <p:spPr>
          <a:xfrm>
            <a:off x="3650615" y="3732530"/>
            <a:ext cx="4890770" cy="312547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931545"/>
            <a:ext cx="9190355" cy="841375"/>
          </a:xfrm>
          <a:prstGeom prst="rect">
            <a:avLst/>
          </a:prstGeom>
          <a:noFill/>
          <a:ln w="9525">
            <a:noFill/>
          </a:ln>
        </p:spPr>
        <p:txBody>
          <a:bodyPr wrap="square">
            <a:spAutoFit/>
          </a:bodyPr>
          <a:p>
            <a:pPr indent="0" fontAlgn="auto">
              <a:lnSpc>
                <a:spcPct val="125000"/>
              </a:lnSpc>
            </a:pPr>
            <a:r>
              <a:rPr lang="en-US" sz="2100" b="0">
                <a:latin typeface="宋体" panose="02010600030101010101" pitchFamily="2" charset="-122"/>
                <a:ea typeface="宋体" panose="02010600030101010101" pitchFamily="2" charset="-122"/>
              </a:rPr>
              <a:t>(</a:t>
            </a:r>
            <a:r>
              <a:rPr lang="en-US" sz="2100" b="0">
                <a:latin typeface="Times New Roman" panose="02020603050405020304" charset="0"/>
                <a:ea typeface="宋体" panose="02010600030101010101" pitchFamily="2" charset="-122"/>
              </a:rPr>
              <a:t>4</a:t>
            </a:r>
            <a:r>
              <a:rPr lang="en-US" sz="2100" b="0">
                <a:latin typeface="宋体" panose="02010600030101010101" pitchFamily="2" charset="-122"/>
                <a:ea typeface="宋体" panose="02010600030101010101" pitchFamily="2" charset="-122"/>
              </a:rPr>
              <a:t>)</a:t>
            </a:r>
            <a:r>
              <a:rPr lang="zh-CN" sz="2100" b="0">
                <a:ea typeface="宋体" panose="02010600030101010101" pitchFamily="2" charset="-122"/>
              </a:rPr>
              <a:t>安装</a:t>
            </a:r>
            <a:r>
              <a:rPr lang="en-US" sz="2100" b="0">
                <a:latin typeface="Times New Roman" panose="02020603050405020304" charset="0"/>
                <a:ea typeface="宋体" panose="02010600030101010101" pitchFamily="2" charset="-122"/>
              </a:rPr>
              <a:t>ROS Kinetic</a:t>
            </a:r>
            <a:r>
              <a:rPr lang="zh-CN" sz="2100" b="0">
                <a:ea typeface="宋体" panose="02010600030101010101" pitchFamily="2" charset="-122"/>
              </a:rPr>
              <a:t>完整版</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13.94</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apt-get install ros-kinetic-desktop-full </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4" name="图片 3" descr="JTH08`PI_DQ)RAMKT_EI`TW"/>
          <p:cNvPicPr>
            <a:picLocks noChangeAspect="1"/>
          </p:cNvPicPr>
          <p:nvPr>
            <p:custDataLst>
              <p:tags r:id="rId2"/>
            </p:custDataLst>
          </p:nvPr>
        </p:nvPicPr>
        <p:blipFill>
          <a:blip r:embed="rId3"/>
          <a:stretch>
            <a:fillRect/>
          </a:stretch>
        </p:blipFill>
        <p:spPr>
          <a:xfrm>
            <a:off x="2790825" y="1845310"/>
            <a:ext cx="6610350" cy="43815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871855"/>
            <a:ext cx="9847580" cy="1168400"/>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5</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初始化</a:t>
            </a:r>
            <a:r>
              <a:rPr lang="en-US" sz="2000" b="0">
                <a:latin typeface="Times New Roman" panose="02020603050405020304" charset="0"/>
                <a:ea typeface="宋体" panose="02010600030101010101" pitchFamily="2" charset="-122"/>
              </a:rPr>
              <a:t> rosdep</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输入以下指令</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如图</a:t>
            </a:r>
            <a:r>
              <a:rPr lang="en-US" sz="2000" b="0">
                <a:latin typeface="Times New Roman" panose="02020603050405020304" charset="0"/>
                <a:ea typeface="宋体" panose="02010600030101010101" pitchFamily="2" charset="-122"/>
              </a:rPr>
              <a:t>13.95</a:t>
            </a:r>
            <a:r>
              <a:rPr lang="zh-CN" sz="20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rPr>
              <a:t></a:t>
            </a:r>
            <a:r>
              <a:rPr lang="en-US" b="1">
                <a:latin typeface="宋体" panose="02010600030101010101" pitchFamily="2" charset="-122"/>
                <a:ea typeface="宋体" panose="02010600030101010101" pitchFamily="2" charset="-122"/>
              </a:rPr>
              <a:t>    s</a:t>
            </a:r>
            <a:r>
              <a:rPr lang="en-US" b="1">
                <a:latin typeface="宋体" panose="02010600030101010101" pitchFamily="2" charset="-122"/>
                <a:ea typeface="宋体" panose="02010600030101010101" pitchFamily="2" charset="-122"/>
                <a:cs typeface="Times New Roman" panose="02020603050405020304" charset="0"/>
              </a:rPr>
              <a:t>udo rosdep init    rosdep update</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3" name="图片 2" descr="2ND4K2CCNTL[{3W48T9D37C"/>
          <p:cNvPicPr>
            <a:picLocks noChangeAspect="1"/>
          </p:cNvPicPr>
          <p:nvPr>
            <p:custDataLst>
              <p:tags r:id="rId2"/>
            </p:custDataLst>
          </p:nvPr>
        </p:nvPicPr>
        <p:blipFill>
          <a:blip r:embed="rId3"/>
          <a:stretch>
            <a:fillRect/>
          </a:stretch>
        </p:blipFill>
        <p:spPr>
          <a:xfrm>
            <a:off x="2195830" y="2124075"/>
            <a:ext cx="7800340" cy="450723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873760"/>
            <a:ext cx="9766935" cy="1187450"/>
          </a:xfrm>
          <a:prstGeom prst="rect">
            <a:avLst/>
          </a:prstGeom>
          <a:noFill/>
          <a:ln w="9525">
            <a:noFill/>
          </a:ln>
        </p:spPr>
        <p:txBody>
          <a:bodyPr wrap="square">
            <a:spAutoFit/>
          </a:bodyPr>
          <a:p>
            <a:pPr indent="0" fontAlgn="auto">
              <a:lnSpc>
                <a:spcPct val="125000"/>
              </a:lnSpc>
            </a:pPr>
            <a:r>
              <a:rPr lang="en-US" sz="2100" b="0">
                <a:latin typeface="宋体" panose="02010600030101010101" pitchFamily="2" charset="-122"/>
                <a:ea typeface="宋体" panose="02010600030101010101" pitchFamily="2" charset="-122"/>
              </a:rPr>
              <a:t>(</a:t>
            </a:r>
            <a:r>
              <a:rPr lang="en-US" sz="2100" b="0">
                <a:latin typeface="Times New Roman" panose="02020603050405020304" charset="0"/>
                <a:ea typeface="宋体" panose="02010600030101010101" pitchFamily="2" charset="-122"/>
              </a:rPr>
              <a:t>6</a:t>
            </a:r>
            <a:r>
              <a:rPr lang="en-US" sz="2100" b="0">
                <a:latin typeface="宋体" panose="02010600030101010101" pitchFamily="2" charset="-122"/>
                <a:ea typeface="宋体" panose="02010600030101010101" pitchFamily="2" charset="-122"/>
              </a:rPr>
              <a:t>)</a:t>
            </a:r>
            <a:r>
              <a:rPr lang="zh-CN" sz="2100" b="0">
                <a:ea typeface="宋体" panose="02010600030101010101" pitchFamily="2" charset="-122"/>
              </a:rPr>
              <a:t>配置环境变量</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13.96</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0">
                <a:latin typeface="宋体" panose="02010600030101010101" pitchFamily="2" charset="-122"/>
                <a:ea typeface="宋体" panose="02010600030101010101" pitchFamily="2" charset="-122"/>
                <a:cs typeface="宋体" panose="02010600030101010101" pitchFamily="2" charset="-122"/>
              </a:rPr>
              <a:t>  </a:t>
            </a:r>
            <a:r>
              <a:rPr lang="en-US" b="1">
                <a:latin typeface="宋体" panose="02010600030101010101" pitchFamily="2" charset="-122"/>
                <a:ea typeface="宋体" panose="02010600030101010101" pitchFamily="2" charset="-122"/>
                <a:cs typeface="宋体" panose="02010600030101010101" pitchFamily="2" charset="-122"/>
              </a:rPr>
              <a:t>   echo "source /opt/ros/kinetic/setup.bash" &gt;&gt; </a:t>
            </a:r>
            <a:r>
              <a:rPr lang="zh-CN" b="1">
                <a:latin typeface="宋体" panose="02010600030101010101" pitchFamily="2" charset="-122"/>
                <a:ea typeface="宋体" panose="02010600030101010101" pitchFamily="2" charset="-122"/>
                <a:cs typeface="宋体" panose="02010600030101010101" pitchFamily="2" charset="-122"/>
              </a:rPr>
              <a:t>～</a:t>
            </a:r>
            <a:r>
              <a:rPr lang="en-US" b="1">
                <a:latin typeface="宋体" panose="02010600030101010101" pitchFamily="2" charset="-122"/>
                <a:ea typeface="宋体" panose="02010600030101010101" pitchFamily="2" charset="-122"/>
                <a:cs typeface="宋体" panose="02010600030101010101" pitchFamily="2" charset="-122"/>
              </a:rPr>
              <a:t>/.bashrcsource </a:t>
            </a:r>
            <a:r>
              <a:rPr lang="zh-CN" b="1">
                <a:latin typeface="宋体" panose="02010600030101010101" pitchFamily="2" charset="-122"/>
                <a:ea typeface="宋体" panose="02010600030101010101" pitchFamily="2" charset="-122"/>
                <a:cs typeface="宋体" panose="02010600030101010101" pitchFamily="2" charset="-122"/>
              </a:rPr>
              <a:t>～</a:t>
            </a:r>
            <a:r>
              <a:rPr lang="en-US" b="1">
                <a:latin typeface="宋体" panose="02010600030101010101" pitchFamily="2" charset="-122"/>
                <a:ea typeface="宋体" panose="02010600030101010101" pitchFamily="2" charset="-122"/>
                <a:cs typeface="宋体" panose="02010600030101010101" pitchFamily="2" charset="-122"/>
              </a:rPr>
              <a:t>/.bashrc</a:t>
            </a:r>
            <a:endParaRPr lang="en-US" altLang="en-US" b="1">
              <a:latin typeface="宋体" panose="02010600030101010101" pitchFamily="2" charset="-122"/>
              <a:ea typeface="宋体" panose="02010600030101010101" pitchFamily="2" charset="-122"/>
              <a:cs typeface="宋体" panose="02010600030101010101" pitchFamily="2" charset="-122"/>
            </a:endParaRPr>
          </a:p>
        </p:txBody>
      </p:sp>
      <p:pic>
        <p:nvPicPr>
          <p:cNvPr id="3" name="图片 2" descr="IHV9QQ9RRF]KCGQZO4A}[C0"/>
          <p:cNvPicPr>
            <a:picLocks noChangeAspect="1"/>
          </p:cNvPicPr>
          <p:nvPr>
            <p:custDataLst>
              <p:tags r:id="rId2"/>
            </p:custDataLst>
          </p:nvPr>
        </p:nvPicPr>
        <p:blipFill>
          <a:blip r:embed="rId3"/>
          <a:stretch>
            <a:fillRect/>
          </a:stretch>
        </p:blipFill>
        <p:spPr>
          <a:xfrm>
            <a:off x="2540000" y="1991995"/>
            <a:ext cx="7112000" cy="954405"/>
          </a:xfrm>
          <a:prstGeom prst="rect">
            <a:avLst/>
          </a:prstGeom>
        </p:spPr>
      </p:pic>
      <p:sp>
        <p:nvSpPr>
          <p:cNvPr id="4" name="文本框 3"/>
          <p:cNvSpPr txBox="1"/>
          <p:nvPr/>
        </p:nvSpPr>
        <p:spPr>
          <a:xfrm>
            <a:off x="988060" y="2876550"/>
            <a:ext cx="7160260" cy="475615"/>
          </a:xfrm>
          <a:prstGeom prst="rect">
            <a:avLst/>
          </a:prstGeom>
          <a:noFill/>
          <a:ln w="9525">
            <a:noFill/>
          </a:ln>
        </p:spPr>
        <p:txBody>
          <a:bodyPr wrap="square">
            <a:spAutoFit/>
          </a:bodyPr>
          <a:p>
            <a:pPr indent="0" fontAlgn="auto">
              <a:lnSpc>
                <a:spcPct val="125000"/>
              </a:lnSpc>
            </a:pPr>
            <a:r>
              <a:rPr lang="en-US" sz="2000" b="0">
                <a:latin typeface="宋体" panose="02010600030101010101" pitchFamily="2" charset="-122"/>
                <a:ea typeface="宋体" panose="02010600030101010101" pitchFamily="2" charset="-122"/>
              </a:rPr>
              <a:t>(</a:t>
            </a:r>
            <a:r>
              <a:rPr lang="en-US" sz="2000" b="0">
                <a:latin typeface="Times New Roman" panose="02020603050405020304" charset="0"/>
                <a:ea typeface="宋体" panose="02010600030101010101" pitchFamily="2" charset="-122"/>
              </a:rPr>
              <a:t>7</a:t>
            </a:r>
            <a:r>
              <a:rPr lang="en-US" sz="2000" b="0">
                <a:latin typeface="宋体" panose="02010600030101010101" pitchFamily="2" charset="-122"/>
                <a:ea typeface="宋体" panose="02010600030101010101" pitchFamily="2" charset="-122"/>
              </a:rPr>
              <a:t>)</a:t>
            </a:r>
            <a:r>
              <a:rPr lang="zh-CN" sz="2000" b="0">
                <a:ea typeface="宋体" panose="02010600030101010101" pitchFamily="2" charset="-122"/>
              </a:rPr>
              <a:t>测试</a:t>
            </a:r>
            <a:r>
              <a:rPr lang="en-US" sz="2000" b="0">
                <a:latin typeface="Times New Roman" panose="02020603050405020304" charset="0"/>
                <a:ea typeface="宋体" panose="02010600030101010101" pitchFamily="2" charset="-122"/>
              </a:rPr>
              <a:t>ROS</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启动</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环境，如图</a:t>
            </a:r>
            <a:r>
              <a:rPr lang="en-US" sz="2000" b="0">
                <a:latin typeface="Times New Roman" panose="02020603050405020304" charset="0"/>
                <a:ea typeface="宋体" panose="02010600030101010101" pitchFamily="2" charset="-122"/>
              </a:rPr>
              <a:t>13.97</a:t>
            </a:r>
            <a:r>
              <a:rPr lang="zh-CN" sz="2000" b="0">
                <a:latin typeface="Times New Roman" panose="02020603050405020304" charset="0"/>
                <a:ea typeface="宋体" panose="02010600030101010101" pitchFamily="2" charset="-122"/>
              </a:rPr>
              <a:t>所示。</a:t>
            </a:r>
            <a:endParaRPr lang="zh-CN" altLang="en-US" sz="2000" b="0">
              <a:latin typeface="Times New Roman" panose="02020603050405020304" charset="0"/>
              <a:ea typeface="宋体" panose="02010600030101010101" pitchFamily="2" charset="-122"/>
            </a:endParaRPr>
          </a:p>
        </p:txBody>
      </p:sp>
      <p:pic>
        <p:nvPicPr>
          <p:cNvPr id="5" name="图片 4" descr="]2UZ8~BTHMKVZW4ASMB54JA"/>
          <p:cNvPicPr>
            <a:picLocks noChangeAspect="1"/>
          </p:cNvPicPr>
          <p:nvPr>
            <p:custDataLst>
              <p:tags r:id="rId4"/>
            </p:custDataLst>
          </p:nvPr>
        </p:nvPicPr>
        <p:blipFill>
          <a:blip r:embed="rId5"/>
          <a:stretch>
            <a:fillRect/>
          </a:stretch>
        </p:blipFill>
        <p:spPr>
          <a:xfrm>
            <a:off x="3093085" y="3368040"/>
            <a:ext cx="6006465" cy="348996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871220"/>
            <a:ext cx="10046970" cy="1891665"/>
          </a:xfrm>
          <a:prstGeom prst="rect">
            <a:avLst/>
          </a:prstGeom>
          <a:noFill/>
          <a:ln w="9525">
            <a:noFill/>
          </a:ln>
        </p:spPr>
        <p:txBody>
          <a:bodyPr wrap="square">
            <a:spAutoFit/>
          </a:bodyPr>
          <a:p>
            <a:pPr indent="269875"/>
            <a:r>
              <a:rPr lang="en-US" altLang="zh-CN" sz="2100" b="0">
                <a:ea typeface="宋体" panose="02010600030101010101" pitchFamily="2" charset="-122"/>
              </a:rPr>
              <a:t>   </a:t>
            </a:r>
            <a:r>
              <a:rPr lang="zh-CN" sz="2100" b="0">
                <a:ea typeface="宋体" panose="02010600030101010101" pitchFamily="2" charset="-122"/>
              </a:rPr>
              <a:t>观察是否显示</a:t>
            </a:r>
            <a:r>
              <a:rPr lang="en-US" sz="2100" b="0">
                <a:latin typeface="Times New Roman" panose="02020603050405020304" charset="0"/>
                <a:ea typeface="宋体" panose="02010600030101010101" pitchFamily="2" charset="-122"/>
              </a:rPr>
              <a:t>“started core service [/rosout]</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如果</a:t>
            </a:r>
            <a:r>
              <a:rPr lang="zh-CN" sz="2100" b="0">
                <a:latin typeface="Times New Roman" panose="02020603050405020304" charset="0"/>
                <a:ea typeface="宋体" panose="02010600030101010101" pitchFamily="2" charset="-122"/>
              </a:rPr>
              <a:t>显示</a:t>
            </a:r>
            <a:r>
              <a:rPr lang="zh-CN" sz="2100" b="0">
                <a:ea typeface="宋体" panose="02010600030101010101" pitchFamily="2" charset="-122"/>
              </a:rPr>
              <a:t>，证明安装成功。</a:t>
            </a:r>
            <a:r>
              <a:rPr lang="en-US" sz="2100" b="1">
                <a:latin typeface="Arial" panose="020B0604020202020204" pitchFamily="34" charset="0"/>
                <a:ea typeface="黑体" panose="02010609060101010101" charset="-122"/>
              </a:rPr>
              <a:t>2</a:t>
            </a:r>
            <a:r>
              <a:rPr lang="zh-CN" sz="2100" b="1">
                <a:latin typeface="Arial" panose="020B0604020202020204" pitchFamily="34" charset="0"/>
                <a:ea typeface="黑体" panose="02010609060101010101" charset="-122"/>
              </a:rPr>
              <a:t>．</a:t>
            </a:r>
            <a:r>
              <a:rPr lang="zh-CN" sz="2100" b="1">
                <a:ea typeface="黑体" panose="02010609060101010101" charset="-122"/>
              </a:rPr>
              <a:t>安装</a:t>
            </a:r>
            <a:r>
              <a:rPr lang="en-US" sz="2100" b="1">
                <a:latin typeface="Arial" panose="020B0604020202020204" pitchFamily="34" charset="0"/>
                <a:ea typeface="黑体" panose="02010609060101010101" charset="-122"/>
                <a:cs typeface="Times New Roman" panose="02020603050405020304" charset="0"/>
              </a:rPr>
              <a:t>realsense</a:t>
            </a:r>
            <a:r>
              <a:rPr lang="zh-CN" sz="2100" b="1">
                <a:ea typeface="黑体" panose="02010609060101010101" charset="-122"/>
              </a:rPr>
              <a:t>开发包</a:t>
            </a:r>
            <a:r>
              <a:rPr lang="zh-CN" sz="2100" b="0">
                <a:ea typeface="宋体" panose="02010600030101010101" pitchFamily="2" charset="-122"/>
              </a:rPr>
              <a:t></a:t>
            </a:r>
            <a:r>
              <a:rPr lang="en-US" altLang="zh-CN" sz="2100" b="0">
                <a:ea typeface="宋体" panose="02010600030101010101" pitchFamily="2" charset="-122"/>
              </a:rPr>
              <a:t>       </a:t>
            </a:r>
            <a:r>
              <a:rPr lang="zh-CN" sz="2100" b="0">
                <a:ea typeface="宋体" panose="02010600030101010101" pitchFamily="2" charset="-122"/>
              </a:rPr>
              <a:t>注册服务器的公钥，输入以下指令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13.98</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apt-key adv --keyserver keys.gnupg.net --recv-key       F6E65AC044F831AC80A06380C8B3A55A6F3EFCDE || sudo apt-key adv --keyserver hkp://keyserver.Ubuntu.com:80--recv-keyF6E65AC044F831AC80A06380C8B3A55A6F3EFCDE</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3" name="图片 2" descr="7`IH(E3OXOHDRT0K)F~U695"/>
          <p:cNvPicPr>
            <a:picLocks noChangeAspect="1"/>
          </p:cNvPicPr>
          <p:nvPr>
            <p:custDataLst>
              <p:tags r:id="rId2"/>
            </p:custDataLst>
          </p:nvPr>
        </p:nvPicPr>
        <p:blipFill>
          <a:blip r:embed="rId3"/>
          <a:stretch>
            <a:fillRect/>
          </a:stretch>
        </p:blipFill>
        <p:spPr>
          <a:xfrm>
            <a:off x="2436495" y="2762885"/>
            <a:ext cx="7319645" cy="2311400"/>
          </a:xfrm>
          <a:prstGeom prst="rect">
            <a:avLst/>
          </a:prstGeom>
        </p:spPr>
      </p:pic>
      <p:sp>
        <p:nvSpPr>
          <p:cNvPr id="4" name="文本框 3"/>
          <p:cNvSpPr txBox="1"/>
          <p:nvPr/>
        </p:nvSpPr>
        <p:spPr>
          <a:xfrm>
            <a:off x="864235" y="5194935"/>
            <a:ext cx="9428480" cy="1245235"/>
          </a:xfrm>
          <a:prstGeom prst="rect">
            <a:avLst/>
          </a:prstGeom>
          <a:noFill/>
          <a:ln w="9525">
            <a:noFill/>
          </a:ln>
        </p:spPr>
        <p:txBody>
          <a:bodyPr wrap="square">
            <a:spAutoFit/>
          </a:bodyPr>
          <a:p>
            <a:pPr indent="269875"/>
            <a:r>
              <a:rPr lang="en-US" altLang="zh-CN" sz="2100" b="0">
                <a:ea typeface="宋体" panose="02010600030101010101" pitchFamily="2" charset="-122"/>
              </a:rPr>
              <a:t>  </a:t>
            </a:r>
            <a:r>
              <a:rPr lang="zh-CN" sz="2100" b="0">
                <a:ea typeface="宋体" panose="02010600030101010101" pitchFamily="2" charset="-122"/>
              </a:rPr>
              <a:t>将服务器添加到存储库列表中，输入以下指令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13.99</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宋体" panose="02010600030101010101" pitchFamily="2" charset="-122"/>
              </a:rPr>
              <a:t>      Ubuntu 16 LTS</a:t>
            </a:r>
            <a:r>
              <a:rPr lang="zh-CN" b="1">
                <a:latin typeface="宋体" panose="02010600030101010101" pitchFamily="2" charset="-122"/>
                <a:ea typeface="宋体" panose="02010600030101010101" pitchFamily="2" charset="-122"/>
                <a:cs typeface="宋体" panose="02010600030101010101" pitchFamily="2" charset="-122"/>
              </a:rPr>
              <a:t>：</a:t>
            </a:r>
            <a:r>
              <a:rPr lang="en-US" b="1">
                <a:latin typeface="宋体" panose="02010600030101010101" pitchFamily="2" charset="-122"/>
                <a:ea typeface="宋体" panose="02010600030101010101" pitchFamily="2" charset="-122"/>
                <a:cs typeface="宋体" panose="02010600030101010101" pitchFamily="2" charset="-122"/>
              </a:rPr>
              <a:t>      sudo add-apt-repository "deb http://realsense-hw-public.s3.amazonaws.                   com/Debian/apt-repo xenial main" -u</a:t>
            </a:r>
            <a:endParaRPr lang="en-US" altLang="en-US"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9TFDAI]YB5(UP~348XOC4O"/>
          <p:cNvPicPr>
            <a:picLocks noChangeAspect="1"/>
          </p:cNvPicPr>
          <p:nvPr>
            <p:custDataLst>
              <p:tags r:id="rId2"/>
            </p:custDataLst>
          </p:nvPr>
        </p:nvPicPr>
        <p:blipFill>
          <a:blip r:embed="rId3"/>
          <a:stretch>
            <a:fillRect/>
          </a:stretch>
        </p:blipFill>
        <p:spPr>
          <a:xfrm>
            <a:off x="2593340" y="864235"/>
            <a:ext cx="7004685" cy="1082675"/>
          </a:xfrm>
          <a:prstGeom prst="rect">
            <a:avLst/>
          </a:prstGeom>
        </p:spPr>
      </p:pic>
      <p:sp>
        <p:nvSpPr>
          <p:cNvPr id="106" name="文本框 105"/>
          <p:cNvSpPr txBox="1"/>
          <p:nvPr/>
        </p:nvSpPr>
        <p:spPr>
          <a:xfrm>
            <a:off x="864235" y="2038985"/>
            <a:ext cx="10415270" cy="968375"/>
          </a:xfrm>
          <a:prstGeom prst="rect">
            <a:avLst/>
          </a:prstGeom>
          <a:noFill/>
          <a:ln w="9525">
            <a:noFill/>
          </a:ln>
        </p:spPr>
        <p:txBody>
          <a:bodyPr wrap="square">
            <a:spAutoFit/>
          </a:bodyPr>
          <a:p>
            <a:pPr indent="269875"/>
            <a:r>
              <a:rPr lang="zh-CN" sz="2100" b="0">
                <a:ea typeface="宋体" panose="02010600030101010101" pitchFamily="2" charset="-122"/>
              </a:rPr>
              <a:t>安装库，输入以下指令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13.100</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apt-get install librealsense2-dkms     sudo apt-get install librealsense2-utils</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4" name="图片 3" descr="II31{C6]B6)6{CJSSL6AII0"/>
          <p:cNvPicPr>
            <a:picLocks noChangeAspect="1"/>
          </p:cNvPicPr>
          <p:nvPr>
            <p:custDataLst>
              <p:tags r:id="rId4"/>
            </p:custDataLst>
          </p:nvPr>
        </p:nvPicPr>
        <p:blipFill>
          <a:blip r:embed="rId5"/>
          <a:stretch>
            <a:fillRect/>
          </a:stretch>
        </p:blipFill>
        <p:spPr>
          <a:xfrm>
            <a:off x="2957830" y="3164205"/>
            <a:ext cx="6228080" cy="301625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1003300"/>
            <a:ext cx="9528810" cy="968375"/>
          </a:xfrm>
          <a:prstGeom prst="rect">
            <a:avLst/>
          </a:prstGeom>
          <a:noFill/>
          <a:ln w="9525">
            <a:noFill/>
          </a:ln>
        </p:spPr>
        <p:txBody>
          <a:bodyPr wrap="square">
            <a:spAutoFit/>
          </a:bodyPr>
          <a:p>
            <a:pPr indent="0" fontAlgn="auto"/>
            <a:r>
              <a:rPr lang="zh-CN" sz="2100" b="0">
                <a:ea typeface="宋体" panose="02010600030101010101" pitchFamily="2" charset="-122"/>
              </a:rPr>
              <a:t>可以选择安装开发人员和调试包，输入以下指令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13.101</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sudo apt-get install librealsense2-dev      sudo apt-get install librealsense2-dbg</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3" name="图片 2" descr="D46CSF[39F(BWJ@${BIE}2H"/>
          <p:cNvPicPr>
            <a:picLocks noChangeAspect="1"/>
          </p:cNvPicPr>
          <p:nvPr>
            <p:custDataLst>
              <p:tags r:id="rId2"/>
            </p:custDataLst>
          </p:nvPr>
        </p:nvPicPr>
        <p:blipFill>
          <a:blip r:embed="rId3"/>
          <a:stretch>
            <a:fillRect/>
          </a:stretch>
        </p:blipFill>
        <p:spPr>
          <a:xfrm>
            <a:off x="864235" y="2915285"/>
            <a:ext cx="5111115" cy="2419350"/>
          </a:xfrm>
          <a:prstGeom prst="rect">
            <a:avLst/>
          </a:prstGeom>
        </p:spPr>
      </p:pic>
      <p:sp>
        <p:nvSpPr>
          <p:cNvPr id="4" name="文本框 3"/>
          <p:cNvSpPr txBox="1"/>
          <p:nvPr/>
        </p:nvSpPr>
        <p:spPr>
          <a:xfrm>
            <a:off x="864235" y="2111375"/>
            <a:ext cx="9528810" cy="398780"/>
          </a:xfrm>
          <a:prstGeom prst="rect">
            <a:avLst/>
          </a:prstGeom>
          <a:noFill/>
          <a:ln w="9525">
            <a:noFill/>
          </a:ln>
        </p:spPr>
        <p:txBody>
          <a:bodyPr wrap="square">
            <a:spAutoFit/>
          </a:bodyPr>
          <a:p>
            <a:pPr indent="0" fontAlgn="auto"/>
            <a:r>
              <a:rPr lang="zh-CN" sz="2000" b="0">
                <a:ea typeface="宋体" panose="02010600030101010101" pitchFamily="2" charset="-122"/>
              </a:rPr>
              <a:t>重新连接</a:t>
            </a:r>
            <a:r>
              <a:rPr lang="en-US" sz="2000" b="0">
                <a:latin typeface="Times New Roman" panose="02020603050405020304" charset="0"/>
                <a:ea typeface="宋体" panose="02010600030101010101" pitchFamily="2" charset="-122"/>
              </a:rPr>
              <a:t>D435</a:t>
            </a:r>
            <a:r>
              <a:rPr lang="zh-CN" sz="2000" b="0">
                <a:ea typeface="宋体" panose="02010600030101010101" pitchFamily="2" charset="-122"/>
              </a:rPr>
              <a:t>深度相机并运行</a:t>
            </a:r>
            <a:r>
              <a:rPr lang="en-US" sz="2000" b="0">
                <a:latin typeface="Times New Roman" panose="02020603050405020304" charset="0"/>
                <a:ea typeface="宋体" panose="02010600030101010101" pitchFamily="2" charset="-122"/>
              </a:rPr>
              <a:t>realsense-viewer</a:t>
            </a:r>
            <a:r>
              <a:rPr lang="zh-CN" sz="2000" b="0">
                <a:ea typeface="宋体" panose="02010600030101010101" pitchFamily="2" charset="-122"/>
              </a:rPr>
              <a:t>以验证安装，如图</a:t>
            </a:r>
            <a:r>
              <a:rPr lang="en-US" sz="2000" b="0">
                <a:latin typeface="Times New Roman" panose="02020603050405020304" charset="0"/>
                <a:ea typeface="宋体" panose="02010600030101010101" pitchFamily="2" charset="-122"/>
              </a:rPr>
              <a:t>13.102</a:t>
            </a:r>
            <a:r>
              <a:rPr lang="zh-CN" sz="2000" b="0">
                <a:latin typeface="Times New Roman" panose="02020603050405020304" charset="0"/>
                <a:ea typeface="宋体" panose="02010600030101010101" pitchFamily="2" charset="-122"/>
              </a:rPr>
              <a:t>所示</a:t>
            </a:r>
            <a:r>
              <a:rPr lang="zh-CN" b="0">
                <a:ea typeface="宋体" panose="02010600030101010101" pitchFamily="2" charset="-122"/>
              </a:rPr>
              <a:t>。</a:t>
            </a:r>
            <a:endParaRPr lang="zh-CN" altLang="en-US" b="0">
              <a:ea typeface="宋体" panose="02010600030101010101" pitchFamily="2" charset="-122"/>
            </a:endParaRPr>
          </a:p>
        </p:txBody>
      </p:sp>
      <p:pic>
        <p:nvPicPr>
          <p:cNvPr id="5" name="图片 4" descr="BS1@U2`$2NKQ07TXN%NT{O1"/>
          <p:cNvPicPr>
            <a:picLocks noChangeAspect="1"/>
          </p:cNvPicPr>
          <p:nvPr>
            <p:custDataLst>
              <p:tags r:id="rId4"/>
            </p:custDataLst>
          </p:nvPr>
        </p:nvPicPr>
        <p:blipFill>
          <a:blip r:embed="rId5"/>
          <a:stretch>
            <a:fillRect/>
          </a:stretch>
        </p:blipFill>
        <p:spPr>
          <a:xfrm>
            <a:off x="6245225" y="2649855"/>
            <a:ext cx="4964430" cy="320294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868045"/>
            <a:ext cx="10424160" cy="1983740"/>
          </a:xfrm>
          <a:prstGeom prst="rect">
            <a:avLst/>
          </a:prstGeom>
          <a:noFill/>
          <a:ln w="9525">
            <a:noFill/>
          </a:ln>
        </p:spPr>
        <p:txBody>
          <a:bodyPr wrap="square">
            <a:spAutoFit/>
          </a:bodyPr>
          <a:p>
            <a:pPr indent="0" fontAlgn="auto"/>
            <a:r>
              <a:rPr lang="en-US" sz="2100" b="1">
                <a:latin typeface="Arial" panose="020B0604020202020204" pitchFamily="34" charset="0"/>
                <a:ea typeface="黑体" panose="02010609060101010101" charset="-122"/>
              </a:rPr>
              <a:t>3</a:t>
            </a:r>
            <a:r>
              <a:rPr lang="zh-CN" sz="2100" b="1">
                <a:latin typeface="Arial" panose="020B0604020202020204" pitchFamily="34" charset="0"/>
                <a:ea typeface="黑体" panose="02010609060101010101" charset="-122"/>
              </a:rPr>
              <a:t>．</a:t>
            </a:r>
            <a:r>
              <a:rPr lang="zh-CN" sz="2100" b="1">
                <a:ea typeface="黑体" panose="02010609060101010101" charset="-122"/>
              </a:rPr>
              <a:t>完成障碍物识别跟踪实验</a:t>
            </a:r>
            <a:r>
              <a:rPr lang="zh-CN" sz="2100" b="0">
                <a:ea typeface="宋体" panose="02010600030101010101" pitchFamily="2" charset="-122"/>
              </a:rPr>
              <a:t>事先准备好障碍物识别跟踪的代码。首先，用</a:t>
            </a:r>
            <a:r>
              <a:rPr lang="en-US" sz="2100" b="0">
                <a:latin typeface="Times New Roman" panose="02020603050405020304" charset="0"/>
                <a:ea typeface="宋体" panose="02010600030101010101" pitchFamily="2" charset="-122"/>
              </a:rPr>
              <a:t>TX2</a:t>
            </a:r>
            <a:r>
              <a:rPr lang="zh-CN" sz="2100" b="0">
                <a:ea typeface="宋体" panose="02010600030101010101" pitchFamily="2" charset="-122"/>
              </a:rPr>
              <a:t>连接上公共网络，查看网络地址，将</a:t>
            </a:r>
            <a:r>
              <a:rPr lang="en-US" sz="2100" b="0">
                <a:latin typeface="Times New Roman" panose="02020603050405020304" charset="0"/>
                <a:ea typeface="宋体" panose="02010600030101010101" pitchFamily="2" charset="-122"/>
              </a:rPr>
              <a:t>TX2</a:t>
            </a:r>
            <a:r>
              <a:rPr lang="zh-CN" sz="2100" b="0">
                <a:ea typeface="宋体" panose="02010600030101010101" pitchFamily="2" charset="-122"/>
              </a:rPr>
              <a:t>安装在四足机器人身上，通过</a:t>
            </a:r>
            <a:r>
              <a:rPr lang="en-US" sz="2100" b="0">
                <a:latin typeface="Times New Roman" panose="02020603050405020304" charset="0"/>
                <a:ea typeface="宋体" panose="02010600030101010101" pitchFamily="2" charset="-122"/>
              </a:rPr>
              <a:t>ssh </a:t>
            </a:r>
            <a:r>
              <a:rPr lang="zh-CN" sz="2100" b="0">
                <a:ea typeface="宋体" panose="02010600030101010101" pitchFamily="2" charset="-122"/>
              </a:rPr>
              <a:t>指令实现通信。</a:t>
            </a: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1</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打开总的双目摄像头</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打开一个终端，登录</a:t>
            </a:r>
            <a:r>
              <a:rPr lang="en-US" sz="2100" b="0">
                <a:latin typeface="Times New Roman" panose="02020603050405020304" charset="0"/>
                <a:ea typeface="宋体" panose="02010600030101010101" pitchFamily="2" charset="-122"/>
              </a:rPr>
              <a:t>TX2</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 13.103</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宋体" panose="02010600030101010101" pitchFamily="2" charset="-122"/>
              </a:rPr>
              <a:t>     ssh  tx2@192.168.0.145                     //</a:t>
            </a:r>
            <a:r>
              <a:rPr lang="zh-CN" b="1">
                <a:latin typeface="宋体" panose="02010600030101010101" pitchFamily="2" charset="-122"/>
                <a:ea typeface="宋体" panose="02010600030101010101" pitchFamily="2" charset="-122"/>
                <a:cs typeface="宋体" panose="02010600030101010101" pitchFamily="2" charset="-122"/>
              </a:rPr>
              <a:t>登录</a:t>
            </a:r>
            <a:r>
              <a:rPr lang="en-US" b="1">
                <a:latin typeface="宋体" panose="02010600030101010101" pitchFamily="2" charset="-122"/>
                <a:ea typeface="宋体" panose="02010600030101010101" pitchFamily="2" charset="-122"/>
                <a:cs typeface="宋体" panose="02010600030101010101" pitchFamily="2" charset="-122"/>
              </a:rPr>
              <a:t>TX2</a:t>
            </a:r>
            <a:endParaRPr lang="en-US" altLang="en-US" b="1">
              <a:latin typeface="宋体" panose="02010600030101010101" pitchFamily="2" charset="-122"/>
              <a:ea typeface="宋体" panose="02010600030101010101" pitchFamily="2" charset="-122"/>
              <a:cs typeface="宋体" panose="02010600030101010101" pitchFamily="2" charset="-122"/>
            </a:endParaRPr>
          </a:p>
        </p:txBody>
      </p:sp>
      <p:pic>
        <p:nvPicPr>
          <p:cNvPr id="3" name="图片 2" descr="1H]ISSBHE0EQ]3HKICR6`OD"/>
          <p:cNvPicPr>
            <a:picLocks noChangeAspect="1"/>
          </p:cNvPicPr>
          <p:nvPr>
            <p:custDataLst>
              <p:tags r:id="rId2"/>
            </p:custDataLst>
          </p:nvPr>
        </p:nvPicPr>
        <p:blipFill>
          <a:blip r:embed="rId3"/>
          <a:stretch>
            <a:fillRect/>
          </a:stretch>
        </p:blipFill>
        <p:spPr>
          <a:xfrm>
            <a:off x="3571240" y="3168650"/>
            <a:ext cx="5686425" cy="302895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923925"/>
            <a:ext cx="9787890" cy="968375"/>
          </a:xfrm>
          <a:prstGeom prst="rect">
            <a:avLst/>
          </a:prstGeom>
          <a:noFill/>
          <a:ln w="9525">
            <a:noFill/>
          </a:ln>
        </p:spPr>
        <p:txBody>
          <a:bodyPr wrap="square">
            <a:spAutoFit/>
          </a:bodyPr>
          <a:p>
            <a:pPr indent="0" fontAlgn="auto"/>
            <a:r>
              <a:rPr lang="zh-CN" sz="2100" b="0">
                <a:ea typeface="宋体" panose="02010600030101010101" pitchFamily="2" charset="-122"/>
              </a:rPr>
              <a:t>进入</a:t>
            </a:r>
            <a:r>
              <a:rPr lang="en-US" sz="2100" b="0">
                <a:latin typeface="Times New Roman" panose="02020603050405020304" charset="0"/>
                <a:ea typeface="宋体" panose="02010600030101010101" pitchFamily="2" charset="-122"/>
              </a:rPr>
              <a:t>ROS</a:t>
            </a:r>
            <a:r>
              <a:rPr lang="zh-CN" sz="2100" b="0">
                <a:ea typeface="宋体" panose="02010600030101010101" pitchFamily="2" charset="-122"/>
              </a:rPr>
              <a:t>工程目录下，配置好环境变量</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13.104</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cd  catkin_kinect/</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在</a:t>
            </a:r>
            <a:r>
              <a:rPr lang="en-US" b="0">
                <a:latin typeface="Courier New" panose="02070309020205020404" charset="0"/>
                <a:ea typeface="宋体" panose="02010600030101010101" pitchFamily="2" charset="-122"/>
              </a:rPr>
              <a:t>ROS</a:t>
            </a:r>
            <a:r>
              <a:rPr lang="zh-CN" b="0">
                <a:ea typeface="宋体" panose="02010600030101010101" pitchFamily="2" charset="-122"/>
              </a:rPr>
              <a:t>目录下</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source  devel/setup.sh </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配置环境变量</a:t>
            </a:r>
            <a:endParaRPr lang="zh-CN" altLang="en-US" b="0">
              <a:ea typeface="宋体" panose="02010600030101010101" pitchFamily="2" charset="-122"/>
            </a:endParaRPr>
          </a:p>
        </p:txBody>
      </p:sp>
      <p:pic>
        <p:nvPicPr>
          <p:cNvPr id="3" name="图片 2" descr="NFDX8G2M%Z5_MQRPS(MSVV5"/>
          <p:cNvPicPr>
            <a:picLocks noChangeAspect="1"/>
          </p:cNvPicPr>
          <p:nvPr>
            <p:custDataLst>
              <p:tags r:id="rId2"/>
            </p:custDataLst>
          </p:nvPr>
        </p:nvPicPr>
        <p:blipFill>
          <a:blip r:embed="rId3"/>
          <a:stretch>
            <a:fillRect/>
          </a:stretch>
        </p:blipFill>
        <p:spPr>
          <a:xfrm>
            <a:off x="3293110" y="2127250"/>
            <a:ext cx="5486400" cy="647700"/>
          </a:xfrm>
          <a:prstGeom prst="rect">
            <a:avLst/>
          </a:prstGeom>
        </p:spPr>
      </p:pic>
      <p:sp>
        <p:nvSpPr>
          <p:cNvPr id="4" name="文本框 3"/>
          <p:cNvSpPr txBox="1"/>
          <p:nvPr/>
        </p:nvSpPr>
        <p:spPr>
          <a:xfrm>
            <a:off x="864235" y="2912745"/>
            <a:ext cx="9617710" cy="691515"/>
          </a:xfrm>
          <a:prstGeom prst="rect">
            <a:avLst/>
          </a:prstGeom>
          <a:noFill/>
          <a:ln w="9525">
            <a:noFill/>
          </a:ln>
        </p:spPr>
        <p:txBody>
          <a:bodyPr wrap="square">
            <a:spAutoFit/>
          </a:bodyPr>
          <a:p>
            <a:pPr indent="0" fontAlgn="auto"/>
            <a:r>
              <a:rPr lang="zh-CN" sz="2100" b="0">
                <a:ea typeface="宋体" panose="02010600030101010101" pitchFamily="2" charset="-122"/>
              </a:rPr>
              <a:t>启动总</a:t>
            </a:r>
            <a:r>
              <a:rPr lang="zh-CN" sz="2100" b="0">
                <a:latin typeface="Times New Roman" panose="02020603050405020304" charset="0"/>
                <a:ea typeface="宋体" panose="02010600030101010101" pitchFamily="2" charset="-122"/>
              </a:rPr>
              <a:t>的</a:t>
            </a:r>
            <a:r>
              <a:rPr lang="zh-CN" sz="2100" b="0">
                <a:ea typeface="宋体" panose="02010600030101010101" pitchFamily="2" charset="-122"/>
              </a:rPr>
              <a:t>双目摄像头节点，输入以下指令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13.105</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roslaunch  realsense2_camera rs_camera.launch</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5" name="图片 4" descr="{RJ_4SZ]8TCNFB@WXZJR6Y1"/>
          <p:cNvPicPr>
            <a:picLocks noChangeAspect="1"/>
          </p:cNvPicPr>
          <p:nvPr>
            <p:custDataLst>
              <p:tags r:id="rId4"/>
            </p:custDataLst>
          </p:nvPr>
        </p:nvPicPr>
        <p:blipFill>
          <a:blip r:embed="rId5"/>
          <a:stretch>
            <a:fillRect/>
          </a:stretch>
        </p:blipFill>
        <p:spPr>
          <a:xfrm>
            <a:off x="4050665" y="3742055"/>
            <a:ext cx="4090670" cy="27178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64235" y="914400"/>
            <a:ext cx="10325100" cy="1245235"/>
          </a:xfrm>
          <a:prstGeom prst="rect">
            <a:avLst/>
          </a:prstGeom>
          <a:noFill/>
          <a:ln w="9525">
            <a:noFill/>
          </a:ln>
        </p:spPr>
        <p:txBody>
          <a:bodyPr wrap="square">
            <a:spAutoFit/>
          </a:bodyPr>
          <a:p>
            <a:pPr indent="0" fontAlgn="auto"/>
            <a:r>
              <a:rPr lang="en-US" sz="2100" b="0">
                <a:latin typeface="宋体" panose="02010600030101010101" pitchFamily="2" charset="-122"/>
                <a:ea typeface="宋体" panose="02010600030101010101" pitchFamily="2" charset="-122"/>
                <a:cs typeface="Times New Roman" panose="02020603050405020304" charset="0"/>
              </a:rPr>
              <a:t>(</a:t>
            </a:r>
            <a:r>
              <a:rPr lang="en-US" sz="2100" b="0">
                <a:latin typeface="Times New Roman" panose="02020603050405020304" charset="0"/>
                <a:ea typeface="宋体" panose="02010600030101010101" pitchFamily="2" charset="-122"/>
              </a:rPr>
              <a:t>2</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开启彩色相机检测人</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另外打开一个终端，输入以下指令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13.106</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ssh  tx2@192.168.0.145     cd  catkin_kinect/ </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在</a:t>
            </a:r>
            <a:r>
              <a:rPr lang="en-US" b="0">
                <a:latin typeface="Courier New" panose="02070309020205020404" charset="0"/>
                <a:ea typeface="宋体" panose="02010600030101010101" pitchFamily="2" charset="-122"/>
              </a:rPr>
              <a:t>ROS</a:t>
            </a:r>
            <a:r>
              <a:rPr lang="zh-CN" b="0">
                <a:ea typeface="宋体" panose="02010600030101010101" pitchFamily="2" charset="-122"/>
              </a:rPr>
              <a:t>目录下</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source  devel/setup.sh</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配置环境变量</a:t>
            </a:r>
            <a:endParaRPr lang="zh-CN" altLang="en-US" b="0">
              <a:ea typeface="宋体" panose="02010600030101010101" pitchFamily="2" charset="-122"/>
            </a:endParaRPr>
          </a:p>
        </p:txBody>
      </p:sp>
      <p:pic>
        <p:nvPicPr>
          <p:cNvPr id="3" name="图片 2" descr="[@R2ZXYN7{R7_KIZ_~7WU(G"/>
          <p:cNvPicPr>
            <a:picLocks noChangeAspect="1"/>
          </p:cNvPicPr>
          <p:nvPr>
            <p:custDataLst>
              <p:tags r:id="rId2"/>
            </p:custDataLst>
          </p:nvPr>
        </p:nvPicPr>
        <p:blipFill>
          <a:blip r:embed="rId3"/>
          <a:stretch>
            <a:fillRect/>
          </a:stretch>
        </p:blipFill>
        <p:spPr>
          <a:xfrm>
            <a:off x="3468370" y="2272030"/>
            <a:ext cx="5255260" cy="3331845"/>
          </a:xfrm>
          <a:prstGeom prst="rect">
            <a:avLst/>
          </a:prstGeom>
        </p:spPr>
      </p:pic>
      <p:sp>
        <p:nvSpPr>
          <p:cNvPr id="4" name="文本框 3"/>
          <p:cNvSpPr txBox="1"/>
          <p:nvPr/>
        </p:nvSpPr>
        <p:spPr>
          <a:xfrm>
            <a:off x="864235" y="5603875"/>
            <a:ext cx="9310370" cy="691515"/>
          </a:xfrm>
          <a:prstGeom prst="rect">
            <a:avLst/>
          </a:prstGeom>
          <a:noFill/>
          <a:ln w="9525">
            <a:noFill/>
          </a:ln>
        </p:spPr>
        <p:txBody>
          <a:bodyPr wrap="square">
            <a:spAutoFit/>
          </a:bodyPr>
          <a:p>
            <a:pPr indent="0" fontAlgn="auto"/>
            <a:r>
              <a:rPr lang="zh-CN" sz="2100" b="0">
                <a:ea typeface="宋体" panose="02010600030101010101" pitchFamily="2" charset="-122"/>
              </a:rPr>
              <a:t>继续输入指令，如图</a:t>
            </a:r>
            <a:r>
              <a:rPr lang="en-US" sz="2100" b="0">
                <a:latin typeface="Times New Roman" panose="02020603050405020304" charset="0"/>
                <a:ea typeface="宋体" panose="02010600030101010101" pitchFamily="2" charset="-122"/>
              </a:rPr>
              <a:t>13.107</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rosrun  realsense  position_publisher.py</a:t>
            </a:r>
            <a:endParaRPr lang="en-US" altLang="en-US" b="1">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IYA%M475WMH4S8NBI9R`Y"/>
          <p:cNvPicPr>
            <a:picLocks noChangeAspect="1"/>
          </p:cNvPicPr>
          <p:nvPr>
            <p:custDataLst>
              <p:tags r:id="rId2"/>
            </p:custDataLst>
          </p:nvPr>
        </p:nvPicPr>
        <p:blipFill>
          <a:blip r:embed="rId3"/>
          <a:stretch>
            <a:fillRect/>
          </a:stretch>
        </p:blipFill>
        <p:spPr>
          <a:xfrm>
            <a:off x="3604895" y="901065"/>
            <a:ext cx="4982210" cy="3206750"/>
          </a:xfrm>
          <a:prstGeom prst="rect">
            <a:avLst/>
          </a:prstGeom>
        </p:spPr>
      </p:pic>
      <p:sp>
        <p:nvSpPr>
          <p:cNvPr id="106" name="文本框 105"/>
          <p:cNvSpPr txBox="1"/>
          <p:nvPr/>
        </p:nvSpPr>
        <p:spPr>
          <a:xfrm>
            <a:off x="864235" y="4107815"/>
            <a:ext cx="9379585" cy="2168525"/>
          </a:xfrm>
          <a:prstGeom prst="rect">
            <a:avLst/>
          </a:prstGeom>
          <a:noFill/>
          <a:ln w="9525">
            <a:noFill/>
          </a:ln>
        </p:spPr>
        <p:txBody>
          <a:bodyPr wrap="square">
            <a:spAutoFit/>
          </a:bodyPr>
          <a:p>
            <a:pPr indent="0" fontAlgn="auto"/>
            <a:r>
              <a:rPr lang="zh-CN" sz="2100" b="0">
                <a:ea typeface="宋体" panose="02010600030101010101" pitchFamily="2" charset="-122"/>
              </a:rPr>
              <a:t>四足机器人启动后</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此节点会打印位置信息，如图</a:t>
            </a:r>
            <a:r>
              <a:rPr lang="en-US" sz="2100" b="0">
                <a:latin typeface="Times New Roman" panose="02020603050405020304" charset="0"/>
                <a:ea typeface="宋体" panose="02010600030101010101" pitchFamily="2" charset="-122"/>
              </a:rPr>
              <a:t>13.108</a:t>
            </a:r>
            <a:r>
              <a:rPr lang="zh-CN" sz="2100" b="0">
                <a:ea typeface="宋体" panose="02010600030101010101" pitchFamily="2" charset="-122"/>
              </a:rPr>
              <a:t>所示。输入以下指令，如图</a:t>
            </a:r>
            <a:r>
              <a:rPr lang="en-US" sz="2100" b="0">
                <a:latin typeface="Times New Roman" panose="02020603050405020304" charset="0"/>
                <a:ea typeface="宋体" panose="02010600030101010101" pitchFamily="2" charset="-122"/>
              </a:rPr>
              <a:t>13.109</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rosrun  realsense  roboinfo_publisher</a:t>
            </a:r>
            <a:r>
              <a:rPr lang="en-US" sz="2100" b="0">
                <a:latin typeface="宋体" panose="02010600030101010101" pitchFamily="2" charset="-122"/>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3</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开启深度图检测节点，再开一</a:t>
            </a:r>
            <a:r>
              <a:rPr lang="zh-CN" sz="2100" b="0">
                <a:latin typeface="Times New Roman" panose="02020603050405020304" charset="0"/>
                <a:ea typeface="宋体" panose="02010600030101010101" pitchFamily="2" charset="-122"/>
              </a:rPr>
              <a:t>个</a:t>
            </a:r>
            <a:r>
              <a:rPr lang="zh-CN" sz="2100" b="0">
                <a:ea typeface="宋体" panose="02010600030101010101" pitchFamily="2" charset="-122"/>
              </a:rPr>
              <a:t>终端</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13.110</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ssh  tx2@192.168.0.145</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登录</a:t>
            </a:r>
            <a:r>
              <a:rPr lang="en-US" b="0">
                <a:latin typeface="Courier New" panose="02070309020205020404" charset="0"/>
                <a:ea typeface="宋体" panose="02010600030101010101" pitchFamily="2" charset="-122"/>
              </a:rPr>
              <a:t>TX2</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cd  catkin_kinect/</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在</a:t>
            </a:r>
            <a:r>
              <a:rPr lang="en-US" b="0">
                <a:latin typeface="Courier New" panose="02070309020205020404" charset="0"/>
                <a:ea typeface="宋体" panose="02010600030101010101" pitchFamily="2" charset="-122"/>
              </a:rPr>
              <a:t>ROS</a:t>
            </a:r>
            <a:r>
              <a:rPr lang="zh-CN" b="0">
                <a:ea typeface="宋体" panose="02010600030101010101" pitchFamily="2" charset="-122"/>
              </a:rPr>
              <a:t>目录下</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source  devel/setup.sh</a:t>
            </a:r>
            <a:r>
              <a:rPr lang="en-US" b="0">
                <a:latin typeface="Courier New" panose="02070309020205020404" charset="0"/>
                <a:ea typeface="宋体" panose="02010600030101010101" pitchFamily="2" charset="-122"/>
                <a:cs typeface="Times New Roman" panose="02020603050405020304" charset="0"/>
              </a:rPr>
              <a:t>                     	//</a:t>
            </a:r>
            <a:r>
              <a:rPr lang="zh-CN" b="0">
                <a:ea typeface="宋体" panose="02010600030101010101" pitchFamily="2" charset="-122"/>
              </a:rPr>
              <a:t>配置环境变量</a:t>
            </a:r>
            <a:endParaRPr lang="zh-CN" altLang="en-US" b="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4YZOODQ291YJM6FCIWQ`R64"/>
          <p:cNvPicPr>
            <a:picLocks noChangeAspect="1"/>
          </p:cNvPicPr>
          <p:nvPr>
            <p:custDataLst>
              <p:tags r:id="rId2"/>
            </p:custDataLst>
          </p:nvPr>
        </p:nvPicPr>
        <p:blipFill>
          <a:blip r:embed="rId3"/>
          <a:stretch>
            <a:fillRect/>
          </a:stretch>
        </p:blipFill>
        <p:spPr>
          <a:xfrm>
            <a:off x="864235" y="1830070"/>
            <a:ext cx="4893945" cy="3197860"/>
          </a:xfrm>
          <a:prstGeom prst="rect">
            <a:avLst/>
          </a:prstGeom>
        </p:spPr>
      </p:pic>
      <p:pic>
        <p:nvPicPr>
          <p:cNvPr id="4" name="图片 3" descr="@AJX$(UX7WP8W8JUX)V]2MP"/>
          <p:cNvPicPr>
            <a:picLocks noChangeAspect="1"/>
          </p:cNvPicPr>
          <p:nvPr>
            <p:custDataLst>
              <p:tags r:id="rId4"/>
            </p:custDataLst>
          </p:nvPr>
        </p:nvPicPr>
        <p:blipFill>
          <a:blip r:embed="rId5"/>
          <a:stretch>
            <a:fillRect/>
          </a:stretch>
        </p:blipFill>
        <p:spPr>
          <a:xfrm>
            <a:off x="6557010" y="1830070"/>
            <a:ext cx="4894580" cy="310324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descr="}J)GX0VWCJ$)O[`PN`31(LP"/>
          <p:cNvPicPr>
            <a:picLocks noChangeAspect="1"/>
          </p:cNvPicPr>
          <p:nvPr>
            <p:custDataLst>
              <p:tags r:id="rId2"/>
            </p:custDataLst>
          </p:nvPr>
        </p:nvPicPr>
        <p:blipFill>
          <a:blip r:embed="rId3"/>
          <a:stretch>
            <a:fillRect/>
          </a:stretch>
        </p:blipFill>
        <p:spPr>
          <a:xfrm>
            <a:off x="2757805" y="969010"/>
            <a:ext cx="6677025" cy="4162425"/>
          </a:xfrm>
          <a:prstGeom prst="rect">
            <a:avLst/>
          </a:prstGeom>
        </p:spPr>
      </p:pic>
      <p:sp>
        <p:nvSpPr>
          <p:cNvPr id="106" name="文本框 105"/>
          <p:cNvSpPr txBox="1"/>
          <p:nvPr/>
        </p:nvSpPr>
        <p:spPr>
          <a:xfrm>
            <a:off x="864235" y="5208270"/>
            <a:ext cx="10325100" cy="1245235"/>
          </a:xfrm>
          <a:prstGeom prst="rect">
            <a:avLst/>
          </a:prstGeom>
          <a:noFill/>
          <a:ln w="9525">
            <a:noFill/>
          </a:ln>
        </p:spPr>
        <p:txBody>
          <a:bodyPr wrap="square">
            <a:spAutoFit/>
          </a:bodyPr>
          <a:p>
            <a:pPr indent="0" fontAlgn="auto">
              <a:lnSpc>
                <a:spcPct val="125000"/>
              </a:lnSpc>
            </a:pPr>
            <a:r>
              <a:rPr lang="zh-CN" sz="2100" b="0">
                <a:ea typeface="宋体" panose="02010600030101010101" pitchFamily="2" charset="-122"/>
              </a:rPr>
              <a:t>继续输入以下指令：</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rosrun realsense depth_publisher</a:t>
            </a:r>
            <a:r>
              <a:rPr lang="zh-CN" sz="2100" b="0">
                <a:ea typeface="宋体" panose="02010600030101010101" pitchFamily="2" charset="-122"/>
              </a:rPr>
              <a:t>此时，四足机器人启动后</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此节点会打印深度信息，如图</a:t>
            </a:r>
            <a:r>
              <a:rPr lang="en-US" sz="2100" b="0">
                <a:latin typeface="Times New Roman" panose="02020603050405020304" charset="0"/>
                <a:ea typeface="宋体" panose="02010600030101010101" pitchFamily="2" charset="-122"/>
              </a:rPr>
              <a:t>13.111</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endParaRPr lang="zh-CN" altLang="en-US" sz="2100" b="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KGT$1K53ANORL8W%[RVIR}W"/>
          <p:cNvPicPr>
            <a:picLocks noChangeAspect="1"/>
          </p:cNvPicPr>
          <p:nvPr>
            <p:custDataLst>
              <p:tags r:id="rId2"/>
            </p:custDataLst>
          </p:nvPr>
        </p:nvPicPr>
        <p:blipFill>
          <a:blip r:embed="rId3"/>
          <a:stretch>
            <a:fillRect/>
          </a:stretch>
        </p:blipFill>
        <p:spPr>
          <a:xfrm>
            <a:off x="3302000" y="935990"/>
            <a:ext cx="6343015" cy="4081145"/>
          </a:xfrm>
          <a:prstGeom prst="rect">
            <a:avLst/>
          </a:prstGeom>
        </p:spPr>
      </p:pic>
      <p:sp>
        <p:nvSpPr>
          <p:cNvPr id="106" name="文本框 105"/>
          <p:cNvSpPr txBox="1"/>
          <p:nvPr/>
        </p:nvSpPr>
        <p:spPr>
          <a:xfrm>
            <a:off x="864235" y="5092065"/>
            <a:ext cx="10194925" cy="1187450"/>
          </a:xfrm>
          <a:prstGeom prst="rect">
            <a:avLst/>
          </a:prstGeom>
          <a:noFill/>
          <a:ln w="9525">
            <a:noFill/>
          </a:ln>
        </p:spPr>
        <p:txBody>
          <a:bodyPr wrap="square">
            <a:spAutoFit/>
          </a:bodyPr>
          <a:p>
            <a:pPr indent="0" fontAlgn="auto">
              <a:lnSpc>
                <a:spcPct val="125000"/>
              </a:lnSpc>
            </a:pPr>
            <a:r>
              <a:rPr lang="en-US" sz="2100" b="0">
                <a:latin typeface="宋体" panose="02010600030101010101" pitchFamily="2" charset="-122"/>
                <a:ea typeface="宋体" panose="02010600030101010101" pitchFamily="2" charset="-122"/>
                <a:cs typeface="Times New Roman" panose="02020603050405020304" charset="0"/>
              </a:rPr>
              <a:t>(</a:t>
            </a:r>
            <a:r>
              <a:rPr lang="en-US" sz="2100" b="0">
                <a:latin typeface="Times New Roman" panose="02020603050405020304" charset="0"/>
                <a:ea typeface="宋体" panose="02010600030101010101" pitchFamily="2" charset="-122"/>
              </a:rPr>
              <a:t>3</a:t>
            </a:r>
            <a:r>
              <a:rPr lang="en-US" sz="2100" b="0">
                <a:latin typeface="宋体" panose="02010600030101010101" pitchFamily="2" charset="-122"/>
                <a:ea typeface="宋体" panose="02010600030101010101" pitchFamily="2" charset="-122"/>
                <a:cs typeface="Times New Roman" panose="02020603050405020304" charset="0"/>
              </a:rPr>
              <a:t>)</a:t>
            </a:r>
            <a:r>
              <a:rPr lang="zh-CN" sz="2100" b="0">
                <a:ea typeface="宋体" panose="02010600030101010101" pitchFamily="2" charset="-122"/>
              </a:rPr>
              <a:t>通过</a:t>
            </a:r>
            <a:r>
              <a:rPr lang="en-US" sz="2100" b="0">
                <a:latin typeface="Times New Roman" panose="02020603050405020304" charset="0"/>
                <a:ea typeface="宋体" panose="02010600030101010101" pitchFamily="2" charset="-122"/>
              </a:rPr>
              <a:t>TX2</a:t>
            </a:r>
            <a:r>
              <a:rPr lang="zh-CN" sz="2100" b="0">
                <a:ea typeface="宋体" panose="02010600030101010101" pitchFamily="2" charset="-122"/>
              </a:rPr>
              <a:t>登入</a:t>
            </a:r>
            <a:r>
              <a:rPr lang="en-US" sz="2100" b="0">
                <a:latin typeface="Times New Roman" panose="02020603050405020304" charset="0"/>
                <a:ea typeface="宋体" panose="02010600030101010101" pitchFamily="2" charset="-122"/>
              </a:rPr>
              <a:t>UP</a:t>
            </a:r>
            <a:r>
              <a:rPr lang="en-US" sz="2100" b="0">
                <a:latin typeface="Times New Roman" panose="02020603050405020304" charset="0"/>
                <a:ea typeface="宋体" panose="02010600030101010101" pitchFamily="2" charset="-122"/>
                <a:cs typeface="Times New Roman" panose="02020603050405020304" charset="0"/>
              </a:rPr>
              <a:t> </a:t>
            </a:r>
            <a:r>
              <a:rPr lang="en-US" sz="2100" b="0">
                <a:latin typeface="Times New Roman" panose="02020603050405020304" charset="0"/>
                <a:ea typeface="宋体" panose="02010600030101010101" pitchFamily="2" charset="-122"/>
              </a:rPr>
              <a:t>board</a:t>
            </a:r>
            <a:r>
              <a:rPr lang="zh-CN" sz="2100" b="0">
                <a:latin typeface="Times New Roman" panose="02020603050405020304" charset="0"/>
                <a:ea typeface="宋体" panose="02010600030101010101" pitchFamily="2" charset="-122"/>
              </a:rPr>
              <a:t>，再</a:t>
            </a:r>
            <a:r>
              <a:rPr lang="zh-CN" sz="2100" b="0">
                <a:ea typeface="宋体" panose="02010600030101010101" pitchFamily="2" charset="-122"/>
              </a:rPr>
              <a:t>开启一个终端，输入以下指令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13.112</a:t>
            </a:r>
            <a:r>
              <a:rPr lang="zh-CN" sz="2100" b="0">
                <a:latin typeface="Times New Roman" panose="02020603050405020304" charset="0"/>
                <a:ea typeface="宋体" panose="02010600030101010101" pitchFamily="2" charset="-122"/>
              </a:rPr>
              <a:t>所示。</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ssh  tx2@192.168.0.145      ssh user@10.0.0.34</a:t>
            </a:r>
            <a:endParaRPr lang="en-US" altLang="en-US" b="1">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W`FOG7@EODJ_O95MT(S0PD"/>
          <p:cNvPicPr>
            <a:picLocks noChangeAspect="1"/>
          </p:cNvPicPr>
          <p:nvPr>
            <p:custDataLst>
              <p:tags r:id="rId2"/>
            </p:custDataLst>
          </p:nvPr>
        </p:nvPicPr>
        <p:blipFill>
          <a:blip r:embed="rId3"/>
          <a:stretch>
            <a:fillRect/>
          </a:stretch>
        </p:blipFill>
        <p:spPr>
          <a:xfrm>
            <a:off x="3276600" y="880745"/>
            <a:ext cx="5638800" cy="3732530"/>
          </a:xfrm>
          <a:prstGeom prst="rect">
            <a:avLst/>
          </a:prstGeom>
        </p:spPr>
      </p:pic>
      <p:sp>
        <p:nvSpPr>
          <p:cNvPr id="106" name="文本框 105"/>
          <p:cNvSpPr txBox="1"/>
          <p:nvPr/>
        </p:nvSpPr>
        <p:spPr>
          <a:xfrm>
            <a:off x="864235" y="4613275"/>
            <a:ext cx="8862060" cy="1891665"/>
          </a:xfrm>
          <a:prstGeom prst="rect">
            <a:avLst/>
          </a:prstGeom>
          <a:noFill/>
          <a:ln w="9525">
            <a:noFill/>
          </a:ln>
        </p:spPr>
        <p:txBody>
          <a:bodyPr wrap="square">
            <a:spAutoFit/>
          </a:bodyPr>
          <a:p>
            <a:pPr indent="0" fontAlgn="auto"/>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cd  robot-software/build/   ps -ef </a:t>
            </a:r>
            <a:r>
              <a:rPr lang="zh-CN" sz="2100" b="0">
                <a:ea typeface="宋体" panose="02010600030101010101" pitchFamily="2" charset="-122"/>
              </a:rPr>
              <a:t>通过</a:t>
            </a:r>
            <a:r>
              <a:rPr lang="en-US" sz="2100" b="0">
                <a:latin typeface="Times New Roman" panose="02020603050405020304" charset="0"/>
                <a:ea typeface="宋体" panose="02010600030101010101" pitchFamily="2" charset="-122"/>
              </a:rPr>
              <a:t>“sudo kill”</a:t>
            </a:r>
            <a:r>
              <a:rPr lang="zh-CN" sz="2100" b="0">
                <a:ea typeface="宋体" panose="02010600030101010101" pitchFamily="2" charset="-122"/>
              </a:rPr>
              <a:t>指令结束四足机器人正在运行的进程</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启动运动控制程序，如图</a:t>
            </a:r>
            <a:r>
              <a:rPr lang="en-US" sz="2100" b="0">
                <a:latin typeface="Times New Roman" panose="02020603050405020304" charset="0"/>
                <a:ea typeface="宋体" panose="02010600030101010101" pitchFamily="2" charset="-122"/>
              </a:rPr>
              <a:t>13.113</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./run_mc.sh ./mit_ctrl</a:t>
            </a:r>
            <a:endParaRPr lang="en-US" altLang="en-US" b="1">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OQJX[NZ5QWH`8}@P9C64EE1"/>
          <p:cNvPicPr>
            <a:picLocks noChangeAspect="1"/>
          </p:cNvPicPr>
          <p:nvPr>
            <p:custDataLst>
              <p:tags r:id="rId2"/>
            </p:custDataLst>
          </p:nvPr>
        </p:nvPicPr>
        <p:blipFill>
          <a:blip r:embed="rId3"/>
          <a:stretch>
            <a:fillRect/>
          </a:stretch>
        </p:blipFill>
        <p:spPr>
          <a:xfrm>
            <a:off x="864235" y="1480820"/>
            <a:ext cx="5223510" cy="3436620"/>
          </a:xfrm>
          <a:prstGeom prst="rect">
            <a:avLst/>
          </a:prstGeom>
        </p:spPr>
      </p:pic>
      <p:sp>
        <p:nvSpPr>
          <p:cNvPr id="106" name="文本框 105"/>
          <p:cNvSpPr txBox="1"/>
          <p:nvPr/>
        </p:nvSpPr>
        <p:spPr>
          <a:xfrm>
            <a:off x="864235" y="965200"/>
            <a:ext cx="5080000" cy="398780"/>
          </a:xfrm>
          <a:prstGeom prst="rect">
            <a:avLst/>
          </a:prstGeom>
          <a:noFill/>
          <a:ln w="9525">
            <a:noFill/>
          </a:ln>
        </p:spPr>
        <p:txBody>
          <a:bodyPr>
            <a:spAutoFit/>
          </a:bodyPr>
          <a:p>
            <a:pPr indent="0" fontAlgn="auto"/>
            <a:r>
              <a:rPr lang="zh-CN" sz="2000" b="0">
                <a:latin typeface="Times New Roman" panose="02020603050405020304" charset="0"/>
                <a:ea typeface="宋体" panose="02010600030101010101" pitchFamily="2" charset="-122"/>
              </a:rPr>
              <a:t>打印</a:t>
            </a:r>
            <a:r>
              <a:rPr lang="zh-CN" sz="2000" b="0">
                <a:ea typeface="宋体" panose="02010600030101010101" pitchFamily="2" charset="-122"/>
              </a:rPr>
              <a:t>运动控制信息，如图</a:t>
            </a:r>
            <a:r>
              <a:rPr lang="en-US" sz="2000" b="0">
                <a:latin typeface="Times New Roman" panose="02020603050405020304" charset="0"/>
                <a:ea typeface="宋体" panose="02010600030101010101" pitchFamily="2" charset="-122"/>
              </a:rPr>
              <a:t>13.114</a:t>
            </a:r>
            <a:r>
              <a:rPr lang="zh-CN" sz="2000" b="0">
                <a:latin typeface="Times New Roman" panose="02020603050405020304" charset="0"/>
                <a:ea typeface="宋体" panose="02010600030101010101" pitchFamily="2" charset="-122"/>
              </a:rPr>
              <a:t>所示</a:t>
            </a:r>
            <a:r>
              <a:rPr lang="zh-CN" sz="2000" b="0">
                <a:ea typeface="宋体" panose="02010600030101010101" pitchFamily="2" charset="-122"/>
              </a:rPr>
              <a:t>。</a:t>
            </a:r>
            <a:endParaRPr lang="zh-CN" altLang="en-US" sz="2000" b="0">
              <a:ea typeface="宋体" panose="02010600030101010101" pitchFamily="2" charset="-122"/>
            </a:endParaRPr>
          </a:p>
        </p:txBody>
      </p:sp>
      <p:pic>
        <p:nvPicPr>
          <p:cNvPr id="4" name="图片 3" descr="C33]YAM[(M7@2SOR[7%$L%Y"/>
          <p:cNvPicPr>
            <a:picLocks noChangeAspect="1"/>
          </p:cNvPicPr>
          <p:nvPr>
            <p:custDataLst>
              <p:tags r:id="rId4"/>
            </p:custDataLst>
          </p:nvPr>
        </p:nvPicPr>
        <p:blipFill>
          <a:blip r:embed="rId5"/>
          <a:stretch>
            <a:fillRect/>
          </a:stretch>
        </p:blipFill>
        <p:spPr>
          <a:xfrm>
            <a:off x="6428740" y="1480820"/>
            <a:ext cx="5272405" cy="3436620"/>
          </a:xfrm>
          <a:prstGeom prst="rect">
            <a:avLst/>
          </a:prstGeom>
        </p:spPr>
      </p:pic>
      <p:sp>
        <p:nvSpPr>
          <p:cNvPr id="5" name="文本框 4"/>
          <p:cNvSpPr txBox="1"/>
          <p:nvPr/>
        </p:nvSpPr>
        <p:spPr>
          <a:xfrm>
            <a:off x="864235" y="4917440"/>
            <a:ext cx="10285095" cy="1534160"/>
          </a:xfrm>
          <a:prstGeom prst="rect">
            <a:avLst/>
          </a:prstGeom>
          <a:noFill/>
          <a:ln w="9525">
            <a:noFill/>
          </a:ln>
        </p:spPr>
        <p:txBody>
          <a:bodyPr wrap="square">
            <a:spAutoFit/>
          </a:bodyPr>
          <a:p>
            <a:pPr indent="0" fontAlgn="auto">
              <a:lnSpc>
                <a:spcPct val="125000"/>
              </a:lnSpc>
            </a:pPr>
            <a:r>
              <a:rPr lang="zh-CN" sz="2100" b="0">
                <a:latin typeface="Times New Roman" panose="02020603050405020304" charset="0"/>
                <a:ea typeface="宋体" panose="02010600030101010101" pitchFamily="2" charset="-122"/>
              </a:rPr>
              <a:t>仍然</a:t>
            </a:r>
            <a:r>
              <a:rPr lang="zh-CN" sz="2100" b="0">
                <a:ea typeface="宋体" panose="02010600030101010101" pitchFamily="2" charset="-122"/>
              </a:rPr>
              <a:t>在</a:t>
            </a:r>
            <a:r>
              <a:rPr lang="en-US" sz="2100" b="0">
                <a:latin typeface="Times New Roman" panose="02020603050405020304" charset="0"/>
                <a:ea typeface="宋体" panose="02010600030101010101" pitchFamily="2" charset="-122"/>
              </a:rPr>
              <a:t>ROS</a:t>
            </a:r>
            <a:r>
              <a:rPr lang="zh-CN" sz="2100" b="0">
                <a:ea typeface="宋体" panose="02010600030101010101" pitchFamily="2" charset="-122"/>
              </a:rPr>
              <a:t>目录下，接</a:t>
            </a:r>
            <a:r>
              <a:rPr lang="zh-CN" sz="2100" b="0">
                <a:latin typeface="Times New Roman" panose="02020603050405020304" charset="0"/>
                <a:ea typeface="宋体" panose="02010600030101010101" pitchFamily="2" charset="-122"/>
              </a:rPr>
              <a:t>收</a:t>
            </a:r>
            <a:r>
              <a:rPr lang="zh-CN" sz="2100" b="0">
                <a:ea typeface="宋体" panose="02010600030101010101" pitchFamily="2" charset="-122"/>
              </a:rPr>
              <a:t>发送数据，输入以下指令</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13.115</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cd catkin_kinetic/    source devel/setup.sh    ./enable_multibroadcast.sh</a:t>
            </a:r>
            <a:endParaRPr lang="en-US" altLang="en-US" b="1">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F[~K{A9{2WT7GN]5GT9EKQN"/>
          <p:cNvPicPr>
            <a:picLocks noChangeAspect="1"/>
          </p:cNvPicPr>
          <p:nvPr>
            <p:custDataLst>
              <p:tags r:id="rId2"/>
            </p:custDataLst>
          </p:nvPr>
        </p:nvPicPr>
        <p:blipFill>
          <a:blip r:embed="rId3"/>
          <a:stretch>
            <a:fillRect/>
          </a:stretch>
        </p:blipFill>
        <p:spPr>
          <a:xfrm>
            <a:off x="3028950" y="1216660"/>
            <a:ext cx="6134100" cy="1000125"/>
          </a:xfrm>
          <a:prstGeom prst="rect">
            <a:avLst/>
          </a:prstGeom>
        </p:spPr>
      </p:pic>
      <p:sp>
        <p:nvSpPr>
          <p:cNvPr id="106" name="文本框 105"/>
          <p:cNvSpPr txBox="1"/>
          <p:nvPr/>
        </p:nvSpPr>
        <p:spPr>
          <a:xfrm>
            <a:off x="868680" y="2414270"/>
            <a:ext cx="10096500" cy="841375"/>
          </a:xfrm>
          <a:prstGeom prst="rect">
            <a:avLst/>
          </a:prstGeom>
          <a:noFill/>
          <a:ln w="9525">
            <a:noFill/>
          </a:ln>
        </p:spPr>
        <p:txBody>
          <a:bodyPr wrap="square">
            <a:spAutoFit/>
          </a:bodyPr>
          <a:p>
            <a:pPr indent="0" fontAlgn="auto">
              <a:lnSpc>
                <a:spcPct val="125000"/>
              </a:lnSpc>
            </a:pPr>
            <a:r>
              <a:rPr lang="zh-CN" sz="2100" b="0">
                <a:ea typeface="宋体" panose="02010600030101010101" pitchFamily="2" charset="-122"/>
              </a:rPr>
              <a:t>输入以下指令，</a:t>
            </a:r>
            <a:r>
              <a:rPr lang="zh-CN" sz="2100" b="0">
                <a:latin typeface="Times New Roman" panose="02020603050405020304" charset="0"/>
                <a:ea typeface="宋体" panose="02010600030101010101" pitchFamily="2" charset="-122"/>
              </a:rPr>
              <a:t>实现</a:t>
            </a:r>
            <a:r>
              <a:rPr lang="zh-CN" sz="2100" b="0">
                <a:ea typeface="宋体" panose="02010600030101010101" pitchFamily="2" charset="-122"/>
              </a:rPr>
              <a:t>机器人跟随人</a:t>
            </a:r>
            <a:r>
              <a:rPr lang="zh-CN" sz="2100" b="0">
                <a:latin typeface="Times New Roman" panose="02020603050405020304" charset="0"/>
                <a:ea typeface="宋体" panose="02010600030101010101" pitchFamily="2" charset="-122"/>
              </a:rPr>
              <a:t>，</a:t>
            </a:r>
            <a:r>
              <a:rPr lang="zh-CN" sz="2100" b="0">
                <a:ea typeface="宋体" panose="02010600030101010101" pitchFamily="2" charset="-122"/>
              </a:rPr>
              <a:t>如图</a:t>
            </a:r>
            <a:r>
              <a:rPr lang="en-US" sz="2100" b="0">
                <a:latin typeface="Times New Roman" panose="02020603050405020304" charset="0"/>
                <a:ea typeface="宋体" panose="02010600030101010101" pitchFamily="2" charset="-122"/>
              </a:rPr>
              <a:t>13.116</a:t>
            </a:r>
            <a:r>
              <a:rPr lang="zh-CN" sz="2100" b="0">
                <a:latin typeface="Times New Roman" panose="02020603050405020304" charset="0"/>
                <a:ea typeface="宋体" panose="02010600030101010101" pitchFamily="2" charset="-122"/>
              </a:rPr>
              <a:t>所示</a:t>
            </a:r>
            <a:r>
              <a:rPr lang="zh-CN" sz="2100" b="0">
                <a:ea typeface="宋体" panose="02010600030101010101" pitchFamily="2" charset="-122"/>
              </a:rPr>
              <a:t>。</a:t>
            </a:r>
            <a:r>
              <a:rPr lang="en-US" b="0">
                <a:latin typeface="Courier New" panose="02070309020205020404" charset="0"/>
                <a:ea typeface="宋体" panose="02010600030101010101" pitchFamily="2" charset="-122"/>
                <a:cs typeface="Times New Roman" panose="02020603050405020304" charset="0"/>
              </a:rPr>
              <a:t> </a:t>
            </a:r>
            <a:r>
              <a:rPr lang="en-US" b="1">
                <a:latin typeface="宋体" panose="02010600030101010101" pitchFamily="2" charset="-122"/>
                <a:ea typeface="宋体" panose="02010600030101010101" pitchFamily="2" charset="-122"/>
                <a:cs typeface="Times New Roman" panose="02020603050405020304" charset="0"/>
              </a:rPr>
              <a:t>   rosrun realsense human_tracker</a:t>
            </a:r>
            <a:endParaRPr lang="en-US" altLang="en-US" b="1">
              <a:latin typeface="宋体" panose="02010600030101010101" pitchFamily="2" charset="-122"/>
              <a:ea typeface="宋体" panose="02010600030101010101" pitchFamily="2" charset="-122"/>
              <a:cs typeface="Times New Roman" panose="02020603050405020304" charset="0"/>
            </a:endParaRPr>
          </a:p>
        </p:txBody>
      </p:sp>
      <p:pic>
        <p:nvPicPr>
          <p:cNvPr id="4" name="图片 3" descr="II7]@QZC`UC8Q[YL4B[X`)W"/>
          <p:cNvPicPr>
            <a:picLocks noChangeAspect="1"/>
          </p:cNvPicPr>
          <p:nvPr>
            <p:custDataLst>
              <p:tags r:id="rId4"/>
            </p:custDataLst>
          </p:nvPr>
        </p:nvPicPr>
        <p:blipFill>
          <a:blip r:embed="rId5"/>
          <a:stretch>
            <a:fillRect/>
          </a:stretch>
        </p:blipFill>
        <p:spPr>
          <a:xfrm>
            <a:off x="3528060" y="3255645"/>
            <a:ext cx="5135880" cy="332105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864235" y="228600"/>
            <a:ext cx="8393430" cy="460375"/>
          </a:xfrm>
          <a:prstGeom prst="rect">
            <a:avLst/>
          </a:prstGeom>
          <a:noFill/>
        </p:spPr>
        <p:txBody>
          <a:bodyPr wrap="square" rtlCol="0">
            <a:spAutoFit/>
          </a:bodyPr>
          <a:p>
            <a:r>
              <a:rPr lang="en-US" altLang="zh-CN" sz="2400" b="1">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障碍物识别跟踪实验</a:t>
            </a: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6" name="文本框 105"/>
          <p:cNvSpPr txBox="1"/>
          <p:nvPr/>
        </p:nvSpPr>
        <p:spPr>
          <a:xfrm>
            <a:off x="858520" y="1352550"/>
            <a:ext cx="9778365" cy="2091690"/>
          </a:xfrm>
          <a:prstGeom prst="rect">
            <a:avLst/>
          </a:prstGeom>
          <a:noFill/>
          <a:ln w="9525">
            <a:noFill/>
          </a:ln>
        </p:spPr>
        <p:txBody>
          <a:bodyPr wrap="square">
            <a:spAutoFit/>
          </a:bodyPr>
          <a:p>
            <a:pPr indent="0" fontAlgn="auto">
              <a:lnSpc>
                <a:spcPct val="125000"/>
              </a:lnSpc>
            </a:pPr>
            <a:r>
              <a:rPr lang="en-US" altLang="zh-CN" sz="2000" b="0">
                <a:ea typeface="宋体" panose="02010600030101010101" pitchFamily="2" charset="-122"/>
              </a:rPr>
              <a:t>       </a:t>
            </a:r>
            <a:r>
              <a:rPr lang="zh-CN" sz="2000" b="0">
                <a:ea typeface="宋体" panose="02010600030101010101" pitchFamily="2" charset="-122"/>
              </a:rPr>
              <a:t>此时机器人会开始动作，在其前面放上障碍物</a:t>
            </a:r>
            <a:r>
              <a:rPr lang="zh-CN" sz="2000" b="0">
                <a:latin typeface="Times New Roman" panose="02020603050405020304" charset="0"/>
                <a:ea typeface="宋体" panose="02010600030101010101" pitchFamily="2" charset="-122"/>
              </a:rPr>
              <a:t>，其</a:t>
            </a:r>
            <a:r>
              <a:rPr lang="zh-CN" sz="2000" b="0">
                <a:ea typeface="宋体" panose="02010600030101010101" pitchFamily="2" charset="-122"/>
              </a:rPr>
              <a:t>会自动避开并跟随人</a:t>
            </a:r>
            <a:r>
              <a:rPr lang="zh-CN" sz="2000" b="0">
                <a:latin typeface="Times New Roman" panose="02020603050405020304" charset="0"/>
                <a:ea typeface="宋体" panose="02010600030101010101" pitchFamily="2" charset="-122"/>
              </a:rPr>
              <a:t>继续</a:t>
            </a:r>
            <a:r>
              <a:rPr lang="zh-CN" sz="2000" b="0">
                <a:ea typeface="宋体" panose="02010600030101010101" pitchFamily="2" charset="-122"/>
              </a:rPr>
              <a:t>运动。</a:t>
            </a:r>
            <a:r>
              <a:rPr lang="zh-CN" sz="2400" b="1">
                <a:cs typeface="方正黑体简体" charset="0"/>
              </a:rPr>
              <a:t></a:t>
            </a:r>
            <a:r>
              <a:rPr lang="zh-CN" sz="2400" b="1">
                <a:latin typeface="微软雅黑" panose="020B0503020204020204" pitchFamily="34" charset="-122"/>
                <a:ea typeface="微软雅黑" panose="020B0503020204020204" pitchFamily="34" charset="-122"/>
                <a:cs typeface="方正黑体简体" charset="0"/>
              </a:rPr>
              <a:t>五、思考题</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1</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源码安装和二进制码安装</a:t>
            </a:r>
            <a:r>
              <a:rPr lang="zh-CN" sz="2000" b="0">
                <a:latin typeface="Times New Roman" panose="02020603050405020304" charset="0"/>
                <a:ea typeface="宋体" panose="02010600030101010101" pitchFamily="2" charset="-122"/>
              </a:rPr>
              <a:t>有什么</a:t>
            </a:r>
            <a:r>
              <a:rPr lang="zh-CN" sz="2000" b="0">
                <a:ea typeface="宋体" panose="02010600030101010101" pitchFamily="2" charset="-122"/>
              </a:rPr>
              <a:t>区别？</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2</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在</a:t>
            </a:r>
            <a:r>
              <a:rPr lang="en-US" sz="2000" b="0">
                <a:latin typeface="Times New Roman" panose="02020603050405020304" charset="0"/>
                <a:ea typeface="宋体" panose="02010600030101010101" pitchFamily="2" charset="-122"/>
              </a:rPr>
              <a:t>ROS</a:t>
            </a:r>
            <a:r>
              <a:rPr lang="zh-CN" sz="2000" b="0">
                <a:ea typeface="宋体" panose="02010600030101010101" pitchFamily="2" charset="-122"/>
              </a:rPr>
              <a:t>中如何运行单个节点，如何运行多个节点？</a:t>
            </a:r>
            <a:r>
              <a:rPr lang="en-US" sz="2000" b="0">
                <a:latin typeface="宋体" panose="02010600030101010101" pitchFamily="2" charset="-122"/>
                <a:ea typeface="宋体" panose="02010600030101010101" pitchFamily="2" charset="-122"/>
                <a:cs typeface="Times New Roman" panose="02020603050405020304" charset="0"/>
              </a:rPr>
              <a:t>(</a:t>
            </a:r>
            <a:r>
              <a:rPr lang="en-US" sz="2000" b="0">
                <a:latin typeface="Times New Roman" panose="02020603050405020304" charset="0"/>
                <a:ea typeface="宋体" panose="02010600030101010101" pitchFamily="2" charset="-122"/>
              </a:rPr>
              <a:t>3</a:t>
            </a:r>
            <a:r>
              <a:rPr lang="en-US" sz="2000" b="0">
                <a:latin typeface="宋体" panose="02010600030101010101" pitchFamily="2" charset="-122"/>
                <a:ea typeface="宋体" panose="02010600030101010101" pitchFamily="2" charset="-122"/>
                <a:cs typeface="Times New Roman" panose="02020603050405020304" charset="0"/>
              </a:rPr>
              <a:t>)</a:t>
            </a:r>
            <a:r>
              <a:rPr lang="zh-CN" sz="2000" b="0">
                <a:ea typeface="宋体" panose="02010600030101010101" pitchFamily="2" charset="-122"/>
              </a:rPr>
              <a:t>查找相关资料学习并回答：什么是</a:t>
            </a:r>
            <a:r>
              <a:rPr lang="en-US" sz="2000" b="0">
                <a:latin typeface="Times New Roman" panose="02020603050405020304" charset="0"/>
                <a:ea typeface="宋体" panose="02010600030101010101" pitchFamily="2" charset="-122"/>
              </a:rPr>
              <a:t>IOU?</a:t>
            </a:r>
            <a:endParaRPr lang="en-US" altLang="en-US" sz="2000" b="0">
              <a:latin typeface="Times New Roman" panose="02020603050405020304" charset="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COMMONDATA" val="eyJoZGlkIjoiMjM3ZWI0MTQ0Y2E3ODlhYzE4NTUzNDI4YjE3OTFmMGQifQ=="/>
  <p:tag name="KSO_WPP_MARK_KEY" val="48fa514a-1a5c-486a-bda7-e20b98668e1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21456</Words>
  <Application>WPS 演示</Application>
  <PresentationFormat>宽屏</PresentationFormat>
  <Paragraphs>758</Paragraphs>
  <Slides>103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103</vt:i4>
      </vt:variant>
    </vt:vector>
  </HeadingPairs>
  <TitlesOfParts>
    <vt:vector size="121" baseType="lpstr">
      <vt:lpstr>Arial</vt:lpstr>
      <vt:lpstr>宋体</vt:lpstr>
      <vt:lpstr>Wingdings</vt:lpstr>
      <vt:lpstr>微软雅黑</vt:lpstr>
      <vt:lpstr>方正黑体简体</vt:lpstr>
      <vt:lpstr>Times New Roman</vt:lpstr>
      <vt:lpstr>黑体</vt:lpstr>
      <vt:lpstr>Courier New</vt:lpstr>
      <vt:lpstr>Arial Unicode MS</vt:lpstr>
      <vt:lpstr>等线 Light</vt:lpstr>
      <vt:lpstr>等线</vt:lpstr>
      <vt:lpstr>Calibri</vt:lpstr>
      <vt:lpstr>Comic Sans MS</vt:lpstr>
      <vt:lpstr>Constantia</vt:lpstr>
      <vt:lpstr>Dubai Medium</vt:lpstr>
      <vt:lpstr>Corbel Light</vt:lpstr>
      <vt:lpstr>Dubai Light</vt:lpstr>
      <vt:lpstr>Office 主题​​</vt:lpstr>
      <vt:lpstr>第十三章 四足机器人实验仿真与验证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◈『心殇』◎</cp:lastModifiedBy>
  <cp:revision>29</cp:revision>
  <dcterms:created xsi:type="dcterms:W3CDTF">2023-05-09T06:35:00Z</dcterms:created>
  <dcterms:modified xsi:type="dcterms:W3CDTF">2023-06-09T12:48:58Z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1238AA68CF4746A6913CACC12A22C1F3_12</vt:lpwstr>
  </property>
  <property fmtid="{D5CDD505-2E9C-101B-9397-08002B2CF9AE}" pid="3" name="KSOProductBuildVer">
    <vt:lpwstr>2052-11.1.0.14036</vt:lpwstr>
  </property>
</Properties>
</file>