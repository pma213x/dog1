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25"/>
  </p:notesMasterIdLst>
  <p:sldIdLst>
    <p:sldId id="410" r:id="rId2"/>
    <p:sldId id="605" r:id="rId3"/>
    <p:sldId id="557" r:id="rId4"/>
    <p:sldId id="593" r:id="rId5"/>
    <p:sldId id="598" r:id="rId6"/>
    <p:sldId id="599" r:id="rId7"/>
    <p:sldId id="600" r:id="rId8"/>
    <p:sldId id="594" r:id="rId9"/>
    <p:sldId id="595" r:id="rId10"/>
    <p:sldId id="601" r:id="rId11"/>
    <p:sldId id="602" r:id="rId12"/>
    <p:sldId id="603" r:id="rId13"/>
    <p:sldId id="596" r:id="rId14"/>
    <p:sldId id="597" r:id="rId15"/>
    <p:sldId id="501" r:id="rId16"/>
    <p:sldId id="604" r:id="rId17"/>
    <p:sldId id="502" r:id="rId18"/>
    <p:sldId id="497" r:id="rId19"/>
    <p:sldId id="498" r:id="rId20"/>
    <p:sldId id="499" r:id="rId21"/>
    <p:sldId id="553" r:id="rId22"/>
    <p:sldId id="554" r:id="rId23"/>
    <p:sldId id="531" r:id="rId24"/>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0">
          <p15:clr>
            <a:srgbClr val="A4A3A4"/>
          </p15:clr>
        </p15:guide>
        <p15:guide id="2" pos="36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8" autoAdjust="0"/>
    <p:restoredTop sz="94607" autoAdjust="0"/>
  </p:normalViewPr>
  <p:slideViewPr>
    <p:cSldViewPr snapToGrid="0" showGuides="1">
      <p:cViewPr varScale="1">
        <p:scale>
          <a:sx n="81" d="100"/>
          <a:sy n="81" d="100"/>
        </p:scale>
        <p:origin x="749" y="67"/>
      </p:cViewPr>
      <p:guideLst>
        <p:guide orient="horz" pos="2120"/>
        <p:guide pos="3667"/>
      </p:guideLst>
    </p:cSldViewPr>
  </p:slideViewPr>
  <p:notesTextViewPr>
    <p:cViewPr>
      <p:scale>
        <a:sx n="3" d="2"/>
        <a:sy n="3" d="2"/>
      </p:scale>
      <p:origin x="0" y="0"/>
    </p:cViewPr>
  </p:notesText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a:latin typeface="+mn-lt"/>
                <a:ea typeface="+mn-ea"/>
              </a:defRPr>
            </a:lvl1pPr>
          </a:lstStyle>
          <a:p>
            <a:pPr marL="0" marR="0" lvl="0" indent="0" algn="r" defTabSz="914400" rtl="0" eaLnBrk="1" fontAlgn="auto" latinLnBrk="0" hangingPunct="1">
              <a:lnSpc>
                <a:spcPct val="100000"/>
              </a:lnSpc>
              <a:spcBef>
                <a:spcPct val="0"/>
              </a:spcBef>
              <a:spcAft>
                <a:spcPct val="0"/>
              </a:spcAft>
              <a:buClrTx/>
              <a:buSzTx/>
              <a:buFontTx/>
              <a:buNone/>
              <a:defRPr/>
            </a:pPr>
            <a:fld id="{DD6CFA72-79F1-4675-A2F1-112645FE0012}" type="datetimeFigureOut">
              <a:rPr kumimoji="0" lang="zh-CN" altLang="en-US" sz="1200" b="0" i="0" u="none" strike="noStrike" kern="1200" cap="none" spc="0" normalizeH="0" baseline="0" noProof="1">
                <a:ln>
                  <a:noFill/>
                </a:ln>
                <a:solidFill>
                  <a:schemeClr val="tx1"/>
                </a:solidFill>
                <a:effectLst/>
                <a:uLnTx/>
                <a:uFillTx/>
                <a:latin typeface="+mn-lt"/>
                <a:ea typeface="+mn-ea"/>
                <a:cs typeface="+mn-cs"/>
              </a:rPr>
              <a:t>2023/6/7</a:t>
            </a:fld>
            <a:endParaRPr kumimoji="0" lang="zh-CN" altLang="en-US" sz="1200" b="0" i="0" u="none" strike="noStrike" kern="1200" cap="none" spc="0" normalizeH="0" baseline="0" noProof="1">
              <a:ln>
                <a:noFill/>
              </a:ln>
              <a:solidFill>
                <a:schemeClr val="tx1"/>
              </a:solidFill>
              <a:effectLst/>
              <a:uLnTx/>
              <a:uFillTx/>
              <a:latin typeface="+mn-lt"/>
              <a:ea typeface="+mn-ea"/>
              <a:cs typeface="+mn-cs"/>
            </a:endParaRPr>
          </a:p>
        </p:txBody>
      </p:sp>
      <p:sp>
        <p:nvSpPr>
          <p:cNvPr id="1229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85554108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678080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047064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idx="4294967295"/>
          </p:nvPr>
        </p:nvSpPr>
        <p:spPr>
          <a:xfrm>
            <a:off x="141288" y="768350"/>
            <a:ext cx="6818312" cy="3836988"/>
          </a:xfrm>
          <a:ln>
            <a:miter lim="800000"/>
          </a:ln>
        </p:spPr>
      </p:sp>
      <p:sp>
        <p:nvSpPr>
          <p:cNvPr id="5122" name="Rectangle 3"/>
          <p:cNvSpPr>
            <a:spLocks noGrp="1" noChangeArrowheads="1"/>
          </p:cNvSpPr>
          <p:nvPr>
            <p:ph type="body" idx="4294967295"/>
          </p:nvPr>
        </p:nvSpPr>
        <p:spPr/>
        <p:txBody>
          <a:bodyPr lIns="99048" tIns="49524" rIns="99048" bIns="49524"/>
          <a:lstStyle/>
          <a:p>
            <a:endParaRPr lang="zh-CN" altLang="zh-CN"/>
          </a:p>
        </p:txBody>
      </p:sp>
      <p:sp>
        <p:nvSpPr>
          <p:cNvPr id="5123"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357436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Rot="1" noChangeAspect="1" noChangeArrowheads="1" noTextEdit="1"/>
          </p:cNvSpPr>
          <p:nvPr>
            <p:ph type="sldImg" idx="4294967295"/>
          </p:nvPr>
        </p:nvSpPr>
        <p:spPr>
          <a:xfrm>
            <a:off x="141288" y="768350"/>
            <a:ext cx="6818312" cy="3836988"/>
          </a:xfrm>
          <a:ln>
            <a:miter lim="800000"/>
          </a:ln>
        </p:spPr>
      </p:sp>
      <p:sp>
        <p:nvSpPr>
          <p:cNvPr id="7170" name="Rectangle 3"/>
          <p:cNvSpPr>
            <a:spLocks noGrp="1" noChangeArrowheads="1"/>
          </p:cNvSpPr>
          <p:nvPr>
            <p:ph type="body" idx="4294967295"/>
          </p:nvPr>
        </p:nvSpPr>
        <p:spPr/>
        <p:txBody>
          <a:bodyPr lIns="99048" tIns="49524" rIns="99048" bIns="49524"/>
          <a:lstStyle/>
          <a:p>
            <a:endParaRPr lang="zh-CN" altLang="zh-CN"/>
          </a:p>
        </p:txBody>
      </p:sp>
      <p:sp>
        <p:nvSpPr>
          <p:cNvPr id="7171"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Rot="1" noChangeAspect="1" noChangeArrowheads="1" noTextEdit="1"/>
          </p:cNvSpPr>
          <p:nvPr>
            <p:ph type="sldImg" idx="4294967295"/>
          </p:nvPr>
        </p:nvSpPr>
        <p:spPr>
          <a:xfrm>
            <a:off x="141288" y="768350"/>
            <a:ext cx="6818312" cy="3836988"/>
          </a:xfrm>
          <a:ln>
            <a:miter lim="800000"/>
          </a:ln>
        </p:spPr>
      </p:sp>
      <p:sp>
        <p:nvSpPr>
          <p:cNvPr id="9218" name="Rectangle 3"/>
          <p:cNvSpPr>
            <a:spLocks noGrp="1" noChangeArrowheads="1"/>
          </p:cNvSpPr>
          <p:nvPr>
            <p:ph type="body" idx="4294967295"/>
          </p:nvPr>
        </p:nvSpPr>
        <p:spPr/>
        <p:txBody>
          <a:bodyPr lIns="99048" tIns="49524" rIns="99048" bIns="49524"/>
          <a:lstStyle/>
          <a:p>
            <a:endParaRPr lang="zh-CN" altLang="zh-CN"/>
          </a:p>
        </p:txBody>
      </p:sp>
      <p:sp>
        <p:nvSpPr>
          <p:cNvPr id="9219"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Rot="1" noChangeAspect="1" noChangeArrowheads="1" noTextEdit="1"/>
          </p:cNvSpPr>
          <p:nvPr>
            <p:ph type="sldImg" idx="4294967295"/>
          </p:nvPr>
        </p:nvSpPr>
        <p:spPr>
          <a:xfrm>
            <a:off x="141288" y="768350"/>
            <a:ext cx="6818312" cy="3836988"/>
          </a:xfrm>
          <a:ln>
            <a:miter lim="800000"/>
          </a:ln>
        </p:spPr>
      </p:sp>
      <p:sp>
        <p:nvSpPr>
          <p:cNvPr id="7170" name="Rectangle 3"/>
          <p:cNvSpPr>
            <a:spLocks noGrp="1" noChangeArrowheads="1"/>
          </p:cNvSpPr>
          <p:nvPr>
            <p:ph type="body" idx="4294967295"/>
          </p:nvPr>
        </p:nvSpPr>
        <p:spPr/>
        <p:txBody>
          <a:bodyPr lIns="99048" tIns="49524" rIns="99048" bIns="49524"/>
          <a:lstStyle/>
          <a:p>
            <a:endParaRPr lang="zh-CN" altLang="zh-CN"/>
          </a:p>
        </p:txBody>
      </p:sp>
      <p:sp>
        <p:nvSpPr>
          <p:cNvPr id="7171"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686107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Rot="1" noChangeAspect="1" noChangeArrowheads="1" noTextEdit="1"/>
          </p:cNvSpPr>
          <p:nvPr>
            <p:ph type="sldImg" idx="4294967295"/>
          </p:nvPr>
        </p:nvSpPr>
        <p:spPr>
          <a:xfrm>
            <a:off x="141288" y="768350"/>
            <a:ext cx="6818312" cy="3836988"/>
          </a:xfrm>
          <a:ln>
            <a:miter lim="800000"/>
          </a:ln>
        </p:spPr>
      </p:sp>
      <p:sp>
        <p:nvSpPr>
          <p:cNvPr id="9218" name="Rectangle 3"/>
          <p:cNvSpPr>
            <a:spLocks noGrp="1" noChangeArrowheads="1"/>
          </p:cNvSpPr>
          <p:nvPr>
            <p:ph type="body" idx="4294967295"/>
          </p:nvPr>
        </p:nvSpPr>
        <p:spPr/>
        <p:txBody>
          <a:bodyPr lIns="99048" tIns="49524" rIns="99048" bIns="49524"/>
          <a:lstStyle/>
          <a:p>
            <a:endParaRPr lang="zh-CN" altLang="zh-CN"/>
          </a:p>
        </p:txBody>
      </p:sp>
      <p:sp>
        <p:nvSpPr>
          <p:cNvPr id="9219"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67136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Rot="1" noChangeAspect="1" noChangeArrowheads="1" noTextEdit="1"/>
          </p:cNvSpPr>
          <p:nvPr>
            <p:ph type="sldImg" idx="4294967295"/>
          </p:nvPr>
        </p:nvSpPr>
        <p:spPr>
          <a:xfrm>
            <a:off x="141288" y="768350"/>
            <a:ext cx="6818312" cy="3836988"/>
          </a:xfrm>
          <a:ln>
            <a:miter lim="800000"/>
          </a:ln>
        </p:spPr>
      </p:sp>
      <p:sp>
        <p:nvSpPr>
          <p:cNvPr id="7170" name="Rectangle 3"/>
          <p:cNvSpPr>
            <a:spLocks noGrp="1" noChangeArrowheads="1"/>
          </p:cNvSpPr>
          <p:nvPr>
            <p:ph type="body" idx="4294967295"/>
          </p:nvPr>
        </p:nvSpPr>
        <p:spPr/>
        <p:txBody>
          <a:bodyPr lIns="99048" tIns="49524" rIns="99048" bIns="49524"/>
          <a:lstStyle/>
          <a:p>
            <a:endParaRPr lang="zh-CN" altLang="zh-CN"/>
          </a:p>
        </p:txBody>
      </p:sp>
      <p:sp>
        <p:nvSpPr>
          <p:cNvPr id="7171"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103567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Rot="1" noChangeAspect="1" noChangeArrowheads="1" noTextEdit="1"/>
          </p:cNvSpPr>
          <p:nvPr>
            <p:ph type="sldImg" idx="4294967295"/>
          </p:nvPr>
        </p:nvSpPr>
        <p:spPr>
          <a:xfrm>
            <a:off x="141288" y="768350"/>
            <a:ext cx="6818312" cy="3836988"/>
          </a:xfrm>
          <a:ln>
            <a:miter lim="800000"/>
          </a:ln>
        </p:spPr>
      </p:sp>
      <p:sp>
        <p:nvSpPr>
          <p:cNvPr id="11266" name="Rectangle 3"/>
          <p:cNvSpPr>
            <a:spLocks noGrp="1" noChangeArrowheads="1"/>
          </p:cNvSpPr>
          <p:nvPr>
            <p:ph type="body" idx="4294967295"/>
          </p:nvPr>
        </p:nvSpPr>
        <p:spPr/>
        <p:txBody>
          <a:bodyPr lIns="99048" tIns="49524" rIns="99048" bIns="49524"/>
          <a:lstStyle/>
          <a:p>
            <a:endParaRPr lang="zh-CN" altLang="zh-CN"/>
          </a:p>
        </p:txBody>
      </p:sp>
      <p:sp>
        <p:nvSpPr>
          <p:cNvPr id="11267"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TextEdit="1"/>
          </p:cNvSpPr>
          <p:nvPr>
            <p:ph type="sldImg"/>
          </p:nvPr>
        </p:nvSpPr>
        <p:spPr>
          <a:xfrm>
            <a:off x="141288" y="768350"/>
            <a:ext cx="6818312" cy="3836988"/>
          </a:xfrm>
          <a:ln>
            <a:miter lim="800000"/>
          </a:ln>
        </p:spPr>
      </p:sp>
      <p:sp>
        <p:nvSpPr>
          <p:cNvPr id="13315" name="Rectangle 3"/>
          <p:cNvSpPr>
            <a:spLocks noGrp="1"/>
          </p:cNvSpPr>
          <p:nvPr>
            <p:ph type="body"/>
          </p:nvPr>
        </p:nvSpPr>
        <p:spPr/>
        <p:txBody>
          <a:bodyPr wrap="square" lIns="99048" tIns="49524" rIns="99048" bIns="49524" anchor="t" anchorCtr="0"/>
          <a:lstStyle/>
          <a:p>
            <a:pPr lvl="0"/>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Rot="1" noChangeAspect="1" noChangeArrowheads="1" noTextEdit="1"/>
          </p:cNvSpPr>
          <p:nvPr>
            <p:ph type="sldImg" idx="4294967295"/>
          </p:nvPr>
        </p:nvSpPr>
        <p:spPr>
          <a:xfrm>
            <a:off x="141288" y="768350"/>
            <a:ext cx="6818312" cy="3836988"/>
          </a:xfrm>
          <a:ln>
            <a:miter lim="800000"/>
          </a:ln>
        </p:spPr>
      </p:sp>
      <p:sp>
        <p:nvSpPr>
          <p:cNvPr id="11266" name="Rectangle 3"/>
          <p:cNvSpPr>
            <a:spLocks noGrp="1" noChangeArrowheads="1"/>
          </p:cNvSpPr>
          <p:nvPr>
            <p:ph type="body" idx="4294967295"/>
          </p:nvPr>
        </p:nvSpPr>
        <p:spPr/>
        <p:txBody>
          <a:bodyPr lIns="99048" tIns="49524" rIns="99048" bIns="49524"/>
          <a:lstStyle/>
          <a:p>
            <a:endParaRPr lang="zh-CN" altLang="zh-CN"/>
          </a:p>
        </p:txBody>
      </p:sp>
      <p:sp>
        <p:nvSpPr>
          <p:cNvPr id="11267"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06470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TextEdit="1"/>
          </p:cNvSpPr>
          <p:nvPr>
            <p:ph type="sldImg"/>
          </p:nvPr>
        </p:nvSpPr>
        <p:spPr>
          <a:xfrm>
            <a:off x="141288" y="768350"/>
            <a:ext cx="6818312" cy="3836988"/>
          </a:xfrm>
          <a:ln>
            <a:miter lim="800000"/>
          </a:ln>
        </p:spPr>
      </p:sp>
      <p:sp>
        <p:nvSpPr>
          <p:cNvPr id="14339" name="Rectangle 3"/>
          <p:cNvSpPr>
            <a:spLocks noGrp="1"/>
          </p:cNvSpPr>
          <p:nvPr>
            <p:ph type="body"/>
          </p:nvPr>
        </p:nvSpPr>
        <p:spPr/>
        <p:txBody>
          <a:bodyPr wrap="square" lIns="99048" tIns="49524" rIns="99048" bIns="49524" anchor="t" anchorCtr="0"/>
          <a:lstStyle/>
          <a:p>
            <a:pPr lvl="0"/>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TextEdit="1"/>
          </p:cNvSpPr>
          <p:nvPr>
            <p:ph type="sldImg"/>
          </p:nvPr>
        </p:nvSpPr>
        <p:spPr>
          <a:xfrm>
            <a:off x="141288" y="768350"/>
            <a:ext cx="6818312" cy="3836988"/>
          </a:xfrm>
          <a:ln>
            <a:miter lim="800000"/>
          </a:ln>
        </p:spPr>
      </p:sp>
      <p:sp>
        <p:nvSpPr>
          <p:cNvPr id="15363" name="Rectangle 3"/>
          <p:cNvSpPr>
            <a:spLocks noGrp="1"/>
          </p:cNvSpPr>
          <p:nvPr>
            <p:ph type="body"/>
          </p:nvPr>
        </p:nvSpPr>
        <p:spPr/>
        <p:txBody>
          <a:bodyPr wrap="square" lIns="99048" tIns="49524" rIns="99048" bIns="49524"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TextEdit="1"/>
          </p:cNvSpPr>
          <p:nvPr>
            <p:ph type="sldImg"/>
          </p:nvPr>
        </p:nvSpPr>
        <p:spPr>
          <a:xfrm>
            <a:off x="141288" y="768350"/>
            <a:ext cx="6818312" cy="3836988"/>
          </a:xfrm>
          <a:ln>
            <a:miter lim="800000"/>
          </a:ln>
        </p:spPr>
      </p:sp>
      <p:sp>
        <p:nvSpPr>
          <p:cNvPr id="16387" name="Rectangle 3"/>
          <p:cNvSpPr>
            <a:spLocks noGrp="1"/>
          </p:cNvSpPr>
          <p:nvPr>
            <p:ph type="body"/>
          </p:nvPr>
        </p:nvSpPr>
        <p:spPr/>
        <p:txBody>
          <a:bodyPr wrap="square" lIns="99048" tIns="49524" rIns="99048" bIns="49524" anchor="t"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a:xfrm>
            <a:off x="141288" y="768350"/>
            <a:ext cx="6818312" cy="3836988"/>
          </a:xfrm>
          <a:ln>
            <a:miter lim="800000"/>
          </a:ln>
        </p:spPr>
      </p:sp>
      <p:sp>
        <p:nvSpPr>
          <p:cNvPr id="17411" name="Rectangle 3"/>
          <p:cNvSpPr>
            <a:spLocks noGrp="1"/>
          </p:cNvSpPr>
          <p:nvPr>
            <p:ph type="body"/>
          </p:nvPr>
        </p:nvSpPr>
        <p:spPr/>
        <p:txBody>
          <a:bodyPr wrap="square" lIns="99048" tIns="49524" rIns="99048" bIns="49524" anchor="t"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TextEdit="1"/>
          </p:cNvSpPr>
          <p:nvPr>
            <p:ph type="sldImg"/>
          </p:nvPr>
        </p:nvSpPr>
        <p:spPr>
          <a:xfrm>
            <a:off x="141288" y="768350"/>
            <a:ext cx="6818312" cy="3836988"/>
          </a:xfrm>
          <a:ln>
            <a:miter lim="800000"/>
          </a:ln>
        </p:spPr>
      </p:sp>
      <p:sp>
        <p:nvSpPr>
          <p:cNvPr id="18435" name="Rectangle 3"/>
          <p:cNvSpPr>
            <a:spLocks noGrp="1"/>
          </p:cNvSpPr>
          <p:nvPr>
            <p:ph type="body"/>
          </p:nvPr>
        </p:nvSpPr>
        <p:spPr/>
        <p:txBody>
          <a:bodyPr wrap="square" lIns="99048" tIns="49524" rIns="99048" bIns="49524"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TextEdit="1"/>
          </p:cNvSpPr>
          <p:nvPr>
            <p:ph type="sldImg"/>
          </p:nvPr>
        </p:nvSpPr>
        <p:spPr>
          <a:xfrm>
            <a:off x="141288" y="768350"/>
            <a:ext cx="6818312" cy="3836988"/>
          </a:xfrm>
          <a:ln>
            <a:miter lim="800000"/>
          </a:ln>
        </p:spPr>
      </p:sp>
      <p:sp>
        <p:nvSpPr>
          <p:cNvPr id="19459" name="Rectangle 3"/>
          <p:cNvSpPr>
            <a:spLocks noGrp="1"/>
          </p:cNvSpPr>
          <p:nvPr>
            <p:ph type="body"/>
          </p:nvPr>
        </p:nvSpPr>
        <p:spPr/>
        <p:txBody>
          <a:bodyPr wrap="square" lIns="99048" tIns="49524" rIns="99048" bIns="49524" anchor="t"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TextEdit="1"/>
          </p:cNvSpPr>
          <p:nvPr>
            <p:ph type="sldImg"/>
          </p:nvPr>
        </p:nvSpPr>
        <p:spPr>
          <a:xfrm>
            <a:off x="141288" y="768350"/>
            <a:ext cx="6818312" cy="3836988"/>
          </a:xfrm>
          <a:ln>
            <a:miter lim="800000"/>
          </a:ln>
        </p:spPr>
      </p:sp>
      <p:sp>
        <p:nvSpPr>
          <p:cNvPr id="20483" name="Rectangle 3"/>
          <p:cNvSpPr>
            <a:spLocks noGrp="1"/>
          </p:cNvSpPr>
          <p:nvPr>
            <p:ph type="body"/>
          </p:nvPr>
        </p:nvSpPr>
        <p:spPr/>
        <p:txBody>
          <a:bodyPr wrap="square" lIns="99048" tIns="49524" rIns="99048" bIns="49524" anchor="t" anchorCtr="0"/>
          <a:lstStyle/>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CAA1B-04BB-01A4-5132-0BDD854CDD5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232CBA4-C165-2021-606B-42BFF3F85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DE23921-7945-56A7-ABBE-EDFBFCE704A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8FBBD9E2-622C-8680-00B1-0B80B5876951}"/>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7F1DF61E-5B6A-7E5B-8267-3121D6221A94}"/>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1286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12466-3429-36FD-035E-5868865DC2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A633A1-6A05-E72F-6846-47522666070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84CC20-962E-B35E-8F5D-13B9EDDBEC9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D45EBF56-CB95-E782-9B54-5680489C383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EC612C2F-0CAE-E833-CD0E-676D32D65DC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29828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4251FF-DAD4-41BF-6A09-B0C695C35A6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84F99BA-32F6-0D77-B827-A85089EEF6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9A6275-6689-5FD7-9689-EF4D433F3CBD}"/>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7DE7BE2-BCB4-38C7-AB69-9632A05DC14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FD1198C0-207F-6F39-0343-0114189224F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33584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4A4765-C019-5415-5DFB-336F7FC5198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FDA83E5-2317-5C83-38B2-702DB0CAFB4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3C922D5-E5AC-451B-4FE3-DB286C6FA8D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12A17DA-98CC-624E-7C9D-733D33878CC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466B618C-79A1-6725-6D60-467C56888D3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9BBCAD81-D104-F005-B124-9AA20F94945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59779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538E9-A940-4696-6527-D2231124C61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BCE477-2934-8288-4AAA-AFB0A8D637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769962B-4026-7570-B1D1-0053E303C9E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6F0F388-4D5E-08F8-391E-182E79C96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49C8B37-014A-B5DD-F532-55B0F37AE42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7B07723-3B3E-B5AC-AF38-C742468531B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a:extLst>
              <a:ext uri="{FF2B5EF4-FFF2-40B4-BE49-F238E27FC236}">
                <a16:creationId xmlns:a16="http://schemas.microsoft.com/office/drawing/2014/main" id="{8F6AF78B-4B58-E232-9485-F655E57884C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a:extLst>
              <a:ext uri="{FF2B5EF4-FFF2-40B4-BE49-F238E27FC236}">
                <a16:creationId xmlns:a16="http://schemas.microsoft.com/office/drawing/2014/main" id="{A662AC73-D351-DCFD-1043-08908AFD375B}"/>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1366859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12AF-316A-1F50-596A-60C8C64502A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9818D3A-2047-9163-58B1-3DC76874090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a:extLst>
              <a:ext uri="{FF2B5EF4-FFF2-40B4-BE49-F238E27FC236}">
                <a16:creationId xmlns:a16="http://schemas.microsoft.com/office/drawing/2014/main" id="{05E2B006-C25A-5D69-086E-78E96B3A74B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a:extLst>
              <a:ext uri="{FF2B5EF4-FFF2-40B4-BE49-F238E27FC236}">
                <a16:creationId xmlns:a16="http://schemas.microsoft.com/office/drawing/2014/main" id="{19A3FE94-AA1B-BE7D-F9C7-E91351A2100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85231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460921-086E-9288-4F1C-703814A6EB0F}"/>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3" name="页脚占位符 2">
            <a:extLst>
              <a:ext uri="{FF2B5EF4-FFF2-40B4-BE49-F238E27FC236}">
                <a16:creationId xmlns:a16="http://schemas.microsoft.com/office/drawing/2014/main" id="{00529960-D4BF-F692-7404-A3CAFA7FB75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a:extLst>
              <a:ext uri="{FF2B5EF4-FFF2-40B4-BE49-F238E27FC236}">
                <a16:creationId xmlns:a16="http://schemas.microsoft.com/office/drawing/2014/main" id="{84F6CEBC-7F84-B714-25EC-AB103B14FDD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74544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D0635F-1176-C574-1B07-9F5F29EDBDE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8B056A-BED1-F50D-E457-C54CB2C47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7374783-07B6-8C2B-398E-044D32257F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E11642-BE16-C5AD-3477-7E8BF580C04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F44DAE12-A553-241F-F442-04B65065FD3B}"/>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81BA4377-2B5F-EFD6-AA1E-A823D272BF80}"/>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21735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6EA45-52AA-54CA-A544-B080E49577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065BB-16C0-3BA9-1590-B22230E165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2DA224-07E4-DA5B-1CF6-1F82CB034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927686D-D4CE-482F-A5D0-FA7E9B27F1D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39100DF8-CF53-773E-903E-DC08354C3DE8}"/>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590B1A73-88D8-B80C-696E-B624BDCFEA78}"/>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54305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F43F6-B85F-6154-1E0E-27502E522B8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113F8D2-367B-2F0A-8D6D-13C46FDC0EB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374CBF0-B308-05AD-45B8-3741417A3D6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296ECFC3-2B05-114E-ADD0-247C29ECDE40}"/>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6BAE2C9D-C5A6-28E5-33E5-39FF66A19A1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1074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29718A9-6281-7DD8-AC66-C7F8B5177F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804B563-4C5A-39BF-DFFE-02223063866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08A6C0-EA30-1DEE-FEF7-36F932378B4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B1351F0-E29C-A38E-016D-A97A9546F474}"/>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BBB3CF6C-FD0E-E93B-0F38-C97EA1DFFBD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24431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8"/>
            <a:ext cx="10972800" cy="58515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15473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D604A20-DF1C-0DD6-04E1-E22B4B98D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22DEFA4-D0DD-1B9B-6811-7DD45CED89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C525CB-11D0-480D-3910-29A92D0973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14532C6E-6C86-8AD6-375C-C792A73BA6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DE4CC257-19C4-DFE6-D55D-2D817E7AA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B0B46A-9FEC-4C73-8E69-8E9BDA52C5B1}" type="slidenum">
              <a:rPr lang="zh-CN" altLang="en-US" smtClean="0"/>
              <a:t>‹#›</a:t>
            </a:fld>
            <a:endParaRPr lang="zh-CN" altLang="en-US"/>
          </a:p>
        </p:txBody>
      </p:sp>
      <p:sp>
        <p:nvSpPr>
          <p:cNvPr id="7" name="Line 7">
            <a:extLst>
              <a:ext uri="{FF2B5EF4-FFF2-40B4-BE49-F238E27FC236}">
                <a16:creationId xmlns:a16="http://schemas.microsoft.com/office/drawing/2014/main" id="{20B3D03A-6F5A-FB74-9EED-10031464D27A}"/>
              </a:ext>
            </a:extLst>
          </p:cNvPr>
          <p:cNvSpPr/>
          <p:nvPr userDrawn="1"/>
        </p:nvSpPr>
        <p:spPr>
          <a:xfrm>
            <a:off x="0" y="684213"/>
            <a:ext cx="12192000" cy="0"/>
          </a:xfrm>
          <a:prstGeom prst="line">
            <a:avLst/>
          </a:prstGeom>
          <a:ln w="114300" cap="flat" cmpd="thickThin">
            <a:solidFill>
              <a:srgbClr val="660033"/>
            </a:solidFill>
            <a:prstDash val="solid"/>
            <a:headEnd type="none" w="med" len="med"/>
            <a:tailEnd type="none" w="med" len="med"/>
          </a:ln>
        </p:spPr>
      </p:sp>
    </p:spTree>
    <p:extLst>
      <p:ext uri="{BB962C8B-B14F-4D97-AF65-F5344CB8AC3E}">
        <p14:creationId xmlns:p14="http://schemas.microsoft.com/office/powerpoint/2010/main" val="279907681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4.emf"/></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9.emf"/></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副标题 5"/>
          <p:cNvSpPr/>
          <p:nvPr/>
        </p:nvSpPr>
        <p:spPr>
          <a:xfrm>
            <a:off x="1524000" y="1444625"/>
            <a:ext cx="9498330" cy="1844040"/>
          </a:xfrm>
          <a:prstGeom prst="rect">
            <a:avLst/>
          </a:prstGeom>
          <a:noFill/>
          <a:ln w="9525">
            <a:noFill/>
          </a:ln>
        </p:spPr>
        <p:txBody>
          <a:bodyPr/>
          <a:lstStyle/>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机器人运动学</a:t>
            </a:r>
          </a:p>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第</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一</a:t>
            </a:r>
            <a:r>
              <a:rPr sz="3600" b="1" dirty="0">
                <a:latin typeface="微软雅黑" panose="020B0503020204020204" pitchFamily="34" charset="-122"/>
                <a:ea typeface="微软雅黑" panose="020B0503020204020204" pitchFamily="34" charset="-122"/>
                <a:cs typeface="微软雅黑" panose="020B0503020204020204" pitchFamily="34" charset="-122"/>
              </a:rPr>
              <a:t>章</a:t>
            </a:r>
            <a:r>
              <a:rPr lang="en-US" sz="36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绪    论</a:t>
            </a:r>
            <a:endParaRPr sz="3600" b="1" dirty="0">
              <a:latin typeface="微软雅黑" panose="020B0503020204020204" pitchFamily="34" charset="-122"/>
              <a:ea typeface="微软雅黑" panose="020B0503020204020204" pitchFamily="34" charset="-122"/>
              <a:cs typeface="微软雅黑" panose="020B0503020204020204" pitchFamily="34" charset="-122"/>
            </a:endParaRPr>
          </a:p>
          <a:p>
            <a:pPr algn="ctr">
              <a:spcBef>
                <a:spcPct val="20000"/>
              </a:spcBef>
            </a:pP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51" name="Rectangle 30"/>
          <p:cNvSpPr/>
          <p:nvPr/>
        </p:nvSpPr>
        <p:spPr>
          <a:xfrm>
            <a:off x="3790950" y="3287713"/>
            <a:ext cx="4816475" cy="2609850"/>
          </a:xfrm>
          <a:prstGeom prst="rect">
            <a:avLst/>
          </a:prstGeom>
          <a:noFill/>
          <a:ln w="9525">
            <a:noFill/>
          </a:ln>
        </p:spPr>
        <p:txBody>
          <a:bodyPr/>
          <a:lstStyle/>
          <a:p>
            <a:pPr algn="ctr">
              <a:lnSpc>
                <a:spcPct val="200000"/>
              </a:lnSpc>
            </a:pPr>
            <a:r>
              <a:rPr lang="zh-CN" altLang="en-US" sz="2400" b="1" dirty="0">
                <a:latin typeface="Times New Roman" panose="02020603050405020304" pitchFamily="18" charset="0"/>
                <a:ea typeface="微软雅黑" panose="020B0503020204020204" pitchFamily="34" charset="-122"/>
              </a:rPr>
              <a:t>李彬</a:t>
            </a:r>
          </a:p>
          <a:p>
            <a:pPr algn="ctr">
              <a:lnSpc>
                <a:spcPct val="200000"/>
              </a:lnSpc>
            </a:pPr>
            <a:r>
              <a:rPr lang="zh-CN" altLang="en-US" sz="2400" b="1" dirty="0">
                <a:latin typeface="Times New Roman" panose="02020603050405020304" pitchFamily="18" charset="0"/>
                <a:ea typeface="微软雅黑" panose="020B0503020204020204" pitchFamily="34" charset="-122"/>
              </a:rPr>
              <a:t>智能人机交互创新团队</a:t>
            </a:r>
            <a:endParaRPr lang="en-US" altLang="zh-CN" sz="2400" b="1" dirty="0">
              <a:latin typeface="Times New Roman" panose="02020603050405020304" pitchFamily="18" charset="0"/>
              <a:ea typeface="微软雅黑" panose="020B0503020204020204" pitchFamily="34" charset="-122"/>
            </a:endParaRP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0"/>
          <p:cNvSpPr/>
          <p:nvPr/>
        </p:nvSpPr>
        <p:spPr>
          <a:xfrm>
            <a:off x="3687762" y="2575931"/>
            <a:ext cx="4816475" cy="1706137"/>
          </a:xfrm>
          <a:prstGeom prst="rect">
            <a:avLst/>
          </a:prstGeom>
          <a:noFill/>
          <a:ln w="9525">
            <a:noFill/>
          </a:ln>
        </p:spPr>
        <p:txBody>
          <a:bodyPr/>
          <a:lstStyle/>
          <a:p>
            <a:pPr>
              <a:lnSpc>
                <a:spcPct val="200000"/>
              </a:lnSpc>
            </a:pPr>
            <a:r>
              <a:rPr lang="en-US" altLang="zh-CN" sz="2400" b="1" dirty="0">
                <a:latin typeface="Times New Roman" panose="02020603050405020304" pitchFamily="18" charset="0"/>
                <a:ea typeface="微软雅黑" panose="020B0503020204020204" pitchFamily="34" charset="-122"/>
              </a:rPr>
              <a:t>1.1  </a:t>
            </a:r>
            <a:r>
              <a:rPr lang="zh-CN" altLang="en-US" sz="2400" b="1" dirty="0">
                <a:latin typeface="Times New Roman" panose="02020603050405020304" pitchFamily="18" charset="0"/>
                <a:ea typeface="微软雅黑" panose="020B0503020204020204" pitchFamily="34" charset="-122"/>
              </a:rPr>
              <a:t>四足机器人的发展现状</a:t>
            </a:r>
          </a:p>
          <a:p>
            <a:pPr>
              <a:lnSpc>
                <a:spcPct val="200000"/>
              </a:lnSpc>
            </a:pPr>
            <a:r>
              <a:rPr lang="en-US" altLang="zh-CN" sz="2400" b="1" dirty="0">
                <a:latin typeface="Times New Roman" panose="02020603050405020304" pitchFamily="18" charset="0"/>
                <a:ea typeface="微软雅黑" panose="020B0503020204020204" pitchFamily="34" charset="-122"/>
              </a:rPr>
              <a:t>1.2  </a:t>
            </a:r>
            <a:r>
              <a:rPr lang="zh-CN" altLang="en-US" sz="2400" b="1" dirty="0">
                <a:latin typeface="Times New Roman" panose="02020603050405020304" pitchFamily="18" charset="0"/>
                <a:ea typeface="微软雅黑" panose="020B0503020204020204" pitchFamily="34" charset="-122"/>
              </a:rPr>
              <a:t>四足机器人的发展趋势</a:t>
            </a: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
        <p:nvSpPr>
          <p:cNvPr id="2" name="Rectangle 2">
            <a:extLst>
              <a:ext uri="{FF2B5EF4-FFF2-40B4-BE49-F238E27FC236}">
                <a16:creationId xmlns:a16="http://schemas.microsoft.com/office/drawing/2014/main" id="{D7464C8C-9F34-F73B-8A56-ADBB486422F9}"/>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绪    论</a:t>
            </a:r>
          </a:p>
        </p:txBody>
      </p:sp>
    </p:spTree>
    <p:extLst>
      <p:ext uri="{BB962C8B-B14F-4D97-AF65-F5344CB8AC3E}">
        <p14:creationId xmlns:p14="http://schemas.microsoft.com/office/powerpoint/2010/main" val="2802512967"/>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绪    论</a:t>
            </a:r>
          </a:p>
        </p:txBody>
      </p:sp>
      <p:sp>
        <p:nvSpPr>
          <p:cNvPr id="4" name="文本框 3">
            <a:extLst>
              <a:ext uri="{FF2B5EF4-FFF2-40B4-BE49-F238E27FC236}">
                <a16:creationId xmlns:a16="http://schemas.microsoft.com/office/drawing/2014/main" id="{57D4978B-FAA2-370B-8659-36806E475292}"/>
              </a:ext>
            </a:extLst>
          </p:cNvPr>
          <p:cNvSpPr txBox="1"/>
          <p:nvPr/>
        </p:nvSpPr>
        <p:spPr>
          <a:xfrm>
            <a:off x="1157476" y="1156551"/>
            <a:ext cx="9859586" cy="1884618"/>
          </a:xfrm>
          <a:prstGeom prst="rect">
            <a:avLst/>
          </a:prstGeom>
          <a:noFill/>
        </p:spPr>
        <p:txBody>
          <a:bodyPr wrap="square">
            <a:spAutoFit/>
          </a:bodyPr>
          <a:lstStyle/>
          <a:p>
            <a:pPr indent="269875" algn="just">
              <a:lnSpc>
                <a:spcPct val="150000"/>
              </a:lnSpc>
            </a:pPr>
            <a:r>
              <a:rPr lang="zh-CN" altLang="zh-CN" sz="2000" kern="1000" dirty="0">
                <a:effectLst/>
                <a:latin typeface="微软雅黑" panose="020B0503020204020204" pitchFamily="34" charset="-122"/>
                <a:ea typeface="微软雅黑" panose="020B0503020204020204" pitchFamily="34" charset="-122"/>
              </a:rPr>
              <a:t>基于“开源”的思想和促进应用落地的想法，本书主要介绍四足机器人的基本理论和相关的技术实现细节，并基于实际的物理仿真平台，重点介绍四足机器人的各种运动控制的实现技巧和实现方法，以为有志于从事四足机器人学习和研究的人员提供比较专业和实用的参考教材。</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
        <p:nvSpPr>
          <p:cNvPr id="4" name="文本框 3">
            <a:extLst>
              <a:ext uri="{FF2B5EF4-FFF2-40B4-BE49-F238E27FC236}">
                <a16:creationId xmlns:a16="http://schemas.microsoft.com/office/drawing/2014/main" id="{B375EC4C-AA9B-B401-9238-8422E0804355}"/>
              </a:ext>
            </a:extLst>
          </p:cNvPr>
          <p:cNvSpPr txBox="1"/>
          <p:nvPr/>
        </p:nvSpPr>
        <p:spPr>
          <a:xfrm>
            <a:off x="631596" y="894173"/>
            <a:ext cx="10652287" cy="1884618"/>
          </a:xfrm>
          <a:prstGeom prst="rect">
            <a:avLst/>
          </a:prstGeom>
          <a:noFill/>
        </p:spPr>
        <p:txBody>
          <a:bodyPr wrap="square">
            <a:spAutoFit/>
          </a:bodyPr>
          <a:lstStyle/>
          <a:p>
            <a:pPr indent="457200" algn="just">
              <a:lnSpc>
                <a:spcPct val="150000"/>
              </a:lnSpc>
            </a:pPr>
            <a:r>
              <a:rPr lang="zh-CN" altLang="zh-CN" sz="2000" kern="1000" spc="10" dirty="0">
                <a:effectLst/>
                <a:latin typeface="微软雅黑" panose="020B0503020204020204" pitchFamily="34" charset="-122"/>
                <a:ea typeface="微软雅黑" panose="020B0503020204020204" pitchFamily="34" charset="-122"/>
              </a:rPr>
              <a:t>自</a:t>
            </a:r>
            <a:r>
              <a:rPr lang="en-US" altLang="zh-CN" sz="2000" kern="1000" spc="10" dirty="0">
                <a:effectLst/>
                <a:latin typeface="微软雅黑" panose="020B0503020204020204" pitchFamily="34" charset="-122"/>
                <a:ea typeface="微软雅黑" panose="020B0503020204020204" pitchFamily="34" charset="-122"/>
              </a:rPr>
              <a:t>20</a:t>
            </a:r>
            <a:r>
              <a:rPr lang="zh-CN" altLang="zh-CN" sz="2000" kern="1000" spc="10" dirty="0">
                <a:effectLst/>
                <a:latin typeface="微软雅黑" panose="020B0503020204020204" pitchFamily="34" charset="-122"/>
                <a:ea typeface="微软雅黑" panose="020B0503020204020204" pitchFamily="34" charset="-122"/>
              </a:rPr>
              <a:t>世纪</a:t>
            </a:r>
            <a:r>
              <a:rPr lang="en-US" altLang="zh-CN" sz="2000" kern="1000" spc="10" dirty="0">
                <a:effectLst/>
                <a:latin typeface="微软雅黑" panose="020B0503020204020204" pitchFamily="34" charset="-122"/>
                <a:ea typeface="微软雅黑" panose="020B0503020204020204" pitchFamily="34" charset="-122"/>
              </a:rPr>
              <a:t>60</a:t>
            </a:r>
            <a:r>
              <a:rPr lang="zh-CN" altLang="zh-CN" sz="2000" kern="1000" spc="10" dirty="0">
                <a:effectLst/>
                <a:latin typeface="微软雅黑" panose="020B0503020204020204" pitchFamily="34" charset="-122"/>
                <a:ea typeface="微软雅黑" panose="020B0503020204020204" pitchFamily="34" charset="-122"/>
              </a:rPr>
              <a:t>年代后期以来，国外许多科学家开始研究和开发四足机器人实验模型。</a:t>
            </a:r>
            <a:r>
              <a:rPr lang="en-US" altLang="zh-CN" sz="2000" kern="1000" spc="10" dirty="0">
                <a:effectLst/>
                <a:latin typeface="微软雅黑" panose="020B0503020204020204" pitchFamily="34" charset="-122"/>
                <a:ea typeface="微软雅黑" panose="020B0503020204020204" pitchFamily="34" charset="-122"/>
              </a:rPr>
              <a:t>1960</a:t>
            </a:r>
            <a:r>
              <a:rPr lang="zh-CN" altLang="zh-CN" sz="2000" kern="1000" spc="10" dirty="0">
                <a:effectLst/>
                <a:latin typeface="微软雅黑" panose="020B0503020204020204" pitchFamily="34" charset="-122"/>
                <a:ea typeface="微软雅黑" panose="020B0503020204020204" pitchFamily="34" charset="-122"/>
              </a:rPr>
              <a:t>年，</a:t>
            </a:r>
            <a:r>
              <a:rPr lang="en-US" altLang="zh-CN" sz="2000" kern="1000" spc="10" dirty="0" err="1">
                <a:effectLst/>
                <a:latin typeface="微软雅黑" panose="020B0503020204020204" pitchFamily="34" charset="-122"/>
                <a:ea typeface="微软雅黑" panose="020B0503020204020204" pitchFamily="34" charset="-122"/>
              </a:rPr>
              <a:t>Shigley</a:t>
            </a:r>
            <a:r>
              <a:rPr lang="zh-CN" altLang="zh-CN" sz="2000" kern="1000" spc="10" dirty="0">
                <a:effectLst/>
                <a:latin typeface="微软雅黑" panose="020B0503020204020204" pitchFamily="34" charset="-122"/>
                <a:ea typeface="微软雅黑" panose="020B0503020204020204" pitchFamily="34" charset="-122"/>
              </a:rPr>
              <a:t>以连杆组设计四组腿部机构，并利用一组双摇杆机构来控制步行机器人的步态。</a:t>
            </a:r>
            <a:r>
              <a:rPr lang="en-US" altLang="zh-CN" sz="2000" kern="1000" spc="10" dirty="0">
                <a:effectLst/>
                <a:latin typeface="微软雅黑" panose="020B0503020204020204" pitchFamily="34" charset="-122"/>
                <a:ea typeface="微软雅黑" panose="020B0503020204020204" pitchFamily="34" charset="-122"/>
              </a:rPr>
              <a:t>1968</a:t>
            </a:r>
            <a:r>
              <a:rPr lang="zh-CN" altLang="zh-CN" sz="2000" kern="1000" spc="10" dirty="0">
                <a:effectLst/>
                <a:latin typeface="微软雅黑" panose="020B0503020204020204" pitchFamily="34" charset="-122"/>
                <a:ea typeface="微软雅黑" panose="020B0503020204020204" pitchFamily="34" charset="-122"/>
              </a:rPr>
              <a:t>年，</a:t>
            </a:r>
            <a:r>
              <a:rPr lang="en-US" altLang="zh-CN" sz="2000" kern="1000" spc="10" dirty="0">
                <a:effectLst/>
                <a:latin typeface="微软雅黑" panose="020B0503020204020204" pitchFamily="34" charset="-122"/>
                <a:ea typeface="微软雅黑" panose="020B0503020204020204" pitchFamily="34" charset="-122"/>
              </a:rPr>
              <a:t>McGhee</a:t>
            </a:r>
            <a:r>
              <a:rPr lang="zh-CN" altLang="zh-CN" sz="2000" kern="1000" spc="10" dirty="0">
                <a:effectLst/>
                <a:latin typeface="微软雅黑" panose="020B0503020204020204" pitchFamily="34" charset="-122"/>
                <a:ea typeface="微软雅黑" panose="020B0503020204020204" pitchFamily="34" charset="-122"/>
              </a:rPr>
              <a:t>和</a:t>
            </a:r>
            <a:r>
              <a:rPr lang="en-US" altLang="zh-CN" sz="2000" kern="1000" spc="10" dirty="0">
                <a:effectLst/>
                <a:latin typeface="微软雅黑" panose="020B0503020204020204" pitchFamily="34" charset="-122"/>
                <a:ea typeface="微软雅黑" panose="020B0503020204020204" pitchFamily="34" charset="-122"/>
              </a:rPr>
              <a:t>Frank</a:t>
            </a:r>
            <a:r>
              <a:rPr lang="zh-CN" altLang="zh-CN" sz="2000" kern="1000" spc="10" dirty="0">
                <a:effectLst/>
                <a:latin typeface="微软雅黑" panose="020B0503020204020204" pitchFamily="34" charset="-122"/>
                <a:ea typeface="微软雅黑" panose="020B0503020204020204" pitchFamily="34" charset="-122"/>
              </a:rPr>
              <a:t>创作出第一台完全用电脑控制的步行机器人</a:t>
            </a:r>
            <a:r>
              <a:rPr lang="en-US" altLang="zh-CN" sz="2000" kern="1000" spc="10" dirty="0">
                <a:effectLst/>
                <a:latin typeface="微软雅黑" panose="020B0503020204020204" pitchFamily="34" charset="-122"/>
                <a:ea typeface="微软雅黑" panose="020B0503020204020204" pitchFamily="34" charset="-122"/>
              </a:rPr>
              <a:t>Phony Pony(</a:t>
            </a:r>
            <a:r>
              <a:rPr lang="zh-CN" altLang="zh-CN" sz="2000" kern="1000" spc="10" dirty="0">
                <a:effectLst/>
                <a:latin typeface="微软雅黑" panose="020B0503020204020204" pitchFamily="34" charset="-122"/>
                <a:ea typeface="微软雅黑" panose="020B0503020204020204" pitchFamily="34" charset="-122"/>
              </a:rPr>
              <a:t>如图</a:t>
            </a:r>
            <a:r>
              <a:rPr lang="en-US" altLang="zh-CN" sz="2000" kern="1000" spc="10" dirty="0">
                <a:effectLst/>
                <a:latin typeface="微软雅黑" panose="020B0503020204020204" pitchFamily="34" charset="-122"/>
                <a:ea typeface="微软雅黑" panose="020B0503020204020204" pitchFamily="34" charset="-122"/>
              </a:rPr>
              <a:t> 1.1</a:t>
            </a:r>
            <a:r>
              <a:rPr lang="zh-CN" altLang="zh-CN" sz="2000" kern="1000" spc="10" dirty="0">
                <a:effectLst/>
                <a:latin typeface="微软雅黑" panose="020B0503020204020204" pitchFamily="34" charset="-122"/>
                <a:ea typeface="微软雅黑" panose="020B0503020204020204" pitchFamily="34" charset="-122"/>
              </a:rPr>
              <a:t>所示</a:t>
            </a:r>
            <a:r>
              <a:rPr lang="en-US" altLang="zh-CN" sz="2000" kern="1000" spc="10" dirty="0">
                <a:effectLst/>
                <a:latin typeface="微软雅黑" panose="020B0503020204020204" pitchFamily="34" charset="-122"/>
                <a:ea typeface="微软雅黑" panose="020B0503020204020204" pitchFamily="34" charset="-122"/>
              </a:rPr>
              <a:t>)</a:t>
            </a:r>
            <a:r>
              <a:rPr lang="zh-CN" altLang="zh-CN" sz="2000" kern="1000" spc="10" dirty="0">
                <a:effectLst/>
                <a:latin typeface="微软雅黑" panose="020B0503020204020204" pitchFamily="34" charset="-122"/>
                <a:ea typeface="微软雅黑" panose="020B0503020204020204" pitchFamily="34" charset="-122"/>
              </a:rPr>
              <a:t>，该四足机器人摆脱了纯机构控制模式，每条腿有两个自由度，能实现简单的爬行运动。</a:t>
            </a:r>
            <a:endParaRPr lang="zh-CN" altLang="zh-CN" sz="2000" kern="1000" dirty="0">
              <a:effectLst/>
              <a:latin typeface="微软雅黑" panose="020B0503020204020204" pitchFamily="34" charset="-122"/>
              <a:ea typeface="微软雅黑" panose="020B0503020204020204" pitchFamily="34" charset="-122"/>
            </a:endParaRPr>
          </a:p>
        </p:txBody>
      </p:sp>
      <p:pic>
        <p:nvPicPr>
          <p:cNvPr id="1026" name="图片 30" descr="截图">
            <a:extLst>
              <a:ext uri="{FF2B5EF4-FFF2-40B4-BE49-F238E27FC236}">
                <a16:creationId xmlns:a16="http://schemas.microsoft.com/office/drawing/2014/main" id="{34DA073F-A327-A5D3-9AFF-9BCF5BC761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2627" y="3866304"/>
            <a:ext cx="1989056" cy="200103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F712DD6A-34C2-A53E-E737-6051827A9352}"/>
              </a:ext>
            </a:extLst>
          </p:cNvPr>
          <p:cNvSpPr>
            <a:spLocks noChangeArrowheads="1"/>
          </p:cNvSpPr>
          <p:nvPr/>
        </p:nvSpPr>
        <p:spPr bwMode="auto">
          <a:xfrm>
            <a:off x="424207" y="212185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5">
            <a:extLst>
              <a:ext uri="{FF2B5EF4-FFF2-40B4-BE49-F238E27FC236}">
                <a16:creationId xmlns:a16="http://schemas.microsoft.com/office/drawing/2014/main" id="{1BC91201-EE89-CB1B-1A72-376ADC46A641}"/>
              </a:ext>
            </a:extLst>
          </p:cNvPr>
          <p:cNvSpPr>
            <a:spLocks noChangeArrowheads="1"/>
          </p:cNvSpPr>
          <p:nvPr/>
        </p:nvSpPr>
        <p:spPr bwMode="auto">
          <a:xfrm>
            <a:off x="1970202" y="5971077"/>
            <a:ext cx="3553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  Phony Pony</a:t>
            </a:r>
            <a:r>
              <a:rPr lang="zh-CN" altLang="en-US" dirty="0">
                <a:latin typeface="Times New Roman" panose="02020603050405020304" pitchFamily="18" charset="0"/>
                <a:ea typeface="宋体" panose="02010600030101010101" pitchFamily="2" charset="-122"/>
                <a:cs typeface="Times New Roman" panose="02020603050405020304" pitchFamily="18" charset="0"/>
              </a:rPr>
              <a:t>四足机器人</a:t>
            </a:r>
          </a:p>
        </p:txBody>
      </p:sp>
      <p:sp>
        <p:nvSpPr>
          <p:cNvPr id="9" name="文本框 8">
            <a:extLst>
              <a:ext uri="{FF2B5EF4-FFF2-40B4-BE49-F238E27FC236}">
                <a16:creationId xmlns:a16="http://schemas.microsoft.com/office/drawing/2014/main" id="{7C3E863A-A30B-3332-C11E-5B753F7769B0}"/>
              </a:ext>
            </a:extLst>
          </p:cNvPr>
          <p:cNvSpPr txBox="1"/>
          <p:nvPr/>
        </p:nvSpPr>
        <p:spPr>
          <a:xfrm>
            <a:off x="631595" y="2729903"/>
            <a:ext cx="10652287" cy="961289"/>
          </a:xfrm>
          <a:prstGeom prst="rect">
            <a:avLst/>
          </a:prstGeom>
          <a:noFill/>
        </p:spPr>
        <p:txBody>
          <a:bodyPr wrap="square">
            <a:spAutoFit/>
          </a:bodyPr>
          <a:lstStyle/>
          <a:p>
            <a:pPr indent="457200" algn="just">
              <a:lnSpc>
                <a:spcPct val="150000"/>
              </a:lnSpc>
            </a:pPr>
            <a:r>
              <a:rPr lang="en-US" altLang="zh-CN" sz="2000" kern="1000" spc="10" dirty="0">
                <a:latin typeface="微软雅黑" panose="020B0503020204020204" pitchFamily="34" charset="-122"/>
                <a:ea typeface="微软雅黑" panose="020B0503020204020204" pitchFamily="34" charset="-122"/>
              </a:rPr>
              <a:t>20</a:t>
            </a:r>
            <a:r>
              <a:rPr lang="zh-CN" altLang="zh-CN" sz="2000" kern="1000" spc="10" dirty="0">
                <a:latin typeface="微软雅黑" panose="020B0503020204020204" pitchFamily="34" charset="-122"/>
                <a:ea typeface="微软雅黑" panose="020B0503020204020204" pitchFamily="34" charset="-122"/>
              </a:rPr>
              <a:t>世纪</a:t>
            </a:r>
            <a:r>
              <a:rPr lang="en-US" altLang="zh-CN" sz="2000" kern="1000" spc="10" dirty="0">
                <a:latin typeface="微软雅黑" panose="020B0503020204020204" pitchFamily="34" charset="-122"/>
                <a:ea typeface="微软雅黑" panose="020B0503020204020204" pitchFamily="34" charset="-122"/>
              </a:rPr>
              <a:t>80</a:t>
            </a:r>
            <a:r>
              <a:rPr lang="zh-CN" altLang="zh-CN" sz="2000" kern="1000" spc="10" dirty="0">
                <a:latin typeface="微软雅黑" panose="020B0503020204020204" pitchFamily="34" charset="-122"/>
                <a:ea typeface="微软雅黑" panose="020B0503020204020204" pitchFamily="34" charset="-122"/>
              </a:rPr>
              <a:t>年代，</a:t>
            </a:r>
            <a:r>
              <a:rPr lang="en-US" altLang="zh-CN" sz="2000" kern="1000" spc="10" dirty="0">
                <a:latin typeface="微软雅黑" panose="020B0503020204020204" pitchFamily="34" charset="-122"/>
                <a:ea typeface="微软雅黑" panose="020B0503020204020204" pitchFamily="34" charset="-122"/>
              </a:rPr>
              <a:t> </a:t>
            </a:r>
            <a:r>
              <a:rPr lang="en-US" altLang="zh-CN" sz="2000" kern="1000" spc="10" dirty="0" err="1">
                <a:latin typeface="微软雅黑" panose="020B0503020204020204" pitchFamily="34" charset="-122"/>
                <a:ea typeface="微软雅黑" panose="020B0503020204020204" pitchFamily="34" charset="-122"/>
              </a:rPr>
              <a:t>Himura</a:t>
            </a:r>
            <a:r>
              <a:rPr lang="zh-CN" altLang="zh-CN" sz="2000" kern="1000" spc="10" dirty="0">
                <a:latin typeface="微软雅黑" panose="020B0503020204020204" pitchFamily="34" charset="-122"/>
                <a:ea typeface="微软雅黑" panose="020B0503020204020204" pitchFamily="34" charset="-122"/>
              </a:rPr>
              <a:t>研制出了</a:t>
            </a:r>
            <a:r>
              <a:rPr lang="en-US" altLang="zh-CN" sz="2000" kern="1000" spc="10" dirty="0">
                <a:latin typeface="微软雅黑" panose="020B0503020204020204" pitchFamily="34" charset="-122"/>
                <a:ea typeface="微软雅黑" panose="020B0503020204020204" pitchFamily="34" charset="-122"/>
              </a:rPr>
              <a:t>Collie</a:t>
            </a:r>
            <a:r>
              <a:rPr lang="zh-CN" altLang="zh-CN" sz="2000" kern="1000" spc="10" dirty="0">
                <a:latin typeface="微软雅黑" panose="020B0503020204020204" pitchFamily="34" charset="-122"/>
                <a:ea typeface="微软雅黑" panose="020B0503020204020204" pitchFamily="34" charset="-122"/>
              </a:rPr>
              <a:t>电驱动系列四足机器人</a:t>
            </a:r>
            <a:r>
              <a:rPr lang="en-US" altLang="zh-CN" sz="2000" kern="1000" spc="10" dirty="0">
                <a:latin typeface="微软雅黑" panose="020B0503020204020204" pitchFamily="34" charset="-122"/>
                <a:ea typeface="微软雅黑" panose="020B0503020204020204" pitchFamily="34" charset="-122"/>
              </a:rPr>
              <a:t>(</a:t>
            </a:r>
            <a:r>
              <a:rPr lang="zh-CN" altLang="zh-CN" sz="2000" kern="1000" spc="10" dirty="0">
                <a:latin typeface="微软雅黑" panose="020B0503020204020204" pitchFamily="34" charset="-122"/>
                <a:ea typeface="微软雅黑" panose="020B0503020204020204" pitchFamily="34" charset="-122"/>
              </a:rPr>
              <a:t>如图</a:t>
            </a:r>
            <a:r>
              <a:rPr lang="en-US" altLang="zh-CN" sz="2000" kern="1000" spc="10" dirty="0">
                <a:latin typeface="微软雅黑" panose="020B0503020204020204" pitchFamily="34" charset="-122"/>
                <a:ea typeface="微软雅黑" panose="020B0503020204020204" pitchFamily="34" charset="-122"/>
              </a:rPr>
              <a:t>1.2</a:t>
            </a:r>
            <a:r>
              <a:rPr lang="zh-CN" altLang="zh-CN" sz="2000" kern="1000" spc="10" dirty="0">
                <a:latin typeface="微软雅黑" panose="020B0503020204020204" pitchFamily="34" charset="-122"/>
                <a:ea typeface="微软雅黑" panose="020B0503020204020204" pitchFamily="34" charset="-122"/>
              </a:rPr>
              <a:t>所示</a:t>
            </a:r>
            <a:r>
              <a:rPr lang="en-US" altLang="zh-CN" sz="2000" kern="1000" spc="10" dirty="0">
                <a:latin typeface="微软雅黑" panose="020B0503020204020204" pitchFamily="34" charset="-122"/>
                <a:ea typeface="微软雅黑" panose="020B0503020204020204" pitchFamily="34" charset="-122"/>
              </a:rPr>
              <a:t>)</a:t>
            </a:r>
            <a:r>
              <a:rPr lang="zh-CN" altLang="zh-CN" sz="2000" kern="1000" spc="10" dirty="0">
                <a:latin typeface="微软雅黑" panose="020B0503020204020204" pitchFamily="34" charset="-122"/>
                <a:ea typeface="微软雅黑" panose="020B0503020204020204" pitchFamily="34" charset="-122"/>
              </a:rPr>
              <a:t>，实现了四足机器人的稳定性、速度、能量消耗指标的优化和动态的行走及转换。</a:t>
            </a:r>
          </a:p>
        </p:txBody>
      </p:sp>
      <p:pic>
        <p:nvPicPr>
          <p:cNvPr id="10" name="图片 29" descr="截图">
            <a:extLst>
              <a:ext uri="{FF2B5EF4-FFF2-40B4-BE49-F238E27FC236}">
                <a16:creationId xmlns:a16="http://schemas.microsoft.com/office/drawing/2014/main" id="{6FAA2F61-6A32-9235-6C24-1CECCA2C142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35365" y="3836333"/>
            <a:ext cx="2051050" cy="2060983"/>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C6EF6BFE-EE07-5D17-688A-A1ED1EFF23FF}"/>
              </a:ext>
            </a:extLst>
          </p:cNvPr>
          <p:cNvSpPr txBox="1"/>
          <p:nvPr/>
        </p:nvSpPr>
        <p:spPr>
          <a:xfrm>
            <a:off x="5719288" y="5971077"/>
            <a:ext cx="3483204" cy="369332"/>
          </a:xfrm>
          <a:prstGeom prst="rect">
            <a:avLst/>
          </a:prstGeom>
          <a:noFill/>
        </p:spPr>
        <p:txBody>
          <a:bodyPr wrap="square">
            <a:spAutoFit/>
          </a:bodyPr>
          <a:lstStyle/>
          <a:p>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  Collie-1</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电驱动四足机器人</a:t>
            </a:r>
            <a:endParaRPr lang="zh-CN" altLang="en-US" dirty="0"/>
          </a:p>
        </p:txBody>
      </p:sp>
    </p:spTree>
    <p:extLst>
      <p:ext uri="{BB962C8B-B14F-4D97-AF65-F5344CB8AC3E}">
        <p14:creationId xmlns:p14="http://schemas.microsoft.com/office/powerpoint/2010/main" val="789658244"/>
      </p:ext>
    </p:extLst>
  </p:cSld>
  <p:clrMapOvr>
    <a:masterClrMapping/>
  </p:clrMapOvr>
  <p:transition advTm="18857"/>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
        <p:nvSpPr>
          <p:cNvPr id="7" name="文本框 6">
            <a:extLst>
              <a:ext uri="{FF2B5EF4-FFF2-40B4-BE49-F238E27FC236}">
                <a16:creationId xmlns:a16="http://schemas.microsoft.com/office/drawing/2014/main" id="{E694658D-290F-79D1-7B6B-C175025D6364}"/>
              </a:ext>
            </a:extLst>
          </p:cNvPr>
          <p:cNvSpPr txBox="1"/>
          <p:nvPr/>
        </p:nvSpPr>
        <p:spPr>
          <a:xfrm>
            <a:off x="991385" y="809515"/>
            <a:ext cx="10209229" cy="2807948"/>
          </a:xfrm>
          <a:prstGeom prst="rect">
            <a:avLst/>
          </a:prstGeom>
          <a:noFill/>
        </p:spPr>
        <p:txBody>
          <a:bodyPr wrap="square">
            <a:spAutoFit/>
          </a:bodyPr>
          <a:lstStyle/>
          <a:p>
            <a:pPr indent="457200" algn="just">
              <a:lnSpc>
                <a:spcPct val="150000"/>
              </a:lnSpc>
            </a:pP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日本的</a:t>
            </a:r>
            <a:r>
              <a:rPr lang="en-US" altLang="zh-CN" sz="2000" kern="1000" dirty="0">
                <a:effectLst/>
                <a:latin typeface="微软雅黑" panose="020B0503020204020204" pitchFamily="34" charset="-122"/>
                <a:ea typeface="微软雅黑" panose="020B0503020204020204" pitchFamily="34" charset="-122"/>
              </a:rPr>
              <a:t>Shigeo Hirose</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为了提高步行机器人的环境适应能力，研制了</a:t>
            </a:r>
            <a:r>
              <a:rPr lang="en-US" altLang="zh-CN" sz="2000" kern="1000" dirty="0">
                <a:effectLst/>
                <a:latin typeface="微软雅黑" panose="020B0503020204020204" pitchFamily="34" charset="-122"/>
                <a:ea typeface="微软雅黑" panose="020B0503020204020204" pitchFamily="34" charset="-122"/>
              </a:rPr>
              <a:t>TITAN-IV</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型四足机器人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rPr>
              <a:t>1.3</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，该四足机器人采用智能控制方法，利用姿态传感器和触觉传感器，可以实时产生具有地形适应能力的运动步态。德国的</a:t>
            </a:r>
            <a:r>
              <a:rPr lang="en-US" altLang="zh-CN" sz="2000" kern="1000" dirty="0" err="1">
                <a:effectLst/>
                <a:latin typeface="微软雅黑" panose="020B0503020204020204" pitchFamily="34" charset="-122"/>
                <a:ea typeface="微软雅黑" panose="020B0503020204020204" pitchFamily="34" charset="-122"/>
              </a:rPr>
              <a:t>Dillmann</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和他的团队多年来致力于研究复杂性的足式机器人行走策略，并且延伸到对足式哺乳动物的运动研究，开发了基于振荡器的步态生成器，基于腿部轨迹学习的行走策略等多种研究方法，研制了四足机器人实验平台</a:t>
            </a:r>
            <a:r>
              <a:rPr lang="en-US" altLang="zh-CN" sz="2000" kern="1000" dirty="0">
                <a:effectLst/>
                <a:latin typeface="微软雅黑" panose="020B0503020204020204" pitchFamily="34" charset="-122"/>
                <a:ea typeface="微软雅黑" panose="020B0503020204020204" pitchFamily="34" charset="-122"/>
              </a:rPr>
              <a:t>BISAM</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rPr>
              <a:t>1.4</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1000" dirty="0">
                <a:effectLst/>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pic>
        <p:nvPicPr>
          <p:cNvPr id="8" name="图片 7" descr="截图">
            <a:extLst>
              <a:ext uri="{FF2B5EF4-FFF2-40B4-BE49-F238E27FC236}">
                <a16:creationId xmlns:a16="http://schemas.microsoft.com/office/drawing/2014/main" id="{02C019E1-5324-1AEE-99FD-C201A263B30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8289" y="3783435"/>
            <a:ext cx="2691294" cy="2004362"/>
          </a:xfrm>
          <a:prstGeom prst="rect">
            <a:avLst/>
          </a:prstGeom>
          <a:noFill/>
          <a:ln>
            <a:noFill/>
          </a:ln>
        </p:spPr>
      </p:pic>
      <p:pic>
        <p:nvPicPr>
          <p:cNvPr id="9" name="图片 8" descr="截图1">
            <a:extLst>
              <a:ext uri="{FF2B5EF4-FFF2-40B4-BE49-F238E27FC236}">
                <a16:creationId xmlns:a16="http://schemas.microsoft.com/office/drawing/2014/main" id="{D1871AFD-0195-177E-D496-A0952B73572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0" y="3783435"/>
            <a:ext cx="2691293" cy="2064186"/>
          </a:xfrm>
          <a:prstGeom prst="rect">
            <a:avLst/>
          </a:prstGeom>
          <a:noFill/>
          <a:ln>
            <a:noFill/>
          </a:ln>
        </p:spPr>
      </p:pic>
      <p:sp>
        <p:nvSpPr>
          <p:cNvPr id="12" name="文本框 11">
            <a:extLst>
              <a:ext uri="{FF2B5EF4-FFF2-40B4-BE49-F238E27FC236}">
                <a16:creationId xmlns:a16="http://schemas.microsoft.com/office/drawing/2014/main" id="{DEC1B8CD-540D-369B-C4F1-3F4928E76825}"/>
              </a:ext>
            </a:extLst>
          </p:cNvPr>
          <p:cNvSpPr txBox="1"/>
          <p:nvPr/>
        </p:nvSpPr>
        <p:spPr>
          <a:xfrm>
            <a:off x="2458040" y="6013593"/>
            <a:ext cx="3150908"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1.3  TITAN-IV</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5" name="文本框 14">
            <a:extLst>
              <a:ext uri="{FF2B5EF4-FFF2-40B4-BE49-F238E27FC236}">
                <a16:creationId xmlns:a16="http://schemas.microsoft.com/office/drawing/2014/main" id="{8DA05150-0F03-2E16-2D14-AB363EB96E0E}"/>
              </a:ext>
            </a:extLst>
          </p:cNvPr>
          <p:cNvSpPr txBox="1"/>
          <p:nvPr/>
        </p:nvSpPr>
        <p:spPr>
          <a:xfrm>
            <a:off x="5691434" y="6048485"/>
            <a:ext cx="3659956" cy="369332"/>
          </a:xfrm>
          <a:prstGeom prst="rect">
            <a:avLst/>
          </a:prstGeom>
          <a:noFill/>
        </p:spPr>
        <p:txBody>
          <a:bodyPr wrap="square">
            <a:spAutoFit/>
          </a:bodyPr>
          <a:lstStyle/>
          <a:p>
            <a:pPr algn="just">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1.4  </a:t>
            </a:r>
            <a:r>
              <a:rPr lang="zh-CN" altLang="zh-CN" sz="1800" kern="1000" dirty="0">
                <a:effectLst/>
                <a:latin typeface="Times New Roman" panose="02020603050405020304" pitchFamily="18" charset="0"/>
                <a:ea typeface="宋体" panose="02010600030101010101" pitchFamily="2" charset="-122"/>
              </a:rPr>
              <a:t>四足机器人实验平台</a:t>
            </a:r>
            <a:r>
              <a:rPr lang="en-US" altLang="zh-CN" sz="1800" kern="1000" dirty="0">
                <a:effectLst/>
                <a:latin typeface="Times New Roman" panose="02020603050405020304" pitchFamily="18" charset="0"/>
                <a:ea typeface="宋体" panose="02010600030101010101" pitchFamily="2" charset="-122"/>
              </a:rPr>
              <a:t>BISAM</a:t>
            </a:r>
            <a:endParaRPr lang="zh-CN" altLang="zh-CN" sz="1800" kern="10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151521296"/>
      </p:ext>
    </p:extLst>
  </p:cSld>
  <p:clrMapOvr>
    <a:masterClrMapping/>
  </p:clrMapOvr>
  <p:transition advTm="18857"/>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
        <p:nvSpPr>
          <p:cNvPr id="7" name="文本框 6">
            <a:extLst>
              <a:ext uri="{FF2B5EF4-FFF2-40B4-BE49-F238E27FC236}">
                <a16:creationId xmlns:a16="http://schemas.microsoft.com/office/drawing/2014/main" id="{E694658D-290F-79D1-7B6B-C175025D6364}"/>
              </a:ext>
            </a:extLst>
          </p:cNvPr>
          <p:cNvSpPr txBox="1"/>
          <p:nvPr/>
        </p:nvSpPr>
        <p:spPr>
          <a:xfrm>
            <a:off x="991385" y="809515"/>
            <a:ext cx="10209229" cy="2346283"/>
          </a:xfrm>
          <a:prstGeom prst="rect">
            <a:avLst/>
          </a:prstGeom>
          <a:noFill/>
        </p:spPr>
        <p:txBody>
          <a:bodyPr wrap="square">
            <a:spAutoFit/>
          </a:bodyPr>
          <a:lstStyle/>
          <a:p>
            <a:pPr indent="457200" algn="just">
              <a:lnSpc>
                <a:spcPct val="150000"/>
              </a:lnSpc>
            </a:pP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日本电气通信大学</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1999</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年启动了基于中枢模式发生器</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(Center Pattern Generator</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CPG)</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控制、具有动态步行能力的</a:t>
            </a:r>
            <a:r>
              <a:rPr lang="en-US" altLang="zh-CN" sz="2000" kern="1000" dirty="0" err="1">
                <a:effectLst/>
                <a:latin typeface="微软雅黑" panose="020B0503020204020204" pitchFamily="34" charset="-122"/>
                <a:ea typeface="微软雅黑" panose="020B0503020204020204" pitchFamily="34" charset="-122"/>
                <a:cs typeface="Times New Roman" panose="02020603050405020304" pitchFamily="18" charset="0"/>
              </a:rPr>
              <a:t>Patrush</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系列机器人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1.5</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的研制，并以</a:t>
            </a:r>
            <a:r>
              <a:rPr lang="en-US" altLang="zh-CN" sz="2000" kern="1000" dirty="0" err="1">
                <a:effectLst/>
                <a:latin typeface="微软雅黑" panose="020B0503020204020204" pitchFamily="34" charset="-122"/>
                <a:ea typeface="微软雅黑" panose="020B0503020204020204" pitchFamily="34" charset="-122"/>
                <a:cs typeface="Times New Roman" panose="02020603050405020304" pitchFamily="18" charset="0"/>
              </a:rPr>
              <a:t>Patrush</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机器人为基础，进一步开发了</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Tekken</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系列四足机器人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1.6</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，该四足机器人采用了和</a:t>
            </a:r>
            <a:r>
              <a:rPr lang="en-US" altLang="zh-CN" sz="2000" kern="1000" dirty="0" err="1">
                <a:effectLst/>
                <a:latin typeface="微软雅黑" panose="020B0503020204020204" pitchFamily="34" charset="-122"/>
                <a:ea typeface="微软雅黑" panose="020B0503020204020204" pitchFamily="34" charset="-122"/>
                <a:cs typeface="Times New Roman" panose="02020603050405020304" pitchFamily="18" charset="0"/>
              </a:rPr>
              <a:t>Patrush</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基本相同的控制算法，但是在膝关节处采用了一种弹簧结构来提高能量的利用效率。</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2009</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年，他们启动了具有</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16</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自由度的</a:t>
            </a:r>
            <a:r>
              <a:rPr lang="en-US" altLang="zh-CN" sz="2000" kern="1000" dirty="0" err="1">
                <a:effectLst/>
                <a:latin typeface="微软雅黑" panose="020B0503020204020204" pitchFamily="34" charset="-122"/>
                <a:ea typeface="微软雅黑" panose="020B0503020204020204" pitchFamily="34" charset="-122"/>
                <a:cs typeface="Times New Roman" panose="02020603050405020304" pitchFamily="18" charset="0"/>
              </a:rPr>
              <a:t>Kotetsu</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1.7</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的研制。</a:t>
            </a:r>
            <a:endParaRPr lang="zh-CN" altLang="en-US" sz="2000" dirty="0">
              <a:latin typeface="微软雅黑" panose="020B0503020204020204" pitchFamily="34" charset="-122"/>
              <a:ea typeface="微软雅黑" panose="020B0503020204020204" pitchFamily="34" charset="-122"/>
            </a:endParaRPr>
          </a:p>
        </p:txBody>
      </p:sp>
      <p:pic>
        <p:nvPicPr>
          <p:cNvPr id="2051" name="图片 26" descr="截图333">
            <a:extLst>
              <a:ext uri="{FF2B5EF4-FFF2-40B4-BE49-F238E27FC236}">
                <a16:creationId xmlns:a16="http://schemas.microsoft.com/office/drawing/2014/main" id="{15ABBDF7-8413-315B-1F3E-70D40CD1D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099" r="13788"/>
          <a:stretch>
            <a:fillRect/>
          </a:stretch>
        </p:blipFill>
        <p:spPr bwMode="auto">
          <a:xfrm>
            <a:off x="1673537" y="3461650"/>
            <a:ext cx="2248014" cy="2314540"/>
          </a:xfrm>
          <a:prstGeom prst="rect">
            <a:avLst/>
          </a:prstGeom>
          <a:noFill/>
          <a:extLst>
            <a:ext uri="{909E8E84-426E-40DD-AFC4-6F175D3DCCD1}">
              <a14:hiddenFill xmlns:a14="http://schemas.microsoft.com/office/drawing/2010/main">
                <a:solidFill>
                  <a:srgbClr val="FFFFFF"/>
                </a:solidFill>
              </a14:hiddenFill>
            </a:ext>
          </a:extLst>
        </p:spPr>
      </p:pic>
      <p:pic>
        <p:nvPicPr>
          <p:cNvPr id="2050" name="图片 25" descr="截图3">
            <a:extLst>
              <a:ext uri="{FF2B5EF4-FFF2-40B4-BE49-F238E27FC236}">
                <a16:creationId xmlns:a16="http://schemas.microsoft.com/office/drawing/2014/main" id="{2B6BA7E6-7D20-BDFF-DA10-97162C9241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9451" y="3461650"/>
            <a:ext cx="2706650" cy="2314540"/>
          </a:xfrm>
          <a:prstGeom prst="rect">
            <a:avLst/>
          </a:prstGeom>
          <a:noFill/>
          <a:extLst>
            <a:ext uri="{909E8E84-426E-40DD-AFC4-6F175D3DCCD1}">
              <a14:hiddenFill xmlns:a14="http://schemas.microsoft.com/office/drawing/2010/main">
                <a:solidFill>
                  <a:srgbClr val="FFFFFF"/>
                </a:solidFill>
              </a14:hiddenFill>
            </a:ext>
          </a:extLst>
        </p:spPr>
      </p:pic>
      <p:pic>
        <p:nvPicPr>
          <p:cNvPr id="2049" name="图片 24" descr="截图4">
            <a:extLst>
              <a:ext uri="{FF2B5EF4-FFF2-40B4-BE49-F238E27FC236}">
                <a16:creationId xmlns:a16="http://schemas.microsoft.com/office/drawing/2014/main" id="{3BA38D44-8B6E-E4E9-54E2-5533F7FF87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024"/>
          <a:stretch>
            <a:fillRect/>
          </a:stretch>
        </p:blipFill>
        <p:spPr bwMode="auto">
          <a:xfrm>
            <a:off x="7684001" y="3461650"/>
            <a:ext cx="2600642" cy="231470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4">
            <a:extLst>
              <a:ext uri="{FF2B5EF4-FFF2-40B4-BE49-F238E27FC236}">
                <a16:creationId xmlns:a16="http://schemas.microsoft.com/office/drawing/2014/main" id="{1875876F-8C9D-8EA9-DAF0-805CFC3B3A4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文本框 10">
            <a:extLst>
              <a:ext uri="{FF2B5EF4-FFF2-40B4-BE49-F238E27FC236}">
                <a16:creationId xmlns:a16="http://schemas.microsoft.com/office/drawing/2014/main" id="{14F40716-A21C-202C-13CC-38CC3D43D5B4}"/>
              </a:ext>
            </a:extLst>
          </p:cNvPr>
          <p:cNvSpPr txBox="1"/>
          <p:nvPr/>
        </p:nvSpPr>
        <p:spPr>
          <a:xfrm>
            <a:off x="1456720" y="5897376"/>
            <a:ext cx="2681647"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1.5  </a:t>
            </a:r>
            <a:r>
              <a:rPr lang="en-US" altLang="zh-CN" sz="1800" kern="1000" dirty="0" err="1">
                <a:effectLst/>
                <a:latin typeface="Times New Roman" panose="02020603050405020304" pitchFamily="18" charset="0"/>
                <a:ea typeface="宋体" panose="02010600030101010101" pitchFamily="2" charset="-122"/>
              </a:rPr>
              <a:t>Patrush</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6" name="文本框 15">
            <a:extLst>
              <a:ext uri="{FF2B5EF4-FFF2-40B4-BE49-F238E27FC236}">
                <a16:creationId xmlns:a16="http://schemas.microsoft.com/office/drawing/2014/main" id="{08A88A29-AAB3-F212-2C12-E6B11568264D}"/>
              </a:ext>
            </a:extLst>
          </p:cNvPr>
          <p:cNvSpPr txBox="1"/>
          <p:nvPr/>
        </p:nvSpPr>
        <p:spPr>
          <a:xfrm>
            <a:off x="4461952" y="5897376"/>
            <a:ext cx="2681647"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1.6  Tekken</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9" name="文本框 18">
            <a:extLst>
              <a:ext uri="{FF2B5EF4-FFF2-40B4-BE49-F238E27FC236}">
                <a16:creationId xmlns:a16="http://schemas.microsoft.com/office/drawing/2014/main" id="{E0F6A05F-4FA1-7F80-3514-1A8792C7417F}"/>
              </a:ext>
            </a:extLst>
          </p:cNvPr>
          <p:cNvSpPr txBox="1"/>
          <p:nvPr/>
        </p:nvSpPr>
        <p:spPr>
          <a:xfrm>
            <a:off x="7643498" y="5914113"/>
            <a:ext cx="2681647"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1.7  </a:t>
            </a:r>
            <a:r>
              <a:rPr lang="en-US" altLang="zh-CN" sz="1800" kern="1000" dirty="0" err="1">
                <a:effectLst/>
                <a:latin typeface="Times New Roman" panose="02020603050405020304" pitchFamily="18" charset="0"/>
                <a:ea typeface="宋体" panose="02010600030101010101" pitchFamily="2" charset="-122"/>
              </a:rPr>
              <a:t>Kotetsu</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Tree>
    <p:extLst>
      <p:ext uri="{BB962C8B-B14F-4D97-AF65-F5344CB8AC3E}">
        <p14:creationId xmlns:p14="http://schemas.microsoft.com/office/powerpoint/2010/main" val="2154868922"/>
      </p:ext>
    </p:extLst>
  </p:cSld>
  <p:clrMapOvr>
    <a:masterClrMapping/>
  </p:clrMapOvr>
  <p:transition advTm="18857"/>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
        <p:nvSpPr>
          <p:cNvPr id="7" name="文本框 6">
            <a:extLst>
              <a:ext uri="{FF2B5EF4-FFF2-40B4-BE49-F238E27FC236}">
                <a16:creationId xmlns:a16="http://schemas.microsoft.com/office/drawing/2014/main" id="{E694658D-290F-79D1-7B6B-C175025D6364}"/>
              </a:ext>
            </a:extLst>
          </p:cNvPr>
          <p:cNvSpPr txBox="1"/>
          <p:nvPr/>
        </p:nvSpPr>
        <p:spPr>
          <a:xfrm>
            <a:off x="982654" y="1140426"/>
            <a:ext cx="10209229" cy="1422954"/>
          </a:xfrm>
          <a:prstGeom prst="rect">
            <a:avLst/>
          </a:prstGeom>
          <a:noFill/>
        </p:spPr>
        <p:txBody>
          <a:bodyPr wrap="square">
            <a:spAutoFit/>
          </a:bodyPr>
          <a:lstStyle/>
          <a:p>
            <a:pPr indent="457200" algn="just">
              <a:lnSpc>
                <a:spcPct val="150000"/>
              </a:lnSpc>
            </a:pP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加拿大</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McGill</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大学</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1999</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年研制了</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Scout-II</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1.8</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。瑞典皇家工学院</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2000</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年左右研制了</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WARP1</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1.9</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，目的是研究四足移动机器人在复杂环境下的自主行走，实现静态和动态行走。</a:t>
            </a:r>
            <a:endParaRPr lang="zh-CN" altLang="en-US" sz="2000" dirty="0">
              <a:latin typeface="微软雅黑" panose="020B0503020204020204" pitchFamily="34" charset="-122"/>
              <a:ea typeface="微软雅黑" panose="020B0503020204020204" pitchFamily="34" charset="-122"/>
            </a:endParaRPr>
          </a:p>
        </p:txBody>
      </p:sp>
      <p:sp>
        <p:nvSpPr>
          <p:cNvPr id="3" name="Rectangle 4">
            <a:extLst>
              <a:ext uri="{FF2B5EF4-FFF2-40B4-BE49-F238E27FC236}">
                <a16:creationId xmlns:a16="http://schemas.microsoft.com/office/drawing/2014/main" id="{1875876F-8C9D-8EA9-DAF0-805CFC3B3A4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4098" name="图片 23" descr="截图5">
            <a:extLst>
              <a:ext uri="{FF2B5EF4-FFF2-40B4-BE49-F238E27FC236}">
                <a16:creationId xmlns:a16="http://schemas.microsoft.com/office/drawing/2014/main" id="{A67AE49A-9DDB-BA5D-5F8A-A767446CA8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8550" y="2965995"/>
            <a:ext cx="2879365" cy="2096199"/>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22" descr="截图6">
            <a:extLst>
              <a:ext uri="{FF2B5EF4-FFF2-40B4-BE49-F238E27FC236}">
                <a16:creationId xmlns:a16="http://schemas.microsoft.com/office/drawing/2014/main" id="{23239CCC-7699-08F7-31BD-898CA560B7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5190" y="2965995"/>
            <a:ext cx="2647550" cy="209619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E6B2EC83-C480-DC95-C410-7DF815A7671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文本框 9">
            <a:extLst>
              <a:ext uri="{FF2B5EF4-FFF2-40B4-BE49-F238E27FC236}">
                <a16:creationId xmlns:a16="http://schemas.microsoft.com/office/drawing/2014/main" id="{21EFA170-2516-D35A-E44E-A261F52CE3CD}"/>
              </a:ext>
            </a:extLst>
          </p:cNvPr>
          <p:cNvSpPr txBox="1"/>
          <p:nvPr/>
        </p:nvSpPr>
        <p:spPr>
          <a:xfrm>
            <a:off x="2651918" y="5204721"/>
            <a:ext cx="2795997"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1.8  Scout-II</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4" name="文本框 13">
            <a:extLst>
              <a:ext uri="{FF2B5EF4-FFF2-40B4-BE49-F238E27FC236}">
                <a16:creationId xmlns:a16="http://schemas.microsoft.com/office/drawing/2014/main" id="{85AEDE51-875F-5FB8-6E43-E42ACC521202}"/>
              </a:ext>
            </a:extLst>
          </p:cNvPr>
          <p:cNvSpPr txBox="1"/>
          <p:nvPr/>
        </p:nvSpPr>
        <p:spPr>
          <a:xfrm>
            <a:off x="6505190" y="5237851"/>
            <a:ext cx="2795997"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1.9  WARP1</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Tree>
    <p:extLst>
      <p:ext uri="{BB962C8B-B14F-4D97-AF65-F5344CB8AC3E}">
        <p14:creationId xmlns:p14="http://schemas.microsoft.com/office/powerpoint/2010/main" val="1503456718"/>
      </p:ext>
    </p:extLst>
  </p:cSld>
  <p:clrMapOvr>
    <a:masterClrMapping/>
  </p:clrMapOvr>
  <p:transition advTm="18857"/>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0264A7B-C155-8389-0D01-ECABE625D31B}"/>
              </a:ext>
            </a:extLst>
          </p:cNvPr>
          <p:cNvSpPr txBox="1"/>
          <p:nvPr/>
        </p:nvSpPr>
        <p:spPr>
          <a:xfrm>
            <a:off x="1065990" y="1105754"/>
            <a:ext cx="10060020" cy="961289"/>
          </a:xfrm>
          <a:prstGeom prst="rect">
            <a:avLst/>
          </a:prstGeom>
          <a:noFill/>
        </p:spPr>
        <p:txBody>
          <a:bodyPr wrap="square">
            <a:spAutoFit/>
          </a:bodyPr>
          <a:lstStyle/>
          <a:p>
            <a:pPr indent="450000" algn="just">
              <a:lnSpc>
                <a:spcPct val="150000"/>
              </a:lnSpc>
            </a:pPr>
            <a:r>
              <a:rPr lang="zh-CN" altLang="zh-CN" sz="2000" kern="1000" dirty="0">
                <a:effectLst/>
                <a:latin typeface="微软雅黑" panose="020B0503020204020204" pitchFamily="34" charset="-122"/>
                <a:ea typeface="微软雅黑" panose="020B0503020204020204" pitchFamily="34" charset="-122"/>
              </a:rPr>
              <a:t>日本大阪大学</a:t>
            </a:r>
            <a:r>
              <a:rPr lang="en-US" altLang="zh-CN" sz="2000" kern="1000" dirty="0">
                <a:effectLst/>
                <a:latin typeface="微软雅黑" panose="020B0503020204020204" pitchFamily="34" charset="-122"/>
                <a:ea typeface="微软雅黑" panose="020B0503020204020204" pitchFamily="34" charset="-122"/>
              </a:rPr>
              <a:t>2002</a:t>
            </a:r>
            <a:r>
              <a:rPr lang="zh-CN" altLang="zh-CN" sz="2000" kern="1000" dirty="0">
                <a:effectLst/>
                <a:latin typeface="微软雅黑" panose="020B0503020204020204" pitchFamily="34" charset="-122"/>
                <a:ea typeface="微软雅黑" panose="020B0503020204020204" pitchFamily="34" charset="-122"/>
              </a:rPr>
              <a:t>年左右开发了</a:t>
            </a:r>
            <a:r>
              <a:rPr lang="en-US" altLang="zh-CN" sz="2000" kern="1000" dirty="0">
                <a:effectLst/>
                <a:latin typeface="微软雅黑" panose="020B0503020204020204" pitchFamily="34" charset="-122"/>
                <a:ea typeface="微软雅黑" panose="020B0503020204020204" pitchFamily="34" charset="-122"/>
              </a:rPr>
              <a:t>PONY</a:t>
            </a:r>
            <a:r>
              <a:rPr lang="zh-CN" altLang="zh-CN" sz="2000" kern="1000" dirty="0">
                <a:effectLst/>
                <a:latin typeface="微软雅黑" panose="020B0503020204020204" pitchFamily="34" charset="-122"/>
                <a:ea typeface="微软雅黑" panose="020B0503020204020204" pitchFamily="34" charset="-122"/>
              </a:rPr>
              <a:t>仿马四足机器人</a:t>
            </a:r>
            <a:r>
              <a:rPr lang="en-US" altLang="zh-CN" sz="2000" kern="1000" dirty="0">
                <a:effectLst/>
                <a:latin typeface="微软雅黑" panose="020B0503020204020204" pitchFamily="34" charset="-122"/>
                <a:ea typeface="微软雅黑" panose="020B0503020204020204" pitchFamily="34" charset="-122"/>
              </a:rPr>
              <a:t>(</a:t>
            </a:r>
            <a:r>
              <a:rPr lang="zh-CN" altLang="zh-CN" sz="2000" kern="1000" dirty="0">
                <a:effectLst/>
                <a:latin typeface="微软雅黑" panose="020B0503020204020204" pitchFamily="34" charset="-122"/>
                <a:ea typeface="微软雅黑" panose="020B0503020204020204" pitchFamily="34" charset="-122"/>
              </a:rPr>
              <a:t>如图</a:t>
            </a:r>
            <a:r>
              <a:rPr lang="en-US" altLang="zh-CN" sz="2000" kern="1000" dirty="0">
                <a:effectLst/>
                <a:latin typeface="微软雅黑" panose="020B0503020204020204" pitchFamily="34" charset="-122"/>
                <a:ea typeface="微软雅黑" panose="020B0503020204020204" pitchFamily="34" charset="-122"/>
              </a:rPr>
              <a:t>1.10</a:t>
            </a:r>
            <a:r>
              <a:rPr lang="zh-CN" altLang="zh-CN" sz="2000" kern="1000" dirty="0">
                <a:effectLst/>
                <a:latin typeface="微软雅黑" panose="020B0503020204020204" pitchFamily="34" charset="-122"/>
                <a:ea typeface="微软雅黑" panose="020B0503020204020204" pitchFamily="34" charset="-122"/>
              </a:rPr>
              <a:t>所示</a:t>
            </a:r>
            <a:r>
              <a:rPr lang="en-US" altLang="zh-CN" sz="2000" kern="1000" dirty="0">
                <a:effectLst/>
                <a:latin typeface="微软雅黑" panose="020B0503020204020204" pitchFamily="34" charset="-122"/>
                <a:ea typeface="微软雅黑" panose="020B0503020204020204" pitchFamily="34" charset="-122"/>
              </a:rPr>
              <a:t>)</a:t>
            </a:r>
            <a:r>
              <a:rPr lang="zh-CN" altLang="zh-CN" sz="2000" kern="1000" dirty="0">
                <a:effectLst/>
                <a:latin typeface="微软雅黑" panose="020B0503020204020204" pitchFamily="34" charset="-122"/>
                <a:ea typeface="微软雅黑" panose="020B0503020204020204" pitchFamily="34" charset="-122"/>
              </a:rPr>
              <a:t>。美国俄亥俄州立大学和斯坦福大学在</a:t>
            </a:r>
            <a:r>
              <a:rPr lang="en-US" altLang="zh-CN" sz="2000" kern="1000" dirty="0">
                <a:effectLst/>
                <a:latin typeface="微软雅黑" panose="020B0503020204020204" pitchFamily="34" charset="-122"/>
                <a:ea typeface="微软雅黑" panose="020B0503020204020204" pitchFamily="34" charset="-122"/>
              </a:rPr>
              <a:t>2001</a:t>
            </a:r>
            <a:r>
              <a:rPr lang="zh-CN" altLang="zh-CN" sz="2000" kern="1000" dirty="0">
                <a:effectLst/>
                <a:latin typeface="微软雅黑" panose="020B0503020204020204" pitchFamily="34" charset="-122"/>
                <a:ea typeface="微软雅黑" panose="020B0503020204020204" pitchFamily="34" charset="-122"/>
              </a:rPr>
              <a:t>年左右联合研制了</a:t>
            </a:r>
            <a:r>
              <a:rPr lang="en-US" altLang="zh-CN" sz="2000" kern="1000" dirty="0">
                <a:effectLst/>
                <a:latin typeface="微软雅黑" panose="020B0503020204020204" pitchFamily="34" charset="-122"/>
                <a:ea typeface="微软雅黑" panose="020B0503020204020204" pitchFamily="34" charset="-122"/>
              </a:rPr>
              <a:t>KOLT</a:t>
            </a:r>
            <a:r>
              <a:rPr lang="zh-CN" altLang="zh-CN" sz="2000" kern="1000" dirty="0">
                <a:effectLst/>
                <a:latin typeface="微软雅黑" panose="020B0503020204020204" pitchFamily="34" charset="-122"/>
                <a:ea typeface="微软雅黑" panose="020B0503020204020204" pitchFamily="34" charset="-122"/>
              </a:rPr>
              <a:t>四足机器人</a:t>
            </a:r>
            <a:r>
              <a:rPr lang="en-US" altLang="zh-CN" sz="2000" kern="1000" dirty="0">
                <a:effectLst/>
                <a:latin typeface="微软雅黑" panose="020B0503020204020204" pitchFamily="34" charset="-122"/>
                <a:ea typeface="微软雅黑" panose="020B0503020204020204" pitchFamily="34" charset="-122"/>
              </a:rPr>
              <a:t>(</a:t>
            </a:r>
            <a:r>
              <a:rPr lang="zh-CN" altLang="zh-CN" sz="2000" kern="1000" dirty="0">
                <a:effectLst/>
                <a:latin typeface="微软雅黑" panose="020B0503020204020204" pitchFamily="34" charset="-122"/>
                <a:ea typeface="微软雅黑" panose="020B0503020204020204" pitchFamily="34" charset="-122"/>
              </a:rPr>
              <a:t>如图</a:t>
            </a:r>
            <a:r>
              <a:rPr lang="en-US" altLang="zh-CN" sz="2000" kern="1000" dirty="0">
                <a:effectLst/>
                <a:latin typeface="微软雅黑" panose="020B0503020204020204" pitchFamily="34" charset="-122"/>
                <a:ea typeface="微软雅黑" panose="020B0503020204020204" pitchFamily="34" charset="-122"/>
              </a:rPr>
              <a:t>1.11</a:t>
            </a:r>
            <a:r>
              <a:rPr lang="zh-CN" altLang="zh-CN" sz="2000" kern="1000" dirty="0">
                <a:effectLst/>
                <a:latin typeface="微软雅黑" panose="020B0503020204020204" pitchFamily="34" charset="-122"/>
                <a:ea typeface="微软雅黑" panose="020B0503020204020204" pitchFamily="34" charset="-122"/>
              </a:rPr>
              <a:t>所示</a:t>
            </a:r>
            <a:r>
              <a:rPr lang="en-US" altLang="zh-CN" sz="2000" kern="1000" dirty="0">
                <a:effectLst/>
                <a:latin typeface="微软雅黑" panose="020B0503020204020204" pitchFamily="34" charset="-122"/>
                <a:ea typeface="微软雅黑" panose="020B0503020204020204" pitchFamily="34" charset="-122"/>
              </a:rPr>
              <a:t>)</a:t>
            </a:r>
            <a:r>
              <a:rPr lang="zh-CN" altLang="zh-CN" sz="2000" kern="1000" dirty="0">
                <a:effectLst/>
                <a:latin typeface="微软雅黑" panose="020B0503020204020204" pitchFamily="34" charset="-122"/>
                <a:ea typeface="微软雅黑" panose="020B0503020204020204" pitchFamily="34" charset="-122"/>
              </a:rPr>
              <a:t>等。</a:t>
            </a:r>
          </a:p>
        </p:txBody>
      </p:sp>
      <p:pic>
        <p:nvPicPr>
          <p:cNvPr id="5122" name="图片 21" descr="截图33333">
            <a:extLst>
              <a:ext uri="{FF2B5EF4-FFF2-40B4-BE49-F238E27FC236}">
                <a16:creationId xmlns:a16="http://schemas.microsoft.com/office/drawing/2014/main" id="{382A1BDE-B851-ED79-659D-07FEE2DBE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7213" y="2597772"/>
            <a:ext cx="2842217" cy="2193186"/>
          </a:xfrm>
          <a:prstGeom prst="rect">
            <a:avLst/>
          </a:prstGeom>
          <a:noFill/>
          <a:extLst>
            <a:ext uri="{909E8E84-426E-40DD-AFC4-6F175D3DCCD1}">
              <a14:hiddenFill xmlns:a14="http://schemas.microsoft.com/office/drawing/2010/main">
                <a:solidFill>
                  <a:srgbClr val="FFFFFF"/>
                </a:solidFill>
              </a14:hiddenFill>
            </a:ext>
          </a:extLst>
        </p:spPr>
      </p:pic>
      <p:pic>
        <p:nvPicPr>
          <p:cNvPr id="5121" name="图片 20" descr="截图8">
            <a:extLst>
              <a:ext uri="{FF2B5EF4-FFF2-40B4-BE49-F238E27FC236}">
                <a16:creationId xmlns:a16="http://schemas.microsoft.com/office/drawing/2014/main" id="{012B0B9E-5CD3-040B-0569-BB1307DD41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597772"/>
            <a:ext cx="2671602" cy="2193186"/>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FB669DD5-3C3E-9409-07F1-025D4FE19EA9}"/>
              </a:ext>
            </a:extLst>
          </p:cNvPr>
          <p:cNvSpPr txBox="1"/>
          <p:nvPr/>
        </p:nvSpPr>
        <p:spPr>
          <a:xfrm>
            <a:off x="2677213" y="5137021"/>
            <a:ext cx="2842217"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1.10  PONY</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3" name="文本框 12">
            <a:extLst>
              <a:ext uri="{FF2B5EF4-FFF2-40B4-BE49-F238E27FC236}">
                <a16:creationId xmlns:a16="http://schemas.microsoft.com/office/drawing/2014/main" id="{7880104B-1DC6-7F1C-A647-19EC6FA8BD37}"/>
              </a:ext>
            </a:extLst>
          </p:cNvPr>
          <p:cNvSpPr txBox="1"/>
          <p:nvPr/>
        </p:nvSpPr>
        <p:spPr>
          <a:xfrm>
            <a:off x="6294749" y="5137021"/>
            <a:ext cx="2671602"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1.11  KOLT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4" name="Rectangle 2">
            <a:extLst>
              <a:ext uri="{FF2B5EF4-FFF2-40B4-BE49-F238E27FC236}">
                <a16:creationId xmlns:a16="http://schemas.microsoft.com/office/drawing/2014/main" id="{8174779A-DCC2-9E26-E34D-34A5E0BC186B}"/>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Tree>
    <p:extLst>
      <p:ext uri="{BB962C8B-B14F-4D97-AF65-F5344CB8AC3E}">
        <p14:creationId xmlns:p14="http://schemas.microsoft.com/office/powerpoint/2010/main" val="4261759377"/>
      </p:ext>
    </p:extLst>
  </p:cSld>
  <p:clrMapOvr>
    <a:masterClrMapping/>
  </p:clrMapOvr>
  <p:transition advTm="18857"/>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58B1169-7773-7D45-696D-F3A47EA846B2}"/>
              </a:ext>
            </a:extLst>
          </p:cNvPr>
          <p:cNvSpPr txBox="1"/>
          <p:nvPr/>
        </p:nvSpPr>
        <p:spPr>
          <a:xfrm>
            <a:off x="652021" y="1082717"/>
            <a:ext cx="10887958" cy="2346283"/>
          </a:xfrm>
          <a:prstGeom prst="rect">
            <a:avLst/>
          </a:prstGeom>
          <a:noFill/>
        </p:spPr>
        <p:txBody>
          <a:bodyPr wrap="square">
            <a:spAutoFit/>
          </a:bodyPr>
          <a:lstStyle/>
          <a:p>
            <a:pPr indent="450000" algn="just">
              <a:lnSpc>
                <a:spcPct val="150000"/>
              </a:lnSpc>
            </a:pPr>
            <a:r>
              <a:rPr lang="zh-CN" altLang="zh-CN" sz="2000" kern="1000" dirty="0">
                <a:effectLst/>
                <a:latin typeface="微软雅黑" panose="020B0503020204020204" pitchFamily="34" charset="-122"/>
                <a:ea typeface="微软雅黑" panose="020B0503020204020204" pitchFamily="34" charset="-122"/>
              </a:rPr>
              <a:t>美国</a:t>
            </a:r>
            <a:r>
              <a:rPr lang="en-US" altLang="zh-CN" sz="2000" kern="1000" dirty="0">
                <a:effectLst/>
                <a:latin typeface="微软雅黑" panose="020B0503020204020204" pitchFamily="34" charset="-122"/>
                <a:ea typeface="微软雅黑" panose="020B0503020204020204" pitchFamily="34" charset="-122"/>
              </a:rPr>
              <a:t>NASA</a:t>
            </a:r>
            <a:r>
              <a:rPr lang="zh-CN" altLang="zh-CN" sz="2000" kern="1000" dirty="0">
                <a:effectLst/>
                <a:latin typeface="微软雅黑" panose="020B0503020204020204" pitchFamily="34" charset="-122"/>
                <a:ea typeface="微软雅黑" panose="020B0503020204020204" pitchFamily="34" charset="-122"/>
              </a:rPr>
              <a:t>研制的用于航空领域的微型爬行机器人</a:t>
            </a:r>
            <a:r>
              <a:rPr lang="en-US" altLang="zh-CN" sz="2000" kern="1000" dirty="0">
                <a:effectLst/>
                <a:latin typeface="微软雅黑" panose="020B0503020204020204" pitchFamily="34" charset="-122"/>
                <a:ea typeface="微软雅黑" panose="020B0503020204020204" pitchFamily="34" charset="-122"/>
              </a:rPr>
              <a:t>Spider-bot</a:t>
            </a:r>
            <a:r>
              <a:rPr lang="zh-CN" altLang="zh-CN" sz="2000" kern="1000" dirty="0">
                <a:effectLst/>
                <a:latin typeface="微软雅黑" panose="020B0503020204020204" pitchFamily="34" charset="-122"/>
                <a:ea typeface="微软雅黑" panose="020B0503020204020204" pitchFamily="34" charset="-122"/>
              </a:rPr>
              <a:t>如图</a:t>
            </a:r>
            <a:r>
              <a:rPr lang="en-US" altLang="zh-CN" sz="2000" kern="1000" dirty="0">
                <a:effectLst/>
                <a:latin typeface="微软雅黑" panose="020B0503020204020204" pitchFamily="34" charset="-122"/>
                <a:ea typeface="微软雅黑" panose="020B0503020204020204" pitchFamily="34" charset="-122"/>
              </a:rPr>
              <a:t>1.12</a:t>
            </a:r>
            <a:r>
              <a:rPr lang="zh-CN" altLang="zh-CN" sz="2000" kern="1000" dirty="0">
                <a:effectLst/>
                <a:latin typeface="微软雅黑" panose="020B0503020204020204" pitchFamily="34" charset="-122"/>
                <a:ea typeface="微软雅黑" panose="020B0503020204020204" pitchFamily="34" charset="-122"/>
              </a:rPr>
              <a:t>所示，该机器人外形很像蜘蛛，可以在不规则的星球表面爬行。</a:t>
            </a:r>
            <a:r>
              <a:rPr lang="en-US" altLang="zh-CN" sz="2000" kern="1000" dirty="0">
                <a:effectLst/>
                <a:latin typeface="微软雅黑" panose="020B0503020204020204" pitchFamily="34" charset="-122"/>
                <a:ea typeface="微软雅黑" panose="020B0503020204020204" pitchFamily="34" charset="-122"/>
              </a:rPr>
              <a:t>2018</a:t>
            </a:r>
            <a:r>
              <a:rPr lang="zh-CN" altLang="zh-CN" sz="2000" kern="1000" dirty="0">
                <a:effectLst/>
                <a:latin typeface="微软雅黑" panose="020B0503020204020204" pitchFamily="34" charset="-122"/>
                <a:ea typeface="微软雅黑" panose="020B0503020204020204" pitchFamily="34" charset="-122"/>
              </a:rPr>
              <a:t>年，瑞士联邦理工学院发布了新版本的四足机器人</a:t>
            </a:r>
            <a:r>
              <a:rPr lang="en-US" altLang="zh-CN" sz="2000" kern="0" dirty="0" err="1">
                <a:effectLst/>
                <a:latin typeface="微软雅黑" panose="020B0503020204020204" pitchFamily="34" charset="-122"/>
                <a:ea typeface="微软雅黑" panose="020B0503020204020204" pitchFamily="34" charset="-122"/>
              </a:rPr>
              <a:t>ANYmal</a:t>
            </a:r>
            <a:r>
              <a:rPr lang="en-US" altLang="zh-CN" sz="2000" kern="1000" dirty="0">
                <a:effectLst/>
                <a:latin typeface="微软雅黑" panose="020B0503020204020204" pitchFamily="34" charset="-122"/>
                <a:ea typeface="微软雅黑" panose="020B0503020204020204" pitchFamily="34" charset="-122"/>
              </a:rPr>
              <a:t>(</a:t>
            </a:r>
            <a:r>
              <a:rPr lang="zh-CN" altLang="zh-CN" sz="2000" kern="1000" dirty="0">
                <a:effectLst/>
                <a:latin typeface="微软雅黑" panose="020B0503020204020204" pitchFamily="34" charset="-122"/>
                <a:ea typeface="微软雅黑" panose="020B0503020204020204" pitchFamily="34" charset="-122"/>
              </a:rPr>
              <a:t>如图</a:t>
            </a:r>
            <a:r>
              <a:rPr lang="en-US" altLang="zh-CN" sz="2000" kern="1000" dirty="0">
                <a:effectLst/>
                <a:latin typeface="微软雅黑" panose="020B0503020204020204" pitchFamily="34" charset="-122"/>
                <a:ea typeface="微软雅黑" panose="020B0503020204020204" pitchFamily="34" charset="-122"/>
              </a:rPr>
              <a:t>1.13</a:t>
            </a:r>
            <a:r>
              <a:rPr lang="zh-CN" altLang="zh-CN" sz="2000" kern="1000" dirty="0">
                <a:effectLst/>
                <a:latin typeface="微软雅黑" panose="020B0503020204020204" pitchFamily="34" charset="-122"/>
                <a:ea typeface="微软雅黑" panose="020B0503020204020204" pitchFamily="34" charset="-122"/>
              </a:rPr>
              <a:t>所示</a:t>
            </a:r>
            <a:r>
              <a:rPr lang="en-US" altLang="zh-CN" sz="2000" kern="1000" dirty="0">
                <a:effectLst/>
                <a:latin typeface="微软雅黑" panose="020B0503020204020204" pitchFamily="34" charset="-122"/>
                <a:ea typeface="微软雅黑" panose="020B0503020204020204" pitchFamily="34" charset="-122"/>
              </a:rPr>
              <a:t>)</a:t>
            </a:r>
            <a:r>
              <a:rPr lang="zh-CN" altLang="zh-CN" sz="2000" kern="1000" dirty="0">
                <a:effectLst/>
                <a:latin typeface="微软雅黑" panose="020B0503020204020204" pitchFamily="34" charset="-122"/>
                <a:ea typeface="微软雅黑" panose="020B0503020204020204" pitchFamily="34" charset="-122"/>
              </a:rPr>
              <a:t>。该机器人能够适应复杂的环境，具有极高的灵活性和移动性，其特殊的执行机构使其能够动态运行和高速移动攀爬。由于装配了激光传感器和环境相机，该机器人可以感知周围环境，构建局部地图并准确定位，实现高效的路径规划和避障。</a:t>
            </a:r>
          </a:p>
        </p:txBody>
      </p:sp>
      <p:pic>
        <p:nvPicPr>
          <p:cNvPr id="6146" name="图片 19" descr="截图9">
            <a:extLst>
              <a:ext uri="{FF2B5EF4-FFF2-40B4-BE49-F238E27FC236}">
                <a16:creationId xmlns:a16="http://schemas.microsoft.com/office/drawing/2014/main" id="{CDDB79F0-0EB4-0898-15A3-172BEAD59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1859" y="3634195"/>
            <a:ext cx="2828041" cy="2141088"/>
          </a:xfrm>
          <a:prstGeom prst="rect">
            <a:avLst/>
          </a:prstGeom>
          <a:noFill/>
          <a:extLst>
            <a:ext uri="{909E8E84-426E-40DD-AFC4-6F175D3DCCD1}">
              <a14:hiddenFill xmlns:a14="http://schemas.microsoft.com/office/drawing/2010/main">
                <a:solidFill>
                  <a:srgbClr val="FFFFFF"/>
                </a:solidFill>
              </a14:hiddenFill>
            </a:ext>
          </a:extLst>
        </p:spPr>
      </p:pic>
      <p:pic>
        <p:nvPicPr>
          <p:cNvPr id="6145" name="图片 18">
            <a:extLst>
              <a:ext uri="{FF2B5EF4-FFF2-40B4-BE49-F238E27FC236}">
                <a16:creationId xmlns:a16="http://schemas.microsoft.com/office/drawing/2014/main" id="{114EC34F-B2D6-0404-C89E-8B8E92218E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636110"/>
            <a:ext cx="2991439" cy="213674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039AE558-7AA4-BD16-46C3-AE4C5B42667F}"/>
              </a:ext>
            </a:extLst>
          </p:cNvPr>
          <p:cNvSpPr txBox="1"/>
          <p:nvPr/>
        </p:nvSpPr>
        <p:spPr>
          <a:xfrm>
            <a:off x="2146955" y="5979962"/>
            <a:ext cx="3047214" cy="369332"/>
          </a:xfrm>
          <a:prstGeom prst="rect">
            <a:avLst/>
          </a:prstGeom>
          <a:noFill/>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dirty="0">
                <a:effectLst/>
                <a:latin typeface="Times New Roman" panose="02020603050405020304" pitchFamily="18" charset="0"/>
                <a:ea typeface="宋体" panose="02010600030101010101" pitchFamily="2" charset="-122"/>
              </a:rPr>
              <a:t>1.12  Spider-bot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机器人</a:t>
            </a:r>
            <a:endParaRPr lang="zh-CN" altLang="en-US" dirty="0"/>
          </a:p>
        </p:txBody>
      </p:sp>
      <p:sp>
        <p:nvSpPr>
          <p:cNvPr id="12" name="文本框 11">
            <a:extLst>
              <a:ext uri="{FF2B5EF4-FFF2-40B4-BE49-F238E27FC236}">
                <a16:creationId xmlns:a16="http://schemas.microsoft.com/office/drawing/2014/main" id="{C16E3718-AEB9-E070-7C67-4FD14161F8A7}"/>
              </a:ext>
            </a:extLst>
          </p:cNvPr>
          <p:cNvSpPr txBox="1"/>
          <p:nvPr/>
        </p:nvSpPr>
        <p:spPr>
          <a:xfrm>
            <a:off x="6096000" y="5958308"/>
            <a:ext cx="3047214" cy="369332"/>
          </a:xfrm>
          <a:prstGeom prst="rect">
            <a:avLst/>
          </a:prstGeom>
          <a:noFill/>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dirty="0">
                <a:effectLst/>
                <a:latin typeface="Times New Roman" panose="02020603050405020304" pitchFamily="18" charset="0"/>
                <a:ea typeface="宋体" panose="02010600030101010101" pitchFamily="2" charset="-122"/>
              </a:rPr>
              <a:t>1.13  </a:t>
            </a:r>
            <a:r>
              <a:rPr lang="en-US" altLang="zh-CN" sz="1800" dirty="0" err="1">
                <a:effectLst/>
                <a:latin typeface="Times New Roman" panose="02020603050405020304" pitchFamily="18" charset="0"/>
                <a:ea typeface="宋体" panose="02010600030101010101" pitchFamily="2" charset="-122"/>
              </a:rPr>
              <a:t>ANYmal</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机器人</a:t>
            </a:r>
            <a:endParaRPr lang="zh-CN" altLang="en-US" dirty="0"/>
          </a:p>
        </p:txBody>
      </p:sp>
      <p:sp>
        <p:nvSpPr>
          <p:cNvPr id="14" name="Rectangle 2">
            <a:extLst>
              <a:ext uri="{FF2B5EF4-FFF2-40B4-BE49-F238E27FC236}">
                <a16:creationId xmlns:a16="http://schemas.microsoft.com/office/drawing/2014/main" id="{847966F3-EFB3-EA00-BF1B-FDE48FCB2683}"/>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Tree>
    <p:extLst>
      <p:ext uri="{BB962C8B-B14F-4D97-AF65-F5344CB8AC3E}">
        <p14:creationId xmlns:p14="http://schemas.microsoft.com/office/powerpoint/2010/main" val="2576446674"/>
      </p:ext>
    </p:extLst>
  </p:cSld>
  <p:clrMapOvr>
    <a:masterClrMapping/>
  </p:clrMapOvr>
  <p:transition advTm="18857"/>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0264A7B-C155-8389-0D01-ECABE625D31B}"/>
              </a:ext>
            </a:extLst>
          </p:cNvPr>
          <p:cNvSpPr txBox="1"/>
          <p:nvPr/>
        </p:nvSpPr>
        <p:spPr>
          <a:xfrm>
            <a:off x="744718" y="1105754"/>
            <a:ext cx="10765410" cy="2807948"/>
          </a:xfrm>
          <a:prstGeom prst="rect">
            <a:avLst/>
          </a:prstGeom>
          <a:noFill/>
        </p:spPr>
        <p:txBody>
          <a:bodyPr wrap="square">
            <a:spAutoFit/>
          </a:bodyPr>
          <a:lstStyle/>
          <a:p>
            <a:pPr indent="450000" algn="just">
              <a:lnSpc>
                <a:spcPct val="150000"/>
              </a:lnSpc>
            </a:pPr>
            <a:r>
              <a:rPr lang="en-US" altLang="zh-CN" sz="2000" kern="1000" dirty="0">
                <a:effectLst/>
                <a:latin typeface="微软雅黑" panose="020B0503020204020204" pitchFamily="34" charset="-122"/>
                <a:ea typeface="微软雅黑" panose="020B0503020204020204" pitchFamily="34" charset="-122"/>
              </a:rPr>
              <a:t>2016</a:t>
            </a:r>
            <a:r>
              <a:rPr lang="zh-CN" altLang="en-US" sz="2000" kern="1000" dirty="0">
                <a:effectLst/>
                <a:latin typeface="微软雅黑" panose="020B0503020204020204" pitchFamily="34" charset="-122"/>
                <a:ea typeface="微软雅黑" panose="020B0503020204020204" pitchFamily="34" charset="-122"/>
              </a:rPr>
              <a:t>年，美国波士顿动力公司开发了全电驱动的四足机器人</a:t>
            </a:r>
            <a:r>
              <a:rPr lang="en-US" altLang="zh-CN" sz="2000" kern="1000" dirty="0" err="1">
                <a:effectLst/>
                <a:latin typeface="微软雅黑" panose="020B0503020204020204" pitchFamily="34" charset="-122"/>
                <a:ea typeface="微软雅黑" panose="020B0503020204020204" pitchFamily="34" charset="-122"/>
              </a:rPr>
              <a:t>SpotMini</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如图</a:t>
            </a:r>
            <a:r>
              <a:rPr lang="en-US" altLang="zh-CN" sz="2000" kern="1000" dirty="0">
                <a:effectLst/>
                <a:latin typeface="微软雅黑" panose="020B0503020204020204" pitchFamily="34" charset="-122"/>
                <a:ea typeface="微软雅黑" panose="020B0503020204020204" pitchFamily="34" charset="-122"/>
              </a:rPr>
              <a:t>1.14</a:t>
            </a:r>
            <a:r>
              <a:rPr lang="zh-CN" altLang="en-US" sz="2000" kern="1000" dirty="0">
                <a:effectLst/>
                <a:latin typeface="微软雅黑" panose="020B0503020204020204" pitchFamily="34" charset="-122"/>
                <a:ea typeface="微软雅黑" panose="020B0503020204020204" pitchFamily="34" charset="-122"/>
              </a:rPr>
              <a:t>所示</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。该机器人具备优良的移动性，其配备的传感器包括立体摄像头、深度摄像头、惯性传感器</a:t>
            </a:r>
            <a:r>
              <a:rPr lang="en-US" altLang="zh-CN" sz="2000" kern="1000" dirty="0">
                <a:effectLst/>
                <a:latin typeface="微软雅黑" panose="020B0503020204020204" pitchFamily="34" charset="-122"/>
                <a:ea typeface="微软雅黑" panose="020B0503020204020204" pitchFamily="34" charset="-122"/>
              </a:rPr>
              <a:t>(IMU)</a:t>
            </a:r>
            <a:r>
              <a:rPr lang="zh-CN" altLang="en-US" sz="2000" kern="1000" dirty="0">
                <a:effectLst/>
                <a:latin typeface="微软雅黑" panose="020B0503020204020204" pitchFamily="34" charset="-122"/>
                <a:ea typeface="微软雅黑" panose="020B0503020204020204" pitchFamily="34" charset="-122"/>
              </a:rPr>
              <a:t>及位置</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力传感器，可实现环境感知、自主导航、路径规划等功能。该机器人还能够攀爬楼梯，摔倒后可利用机械手自主恢复平衡。</a:t>
            </a:r>
            <a:r>
              <a:rPr lang="en-US" altLang="zh-CN" sz="2000" kern="1000" dirty="0">
                <a:effectLst/>
                <a:latin typeface="微软雅黑" panose="020B0503020204020204" pitchFamily="34" charset="-122"/>
                <a:ea typeface="微软雅黑" panose="020B0503020204020204" pitchFamily="34" charset="-122"/>
              </a:rPr>
              <a:t>2012</a:t>
            </a:r>
            <a:r>
              <a:rPr lang="zh-CN" altLang="en-US" sz="2000" kern="1000" dirty="0">
                <a:effectLst/>
                <a:latin typeface="微软雅黑" panose="020B0503020204020204" pitchFamily="34" charset="-122"/>
                <a:ea typeface="微软雅黑" panose="020B0503020204020204" pitchFamily="34" charset="-122"/>
              </a:rPr>
              <a:t>年，美国麻省理工学院的腿足机器人实验室根据猎豹的身体结构研制出了</a:t>
            </a:r>
            <a:r>
              <a:rPr lang="en-US" altLang="zh-CN" sz="2000" kern="1000" dirty="0">
                <a:effectLst/>
                <a:latin typeface="微软雅黑" panose="020B0503020204020204" pitchFamily="34" charset="-122"/>
                <a:ea typeface="微软雅黑" panose="020B0503020204020204" pitchFamily="34" charset="-122"/>
              </a:rPr>
              <a:t>Cheetah</a:t>
            </a:r>
            <a:r>
              <a:rPr lang="zh-CN" altLang="en-US" sz="2000" kern="1000" dirty="0">
                <a:effectLst/>
                <a:latin typeface="微软雅黑" panose="020B0503020204020204" pitchFamily="34" charset="-122"/>
                <a:ea typeface="微软雅黑" panose="020B0503020204020204" pitchFamily="34" charset="-122"/>
              </a:rPr>
              <a:t>四足机器人</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如图</a:t>
            </a:r>
            <a:r>
              <a:rPr lang="en-US" altLang="zh-CN" sz="2000" kern="1000" dirty="0">
                <a:effectLst/>
                <a:latin typeface="微软雅黑" panose="020B0503020204020204" pitchFamily="34" charset="-122"/>
                <a:ea typeface="微软雅黑" panose="020B0503020204020204" pitchFamily="34" charset="-122"/>
              </a:rPr>
              <a:t>1.15</a:t>
            </a:r>
            <a:r>
              <a:rPr lang="zh-CN" altLang="en-US" sz="2000" kern="1000" dirty="0">
                <a:effectLst/>
                <a:latin typeface="微软雅黑" panose="020B0503020204020204" pitchFamily="34" charset="-122"/>
                <a:ea typeface="微软雅黑" panose="020B0503020204020204" pitchFamily="34" charset="-122"/>
              </a:rPr>
              <a:t>所示</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，它实现四足机器人的“高速奔跑”，奔跑速度高达</a:t>
            </a:r>
            <a:r>
              <a:rPr lang="en-US" altLang="zh-CN" sz="2000" kern="1000" dirty="0">
                <a:effectLst/>
                <a:latin typeface="微软雅黑" panose="020B0503020204020204" pitchFamily="34" charset="-122"/>
                <a:ea typeface="微软雅黑" panose="020B0503020204020204" pitchFamily="34" charset="-122"/>
              </a:rPr>
              <a:t>22km/h</a:t>
            </a:r>
            <a:r>
              <a:rPr lang="zh-CN" altLang="en-US" sz="2000" kern="1000" dirty="0">
                <a:effectLst/>
                <a:latin typeface="微软雅黑" panose="020B0503020204020204" pitchFamily="34" charset="-122"/>
                <a:ea typeface="微软雅黑" panose="020B0503020204020204" pitchFamily="34" charset="-122"/>
              </a:rPr>
              <a:t>。</a:t>
            </a:r>
            <a:endParaRPr lang="zh-CN" altLang="zh-CN" sz="2000" kern="1000" dirty="0">
              <a:effectLst/>
              <a:latin typeface="微软雅黑" panose="020B0503020204020204" pitchFamily="34" charset="-122"/>
              <a:ea typeface="微软雅黑" panose="020B0503020204020204" pitchFamily="34" charset="-122"/>
            </a:endParaRPr>
          </a:p>
        </p:txBody>
      </p:sp>
      <p:sp>
        <p:nvSpPr>
          <p:cNvPr id="14" name="Rectangle 2">
            <a:extLst>
              <a:ext uri="{FF2B5EF4-FFF2-40B4-BE49-F238E27FC236}">
                <a16:creationId xmlns:a16="http://schemas.microsoft.com/office/drawing/2014/main" id="{8174779A-DCC2-9E26-E34D-34A5E0BC186B}"/>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pic>
        <p:nvPicPr>
          <p:cNvPr id="2" name="图片 1">
            <a:extLst>
              <a:ext uri="{FF2B5EF4-FFF2-40B4-BE49-F238E27FC236}">
                <a16:creationId xmlns:a16="http://schemas.microsoft.com/office/drawing/2014/main" id="{2327C0C5-A94B-EDB7-7210-A2DE18D9019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7225" y="3913702"/>
            <a:ext cx="3103760" cy="2158184"/>
          </a:xfrm>
          <a:prstGeom prst="rect">
            <a:avLst/>
          </a:prstGeom>
          <a:noFill/>
          <a:ln>
            <a:noFill/>
          </a:ln>
        </p:spPr>
      </p:pic>
      <p:pic>
        <p:nvPicPr>
          <p:cNvPr id="3" name="图片 2">
            <a:extLst>
              <a:ext uri="{FF2B5EF4-FFF2-40B4-BE49-F238E27FC236}">
                <a16:creationId xmlns:a16="http://schemas.microsoft.com/office/drawing/2014/main" id="{A9B2E6F5-95E6-9AE5-CB2C-444ECC8EC01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913702"/>
            <a:ext cx="3103760" cy="2177706"/>
          </a:xfrm>
          <a:prstGeom prst="rect">
            <a:avLst/>
          </a:prstGeom>
          <a:noFill/>
          <a:ln>
            <a:noFill/>
          </a:ln>
        </p:spPr>
      </p:pic>
      <p:sp>
        <p:nvSpPr>
          <p:cNvPr id="7" name="文本框 6">
            <a:extLst>
              <a:ext uri="{FF2B5EF4-FFF2-40B4-BE49-F238E27FC236}">
                <a16:creationId xmlns:a16="http://schemas.microsoft.com/office/drawing/2014/main" id="{EEA653BA-CEB4-E9A8-FF1D-5721DAE8671B}"/>
              </a:ext>
            </a:extLst>
          </p:cNvPr>
          <p:cNvSpPr txBox="1"/>
          <p:nvPr/>
        </p:nvSpPr>
        <p:spPr>
          <a:xfrm>
            <a:off x="2307225" y="6091408"/>
            <a:ext cx="3103760" cy="369332"/>
          </a:xfrm>
          <a:prstGeom prst="rect">
            <a:avLst/>
          </a:prstGeom>
          <a:noFill/>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dirty="0">
                <a:effectLst/>
                <a:latin typeface="Times New Roman" panose="02020603050405020304" pitchFamily="18" charset="0"/>
                <a:ea typeface="宋体" panose="02010600030101010101" pitchFamily="2" charset="-122"/>
              </a:rPr>
              <a:t>1.14  </a:t>
            </a:r>
            <a:r>
              <a:rPr lang="en-US" altLang="zh-CN" sz="1800" dirty="0" err="1">
                <a:effectLst/>
                <a:latin typeface="Times New Roman" panose="02020603050405020304" pitchFamily="18" charset="0"/>
                <a:ea typeface="宋体" panose="02010600030101010101" pitchFamily="2" charset="-122"/>
              </a:rPr>
              <a:t>SpotMini</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机器人</a:t>
            </a:r>
            <a:r>
              <a:rPr lang="zh-CN" altLang="zh-CN" sz="1800" dirty="0">
                <a:effectLst/>
                <a:ea typeface="Times New Roman" panose="02020603050405020304" pitchFamily="18" charset="0"/>
              </a:rPr>
              <a:t> </a:t>
            </a:r>
            <a:endParaRPr lang="zh-CN" altLang="en-US" dirty="0"/>
          </a:p>
        </p:txBody>
      </p:sp>
      <p:sp>
        <p:nvSpPr>
          <p:cNvPr id="11" name="文本框 10">
            <a:extLst>
              <a:ext uri="{FF2B5EF4-FFF2-40B4-BE49-F238E27FC236}">
                <a16:creationId xmlns:a16="http://schemas.microsoft.com/office/drawing/2014/main" id="{7FBB447C-3E93-D04B-5201-CA3FE92FF769}"/>
              </a:ext>
            </a:extLst>
          </p:cNvPr>
          <p:cNvSpPr txBox="1"/>
          <p:nvPr/>
        </p:nvSpPr>
        <p:spPr>
          <a:xfrm>
            <a:off x="6323030" y="6091408"/>
            <a:ext cx="2876730" cy="369332"/>
          </a:xfrm>
          <a:prstGeom prst="rect">
            <a:avLst/>
          </a:prstGeom>
          <a:noFill/>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dirty="0">
                <a:effectLst/>
                <a:latin typeface="Times New Roman" panose="02020603050405020304" pitchFamily="18" charset="0"/>
                <a:ea typeface="宋体" panose="02010600030101010101" pitchFamily="2" charset="-122"/>
              </a:rPr>
              <a:t>1.15  Cheetah</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机器人</a:t>
            </a:r>
            <a:endParaRPr lang="zh-CN" altLang="en-US" dirty="0"/>
          </a:p>
        </p:txBody>
      </p:sp>
    </p:spTree>
    <p:extLst>
      <p:ext uri="{BB962C8B-B14F-4D97-AF65-F5344CB8AC3E}">
        <p14:creationId xmlns:p14="http://schemas.microsoft.com/office/powerpoint/2010/main" val="3508482690"/>
      </p:ext>
    </p:extLst>
  </p:cSld>
  <p:clrMapOvr>
    <a:masterClrMapping/>
  </p:clrMapOvr>
  <p:transition advTm="18857"/>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58B1169-7773-7D45-696D-F3A47EA846B2}"/>
              </a:ext>
            </a:extLst>
          </p:cNvPr>
          <p:cNvSpPr txBox="1"/>
          <p:nvPr/>
        </p:nvSpPr>
        <p:spPr>
          <a:xfrm>
            <a:off x="652021" y="1082717"/>
            <a:ext cx="10887958" cy="2346283"/>
          </a:xfrm>
          <a:prstGeom prst="rect">
            <a:avLst/>
          </a:prstGeom>
          <a:noFill/>
        </p:spPr>
        <p:txBody>
          <a:bodyPr wrap="square">
            <a:spAutoFit/>
          </a:bodyPr>
          <a:lstStyle/>
          <a:p>
            <a:pPr indent="450000" algn="just">
              <a:lnSpc>
                <a:spcPct val="150000"/>
              </a:lnSpc>
            </a:pPr>
            <a:r>
              <a:rPr lang="zh-CN" altLang="en-US" sz="2000" kern="1000" dirty="0">
                <a:effectLst/>
                <a:latin typeface="微软雅黑" panose="020B0503020204020204" pitchFamily="34" charset="-122"/>
                <a:ea typeface="微软雅黑" panose="020B0503020204020204" pitchFamily="34" charset="-122"/>
              </a:rPr>
              <a:t>在国内，清华大学模仿哺乳动物的运动控制机理研制了</a:t>
            </a:r>
            <a:r>
              <a:rPr lang="en-US" altLang="zh-CN" sz="2000" kern="1000" dirty="0" err="1">
                <a:effectLst/>
                <a:latin typeface="微软雅黑" panose="020B0503020204020204" pitchFamily="34" charset="-122"/>
                <a:ea typeface="微软雅黑" panose="020B0503020204020204" pitchFamily="34" charset="-122"/>
              </a:rPr>
              <a:t>Biosbot</a:t>
            </a:r>
            <a:r>
              <a:rPr lang="zh-CN" altLang="en-US" sz="2000" kern="1000" dirty="0">
                <a:effectLst/>
                <a:latin typeface="微软雅黑" panose="020B0503020204020204" pitchFamily="34" charset="-122"/>
                <a:ea typeface="微软雅黑" panose="020B0503020204020204" pitchFamily="34" charset="-122"/>
              </a:rPr>
              <a:t>四足机器人</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如图</a:t>
            </a:r>
            <a:r>
              <a:rPr lang="en-US" altLang="zh-CN" sz="2000" kern="1000" dirty="0">
                <a:effectLst/>
                <a:latin typeface="微软雅黑" panose="020B0503020204020204" pitchFamily="34" charset="-122"/>
                <a:ea typeface="微软雅黑" panose="020B0503020204020204" pitchFamily="34" charset="-122"/>
              </a:rPr>
              <a:t>1.16</a:t>
            </a:r>
            <a:r>
              <a:rPr lang="zh-CN" altLang="en-US" sz="2000" kern="1000" dirty="0">
                <a:effectLst/>
                <a:latin typeface="微软雅黑" panose="020B0503020204020204" pitchFamily="34" charset="-122"/>
                <a:ea typeface="微软雅黑" panose="020B0503020204020204" pitchFamily="34" charset="-122"/>
              </a:rPr>
              <a:t>所示</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实现了四足机器人的节律运动。它通过对中枢模式发生器、高层中枢神经系统、底层反馈控制网络等生物机理的工程模拟，实现了四足机器人的运动，提高了其在实际环境中的运动性能。上海交通大学研制了四足机器人</a:t>
            </a:r>
            <a:r>
              <a:rPr lang="en-US" altLang="zh-CN" sz="2000" kern="1000" dirty="0">
                <a:effectLst/>
                <a:latin typeface="微软雅黑" panose="020B0503020204020204" pitchFamily="34" charset="-122"/>
                <a:ea typeface="微软雅黑" panose="020B0503020204020204" pitchFamily="34" charset="-122"/>
              </a:rPr>
              <a:t>JTUWM-Ⅲ(</a:t>
            </a:r>
            <a:r>
              <a:rPr lang="zh-CN" altLang="en-US" sz="2000" kern="1000" dirty="0">
                <a:effectLst/>
                <a:latin typeface="微软雅黑" panose="020B0503020204020204" pitchFamily="34" charset="-122"/>
                <a:ea typeface="微软雅黑" panose="020B0503020204020204" pitchFamily="34" charset="-122"/>
              </a:rPr>
              <a:t>如图</a:t>
            </a:r>
            <a:r>
              <a:rPr lang="en-US" altLang="zh-CN" sz="2000" kern="1000" dirty="0">
                <a:effectLst/>
                <a:latin typeface="微软雅黑" panose="020B0503020204020204" pitchFamily="34" charset="-122"/>
                <a:ea typeface="微软雅黑" panose="020B0503020204020204" pitchFamily="34" charset="-122"/>
              </a:rPr>
              <a:t>1.17</a:t>
            </a:r>
            <a:r>
              <a:rPr lang="zh-CN" altLang="en-US" sz="2000" kern="1000" dirty="0">
                <a:effectLst/>
                <a:latin typeface="微软雅黑" panose="020B0503020204020204" pitchFamily="34" charset="-122"/>
                <a:ea typeface="微软雅黑" panose="020B0503020204020204" pitchFamily="34" charset="-122"/>
              </a:rPr>
              <a:t>所示</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，每条腿上有</a:t>
            </a:r>
            <a:r>
              <a:rPr lang="en-US" altLang="zh-CN" sz="2000" kern="1000" dirty="0">
                <a:effectLst/>
                <a:latin typeface="微软雅黑" panose="020B0503020204020204" pitchFamily="34" charset="-122"/>
                <a:ea typeface="微软雅黑" panose="020B0503020204020204" pitchFamily="34" charset="-122"/>
              </a:rPr>
              <a:t>3</a:t>
            </a:r>
            <a:r>
              <a:rPr lang="zh-CN" altLang="en-US" sz="2000" kern="1000" dirty="0">
                <a:effectLst/>
                <a:latin typeface="微软雅黑" panose="020B0503020204020204" pitchFamily="34" charset="-122"/>
                <a:ea typeface="微软雅黑" panose="020B0503020204020204" pitchFamily="34" charset="-122"/>
              </a:rPr>
              <a:t>个主动关节、</a:t>
            </a:r>
            <a:r>
              <a:rPr lang="en-US" altLang="zh-CN" sz="2000" kern="1000" dirty="0">
                <a:effectLst/>
                <a:latin typeface="微软雅黑" panose="020B0503020204020204" pitchFamily="34" charset="-122"/>
                <a:ea typeface="微软雅黑" panose="020B0503020204020204" pitchFamily="34" charset="-122"/>
              </a:rPr>
              <a:t>1</a:t>
            </a:r>
            <a:r>
              <a:rPr lang="zh-CN" altLang="en-US" sz="2000" kern="1000" dirty="0">
                <a:effectLst/>
                <a:latin typeface="微软雅黑" panose="020B0503020204020204" pitchFamily="34" charset="-122"/>
                <a:ea typeface="微软雅黑" panose="020B0503020204020204" pitchFamily="34" charset="-122"/>
              </a:rPr>
              <a:t>个被动关节，主动关节由一个直流伺服电机驱动。</a:t>
            </a:r>
            <a:endParaRPr lang="zh-CN" altLang="zh-CN" sz="2000" kern="1000" dirty="0">
              <a:effectLst/>
              <a:latin typeface="微软雅黑" panose="020B0503020204020204" pitchFamily="34" charset="-122"/>
              <a:ea typeface="微软雅黑" panose="020B0503020204020204" pitchFamily="34" charset="-122"/>
            </a:endParaRPr>
          </a:p>
        </p:txBody>
      </p:sp>
      <p:sp>
        <p:nvSpPr>
          <p:cNvPr id="14" name="Rectangle 2">
            <a:extLst>
              <a:ext uri="{FF2B5EF4-FFF2-40B4-BE49-F238E27FC236}">
                <a16:creationId xmlns:a16="http://schemas.microsoft.com/office/drawing/2014/main" id="{847966F3-EFB3-EA00-BF1B-FDE48FCB2683}"/>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pic>
        <p:nvPicPr>
          <p:cNvPr id="2" name="图片 1" descr="截图10">
            <a:extLst>
              <a:ext uri="{FF2B5EF4-FFF2-40B4-BE49-F238E27FC236}">
                <a16:creationId xmlns:a16="http://schemas.microsoft.com/office/drawing/2014/main" id="{45B9C7BD-4916-2665-E9C4-2F6CD9790CA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1450" y="3579041"/>
            <a:ext cx="3313202" cy="2448338"/>
          </a:xfrm>
          <a:prstGeom prst="rect">
            <a:avLst/>
          </a:prstGeom>
          <a:noFill/>
          <a:ln>
            <a:noFill/>
          </a:ln>
        </p:spPr>
      </p:pic>
      <p:pic>
        <p:nvPicPr>
          <p:cNvPr id="3" name="图片 2" descr="截图12">
            <a:extLst>
              <a:ext uri="{FF2B5EF4-FFF2-40B4-BE49-F238E27FC236}">
                <a16:creationId xmlns:a16="http://schemas.microsoft.com/office/drawing/2014/main" id="{8800AD90-DECF-2E73-B529-7AD61352273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75109" y="3579041"/>
            <a:ext cx="3352394" cy="2448339"/>
          </a:xfrm>
          <a:prstGeom prst="rect">
            <a:avLst/>
          </a:prstGeom>
          <a:noFill/>
          <a:ln>
            <a:noFill/>
          </a:ln>
        </p:spPr>
      </p:pic>
      <p:sp>
        <p:nvSpPr>
          <p:cNvPr id="7" name="文本框 6">
            <a:extLst>
              <a:ext uri="{FF2B5EF4-FFF2-40B4-BE49-F238E27FC236}">
                <a16:creationId xmlns:a16="http://schemas.microsoft.com/office/drawing/2014/main" id="{E5604FDB-5038-E9F9-62D4-D36266FEFA46}"/>
              </a:ext>
            </a:extLst>
          </p:cNvPr>
          <p:cNvSpPr txBox="1"/>
          <p:nvPr/>
        </p:nvSpPr>
        <p:spPr>
          <a:xfrm>
            <a:off x="1828598" y="6177420"/>
            <a:ext cx="3761497"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1.16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清华大学</a:t>
            </a:r>
            <a:r>
              <a:rPr lang="en-US" altLang="zh-CN" sz="1800" kern="1000" dirty="0" err="1">
                <a:effectLst/>
                <a:latin typeface="Times New Roman" panose="02020603050405020304" pitchFamily="18" charset="0"/>
                <a:ea typeface="宋体" panose="02010600030101010101" pitchFamily="2" charset="-122"/>
              </a:rPr>
              <a:t>Biosbot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0" name="文本框 9">
            <a:extLst>
              <a:ext uri="{FF2B5EF4-FFF2-40B4-BE49-F238E27FC236}">
                <a16:creationId xmlns:a16="http://schemas.microsoft.com/office/drawing/2014/main" id="{943745EF-5BC0-B5C1-4FF4-FDB3DB5F3B12}"/>
              </a:ext>
            </a:extLst>
          </p:cNvPr>
          <p:cNvSpPr txBox="1"/>
          <p:nvPr/>
        </p:nvSpPr>
        <p:spPr>
          <a:xfrm>
            <a:off x="5851689" y="6177420"/>
            <a:ext cx="4771861"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1.17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上海交通大学</a:t>
            </a:r>
            <a:r>
              <a:rPr lang="en-US" altLang="zh-CN" sz="1800" kern="1000" dirty="0">
                <a:effectLst/>
                <a:latin typeface="Times New Roman" panose="02020603050405020304" pitchFamily="18" charset="0"/>
                <a:ea typeface="宋体" panose="02010600030101010101" pitchFamily="2" charset="-122"/>
              </a:rPr>
              <a:t>JTUWM-</a:t>
            </a:r>
            <a:r>
              <a:rPr lang="zh-CN" altLang="zh-CN" sz="1800" kern="1000" dirty="0">
                <a:effectLst/>
                <a:ea typeface="宋体" panose="02010600030101010101" pitchFamily="2" charset="-122"/>
                <a:cs typeface="宋体" panose="02010600030101010101" pitchFamily="2" charset="-122"/>
              </a:rPr>
              <a:t>Ⅲ</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Tree>
    <p:extLst>
      <p:ext uri="{BB962C8B-B14F-4D97-AF65-F5344CB8AC3E}">
        <p14:creationId xmlns:p14="http://schemas.microsoft.com/office/powerpoint/2010/main" val="3533504521"/>
      </p:ext>
    </p:extLst>
  </p:cSld>
  <p:clrMapOvr>
    <a:masterClrMapping/>
  </p:clrMapOvr>
  <p:transition advTm="18857"/>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0264A7B-C155-8389-0D01-ECABE625D31B}"/>
              </a:ext>
            </a:extLst>
          </p:cNvPr>
          <p:cNvSpPr txBox="1"/>
          <p:nvPr/>
        </p:nvSpPr>
        <p:spPr>
          <a:xfrm>
            <a:off x="1065990" y="1105754"/>
            <a:ext cx="10060020" cy="1422954"/>
          </a:xfrm>
          <a:prstGeom prst="rect">
            <a:avLst/>
          </a:prstGeom>
          <a:noFill/>
        </p:spPr>
        <p:txBody>
          <a:bodyPr wrap="square">
            <a:spAutoFit/>
          </a:bodyPr>
          <a:lstStyle/>
          <a:p>
            <a:pPr indent="450000" algn="just">
              <a:lnSpc>
                <a:spcPct val="150000"/>
              </a:lnSpc>
            </a:pPr>
            <a:r>
              <a:rPr lang="en-US" altLang="zh-CN" sz="2000" kern="1000" dirty="0">
                <a:effectLst/>
                <a:latin typeface="微软雅黑" panose="020B0503020204020204" pitchFamily="34" charset="-122"/>
                <a:ea typeface="微软雅黑" panose="020B0503020204020204" pitchFamily="34" charset="-122"/>
              </a:rPr>
              <a:t>2001</a:t>
            </a:r>
            <a:r>
              <a:rPr lang="zh-CN" altLang="en-US" sz="2000" kern="1000" dirty="0">
                <a:effectLst/>
                <a:latin typeface="微软雅黑" panose="020B0503020204020204" pitchFamily="34" charset="-122"/>
                <a:ea typeface="微软雅黑" panose="020B0503020204020204" pitchFamily="34" charset="-122"/>
              </a:rPr>
              <a:t>年，华中科技大学开始进行具有腿</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臂融合、可重构的多足步行机器人研究，并且研制了“</a:t>
            </a:r>
            <a:r>
              <a:rPr lang="en-US" altLang="zh-CN" sz="2000" kern="1000" dirty="0">
                <a:effectLst/>
                <a:latin typeface="微软雅黑" panose="020B0503020204020204" pitchFamily="34" charset="-122"/>
                <a:ea typeface="微软雅黑" panose="020B0503020204020204" pitchFamily="34" charset="-122"/>
              </a:rPr>
              <a:t>4+2”</a:t>
            </a:r>
            <a:r>
              <a:rPr lang="zh-CN" altLang="en-US" sz="2000" kern="1000" dirty="0">
                <a:effectLst/>
                <a:latin typeface="微软雅黑" panose="020B0503020204020204" pitchFamily="34" charset="-122"/>
                <a:ea typeface="微软雅黑" panose="020B0503020204020204" pitchFamily="34" charset="-122"/>
              </a:rPr>
              <a:t>多足步行机器人和</a:t>
            </a:r>
            <a:r>
              <a:rPr lang="en-US" altLang="zh-CN" sz="2000" kern="1000" dirty="0" err="1">
                <a:effectLst/>
                <a:latin typeface="微软雅黑" panose="020B0503020204020204" pitchFamily="34" charset="-122"/>
                <a:ea typeface="微软雅黑" panose="020B0503020204020204" pitchFamily="34" charset="-122"/>
              </a:rPr>
              <a:t>MiniQuad</a:t>
            </a:r>
            <a:r>
              <a:rPr lang="zh-CN" altLang="en-US" sz="2000" kern="1000" dirty="0">
                <a:effectLst/>
                <a:latin typeface="微软雅黑" panose="020B0503020204020204" pitchFamily="34" charset="-122"/>
                <a:ea typeface="微软雅黑" panose="020B0503020204020204" pitchFamily="34" charset="-122"/>
              </a:rPr>
              <a:t>多足步行机器人</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如图</a:t>
            </a:r>
            <a:r>
              <a:rPr lang="en-US" altLang="zh-CN" sz="2000" kern="1000" dirty="0">
                <a:effectLst/>
                <a:latin typeface="微软雅黑" panose="020B0503020204020204" pitchFamily="34" charset="-122"/>
                <a:ea typeface="微软雅黑" panose="020B0503020204020204" pitchFamily="34" charset="-122"/>
              </a:rPr>
              <a:t>1.18</a:t>
            </a:r>
            <a:r>
              <a:rPr lang="zh-CN" altLang="en-US" sz="2000" kern="1000" dirty="0">
                <a:effectLst/>
                <a:latin typeface="微软雅黑" panose="020B0503020204020204" pitchFamily="34" charset="-122"/>
                <a:ea typeface="微软雅黑" panose="020B0503020204020204" pitchFamily="34" charset="-122"/>
              </a:rPr>
              <a:t>所示</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a:t>
            </a:r>
            <a:r>
              <a:rPr lang="en-US" altLang="zh-CN" sz="2000" kern="1000" dirty="0">
                <a:effectLst/>
                <a:latin typeface="微软雅黑" panose="020B0503020204020204" pitchFamily="34" charset="-122"/>
                <a:ea typeface="微软雅黑" panose="020B0503020204020204" pitchFamily="34" charset="-122"/>
              </a:rPr>
              <a:t>2007—2008</a:t>
            </a:r>
            <a:r>
              <a:rPr lang="zh-CN" altLang="en-US" sz="2000" kern="1000" dirty="0">
                <a:effectLst/>
                <a:latin typeface="微软雅黑" panose="020B0503020204020204" pitchFamily="34" charset="-122"/>
                <a:ea typeface="微软雅黑" panose="020B0503020204020204" pitchFamily="34" charset="-122"/>
              </a:rPr>
              <a:t>年，西北工业大学报道了其研制的四足机器人</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如图</a:t>
            </a:r>
            <a:r>
              <a:rPr lang="en-US" altLang="zh-CN" sz="2000" kern="1000" dirty="0">
                <a:effectLst/>
                <a:latin typeface="微软雅黑" panose="020B0503020204020204" pitchFamily="34" charset="-122"/>
                <a:ea typeface="微软雅黑" panose="020B0503020204020204" pitchFamily="34" charset="-122"/>
              </a:rPr>
              <a:t>1.19</a:t>
            </a:r>
            <a:r>
              <a:rPr lang="zh-CN" altLang="en-US" sz="2000" kern="1000" dirty="0">
                <a:effectLst/>
                <a:latin typeface="微软雅黑" panose="020B0503020204020204" pitchFamily="34" charset="-122"/>
                <a:ea typeface="微软雅黑" panose="020B0503020204020204" pitchFamily="34" charset="-122"/>
              </a:rPr>
              <a:t>所示</a:t>
            </a:r>
            <a:r>
              <a:rPr lang="en-US" altLang="zh-CN" sz="2000" kern="1000" dirty="0">
                <a:effectLst/>
                <a:latin typeface="微软雅黑" panose="020B0503020204020204" pitchFamily="34" charset="-122"/>
                <a:ea typeface="微软雅黑" panose="020B0503020204020204" pitchFamily="34" charset="-122"/>
              </a:rPr>
              <a:t>)</a:t>
            </a:r>
            <a:r>
              <a:rPr lang="zh-CN" altLang="en-US" sz="2000" kern="1000" dirty="0">
                <a:effectLst/>
                <a:latin typeface="微软雅黑" panose="020B0503020204020204" pitchFamily="34" charset="-122"/>
                <a:ea typeface="微软雅黑" panose="020B0503020204020204" pitchFamily="34" charset="-122"/>
              </a:rPr>
              <a:t>。</a:t>
            </a:r>
            <a:endParaRPr lang="zh-CN" altLang="zh-CN" sz="2000" kern="1000" dirty="0">
              <a:effectLst/>
              <a:latin typeface="微软雅黑" panose="020B0503020204020204" pitchFamily="34" charset="-122"/>
              <a:ea typeface="微软雅黑" panose="020B0503020204020204" pitchFamily="34" charset="-122"/>
            </a:endParaRPr>
          </a:p>
        </p:txBody>
      </p:sp>
      <p:sp>
        <p:nvSpPr>
          <p:cNvPr id="14" name="Rectangle 2">
            <a:extLst>
              <a:ext uri="{FF2B5EF4-FFF2-40B4-BE49-F238E27FC236}">
                <a16:creationId xmlns:a16="http://schemas.microsoft.com/office/drawing/2014/main" id="{8174779A-DCC2-9E26-E34D-34A5E0BC186B}"/>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pic>
        <p:nvPicPr>
          <p:cNvPr id="2" name="图片 1" descr="截图">
            <a:extLst>
              <a:ext uri="{FF2B5EF4-FFF2-40B4-BE49-F238E27FC236}">
                <a16:creationId xmlns:a16="http://schemas.microsoft.com/office/drawing/2014/main" id="{6AE38271-7E52-E780-70A2-AD6BDD0760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43279" y="2742301"/>
            <a:ext cx="2687304" cy="1986178"/>
          </a:xfrm>
          <a:prstGeom prst="rect">
            <a:avLst/>
          </a:prstGeom>
          <a:noFill/>
          <a:ln>
            <a:noFill/>
          </a:ln>
        </p:spPr>
      </p:pic>
      <p:pic>
        <p:nvPicPr>
          <p:cNvPr id="3" name="图片 2" descr="截图14">
            <a:extLst>
              <a:ext uri="{FF2B5EF4-FFF2-40B4-BE49-F238E27FC236}">
                <a16:creationId xmlns:a16="http://schemas.microsoft.com/office/drawing/2014/main" id="{8BDCDF1A-3BFB-5F1C-1047-CCCF6B61378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78373" y="2742301"/>
            <a:ext cx="2942447" cy="2027664"/>
          </a:xfrm>
          <a:prstGeom prst="rect">
            <a:avLst/>
          </a:prstGeom>
          <a:noFill/>
          <a:ln>
            <a:noFill/>
          </a:ln>
        </p:spPr>
      </p:pic>
      <p:sp>
        <p:nvSpPr>
          <p:cNvPr id="7" name="文本框 6">
            <a:extLst>
              <a:ext uri="{FF2B5EF4-FFF2-40B4-BE49-F238E27FC236}">
                <a16:creationId xmlns:a16="http://schemas.microsoft.com/office/drawing/2014/main" id="{68893915-D598-4757-F864-06857D811429}"/>
              </a:ext>
            </a:extLst>
          </p:cNvPr>
          <p:cNvSpPr txBox="1"/>
          <p:nvPr/>
        </p:nvSpPr>
        <p:spPr>
          <a:xfrm>
            <a:off x="2495747" y="4983558"/>
            <a:ext cx="3037787"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1.18  </a:t>
            </a:r>
            <a:r>
              <a:rPr lang="en-US" altLang="zh-CN" sz="1800" kern="1000" dirty="0" err="1">
                <a:effectLst/>
                <a:latin typeface="Times New Roman" panose="02020603050405020304" pitchFamily="18" charset="0"/>
                <a:ea typeface="宋体" panose="02010600030101010101" pitchFamily="2" charset="-122"/>
              </a:rPr>
              <a:t>MiniQuad</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1" name="文本框 10">
            <a:extLst>
              <a:ext uri="{FF2B5EF4-FFF2-40B4-BE49-F238E27FC236}">
                <a16:creationId xmlns:a16="http://schemas.microsoft.com/office/drawing/2014/main" id="{9DD0E2E2-C8D3-5E26-DDBE-6E348D47B6C3}"/>
              </a:ext>
            </a:extLst>
          </p:cNvPr>
          <p:cNvSpPr txBox="1"/>
          <p:nvPr/>
        </p:nvSpPr>
        <p:spPr>
          <a:xfrm>
            <a:off x="5766848" y="4989114"/>
            <a:ext cx="3584542"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1.19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西北工业大学四足机器人</a:t>
            </a:r>
            <a:endParaRPr lang="zh-CN" altLang="en-US" dirty="0"/>
          </a:p>
        </p:txBody>
      </p:sp>
    </p:spTree>
    <p:extLst>
      <p:ext uri="{BB962C8B-B14F-4D97-AF65-F5344CB8AC3E}">
        <p14:creationId xmlns:p14="http://schemas.microsoft.com/office/powerpoint/2010/main" val="622372451"/>
      </p:ext>
    </p:extLst>
  </p:cSld>
  <p:clrMapOvr>
    <a:masterClrMapping/>
  </p:clrMapOvr>
  <p:transition advTm="18857"/>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DF6C6E00-803B-E84E-77D5-BF5897A9D122}"/>
              </a:ext>
            </a:extLst>
          </p:cNvPr>
          <p:cNvSpPr txBox="1"/>
          <p:nvPr/>
        </p:nvSpPr>
        <p:spPr>
          <a:xfrm>
            <a:off x="906544" y="1134368"/>
            <a:ext cx="10378911" cy="961289"/>
          </a:xfrm>
          <a:prstGeom prst="rect">
            <a:avLst/>
          </a:prstGeom>
          <a:noFill/>
        </p:spPr>
        <p:txBody>
          <a:bodyPr wrap="square">
            <a:spAutoFit/>
          </a:bodyPr>
          <a:lstStyle/>
          <a:p>
            <a:pPr indent="457200" algn="just">
              <a:lnSpc>
                <a:spcPct val="150000"/>
              </a:lnSpc>
            </a:pP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中国科学技术大学报道了所研制的</a:t>
            </a:r>
            <a:r>
              <a:rPr lang="en-US" altLang="zh-CN" sz="2000" kern="1000" dirty="0">
                <a:effectLst/>
                <a:latin typeface="微软雅黑" panose="020B0503020204020204" pitchFamily="34" charset="-122"/>
                <a:ea typeface="微软雅黑" panose="020B0503020204020204" pitchFamily="34" charset="-122"/>
              </a:rPr>
              <a:t>TIM1</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仿哺乳动物四足机器人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rPr>
              <a:t>1.20</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。中国科学院自动化研究所研制了较大型的电动四足机器人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rPr>
              <a:t>1.21</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，并实现了室外运行实验。</a:t>
            </a:r>
            <a:endParaRPr lang="zh-CN" altLang="en-US" sz="2000" dirty="0">
              <a:latin typeface="微软雅黑" panose="020B0503020204020204" pitchFamily="34" charset="-122"/>
              <a:ea typeface="微软雅黑" panose="020B0503020204020204" pitchFamily="34" charset="-122"/>
            </a:endParaRPr>
          </a:p>
        </p:txBody>
      </p:sp>
      <p:pic>
        <p:nvPicPr>
          <p:cNvPr id="9" name="图片 8" descr="截图15">
            <a:extLst>
              <a:ext uri="{FF2B5EF4-FFF2-40B4-BE49-F238E27FC236}">
                <a16:creationId xmlns:a16="http://schemas.microsoft.com/office/drawing/2014/main" id="{D89384EC-B5F3-8704-C7B2-F44F09A142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28287" y="2706619"/>
            <a:ext cx="2803864" cy="1990862"/>
          </a:xfrm>
          <a:prstGeom prst="rect">
            <a:avLst/>
          </a:prstGeom>
          <a:noFill/>
          <a:ln>
            <a:noFill/>
          </a:ln>
        </p:spPr>
      </p:pic>
      <p:pic>
        <p:nvPicPr>
          <p:cNvPr id="10" name="图片 9" descr="截图16">
            <a:extLst>
              <a:ext uri="{FF2B5EF4-FFF2-40B4-BE49-F238E27FC236}">
                <a16:creationId xmlns:a16="http://schemas.microsoft.com/office/drawing/2014/main" id="{E4AF6086-7733-7799-E6F0-0C5E6EBF77D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15712" y="2706619"/>
            <a:ext cx="3048001" cy="1990862"/>
          </a:xfrm>
          <a:prstGeom prst="rect">
            <a:avLst/>
          </a:prstGeom>
          <a:noFill/>
          <a:ln>
            <a:noFill/>
          </a:ln>
        </p:spPr>
      </p:pic>
      <p:sp>
        <p:nvSpPr>
          <p:cNvPr id="13" name="文本框 12">
            <a:extLst>
              <a:ext uri="{FF2B5EF4-FFF2-40B4-BE49-F238E27FC236}">
                <a16:creationId xmlns:a16="http://schemas.microsoft.com/office/drawing/2014/main" id="{05B5D223-AAB6-7625-7A1E-629CBF1FE27B}"/>
              </a:ext>
            </a:extLst>
          </p:cNvPr>
          <p:cNvSpPr txBox="1"/>
          <p:nvPr/>
        </p:nvSpPr>
        <p:spPr>
          <a:xfrm>
            <a:off x="2728287" y="4939111"/>
            <a:ext cx="2803864"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1.20  TIMI</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6" name="文本框 15">
            <a:extLst>
              <a:ext uri="{FF2B5EF4-FFF2-40B4-BE49-F238E27FC236}">
                <a16:creationId xmlns:a16="http://schemas.microsoft.com/office/drawing/2014/main" id="{E72BEED2-B86D-80BC-6158-020A59927704}"/>
              </a:ext>
            </a:extLst>
          </p:cNvPr>
          <p:cNvSpPr txBox="1"/>
          <p:nvPr/>
        </p:nvSpPr>
        <p:spPr>
          <a:xfrm>
            <a:off x="5898823" y="4939111"/>
            <a:ext cx="4206711" cy="369332"/>
          </a:xfrm>
          <a:prstGeom prst="rect">
            <a:avLst/>
          </a:prstGeom>
          <a:noFill/>
        </p:spPr>
        <p:txBody>
          <a:bodyPr wrap="square">
            <a:spAutoFit/>
          </a:bodyPr>
          <a:lstStyle/>
          <a:p>
            <a:r>
              <a:rPr lang="zh-CN" altLang="zh-CN" sz="1800" kern="1000" dirty="0">
                <a:effectLst/>
                <a:ea typeface="Times New Roman" panose="02020603050405020304" pitchFamily="18" charset="0"/>
              </a:rPr>
              <a:t>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1.21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中科院自动化研究所四足机器人</a:t>
            </a:r>
            <a:endParaRPr lang="zh-CN" altLang="en-US" dirty="0"/>
          </a:p>
        </p:txBody>
      </p:sp>
      <p:sp>
        <p:nvSpPr>
          <p:cNvPr id="17" name="Rectangle 2">
            <a:extLst>
              <a:ext uri="{FF2B5EF4-FFF2-40B4-BE49-F238E27FC236}">
                <a16:creationId xmlns:a16="http://schemas.microsoft.com/office/drawing/2014/main" id="{6A26CF0F-053C-CD16-C4AB-F324E757539C}"/>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Tree>
    <p:extLst>
      <p:ext uri="{BB962C8B-B14F-4D97-AF65-F5344CB8AC3E}">
        <p14:creationId xmlns:p14="http://schemas.microsoft.com/office/powerpoint/2010/main" val="3824676700"/>
      </p:ext>
    </p:extLst>
  </p:cSld>
  <p:clrMapOvr>
    <a:masterClrMapping/>
  </p:clrMapOvr>
  <p:transition advTm="18857"/>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5D33823-C0D8-FA6D-96BF-1BDD95DB533C}"/>
              </a:ext>
            </a:extLst>
          </p:cNvPr>
          <p:cNvSpPr txBox="1"/>
          <p:nvPr/>
        </p:nvSpPr>
        <p:spPr>
          <a:xfrm>
            <a:off x="906544" y="1134368"/>
            <a:ext cx="10378911" cy="1884618"/>
          </a:xfrm>
          <a:prstGeom prst="rect">
            <a:avLst/>
          </a:prstGeom>
          <a:noFill/>
        </p:spPr>
        <p:txBody>
          <a:bodyPr wrap="square">
            <a:spAutoFit/>
          </a:bodyPr>
          <a:lstStyle/>
          <a:p>
            <a:pPr indent="457200" algn="just">
              <a:lnSpc>
                <a:spcPct val="150000"/>
              </a:lnSpc>
            </a:pP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2016</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年，浙江大学研发了 “赤兔”四足机器人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1.22</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。该机器人每条腿有</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自由度，采用全电机驱动。它能够爬坡爬楼梯，并具有一定的越障能力。</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2017</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年，浙江大学又发布了“绝影”四足机器人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1.23</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。该机器人具有奔跑和跳跃等功能，能够攀爬楼梯和斜坡，通过碎石路等不平整地形，在受到外部扰动时保持姿态平衡。</a:t>
            </a:r>
            <a:endParaRPr lang="zh-CN" altLang="en-US" sz="20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E93DAF36-89BC-C018-F5F0-FD5359F61A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66714" y="3231036"/>
            <a:ext cx="2672711" cy="1955691"/>
          </a:xfrm>
          <a:prstGeom prst="rect">
            <a:avLst/>
          </a:prstGeom>
          <a:noFill/>
          <a:ln>
            <a:noFill/>
          </a:ln>
        </p:spPr>
      </p:pic>
      <p:pic>
        <p:nvPicPr>
          <p:cNvPr id="4" name="图片 3">
            <a:extLst>
              <a:ext uri="{FF2B5EF4-FFF2-40B4-BE49-F238E27FC236}">
                <a16:creationId xmlns:a16="http://schemas.microsoft.com/office/drawing/2014/main" id="{F71C06A5-52A1-9D6E-CAD8-0E6EDEB5F09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31086" y="3231037"/>
            <a:ext cx="2496477" cy="1928501"/>
          </a:xfrm>
          <a:prstGeom prst="rect">
            <a:avLst/>
          </a:prstGeom>
          <a:noFill/>
          <a:ln>
            <a:noFill/>
          </a:ln>
        </p:spPr>
      </p:pic>
      <p:sp>
        <p:nvSpPr>
          <p:cNvPr id="7" name="文本框 6">
            <a:extLst>
              <a:ext uri="{FF2B5EF4-FFF2-40B4-BE49-F238E27FC236}">
                <a16:creationId xmlns:a16="http://schemas.microsoft.com/office/drawing/2014/main" id="{953AAF6D-00CE-97D2-84C1-24DC09B5D920}"/>
              </a:ext>
            </a:extLst>
          </p:cNvPr>
          <p:cNvSpPr txBox="1"/>
          <p:nvPr/>
        </p:nvSpPr>
        <p:spPr>
          <a:xfrm>
            <a:off x="2495746" y="5354300"/>
            <a:ext cx="3084922"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1.22 </a:t>
            </a:r>
            <a:r>
              <a:rPr lang="zh-CN" altLang="zh-CN" sz="1800" kern="1000" dirty="0">
                <a:effectLst/>
                <a:ea typeface="宋体" panose="02010600030101010101" pitchFamily="2" charset="-122"/>
                <a:cs typeface="Times New Roman" panose="02020603050405020304" pitchFamily="18" charset="0"/>
              </a:rPr>
              <a: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赤兔</a:t>
            </a:r>
            <a:r>
              <a:rPr lang="zh-CN" altLang="zh-CN" sz="1800" kern="1000" dirty="0">
                <a:effectLst/>
                <a:ea typeface="宋体" panose="02010600030101010101" pitchFamily="2" charset="-122"/>
                <a:cs typeface="Times New Roman" panose="02020603050405020304" pitchFamily="18" charset="0"/>
              </a:rPr>
              <a: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0" name="文本框 9">
            <a:extLst>
              <a:ext uri="{FF2B5EF4-FFF2-40B4-BE49-F238E27FC236}">
                <a16:creationId xmlns:a16="http://schemas.microsoft.com/office/drawing/2014/main" id="{67057465-5786-8894-B206-C62B52D7B407}"/>
              </a:ext>
            </a:extLst>
          </p:cNvPr>
          <p:cNvSpPr txBox="1"/>
          <p:nvPr/>
        </p:nvSpPr>
        <p:spPr>
          <a:xfrm>
            <a:off x="5719714" y="5386572"/>
            <a:ext cx="3084922"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1.23 </a:t>
            </a:r>
            <a:r>
              <a:rPr lang="zh-CN" altLang="zh-CN" sz="1800" kern="1000" dirty="0">
                <a:effectLst/>
                <a:ea typeface="宋体" panose="02010600030101010101" pitchFamily="2" charset="-122"/>
                <a:cs typeface="Times New Roman" panose="02020603050405020304" pitchFamily="18" charset="0"/>
              </a:rPr>
              <a: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绝影</a:t>
            </a:r>
            <a:r>
              <a:rPr lang="zh-CN" altLang="zh-CN" sz="1800" kern="1000" dirty="0">
                <a:effectLst/>
                <a:ea typeface="宋体" panose="02010600030101010101" pitchFamily="2" charset="-122"/>
                <a:cs typeface="Times New Roman" panose="02020603050405020304" pitchFamily="18" charset="0"/>
              </a:rPr>
              <a:t>”</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1" name="Rectangle 2">
            <a:extLst>
              <a:ext uri="{FF2B5EF4-FFF2-40B4-BE49-F238E27FC236}">
                <a16:creationId xmlns:a16="http://schemas.microsoft.com/office/drawing/2014/main" id="{F5C8878D-D6B2-0F70-55AE-A19958553809}"/>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Tree>
    <p:extLst>
      <p:ext uri="{BB962C8B-B14F-4D97-AF65-F5344CB8AC3E}">
        <p14:creationId xmlns:p14="http://schemas.microsoft.com/office/powerpoint/2010/main" val="4271847805"/>
      </p:ext>
    </p:extLst>
  </p:cSld>
  <p:clrMapOvr>
    <a:masterClrMapping/>
  </p:clrMapOvr>
  <p:transition advTm="18857"/>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p:nvPr/>
        </p:nvSpPr>
        <p:spPr>
          <a:xfrm>
            <a:off x="1524000" y="-214312"/>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76" name="Rectangle 4"/>
          <p:cNvSpPr/>
          <p:nvPr/>
        </p:nvSpPr>
        <p:spPr>
          <a:xfrm>
            <a:off x="1524000" y="-214312"/>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77" name="Rectangle 5"/>
          <p:cNvSpPr/>
          <p:nvPr/>
        </p:nvSpPr>
        <p:spPr>
          <a:xfrm>
            <a:off x="1524000" y="-214312"/>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78" name="Rectangle 6"/>
          <p:cNvSpPr/>
          <p:nvPr/>
        </p:nvSpPr>
        <p:spPr>
          <a:xfrm>
            <a:off x="1524000" y="-214312"/>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79" name="Rectangle 7"/>
          <p:cNvSpPr/>
          <p:nvPr/>
        </p:nvSpPr>
        <p:spPr>
          <a:xfrm>
            <a:off x="1524000" y="-214312"/>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80" name="Rectangle 8"/>
          <p:cNvSpPr/>
          <p:nvPr/>
        </p:nvSpPr>
        <p:spPr>
          <a:xfrm>
            <a:off x="1524000" y="-214312"/>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81" name="Rectangle 9"/>
          <p:cNvSpPr/>
          <p:nvPr/>
        </p:nvSpPr>
        <p:spPr>
          <a:xfrm>
            <a:off x="1524000" y="-214312"/>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84" name="Rectangle 12"/>
          <p:cNvSpPr/>
          <p:nvPr/>
        </p:nvSpPr>
        <p:spPr>
          <a:xfrm>
            <a:off x="1524000" y="2081213"/>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85" name="Rectangle 14"/>
          <p:cNvSpPr/>
          <p:nvPr/>
        </p:nvSpPr>
        <p:spPr>
          <a:xfrm>
            <a:off x="1524000" y="3095625"/>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86" name="Rectangle 16"/>
          <p:cNvSpPr/>
          <p:nvPr/>
        </p:nvSpPr>
        <p:spPr>
          <a:xfrm>
            <a:off x="1524000" y="3124200"/>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87" name="Rectangle 20"/>
          <p:cNvSpPr/>
          <p:nvPr/>
        </p:nvSpPr>
        <p:spPr>
          <a:xfrm>
            <a:off x="1524000" y="2833688"/>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88" name="Rectangle 22"/>
          <p:cNvSpPr/>
          <p:nvPr/>
        </p:nvSpPr>
        <p:spPr>
          <a:xfrm>
            <a:off x="1524000" y="3000375"/>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89" name="Rectangle 24"/>
          <p:cNvSpPr/>
          <p:nvPr/>
        </p:nvSpPr>
        <p:spPr>
          <a:xfrm>
            <a:off x="1524000" y="3000375"/>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90" name="Rectangle 26"/>
          <p:cNvSpPr/>
          <p:nvPr/>
        </p:nvSpPr>
        <p:spPr>
          <a:xfrm>
            <a:off x="1524000" y="2971800"/>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91" name="Rectangle 30"/>
          <p:cNvSpPr/>
          <p:nvPr/>
        </p:nvSpPr>
        <p:spPr>
          <a:xfrm>
            <a:off x="1524000" y="3009900"/>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92" name="Rectangle 34"/>
          <p:cNvSpPr/>
          <p:nvPr/>
        </p:nvSpPr>
        <p:spPr>
          <a:xfrm>
            <a:off x="1524000" y="3048000"/>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94" name="Rectangle 36"/>
          <p:cNvSpPr/>
          <p:nvPr/>
        </p:nvSpPr>
        <p:spPr>
          <a:xfrm>
            <a:off x="1524000" y="2386013"/>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96" name="Rectangle 38"/>
          <p:cNvSpPr/>
          <p:nvPr/>
        </p:nvSpPr>
        <p:spPr>
          <a:xfrm>
            <a:off x="1524000" y="2809875"/>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098" name="Rectangle 40"/>
          <p:cNvSpPr/>
          <p:nvPr/>
        </p:nvSpPr>
        <p:spPr>
          <a:xfrm>
            <a:off x="1524000" y="2819400"/>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100" name="Rectangle 42"/>
          <p:cNvSpPr/>
          <p:nvPr/>
        </p:nvSpPr>
        <p:spPr>
          <a:xfrm>
            <a:off x="1524000" y="2819400"/>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102" name="Rectangle 44"/>
          <p:cNvSpPr/>
          <p:nvPr/>
        </p:nvSpPr>
        <p:spPr>
          <a:xfrm>
            <a:off x="1524000" y="3048000"/>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3104" name="Rectangle 46"/>
          <p:cNvSpPr/>
          <p:nvPr/>
        </p:nvSpPr>
        <p:spPr>
          <a:xfrm>
            <a:off x="1524000" y="3048000"/>
            <a:ext cx="309563" cy="428625"/>
          </a:xfrm>
          <a:prstGeom prst="rect">
            <a:avLst/>
          </a:prstGeom>
          <a:noFill/>
          <a:ln w="9525">
            <a:noFill/>
          </a:ln>
        </p:spPr>
        <p:txBody>
          <a:bodyPr wrap="none" anchor="ctr" anchorCtr="0">
            <a:spAutoFit/>
          </a:bodyPr>
          <a:lstStyle/>
          <a:p>
            <a:endParaRPr lang="zh-CN" altLang="en-US" sz="2200" dirty="0">
              <a:latin typeface="Times New Roman" panose="02020603050405020304" pitchFamily="18" charset="0"/>
              <a:ea typeface="微软雅黑" panose="020B0503020204020204" pitchFamily="34" charset="-122"/>
            </a:endParaRPr>
          </a:p>
        </p:txBody>
      </p:sp>
      <p:sp>
        <p:nvSpPr>
          <p:cNvPr id="2" name="文本框 1">
            <a:extLst>
              <a:ext uri="{FF2B5EF4-FFF2-40B4-BE49-F238E27FC236}">
                <a16:creationId xmlns:a16="http://schemas.microsoft.com/office/drawing/2014/main" id="{19230FC5-202F-36DC-6C1E-DB7D6DAC0F34}"/>
              </a:ext>
            </a:extLst>
          </p:cNvPr>
          <p:cNvSpPr txBox="1"/>
          <p:nvPr/>
        </p:nvSpPr>
        <p:spPr>
          <a:xfrm>
            <a:off x="906544" y="1134368"/>
            <a:ext cx="10378911" cy="1422954"/>
          </a:xfrm>
          <a:prstGeom prst="rect">
            <a:avLst/>
          </a:prstGeom>
          <a:noFill/>
        </p:spPr>
        <p:txBody>
          <a:bodyPr wrap="square">
            <a:spAutoFit/>
          </a:bodyPr>
          <a:lstStyle/>
          <a:p>
            <a:pPr indent="457200" algn="just">
              <a:lnSpc>
                <a:spcPct val="150000"/>
              </a:lnSpc>
            </a:pP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基于浙大大学的研究基础，杭州云深处科技公司随后推出了“绝影”系列四足机器人分别为“绝影</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Mini”</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、“绝影</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Mini Lite”</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和“绝影</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X20”</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，该系列拥有大量外扩平台，支持丰富的传感设备模块化组合搭载，可以胜任多场景的任务，如图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1.24</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endParaRPr lang="zh-CN" altLang="en-US" sz="2000" dirty="0">
              <a:latin typeface="微软雅黑" panose="020B0503020204020204" pitchFamily="34" charset="-122"/>
              <a:ea typeface="微软雅黑" panose="020B0503020204020204" pitchFamily="34" charset="-122"/>
            </a:endParaRPr>
          </a:p>
        </p:txBody>
      </p:sp>
      <p:sp>
        <p:nvSpPr>
          <p:cNvPr id="4" name="Rectangle 2">
            <a:extLst>
              <a:ext uri="{FF2B5EF4-FFF2-40B4-BE49-F238E27FC236}">
                <a16:creationId xmlns:a16="http://schemas.microsoft.com/office/drawing/2014/main" id="{EA527491-50F9-D6A5-74EA-FF353288353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0C1BF9F4-387E-436E-05D7-4416205B6841}"/>
              </a:ext>
            </a:extLst>
          </p:cNvPr>
          <p:cNvGraphicFramePr>
            <a:graphicFrameLocks noChangeAspect="1"/>
          </p:cNvGraphicFramePr>
          <p:nvPr>
            <p:extLst>
              <p:ext uri="{D42A27DB-BD31-4B8C-83A1-F6EECF244321}">
                <p14:modId xmlns:p14="http://schemas.microsoft.com/office/powerpoint/2010/main" val="3256072299"/>
              </p:ext>
            </p:extLst>
          </p:nvPr>
        </p:nvGraphicFramePr>
        <p:xfrm>
          <a:off x="2860273" y="2833688"/>
          <a:ext cx="6471451" cy="2369957"/>
        </p:xfrm>
        <a:graphic>
          <a:graphicData uri="http://schemas.openxmlformats.org/presentationml/2006/ole">
            <mc:AlternateContent xmlns:mc="http://schemas.openxmlformats.org/markup-compatibility/2006">
              <mc:Choice xmlns:v="urn:schemas-microsoft-com:vml" Requires="v">
                <p:oleObj name="Visio" r:id="rId3" imgW="7117009" imgH="2613431" progId="Visio.Drawing.15">
                  <p:embed/>
                </p:oleObj>
              </mc:Choice>
              <mc:Fallback>
                <p:oleObj name="Visio" r:id="rId3" imgW="7117009" imgH="2613431"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0273" y="2833688"/>
                        <a:ext cx="6471451" cy="2369957"/>
                      </a:xfrm>
                      <a:prstGeom prst="rect">
                        <a:avLst/>
                      </a:prstGeom>
                      <a:noFill/>
                    </p:spPr>
                  </p:pic>
                </p:oleObj>
              </mc:Fallback>
            </mc:AlternateContent>
          </a:graphicData>
        </a:graphic>
      </p:graphicFrame>
      <p:sp>
        <p:nvSpPr>
          <p:cNvPr id="8" name="文本框 7">
            <a:extLst>
              <a:ext uri="{FF2B5EF4-FFF2-40B4-BE49-F238E27FC236}">
                <a16:creationId xmlns:a16="http://schemas.microsoft.com/office/drawing/2014/main" id="{3DA4B0AA-A5B2-899C-481E-E172831354F3}"/>
              </a:ext>
            </a:extLst>
          </p:cNvPr>
          <p:cNvSpPr txBox="1"/>
          <p:nvPr/>
        </p:nvSpPr>
        <p:spPr>
          <a:xfrm>
            <a:off x="3034644" y="5331252"/>
            <a:ext cx="6122708" cy="297517"/>
          </a:xfrm>
          <a:prstGeom prst="rect">
            <a:avLst/>
          </a:prstGeom>
          <a:noFill/>
        </p:spPr>
        <p:txBody>
          <a:bodyPr wrap="square">
            <a:spAutoFit/>
          </a:bodyPr>
          <a:lstStyle/>
          <a:p>
            <a:pPr indent="269875" algn="ctr">
              <a:lnSpc>
                <a:spcPts val="1595"/>
              </a:lnSpc>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1.24</a:t>
            </a:r>
            <a:r>
              <a:rPr lang="zh-CN" altLang="zh-CN" sz="1800" kern="1000" dirty="0">
                <a:effectLst/>
                <a:latin typeface="Times New Roman" panose="02020603050405020304" pitchFamily="18" charset="0"/>
                <a:ea typeface="宋体" panose="02010600030101010101" pitchFamily="2" charset="-122"/>
              </a:rPr>
              <a:t>云深处绝影系列四足机器人</a:t>
            </a:r>
            <a:endParaRPr lang="zh-CN" altLang="zh-CN" sz="2400" kern="1000" dirty="0">
              <a:effectLst/>
              <a:latin typeface="Times New Roman" panose="02020603050405020304" pitchFamily="18" charset="0"/>
              <a:ea typeface="宋体" panose="02010600030101010101" pitchFamily="2" charset="-122"/>
            </a:endParaRPr>
          </a:p>
        </p:txBody>
      </p:sp>
      <p:sp>
        <p:nvSpPr>
          <p:cNvPr id="12" name="Rectangle 2">
            <a:extLst>
              <a:ext uri="{FF2B5EF4-FFF2-40B4-BE49-F238E27FC236}">
                <a16:creationId xmlns:a16="http://schemas.microsoft.com/office/drawing/2014/main" id="{E45FA2DD-AF49-B751-D91B-7A81F6E38317}"/>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DF6C6E00-803B-E84E-77D5-BF5897A9D122}"/>
              </a:ext>
            </a:extLst>
          </p:cNvPr>
          <p:cNvSpPr txBox="1"/>
          <p:nvPr/>
        </p:nvSpPr>
        <p:spPr>
          <a:xfrm>
            <a:off x="906544" y="1134368"/>
            <a:ext cx="10378911" cy="2346283"/>
          </a:xfrm>
          <a:prstGeom prst="rect">
            <a:avLst/>
          </a:prstGeom>
          <a:noFill/>
        </p:spPr>
        <p:txBody>
          <a:bodyPr wrap="square">
            <a:spAutoFit/>
          </a:bodyPr>
          <a:lstStyle/>
          <a:p>
            <a:pPr indent="457200" algn="just">
              <a:lnSpc>
                <a:spcPct val="150000"/>
              </a:lnSpc>
            </a:pP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2016</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年，上海大学王兴兴研发出四足机器人</a:t>
            </a:r>
            <a:r>
              <a:rPr lang="en-US" altLang="zh-CN" sz="2000" kern="1000" dirty="0" err="1">
                <a:effectLst/>
                <a:latin typeface="微软雅黑" panose="020B0503020204020204" pitchFamily="34" charset="-122"/>
                <a:ea typeface="微软雅黑" panose="020B0503020204020204" pitchFamily="34" charset="-122"/>
                <a:cs typeface="Times New Roman" panose="02020603050405020304" pitchFamily="18" charset="0"/>
              </a:rPr>
              <a:t>XDog</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1.25</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0" dirty="0" err="1">
                <a:effectLst/>
                <a:latin typeface="微软雅黑" panose="020B0503020204020204" pitchFamily="34" charset="-122"/>
                <a:ea typeface="微软雅黑" panose="020B0503020204020204" pitchFamily="34" charset="-122"/>
                <a:cs typeface="Times New Roman" panose="02020603050405020304" pitchFamily="18" charset="0"/>
              </a:rPr>
              <a:t>XDog</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由电机驱动，十分小巧，能够在斜坡上保持平衡，在行走过程中动态保持平衡，并能穿越</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4cm</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高的障碍物，爬上约</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15</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度的斜坡。后来，王兴兴成立宇树科技， </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2017</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年发布了全新重构的四足机器人</a:t>
            </a:r>
            <a:r>
              <a:rPr lang="en-US" altLang="zh-CN" sz="2000" kern="1000" dirty="0" err="1">
                <a:effectLst/>
                <a:latin typeface="微软雅黑" panose="020B0503020204020204" pitchFamily="34" charset="-122"/>
                <a:ea typeface="微软雅黑" panose="020B0503020204020204" pitchFamily="34" charset="-122"/>
                <a:cs typeface="Times New Roman" panose="02020603050405020304" pitchFamily="18" charset="0"/>
              </a:rPr>
              <a:t>Laikago</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1.26</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，向人们展示了优异的动态性能，它能在上下</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度的微坡、不平整的碎石路面上自适应行走，能够承受一定范围内的外部冲击力。</a:t>
            </a:r>
            <a:endParaRPr lang="zh-CN" altLang="en-US" sz="2000"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418B1AE2-1753-8C71-9DD6-F69BAA6213F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6598" y="3615061"/>
            <a:ext cx="2279925" cy="1914655"/>
          </a:xfrm>
          <a:prstGeom prst="rect">
            <a:avLst/>
          </a:prstGeom>
          <a:noFill/>
          <a:ln>
            <a:noFill/>
          </a:ln>
        </p:spPr>
      </p:pic>
      <p:pic>
        <p:nvPicPr>
          <p:cNvPr id="3" name="图片 2">
            <a:extLst>
              <a:ext uri="{FF2B5EF4-FFF2-40B4-BE49-F238E27FC236}">
                <a16:creationId xmlns:a16="http://schemas.microsoft.com/office/drawing/2014/main" id="{5AE5F943-B3A6-A2B9-7067-28E07363656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63667" y="3615061"/>
            <a:ext cx="2279925" cy="1958809"/>
          </a:xfrm>
          <a:prstGeom prst="rect">
            <a:avLst/>
          </a:prstGeom>
          <a:noFill/>
          <a:ln>
            <a:noFill/>
          </a:ln>
        </p:spPr>
      </p:pic>
      <p:sp>
        <p:nvSpPr>
          <p:cNvPr id="6" name="文本框 5">
            <a:extLst>
              <a:ext uri="{FF2B5EF4-FFF2-40B4-BE49-F238E27FC236}">
                <a16:creationId xmlns:a16="http://schemas.microsoft.com/office/drawing/2014/main" id="{3D725406-B5EA-5507-C1BD-0614CCBA0140}"/>
              </a:ext>
            </a:extLst>
          </p:cNvPr>
          <p:cNvSpPr txBox="1"/>
          <p:nvPr/>
        </p:nvSpPr>
        <p:spPr>
          <a:xfrm>
            <a:off x="2373199" y="5697001"/>
            <a:ext cx="2717275"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1.25  </a:t>
            </a:r>
            <a:r>
              <a:rPr lang="en-US" altLang="zh-CN" sz="1800" kern="1000" dirty="0" err="1">
                <a:effectLst/>
                <a:latin typeface="Times New Roman" panose="02020603050405020304" pitchFamily="18" charset="0"/>
                <a:ea typeface="宋体" panose="02010600030101010101" pitchFamily="2" charset="-122"/>
              </a:rPr>
              <a:t>XDog</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2" name="文本框 11">
            <a:extLst>
              <a:ext uri="{FF2B5EF4-FFF2-40B4-BE49-F238E27FC236}">
                <a16:creationId xmlns:a16="http://schemas.microsoft.com/office/drawing/2014/main" id="{5FB41ECB-8EDA-216C-9624-53FEB7B7CF5F}"/>
              </a:ext>
            </a:extLst>
          </p:cNvPr>
          <p:cNvSpPr txBox="1"/>
          <p:nvPr/>
        </p:nvSpPr>
        <p:spPr>
          <a:xfrm>
            <a:off x="6096000" y="5697001"/>
            <a:ext cx="3863417"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1.26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宇树科技</a:t>
            </a:r>
            <a:r>
              <a:rPr lang="en-US" altLang="zh-CN" sz="1800" kern="1000" dirty="0" err="1">
                <a:effectLst/>
                <a:latin typeface="Times New Roman" panose="02020603050405020304" pitchFamily="18" charset="0"/>
                <a:ea typeface="宋体" panose="02010600030101010101" pitchFamily="2" charset="-122"/>
              </a:rPr>
              <a:t>Laikago</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4" name="Rectangle 2">
            <a:extLst>
              <a:ext uri="{FF2B5EF4-FFF2-40B4-BE49-F238E27FC236}">
                <a16:creationId xmlns:a16="http://schemas.microsoft.com/office/drawing/2014/main" id="{74202EBD-0FE9-81D7-0DDB-8026FE04596F}"/>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Tree>
    <p:extLst>
      <p:ext uri="{BB962C8B-B14F-4D97-AF65-F5344CB8AC3E}">
        <p14:creationId xmlns:p14="http://schemas.microsoft.com/office/powerpoint/2010/main" val="3158593432"/>
      </p:ext>
    </p:extLst>
  </p:cSld>
  <p:clrMapOvr>
    <a:masterClrMapping/>
  </p:clrMapOvr>
  <p:transition advTm="18857"/>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3255291B-400F-650D-192F-3AD6D76B19B7}"/>
              </a:ext>
            </a:extLst>
          </p:cNvPr>
          <p:cNvSpPr txBox="1"/>
          <p:nvPr/>
        </p:nvSpPr>
        <p:spPr>
          <a:xfrm>
            <a:off x="906544" y="1134368"/>
            <a:ext cx="10378911" cy="1884618"/>
          </a:xfrm>
          <a:prstGeom prst="rect">
            <a:avLst/>
          </a:prstGeom>
          <a:noFill/>
        </p:spPr>
        <p:txBody>
          <a:bodyPr wrap="square">
            <a:spAutoFit/>
          </a:bodyPr>
          <a:lstStyle/>
          <a:p>
            <a:pPr indent="457200" algn="just">
              <a:lnSpc>
                <a:spcPct val="150000"/>
              </a:lnSpc>
            </a:pP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2019</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年，宇树科技推出了</a:t>
            </a:r>
            <a:r>
              <a:rPr lang="en-US" altLang="zh-CN" sz="2000" kern="1000" dirty="0" err="1">
                <a:effectLst/>
                <a:latin typeface="微软雅黑" panose="020B0503020204020204" pitchFamily="34" charset="-122"/>
                <a:ea typeface="微软雅黑" panose="020B0503020204020204" pitchFamily="34" charset="-122"/>
                <a:cs typeface="Times New Roman" panose="02020603050405020304" pitchFamily="18" charset="0"/>
              </a:rPr>
              <a:t>Aliengo</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1.27</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2020</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年宇树科技推出四足机器人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A1(</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1.28</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，该机器人运用了高级动态平衡算法，在撞击、跌落等紧急情况下能迅速找回平衡；能够基于视觉主动避障，支持跟随目标</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人或动物</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的在线学习，跟随鲁棒性良好。</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2021</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月，宇树科技又推出了“伴随仿生机器人”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Go1</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CCB2A49F-F397-7B56-9857-BBC56FD80AE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7416" y="3326421"/>
            <a:ext cx="2277021" cy="1828472"/>
          </a:xfrm>
          <a:prstGeom prst="rect">
            <a:avLst/>
          </a:prstGeom>
          <a:noFill/>
          <a:ln>
            <a:noFill/>
          </a:ln>
        </p:spPr>
      </p:pic>
      <p:pic>
        <p:nvPicPr>
          <p:cNvPr id="9" name="图片 8">
            <a:extLst>
              <a:ext uri="{FF2B5EF4-FFF2-40B4-BE49-F238E27FC236}">
                <a16:creationId xmlns:a16="http://schemas.microsoft.com/office/drawing/2014/main" id="{7E31872C-BDE3-EC3E-9049-C8929EE1B66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83960" y="3326420"/>
            <a:ext cx="2431760" cy="1823575"/>
          </a:xfrm>
          <a:prstGeom prst="rect">
            <a:avLst/>
          </a:prstGeom>
          <a:noFill/>
          <a:ln>
            <a:noFill/>
          </a:ln>
        </p:spPr>
      </p:pic>
      <p:sp>
        <p:nvSpPr>
          <p:cNvPr id="12" name="文本框 11">
            <a:extLst>
              <a:ext uri="{FF2B5EF4-FFF2-40B4-BE49-F238E27FC236}">
                <a16:creationId xmlns:a16="http://schemas.microsoft.com/office/drawing/2014/main" id="{E9C27895-A390-1398-0403-A713B066BC5B}"/>
              </a:ext>
            </a:extLst>
          </p:cNvPr>
          <p:cNvSpPr txBox="1"/>
          <p:nvPr/>
        </p:nvSpPr>
        <p:spPr>
          <a:xfrm>
            <a:off x="2014979" y="5272763"/>
            <a:ext cx="3886200"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1.27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宇树科技</a:t>
            </a:r>
            <a:r>
              <a:rPr lang="en-US" altLang="zh-CN" sz="1800" kern="1000" dirty="0" err="1">
                <a:effectLst/>
                <a:latin typeface="Times New Roman" panose="02020603050405020304" pitchFamily="18" charset="0"/>
                <a:ea typeface="宋体" panose="02010600030101010101" pitchFamily="2" charset="-122"/>
              </a:rPr>
              <a:t>Aliengo</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5" name="文本框 14">
            <a:extLst>
              <a:ext uri="{FF2B5EF4-FFF2-40B4-BE49-F238E27FC236}">
                <a16:creationId xmlns:a16="http://schemas.microsoft.com/office/drawing/2014/main" id="{C5D33629-0354-4193-B39E-274F86747150}"/>
              </a:ext>
            </a:extLst>
          </p:cNvPr>
          <p:cNvSpPr txBox="1"/>
          <p:nvPr/>
        </p:nvSpPr>
        <p:spPr>
          <a:xfrm>
            <a:off x="6309676" y="5272763"/>
            <a:ext cx="3409359"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1.28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宇树科技</a:t>
            </a:r>
            <a:r>
              <a:rPr lang="en-US" altLang="zh-CN" sz="1800" kern="1000" dirty="0">
                <a:effectLst/>
                <a:latin typeface="Times New Roman" panose="02020603050405020304" pitchFamily="18" charset="0"/>
                <a:ea typeface="宋体" panose="02010600030101010101" pitchFamily="2" charset="-122"/>
              </a:rPr>
              <a:t>A1</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四足机器人</a:t>
            </a:r>
            <a:endParaRPr lang="zh-CN" altLang="en-US" dirty="0"/>
          </a:p>
        </p:txBody>
      </p:sp>
      <p:sp>
        <p:nvSpPr>
          <p:cNvPr id="16" name="Rectangle 2">
            <a:extLst>
              <a:ext uri="{FF2B5EF4-FFF2-40B4-BE49-F238E27FC236}">
                <a16:creationId xmlns:a16="http://schemas.microsoft.com/office/drawing/2014/main" id="{9C23FF78-9E8C-33EC-E0F1-2B9BD0FDFB5E}"/>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F238610-EC16-DB23-CE6D-29A7F3C4762D}"/>
              </a:ext>
            </a:extLst>
          </p:cNvPr>
          <p:cNvSpPr txBox="1"/>
          <p:nvPr/>
        </p:nvSpPr>
        <p:spPr>
          <a:xfrm>
            <a:off x="906544" y="1134368"/>
            <a:ext cx="10378911" cy="2346283"/>
          </a:xfrm>
          <a:prstGeom prst="rect">
            <a:avLst/>
          </a:prstGeom>
          <a:noFill/>
        </p:spPr>
        <p:txBody>
          <a:bodyPr wrap="square">
            <a:spAutoFit/>
          </a:bodyPr>
          <a:lstStyle/>
          <a:p>
            <a:pPr indent="457200" algn="just">
              <a:lnSpc>
                <a:spcPct val="150000"/>
              </a:lnSpc>
            </a:pP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2016</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年，山东优宝特智能机器人公司推出了一款使用舵机驱动的小型四足机器人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e-DOG</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，主要面向科研和教育行业。</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2019</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年，推出了使用高功率密度无刷直流电机驱动的中型四足机器人</a:t>
            </a:r>
            <a:r>
              <a:rPr lang="en-US" altLang="zh-CN" sz="2000" kern="1000" dirty="0" err="1">
                <a:effectLst/>
                <a:latin typeface="微软雅黑" panose="020B0503020204020204" pitchFamily="34" charset="-122"/>
                <a:ea typeface="微软雅黑" panose="020B0503020204020204" pitchFamily="34" charset="-122"/>
                <a:cs typeface="Times New Roman" panose="02020603050405020304" pitchFamily="18" charset="0"/>
              </a:rPr>
              <a:t>YoBoGo</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。该机器人二次开发性较好，可适用于农业、物流、教育和科研等领域应用。</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2021</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年，推出了大型版本，进一步提高机器人的负载能力和复杂环境的适应性，如图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1.29</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a:t>
            </a:r>
          </a:p>
        </p:txBody>
      </p:sp>
      <p:graphicFrame>
        <p:nvGraphicFramePr>
          <p:cNvPr id="9" name="对象 8">
            <a:extLst>
              <a:ext uri="{FF2B5EF4-FFF2-40B4-BE49-F238E27FC236}">
                <a16:creationId xmlns:a16="http://schemas.microsoft.com/office/drawing/2014/main" id="{697FECFD-B330-C6C2-B010-A5535266DBF9}"/>
              </a:ext>
            </a:extLst>
          </p:cNvPr>
          <p:cNvGraphicFramePr>
            <a:graphicFrameLocks noChangeAspect="1"/>
          </p:cNvGraphicFramePr>
          <p:nvPr>
            <p:extLst>
              <p:ext uri="{D42A27DB-BD31-4B8C-83A1-F6EECF244321}">
                <p14:modId xmlns:p14="http://schemas.microsoft.com/office/powerpoint/2010/main" val="1571606016"/>
              </p:ext>
            </p:extLst>
          </p:nvPr>
        </p:nvGraphicFramePr>
        <p:xfrm>
          <a:off x="2674855" y="3666963"/>
          <a:ext cx="6842289" cy="2157683"/>
        </p:xfrm>
        <a:graphic>
          <a:graphicData uri="http://schemas.openxmlformats.org/presentationml/2006/ole">
            <mc:AlternateContent xmlns:mc="http://schemas.openxmlformats.org/markup-compatibility/2006">
              <mc:Choice xmlns:v="urn:schemas-microsoft-com:vml" Requires="v">
                <p:oleObj name="Visio" r:id="rId3" imgW="7840874" imgH="2468880" progId="Visio.Drawing.15">
                  <p:embed/>
                </p:oleObj>
              </mc:Choice>
              <mc:Fallback>
                <p:oleObj name="Visio" r:id="rId3" imgW="7840874" imgH="2468880"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4855" y="3666963"/>
                        <a:ext cx="6842289" cy="2157683"/>
                      </a:xfrm>
                      <a:prstGeom prst="rect">
                        <a:avLst/>
                      </a:prstGeom>
                      <a:noFill/>
                    </p:spPr>
                  </p:pic>
                </p:oleObj>
              </mc:Fallback>
            </mc:AlternateContent>
          </a:graphicData>
        </a:graphic>
      </p:graphicFrame>
      <p:sp>
        <p:nvSpPr>
          <p:cNvPr id="12" name="文本框 11">
            <a:extLst>
              <a:ext uri="{FF2B5EF4-FFF2-40B4-BE49-F238E27FC236}">
                <a16:creationId xmlns:a16="http://schemas.microsoft.com/office/drawing/2014/main" id="{63B6E8F4-DBDA-4E02-BD0A-79AC14E72A82}"/>
              </a:ext>
            </a:extLst>
          </p:cNvPr>
          <p:cNvSpPr txBox="1"/>
          <p:nvPr/>
        </p:nvSpPr>
        <p:spPr>
          <a:xfrm>
            <a:off x="2938807" y="6010958"/>
            <a:ext cx="6122708" cy="278281"/>
          </a:xfrm>
          <a:prstGeom prst="rect">
            <a:avLst/>
          </a:prstGeom>
          <a:noFill/>
        </p:spPr>
        <p:txBody>
          <a:bodyPr wrap="square">
            <a:spAutoFit/>
          </a:bodyPr>
          <a:lstStyle/>
          <a:p>
            <a:pPr indent="269875" algn="ctr">
              <a:lnSpc>
                <a:spcPts val="1400"/>
              </a:lnSpc>
              <a:spcAft>
                <a:spcPts val="6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1.29 </a:t>
            </a:r>
            <a:r>
              <a:rPr lang="zh-CN" altLang="zh-CN" sz="1800" kern="1000" dirty="0">
                <a:effectLst/>
                <a:latin typeface="Times New Roman" panose="02020603050405020304" pitchFamily="18" charset="0"/>
                <a:ea typeface="宋体" panose="02010600030101010101" pitchFamily="2" charset="-122"/>
              </a:rPr>
              <a:t>优宝特四足机器人</a:t>
            </a:r>
            <a:endParaRPr lang="zh-CN" altLang="zh-CN" sz="2400" kern="1000" dirty="0">
              <a:effectLst/>
              <a:latin typeface="Times New Roman" panose="02020603050405020304" pitchFamily="18" charset="0"/>
              <a:ea typeface="宋体" panose="02010600030101010101" pitchFamily="2" charset="-122"/>
            </a:endParaRPr>
          </a:p>
        </p:txBody>
      </p:sp>
      <p:sp>
        <p:nvSpPr>
          <p:cNvPr id="13" name="Rectangle 2">
            <a:extLst>
              <a:ext uri="{FF2B5EF4-FFF2-40B4-BE49-F238E27FC236}">
                <a16:creationId xmlns:a16="http://schemas.microsoft.com/office/drawing/2014/main" id="{E643CB4B-51EF-FD20-FB6A-66237C5D6A48}"/>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1BD0113A-B03D-03C7-AC2F-FCFAAE242349}"/>
              </a:ext>
            </a:extLst>
          </p:cNvPr>
          <p:cNvSpPr txBox="1"/>
          <p:nvPr/>
        </p:nvSpPr>
        <p:spPr>
          <a:xfrm>
            <a:off x="906544" y="1134368"/>
            <a:ext cx="10378911" cy="3269613"/>
          </a:xfrm>
          <a:prstGeom prst="rect">
            <a:avLst/>
          </a:prstGeom>
          <a:noFill/>
        </p:spPr>
        <p:txBody>
          <a:bodyPr wrap="square">
            <a:spAutoFit/>
          </a:bodyPr>
          <a:lstStyle/>
          <a:p>
            <a:pPr indent="457200" algn="just">
              <a:lnSpc>
                <a:spcPct val="150000"/>
              </a:lnSpc>
            </a:pP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齐鲁工业大学数学与统计学院机器人</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环境智能交互创新团队参与研制的智能感知、避障跟随四足机器人如图</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1.30</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所示。该四足机器人搭载两部深度相机及一台十六线</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3D</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激光雷达组成环境感知的硬件系统，使用超宽带（</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Ultra Wide Band</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rPr>
              <a:t>UWB</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）模块作为定位系统。可实现环境地形感知和障碍物躲避，也可以完成对人员的跟随和物资搬运任务。</a:t>
            </a:r>
            <a:endParaRPr lang="en-US" altLang="zh-CN" sz="2000"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山东优宝特推出的</a:t>
            </a:r>
            <a:r>
              <a:rPr lang="en-US" altLang="zh-CN" sz="2000" kern="1000" dirty="0" err="1">
                <a:effectLst/>
                <a:latin typeface="微软雅黑" panose="020B0503020204020204" pitchFamily="34" charset="-122"/>
                <a:ea typeface="微软雅黑" panose="020B0503020204020204" pitchFamily="34" charset="-122"/>
                <a:cs typeface="Times New Roman" panose="02020603050405020304" pitchFamily="18" charset="0"/>
              </a:rPr>
              <a:t>YoboGo</a:t>
            </a:r>
            <a:r>
              <a:rPr lang="zh-CN" altLang="en-US" sz="2000" kern="1000" dirty="0">
                <a:effectLst/>
                <a:latin typeface="微软雅黑" panose="020B0503020204020204" pitchFamily="34" charset="-122"/>
                <a:ea typeface="微软雅黑" panose="020B0503020204020204" pitchFamily="34" charset="-122"/>
                <a:cs typeface="Times New Roman" panose="02020603050405020304" pitchFamily="18" charset="0"/>
              </a:rPr>
              <a:t>四足仿生机器人面向高校师生，全面开源软硬件，本书的实践开发部分配套该机器人编写，该机器人为高校师生在四足仿生机器人方面的研究、开发提供完全开放的平台及全面的技术支持。</a:t>
            </a:r>
          </a:p>
        </p:txBody>
      </p:sp>
      <p:pic>
        <p:nvPicPr>
          <p:cNvPr id="13" name="图片 12">
            <a:extLst>
              <a:ext uri="{FF2B5EF4-FFF2-40B4-BE49-F238E27FC236}">
                <a16:creationId xmlns:a16="http://schemas.microsoft.com/office/drawing/2014/main" id="{E1B0C59C-DCAB-6020-3B16-FAF0D3C66517}"/>
              </a:ext>
            </a:extLst>
          </p:cNvPr>
          <p:cNvPicPr>
            <a:picLocks noChangeAspect="1"/>
          </p:cNvPicPr>
          <p:nvPr/>
        </p:nvPicPr>
        <p:blipFill>
          <a:blip r:embed="rId3" cstate="print">
            <a:extLst>
              <a:ext uri="{28A0092B-C50C-407E-A947-70E740481C1C}">
                <a14:useLocalDpi xmlns:a14="http://schemas.microsoft.com/office/drawing/2010/main" val="0"/>
              </a:ext>
            </a:extLst>
          </a:blip>
          <a:srcRect t="8865" b="9851"/>
          <a:stretch>
            <a:fillRect/>
          </a:stretch>
        </p:blipFill>
        <p:spPr bwMode="auto">
          <a:xfrm>
            <a:off x="5492742" y="4403981"/>
            <a:ext cx="1916725" cy="1783409"/>
          </a:xfrm>
          <a:prstGeom prst="rect">
            <a:avLst/>
          </a:prstGeom>
          <a:noFill/>
          <a:ln>
            <a:noFill/>
          </a:ln>
        </p:spPr>
      </p:pic>
      <p:sp>
        <p:nvSpPr>
          <p:cNvPr id="24" name="文本框 23">
            <a:extLst>
              <a:ext uri="{FF2B5EF4-FFF2-40B4-BE49-F238E27FC236}">
                <a16:creationId xmlns:a16="http://schemas.microsoft.com/office/drawing/2014/main" id="{A2955897-A098-F659-07AA-3CA3EE743A43}"/>
              </a:ext>
            </a:extLst>
          </p:cNvPr>
          <p:cNvSpPr txBox="1"/>
          <p:nvPr/>
        </p:nvSpPr>
        <p:spPr>
          <a:xfrm>
            <a:off x="4564929" y="6256278"/>
            <a:ext cx="6122708" cy="369332"/>
          </a:xfrm>
          <a:prstGeom prst="rect">
            <a:avLst/>
          </a:prstGeom>
          <a:noFill/>
        </p:spPr>
        <p:txBody>
          <a:bodyPr wrap="square">
            <a:spAutoFit/>
          </a:bodyPr>
          <a:lstStyle/>
          <a:p>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0" dirty="0">
                <a:effectLst/>
                <a:latin typeface="Times New Roman" panose="02020603050405020304" pitchFamily="18" charset="0"/>
                <a:ea typeface="宋体" panose="02010600030101010101" pitchFamily="2" charset="-122"/>
              </a:rPr>
              <a:t>1.30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智能感知避障跟随四足机器人</a:t>
            </a:r>
            <a:endParaRPr lang="zh-CN" altLang="en-US" dirty="0"/>
          </a:p>
        </p:txBody>
      </p:sp>
      <p:sp>
        <p:nvSpPr>
          <p:cNvPr id="25" name="Rectangle 2">
            <a:extLst>
              <a:ext uri="{FF2B5EF4-FFF2-40B4-BE49-F238E27FC236}">
                <a16:creationId xmlns:a16="http://schemas.microsoft.com/office/drawing/2014/main" id="{DB8B890E-0987-4C74-CF5B-468E07DBF413}"/>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1.1  </a:t>
            </a:r>
            <a:r>
              <a:rPr lang="zh-CN" altLang="en-US" sz="2800" b="1" dirty="0">
                <a:latin typeface="Times New Roman" pitchFamily="18" charset="0"/>
                <a:ea typeface="华文中宋" pitchFamily="2" charset="-122"/>
              </a:rPr>
              <a:t>四足机器人的发展现状</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412F6A2D-24EE-FF46-955C-EE3588F92543}"/>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  </a:t>
            </a:r>
            <a:r>
              <a:rPr lang="zh-CN" altLang="en-US" sz="2800" b="1" dirty="0">
                <a:latin typeface="Times New Roman" pitchFamily="18" charset="0"/>
                <a:ea typeface="华文中宋" pitchFamily="2" charset="-122"/>
              </a:rPr>
              <a:t>四足机器人的发展趋势</a:t>
            </a:r>
          </a:p>
        </p:txBody>
      </p:sp>
      <p:sp>
        <p:nvSpPr>
          <p:cNvPr id="12" name="文本框 11">
            <a:extLst>
              <a:ext uri="{FF2B5EF4-FFF2-40B4-BE49-F238E27FC236}">
                <a16:creationId xmlns:a16="http://schemas.microsoft.com/office/drawing/2014/main" id="{A0EF8ADF-AD9A-5A91-0B7E-A3A9F8BF6835}"/>
              </a:ext>
            </a:extLst>
          </p:cNvPr>
          <p:cNvSpPr txBox="1"/>
          <p:nvPr/>
        </p:nvSpPr>
        <p:spPr>
          <a:xfrm>
            <a:off x="741575" y="1067795"/>
            <a:ext cx="10708850" cy="2807948"/>
          </a:xfrm>
          <a:prstGeom prst="rect">
            <a:avLst/>
          </a:prstGeom>
          <a:noFill/>
        </p:spPr>
        <p:txBody>
          <a:bodyPr wrap="square">
            <a:spAutoFit/>
          </a:bodyPr>
          <a:lstStyle/>
          <a:p>
            <a:pPr indent="450000" algn="just">
              <a:lnSpc>
                <a:spcPct val="150000"/>
              </a:lnSpc>
            </a:pPr>
            <a:r>
              <a:rPr lang="zh-CN" altLang="zh-CN" sz="2000" kern="1000" dirty="0">
                <a:effectLst/>
                <a:latin typeface="微软雅黑" panose="020B0503020204020204" pitchFamily="34" charset="-122"/>
                <a:ea typeface="微软雅黑" panose="020B0503020204020204" pitchFamily="34" charset="-122"/>
              </a:rPr>
              <a:t>在四足机器人的发展过程中，驱动方式对机器人的影响较大。早期的机器人较多采用液压驱动技术，如美国通用公司于</a:t>
            </a:r>
            <a:r>
              <a:rPr lang="en-US" altLang="zh-CN" sz="2000" kern="1000" dirty="0">
                <a:effectLst/>
                <a:latin typeface="微软雅黑" panose="020B0503020204020204" pitchFamily="34" charset="-122"/>
                <a:ea typeface="微软雅黑" panose="020B0503020204020204" pitchFamily="34" charset="-122"/>
              </a:rPr>
              <a:t>1968</a:t>
            </a:r>
            <a:r>
              <a:rPr lang="zh-CN" altLang="zh-CN" sz="2000" kern="1000" dirty="0">
                <a:effectLst/>
                <a:latin typeface="微软雅黑" panose="020B0503020204020204" pitchFamily="34" charset="-122"/>
                <a:ea typeface="微软雅黑" panose="020B0503020204020204" pitchFamily="34" charset="-122"/>
              </a:rPr>
              <a:t>年研制的四足步行卡车。随着电子技术和计算机技术的发展和进步，基于电驱动的四足机器人逐渐增多。随着军事和民用领域对机器人大负载能力和高动态性的要求，以及液压驱动技术的进步，基于液压驱动的四足机器人又逐渐掀起了机器人领域的热潮。最近几年，电驱动四足机器人又掀起一股研究高潮，推出了很多典型的、具有高动态、灵活运动能力的四足机器人。四足机器人的具体发展趋势如下。</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41D92F6-F18D-03C1-A8CD-D96C22553C9F}"/>
              </a:ext>
            </a:extLst>
          </p:cNvPr>
          <p:cNvSpPr txBox="1"/>
          <p:nvPr/>
        </p:nvSpPr>
        <p:spPr>
          <a:xfrm>
            <a:off x="727435" y="1061609"/>
            <a:ext cx="10737130" cy="5347105"/>
          </a:xfrm>
          <a:prstGeom prst="rect">
            <a:avLst/>
          </a:prstGeom>
          <a:noFill/>
        </p:spPr>
        <p:txBody>
          <a:bodyPr wrap="square">
            <a:spAutoFit/>
          </a:bodyPr>
          <a:lstStyle/>
          <a:p>
            <a:pPr indent="269875" algn="just">
              <a:lnSpc>
                <a:spcPct val="150000"/>
              </a:lnSpc>
              <a:spcBef>
                <a:spcPts val="600"/>
              </a:spcBef>
              <a:spcAft>
                <a:spcPts val="600"/>
              </a:spcAft>
            </a:pP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．仿生：仿生形态与结构、仿生步态</a:t>
            </a:r>
            <a:endParaRPr lang="en-US" altLang="zh-CN" sz="2000" kern="1000" dirty="0">
              <a:effectLst/>
              <a:latin typeface="微软雅黑" panose="020B0503020204020204" pitchFamily="34" charset="-122"/>
              <a:ea typeface="微软雅黑" panose="020B0503020204020204" pitchFamily="34" charset="-122"/>
            </a:endParaRPr>
          </a:p>
          <a:p>
            <a:pPr indent="450000" algn="just">
              <a:lnSpc>
                <a:spcPct val="150000"/>
              </a:lnSpc>
            </a:pPr>
            <a:r>
              <a:rPr lang="zh-CN" altLang="zh-CN" sz="2000" kern="1000" dirty="0">
                <a:effectLst/>
                <a:latin typeface="微软雅黑" panose="020B0503020204020204" pitchFamily="34" charset="-122"/>
                <a:ea typeface="微软雅黑" panose="020B0503020204020204" pitchFamily="34" charset="-122"/>
              </a:rPr>
              <a:t>在自然界中，亿万年生物进化的结果是，陆生大型动物基本上都是四足动物，四足哺乳动物在适应复杂地形、运动灵活性和效率等方面具有巨大的优势，它们依靠腿足运动几乎能在地球上的任何地面上活动，经过千万年的进化，四足哺乳动物的骨骼结构形态、步态都与其所特有的运动方式达到了与环境的最高层次的吻合。利用马</a:t>
            </a:r>
            <a:r>
              <a:rPr lang="en-US" altLang="zh-CN" sz="2000" kern="1000" dirty="0">
                <a:effectLst/>
                <a:latin typeface="微软雅黑" panose="020B0503020204020204" pitchFamily="34" charset="-122"/>
                <a:ea typeface="微软雅黑" panose="020B0503020204020204" pitchFamily="34" charset="-122"/>
              </a:rPr>
              <a:t>/</a:t>
            </a:r>
            <a:r>
              <a:rPr lang="zh-CN" altLang="zh-CN" sz="2000" kern="1000" dirty="0">
                <a:effectLst/>
                <a:latin typeface="微软雅黑" panose="020B0503020204020204" pitchFamily="34" charset="-122"/>
                <a:ea typeface="微软雅黑" panose="020B0503020204020204" pitchFamily="34" charset="-122"/>
              </a:rPr>
              <a:t>骡、羚羊等四足哺乳动物的骨骼、关节肌肉结构、运动机理、步态控制和平衡恢复等仿生学研究数据，模仿四足哺乳动物的形态、结构和步态控制原理，设计制造出具有四足哺乳动物特征的仿生机器人，使其运动更灵活、功能更强大、效率更高，是当前机器人研究领域的重要发展趋势。</a:t>
            </a:r>
            <a:endParaRPr lang="en-US" altLang="zh-CN" sz="2000" kern="1000" dirty="0">
              <a:effectLst/>
              <a:latin typeface="微软雅黑" panose="020B0503020204020204" pitchFamily="34" charset="-122"/>
              <a:ea typeface="微软雅黑" panose="020B0503020204020204" pitchFamily="34" charset="-122"/>
            </a:endParaRPr>
          </a:p>
          <a:p>
            <a:pPr indent="450000" algn="just">
              <a:lnSpc>
                <a:spcPct val="150000"/>
              </a:lnSpc>
              <a:spcBef>
                <a:spcPts val="600"/>
              </a:spcBef>
              <a:spcAft>
                <a:spcPts val="600"/>
              </a:spcAft>
            </a:pP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．轻型高负载：高功率密度驱动</a:t>
            </a:r>
          </a:p>
          <a:p>
            <a:pPr indent="450000" algn="just">
              <a:lnSpc>
                <a:spcPct val="150000"/>
              </a:lnSpc>
            </a:pPr>
            <a:r>
              <a:rPr lang="zh-CN" altLang="zh-CN" sz="2000" kern="1000" dirty="0">
                <a:effectLst/>
                <a:latin typeface="微软雅黑" panose="020B0503020204020204" pitchFamily="34" charset="-122"/>
                <a:ea typeface="微软雅黑" panose="020B0503020204020204" pitchFamily="34" charset="-122"/>
              </a:rPr>
              <a:t>具有高功率密度的轻型高负载驱动装置是机器人研究领域的共性关键技术，更是仿生机器人实现高动态性、高适应性、高负载能力的基本保证与必须突破的核心技术。</a:t>
            </a:r>
          </a:p>
        </p:txBody>
      </p:sp>
      <p:sp>
        <p:nvSpPr>
          <p:cNvPr id="6" name="Rectangle 2">
            <a:extLst>
              <a:ext uri="{FF2B5EF4-FFF2-40B4-BE49-F238E27FC236}">
                <a16:creationId xmlns:a16="http://schemas.microsoft.com/office/drawing/2014/main" id="{EA8ED9D2-5BA9-E104-7D28-A56A760DD62C}"/>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  </a:t>
            </a:r>
            <a:r>
              <a:rPr lang="zh-CN" altLang="en-US" sz="2800" b="1" dirty="0">
                <a:latin typeface="Times New Roman" pitchFamily="18" charset="0"/>
                <a:ea typeface="华文中宋" pitchFamily="2" charset="-122"/>
              </a:rPr>
              <a:t>四足机器人的发展趋势</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A5719F67-8E16-B4C3-982A-8D3901BD688A}"/>
              </a:ext>
            </a:extLst>
          </p:cNvPr>
          <p:cNvSpPr txBox="1"/>
          <p:nvPr/>
        </p:nvSpPr>
        <p:spPr>
          <a:xfrm>
            <a:off x="779282" y="941509"/>
            <a:ext cx="10633435" cy="4423775"/>
          </a:xfrm>
          <a:prstGeom prst="rect">
            <a:avLst/>
          </a:prstGeom>
          <a:noFill/>
        </p:spPr>
        <p:txBody>
          <a:bodyPr wrap="square">
            <a:spAutoFit/>
          </a:bodyPr>
          <a:lstStyle/>
          <a:p>
            <a:pPr indent="450000" algn="just">
              <a:lnSpc>
                <a:spcPct val="150000"/>
              </a:lnSpc>
              <a:spcBef>
                <a:spcPts val="600"/>
              </a:spcBef>
              <a:spcAft>
                <a:spcPts val="600"/>
              </a:spcAft>
            </a:pP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．高机动性：快速响应、高速运动、环境适应</a:t>
            </a:r>
          </a:p>
          <a:p>
            <a:pPr indent="450000" algn="just">
              <a:lnSpc>
                <a:spcPct val="150000"/>
              </a:lnSpc>
            </a:pPr>
            <a:r>
              <a:rPr lang="zh-CN" altLang="zh-CN" sz="2000" kern="1000" dirty="0">
                <a:effectLst/>
                <a:latin typeface="微软雅黑" panose="020B0503020204020204" pitchFamily="34" charset="-122"/>
                <a:ea typeface="微软雅黑" panose="020B0503020204020204" pitchFamily="34" charset="-122"/>
              </a:rPr>
              <a:t>在复杂环境下高质量地完成作业任务，是机器人发展的一个新高度和未来的必然趋势。快速响应、高速运动能力是机器人适应外界冲击扰动和环境变化、执行任务的基本条件，是高性能机器人研制必须解决的重要内容和研究热点。</a:t>
            </a:r>
            <a:endParaRPr lang="en-US" altLang="zh-CN" sz="2000" kern="1000" dirty="0">
              <a:effectLst/>
              <a:latin typeface="微软雅黑" panose="020B0503020204020204" pitchFamily="34" charset="-122"/>
              <a:ea typeface="微软雅黑" panose="020B0503020204020204" pitchFamily="34" charset="-122"/>
            </a:endParaRPr>
          </a:p>
          <a:p>
            <a:pPr indent="450000" algn="just">
              <a:lnSpc>
                <a:spcPct val="150000"/>
              </a:lnSpc>
              <a:spcBef>
                <a:spcPts val="600"/>
              </a:spcBef>
              <a:spcAft>
                <a:spcPts val="600"/>
              </a:spcAft>
            </a:pPr>
            <a:r>
              <a:rPr lang="en-US" altLang="zh-CN" sz="2000" b="1" kern="100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000" b="1" kern="1000" dirty="0">
                <a:latin typeface="微软雅黑" panose="020B0503020204020204" pitchFamily="34" charset="-122"/>
                <a:ea typeface="微软雅黑" panose="020B0503020204020204" pitchFamily="34" charset="-122"/>
                <a:cs typeface="Times New Roman" panose="02020603050405020304" pitchFamily="18" charset="0"/>
              </a:rPr>
              <a:t>．智能化：学习、进化、控制</a:t>
            </a:r>
          </a:p>
          <a:p>
            <a:pPr indent="450000" algn="just">
              <a:lnSpc>
                <a:spcPct val="150000"/>
              </a:lnSpc>
            </a:pPr>
            <a:r>
              <a:rPr lang="zh-CN" altLang="zh-CN" sz="2000" kern="1000" dirty="0">
                <a:latin typeface="微软雅黑" panose="020B0503020204020204" pitchFamily="34" charset="-122"/>
                <a:ea typeface="微软雅黑" panose="020B0503020204020204" pitchFamily="34" charset="-122"/>
              </a:rPr>
              <a:t>模仿人或生物的学习能力、进化能力和控制决策能力，赋予机器人智能，是机器人适应复杂环境、完成复杂作业任务、实施自身进化的必要条件，是当前和未来机器人研究领域的核心内容与重要方向。</a:t>
            </a:r>
          </a:p>
          <a:p>
            <a:pPr indent="450000" algn="just">
              <a:lnSpc>
                <a:spcPct val="150000"/>
              </a:lnSpc>
            </a:pPr>
            <a:endParaRPr lang="zh-CN" altLang="zh-CN" sz="2000" kern="1000" dirty="0">
              <a:effectLst/>
              <a:latin typeface="微软雅黑" panose="020B0503020204020204" pitchFamily="34" charset="-122"/>
              <a:ea typeface="微软雅黑" panose="020B0503020204020204" pitchFamily="34" charset="-122"/>
            </a:endParaRPr>
          </a:p>
        </p:txBody>
      </p:sp>
      <p:sp>
        <p:nvSpPr>
          <p:cNvPr id="16" name="Rectangle 2">
            <a:extLst>
              <a:ext uri="{FF2B5EF4-FFF2-40B4-BE49-F238E27FC236}">
                <a16:creationId xmlns:a16="http://schemas.microsoft.com/office/drawing/2014/main" id="{815A93A5-7EEF-3B4B-DF6E-D574187888D2}"/>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1.2  </a:t>
            </a:r>
            <a:r>
              <a:rPr lang="zh-CN" altLang="en-US" sz="2800" b="1" dirty="0">
                <a:latin typeface="Times New Roman" pitchFamily="18" charset="0"/>
                <a:ea typeface="华文中宋" pitchFamily="2" charset="-122"/>
              </a:rPr>
              <a:t>四足机器人的发展趋势</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B7D84F04-0777-C3FE-F4B0-D762D9AD3430}"/>
              </a:ext>
            </a:extLst>
          </p:cNvPr>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习题</a:t>
            </a:r>
          </a:p>
        </p:txBody>
      </p:sp>
      <p:sp>
        <p:nvSpPr>
          <p:cNvPr id="15" name="文本框 14">
            <a:extLst>
              <a:ext uri="{FF2B5EF4-FFF2-40B4-BE49-F238E27FC236}">
                <a16:creationId xmlns:a16="http://schemas.microsoft.com/office/drawing/2014/main" id="{CD6A2FBD-FDF2-BBB3-5825-F394BDAECBBF}"/>
              </a:ext>
            </a:extLst>
          </p:cNvPr>
          <p:cNvSpPr txBox="1"/>
          <p:nvPr/>
        </p:nvSpPr>
        <p:spPr>
          <a:xfrm>
            <a:off x="3025915" y="2467711"/>
            <a:ext cx="6122708" cy="961289"/>
          </a:xfrm>
          <a:prstGeom prst="rect">
            <a:avLst/>
          </a:prstGeom>
          <a:noFill/>
        </p:spPr>
        <p:txBody>
          <a:bodyPr wrap="square">
            <a:spAutoFit/>
          </a:bodyPr>
          <a:lstStyle/>
          <a:p>
            <a:pPr indent="450000" algn="just">
              <a:lnSpc>
                <a:spcPct val="150000"/>
              </a:lnSpc>
            </a:pPr>
            <a:r>
              <a:rPr lang="en-US" altLang="zh-CN" sz="2000" kern="1000" dirty="0">
                <a:effectLst/>
                <a:latin typeface="微软雅黑" panose="020B0503020204020204" pitchFamily="34" charset="-122"/>
                <a:ea typeface="微软雅黑" panose="020B0503020204020204" pitchFamily="34" charset="-122"/>
              </a:rPr>
              <a:t>1.1 </a:t>
            </a:r>
            <a:r>
              <a:rPr lang="zh-CN" altLang="zh-CN" sz="2000" kern="1000" dirty="0">
                <a:effectLst/>
                <a:latin typeface="微软雅黑" panose="020B0503020204020204" pitchFamily="34" charset="-122"/>
                <a:ea typeface="微软雅黑" panose="020B0503020204020204" pitchFamily="34" charset="-122"/>
              </a:rPr>
              <a:t>简要叙述电驱动四足机器人的发展历史。</a:t>
            </a:r>
          </a:p>
          <a:p>
            <a:pPr indent="450000" algn="just">
              <a:lnSpc>
                <a:spcPct val="150000"/>
              </a:lnSpc>
            </a:pPr>
            <a:r>
              <a:rPr lang="en-US" altLang="zh-CN" sz="2000" kern="1000" dirty="0">
                <a:effectLst/>
                <a:latin typeface="微软雅黑" panose="020B0503020204020204" pitchFamily="34" charset="-122"/>
                <a:ea typeface="微软雅黑" panose="020B0503020204020204" pitchFamily="34" charset="-122"/>
              </a:rPr>
              <a:t>1.2 </a:t>
            </a:r>
            <a:r>
              <a:rPr lang="zh-CN" altLang="zh-CN" sz="2000" kern="1000" dirty="0">
                <a:effectLst/>
                <a:latin typeface="微软雅黑" panose="020B0503020204020204" pitchFamily="34" charset="-122"/>
                <a:ea typeface="微软雅黑" panose="020B0503020204020204" pitchFamily="34" charset="-122"/>
              </a:rPr>
              <a:t>四足机器人的发展趋势是什么？</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A3YTM3NGM4NjQ1MjY4MmM1MzFiMWQ3MWE3NTU2OD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622</TotalTime>
  <Words>2625</Words>
  <Application>Microsoft Office PowerPoint</Application>
  <PresentationFormat>宽屏</PresentationFormat>
  <Paragraphs>100</Paragraphs>
  <Slides>23</Slides>
  <Notes>20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23</vt:i4>
      </vt:variant>
    </vt:vector>
  </HeadingPairs>
  <TitlesOfParts>
    <vt:vector size="31" baseType="lpstr">
      <vt:lpstr>等线</vt:lpstr>
      <vt:lpstr>等线 Light</vt:lpstr>
      <vt:lpstr>微软雅黑</vt:lpstr>
      <vt:lpstr>Arial</vt:lpstr>
      <vt:lpstr>Calibri</vt:lpstr>
      <vt:lpstr>Times New Roman</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libin ribben</dc:creator>
  <cp:lastModifiedBy>高 梦奇</cp:lastModifiedBy>
  <cp:revision>412</cp:revision>
  <dcterms:created xsi:type="dcterms:W3CDTF">2019-06-19T02:08:00Z</dcterms:created>
  <dcterms:modified xsi:type="dcterms:W3CDTF">2023-06-07T13:48:21Z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2052-11.1.0.11636</vt:lpwstr>
  </property>
  <property fmtid="{D5CDD505-2E9C-101B-9397-08002B2CF9AE}" pid="3" name="ICV">
    <vt:lpwstr>82CFBE4CAFC14D248354FA9E7AB4A679</vt:lpwstr>
  </property>
</Properties>
</file>