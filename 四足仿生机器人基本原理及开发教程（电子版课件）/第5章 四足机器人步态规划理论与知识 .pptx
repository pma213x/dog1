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258" r:id="rId2"/>
    <p:sldId id="346" r:id="rId3"/>
    <p:sldId id="343" r:id="rId4"/>
    <p:sldId id="345" r:id="rId5"/>
    <p:sldId id="347" r:id="rId6"/>
    <p:sldId id="348" r:id="rId7"/>
    <p:sldId id="354" r:id="rId8"/>
    <p:sldId id="351" r:id="rId9"/>
    <p:sldId id="353" r:id="rId10"/>
    <p:sldId id="352" r:id="rId11"/>
    <p:sldId id="349" r:id="rId12"/>
    <p:sldId id="350" r:id="rId13"/>
    <p:sldId id="355" r:id="rId14"/>
    <p:sldId id="368" r:id="rId15"/>
    <p:sldId id="367" r:id="rId16"/>
    <p:sldId id="369" r:id="rId17"/>
    <p:sldId id="356" r:id="rId18"/>
    <p:sldId id="370" r:id="rId19"/>
    <p:sldId id="371" r:id="rId20"/>
    <p:sldId id="372" r:id="rId21"/>
    <p:sldId id="373" r:id="rId22"/>
    <p:sldId id="374" r:id="rId23"/>
    <p:sldId id="375" r:id="rId24"/>
    <p:sldId id="376" r:id="rId25"/>
    <p:sldId id="377" r:id="rId26"/>
    <p:sldId id="378" r:id="rId27"/>
    <p:sldId id="379" r:id="rId28"/>
    <p:sldId id="380" r:id="rId29"/>
    <p:sldId id="381" r:id="rId30"/>
    <p:sldId id="382" r:id="rId31"/>
    <p:sldId id="383" r:id="rId32"/>
    <p:sldId id="384" r:id="rId33"/>
    <p:sldId id="385" r:id="rId34"/>
    <p:sldId id="386" r:id="rId35"/>
    <p:sldId id="387" r:id="rId36"/>
    <p:sldId id="388" r:id="rId37"/>
    <p:sldId id="389" r:id="rId38"/>
    <p:sldId id="390" r:id="rId39"/>
    <p:sldId id="391" r:id="rId40"/>
    <p:sldId id="392" r:id="rId41"/>
    <p:sldId id="393" r:id="rId42"/>
    <p:sldId id="394" r:id="rId43"/>
    <p:sldId id="395" r:id="rId44"/>
    <p:sldId id="396" r:id="rId45"/>
    <p:sldId id="397" r:id="rId46"/>
    <p:sldId id="326" r:id="rId47"/>
  </p:sldIdLst>
  <p:sldSz cx="12192000" cy="6858000"/>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31" autoAdjust="0"/>
    <p:restoredTop sz="94660"/>
  </p:normalViewPr>
  <p:slideViewPr>
    <p:cSldViewPr snapToGrid="0">
      <p:cViewPr varScale="1">
        <p:scale>
          <a:sx n="49" d="100"/>
          <a:sy n="49" d="100"/>
        </p:scale>
        <p:origin x="44" y="6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2023/5/22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8"/>
            <a:ext cx="10972800" cy="58515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2023/5/22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
        <p:nvSpPr>
          <p:cNvPr id="7" name="Line 7"/>
          <p:cNvSpPr/>
          <p:nvPr/>
        </p:nvSpPr>
        <p:spPr>
          <a:xfrm>
            <a:off x="0" y="684213"/>
            <a:ext cx="12192000" cy="0"/>
          </a:xfrm>
          <a:prstGeom prst="line">
            <a:avLst/>
          </a:prstGeom>
          <a:ln w="114300" cap="flat" cmpd="thickThin">
            <a:solidFill>
              <a:srgbClr val="660033"/>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5">
            <a:extLst>
              <a:ext uri="{FF2B5EF4-FFF2-40B4-BE49-F238E27FC236}">
                <a16:creationId xmlns:a16="http://schemas.microsoft.com/office/drawing/2014/main" id="{9E162AEE-0247-C9AB-6A19-A94E6D5F7BAD}"/>
              </a:ext>
            </a:extLst>
          </p:cNvPr>
          <p:cNvSpPr/>
          <p:nvPr/>
        </p:nvSpPr>
        <p:spPr>
          <a:xfrm>
            <a:off x="1169669" y="1584960"/>
            <a:ext cx="9498330" cy="1844040"/>
          </a:xfrm>
          <a:prstGeom prst="rect">
            <a:avLst/>
          </a:prstGeom>
          <a:noFill/>
          <a:ln w="9525">
            <a:noFill/>
          </a:ln>
        </p:spPr>
        <p:txBody>
          <a:bodyPr/>
          <a:lstStyle/>
          <a:p>
            <a:pPr algn="ctr">
              <a:spcBef>
                <a:spcPct val="20000"/>
              </a:spcBef>
            </a:pP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机器人运动学</a:t>
            </a:r>
            <a:b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b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第五章  四足机器人步态规划理论与知识</a:t>
            </a:r>
          </a:p>
        </p:txBody>
      </p:sp>
      <p:sp>
        <p:nvSpPr>
          <p:cNvPr id="8" name="Rectangle 30">
            <a:extLst>
              <a:ext uri="{FF2B5EF4-FFF2-40B4-BE49-F238E27FC236}">
                <a16:creationId xmlns:a16="http://schemas.microsoft.com/office/drawing/2014/main" id="{59F05569-F360-12F4-972E-37E66FB6089F}"/>
              </a:ext>
            </a:extLst>
          </p:cNvPr>
          <p:cNvSpPr/>
          <p:nvPr/>
        </p:nvSpPr>
        <p:spPr>
          <a:xfrm>
            <a:off x="3510596" y="3429000"/>
            <a:ext cx="4816475" cy="2609850"/>
          </a:xfrm>
          <a:prstGeom prst="rect">
            <a:avLst/>
          </a:prstGeom>
          <a:noFill/>
          <a:ln w="9525">
            <a:noFill/>
          </a:ln>
        </p:spPr>
        <p:txBody>
          <a:bodyPr/>
          <a:lstStyle/>
          <a:p>
            <a:pPr algn="ctr">
              <a:lnSpc>
                <a:spcPct val="200000"/>
              </a:lnSpc>
            </a:pPr>
            <a:r>
              <a:rPr lang="zh-CN" altLang="en-US" sz="2400" b="1" dirty="0">
                <a:latin typeface="Times New Roman" panose="02020603050405020304" pitchFamily="18" charset="0"/>
                <a:ea typeface="微软雅黑" panose="020B0503020204020204" pitchFamily="34" charset="-122"/>
              </a:rPr>
              <a:t>李彬</a:t>
            </a:r>
          </a:p>
          <a:p>
            <a:pPr algn="ctr">
              <a:lnSpc>
                <a:spcPct val="200000"/>
              </a:lnSpc>
            </a:pPr>
            <a:r>
              <a:rPr lang="zh-CN" altLang="en-US" sz="2400" b="1" dirty="0">
                <a:latin typeface="Times New Roman" panose="02020603050405020304" pitchFamily="18" charset="0"/>
                <a:ea typeface="微软雅黑" panose="020B0503020204020204" pitchFamily="34" charset="-122"/>
              </a:rPr>
              <a:t>智能人机交互创新团队</a:t>
            </a:r>
            <a:endParaRPr lang="en-US" altLang="zh-CN" sz="2400" b="1" dirty="0">
              <a:latin typeface="Times New Roman" panose="02020603050405020304" pitchFamily="18" charset="0"/>
              <a:ea typeface="微软雅黑" panose="020B0503020204020204" pitchFamily="34" charset="-122"/>
            </a:endParaRPr>
          </a:p>
          <a:p>
            <a:pPr>
              <a:lnSpc>
                <a:spcPct val="200000"/>
              </a:lnSpc>
            </a:pPr>
            <a:endParaRPr lang="en-US" altLang="zh-CN" sz="2400" b="1" dirty="0">
              <a:latin typeface="Times New Roman" panose="02020603050405020304" pitchFamily="18" charset="0"/>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61B4615-7399-1C0F-681F-EB6A0C2C9C35}"/>
              </a:ext>
            </a:extLst>
          </p:cNvPr>
          <p:cNvSpPr txBox="1"/>
          <p:nvPr/>
        </p:nvSpPr>
        <p:spPr>
          <a:xfrm>
            <a:off x="757646" y="1371600"/>
            <a:ext cx="10463348" cy="3046988"/>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在机器人的运动控制中，一般采用基于模型的控制方法。</a:t>
            </a:r>
            <a:endParaRPr lang="en-US" altLang="zh-CN" sz="2400" b="1" kern="1000" dirty="0">
              <a:effectLst/>
              <a:latin typeface="微软雅黑" panose="020B0503020204020204" pitchFamily="34" charset="-122"/>
              <a:ea typeface="微软雅黑" panose="020B0503020204020204" pitchFamily="34" charset="-122"/>
            </a:endParaRPr>
          </a:p>
          <a:p>
            <a:pPr algn="just"/>
            <a:r>
              <a:rPr lang="en-US" altLang="zh-CN" sz="2400" b="1" kern="1000" dirty="0">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该方法采用“建模</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规划</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控制”的思路，通过对机器人本体的精确建模，利用设定的机器人足端轨迹来规划机器人的运动。在基于模型的四足机器人步态规划方法中，首先需要推导机器人的运动学方程，然后规划机器人腿处于支撑相和摆动相状态的运动轨迹。基于规划的足端轨迹和机器人逆运动学方程，推导出机器人腿各个关节的运动。</a:t>
            </a:r>
          </a:p>
          <a:p>
            <a:pPr algn="just"/>
            <a:r>
              <a:rPr lang="en-US" altLang="zh-CN" sz="2400" b="1" kern="1000" spc="10" dirty="0">
                <a:effectLst/>
                <a:latin typeface="微软雅黑" panose="020B0503020204020204" pitchFamily="34" charset="-122"/>
                <a:ea typeface="微软雅黑" panose="020B0503020204020204" pitchFamily="34" charset="-122"/>
              </a:rPr>
              <a:t>       </a:t>
            </a:r>
            <a:r>
              <a:rPr lang="zh-CN" altLang="zh-CN" sz="2400" b="1" kern="1000" spc="10" dirty="0">
                <a:effectLst/>
                <a:latin typeface="微软雅黑" panose="020B0503020204020204" pitchFamily="34" charset="-122"/>
                <a:ea typeface="微软雅黑" panose="020B0503020204020204" pitchFamily="34" charset="-122"/>
              </a:rPr>
              <a:t>为了后续实现四足机器人稳定运动控制，本章主要介绍步态规划的基础理论和相关知识。</a:t>
            </a:r>
            <a:endParaRPr lang="zh-CN" altLang="zh-CN" sz="2400" b="1" kern="1000" dirty="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8368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a:extLst>
              <a:ext uri="{FF2B5EF4-FFF2-40B4-BE49-F238E27FC236}">
                <a16:creationId xmlns:a16="http://schemas.microsoft.com/office/drawing/2014/main" id="{8960D9CB-13B1-4ACC-4D55-E96ABEF44A51}"/>
              </a:ext>
            </a:extLst>
          </p:cNvPr>
          <p:cNvSpPr>
            <a:spLocks noGrp="1"/>
          </p:cNvSpPr>
          <p:nvPr>
            <p:ph idx="1"/>
          </p:nvPr>
        </p:nvSpPr>
        <p:spPr>
          <a:xfrm>
            <a:off x="1047206" y="1971120"/>
            <a:ext cx="10515600" cy="2915759"/>
          </a:xfrm>
        </p:spPr>
        <p:txBody>
          <a:bodyPr>
            <a:noAutofit/>
          </a:bodyPr>
          <a:lstStyle/>
          <a:p>
            <a:pPr marL="0" indent="0" algn="l">
              <a:buNone/>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5.1</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步态规划的基本概念</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l">
              <a:buNone/>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5.2</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静步态规划方法</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l">
              <a:buNone/>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5.3</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动步态规划方法</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l">
              <a:buNone/>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5.4</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机器人轨迹规划与步态生成</a:t>
            </a:r>
          </a:p>
        </p:txBody>
      </p:sp>
      <p:sp>
        <p:nvSpPr>
          <p:cNvPr id="5" name="文本框 4">
            <a:extLst>
              <a:ext uri="{FF2B5EF4-FFF2-40B4-BE49-F238E27FC236}">
                <a16:creationId xmlns:a16="http://schemas.microsoft.com/office/drawing/2014/main" id="{16F2A866-4701-EE72-523D-D6E8EDCD63CB}"/>
              </a:ext>
            </a:extLst>
          </p:cNvPr>
          <p:cNvSpPr txBox="1"/>
          <p:nvPr/>
        </p:nvSpPr>
        <p:spPr>
          <a:xfrm>
            <a:off x="1838325" y="0"/>
            <a:ext cx="8229600" cy="523220"/>
          </a:xfrm>
          <a:prstGeom prst="rect">
            <a:avLst/>
          </a:prstGeom>
          <a:noFill/>
        </p:spPr>
        <p:txBody>
          <a:bodyPr wrap="square" rtlCol="0">
            <a:spAutoFit/>
          </a:bodyPr>
          <a:lstStyle/>
          <a:p>
            <a:r>
              <a:rPr lang="zh-CN" altLang="en-US" sz="2800" b="1" dirty="0">
                <a:latin typeface="Times New Roman" pitchFamily="18" charset="0"/>
                <a:ea typeface="华文中宋" pitchFamily="2" charset="-122"/>
              </a:rPr>
              <a:t>本章提纲</a:t>
            </a:r>
            <a:endParaRPr lang="zh-CN" altLang="en-US" sz="2800" dirty="0"/>
          </a:p>
        </p:txBody>
      </p:sp>
    </p:spTree>
    <p:extLst>
      <p:ext uri="{BB962C8B-B14F-4D97-AF65-F5344CB8AC3E}">
        <p14:creationId xmlns:p14="http://schemas.microsoft.com/office/powerpoint/2010/main" val="4075396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1A804F2-A0BB-055F-CC38-41AB5746397E}"/>
                  </a:ext>
                </a:extLst>
              </p:cNvPr>
              <p:cNvSpPr>
                <a:spLocks noGrp="1"/>
              </p:cNvSpPr>
              <p:nvPr>
                <p:ph idx="1"/>
              </p:nvPr>
            </p:nvSpPr>
            <p:spPr>
              <a:xfrm>
                <a:off x="1149531" y="1802674"/>
                <a:ext cx="10162903" cy="4781005"/>
              </a:xfrm>
            </p:spPr>
            <p:txBody>
              <a:bodyPr>
                <a:normAutofit fontScale="92500" lnSpcReduction="20000"/>
              </a:bodyPr>
              <a:lstStyle/>
              <a:p>
                <a:pPr marL="0" indent="0">
                  <a:lnSpc>
                    <a:spcPct val="110000"/>
                  </a:lnSpc>
                  <a:buNone/>
                </a:pPr>
                <a:r>
                  <a:rPr lang="zh-CN" altLang="en-US" sz="2600" b="1" dirty="0">
                    <a:latin typeface="微软雅黑" panose="020B0503020204020204" pitchFamily="34" charset="-122"/>
                    <a:ea typeface="微软雅黑" panose="020B0503020204020204" pitchFamily="34" charset="-122"/>
                  </a:rPr>
                  <a:t>       动物的运动具有多样性，表现为每一种动物都具有多种运动形式，如双足动物的“走”、“跑”，四足动物的“行走</a:t>
                </a:r>
                <a:r>
                  <a:rPr lang="en-US" altLang="zh-CN" sz="2600" b="1" dirty="0">
                    <a:latin typeface="微软雅黑" panose="020B0503020204020204" pitchFamily="34" charset="-122"/>
                    <a:ea typeface="微软雅黑" panose="020B0503020204020204" pitchFamily="34" charset="-122"/>
                  </a:rPr>
                  <a:t>(walk)”“</a:t>
                </a:r>
                <a:r>
                  <a:rPr lang="zh-CN" altLang="en-US" sz="2600" b="1" dirty="0">
                    <a:latin typeface="微软雅黑" panose="020B0503020204020204" pitchFamily="34" charset="-122"/>
                    <a:ea typeface="微软雅黑" panose="020B0503020204020204" pitchFamily="34" charset="-122"/>
                  </a:rPr>
                  <a:t>对角小跑</a:t>
                </a:r>
                <a:r>
                  <a:rPr lang="en-US" altLang="zh-CN" sz="2600" b="1" dirty="0">
                    <a:latin typeface="微软雅黑" panose="020B0503020204020204" pitchFamily="34" charset="-122"/>
                    <a:ea typeface="微软雅黑" panose="020B0503020204020204" pitchFamily="34" charset="-122"/>
                  </a:rPr>
                  <a:t>(trot)”“</a:t>
                </a:r>
                <a:r>
                  <a:rPr lang="zh-CN" altLang="en-US" sz="2600" b="1" dirty="0">
                    <a:latin typeface="微软雅黑" panose="020B0503020204020204" pitchFamily="34" charset="-122"/>
                    <a:ea typeface="微软雅黑" panose="020B0503020204020204" pitchFamily="34" charset="-122"/>
                  </a:rPr>
                  <a:t>遛步</a:t>
                </a:r>
                <a:r>
                  <a:rPr lang="en-US" altLang="zh-CN" sz="2600" b="1" dirty="0">
                    <a:latin typeface="微软雅黑" panose="020B0503020204020204" pitchFamily="34" charset="-122"/>
                    <a:ea typeface="微软雅黑" panose="020B0503020204020204" pitchFamily="34" charset="-122"/>
                  </a:rPr>
                  <a:t>(pace</a:t>
                </a:r>
                <a:r>
                  <a:rPr lang="zh-CN" altLang="en-US" sz="2600" b="1" dirty="0">
                    <a:latin typeface="微软雅黑" panose="020B0503020204020204" pitchFamily="34" charset="-122"/>
                    <a:ea typeface="微软雅黑" panose="020B0503020204020204" pitchFamily="34" charset="-122"/>
                  </a:rPr>
                  <a:t>，又称单侧小跑</a:t>
                </a:r>
                <a:r>
                  <a:rPr lang="en-US" altLang="zh-CN" sz="2600" b="1" dirty="0">
                    <a:latin typeface="微软雅黑" panose="020B0503020204020204" pitchFamily="34" charset="-122"/>
                    <a:ea typeface="微软雅黑" panose="020B0503020204020204" pitchFamily="34" charset="-122"/>
                  </a:rPr>
                  <a:t>)”“</a:t>
                </a:r>
                <a:r>
                  <a:rPr lang="zh-CN" altLang="en-US" sz="2600" b="1" dirty="0">
                    <a:latin typeface="微软雅黑" panose="020B0503020204020204" pitchFamily="34" charset="-122"/>
                    <a:ea typeface="微软雅黑" panose="020B0503020204020204" pitchFamily="34" charset="-122"/>
                  </a:rPr>
                  <a:t>跳跃</a:t>
                </a:r>
                <a:r>
                  <a:rPr lang="en-US" altLang="zh-CN" sz="2600" b="1" dirty="0">
                    <a:latin typeface="微软雅黑" panose="020B0503020204020204" pitchFamily="34" charset="-122"/>
                    <a:ea typeface="微软雅黑" panose="020B0503020204020204" pitchFamily="34" charset="-122"/>
                  </a:rPr>
                  <a:t>(bound)”</a:t>
                </a:r>
                <a:r>
                  <a:rPr lang="zh-CN" altLang="en-US" sz="2600" b="1" dirty="0">
                    <a:latin typeface="微软雅黑" panose="020B0503020204020204" pitchFamily="34" charset="-122"/>
                    <a:ea typeface="微软雅黑" panose="020B0503020204020204" pitchFamily="34" charset="-122"/>
                  </a:rPr>
                  <a:t>和“奔跑</a:t>
                </a:r>
                <a:r>
                  <a:rPr lang="en-US" altLang="zh-CN" sz="2600" b="1" dirty="0">
                    <a:latin typeface="微软雅黑" panose="020B0503020204020204" pitchFamily="34" charset="-122"/>
                    <a:ea typeface="微软雅黑" panose="020B0503020204020204" pitchFamily="34" charset="-122"/>
                  </a:rPr>
                  <a:t>(gallop)”</a:t>
                </a:r>
                <a:r>
                  <a:rPr lang="zh-CN" altLang="en-US" sz="2600" b="1" dirty="0">
                    <a:latin typeface="微软雅黑" panose="020B0503020204020204" pitchFamily="34" charset="-122"/>
                    <a:ea typeface="微软雅黑" panose="020B0503020204020204" pitchFamily="34" charset="-122"/>
                  </a:rPr>
                  <a:t>等，因此，相应的仿生四足机器人也有较多的步行方法。</a:t>
                </a:r>
              </a:p>
              <a:p>
                <a:pPr marL="0" indent="0">
                  <a:lnSpc>
                    <a:spcPct val="110000"/>
                  </a:lnSpc>
                  <a:buNone/>
                </a:pPr>
                <a:r>
                  <a:rPr lang="zh-CN" altLang="en-US" sz="2600" b="1" dirty="0">
                    <a:latin typeface="微软雅黑" panose="020B0503020204020204" pitchFamily="34" charset="-122"/>
                    <a:ea typeface="微软雅黑" panose="020B0503020204020204" pitchFamily="34" charset="-122"/>
                  </a:rPr>
                  <a:t>       四足机器人的步行方法一般根据摆动腿的顺序和时序进行分类，一般用步态周期、步态长度、占空比、相对位移等概念来对步态进行定义。在四足机器人的运动中，首先要进行四足机器人步态分析中相关参数的定义。</a:t>
                </a:r>
              </a:p>
              <a:p>
                <a:pPr marL="0" indent="0">
                  <a:lnSpc>
                    <a:spcPct val="110000"/>
                  </a:lnSpc>
                  <a:buNone/>
                </a:pPr>
                <a:r>
                  <a:rPr lang="en-US" altLang="zh-CN" sz="2600" b="1" dirty="0">
                    <a:latin typeface="微软雅黑" panose="020B0503020204020204" pitchFamily="34" charset="-122"/>
                    <a:ea typeface="微软雅黑" panose="020B0503020204020204" pitchFamily="34" charset="-122"/>
                  </a:rPr>
                  <a:t>(1)</a:t>
                </a:r>
                <a:r>
                  <a:rPr lang="zh-CN" altLang="en-US" sz="2600" b="1" dirty="0">
                    <a:latin typeface="微软雅黑" panose="020B0503020204020204" pitchFamily="34" charset="-122"/>
                    <a:ea typeface="微软雅黑" panose="020B0503020204020204" pitchFamily="34" charset="-122"/>
                  </a:rPr>
                  <a:t>步态</a:t>
                </a:r>
                <a:r>
                  <a:rPr lang="en-US" altLang="zh-CN" sz="2600" b="1" dirty="0">
                    <a:latin typeface="微软雅黑" panose="020B0503020204020204" pitchFamily="34" charset="-122"/>
                    <a:ea typeface="微软雅黑" panose="020B0503020204020204" pitchFamily="34" charset="-122"/>
                  </a:rPr>
                  <a:t>(gait)</a:t>
                </a:r>
                <a:r>
                  <a:rPr lang="zh-CN" altLang="en-US" sz="2600" b="1" dirty="0">
                    <a:latin typeface="微软雅黑" panose="020B0503020204020204" pitchFamily="34" charset="-122"/>
                    <a:ea typeface="微软雅黑" panose="020B0503020204020204" pitchFamily="34" charset="-122"/>
                  </a:rPr>
                  <a:t>：有关腿部摆动顺序及其时间相序等的步行模式。一般分为行走、对角小跑、遛步、跳跃和奔跑</a:t>
                </a:r>
                <a:r>
                  <a:rPr lang="en-US" altLang="zh-CN" sz="2600" b="1" dirty="0">
                    <a:latin typeface="微软雅黑" panose="020B0503020204020204" pitchFamily="34" charset="-122"/>
                    <a:ea typeface="微软雅黑" panose="020B0503020204020204" pitchFamily="34" charset="-122"/>
                  </a:rPr>
                  <a:t>5</a:t>
                </a:r>
                <a:r>
                  <a:rPr lang="zh-CN" altLang="en-US" sz="2600" b="1" dirty="0">
                    <a:latin typeface="微软雅黑" panose="020B0503020204020204" pitchFamily="34" charset="-122"/>
                    <a:ea typeface="微软雅黑" panose="020B0503020204020204" pitchFamily="34" charset="-122"/>
                  </a:rPr>
                  <a:t>种基本步态。</a:t>
                </a:r>
              </a:p>
              <a:p>
                <a:pPr marL="0" indent="0">
                  <a:lnSpc>
                    <a:spcPct val="110000"/>
                  </a:lnSpc>
                  <a:buNone/>
                </a:pPr>
                <a:r>
                  <a:rPr lang="en-US" altLang="zh-CN" sz="2600" b="1" dirty="0">
                    <a:latin typeface="微软雅黑" panose="020B0503020204020204" pitchFamily="34" charset="-122"/>
                    <a:ea typeface="微软雅黑" panose="020B0503020204020204" pitchFamily="34" charset="-122"/>
                  </a:rPr>
                  <a:t>(2)</a:t>
                </a:r>
                <a:r>
                  <a:rPr lang="zh-CN" altLang="en-US" sz="2600" b="1" dirty="0">
                    <a:latin typeface="微软雅黑" panose="020B0503020204020204" pitchFamily="34" charset="-122"/>
                    <a:ea typeface="微软雅黑" panose="020B0503020204020204" pitchFamily="34" charset="-122"/>
                  </a:rPr>
                  <a:t>步行周期</a:t>
                </a:r>
                <a:r>
                  <a:rPr lang="en-US" altLang="zh-CN" sz="2600" b="1"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600" b="1" i="1" smtClean="0">
                        <a:latin typeface="Cambria Math" panose="02040503050406030204" pitchFamily="18" charset="0"/>
                      </a:rPr>
                      <m:t>𝑻</m:t>
                    </m:r>
                  </m:oMath>
                </a14:m>
                <a:r>
                  <a:rPr lang="en-US" altLang="zh-CN" sz="2600" b="1" dirty="0">
                    <a:latin typeface="微软雅黑" panose="020B0503020204020204" pitchFamily="34" charset="-122"/>
                    <a:ea typeface="微软雅黑" panose="020B0503020204020204" pitchFamily="34" charset="-122"/>
                  </a:rPr>
                  <a:t>(walking period)</a:t>
                </a:r>
                <a:r>
                  <a:rPr lang="zh-CN" altLang="en-US" sz="2600" b="1" dirty="0">
                    <a:latin typeface="微软雅黑" panose="020B0503020204020204" pitchFamily="34" charset="-122"/>
                    <a:ea typeface="微软雅黑" panose="020B0503020204020204" pitchFamily="34" charset="-122"/>
                  </a:rPr>
                  <a:t>：周期步态中某一条腿运动一个完整循环所需的时间。</a:t>
                </a:r>
              </a:p>
              <a:p>
                <a:pPr marL="0" indent="0">
                  <a:lnSpc>
                    <a:spcPct val="110000"/>
                  </a:lnSpc>
                  <a:buNone/>
                </a:pPr>
                <a:r>
                  <a:rPr lang="en-US" altLang="zh-CN" sz="2600" b="1" dirty="0">
                    <a:latin typeface="微软雅黑" panose="020B0503020204020204" pitchFamily="34" charset="-122"/>
                    <a:ea typeface="微软雅黑" panose="020B0503020204020204" pitchFamily="34" charset="-122"/>
                  </a:rPr>
                  <a:t>(3)</a:t>
                </a:r>
                <a:r>
                  <a:rPr lang="zh-CN" altLang="en-US" sz="2600" b="1" dirty="0">
                    <a:latin typeface="微软雅黑" panose="020B0503020204020204" pitchFamily="34" charset="-122"/>
                    <a:ea typeface="微软雅黑" panose="020B0503020204020204" pitchFamily="34" charset="-122"/>
                  </a:rPr>
                  <a:t>支撑相</a:t>
                </a:r>
                <a:r>
                  <a:rPr lang="en-US" altLang="zh-CN" sz="2600" b="1" dirty="0">
                    <a:latin typeface="微软雅黑" panose="020B0503020204020204" pitchFamily="34" charset="-122"/>
                    <a:ea typeface="微软雅黑" panose="020B0503020204020204" pitchFamily="34" charset="-122"/>
                  </a:rPr>
                  <a:t>(supporting phase)</a:t>
                </a:r>
                <a:r>
                  <a:rPr lang="zh-CN" altLang="en-US" sz="2600" b="1" dirty="0">
                    <a:latin typeface="微软雅黑" panose="020B0503020204020204" pitchFamily="34" charset="-122"/>
                    <a:ea typeface="微软雅黑" panose="020B0503020204020204" pitchFamily="34" charset="-122"/>
                  </a:rPr>
                  <a:t>：腿部着地的状态称为支撑相。</a:t>
                </a:r>
              </a:p>
              <a:p>
                <a:endParaRPr lang="zh-CN" altLang="en-US" dirty="0"/>
              </a:p>
            </p:txBody>
          </p:sp>
        </mc:Choice>
        <mc:Fallback xmlns="">
          <p:sp>
            <p:nvSpPr>
              <p:cNvPr id="3" name="内容占位符 2">
                <a:extLst>
                  <a:ext uri="{FF2B5EF4-FFF2-40B4-BE49-F238E27FC236}">
                    <a16:creationId xmlns:a16="http://schemas.microsoft.com/office/drawing/2014/main" id="{D1A804F2-A0BB-055F-CC38-41AB5746397E}"/>
                  </a:ext>
                </a:extLst>
              </p:cNvPr>
              <p:cNvSpPr>
                <a:spLocks noGrp="1" noRot="1" noChangeAspect="1" noMove="1" noResize="1" noEditPoints="1" noAdjustHandles="1" noChangeArrowheads="1" noChangeShapeType="1" noTextEdit="1"/>
              </p:cNvSpPr>
              <p:nvPr>
                <p:ph idx="1"/>
              </p:nvPr>
            </p:nvSpPr>
            <p:spPr>
              <a:xfrm>
                <a:off x="1149531" y="1802674"/>
                <a:ext cx="10162903" cy="4781005"/>
              </a:xfrm>
              <a:blipFill>
                <a:blip r:embed="rId2"/>
                <a:stretch>
                  <a:fillRect l="-960" t="-1786" r="-1680"/>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D6C9E63A-7047-4A5B-DB15-31A9192DBEDB}"/>
              </a:ext>
            </a:extLst>
          </p:cNvPr>
          <p:cNvSpPr txBox="1"/>
          <p:nvPr/>
        </p:nvSpPr>
        <p:spPr>
          <a:xfrm>
            <a:off x="1698306" y="0"/>
            <a:ext cx="4064000" cy="954107"/>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5.1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步态规划的基本概念</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a:extLst>
              <a:ext uri="{FF2B5EF4-FFF2-40B4-BE49-F238E27FC236}">
                <a16:creationId xmlns:a16="http://schemas.microsoft.com/office/drawing/2014/main" id="{38F27A93-9AF8-A329-9351-A62F50A6E3BB}"/>
              </a:ext>
            </a:extLst>
          </p:cNvPr>
          <p:cNvSpPr txBox="1"/>
          <p:nvPr/>
        </p:nvSpPr>
        <p:spPr>
          <a:xfrm>
            <a:off x="457200" y="954107"/>
            <a:ext cx="3148149"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１</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步态基本定义</a:t>
            </a:r>
          </a:p>
        </p:txBody>
      </p:sp>
    </p:spTree>
    <p:extLst>
      <p:ext uri="{BB962C8B-B14F-4D97-AF65-F5344CB8AC3E}">
        <p14:creationId xmlns:p14="http://schemas.microsoft.com/office/powerpoint/2010/main" val="2177051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4D5C485-9E06-3AB7-06BB-CFD5A5FD3C42}"/>
              </a:ext>
            </a:extLst>
          </p:cNvPr>
          <p:cNvSpPr txBox="1"/>
          <p:nvPr/>
        </p:nvSpPr>
        <p:spPr>
          <a:xfrm>
            <a:off x="1150620" y="1463558"/>
            <a:ext cx="9890759" cy="5262979"/>
          </a:xfrm>
          <a:prstGeom prst="rect">
            <a:avLst/>
          </a:prstGeom>
          <a:noFill/>
        </p:spPr>
        <p:txBody>
          <a:bodyPr wrap="square" rtlCol="0">
            <a:spAutoFit/>
          </a:bodyPr>
          <a:lstStyle/>
          <a:p>
            <a:pPr marL="0" indent="0">
              <a:buNone/>
            </a:pPr>
            <a:r>
              <a:rPr lang="en-US" altLang="zh-CN" sz="2400" b="1"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摆动相</a:t>
            </a:r>
            <a:r>
              <a:rPr lang="en-US" altLang="zh-CN" sz="2400" b="1" dirty="0">
                <a:latin typeface="微软雅黑" panose="020B0503020204020204" pitchFamily="34" charset="-122"/>
                <a:ea typeface="微软雅黑" panose="020B0503020204020204" pitchFamily="34" charset="-122"/>
              </a:rPr>
              <a:t>(swinging phase)</a:t>
            </a:r>
            <a:r>
              <a:rPr lang="zh-CN" altLang="en-US" sz="2400" b="1" dirty="0">
                <a:latin typeface="微软雅黑" panose="020B0503020204020204" pitchFamily="34" charset="-122"/>
                <a:ea typeface="微软雅黑" panose="020B0503020204020204" pitchFamily="34" charset="-122"/>
              </a:rPr>
              <a:t>：腿部处于空中的状态称为摆动相。</a:t>
            </a:r>
          </a:p>
          <a:p>
            <a:pPr marL="0" indent="0">
              <a:buNone/>
            </a:pPr>
            <a:r>
              <a:rPr lang="en-US" altLang="zh-CN" sz="2400" b="1" dirty="0">
                <a:latin typeface="微软雅黑" panose="020B0503020204020204" pitchFamily="34" charset="-122"/>
                <a:ea typeface="微软雅黑" panose="020B0503020204020204" pitchFamily="34" charset="-122"/>
              </a:rPr>
              <a:t>(5)</a:t>
            </a:r>
            <a:r>
              <a:rPr lang="zh-CN" altLang="en-US" sz="2400" b="1" dirty="0">
                <a:latin typeface="微软雅黑" panose="020B0503020204020204" pitchFamily="34" charset="-122"/>
                <a:ea typeface="微软雅黑" panose="020B0503020204020204" pitchFamily="34" charset="-122"/>
              </a:rPr>
              <a:t>支撑多边形</a:t>
            </a:r>
            <a:r>
              <a:rPr lang="en-US" altLang="zh-CN" sz="2400" b="1" dirty="0">
                <a:latin typeface="微软雅黑" panose="020B0503020204020204" pitchFamily="34" charset="-122"/>
                <a:ea typeface="微软雅黑" panose="020B0503020204020204" pitchFamily="34" charset="-122"/>
              </a:rPr>
              <a:t>(support polygon)</a:t>
            </a:r>
            <a:r>
              <a:rPr lang="zh-CN" altLang="en-US" sz="2400" b="1" dirty="0">
                <a:latin typeface="微软雅黑" panose="020B0503020204020204" pitchFamily="34" charset="-122"/>
                <a:ea typeface="微软雅黑" panose="020B0503020204020204" pitchFamily="34" charset="-122"/>
              </a:rPr>
              <a:t>：支撑腿着地点由凸形轮廓线所构成的凸多边形在水平面上的投影。</a:t>
            </a:r>
            <a:endParaRPr lang="en-US" altLang="zh-CN" sz="2400" b="1" dirty="0">
              <a:latin typeface="微软雅黑" panose="020B0503020204020204" pitchFamily="34" charset="-122"/>
              <a:ea typeface="微软雅黑" panose="020B0503020204020204" pitchFamily="34" charset="-122"/>
            </a:endParaRPr>
          </a:p>
          <a:p>
            <a:pPr marL="0" indent="0">
              <a:buNone/>
            </a:pPr>
            <a:r>
              <a:rPr lang="en-US" altLang="zh-CN" sz="2400" b="1" dirty="0">
                <a:latin typeface="微软雅黑" panose="020B0503020204020204" pitchFamily="34" charset="-122"/>
                <a:ea typeface="微软雅黑" panose="020B0503020204020204" pitchFamily="34" charset="-122"/>
              </a:rPr>
              <a:t>(6)</a:t>
            </a:r>
            <a:r>
              <a:rPr lang="zh-CN" altLang="en-US" sz="2400" b="1" dirty="0">
                <a:latin typeface="微软雅黑" panose="020B0503020204020204" pitchFamily="34" charset="-122"/>
                <a:ea typeface="微软雅黑" panose="020B0503020204020204" pitchFamily="34" charset="-122"/>
              </a:rPr>
              <a:t>静态步行</a:t>
            </a:r>
            <a:r>
              <a:rPr lang="en-US" altLang="zh-CN" sz="2400" b="1" dirty="0">
                <a:latin typeface="微软雅黑" panose="020B0503020204020204" pitchFamily="34" charset="-122"/>
                <a:ea typeface="微软雅黑" panose="020B0503020204020204" pitchFamily="34" charset="-122"/>
              </a:rPr>
              <a:t>(static walk)</a:t>
            </a:r>
            <a:r>
              <a:rPr lang="zh-CN" altLang="en-US" sz="2400" b="1" dirty="0">
                <a:latin typeface="微软雅黑" panose="020B0503020204020204" pitchFamily="34" charset="-122"/>
                <a:ea typeface="微软雅黑" panose="020B0503020204020204" pitchFamily="34" charset="-122"/>
              </a:rPr>
              <a:t>：机器人合成质心在水平面上的垂直投影点处于支撑多边形内的状态称为静态稳定状态；始终保持静态稳定状态的步行称为静态步行。</a:t>
            </a:r>
          </a:p>
          <a:p>
            <a:pPr marL="0" indent="0">
              <a:buNone/>
            </a:pPr>
            <a:r>
              <a:rPr lang="en-US" altLang="zh-CN" sz="2400" b="1" dirty="0">
                <a:latin typeface="微软雅黑" panose="020B0503020204020204" pitchFamily="34" charset="-122"/>
                <a:ea typeface="微软雅黑" panose="020B0503020204020204" pitchFamily="34" charset="-122"/>
              </a:rPr>
              <a:t>(7)</a:t>
            </a:r>
            <a:r>
              <a:rPr lang="zh-CN" altLang="en-US" sz="2400" b="1" dirty="0">
                <a:latin typeface="微软雅黑" panose="020B0503020204020204" pitchFamily="34" charset="-122"/>
                <a:ea typeface="微软雅黑" panose="020B0503020204020204" pitchFamily="34" charset="-122"/>
              </a:rPr>
              <a:t>动态步行</a:t>
            </a:r>
            <a:r>
              <a:rPr lang="en-US" altLang="zh-CN" sz="2400" b="1" dirty="0">
                <a:latin typeface="微软雅黑" panose="020B0503020204020204" pitchFamily="34" charset="-122"/>
                <a:ea typeface="微软雅黑" panose="020B0503020204020204" pitchFamily="34" charset="-122"/>
              </a:rPr>
              <a:t>(dynamic walk)</a:t>
            </a:r>
            <a:r>
              <a:rPr lang="zh-CN" altLang="en-US" sz="2400" b="1" dirty="0">
                <a:latin typeface="微软雅黑" panose="020B0503020204020204" pitchFamily="34" charset="-122"/>
                <a:ea typeface="微软雅黑" panose="020B0503020204020204" pitchFamily="34" charset="-122"/>
              </a:rPr>
              <a:t>、准动态步行</a:t>
            </a:r>
            <a:r>
              <a:rPr lang="en-US" altLang="zh-CN" sz="2400" b="1" dirty="0">
                <a:latin typeface="微软雅黑" panose="020B0503020204020204" pitchFamily="34" charset="-122"/>
                <a:ea typeface="微软雅黑" panose="020B0503020204020204" pitchFamily="34" charset="-122"/>
              </a:rPr>
              <a:t>(quasi-dynamic walk)</a:t>
            </a:r>
            <a:r>
              <a:rPr lang="zh-CN" altLang="en-US" sz="2400" b="1" dirty="0">
                <a:latin typeface="微软雅黑" panose="020B0503020204020204" pitchFamily="34" charset="-122"/>
                <a:ea typeface="微软雅黑" panose="020B0503020204020204" pitchFamily="34" charset="-122"/>
              </a:rPr>
              <a:t>：步行过程中某段时间不能保持静态稳定状态的步行称为准动态步行；步行中完全不能处于静态稳定状态的持续步行称为动态步行。</a:t>
            </a:r>
          </a:p>
          <a:p>
            <a:pPr marL="0" indent="0">
              <a:buNone/>
            </a:pPr>
            <a:r>
              <a:rPr lang="en-US" altLang="zh-CN" sz="2400" b="1" dirty="0">
                <a:latin typeface="微软雅黑" panose="020B0503020204020204" pitchFamily="34" charset="-122"/>
                <a:ea typeface="微软雅黑" panose="020B0503020204020204" pitchFamily="34" charset="-122"/>
              </a:rPr>
              <a:t>(8)</a:t>
            </a:r>
            <a:r>
              <a:rPr lang="zh-CN" altLang="en-US" sz="2400" b="1" dirty="0">
                <a:latin typeface="微软雅黑" panose="020B0503020204020204" pitchFamily="34" charset="-122"/>
                <a:ea typeface="微软雅黑" panose="020B0503020204020204" pitchFamily="34" charset="-122"/>
              </a:rPr>
              <a:t>跨步</a:t>
            </a:r>
            <a:r>
              <a:rPr lang="en-US" altLang="zh-CN" sz="2400" b="1" dirty="0">
                <a:latin typeface="微软雅黑" panose="020B0503020204020204" pitchFamily="34" charset="-122"/>
                <a:ea typeface="微软雅黑" panose="020B0503020204020204" pitchFamily="34" charset="-122"/>
              </a:rPr>
              <a:t>(stride)</a:t>
            </a:r>
            <a:r>
              <a:rPr lang="zh-CN" altLang="en-US" sz="2400" b="1" dirty="0">
                <a:latin typeface="微软雅黑" panose="020B0503020204020204" pitchFamily="34" charset="-122"/>
                <a:ea typeface="微软雅黑" panose="020B0503020204020204" pitchFamily="34" charset="-122"/>
              </a:rPr>
              <a:t>：腿部的周期运动称为跨步。</a:t>
            </a:r>
          </a:p>
          <a:p>
            <a:pPr marL="0" indent="0">
              <a:buNone/>
            </a:pPr>
            <a:r>
              <a:rPr lang="en-US" altLang="zh-CN" sz="2400" b="1" dirty="0">
                <a:latin typeface="微软雅黑" panose="020B0503020204020204" pitchFamily="34" charset="-122"/>
                <a:ea typeface="微软雅黑" panose="020B0503020204020204" pitchFamily="34" charset="-122"/>
              </a:rPr>
              <a:t>(9)</a:t>
            </a:r>
            <a:r>
              <a:rPr lang="zh-CN" altLang="en-US" sz="2400" b="1" dirty="0">
                <a:latin typeface="微软雅黑" panose="020B0503020204020204" pitchFamily="34" charset="-122"/>
                <a:ea typeface="微软雅黑" panose="020B0503020204020204" pitchFamily="34" charset="-122"/>
              </a:rPr>
              <a:t>步长</a:t>
            </a:r>
            <a:r>
              <a:rPr lang="en-US" altLang="zh-CN" sz="2400" b="1" dirty="0">
                <a:latin typeface="微软雅黑" panose="020B0503020204020204" pitchFamily="34" charset="-122"/>
                <a:ea typeface="微软雅黑" panose="020B0503020204020204" pitchFamily="34" charset="-122"/>
              </a:rPr>
              <a:t>(stride length)</a:t>
            </a:r>
            <a:r>
              <a:rPr lang="zh-CN" altLang="en-US" sz="2400" b="1" dirty="0">
                <a:latin typeface="微软雅黑" panose="020B0503020204020204" pitchFamily="34" charset="-122"/>
                <a:ea typeface="微软雅黑" panose="020B0503020204020204" pitchFamily="34" charset="-122"/>
              </a:rPr>
              <a:t>：单位周期内质心的移动距离称为步长。</a:t>
            </a:r>
          </a:p>
          <a:p>
            <a:pPr marL="0" indent="0">
              <a:buNone/>
            </a:pPr>
            <a:endParaRPr lang="en-US" altLang="zh-CN" b="1" dirty="0">
              <a:latin typeface="微软雅黑" panose="020B0503020204020204" pitchFamily="34" charset="-122"/>
              <a:ea typeface="微软雅黑" panose="020B0503020204020204" pitchFamily="34" charset="-122"/>
            </a:endParaRPr>
          </a:p>
          <a:p>
            <a:pPr marL="0" indent="0">
              <a:buNone/>
            </a:pPr>
            <a:endParaRPr lang="en-US" altLang="zh-CN" b="1" dirty="0">
              <a:latin typeface="微软雅黑" panose="020B0503020204020204" pitchFamily="34" charset="-122"/>
              <a:ea typeface="微软雅黑" panose="020B0503020204020204" pitchFamily="34" charset="-122"/>
            </a:endParaRPr>
          </a:p>
          <a:p>
            <a:pPr marL="0" indent="0">
              <a:buNone/>
            </a:pPr>
            <a:endParaRPr lang="zh-CN" altLang="en-US" b="1" dirty="0">
              <a:latin typeface="微软雅黑" panose="020B0503020204020204" pitchFamily="34" charset="-122"/>
              <a:ea typeface="微软雅黑" panose="020B0503020204020204" pitchFamily="34" charset="-122"/>
            </a:endParaRPr>
          </a:p>
          <a:p>
            <a:endParaRPr lang="zh-CN" altLang="en-US" dirty="0"/>
          </a:p>
        </p:txBody>
      </p:sp>
      <p:sp>
        <p:nvSpPr>
          <p:cNvPr id="5" name="文本框 4">
            <a:extLst>
              <a:ext uri="{FF2B5EF4-FFF2-40B4-BE49-F238E27FC236}">
                <a16:creationId xmlns:a16="http://schemas.microsoft.com/office/drawing/2014/main" id="{37F56DDA-B95C-5805-0CBC-63BB1DE40E0C}"/>
              </a:ext>
            </a:extLst>
          </p:cNvPr>
          <p:cNvSpPr txBox="1"/>
          <p:nvPr/>
        </p:nvSpPr>
        <p:spPr>
          <a:xfrm>
            <a:off x="1698306" y="0"/>
            <a:ext cx="4064000" cy="954107"/>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5.1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步态规划的基本概念</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751051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3B0452D-FA6B-FBD8-778A-32274DDB403E}"/>
              </a:ext>
            </a:extLst>
          </p:cNvPr>
          <p:cNvSpPr txBox="1"/>
          <p:nvPr/>
        </p:nvSpPr>
        <p:spPr>
          <a:xfrm>
            <a:off x="1698306" y="0"/>
            <a:ext cx="4064000" cy="954107"/>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5.1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步态规划的基本概念</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7D92263-9BC4-395A-C0A2-60F33575138C}"/>
                  </a:ext>
                </a:extLst>
              </p:cNvPr>
              <p:cNvSpPr txBox="1"/>
              <p:nvPr/>
            </p:nvSpPr>
            <p:spPr>
              <a:xfrm>
                <a:off x="1210491" y="1463040"/>
                <a:ext cx="10075818" cy="4801314"/>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rPr>
                  <a:t>(10)</a:t>
                </a:r>
                <a:r>
                  <a:rPr lang="zh-CN" altLang="en-US" sz="2400" b="1" dirty="0">
                    <a:latin typeface="微软雅黑" panose="020B0503020204020204" pitchFamily="34" charset="-122"/>
                    <a:ea typeface="微软雅黑" panose="020B0503020204020204" pitchFamily="34" charset="-122"/>
                  </a:rPr>
                  <a:t>占空系数 </a:t>
                </a:r>
                <a14:m>
                  <m:oMath xmlns:m="http://schemas.openxmlformats.org/officeDocument/2006/math">
                    <m:r>
                      <a:rPr lang="zh-CN" altLang="en-US" sz="2400" b="1" i="1" smtClean="0">
                        <a:latin typeface="Cambria Math" panose="02040503050406030204" pitchFamily="18" charset="0"/>
                      </a:rPr>
                      <m:t>𝜷</m:t>
                    </m:r>
                  </m:oMath>
                </a14:m>
                <a:r>
                  <a:rPr lang="en-US" altLang="zh-CN" sz="2400" b="1" dirty="0">
                    <a:latin typeface="微软雅黑" panose="020B0503020204020204" pitchFamily="34" charset="-122"/>
                    <a:ea typeface="微软雅黑" panose="020B0503020204020204" pitchFamily="34" charset="-122"/>
                  </a:rPr>
                  <a:t> (duty factor)</a:t>
                </a:r>
                <a:r>
                  <a:rPr lang="zh-CN" altLang="en-US" sz="2400" b="1" dirty="0">
                    <a:latin typeface="微软雅黑" panose="020B0503020204020204" pitchFamily="34" charset="-122"/>
                    <a:ea typeface="微软雅黑" panose="020B0503020204020204" pitchFamily="34" charset="-122"/>
                  </a:rPr>
                  <a:t>：在单位跨步运动中，某条腿着地时间与步行周期之比称为占空系数。</a:t>
                </a:r>
                <a:endParaRPr lang="en-US" altLang="zh-CN" sz="2400" b="1" dirty="0">
                  <a:latin typeface="微软雅黑" panose="020B0503020204020204" pitchFamily="34" charset="-122"/>
                  <a:ea typeface="微软雅黑" panose="020B0503020204020204" pitchFamily="34" charset="-122"/>
                </a:endParaRPr>
              </a:p>
              <a:p>
                <a:r>
                  <a:rPr lang="en-US" altLang="zh-CN" sz="2400" b="1" dirty="0">
                    <a:latin typeface="微软雅黑" panose="020B0503020204020204" pitchFamily="34" charset="-122"/>
                    <a:ea typeface="微软雅黑" panose="020B0503020204020204" pitchFamily="34" charset="-122"/>
                  </a:rPr>
                  <a:t>(11)</a:t>
                </a:r>
                <a:r>
                  <a:rPr lang="zh-CN" altLang="en-US" sz="2400" b="1" dirty="0">
                    <a:latin typeface="微软雅黑" panose="020B0503020204020204" pitchFamily="34" charset="-122"/>
                    <a:ea typeface="微软雅黑" panose="020B0503020204020204" pitchFamily="34" charset="-122"/>
                  </a:rPr>
                  <a:t>稳定裕量</a:t>
                </a:r>
                <a:r>
                  <a:rPr lang="en-US" altLang="zh-CN" sz="2400" b="1" dirty="0">
                    <a:latin typeface="微软雅黑" panose="020B0503020204020204" pitchFamily="34" charset="-122"/>
                    <a:ea typeface="微软雅黑" panose="020B0503020204020204" pitchFamily="34" charset="-122"/>
                  </a:rPr>
                  <a:t>(stability margin)</a:t>
                </a:r>
                <a:r>
                  <a:rPr lang="zh-CN" altLang="en-US" sz="2400" b="1" dirty="0">
                    <a:latin typeface="微软雅黑" panose="020B0503020204020204" pitchFamily="34" charset="-122"/>
                    <a:ea typeface="微软雅黑" panose="020B0503020204020204" pitchFamily="34" charset="-122"/>
                  </a:rPr>
                  <a:t>：机器人质心在水平面上的垂直投影点到支撑多边形各边的最短距离称为该时刻的稳定裕量。对于某一种周期性步态，在步行周期中稳定裕量的最小值称为步态的稳定裕量。</a:t>
                </a:r>
                <a:endParaRPr lang="en-US" altLang="zh-CN" sz="2400" b="1" dirty="0">
                  <a:latin typeface="微软雅黑" panose="020B0503020204020204" pitchFamily="34" charset="-122"/>
                  <a:ea typeface="微软雅黑" panose="020B0503020204020204" pitchFamily="34" charset="-122"/>
                </a:endParaRPr>
              </a:p>
              <a:p>
                <a:r>
                  <a:rPr lang="en-US" altLang="zh-CN" sz="2400" b="1" dirty="0">
                    <a:latin typeface="微软雅黑" panose="020B0503020204020204" pitchFamily="34" charset="-122"/>
                    <a:ea typeface="微软雅黑" panose="020B0503020204020204" pitchFamily="34" charset="-122"/>
                  </a:rPr>
                  <a:t>(12)</a:t>
                </a:r>
                <a:r>
                  <a:rPr lang="zh-CN" altLang="en-US" sz="2400" b="1" dirty="0">
                    <a:latin typeface="微软雅黑" panose="020B0503020204020204" pitchFamily="34" charset="-122"/>
                    <a:ea typeface="微软雅黑" panose="020B0503020204020204" pitchFamily="34" charset="-122"/>
                  </a:rPr>
                  <a:t>脚行程</a:t>
                </a:r>
                <a:r>
                  <a:rPr lang="en-US" altLang="zh-CN" sz="2400" b="1" dirty="0">
                    <a:latin typeface="微软雅黑" panose="020B0503020204020204" pitchFamily="34" charset="-122"/>
                    <a:ea typeface="微软雅黑" panose="020B0503020204020204" pitchFamily="34" charset="-122"/>
                  </a:rPr>
                  <a:t>(step length</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stroke length)</a:t>
                </a:r>
                <a:r>
                  <a:rPr lang="zh-CN" altLang="en-US" sz="2400" b="1" dirty="0">
                    <a:latin typeface="微软雅黑" panose="020B0503020204020204" pitchFamily="34" charset="-122"/>
                    <a:ea typeface="微软雅黑" panose="020B0503020204020204" pitchFamily="34" charset="-122"/>
                  </a:rPr>
                  <a:t>：处于支撑相时，摆动腿足端相对于机体移动的距离，也称为步幅。</a:t>
                </a:r>
              </a:p>
              <a:p>
                <a:r>
                  <a:rPr lang="en-US" altLang="zh-CN" sz="2400" b="1" dirty="0">
                    <a:latin typeface="微软雅黑" panose="020B0503020204020204" pitchFamily="34" charset="-122"/>
                    <a:ea typeface="微软雅黑" panose="020B0503020204020204" pitchFamily="34" charset="-122"/>
                  </a:rPr>
                  <a:t>(13)</a:t>
                </a:r>
                <a:r>
                  <a:rPr lang="zh-CN" altLang="en-US" sz="2400" b="1" dirty="0">
                    <a:latin typeface="微软雅黑" panose="020B0503020204020204" pitchFamily="34" charset="-122"/>
                    <a:ea typeface="微软雅黑" panose="020B0503020204020204" pitchFamily="34" charset="-122"/>
                  </a:rPr>
                  <a:t>规则步态：所有腿的占空系数都相等的步态称为规则步态。</a:t>
                </a:r>
              </a:p>
              <a:p>
                <a:r>
                  <a:rPr lang="zh-CN" altLang="en-US" sz="2400" b="1" dirty="0">
                    <a:latin typeface="微软雅黑" panose="020B0503020204020204" pitchFamily="34" charset="-122"/>
                    <a:ea typeface="微软雅黑" panose="020B0503020204020204" pitchFamily="34" charset="-122"/>
                  </a:rPr>
                  <a:t>       四足机器人的各种步态，一般可以根据占空系数 </a:t>
                </a:r>
                <a14:m>
                  <m:oMath xmlns:m="http://schemas.openxmlformats.org/officeDocument/2006/math">
                    <m:r>
                      <a:rPr lang="zh-CN" altLang="en-US" sz="2400" b="1" i="1">
                        <a:latin typeface="Cambria Math" panose="02040503050406030204" pitchFamily="18" charset="0"/>
                      </a:rPr>
                      <m:t>𝜷</m:t>
                    </m:r>
                  </m:oMath>
                </a14:m>
                <a:r>
                  <a:rPr lang="zh-CN" altLang="en-US" sz="2400" b="1" dirty="0">
                    <a:latin typeface="微软雅黑" panose="020B0503020204020204" pitchFamily="34" charset="-122"/>
                    <a:ea typeface="微软雅黑" panose="020B0503020204020204" pitchFamily="34" charset="-122"/>
                  </a:rPr>
                  <a:t> 将步态分为静步态和动步态。静步态的占空比一般满足</a:t>
                </a:r>
                <a14:m>
                  <m:oMath xmlns:m="http://schemas.openxmlformats.org/officeDocument/2006/math">
                    <m:r>
                      <a:rPr lang="en-US" altLang="zh-CN" sz="2400" b="1" i="0" smtClean="0">
                        <a:latin typeface="Cambria Math" panose="02040503050406030204" pitchFamily="18" charset="0"/>
                      </a:rPr>
                      <m:t> </m:t>
                    </m:r>
                    <m:r>
                      <a:rPr lang="zh-CN" altLang="en-US" sz="2400" b="1" i="1" smtClean="0">
                        <a:latin typeface="Cambria Math" panose="02040503050406030204" pitchFamily="18" charset="0"/>
                      </a:rPr>
                      <m:t>𝜷</m:t>
                    </m:r>
                  </m:oMath>
                </a14:m>
                <a:r>
                  <a:rPr lang="en-US" altLang="zh-CN" sz="2400" b="1" dirty="0">
                    <a:latin typeface="微软雅黑" panose="020B0503020204020204" pitchFamily="34" charset="-122"/>
                    <a:ea typeface="微软雅黑" panose="020B0503020204020204" pitchFamily="34" charset="-122"/>
                  </a:rPr>
                  <a:t> &gt; 0.5</a:t>
                </a:r>
                <a:r>
                  <a:rPr lang="zh-CN" altLang="en-US" sz="2400" b="1" dirty="0">
                    <a:latin typeface="微软雅黑" panose="020B0503020204020204" pitchFamily="34" charset="-122"/>
                    <a:ea typeface="微软雅黑" panose="020B0503020204020204" pitchFamily="34" charset="-122"/>
                  </a:rPr>
                  <a:t>，动步态占空比一般满足</a:t>
                </a:r>
                <a14:m>
                  <m:oMath xmlns:m="http://schemas.openxmlformats.org/officeDocument/2006/math">
                    <m:r>
                      <a:rPr lang="zh-CN" altLang="en-US" sz="2400" b="1" i="1">
                        <a:latin typeface="Cambria Math" panose="02040503050406030204" pitchFamily="18" charset="0"/>
                      </a:rPr>
                      <m:t>𝜷</m:t>
                    </m:r>
                  </m:oMath>
                </a14:m>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0.5</a:t>
                </a:r>
                <a:r>
                  <a:rPr lang="zh-CN" altLang="en-US" sz="2400" b="1" dirty="0">
                    <a:latin typeface="微软雅黑" panose="020B0503020204020204" pitchFamily="34" charset="-122"/>
                    <a:ea typeface="微软雅黑" panose="020B0503020204020204" pitchFamily="34" charset="-122"/>
                  </a:rPr>
                  <a:t>。再具体分，静步态主要是指行走步态，而动步态可以分为对角小跑步态、遛步步态、跳跃步态和奔跑步态等。</a:t>
                </a:r>
              </a:p>
              <a:p>
                <a:endParaRPr lang="zh-CN" altLang="en-US" dirty="0"/>
              </a:p>
            </p:txBody>
          </p:sp>
        </mc:Choice>
        <mc:Fallback xmlns="">
          <p:sp>
            <p:nvSpPr>
              <p:cNvPr id="6" name="文本框 5">
                <a:extLst>
                  <a:ext uri="{FF2B5EF4-FFF2-40B4-BE49-F238E27FC236}">
                    <a16:creationId xmlns:a16="http://schemas.microsoft.com/office/drawing/2014/main" id="{97D92263-9BC4-395A-C0A2-60F33575138C}"/>
                  </a:ext>
                </a:extLst>
              </p:cNvPr>
              <p:cNvSpPr txBox="1">
                <a:spLocks noRot="1" noChangeAspect="1" noMove="1" noResize="1" noEditPoints="1" noAdjustHandles="1" noChangeArrowheads="1" noChangeShapeType="1" noTextEdit="1"/>
              </p:cNvSpPr>
              <p:nvPr/>
            </p:nvSpPr>
            <p:spPr>
              <a:xfrm>
                <a:off x="1210491" y="1463040"/>
                <a:ext cx="10075818" cy="4801314"/>
              </a:xfrm>
              <a:prstGeom prst="rect">
                <a:avLst/>
              </a:prstGeom>
              <a:blipFill>
                <a:blip r:embed="rId2"/>
                <a:stretch>
                  <a:fillRect l="-969" t="-1015" r="-10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70584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3B0452D-FA6B-FBD8-778A-32274DDB403E}"/>
              </a:ext>
            </a:extLst>
          </p:cNvPr>
          <p:cNvSpPr txBox="1"/>
          <p:nvPr/>
        </p:nvSpPr>
        <p:spPr>
          <a:xfrm>
            <a:off x="1698306" y="0"/>
            <a:ext cx="4064000" cy="954107"/>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5.1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步态规划的基本概念</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a:extLst>
              <a:ext uri="{FF2B5EF4-FFF2-40B4-BE49-F238E27FC236}">
                <a16:creationId xmlns:a16="http://schemas.microsoft.com/office/drawing/2014/main" id="{B8254DC9-51EB-86C5-E656-19364F31A08B}"/>
              </a:ext>
            </a:extLst>
          </p:cNvPr>
          <p:cNvSpPr txBox="1"/>
          <p:nvPr/>
        </p:nvSpPr>
        <p:spPr>
          <a:xfrm>
            <a:off x="927463" y="1332411"/>
            <a:ext cx="10162903" cy="2677656"/>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       在图</a:t>
            </a:r>
            <a:r>
              <a:rPr lang="en-US" altLang="zh-CN" sz="2400" b="1" dirty="0">
                <a:latin typeface="微软雅黑" panose="020B0503020204020204" pitchFamily="34" charset="-122"/>
                <a:ea typeface="微软雅黑" panose="020B0503020204020204" pitchFamily="34" charset="-122"/>
              </a:rPr>
              <a:t>5.1</a:t>
            </a:r>
            <a:r>
              <a:rPr lang="zh-CN" altLang="en-US" sz="2400" b="1" dirty="0">
                <a:latin typeface="微软雅黑" panose="020B0503020204020204" pitchFamily="34" charset="-122"/>
                <a:ea typeface="微软雅黑" panose="020B0503020204020204" pitchFamily="34" charset="-122"/>
              </a:rPr>
              <a:t>所示的动物的各种步态中，行走步态是一种静步态，任意时刻至少有三条腿着地；对角小跑步态是处于对角线上的两条腿同时摆动的动步态，一对腿处于支撑相，另一对腿处于摆动相；遛步步态与对角小跑步态不同的是，使用身体同一侧的双腿同时摆动，另一侧的双腿处于支撑相；跳跃步态是前后腿交替动作的步态，运动过程中躯干会有明显的俯仰运动；奔跑步态与跳跃步态的不同之处在于其先前双腿先后着地，再后双腿先后着地。</a:t>
            </a:r>
          </a:p>
        </p:txBody>
      </p:sp>
    </p:spTree>
    <p:extLst>
      <p:ext uri="{BB962C8B-B14F-4D97-AF65-F5344CB8AC3E}">
        <p14:creationId xmlns:p14="http://schemas.microsoft.com/office/powerpoint/2010/main" val="967433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3B0452D-FA6B-FBD8-778A-32274DDB403E}"/>
              </a:ext>
            </a:extLst>
          </p:cNvPr>
          <p:cNvSpPr txBox="1"/>
          <p:nvPr/>
        </p:nvSpPr>
        <p:spPr>
          <a:xfrm>
            <a:off x="1698306" y="0"/>
            <a:ext cx="4064000" cy="954107"/>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5.1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步态规划的基本概念</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a:extLst>
              <a:ext uri="{FF2B5EF4-FFF2-40B4-BE49-F238E27FC236}">
                <a16:creationId xmlns:a16="http://schemas.microsoft.com/office/drawing/2014/main" id="{2B9DD1C3-27EA-7BEF-4546-204A28C4A82F}"/>
              </a:ext>
            </a:extLst>
          </p:cNvPr>
          <p:cNvSpPr txBox="1"/>
          <p:nvPr/>
        </p:nvSpPr>
        <p:spPr>
          <a:xfrm>
            <a:off x="2699066" y="5274875"/>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5.1  </a:t>
            </a:r>
            <a:r>
              <a:rPr lang="zh-CN" altLang="zh-CN" sz="1800" kern="1000" dirty="0">
                <a:effectLst/>
                <a:latin typeface="Times New Roman" panose="02020603050405020304" pitchFamily="18" charset="0"/>
                <a:ea typeface="宋体" panose="02010600030101010101" pitchFamily="2" charset="-122"/>
              </a:rPr>
              <a:t>四足动物步态类型示意图</a:t>
            </a:r>
          </a:p>
        </p:txBody>
      </p:sp>
      <p:pic>
        <p:nvPicPr>
          <p:cNvPr id="9" name="图片 3">
            <a:extLst>
              <a:ext uri="{FF2B5EF4-FFF2-40B4-BE49-F238E27FC236}">
                <a16:creationId xmlns:a16="http://schemas.microsoft.com/office/drawing/2014/main" id="{D01C4992-5FC9-5310-0B9E-58EBE26B10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2637" y="1398459"/>
            <a:ext cx="337185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a:extLst>
              <a:ext uri="{FF2B5EF4-FFF2-40B4-BE49-F238E27FC236}">
                <a16:creationId xmlns:a16="http://schemas.microsoft.com/office/drawing/2014/main" id="{EB8D4DD6-6CF6-E2A2-BED8-C580F8F47B8F}"/>
              </a:ext>
            </a:extLst>
          </p:cNvPr>
          <p:cNvSpPr txBox="1"/>
          <p:nvPr/>
        </p:nvSpPr>
        <p:spPr>
          <a:xfrm>
            <a:off x="2242659" y="2164785"/>
            <a:ext cx="2987994" cy="338554"/>
          </a:xfrm>
          <a:prstGeom prst="rect">
            <a:avLst/>
          </a:prstGeom>
          <a:noFill/>
        </p:spPr>
        <p:txBody>
          <a:bodyPr wrap="square">
            <a:spAutoFit/>
          </a:bodyPr>
          <a:lstStyle/>
          <a:p>
            <a:r>
              <a:rPr lang="af-ZA" altLang="zh-CN" sz="1600" dirty="0"/>
              <a:t>(a) </a:t>
            </a:r>
            <a:r>
              <a:rPr lang="zh-CN" altLang="en-US" sz="1600" dirty="0"/>
              <a:t>行走（</a:t>
            </a:r>
            <a:r>
              <a:rPr lang="af-ZA" altLang="zh-CN" sz="1600" dirty="0"/>
              <a:t>walk</a:t>
            </a:r>
            <a:r>
              <a:rPr lang="zh-CN" altLang="af-ZA" sz="1600" dirty="0"/>
              <a:t>）</a:t>
            </a:r>
            <a:r>
              <a:rPr lang="zh-CN" altLang="en-US" sz="1600" dirty="0"/>
              <a:t>步态示意图</a:t>
            </a:r>
          </a:p>
        </p:txBody>
      </p:sp>
      <p:pic>
        <p:nvPicPr>
          <p:cNvPr id="12" name="图片 7">
            <a:extLst>
              <a:ext uri="{FF2B5EF4-FFF2-40B4-BE49-F238E27FC236}">
                <a16:creationId xmlns:a16="http://schemas.microsoft.com/office/drawing/2014/main" id="{DFFBECA4-E9AC-FD1C-E092-8C2EF68B1D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2637" y="2636398"/>
            <a:ext cx="3310731" cy="792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13">
            <a:extLst>
              <a:ext uri="{FF2B5EF4-FFF2-40B4-BE49-F238E27FC236}">
                <a16:creationId xmlns:a16="http://schemas.microsoft.com/office/drawing/2014/main" id="{F8180EFA-2857-2B9F-EBE8-86379CE1A5AE}"/>
              </a:ext>
            </a:extLst>
          </p:cNvPr>
          <p:cNvSpPr txBox="1"/>
          <p:nvPr/>
        </p:nvSpPr>
        <p:spPr>
          <a:xfrm>
            <a:off x="2128526" y="3429000"/>
            <a:ext cx="3310731" cy="338554"/>
          </a:xfrm>
          <a:prstGeom prst="rect">
            <a:avLst/>
          </a:prstGeom>
          <a:noFill/>
        </p:spPr>
        <p:txBody>
          <a:bodyPr wrap="square">
            <a:spAutoFit/>
          </a:bodyPr>
          <a:lstStyle/>
          <a:p>
            <a:r>
              <a:rPr lang="en-US" altLang="zh-CN" sz="1600" dirty="0"/>
              <a:t>(b) </a:t>
            </a:r>
            <a:r>
              <a:rPr lang="zh-CN" altLang="en-US" sz="1600" dirty="0"/>
              <a:t>对角小跑（</a:t>
            </a:r>
            <a:r>
              <a:rPr lang="en-US" altLang="zh-CN" sz="1600" dirty="0"/>
              <a:t>trot</a:t>
            </a:r>
            <a:r>
              <a:rPr lang="zh-CN" altLang="en-US" sz="1600" dirty="0"/>
              <a:t>）步态示意图</a:t>
            </a:r>
          </a:p>
        </p:txBody>
      </p:sp>
      <p:pic>
        <p:nvPicPr>
          <p:cNvPr id="15" name="图片 10">
            <a:extLst>
              <a:ext uri="{FF2B5EF4-FFF2-40B4-BE49-F238E27FC236}">
                <a16:creationId xmlns:a16="http://schemas.microsoft.com/office/drawing/2014/main" id="{B89BE3BC-56B4-1960-72FA-3A0A73A958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8515" y="3840749"/>
            <a:ext cx="3408363"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本框 16">
            <a:extLst>
              <a:ext uri="{FF2B5EF4-FFF2-40B4-BE49-F238E27FC236}">
                <a16:creationId xmlns:a16="http://schemas.microsoft.com/office/drawing/2014/main" id="{700A37EA-93B9-67E8-D362-0E9B31FB21F8}"/>
              </a:ext>
            </a:extLst>
          </p:cNvPr>
          <p:cNvSpPr txBox="1"/>
          <p:nvPr/>
        </p:nvSpPr>
        <p:spPr>
          <a:xfrm>
            <a:off x="2178528" y="4669781"/>
            <a:ext cx="3301206" cy="338554"/>
          </a:xfrm>
          <a:prstGeom prst="rect">
            <a:avLst/>
          </a:prstGeom>
          <a:noFill/>
        </p:spPr>
        <p:txBody>
          <a:bodyPr wrap="square">
            <a:spAutoFit/>
          </a:bodyPr>
          <a:lstStyle/>
          <a:p>
            <a:r>
              <a:rPr lang="en-US" altLang="zh-CN" sz="1600" dirty="0"/>
              <a:t>(c) </a:t>
            </a:r>
            <a:r>
              <a:rPr lang="zh-CN" altLang="en-US" sz="1600" dirty="0"/>
              <a:t>溜蹄（</a:t>
            </a:r>
            <a:r>
              <a:rPr lang="en-US" altLang="zh-CN" sz="1600" dirty="0"/>
              <a:t>pace</a:t>
            </a:r>
            <a:r>
              <a:rPr lang="zh-CN" altLang="en-US" sz="1600" dirty="0"/>
              <a:t>）步态示意图</a:t>
            </a:r>
          </a:p>
        </p:txBody>
      </p:sp>
      <p:pic>
        <p:nvPicPr>
          <p:cNvPr id="18" name="图片 13">
            <a:extLst>
              <a:ext uri="{FF2B5EF4-FFF2-40B4-BE49-F238E27FC236}">
                <a16:creationId xmlns:a16="http://schemas.microsoft.com/office/drawing/2014/main" id="{323BFFA0-AD50-7EF4-875D-E4A88CF568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3612" y="1419387"/>
            <a:ext cx="3296604" cy="737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文本框 19">
            <a:extLst>
              <a:ext uri="{FF2B5EF4-FFF2-40B4-BE49-F238E27FC236}">
                <a16:creationId xmlns:a16="http://schemas.microsoft.com/office/drawing/2014/main" id="{045ADE8C-C5F5-20AF-B1A4-1BEA6E9116BA}"/>
              </a:ext>
            </a:extLst>
          </p:cNvPr>
          <p:cNvSpPr txBox="1"/>
          <p:nvPr/>
        </p:nvSpPr>
        <p:spPr>
          <a:xfrm>
            <a:off x="6166962" y="2114550"/>
            <a:ext cx="3782379" cy="338554"/>
          </a:xfrm>
          <a:prstGeom prst="rect">
            <a:avLst/>
          </a:prstGeom>
          <a:noFill/>
        </p:spPr>
        <p:txBody>
          <a:bodyPr wrap="square">
            <a:spAutoFit/>
          </a:bodyPr>
          <a:lstStyle/>
          <a:p>
            <a:r>
              <a:rPr lang="en-US" altLang="zh-CN" sz="1600" dirty="0"/>
              <a:t>(d) </a:t>
            </a:r>
            <a:r>
              <a:rPr lang="zh-CN" altLang="en-US" sz="1600" dirty="0"/>
              <a:t>跳跃（</a:t>
            </a:r>
            <a:r>
              <a:rPr lang="en-US" altLang="zh-CN" sz="1600" dirty="0"/>
              <a:t>bound</a:t>
            </a:r>
            <a:r>
              <a:rPr lang="zh-CN" altLang="en-US" sz="1600" dirty="0"/>
              <a:t>）步态示意图</a:t>
            </a:r>
          </a:p>
        </p:txBody>
      </p:sp>
      <p:pic>
        <p:nvPicPr>
          <p:cNvPr id="21" name="图片 16">
            <a:extLst>
              <a:ext uri="{FF2B5EF4-FFF2-40B4-BE49-F238E27FC236}">
                <a16:creationId xmlns:a16="http://schemas.microsoft.com/office/drawing/2014/main" id="{643ACE40-2AC4-CC04-C83F-08877DC4C8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5842" y="2493066"/>
            <a:ext cx="3274374" cy="137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文本框 22">
            <a:extLst>
              <a:ext uri="{FF2B5EF4-FFF2-40B4-BE49-F238E27FC236}">
                <a16:creationId xmlns:a16="http://schemas.microsoft.com/office/drawing/2014/main" id="{702611F5-D509-FA1B-7FE3-8BF61C8A9E8F}"/>
              </a:ext>
            </a:extLst>
          </p:cNvPr>
          <p:cNvSpPr txBox="1"/>
          <p:nvPr/>
        </p:nvSpPr>
        <p:spPr>
          <a:xfrm>
            <a:off x="6166962" y="4036251"/>
            <a:ext cx="3470270" cy="338554"/>
          </a:xfrm>
          <a:prstGeom prst="rect">
            <a:avLst/>
          </a:prstGeom>
          <a:noFill/>
        </p:spPr>
        <p:txBody>
          <a:bodyPr wrap="square">
            <a:spAutoFit/>
          </a:bodyPr>
          <a:lstStyle/>
          <a:p>
            <a:r>
              <a:rPr lang="af-ZA" altLang="zh-CN" sz="1600" dirty="0"/>
              <a:t>(e) </a:t>
            </a:r>
            <a:r>
              <a:rPr lang="zh-CN" altLang="en-US" sz="1600" dirty="0"/>
              <a:t>奔跑（</a:t>
            </a:r>
            <a:r>
              <a:rPr lang="af-ZA" altLang="zh-CN" sz="1600" dirty="0"/>
              <a:t>gallop</a:t>
            </a:r>
            <a:r>
              <a:rPr lang="zh-CN" altLang="af-ZA" sz="1600" dirty="0"/>
              <a:t>）</a:t>
            </a:r>
            <a:r>
              <a:rPr lang="zh-CN" altLang="en-US" sz="1600" dirty="0"/>
              <a:t>步态示意图</a:t>
            </a:r>
          </a:p>
        </p:txBody>
      </p:sp>
    </p:spTree>
    <p:extLst>
      <p:ext uri="{BB962C8B-B14F-4D97-AF65-F5344CB8AC3E}">
        <p14:creationId xmlns:p14="http://schemas.microsoft.com/office/powerpoint/2010/main" val="2379441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3B0452D-FA6B-FBD8-778A-32274DDB403E}"/>
              </a:ext>
            </a:extLst>
          </p:cNvPr>
          <p:cNvSpPr txBox="1"/>
          <p:nvPr/>
        </p:nvSpPr>
        <p:spPr>
          <a:xfrm>
            <a:off x="1698306" y="0"/>
            <a:ext cx="4064000" cy="954107"/>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5.1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步态规划的基本概念</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a:extLst>
              <a:ext uri="{FF2B5EF4-FFF2-40B4-BE49-F238E27FC236}">
                <a16:creationId xmlns:a16="http://schemas.microsoft.com/office/drawing/2014/main" id="{994866BE-F86F-DCEE-0A69-498B4E74B54B}"/>
              </a:ext>
            </a:extLst>
          </p:cNvPr>
          <p:cNvSpPr txBox="1"/>
          <p:nvPr/>
        </p:nvSpPr>
        <p:spPr>
          <a:xfrm>
            <a:off x="1323975" y="1238250"/>
            <a:ext cx="9544049" cy="1938992"/>
          </a:xfrm>
          <a:prstGeom prst="rect">
            <a:avLst/>
          </a:prstGeom>
          <a:noFill/>
        </p:spPr>
        <p:txBody>
          <a:bodyPr wrap="square">
            <a:spAutoFit/>
          </a:bodyPr>
          <a:lstStyle/>
          <a:p>
            <a:pPr indent="612000"/>
            <a:r>
              <a:rPr lang="zh-CN" altLang="en-US" sz="2400" b="1" dirty="0">
                <a:latin typeface="微软雅黑" panose="020B0503020204020204" pitchFamily="34" charset="-122"/>
                <a:ea typeface="微软雅黑" panose="020B0503020204020204" pitchFamily="34" charset="-122"/>
              </a:rPr>
              <a:t>利用黑色部分表示机器人的支撑相，白色部分表示机器人的摆动相，横坐标表示步态所处时间，一个步态周期用 表示，纵坐标表示机器人的四条腿。腿</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表示左前腿</a:t>
            </a:r>
            <a:r>
              <a:rPr lang="en-US" altLang="zh-CN" sz="2400" b="1" dirty="0">
                <a:latin typeface="微软雅黑" panose="020B0503020204020204" pitchFamily="34" charset="-122"/>
                <a:ea typeface="微软雅黑" panose="020B0503020204020204" pitchFamily="34" charset="-122"/>
              </a:rPr>
              <a:t>(</a:t>
            </a:r>
            <a:r>
              <a:rPr lang="af-ZA" altLang="zh-CN" sz="2400" b="1" dirty="0">
                <a:latin typeface="微软雅黑" panose="020B0503020204020204" pitchFamily="34" charset="-122"/>
                <a:ea typeface="微软雅黑" panose="020B0503020204020204" pitchFamily="34" charset="-122"/>
              </a:rPr>
              <a:t>Left Front</a:t>
            </a:r>
            <a:r>
              <a:rPr lang="zh-CN" altLang="af-ZA" sz="2400" b="1" dirty="0">
                <a:latin typeface="微软雅黑" panose="020B0503020204020204" pitchFamily="34" charset="-122"/>
                <a:ea typeface="微软雅黑" panose="020B0503020204020204" pitchFamily="34" charset="-122"/>
              </a:rPr>
              <a:t>，</a:t>
            </a:r>
            <a:r>
              <a:rPr lang="af-ZA" altLang="zh-CN" sz="2400" b="1" dirty="0">
                <a:latin typeface="微软雅黑" panose="020B0503020204020204" pitchFamily="34" charset="-122"/>
                <a:ea typeface="微软雅黑" panose="020B0503020204020204" pitchFamily="34" charset="-122"/>
              </a:rPr>
              <a:t>LF)</a:t>
            </a:r>
            <a:r>
              <a:rPr lang="zh-CN" altLang="af-ZA"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腿</a:t>
            </a: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表示右前腿</a:t>
            </a:r>
            <a:r>
              <a:rPr lang="en-US" altLang="zh-CN" sz="2400" b="1" dirty="0">
                <a:latin typeface="微软雅黑" panose="020B0503020204020204" pitchFamily="34" charset="-122"/>
                <a:ea typeface="微软雅黑" panose="020B0503020204020204" pitchFamily="34" charset="-122"/>
              </a:rPr>
              <a:t>(</a:t>
            </a:r>
            <a:r>
              <a:rPr lang="af-ZA" altLang="zh-CN" sz="2400" b="1" dirty="0">
                <a:latin typeface="微软雅黑" panose="020B0503020204020204" pitchFamily="34" charset="-122"/>
                <a:ea typeface="微软雅黑" panose="020B0503020204020204" pitchFamily="34" charset="-122"/>
              </a:rPr>
              <a:t>Right Front</a:t>
            </a:r>
            <a:r>
              <a:rPr lang="zh-CN" altLang="af-ZA" sz="2400" b="1" dirty="0">
                <a:latin typeface="微软雅黑" panose="020B0503020204020204" pitchFamily="34" charset="-122"/>
                <a:ea typeface="微软雅黑" panose="020B0503020204020204" pitchFamily="34" charset="-122"/>
              </a:rPr>
              <a:t>，</a:t>
            </a:r>
            <a:r>
              <a:rPr lang="af-ZA" altLang="zh-CN" sz="2400" b="1" dirty="0">
                <a:latin typeface="微软雅黑" panose="020B0503020204020204" pitchFamily="34" charset="-122"/>
                <a:ea typeface="微软雅黑" panose="020B0503020204020204" pitchFamily="34" charset="-122"/>
              </a:rPr>
              <a:t>RF)</a:t>
            </a:r>
            <a:r>
              <a:rPr lang="zh-CN" altLang="af-ZA"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腿</a:t>
            </a: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表示右后腿</a:t>
            </a:r>
            <a:r>
              <a:rPr lang="en-US" altLang="zh-CN" sz="2400" b="1" dirty="0">
                <a:latin typeface="微软雅黑" panose="020B0503020204020204" pitchFamily="34" charset="-122"/>
                <a:ea typeface="微软雅黑" panose="020B0503020204020204" pitchFamily="34" charset="-122"/>
              </a:rPr>
              <a:t>(</a:t>
            </a:r>
            <a:r>
              <a:rPr lang="af-ZA" altLang="zh-CN" sz="2400" b="1" dirty="0">
                <a:latin typeface="微软雅黑" panose="020B0503020204020204" pitchFamily="34" charset="-122"/>
                <a:ea typeface="微软雅黑" panose="020B0503020204020204" pitchFamily="34" charset="-122"/>
              </a:rPr>
              <a:t>Right Hind</a:t>
            </a:r>
            <a:r>
              <a:rPr lang="zh-CN" altLang="af-ZA" sz="2400" b="1" dirty="0">
                <a:latin typeface="微软雅黑" panose="020B0503020204020204" pitchFamily="34" charset="-122"/>
                <a:ea typeface="微软雅黑" panose="020B0503020204020204" pitchFamily="34" charset="-122"/>
              </a:rPr>
              <a:t>，</a:t>
            </a:r>
            <a:r>
              <a:rPr lang="af-ZA" altLang="zh-CN" sz="2400" b="1" dirty="0">
                <a:latin typeface="微软雅黑" panose="020B0503020204020204" pitchFamily="34" charset="-122"/>
                <a:ea typeface="微软雅黑" panose="020B0503020204020204" pitchFamily="34" charset="-122"/>
              </a:rPr>
              <a:t>RH)</a:t>
            </a:r>
            <a:r>
              <a:rPr lang="zh-CN" altLang="af-ZA"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腿</a:t>
            </a:r>
            <a:r>
              <a:rPr lang="en-US" altLang="zh-CN" sz="2400" b="1"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表示左后腿</a:t>
            </a:r>
            <a:r>
              <a:rPr lang="en-US" altLang="zh-CN" sz="2400" b="1" dirty="0">
                <a:latin typeface="微软雅黑" panose="020B0503020204020204" pitchFamily="34" charset="-122"/>
                <a:ea typeface="微软雅黑" panose="020B0503020204020204" pitchFamily="34" charset="-122"/>
              </a:rPr>
              <a:t>(</a:t>
            </a:r>
            <a:r>
              <a:rPr lang="af-ZA" altLang="zh-CN" sz="2400" b="1" dirty="0">
                <a:latin typeface="微软雅黑" panose="020B0503020204020204" pitchFamily="34" charset="-122"/>
                <a:ea typeface="微软雅黑" panose="020B0503020204020204" pitchFamily="34" charset="-122"/>
              </a:rPr>
              <a:t>Left Hind</a:t>
            </a:r>
            <a:r>
              <a:rPr lang="zh-CN" altLang="af-ZA" sz="2400" b="1" dirty="0">
                <a:latin typeface="微软雅黑" panose="020B0503020204020204" pitchFamily="34" charset="-122"/>
                <a:ea typeface="微软雅黑" panose="020B0503020204020204" pitchFamily="34" charset="-122"/>
              </a:rPr>
              <a:t>，</a:t>
            </a:r>
            <a:r>
              <a:rPr lang="af-ZA" altLang="zh-CN" sz="2400" b="1" dirty="0">
                <a:latin typeface="微软雅黑" panose="020B0503020204020204" pitchFamily="34" charset="-122"/>
                <a:ea typeface="微软雅黑" panose="020B0503020204020204" pitchFamily="34" charset="-122"/>
              </a:rPr>
              <a:t>LH)</a:t>
            </a:r>
            <a:r>
              <a:rPr lang="zh-CN" altLang="af-ZA"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则机器人的上述</a:t>
            </a:r>
            <a:r>
              <a:rPr lang="en-US" altLang="zh-CN" sz="2400" b="1" dirty="0">
                <a:latin typeface="微软雅黑" panose="020B0503020204020204" pitchFamily="34" charset="-122"/>
                <a:ea typeface="微软雅黑" panose="020B0503020204020204" pitchFamily="34" charset="-122"/>
              </a:rPr>
              <a:t>5</a:t>
            </a:r>
            <a:r>
              <a:rPr lang="zh-CN" altLang="en-US" sz="2400" b="1" dirty="0">
                <a:latin typeface="微软雅黑" panose="020B0503020204020204" pitchFamily="34" charset="-122"/>
                <a:ea typeface="微软雅黑" panose="020B0503020204020204" pitchFamily="34" charset="-122"/>
              </a:rPr>
              <a:t>种步态图如图</a:t>
            </a:r>
            <a:r>
              <a:rPr lang="en-US" altLang="zh-CN" sz="2400" b="1" dirty="0">
                <a:latin typeface="微软雅黑" panose="020B0503020204020204" pitchFamily="34" charset="-122"/>
                <a:ea typeface="微软雅黑" panose="020B0503020204020204" pitchFamily="34" charset="-122"/>
              </a:rPr>
              <a:t>5.2</a:t>
            </a:r>
            <a:r>
              <a:rPr lang="zh-CN" altLang="en-US" sz="2400" b="1" dirty="0">
                <a:latin typeface="微软雅黑" panose="020B0503020204020204" pitchFamily="34" charset="-122"/>
                <a:ea typeface="微软雅黑" panose="020B0503020204020204" pitchFamily="34" charset="-122"/>
              </a:rPr>
              <a:t>所示。</a:t>
            </a:r>
          </a:p>
        </p:txBody>
      </p:sp>
    </p:spTree>
    <p:extLst>
      <p:ext uri="{BB962C8B-B14F-4D97-AF65-F5344CB8AC3E}">
        <p14:creationId xmlns:p14="http://schemas.microsoft.com/office/powerpoint/2010/main" val="2813659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3B0452D-FA6B-FBD8-778A-32274DDB403E}"/>
              </a:ext>
            </a:extLst>
          </p:cNvPr>
          <p:cNvSpPr txBox="1"/>
          <p:nvPr/>
        </p:nvSpPr>
        <p:spPr>
          <a:xfrm>
            <a:off x="1698306" y="0"/>
            <a:ext cx="4064000" cy="954107"/>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5.1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步态规划的基本概念</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a:extLst>
              <a:ext uri="{FF2B5EF4-FFF2-40B4-BE49-F238E27FC236}">
                <a16:creationId xmlns:a16="http://schemas.microsoft.com/office/drawing/2014/main" id="{5D9E4136-54B0-472C-015E-29C9A754E6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98305" y="1034767"/>
            <a:ext cx="4182185" cy="5279406"/>
          </a:xfrm>
          <a:prstGeom prst="rect">
            <a:avLst/>
          </a:prstGeom>
        </p:spPr>
      </p:pic>
      <p:pic>
        <p:nvPicPr>
          <p:cNvPr id="7" name="图片 6">
            <a:extLst>
              <a:ext uri="{FF2B5EF4-FFF2-40B4-BE49-F238E27FC236}">
                <a16:creationId xmlns:a16="http://schemas.microsoft.com/office/drawing/2014/main" id="{84ECACE8-9F06-E568-7DB3-7BD3635C2F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868383"/>
            <a:ext cx="4519427" cy="3598842"/>
          </a:xfrm>
          <a:prstGeom prst="rect">
            <a:avLst/>
          </a:prstGeom>
        </p:spPr>
      </p:pic>
      <p:sp>
        <p:nvSpPr>
          <p:cNvPr id="8" name="文本框 7">
            <a:extLst>
              <a:ext uri="{FF2B5EF4-FFF2-40B4-BE49-F238E27FC236}">
                <a16:creationId xmlns:a16="http://schemas.microsoft.com/office/drawing/2014/main" id="{B0EE9C25-C385-1E82-0ACB-4E6F9A8EF470}"/>
              </a:ext>
            </a:extLst>
          </p:cNvPr>
          <p:cNvSpPr txBox="1"/>
          <p:nvPr/>
        </p:nvSpPr>
        <p:spPr>
          <a:xfrm>
            <a:off x="4598100" y="6314173"/>
            <a:ext cx="6981825" cy="372377"/>
          </a:xfrm>
          <a:prstGeom prst="rect">
            <a:avLst/>
          </a:prstGeom>
          <a:noFill/>
        </p:spPr>
        <p:txBody>
          <a:bodyPr wrap="square" rtlCol="0">
            <a:spAutoFit/>
          </a:bodyPr>
          <a:lstStyle/>
          <a:p>
            <a:r>
              <a:rPr lang="zh-CN" altLang="en-US" dirty="0"/>
              <a:t>图</a:t>
            </a:r>
            <a:r>
              <a:rPr lang="en-US" altLang="zh-CN" dirty="0"/>
              <a:t>5.2  </a:t>
            </a:r>
            <a:r>
              <a:rPr lang="zh-CN" altLang="en-US" dirty="0"/>
              <a:t>四足机器人步态图</a:t>
            </a:r>
          </a:p>
        </p:txBody>
      </p:sp>
    </p:spTree>
    <p:extLst>
      <p:ext uri="{BB962C8B-B14F-4D97-AF65-F5344CB8AC3E}">
        <p14:creationId xmlns:p14="http://schemas.microsoft.com/office/powerpoint/2010/main" val="1105396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3B0452D-FA6B-FBD8-778A-32274DDB403E}"/>
              </a:ext>
            </a:extLst>
          </p:cNvPr>
          <p:cNvSpPr txBox="1"/>
          <p:nvPr/>
        </p:nvSpPr>
        <p:spPr>
          <a:xfrm>
            <a:off x="1698306" y="0"/>
            <a:ext cx="4064000" cy="954107"/>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5.1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步态规划的基本概念</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a:extLst>
              <a:ext uri="{FF2B5EF4-FFF2-40B4-BE49-F238E27FC236}">
                <a16:creationId xmlns:a16="http://schemas.microsoft.com/office/drawing/2014/main" id="{BDAD1E84-5836-31A9-4A03-4ADE424A2490}"/>
              </a:ext>
            </a:extLst>
          </p:cNvPr>
          <p:cNvSpPr txBox="1"/>
          <p:nvPr/>
        </p:nvSpPr>
        <p:spPr>
          <a:xfrm>
            <a:off x="828675" y="1257299"/>
            <a:ext cx="10429875" cy="4893647"/>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       根据机器人的步态周期是否固定，可将步态分为周期步态和非周期步态</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自由步态</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。当四足机器人不同的运动部分</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腿的抬起、落下、身体的运动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在一个步态周期内同时发生时，则称其为周期步态。</a:t>
            </a:r>
          </a:p>
          <a:p>
            <a:r>
              <a:rPr lang="zh-CN" altLang="en-US" sz="2400" b="1" dirty="0">
                <a:latin typeface="微软雅黑" panose="020B0503020204020204" pitchFamily="34" charset="-122"/>
                <a:ea typeface="微软雅黑" panose="020B0503020204020204" pitchFamily="34" charset="-122"/>
              </a:rPr>
              <a:t>       对于机器人来说，当其所处的环境比较复杂时，如地面崎岖不平或者有障碍物时，需要根据机器人所处的环境来进行步态的选择和运动的规划。若步态运动的周期性被打破，则称其为非周期步态。有时机器人的步态也分为连续步态和非连续步态。在四足机器人的行走过程中，如果身体始终保持一个恒定的速度运动，则称为连续步态，否则称为非连续步态。另外，根据机器人的行走方向，步态还可以分为直行步态</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前进步态或者后退步态</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和转弯步态。根据旋转半径的不同，转弯步态分可为旋转</a:t>
            </a:r>
            <a:r>
              <a:rPr lang="en-US" altLang="zh-CN" sz="2400" b="1" dirty="0">
                <a:latin typeface="微软雅黑" panose="020B0503020204020204" pitchFamily="34" charset="-122"/>
                <a:ea typeface="微软雅黑" panose="020B0503020204020204" pitchFamily="34" charset="-122"/>
              </a:rPr>
              <a:t>(spinning)</a:t>
            </a:r>
            <a:r>
              <a:rPr lang="zh-CN" altLang="en-US" sz="2400" b="1" dirty="0">
                <a:latin typeface="微软雅黑" panose="020B0503020204020204" pitchFamily="34" charset="-122"/>
                <a:ea typeface="微软雅黑" panose="020B0503020204020204" pitchFamily="34" charset="-122"/>
              </a:rPr>
              <a:t>步态和环绕</a:t>
            </a:r>
            <a:r>
              <a:rPr lang="en-US" altLang="zh-CN" sz="2400" b="1" dirty="0">
                <a:latin typeface="微软雅黑" panose="020B0503020204020204" pitchFamily="34" charset="-122"/>
                <a:ea typeface="微软雅黑" panose="020B0503020204020204" pitchFamily="34" charset="-122"/>
              </a:rPr>
              <a:t>(circling)</a:t>
            </a:r>
            <a:r>
              <a:rPr lang="zh-CN" altLang="en-US" sz="2400" b="1" dirty="0">
                <a:latin typeface="微软雅黑" panose="020B0503020204020204" pitchFamily="34" charset="-122"/>
                <a:ea typeface="微软雅黑" panose="020B0503020204020204" pitchFamily="34" charset="-122"/>
              </a:rPr>
              <a:t>步态。旋转步态以四足机器人的身体质心为旋转质心，基于一个固定的步态顺序，向同一个方向旋转一个固定的角度，当整个步态循环一次之后，四足机器人本体就会旋转这个固定的角度。</a:t>
            </a:r>
          </a:p>
        </p:txBody>
      </p:sp>
    </p:spTree>
    <p:extLst>
      <p:ext uri="{BB962C8B-B14F-4D97-AF65-F5344CB8AC3E}">
        <p14:creationId xmlns:p14="http://schemas.microsoft.com/office/powerpoint/2010/main" val="2081488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3B0452D-FA6B-FBD8-778A-32274DDB403E}"/>
              </a:ext>
            </a:extLst>
          </p:cNvPr>
          <p:cNvSpPr txBox="1"/>
          <p:nvPr/>
        </p:nvSpPr>
        <p:spPr>
          <a:xfrm>
            <a:off x="1698306" y="0"/>
            <a:ext cx="4064000" cy="954107"/>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5.1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步态规划的基本概念</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a:extLst>
              <a:ext uri="{FF2B5EF4-FFF2-40B4-BE49-F238E27FC236}">
                <a16:creationId xmlns:a16="http://schemas.microsoft.com/office/drawing/2014/main" id="{BD4C3AB0-0FD4-132D-80B8-887F0886A078}"/>
              </a:ext>
            </a:extLst>
          </p:cNvPr>
          <p:cNvSpPr txBox="1"/>
          <p:nvPr/>
        </p:nvSpPr>
        <p:spPr>
          <a:xfrm>
            <a:off x="657225" y="1085670"/>
            <a:ext cx="6748462" cy="46166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四足机器人步态分类可用图</a:t>
            </a:r>
            <a:r>
              <a:rPr lang="en-US" altLang="zh-CN" sz="2400" b="1" dirty="0">
                <a:latin typeface="微软雅黑" panose="020B0503020204020204" pitchFamily="34" charset="-122"/>
                <a:ea typeface="微软雅黑" panose="020B0503020204020204" pitchFamily="34" charset="-122"/>
              </a:rPr>
              <a:t>5.3</a:t>
            </a:r>
            <a:r>
              <a:rPr lang="zh-CN" altLang="en-US" sz="2400" b="1" dirty="0">
                <a:latin typeface="微软雅黑" panose="020B0503020204020204" pitchFamily="34" charset="-122"/>
                <a:ea typeface="微软雅黑" panose="020B0503020204020204" pitchFamily="34" charset="-122"/>
              </a:rPr>
              <a:t>表示。</a:t>
            </a:r>
          </a:p>
        </p:txBody>
      </p:sp>
      <p:pic>
        <p:nvPicPr>
          <p:cNvPr id="7" name="图片 1">
            <a:extLst>
              <a:ext uri="{FF2B5EF4-FFF2-40B4-BE49-F238E27FC236}">
                <a16:creationId xmlns:a16="http://schemas.microsoft.com/office/drawing/2014/main" id="{BC632B51-1325-BBEE-D8ED-3A6B9DA5E5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0306" y="1783853"/>
            <a:ext cx="43561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7ED523FB-B8EA-0C08-B844-CD149988D57F}"/>
              </a:ext>
            </a:extLst>
          </p:cNvPr>
          <p:cNvSpPr txBox="1"/>
          <p:nvPr/>
        </p:nvSpPr>
        <p:spPr>
          <a:xfrm>
            <a:off x="4031456" y="6182796"/>
            <a:ext cx="6124574" cy="369332"/>
          </a:xfrm>
          <a:prstGeom prst="rect">
            <a:avLst/>
          </a:prstGeom>
          <a:noFill/>
        </p:spPr>
        <p:txBody>
          <a:bodyPr wrap="square">
            <a:spAutoFit/>
          </a:bodyPr>
          <a:lstStyle/>
          <a:p>
            <a:r>
              <a:rPr lang="zh-CN" altLang="en-US" dirty="0"/>
              <a:t>图</a:t>
            </a:r>
            <a:r>
              <a:rPr lang="en-US" altLang="zh-CN" dirty="0"/>
              <a:t>5.3  </a:t>
            </a:r>
            <a:r>
              <a:rPr lang="zh-CN" altLang="en-US" dirty="0"/>
              <a:t>四足机器人步态分类示意图</a:t>
            </a:r>
          </a:p>
        </p:txBody>
      </p:sp>
    </p:spTree>
    <p:extLst>
      <p:ext uri="{BB962C8B-B14F-4D97-AF65-F5344CB8AC3E}">
        <p14:creationId xmlns:p14="http://schemas.microsoft.com/office/powerpoint/2010/main" val="60063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9BB8E7-D35F-6AAC-01F9-7E277B218C2B}"/>
              </a:ext>
            </a:extLst>
          </p:cNvPr>
          <p:cNvSpPr txBox="1"/>
          <p:nvPr/>
        </p:nvSpPr>
        <p:spPr>
          <a:xfrm>
            <a:off x="1698306" y="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5.2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静步态规划方法</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5F59019-26A6-91FA-F761-D23750467478}"/>
                  </a:ext>
                </a:extLst>
              </p:cNvPr>
              <p:cNvSpPr txBox="1"/>
              <p:nvPr/>
            </p:nvSpPr>
            <p:spPr>
              <a:xfrm>
                <a:off x="1276349" y="1200150"/>
                <a:ext cx="9801225" cy="5262979"/>
              </a:xfrm>
              <a:prstGeom prst="rect">
                <a:avLst/>
              </a:prstGeom>
              <a:noFill/>
            </p:spPr>
            <p:txBody>
              <a:bodyPr wrap="square">
                <a:spAutoFit/>
              </a:bodyPr>
              <a:lstStyle/>
              <a:p>
                <a:pPr indent="612000"/>
                <a:r>
                  <a:rPr lang="zh-CN" altLang="en-US" sz="2400" b="1" dirty="0">
                    <a:latin typeface="微软雅黑" panose="020B0503020204020204" pitchFamily="34" charset="-122"/>
                    <a:ea typeface="微软雅黑" panose="020B0503020204020204" pitchFamily="34" charset="-122"/>
                  </a:rPr>
                  <a:t>机器人的运动可视为腿部触地和离地事件的组合序列，将每条腿的落地和悬空视为事件，则机器人的腿存在落地和悬空两种状态。在机器人领域，将同一条腿不同时发生相同事件的步态称为非奇异步态；同一条腿同时发生相同事件的步态称为奇异步态。 对于具有</a:t>
                </a:r>
                <a:r>
                  <a:rPr lang="en-US" altLang="zh-CN" sz="2400" b="1" dirty="0">
                    <a:latin typeface="微软雅黑" panose="020B0503020204020204" pitchFamily="34" charset="-122"/>
                    <a:ea typeface="微软雅黑" panose="020B0503020204020204" pitchFamily="34" charset="-122"/>
                  </a:rPr>
                  <a:t>k</a:t>
                </a:r>
                <a:r>
                  <a:rPr lang="zh-CN" altLang="en-US" sz="2400" b="1" dirty="0">
                    <a:latin typeface="微软雅黑" panose="020B0503020204020204" pitchFamily="34" charset="-122"/>
                    <a:ea typeface="微软雅黑" panose="020B0503020204020204" pitchFamily="34" charset="-122"/>
                  </a:rPr>
                  <a:t>条腿的机器人来说，共有</a:t>
                </a:r>
                <a14:m>
                  <m:oMath xmlns:m="http://schemas.openxmlformats.org/officeDocument/2006/math">
                    <m:d>
                      <m:dPr>
                        <m:ctrlPr>
                          <a:rPr lang="zh-CN" altLang="en-US" sz="2400" b="1" i="1" smtClean="0">
                            <a:latin typeface="Cambria Math" panose="02040503050406030204" pitchFamily="18" charset="0"/>
                          </a:rPr>
                        </m:ctrlPr>
                      </m:dPr>
                      <m:e>
                        <m:r>
                          <a:rPr lang="zh-CN" altLang="en-US" sz="2400" b="1" i="1">
                            <a:latin typeface="Cambria Math" panose="02040503050406030204" pitchFamily="18" charset="0"/>
                          </a:rPr>
                          <m:t>𝟐</m:t>
                        </m:r>
                        <m:r>
                          <a:rPr lang="zh-CN" altLang="en-US" sz="2400" b="1" i="1">
                            <a:latin typeface="Cambria Math" panose="02040503050406030204" pitchFamily="18" charset="0"/>
                          </a:rPr>
                          <m:t>𝒌</m:t>
                        </m:r>
                        <m:r>
                          <a:rPr lang="zh-CN" altLang="en-US" sz="2400" b="1" i="0">
                            <a:latin typeface="Cambria Math" panose="02040503050406030204" pitchFamily="18" charset="0"/>
                          </a:rPr>
                          <m:t>−</m:t>
                        </m:r>
                        <m:r>
                          <a:rPr lang="zh-CN" altLang="en-US" sz="2400" b="1" i="0">
                            <a:latin typeface="Cambria Math" panose="02040503050406030204" pitchFamily="18" charset="0"/>
                          </a:rPr>
                          <m:t>𝟏</m:t>
                        </m:r>
                      </m:e>
                    </m:d>
                    <m:r>
                      <a:rPr lang="zh-CN" altLang="en-US" sz="2400" b="1" i="0">
                        <a:latin typeface="Cambria Math" panose="02040503050406030204" pitchFamily="18" charset="0"/>
                      </a:rPr>
                      <m:t>!</m:t>
                    </m:r>
                  </m:oMath>
                </a14:m>
                <a:r>
                  <a:rPr lang="zh-CN" altLang="en-US" sz="2400" b="1" dirty="0">
                    <a:latin typeface="微软雅黑" panose="020B0503020204020204" pitchFamily="34" charset="-122"/>
                    <a:ea typeface="微软雅黑" panose="020B0503020204020204" pitchFamily="34" charset="-122"/>
                  </a:rPr>
                  <a:t> 种非奇异步态，对于四足机器人来说，若每条腿每个周期只抬落各一次，共存在</a:t>
                </a:r>
                <a:r>
                  <a:rPr lang="en-US" altLang="zh-CN" sz="2400" b="1" dirty="0">
                    <a:latin typeface="微软雅黑" panose="020B0503020204020204" pitchFamily="34" charset="-122"/>
                    <a:ea typeface="微软雅黑" panose="020B0503020204020204" pitchFamily="34" charset="-122"/>
                  </a:rPr>
                  <a:t>5040</a:t>
                </a:r>
                <a:r>
                  <a:rPr lang="zh-CN" altLang="en-US" sz="2400" b="1" dirty="0">
                    <a:latin typeface="微软雅黑" panose="020B0503020204020204" pitchFamily="34" charset="-122"/>
                    <a:ea typeface="微软雅黑" panose="020B0503020204020204" pitchFamily="34" charset="-122"/>
                  </a:rPr>
                  <a:t>种非奇异步态。</a:t>
                </a:r>
              </a:p>
              <a:p>
                <a:pPr indent="612000"/>
                <a:r>
                  <a:rPr lang="zh-CN" altLang="en-US" sz="2400" b="1" dirty="0">
                    <a:latin typeface="微软雅黑" panose="020B0503020204020204" pitchFamily="34" charset="-122"/>
                    <a:ea typeface="微软雅黑" panose="020B0503020204020204" pitchFamily="34" charset="-122"/>
                  </a:rPr>
                  <a:t>对于四足机器人来说，所谓的静步态，一般是指机器人在运动过程中，至少有</a:t>
                </a: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条以上的支撑腿，或者说，机器人同时至少有</a:t>
                </a: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条腿处于支撑相。在四足机器人的静步态行走中，根据机器人</a:t>
                </a:r>
                <a:r>
                  <a:rPr lang="en-US" altLang="zh-CN" sz="2400" b="1"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条腿迈步顺序的不同，可以将静步态分为直行步态和转弯步态。同时又根据步态之间方向的不同，直行步态可分为</a:t>
                </a:r>
                <a:r>
                  <a:rPr lang="en-US" altLang="zh-CN" sz="2400" b="1" dirty="0">
                    <a:latin typeface="微软雅黑" panose="020B0503020204020204" pitchFamily="34" charset="-122"/>
                    <a:ea typeface="微软雅黑" panose="020B0503020204020204" pitchFamily="34" charset="-122"/>
                  </a:rPr>
                  <a:t>X-</a:t>
                </a:r>
                <a:r>
                  <a:rPr lang="zh-CN" altLang="en-US" sz="2400" b="1" dirty="0">
                    <a:latin typeface="微软雅黑" panose="020B0503020204020204" pitchFamily="34" charset="-122"/>
                    <a:ea typeface="微软雅黑" panose="020B0503020204020204" pitchFamily="34" charset="-122"/>
                  </a:rPr>
                  <a:t>方向直行步态，</a:t>
                </a:r>
                <a:r>
                  <a:rPr lang="en-US" altLang="zh-CN" sz="2400" b="1" dirty="0">
                    <a:latin typeface="微软雅黑" panose="020B0503020204020204" pitchFamily="34" charset="-122"/>
                    <a:ea typeface="微软雅黑" panose="020B0503020204020204" pitchFamily="34" charset="-122"/>
                  </a:rPr>
                  <a:t>RX-</a:t>
                </a:r>
                <a:r>
                  <a:rPr lang="zh-CN" altLang="en-US" sz="2400" b="1" dirty="0">
                    <a:latin typeface="微软雅黑" panose="020B0503020204020204" pitchFamily="34" charset="-122"/>
                    <a:ea typeface="微软雅黑" panose="020B0503020204020204" pitchFamily="34" charset="-122"/>
                  </a:rPr>
                  <a:t>方向直行步态，</a:t>
                </a:r>
                <a:r>
                  <a:rPr lang="en-US" altLang="zh-CN" sz="2400" b="1" i="1" dirty="0">
                    <a:latin typeface="微软雅黑" panose="020B0503020204020204" pitchFamily="34" charset="-122"/>
                    <a:ea typeface="微软雅黑" panose="020B0503020204020204" pitchFamily="34" charset="-122"/>
                  </a:rPr>
                  <a:t>Y-</a:t>
                </a:r>
                <a:r>
                  <a:rPr lang="zh-CN" altLang="en-US" sz="2400" b="1" dirty="0">
                    <a:latin typeface="微软雅黑" panose="020B0503020204020204" pitchFamily="34" charset="-122"/>
                    <a:ea typeface="微软雅黑" panose="020B0503020204020204" pitchFamily="34" charset="-122"/>
                  </a:rPr>
                  <a:t>方向直行步态，</a:t>
                </a:r>
                <a:r>
                  <a:rPr lang="en-US" altLang="zh-CN" sz="2400" b="1" dirty="0">
                    <a:latin typeface="微软雅黑" panose="020B0503020204020204" pitchFamily="34" charset="-122"/>
                    <a:ea typeface="微软雅黑" panose="020B0503020204020204" pitchFamily="34" charset="-122"/>
                  </a:rPr>
                  <a:t>RY-</a:t>
                </a:r>
                <a:r>
                  <a:rPr lang="zh-CN" altLang="en-US" sz="2400" b="1" dirty="0">
                    <a:latin typeface="微软雅黑" panose="020B0503020204020204" pitchFamily="34" charset="-122"/>
                    <a:ea typeface="微软雅黑" panose="020B0503020204020204" pitchFamily="34" charset="-122"/>
                  </a:rPr>
                  <a:t>方向直行步态，其中</a:t>
                </a:r>
                <a14:m>
                  <m:oMath xmlns:m="http://schemas.openxmlformats.org/officeDocument/2006/math">
                    <m:r>
                      <a:rPr lang="en-US" altLang="zh-CN" sz="2400" b="1" i="1" dirty="0" smtClean="0">
                        <a:latin typeface="Cambria Math" panose="02040503050406030204" pitchFamily="18" charset="0"/>
                        <a:ea typeface="微软雅黑" panose="020B0503020204020204" pitchFamily="34" charset="-122"/>
                      </a:rPr>
                      <m:t>𝑿</m:t>
                    </m:r>
                    <m:r>
                      <a:rPr lang="en-US" altLang="zh-CN" sz="2400" b="1" i="1" dirty="0" smtClean="0">
                        <a:latin typeface="Cambria Math" panose="02040503050406030204" pitchFamily="18" charset="0"/>
                        <a:ea typeface="微软雅黑" panose="020B0503020204020204" pitchFamily="34" charset="-122"/>
                      </a:rPr>
                      <m:t>−</m:t>
                    </m:r>
                  </m:oMath>
                </a14:m>
                <a:r>
                  <a:rPr lang="zh-CN" altLang="en-US" sz="2400" b="1" dirty="0">
                    <a:latin typeface="微软雅黑" panose="020B0503020204020204" pitchFamily="34" charset="-122"/>
                    <a:ea typeface="微软雅黑" panose="020B0503020204020204" pitchFamily="34" charset="-122"/>
                  </a:rPr>
                  <a:t>方向直行步态是四足机器人从后向前的方向，</a:t>
                </a:r>
                <a:r>
                  <a:rPr lang="en-US" altLang="zh-CN" sz="2400" b="1" dirty="0">
                    <a:latin typeface="微软雅黑" panose="020B0503020204020204" pitchFamily="34" charset="-122"/>
                    <a:ea typeface="微软雅黑" panose="020B0503020204020204" pitchFamily="34" charset="-122"/>
                  </a:rPr>
                  <a:t>RX-</a:t>
                </a:r>
                <a:r>
                  <a:rPr lang="zh-CN" altLang="en-US" sz="2400" b="1" dirty="0">
                    <a:latin typeface="微软雅黑" panose="020B0503020204020204" pitchFamily="34" charset="-122"/>
                    <a:ea typeface="微软雅黑" panose="020B0503020204020204" pitchFamily="34" charset="-122"/>
                  </a:rPr>
                  <a:t>方向直行步态是四足机器人从前向后的方向，如图</a:t>
                </a:r>
                <a:r>
                  <a:rPr lang="en-US" altLang="zh-CN" sz="2400" b="1" dirty="0">
                    <a:latin typeface="微软雅黑" panose="020B0503020204020204" pitchFamily="34" charset="-122"/>
                    <a:ea typeface="微软雅黑" panose="020B0503020204020204" pitchFamily="34" charset="-122"/>
                  </a:rPr>
                  <a:t>5.4</a:t>
                </a:r>
                <a:r>
                  <a:rPr lang="zh-CN" altLang="en-US" sz="2400" b="1" dirty="0">
                    <a:latin typeface="微软雅黑" panose="020B0503020204020204" pitchFamily="34" charset="-122"/>
                    <a:ea typeface="微软雅黑" panose="020B0503020204020204" pitchFamily="34" charset="-122"/>
                  </a:rPr>
                  <a:t>所示。</a:t>
                </a:r>
              </a:p>
            </p:txBody>
          </p:sp>
        </mc:Choice>
        <mc:Fallback xmlns="">
          <p:sp>
            <p:nvSpPr>
              <p:cNvPr id="6" name="文本框 5">
                <a:extLst>
                  <a:ext uri="{FF2B5EF4-FFF2-40B4-BE49-F238E27FC236}">
                    <a16:creationId xmlns:a16="http://schemas.microsoft.com/office/drawing/2014/main" id="{B5F59019-26A6-91FA-F761-D23750467478}"/>
                  </a:ext>
                </a:extLst>
              </p:cNvPr>
              <p:cNvSpPr txBox="1">
                <a:spLocks noRot="1" noChangeAspect="1" noMove="1" noResize="1" noEditPoints="1" noAdjustHandles="1" noChangeArrowheads="1" noChangeShapeType="1" noTextEdit="1"/>
              </p:cNvSpPr>
              <p:nvPr/>
            </p:nvSpPr>
            <p:spPr>
              <a:xfrm>
                <a:off x="1276349" y="1200150"/>
                <a:ext cx="9801225" cy="5262979"/>
              </a:xfrm>
              <a:prstGeom prst="rect">
                <a:avLst/>
              </a:prstGeom>
              <a:blipFill>
                <a:blip r:embed="rId2"/>
                <a:stretch>
                  <a:fillRect l="-933" t="-927" r="-560" b="-17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1549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9BB8E7-D35F-6AAC-01F9-7E277B218C2B}"/>
              </a:ext>
            </a:extLst>
          </p:cNvPr>
          <p:cNvSpPr txBox="1"/>
          <p:nvPr/>
        </p:nvSpPr>
        <p:spPr>
          <a:xfrm>
            <a:off x="1698306" y="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5.2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静步态规划方法</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a:extLst>
              <a:ext uri="{FF2B5EF4-FFF2-40B4-BE49-F238E27FC236}">
                <a16:creationId xmlns:a16="http://schemas.microsoft.com/office/drawing/2014/main" id="{C256947B-9C6A-29A4-43A9-7D2EB2ADE053}"/>
              </a:ext>
            </a:extLst>
          </p:cNvPr>
          <p:cNvSpPr txBox="1"/>
          <p:nvPr/>
        </p:nvSpPr>
        <p:spPr>
          <a:xfrm>
            <a:off x="1009649" y="1218366"/>
            <a:ext cx="10010775" cy="830997"/>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rPr>
              <a:t>O-Rotation</a:t>
            </a:r>
            <a:r>
              <a:rPr lang="zh-CN" altLang="en-US" sz="2400" b="1" dirty="0">
                <a:latin typeface="微软雅黑" panose="020B0503020204020204" pitchFamily="34" charset="-122"/>
                <a:ea typeface="微软雅黑" panose="020B0503020204020204" pitchFamily="34" charset="-122"/>
              </a:rPr>
              <a:t>步态是四足机器人逆时针的转弯步态，</a:t>
            </a:r>
            <a:r>
              <a:rPr lang="en-US" altLang="zh-CN" sz="2400" b="1" dirty="0">
                <a:latin typeface="微软雅黑" panose="020B0503020204020204" pitchFamily="34" charset="-122"/>
                <a:ea typeface="微软雅黑" panose="020B0503020204020204" pitchFamily="34" charset="-122"/>
              </a:rPr>
              <a:t>RO-Rotation</a:t>
            </a:r>
            <a:r>
              <a:rPr lang="zh-CN" altLang="en-US" sz="2400" b="1" dirty="0">
                <a:latin typeface="微软雅黑" panose="020B0503020204020204" pitchFamily="34" charset="-122"/>
                <a:ea typeface="微软雅黑" panose="020B0503020204020204" pitchFamily="34" charset="-122"/>
              </a:rPr>
              <a:t>步态是四足机器人顺时针的转弯步态，如图</a:t>
            </a:r>
            <a:r>
              <a:rPr lang="en-US" altLang="zh-CN" sz="2400" b="1" dirty="0">
                <a:latin typeface="微软雅黑" panose="020B0503020204020204" pitchFamily="34" charset="-122"/>
                <a:ea typeface="微软雅黑" panose="020B0503020204020204" pitchFamily="34" charset="-122"/>
              </a:rPr>
              <a:t>5.5</a:t>
            </a:r>
            <a:r>
              <a:rPr lang="zh-CN" altLang="en-US" sz="2400" b="1" dirty="0">
                <a:latin typeface="微软雅黑" panose="020B0503020204020204" pitchFamily="34" charset="-122"/>
                <a:ea typeface="微软雅黑" panose="020B0503020204020204" pitchFamily="34" charset="-122"/>
              </a:rPr>
              <a:t>所示。</a:t>
            </a:r>
          </a:p>
        </p:txBody>
      </p:sp>
      <p:pic>
        <p:nvPicPr>
          <p:cNvPr id="5122" name="Picture 2">
            <a:extLst>
              <a:ext uri="{FF2B5EF4-FFF2-40B4-BE49-F238E27FC236}">
                <a16:creationId xmlns:a16="http://schemas.microsoft.com/office/drawing/2014/main" id="{DA38CFDD-4D6F-859E-764A-4893769B246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8306" y="2406650"/>
            <a:ext cx="3765231" cy="2932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3">
            <a:extLst>
              <a:ext uri="{FF2B5EF4-FFF2-40B4-BE49-F238E27FC236}">
                <a16:creationId xmlns:a16="http://schemas.microsoft.com/office/drawing/2014/main" id="{828B5E25-0FAB-CDAA-EE2B-C67F6328146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26277" y="4165752"/>
            <a:ext cx="3098823" cy="128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2B3CE9C0-65FF-7714-1932-4BCB44716694}"/>
              </a:ext>
            </a:extLst>
          </p:cNvPr>
          <p:cNvSpPr txBox="1"/>
          <p:nvPr/>
        </p:nvSpPr>
        <p:spPr>
          <a:xfrm>
            <a:off x="2071688" y="5454968"/>
            <a:ext cx="6124574" cy="369332"/>
          </a:xfrm>
          <a:prstGeom prst="rect">
            <a:avLst/>
          </a:prstGeom>
          <a:noFill/>
        </p:spPr>
        <p:txBody>
          <a:bodyPr wrap="square">
            <a:spAutoFit/>
          </a:bodyPr>
          <a:lstStyle/>
          <a:p>
            <a:r>
              <a:rPr lang="zh-CN" altLang="en-US" dirty="0"/>
              <a:t> 图</a:t>
            </a:r>
            <a:r>
              <a:rPr lang="en-US" altLang="zh-CN" dirty="0"/>
              <a:t>5.4  4</a:t>
            </a:r>
            <a:r>
              <a:rPr lang="zh-CN" altLang="en-US" dirty="0"/>
              <a:t>种直行静步态</a:t>
            </a:r>
          </a:p>
        </p:txBody>
      </p:sp>
      <p:sp>
        <p:nvSpPr>
          <p:cNvPr id="8" name="文本框 7">
            <a:extLst>
              <a:ext uri="{FF2B5EF4-FFF2-40B4-BE49-F238E27FC236}">
                <a16:creationId xmlns:a16="http://schemas.microsoft.com/office/drawing/2014/main" id="{21E6D5A5-4B5F-81E2-74AD-6052CAF3F26A}"/>
              </a:ext>
            </a:extLst>
          </p:cNvPr>
          <p:cNvSpPr txBox="1"/>
          <p:nvPr/>
        </p:nvSpPr>
        <p:spPr>
          <a:xfrm>
            <a:off x="7431407" y="5454968"/>
            <a:ext cx="6124574" cy="369332"/>
          </a:xfrm>
          <a:prstGeom prst="rect">
            <a:avLst/>
          </a:prstGeom>
          <a:noFill/>
        </p:spPr>
        <p:txBody>
          <a:bodyPr wrap="square">
            <a:spAutoFit/>
          </a:bodyPr>
          <a:lstStyle/>
          <a:p>
            <a:pPr algn="just">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5.5  2</a:t>
            </a:r>
            <a:r>
              <a:rPr lang="zh-CN" altLang="zh-CN" sz="1800" kern="1000" dirty="0">
                <a:effectLst/>
                <a:latin typeface="Times New Roman" panose="02020603050405020304" pitchFamily="18" charset="0"/>
                <a:ea typeface="宋体" panose="02010600030101010101" pitchFamily="2" charset="-122"/>
              </a:rPr>
              <a:t>种转弯静步态</a:t>
            </a:r>
          </a:p>
        </p:txBody>
      </p:sp>
    </p:spTree>
    <p:extLst>
      <p:ext uri="{BB962C8B-B14F-4D97-AF65-F5344CB8AC3E}">
        <p14:creationId xmlns:p14="http://schemas.microsoft.com/office/powerpoint/2010/main" val="546250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9BB8E7-D35F-6AAC-01F9-7E277B218C2B}"/>
              </a:ext>
            </a:extLst>
          </p:cNvPr>
          <p:cNvSpPr txBox="1"/>
          <p:nvPr/>
        </p:nvSpPr>
        <p:spPr>
          <a:xfrm>
            <a:off x="1698306" y="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5.2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静步态规划方法</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a:extLst>
              <a:ext uri="{FF2B5EF4-FFF2-40B4-BE49-F238E27FC236}">
                <a16:creationId xmlns:a16="http://schemas.microsoft.com/office/drawing/2014/main" id="{7C88A7D8-1971-DE57-8B78-8E64BACBB47F}"/>
              </a:ext>
            </a:extLst>
          </p:cNvPr>
          <p:cNvSpPr txBox="1"/>
          <p:nvPr/>
        </p:nvSpPr>
        <p:spPr>
          <a:xfrm>
            <a:off x="942975" y="1143000"/>
            <a:ext cx="9791700" cy="830997"/>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       在上面的</a:t>
            </a:r>
            <a:r>
              <a:rPr lang="en-US" altLang="zh-CN" sz="2400" b="1" dirty="0">
                <a:latin typeface="微软雅黑" panose="020B0503020204020204" pitchFamily="34" charset="-122"/>
                <a:ea typeface="微软雅黑" panose="020B0503020204020204" pitchFamily="34" charset="-122"/>
              </a:rPr>
              <a:t>6</a:t>
            </a:r>
            <a:r>
              <a:rPr lang="zh-CN" altLang="en-US" sz="2400" b="1" dirty="0">
                <a:latin typeface="微软雅黑" panose="020B0503020204020204" pitchFamily="34" charset="-122"/>
                <a:ea typeface="微软雅黑" panose="020B0503020204020204" pitchFamily="34" charset="-122"/>
              </a:rPr>
              <a:t>种非奇异步态当中，只有</a:t>
            </a: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种能保证静态稳定，而能够使稳定裕度最大化的步态只有</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种，称为匍匐静步态，如图</a:t>
            </a:r>
            <a:r>
              <a:rPr lang="en-US" altLang="zh-CN" sz="2400" b="1" dirty="0">
                <a:latin typeface="微软雅黑" panose="020B0503020204020204" pitchFamily="34" charset="-122"/>
                <a:ea typeface="微软雅黑" panose="020B0503020204020204" pitchFamily="34" charset="-122"/>
              </a:rPr>
              <a:t>5.6</a:t>
            </a:r>
            <a:r>
              <a:rPr lang="zh-CN" altLang="en-US" sz="2400" b="1" dirty="0">
                <a:latin typeface="微软雅黑" panose="020B0503020204020204" pitchFamily="34" charset="-122"/>
                <a:ea typeface="微软雅黑" panose="020B0503020204020204" pitchFamily="34" charset="-122"/>
              </a:rPr>
              <a:t>所示。</a:t>
            </a:r>
          </a:p>
        </p:txBody>
      </p:sp>
      <p:pic>
        <p:nvPicPr>
          <p:cNvPr id="6146" name="Picture 2">
            <a:extLst>
              <a:ext uri="{FF2B5EF4-FFF2-40B4-BE49-F238E27FC236}">
                <a16:creationId xmlns:a16="http://schemas.microsoft.com/office/drawing/2014/main" id="{42F514A4-F497-0CFB-F4DA-C417551F688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4689" y="2489200"/>
            <a:ext cx="4828271" cy="299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DE10168E-6BDB-499B-D5D8-77154CE79336}"/>
              </a:ext>
            </a:extLst>
          </p:cNvPr>
          <p:cNvSpPr txBox="1"/>
          <p:nvPr/>
        </p:nvSpPr>
        <p:spPr>
          <a:xfrm>
            <a:off x="3033713" y="5816937"/>
            <a:ext cx="612457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5.6  6</a:t>
            </a:r>
            <a:r>
              <a:rPr lang="zh-CN" altLang="zh-CN" sz="1800" kern="1000" dirty="0">
                <a:effectLst/>
                <a:latin typeface="Times New Roman" panose="02020603050405020304" pitchFamily="18" charset="0"/>
                <a:ea typeface="宋体" panose="02010600030101010101" pitchFamily="2" charset="-122"/>
              </a:rPr>
              <a:t>种静步态稳定性示意图</a:t>
            </a:r>
          </a:p>
        </p:txBody>
      </p:sp>
    </p:spTree>
    <p:extLst>
      <p:ext uri="{BB962C8B-B14F-4D97-AF65-F5344CB8AC3E}">
        <p14:creationId xmlns:p14="http://schemas.microsoft.com/office/powerpoint/2010/main" val="950407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9BB8E7-D35F-6AAC-01F9-7E277B218C2B}"/>
              </a:ext>
            </a:extLst>
          </p:cNvPr>
          <p:cNvSpPr txBox="1"/>
          <p:nvPr/>
        </p:nvSpPr>
        <p:spPr>
          <a:xfrm>
            <a:off x="1698306" y="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5.3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动步态规划方法</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2D36C12-CD8F-1023-0A2C-578566F248C0}"/>
                  </a:ext>
                </a:extLst>
              </p:cNvPr>
              <p:cNvSpPr txBox="1"/>
              <p:nvPr/>
            </p:nvSpPr>
            <p:spPr>
              <a:xfrm>
                <a:off x="1190306" y="1162048"/>
                <a:ext cx="9906320" cy="4524315"/>
              </a:xfrm>
              <a:prstGeom prst="rect">
                <a:avLst/>
              </a:prstGeom>
              <a:noFill/>
            </p:spPr>
            <p:txBody>
              <a:bodyPr wrap="square">
                <a:spAutoFit/>
              </a:bodyPr>
              <a:lstStyle/>
              <a:p>
                <a:pPr indent="612000"/>
                <a:r>
                  <a:rPr lang="zh-CN" altLang="en-US" sz="2400" b="1" dirty="0">
                    <a:latin typeface="微软雅黑" panose="020B0503020204020204" pitchFamily="34" charset="-122"/>
                    <a:ea typeface="微软雅黑" panose="020B0503020204020204" pitchFamily="34" charset="-122"/>
                  </a:rPr>
                  <a:t>四足机器人在运动过程中，为了高效率地完成给定任务，一般采用具有较好动态特性的动步态运动模式。如上所述，机器人的动步态，一般分为对角小跑、遛步、跳跃和奔跑，它们属于两条腿同时摆动且占空比</a:t>
                </a:r>
                <a14:m>
                  <m:oMath xmlns:m="http://schemas.openxmlformats.org/officeDocument/2006/math">
                    <m:r>
                      <a:rPr lang="zh-CN" altLang="en-US" sz="2400" b="1" i="1" smtClean="0">
                        <a:latin typeface="Cambria Math" panose="02040503050406030204" pitchFamily="18" charset="0"/>
                        <a:ea typeface="微软雅黑" panose="020B0503020204020204" pitchFamily="34" charset="-122"/>
                      </a:rPr>
                      <m:t>𝜷</m:t>
                    </m:r>
                  </m:oMath>
                </a14:m>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0.5</a:t>
                </a:r>
                <a:r>
                  <a:rPr lang="zh-CN" altLang="en-US" sz="2400" b="1" dirty="0">
                    <a:latin typeface="微软雅黑" panose="020B0503020204020204" pitchFamily="34" charset="-122"/>
                    <a:ea typeface="微软雅黑" panose="020B0503020204020204" pitchFamily="34" charset="-122"/>
                  </a:rPr>
                  <a:t>的步态，且运动速度按照上述顺序越来越快。与其他动步态相比，对角小跑步态是一种更具有实用性的动步态，理由如下。</a:t>
                </a:r>
              </a:p>
              <a:p>
                <a:pPr indent="612000"/>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对角小跑步态具有较高的能效和较大的速度适应范围，即使对角线上的两条支撑腿翻倒，借助于另一对角线上两条摆动腿的快速触地也可防止机器人整体翻倒。  </a:t>
                </a:r>
              </a:p>
              <a:p>
                <a:pPr indent="612000"/>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在对角小跑步态中，对角线上前、后腿运动相位相同，理论上能同时触地和离地，易于实现机器人步行运动的对称性，保持机器人运动的自稳定性，减轻机器人姿态控制的负担，减少稳定调节过程中的动作次数。</a:t>
                </a:r>
              </a:p>
            </p:txBody>
          </p:sp>
        </mc:Choice>
        <mc:Fallback xmlns="">
          <p:sp>
            <p:nvSpPr>
              <p:cNvPr id="3" name="文本框 2">
                <a:extLst>
                  <a:ext uri="{FF2B5EF4-FFF2-40B4-BE49-F238E27FC236}">
                    <a16:creationId xmlns:a16="http://schemas.microsoft.com/office/drawing/2014/main" id="{22D36C12-CD8F-1023-0A2C-578566F248C0}"/>
                  </a:ext>
                </a:extLst>
              </p:cNvPr>
              <p:cNvSpPr txBox="1">
                <a:spLocks noRot="1" noChangeAspect="1" noMove="1" noResize="1" noEditPoints="1" noAdjustHandles="1" noChangeArrowheads="1" noChangeShapeType="1" noTextEdit="1"/>
              </p:cNvSpPr>
              <p:nvPr/>
            </p:nvSpPr>
            <p:spPr>
              <a:xfrm>
                <a:off x="1190306" y="1162048"/>
                <a:ext cx="9906320" cy="4524315"/>
              </a:xfrm>
              <a:prstGeom prst="rect">
                <a:avLst/>
              </a:prstGeom>
              <a:blipFill>
                <a:blip r:embed="rId2"/>
                <a:stretch>
                  <a:fillRect l="-923" t="-1078" b="-21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922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9BB8E7-D35F-6AAC-01F9-7E277B218C2B}"/>
              </a:ext>
            </a:extLst>
          </p:cNvPr>
          <p:cNvSpPr txBox="1"/>
          <p:nvPr/>
        </p:nvSpPr>
        <p:spPr>
          <a:xfrm>
            <a:off x="1698306" y="-1905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5.3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动步态规划方法</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a:extLst>
              <a:ext uri="{FF2B5EF4-FFF2-40B4-BE49-F238E27FC236}">
                <a16:creationId xmlns:a16="http://schemas.microsoft.com/office/drawing/2014/main" id="{A5875426-AC98-CF39-0F86-9789E8EB6DD0}"/>
              </a:ext>
            </a:extLst>
          </p:cNvPr>
          <p:cNvSpPr txBox="1"/>
          <p:nvPr/>
        </p:nvSpPr>
        <p:spPr>
          <a:xfrm>
            <a:off x="1362074" y="1209675"/>
            <a:ext cx="9344026" cy="2381250"/>
          </a:xfrm>
          <a:prstGeom prst="rect">
            <a:avLst/>
          </a:prstGeom>
          <a:noFill/>
        </p:spPr>
        <p:txBody>
          <a:bodyPr wrap="square">
            <a:spAutoFit/>
          </a:bodyPr>
          <a:lstStyle/>
          <a:p>
            <a:pPr indent="612000"/>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对角小跑步态与直行步态的适配性好，仅改变占空比</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从占空比为</a:t>
            </a:r>
            <a:r>
              <a:rPr lang="en-US" altLang="zh-CN" sz="2400" b="1" dirty="0">
                <a:latin typeface="微软雅黑" panose="020B0503020204020204" pitchFamily="34" charset="-122"/>
                <a:ea typeface="微软雅黑" panose="020B0503020204020204" pitchFamily="34" charset="-122"/>
              </a:rPr>
              <a:t>0.75</a:t>
            </a:r>
            <a:r>
              <a:rPr lang="zh-CN" altLang="en-US" sz="2400" b="1" dirty="0">
                <a:latin typeface="微软雅黑" panose="020B0503020204020204" pitchFamily="34" charset="-122"/>
                <a:ea typeface="微软雅黑" panose="020B0503020204020204" pitchFamily="34" charset="-122"/>
              </a:rPr>
              <a:t>的直行步态到占空比为</a:t>
            </a:r>
            <a:r>
              <a:rPr lang="en-US" altLang="zh-CN" sz="2400" b="1" dirty="0">
                <a:latin typeface="微软雅黑" panose="020B0503020204020204" pitchFamily="34" charset="-122"/>
                <a:ea typeface="微软雅黑" panose="020B0503020204020204" pitchFamily="34" charset="-122"/>
              </a:rPr>
              <a:t>0.5</a:t>
            </a:r>
            <a:r>
              <a:rPr lang="zh-CN" altLang="en-US" sz="2400" b="1" dirty="0">
                <a:latin typeface="微软雅黑" panose="020B0503020204020204" pitchFamily="34" charset="-122"/>
                <a:ea typeface="微软雅黑" panose="020B0503020204020204" pitchFamily="34" charset="-122"/>
              </a:rPr>
              <a:t>的对角小跑步态</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就能连续生成与目标速度相适应的步态，有利于步态之间平滑切换的实现，可提高四足机器人的环境适应性。</a:t>
            </a:r>
          </a:p>
          <a:p>
            <a:r>
              <a:rPr lang="zh-CN" altLang="en-US" sz="2400" b="1" dirty="0">
                <a:latin typeface="微软雅黑" panose="020B0503020204020204" pitchFamily="34" charset="-122"/>
                <a:ea typeface="微软雅黑" panose="020B0503020204020204" pitchFamily="34" charset="-122"/>
              </a:rPr>
              <a:t>      因此，在机器人的步态规划中，一般都采用具有良好动态稳定性的对角小跑步态。</a:t>
            </a:r>
          </a:p>
        </p:txBody>
      </p:sp>
    </p:spTree>
    <p:extLst>
      <p:ext uri="{BB962C8B-B14F-4D97-AF65-F5344CB8AC3E}">
        <p14:creationId xmlns:p14="http://schemas.microsoft.com/office/powerpoint/2010/main" val="2372950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a:extLst>
              <a:ext uri="{FF2B5EF4-FFF2-40B4-BE49-F238E27FC236}">
                <a16:creationId xmlns:a16="http://schemas.microsoft.com/office/drawing/2014/main" id="{CF5A4ECB-4EE5-073A-AF14-6FF3EB45A1FB}"/>
              </a:ext>
            </a:extLst>
          </p:cNvPr>
          <p:cNvSpPr txBox="1"/>
          <p:nvPr/>
        </p:nvSpPr>
        <p:spPr>
          <a:xfrm>
            <a:off x="814388" y="1144071"/>
            <a:ext cx="6124574"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rPr>
              <a:t>5.4.1  </a:t>
            </a:r>
            <a:r>
              <a:rPr lang="zh-CN" altLang="en-US" sz="2400" b="1" dirty="0">
                <a:latin typeface="微软雅黑" panose="020B0503020204020204" pitchFamily="34" charset="-122"/>
                <a:ea typeface="微软雅黑" panose="020B0503020204020204" pitchFamily="34" charset="-122"/>
              </a:rPr>
              <a:t>机器人轨迹规划</a:t>
            </a:r>
          </a:p>
        </p:txBody>
      </p:sp>
      <p:sp>
        <p:nvSpPr>
          <p:cNvPr id="8" name="文本框 7">
            <a:extLst>
              <a:ext uri="{FF2B5EF4-FFF2-40B4-BE49-F238E27FC236}">
                <a16:creationId xmlns:a16="http://schemas.microsoft.com/office/drawing/2014/main" id="{918C93E5-2717-69BE-9063-9E9FB7F18D38}"/>
              </a:ext>
            </a:extLst>
          </p:cNvPr>
          <p:cNvSpPr txBox="1"/>
          <p:nvPr/>
        </p:nvSpPr>
        <p:spPr>
          <a:xfrm>
            <a:off x="845344" y="1924050"/>
            <a:ext cx="10501312" cy="4154984"/>
          </a:xfrm>
          <a:prstGeom prst="rect">
            <a:avLst/>
          </a:prstGeom>
          <a:noFill/>
        </p:spPr>
        <p:txBody>
          <a:bodyPr wrap="square">
            <a:spAutoFit/>
          </a:bodyPr>
          <a:lstStyle/>
          <a:p>
            <a:pPr indent="612000"/>
            <a:r>
              <a:rPr lang="zh-CN" altLang="en-US" sz="2400" b="1" dirty="0">
                <a:latin typeface="微软雅黑" panose="020B0503020204020204" pitchFamily="34" charset="-122"/>
                <a:ea typeface="微软雅黑" panose="020B0503020204020204" pitchFamily="34" charset="-122"/>
              </a:rPr>
              <a:t>常见的机器人作业有点到点作业和连续路径作业。机器人在运动过程中，需要进行运动轨迹的规划，这里所谓的轨迹是指机械手或者机器人在运动过程中的位姿、速度和加速度。</a:t>
            </a:r>
          </a:p>
          <a:p>
            <a:pPr indent="612000"/>
            <a:r>
              <a:rPr lang="zh-CN" altLang="en-US" sz="2400" b="1" dirty="0">
                <a:latin typeface="微软雅黑" panose="020B0503020204020204" pitchFamily="34" charset="-122"/>
                <a:ea typeface="微软雅黑" panose="020B0503020204020204" pitchFamily="34" charset="-122"/>
              </a:rPr>
              <a:t>机器人的轨迹规划一般要求对于选定的轨迹节点</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插值点</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上的位姿、速度和加速度给出一组显式约束</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如连续性和光滑程度等</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，轨迹规划器从一类函数</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如</a:t>
            </a:r>
            <a:r>
              <a:rPr lang="en-US" altLang="zh-CN" sz="2400" b="1" dirty="0">
                <a:latin typeface="微软雅黑" panose="020B0503020204020204" pitchFamily="34" charset="-122"/>
                <a:ea typeface="微软雅黑" panose="020B0503020204020204" pitchFamily="34" charset="-122"/>
              </a:rPr>
              <a:t>n</a:t>
            </a:r>
            <a:r>
              <a:rPr lang="zh-CN" altLang="en-US" sz="2400" b="1" dirty="0">
                <a:latin typeface="微软雅黑" panose="020B0503020204020204" pitchFamily="34" charset="-122"/>
                <a:ea typeface="微软雅黑" panose="020B0503020204020204" pitchFamily="34" charset="-122"/>
              </a:rPr>
              <a:t>次多项式</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选取参数化轨迹，对节点进行插值，并满足约束条件。轨迹规划方法一般是在机器人的初始位置和目标位置之间用多项式函数来“内插”或“逼近”给定的路径，并产生一系列的控制点。</a:t>
            </a:r>
          </a:p>
          <a:p>
            <a:pPr indent="612000"/>
            <a:r>
              <a:rPr lang="zh-CN" altLang="en-US" sz="2400" b="1" dirty="0">
                <a:latin typeface="微软雅黑" panose="020B0503020204020204" pitchFamily="34" charset="-122"/>
                <a:ea typeface="微软雅黑" panose="020B0503020204020204" pitchFamily="34" charset="-122"/>
              </a:rPr>
              <a:t>所谓“内插”或“逼近”主要是指插值。插值，就是给定一组离散点列，求出一条曲线，把这些点按照次序连接起来。插值包含很多方法，包括分段线性插值、拉格朗日插值和样条插值等。</a:t>
            </a:r>
          </a:p>
        </p:txBody>
      </p:sp>
    </p:spTree>
    <p:extLst>
      <p:ext uri="{BB962C8B-B14F-4D97-AF65-F5344CB8AC3E}">
        <p14:creationId xmlns:p14="http://schemas.microsoft.com/office/powerpoint/2010/main" val="2260302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a:extLst>
              <a:ext uri="{FF2B5EF4-FFF2-40B4-BE49-F238E27FC236}">
                <a16:creationId xmlns:a16="http://schemas.microsoft.com/office/drawing/2014/main" id="{BC4034B9-B24B-84F7-5F17-BB22277FCCA3}"/>
              </a:ext>
            </a:extLst>
          </p:cNvPr>
          <p:cNvSpPr txBox="1"/>
          <p:nvPr/>
        </p:nvSpPr>
        <p:spPr>
          <a:xfrm>
            <a:off x="923925" y="1257955"/>
            <a:ext cx="10210800" cy="3046988"/>
          </a:xfrm>
          <a:prstGeom prst="rect">
            <a:avLst/>
          </a:prstGeom>
          <a:noFill/>
        </p:spPr>
        <p:txBody>
          <a:bodyPr wrap="square">
            <a:spAutoFit/>
          </a:bodyPr>
          <a:lstStyle/>
          <a:p>
            <a:pPr indent="612000"/>
            <a:r>
              <a:rPr lang="zh-CN" altLang="en-US" sz="2400" b="1" dirty="0">
                <a:latin typeface="微软雅黑" panose="020B0503020204020204" pitchFamily="34" charset="-122"/>
                <a:ea typeface="微软雅黑" panose="020B0503020204020204" pitchFamily="34" charset="-122"/>
              </a:rPr>
              <a:t>将已知的每两个相邻的点用直线连接起来，如此形成一条折线，就是分段线性插值；插值点之间采用拉格朗日函数连接，就是拉格朗日插值；样条插值是指采用三次样条函数来构造已知数据点之间的插值函数。</a:t>
            </a:r>
            <a:endParaRPr lang="en-US" altLang="zh-CN" sz="2400" b="1" dirty="0">
              <a:latin typeface="微软雅黑" panose="020B0503020204020204" pitchFamily="34" charset="-122"/>
              <a:ea typeface="微软雅黑" panose="020B0503020204020204" pitchFamily="34" charset="-122"/>
            </a:endParaRPr>
          </a:p>
          <a:p>
            <a:pPr indent="612000"/>
            <a:r>
              <a:rPr lang="zh-CN" altLang="en-US" sz="2400" b="1" dirty="0">
                <a:latin typeface="微软雅黑" panose="020B0503020204020204" pitchFamily="34" charset="-122"/>
                <a:ea typeface="微软雅黑" panose="020B0503020204020204" pitchFamily="34" charset="-122"/>
              </a:rPr>
              <a:t>在机器人的步态规划中，一般点的约束为抬腿和落地时刻的位置、速度和加速度约束，部分考虑机器人抬腿高度的约束。因此，为了提高机器人运动的连续性，降低机器人对地面的冲击，一般采用三次或更高阶的多项式作为插值函数来规划机器人的步态曲线。下面重点介绍常用的三次多项式插值方法和分段线性插值方法。</a:t>
            </a:r>
          </a:p>
        </p:txBody>
      </p:sp>
      <p:sp>
        <p:nvSpPr>
          <p:cNvPr id="6" name="文本框 5">
            <a:extLst>
              <a:ext uri="{FF2B5EF4-FFF2-40B4-BE49-F238E27FC236}">
                <a16:creationId xmlns:a16="http://schemas.microsoft.com/office/drawing/2014/main" id="{52C262D3-5C62-E7F7-3912-ACFA0D0A6ACA}"/>
              </a:ext>
            </a:extLst>
          </p:cNvPr>
          <p:cNvSpPr txBox="1"/>
          <p:nvPr/>
        </p:nvSpPr>
        <p:spPr>
          <a:xfrm>
            <a:off x="923925" y="4439585"/>
            <a:ext cx="6126480"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．三次多项式插值方法 </a:t>
            </a:r>
          </a:p>
        </p:txBody>
      </p:sp>
      <p:sp>
        <p:nvSpPr>
          <p:cNvPr id="8" name="文本框 7">
            <a:extLst>
              <a:ext uri="{FF2B5EF4-FFF2-40B4-BE49-F238E27FC236}">
                <a16:creationId xmlns:a16="http://schemas.microsoft.com/office/drawing/2014/main" id="{83DF1348-9286-0B3A-9151-8EEA8D64A90D}"/>
              </a:ext>
            </a:extLst>
          </p:cNvPr>
          <p:cNvSpPr txBox="1"/>
          <p:nvPr/>
        </p:nvSpPr>
        <p:spPr>
          <a:xfrm>
            <a:off x="923925" y="5035892"/>
            <a:ext cx="9536703" cy="830997"/>
          </a:xfrm>
          <a:prstGeom prst="rect">
            <a:avLst/>
          </a:prstGeom>
          <a:noFill/>
        </p:spPr>
        <p:txBody>
          <a:bodyPr wrap="square">
            <a:spAutoFit/>
          </a:bodyPr>
          <a:lstStyle/>
          <a:p>
            <a:pPr indent="612000"/>
            <a:r>
              <a:rPr lang="zh-CN" altLang="en-US" sz="2400" b="1" dirty="0">
                <a:latin typeface="微软雅黑" panose="020B0503020204020204" pitchFamily="34" charset="-122"/>
                <a:ea typeface="微软雅黑" panose="020B0503020204020204" pitchFamily="34" charset="-122"/>
              </a:rPr>
              <a:t>在三次多项式插值方法中，只给定机器人运动的起始点和终止点的关节角度即可，中间可以生成多个三次多项式曲线，如图</a:t>
            </a:r>
            <a:r>
              <a:rPr lang="en-US" altLang="zh-CN" sz="2400" b="1" dirty="0">
                <a:latin typeface="微软雅黑" panose="020B0503020204020204" pitchFamily="34" charset="-122"/>
                <a:ea typeface="微软雅黑" panose="020B0503020204020204" pitchFamily="34" charset="-122"/>
              </a:rPr>
              <a:t>5.7</a:t>
            </a:r>
            <a:r>
              <a:rPr lang="zh-CN" altLang="en-US" sz="2400" b="1" dirty="0">
                <a:latin typeface="微软雅黑" panose="020B0503020204020204" pitchFamily="34" charset="-122"/>
                <a:ea typeface="微软雅黑" panose="020B0503020204020204" pitchFamily="34" charset="-122"/>
              </a:rPr>
              <a:t>所示。</a:t>
            </a:r>
          </a:p>
        </p:txBody>
      </p:sp>
    </p:spTree>
    <p:extLst>
      <p:ext uri="{BB962C8B-B14F-4D97-AF65-F5344CB8AC3E}">
        <p14:creationId xmlns:p14="http://schemas.microsoft.com/office/powerpoint/2010/main" val="46402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7">
            <a:extLst>
              <a:ext uri="{FF2B5EF4-FFF2-40B4-BE49-F238E27FC236}">
                <a16:creationId xmlns:a16="http://schemas.microsoft.com/office/drawing/2014/main" id="{47E0EB5A-5B8F-4463-333C-B7EEB9AA7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0657" y="889816"/>
            <a:ext cx="5111840" cy="4166950"/>
          </a:xfrm>
          <a:prstGeom prst="rect">
            <a:avLst/>
          </a:prstGeom>
          <a:noFill/>
          <a:ln>
            <a:noFill/>
          </a:ln>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1DA9942-D7A3-D0A7-221D-487595F5257C}"/>
                  </a:ext>
                </a:extLst>
              </p:cNvPr>
              <p:cNvSpPr txBox="1"/>
              <p:nvPr/>
            </p:nvSpPr>
            <p:spPr>
              <a:xfrm>
                <a:off x="764177" y="1565591"/>
                <a:ext cx="6126480" cy="4536819"/>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       三次多项式插值方法能保证机器人在工作过程中角度、角速度和角加速度连续，但不能保证机器人在起始点和终止点的加速度连续。当机器人在起始点加速度由</a:t>
                </a:r>
                <a:r>
                  <a:rPr lang="en-US" altLang="zh-CN" sz="2400" b="1" dirty="0">
                    <a:latin typeface="微软雅黑" panose="020B0503020204020204" pitchFamily="34" charset="-122"/>
                    <a:ea typeface="微软雅黑" panose="020B0503020204020204" pitchFamily="34" charset="-122"/>
                  </a:rPr>
                  <a:t>0</a:t>
                </a:r>
                <a:r>
                  <a:rPr lang="zh-CN" altLang="en-US" sz="2400" b="1" dirty="0">
                    <a:latin typeface="微软雅黑" panose="020B0503020204020204" pitchFamily="34" charset="-122"/>
                    <a:ea typeface="微软雅黑" panose="020B0503020204020204" pitchFamily="34" charset="-122"/>
                  </a:rPr>
                  <a:t>突变为某一值时，在终止点则由某值突变为</a:t>
                </a:r>
                <a:r>
                  <a:rPr lang="en-US" altLang="zh-CN" sz="2400" b="1" dirty="0">
                    <a:latin typeface="微软雅黑" panose="020B0503020204020204" pitchFamily="34" charset="-122"/>
                    <a:ea typeface="微软雅黑" panose="020B0503020204020204" pitchFamily="34" charset="-122"/>
                  </a:rPr>
                  <a:t>0</a:t>
                </a:r>
                <a:r>
                  <a:rPr lang="zh-CN" altLang="en-US" sz="2400" b="1" dirty="0">
                    <a:latin typeface="微软雅黑" panose="020B0503020204020204" pitchFamily="34" charset="-122"/>
                    <a:ea typeface="微软雅黑" panose="020B0503020204020204" pitchFamily="34" charset="-122"/>
                  </a:rPr>
                  <a:t>时，这样由于关节变量的加速度突变，必将引起机器人启动或者停止时的末端执行器的抖动，影响机器人工作的平稳性。</a:t>
                </a:r>
                <a:endParaRPr lang="en-US" altLang="zh-CN" sz="2400" b="1" dirty="0">
                  <a:latin typeface="微软雅黑" panose="020B0503020204020204" pitchFamily="34" charset="-122"/>
                  <a:ea typeface="微软雅黑" panose="020B0503020204020204" pitchFamily="34" charset="-122"/>
                </a:endParaRPr>
              </a:p>
              <a:p>
                <a:pPr>
                  <a:lnSpc>
                    <a:spcPct val="150000"/>
                  </a:lnSpc>
                </a:pPr>
                <a:r>
                  <a:rPr lang="zh-CN" altLang="en-US" sz="2400" b="1" dirty="0">
                    <a:latin typeface="微软雅黑" panose="020B0503020204020204" pitchFamily="34" charset="-122"/>
                    <a:ea typeface="微软雅黑" panose="020B0503020204020204" pitchFamily="34" charset="-122"/>
                  </a:rPr>
                  <a:t>三次多项式函数可以用式</a:t>
                </a:r>
                <a:r>
                  <a:rPr lang="en-US" altLang="zh-CN" sz="2400" b="1" dirty="0">
                    <a:latin typeface="微软雅黑" panose="020B0503020204020204" pitchFamily="34" charset="-122"/>
                    <a:ea typeface="微软雅黑" panose="020B0503020204020204" pitchFamily="34" charset="-122"/>
                  </a:rPr>
                  <a:t>(5.1)</a:t>
                </a:r>
                <a:r>
                  <a:rPr lang="zh-CN" altLang="en-US" sz="2400" b="1" dirty="0">
                    <a:latin typeface="微软雅黑" panose="020B0503020204020204" pitchFamily="34" charset="-122"/>
                    <a:ea typeface="微软雅黑" panose="020B0503020204020204" pitchFamily="34" charset="-122"/>
                  </a:rPr>
                  <a:t>表示：</a:t>
                </a:r>
                <a:endParaRPr lang="en-US" altLang="zh-CN" sz="2400" b="1" dirty="0">
                  <a:latin typeface="微软雅黑" panose="020B0503020204020204" pitchFamily="34" charset="-122"/>
                  <a:ea typeface="微软雅黑" panose="020B0503020204020204" pitchFamily="34" charset="-122"/>
                </a:endParaRPr>
              </a:p>
              <a:p>
                <a:pPr>
                  <a:lnSpc>
                    <a:spcPct val="150000"/>
                  </a:lnSpc>
                </a:pPr>
                <a:r>
                  <a:rPr lang="zh-CN" altLang="en-US" sz="2400" b="1" dirty="0"/>
                  <a:t>       </a:t>
                </a:r>
                <a14:m>
                  <m:oMath xmlns:m="http://schemas.openxmlformats.org/officeDocument/2006/math">
                    <m:r>
                      <a:rPr lang="zh-CN" altLang="en-US" sz="2400" b="1" i="1" smtClean="0">
                        <a:latin typeface="Cambria Math" panose="02040503050406030204" pitchFamily="18" charset="0"/>
                      </a:rPr>
                      <m:t>𝜽</m:t>
                    </m:r>
                    <m:d>
                      <m:dPr>
                        <m:ctrlPr>
                          <a:rPr lang="zh-CN" altLang="en-US" sz="2400" b="1" i="1">
                            <a:latin typeface="Cambria Math" panose="02040503050406030204" pitchFamily="18" charset="0"/>
                          </a:rPr>
                        </m:ctrlPr>
                      </m:dPr>
                      <m:e>
                        <m:r>
                          <a:rPr lang="zh-CN" altLang="en-US" sz="2400" b="1" i="1" smtClean="0">
                            <a:latin typeface="Cambria Math" panose="02040503050406030204" pitchFamily="18" charset="0"/>
                          </a:rPr>
                          <m:t>𝒕</m:t>
                        </m:r>
                      </m:e>
                    </m:d>
                    <m:r>
                      <a:rPr lang="zh-CN" altLang="en-US" sz="2400" b="1" i="0" smtClean="0">
                        <a:latin typeface="Cambria Math" panose="02040503050406030204" pitchFamily="18" charset="0"/>
                      </a:rPr>
                      <m:t>=</m:t>
                    </m:r>
                    <m:sSub>
                      <m:sSubPr>
                        <m:ctrlPr>
                          <a:rPr lang="zh-CN" altLang="en-US" sz="2400" b="1" i="1">
                            <a:solidFill>
                              <a:srgbClr val="836967"/>
                            </a:solidFill>
                            <a:latin typeface="Cambria Math" panose="02040503050406030204" pitchFamily="18" charset="0"/>
                          </a:rPr>
                        </m:ctrlPr>
                      </m:sSubPr>
                      <m:e>
                        <m:r>
                          <a:rPr lang="zh-CN" altLang="en-US" sz="2400" b="1" i="1" smtClean="0">
                            <a:latin typeface="Cambria Math" panose="02040503050406030204" pitchFamily="18" charset="0"/>
                          </a:rPr>
                          <m:t>𝒂</m:t>
                        </m:r>
                      </m:e>
                      <m:sub>
                        <m:r>
                          <a:rPr lang="zh-CN" altLang="en-US" sz="2400" b="1" i="0" smtClean="0">
                            <a:latin typeface="Cambria Math" panose="02040503050406030204" pitchFamily="18" charset="0"/>
                          </a:rPr>
                          <m:t>𝟎</m:t>
                        </m:r>
                      </m:sub>
                    </m:sSub>
                    <m:r>
                      <a:rPr lang="zh-CN" altLang="en-US" sz="2400" b="1" i="0" smtClean="0">
                        <a:latin typeface="Cambria Math" panose="02040503050406030204" pitchFamily="18" charset="0"/>
                      </a:rPr>
                      <m:t>+</m:t>
                    </m:r>
                    <m:sSub>
                      <m:sSubPr>
                        <m:ctrlPr>
                          <a:rPr lang="zh-CN" altLang="en-US" sz="2400" b="1" i="1">
                            <a:solidFill>
                              <a:srgbClr val="836967"/>
                            </a:solidFill>
                            <a:latin typeface="Cambria Math" panose="02040503050406030204" pitchFamily="18" charset="0"/>
                          </a:rPr>
                        </m:ctrlPr>
                      </m:sSubPr>
                      <m:e>
                        <m:r>
                          <a:rPr lang="zh-CN" altLang="en-US" sz="2400" b="1" i="1" smtClean="0">
                            <a:latin typeface="Cambria Math" panose="02040503050406030204" pitchFamily="18" charset="0"/>
                          </a:rPr>
                          <m:t>𝒂</m:t>
                        </m:r>
                      </m:e>
                      <m:sub>
                        <m:r>
                          <a:rPr lang="zh-CN" altLang="en-US" sz="2400" b="1" i="0" smtClean="0">
                            <a:latin typeface="Cambria Math" panose="02040503050406030204" pitchFamily="18" charset="0"/>
                          </a:rPr>
                          <m:t>𝟏</m:t>
                        </m:r>
                      </m:sub>
                    </m:sSub>
                    <m:r>
                      <a:rPr lang="zh-CN" altLang="en-US" sz="2400" b="1" i="1" smtClean="0">
                        <a:latin typeface="Cambria Math" panose="02040503050406030204" pitchFamily="18" charset="0"/>
                      </a:rPr>
                      <m:t>𝒕</m:t>
                    </m:r>
                    <m:r>
                      <a:rPr lang="zh-CN" altLang="en-US" sz="2400" b="1" i="0" smtClean="0">
                        <a:latin typeface="Cambria Math" panose="02040503050406030204" pitchFamily="18" charset="0"/>
                      </a:rPr>
                      <m:t>+</m:t>
                    </m:r>
                    <m:sSub>
                      <m:sSubPr>
                        <m:ctrlPr>
                          <a:rPr lang="zh-CN" altLang="en-US" sz="2400" b="1" i="1">
                            <a:solidFill>
                              <a:srgbClr val="836967"/>
                            </a:solidFill>
                            <a:latin typeface="Cambria Math" panose="02040503050406030204" pitchFamily="18" charset="0"/>
                          </a:rPr>
                        </m:ctrlPr>
                      </m:sSubPr>
                      <m:e>
                        <m:r>
                          <a:rPr lang="zh-CN" altLang="en-US" sz="2400" b="1" i="1" smtClean="0">
                            <a:latin typeface="Cambria Math" panose="02040503050406030204" pitchFamily="18" charset="0"/>
                          </a:rPr>
                          <m:t>𝒂</m:t>
                        </m:r>
                      </m:e>
                      <m:sub>
                        <m:r>
                          <a:rPr lang="zh-CN" altLang="en-US" sz="2400" b="1" i="0" smtClean="0">
                            <a:latin typeface="Cambria Math" panose="02040503050406030204" pitchFamily="18" charset="0"/>
                          </a:rPr>
                          <m:t>𝟐</m:t>
                        </m:r>
                      </m:sub>
                    </m:sSub>
                    <m:sSup>
                      <m:sSupPr>
                        <m:ctrlPr>
                          <a:rPr lang="zh-CN" altLang="en-US" sz="2400" b="1" i="1">
                            <a:solidFill>
                              <a:srgbClr val="836967"/>
                            </a:solidFill>
                            <a:latin typeface="Cambria Math" panose="02040503050406030204" pitchFamily="18" charset="0"/>
                          </a:rPr>
                        </m:ctrlPr>
                      </m:sSupPr>
                      <m:e>
                        <m:r>
                          <a:rPr lang="zh-CN" altLang="en-US" sz="2400" b="1" i="1" smtClean="0">
                            <a:latin typeface="Cambria Math" panose="02040503050406030204" pitchFamily="18" charset="0"/>
                          </a:rPr>
                          <m:t>𝒕</m:t>
                        </m:r>
                      </m:e>
                      <m:sup>
                        <m:r>
                          <a:rPr lang="zh-CN" altLang="en-US" sz="2400" b="1" i="0" smtClean="0">
                            <a:latin typeface="Cambria Math" panose="02040503050406030204" pitchFamily="18" charset="0"/>
                          </a:rPr>
                          <m:t>𝟐</m:t>
                        </m:r>
                      </m:sup>
                    </m:sSup>
                    <m:r>
                      <a:rPr lang="zh-CN" altLang="en-US" sz="2400" b="1" i="0" smtClean="0">
                        <a:latin typeface="Cambria Math" panose="02040503050406030204" pitchFamily="18" charset="0"/>
                      </a:rPr>
                      <m:t>+</m:t>
                    </m:r>
                    <m:sSub>
                      <m:sSubPr>
                        <m:ctrlPr>
                          <a:rPr lang="zh-CN" altLang="en-US" sz="2400" b="1" i="1">
                            <a:solidFill>
                              <a:srgbClr val="836967"/>
                            </a:solidFill>
                            <a:latin typeface="Cambria Math" panose="02040503050406030204" pitchFamily="18" charset="0"/>
                          </a:rPr>
                        </m:ctrlPr>
                      </m:sSubPr>
                      <m:e>
                        <m:r>
                          <a:rPr lang="zh-CN" altLang="en-US" sz="2400" b="1" i="1" smtClean="0">
                            <a:latin typeface="Cambria Math" panose="02040503050406030204" pitchFamily="18" charset="0"/>
                          </a:rPr>
                          <m:t>𝒂</m:t>
                        </m:r>
                      </m:e>
                      <m:sub>
                        <m:r>
                          <a:rPr lang="zh-CN" altLang="en-US" sz="2400" b="1" i="0" smtClean="0">
                            <a:latin typeface="Cambria Math" panose="02040503050406030204" pitchFamily="18" charset="0"/>
                          </a:rPr>
                          <m:t>𝟑</m:t>
                        </m:r>
                      </m:sub>
                    </m:sSub>
                    <m:sSup>
                      <m:sSupPr>
                        <m:ctrlPr>
                          <a:rPr lang="zh-CN" altLang="en-US" sz="2400" b="1" i="1">
                            <a:solidFill>
                              <a:srgbClr val="836967"/>
                            </a:solidFill>
                            <a:latin typeface="Cambria Math" panose="02040503050406030204" pitchFamily="18" charset="0"/>
                          </a:rPr>
                        </m:ctrlPr>
                      </m:sSupPr>
                      <m:e>
                        <m:r>
                          <a:rPr lang="zh-CN" altLang="en-US" sz="2400" b="1" i="1" smtClean="0">
                            <a:latin typeface="Cambria Math" panose="02040503050406030204" pitchFamily="18" charset="0"/>
                          </a:rPr>
                          <m:t>𝒕</m:t>
                        </m:r>
                      </m:e>
                      <m:sup>
                        <m:r>
                          <a:rPr lang="zh-CN" altLang="en-US" sz="2400" b="1" i="0" smtClean="0">
                            <a:latin typeface="Cambria Math" panose="02040503050406030204" pitchFamily="18" charset="0"/>
                          </a:rPr>
                          <m:t>𝟑</m:t>
                        </m:r>
                      </m:sup>
                    </m:sSup>
                  </m:oMath>
                </a14:m>
                <a:r>
                  <a:rPr lang="en-US" altLang="zh-CN" sz="2400" b="1" dirty="0"/>
                  <a:t>      (5.1)</a:t>
                </a:r>
              </a:p>
              <a:p>
                <a:pPr indent="612000"/>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81DA9942-D7A3-D0A7-221D-487595F5257C}"/>
                  </a:ext>
                </a:extLst>
              </p:cNvPr>
              <p:cNvSpPr txBox="1">
                <a:spLocks noRot="1" noChangeAspect="1" noMove="1" noResize="1" noEditPoints="1" noAdjustHandles="1" noChangeArrowheads="1" noChangeShapeType="1" noTextEdit="1"/>
              </p:cNvSpPr>
              <p:nvPr/>
            </p:nvSpPr>
            <p:spPr>
              <a:xfrm>
                <a:off x="764177" y="1565591"/>
                <a:ext cx="6126480" cy="4536819"/>
              </a:xfrm>
              <a:prstGeom prst="rect">
                <a:avLst/>
              </a:prstGeom>
              <a:blipFill>
                <a:blip r:embed="rId3"/>
                <a:stretch>
                  <a:fillRect l="-1493" t="-1075" r="-4080"/>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EA7D9E32-5748-5FEB-C809-72CDC607B015}"/>
              </a:ext>
            </a:extLst>
          </p:cNvPr>
          <p:cNvSpPr txBox="1"/>
          <p:nvPr/>
        </p:nvSpPr>
        <p:spPr>
          <a:xfrm>
            <a:off x="7458074" y="4872100"/>
            <a:ext cx="6126480" cy="369332"/>
          </a:xfrm>
          <a:prstGeom prst="rect">
            <a:avLst/>
          </a:prstGeom>
          <a:noFill/>
        </p:spPr>
        <p:txBody>
          <a:bodyPr wrap="square">
            <a:spAutoFit/>
          </a:bodyPr>
          <a:lstStyle/>
          <a:p>
            <a:r>
              <a:rPr lang="zh-CN" altLang="en-US" dirty="0"/>
              <a:t>图</a:t>
            </a:r>
            <a:r>
              <a:rPr lang="en-US" altLang="zh-CN" dirty="0"/>
              <a:t>5.7  </a:t>
            </a:r>
            <a:r>
              <a:rPr lang="zh-CN" altLang="en-US" dirty="0"/>
              <a:t>三次多项式曲线生成示意图</a:t>
            </a:r>
          </a:p>
        </p:txBody>
      </p:sp>
    </p:spTree>
    <p:extLst>
      <p:ext uri="{BB962C8B-B14F-4D97-AF65-F5344CB8AC3E}">
        <p14:creationId xmlns:p14="http://schemas.microsoft.com/office/powerpoint/2010/main" val="606820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5E00320-8A07-441C-A718-9EDD5513CE99}"/>
                  </a:ext>
                </a:extLst>
              </p:cNvPr>
              <p:cNvSpPr txBox="1"/>
              <p:nvPr/>
            </p:nvSpPr>
            <p:spPr>
              <a:xfrm>
                <a:off x="874643" y="1281296"/>
                <a:ext cx="10400307" cy="3807517"/>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式中，</a:t>
                </a:r>
                <a14:m>
                  <m:oMath xmlns:m="http://schemas.openxmlformats.org/officeDocument/2006/math">
                    <m:sSub>
                      <m:sSubPr>
                        <m:ctrlPr>
                          <a:rPr lang="zh-CN" altLang="en-US" sz="2400" b="1" i="1" smtClean="0">
                            <a:solidFill>
                              <a:srgbClr val="836967"/>
                            </a:solidFill>
                            <a:latin typeface="Cambria Math" panose="02040503050406030204" pitchFamily="18" charset="0"/>
                          </a:rPr>
                        </m:ctrlPr>
                      </m:sSubPr>
                      <m:e>
                        <m:r>
                          <a:rPr lang="zh-CN" altLang="en-US" sz="2400" b="1" i="1">
                            <a:latin typeface="Cambria Math" panose="02040503050406030204" pitchFamily="18" charset="0"/>
                          </a:rPr>
                          <m:t>𝒂</m:t>
                        </m:r>
                      </m:e>
                      <m:sub>
                        <m:r>
                          <a:rPr lang="zh-CN" altLang="en-US" sz="2400" b="1" i="0">
                            <a:latin typeface="Cambria Math" panose="02040503050406030204" pitchFamily="18" charset="0"/>
                          </a:rPr>
                          <m:t>𝟎</m:t>
                        </m:r>
                      </m:sub>
                    </m:sSub>
                    <m:r>
                      <a:rPr lang="zh-CN" altLang="en-US" sz="2400" b="1" i="0">
                        <a:latin typeface="Cambria Math" panose="02040503050406030204" pitchFamily="18" charset="0"/>
                      </a:rPr>
                      <m:t>,</m:t>
                    </m:r>
                    <m:sSub>
                      <m:sSubPr>
                        <m:ctrlPr>
                          <a:rPr lang="zh-CN" altLang="en-US" sz="2400" b="1" i="1">
                            <a:solidFill>
                              <a:srgbClr val="836967"/>
                            </a:solidFill>
                            <a:latin typeface="Cambria Math" panose="02040503050406030204" pitchFamily="18" charset="0"/>
                          </a:rPr>
                        </m:ctrlPr>
                      </m:sSubPr>
                      <m:e>
                        <m:r>
                          <a:rPr lang="zh-CN" altLang="en-US" sz="2400" b="1" i="1">
                            <a:latin typeface="Cambria Math" panose="02040503050406030204" pitchFamily="18" charset="0"/>
                          </a:rPr>
                          <m:t>𝒂</m:t>
                        </m:r>
                      </m:e>
                      <m:sub>
                        <m:r>
                          <a:rPr lang="zh-CN" altLang="en-US" sz="2400" b="1" i="0">
                            <a:latin typeface="Cambria Math" panose="02040503050406030204" pitchFamily="18" charset="0"/>
                          </a:rPr>
                          <m:t>𝟏</m:t>
                        </m:r>
                      </m:sub>
                    </m:sSub>
                    <m:r>
                      <a:rPr lang="zh-CN" altLang="en-US" sz="2400" b="1" i="0">
                        <a:latin typeface="Cambria Math" panose="02040503050406030204" pitchFamily="18" charset="0"/>
                      </a:rPr>
                      <m:t>,</m:t>
                    </m:r>
                    <m:sSub>
                      <m:sSubPr>
                        <m:ctrlPr>
                          <a:rPr lang="zh-CN" altLang="en-US" sz="2400" b="1" i="1">
                            <a:solidFill>
                              <a:srgbClr val="836967"/>
                            </a:solidFill>
                            <a:latin typeface="Cambria Math" panose="02040503050406030204" pitchFamily="18" charset="0"/>
                          </a:rPr>
                        </m:ctrlPr>
                      </m:sSubPr>
                      <m:e>
                        <m:r>
                          <a:rPr lang="zh-CN" altLang="en-US" sz="2400" b="1" i="1">
                            <a:latin typeface="Cambria Math" panose="02040503050406030204" pitchFamily="18" charset="0"/>
                          </a:rPr>
                          <m:t>𝒂</m:t>
                        </m:r>
                      </m:e>
                      <m:sub>
                        <m:r>
                          <a:rPr lang="zh-CN" altLang="en-US" sz="2400" b="1" i="0">
                            <a:latin typeface="Cambria Math" panose="02040503050406030204" pitchFamily="18" charset="0"/>
                          </a:rPr>
                          <m:t>𝟐</m:t>
                        </m:r>
                      </m:sub>
                    </m:sSub>
                    <m:r>
                      <a:rPr lang="zh-CN" altLang="en-US" sz="2400" b="1" i="0">
                        <a:latin typeface="Cambria Math" panose="02040503050406030204" pitchFamily="18" charset="0"/>
                      </a:rPr>
                      <m:t>,</m:t>
                    </m:r>
                    <m:sSub>
                      <m:sSubPr>
                        <m:ctrlPr>
                          <a:rPr lang="zh-CN" altLang="en-US" sz="2400" b="1" i="1">
                            <a:solidFill>
                              <a:srgbClr val="836967"/>
                            </a:solidFill>
                            <a:latin typeface="Cambria Math" panose="02040503050406030204" pitchFamily="18" charset="0"/>
                          </a:rPr>
                        </m:ctrlPr>
                      </m:sSubPr>
                      <m:e>
                        <m:r>
                          <a:rPr lang="zh-CN" altLang="en-US" sz="2400" b="1" i="1">
                            <a:latin typeface="Cambria Math" panose="02040503050406030204" pitchFamily="18" charset="0"/>
                          </a:rPr>
                          <m:t>𝒂</m:t>
                        </m:r>
                      </m:e>
                      <m:sub>
                        <m:r>
                          <a:rPr lang="zh-CN" altLang="en-US" sz="2400" b="1" i="0">
                            <a:latin typeface="Cambria Math" panose="02040503050406030204" pitchFamily="18" charset="0"/>
                          </a:rPr>
                          <m:t>𝟑</m:t>
                        </m:r>
                      </m:sub>
                    </m:sSub>
                  </m:oMath>
                </a14:m>
                <a:r>
                  <a:rPr lang="zh-CN" altLang="en-US" sz="2400" b="1" dirty="0">
                    <a:latin typeface="微软雅黑" panose="020B0503020204020204" pitchFamily="34" charset="-122"/>
                    <a:ea typeface="微软雅黑" panose="020B0503020204020204" pitchFamily="34" charset="-122"/>
                  </a:rPr>
                  <a:t> 是</a:t>
                </a:r>
                <a:r>
                  <a:rPr lang="en-US" altLang="zh-CN" sz="2400" b="1"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个待定系数，可以由起始点和终止点两点的函数值及其一阶导数列出</a:t>
                </a:r>
                <a:r>
                  <a:rPr lang="en-US" altLang="zh-CN" sz="2400" b="1"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个方程，进而求出</a:t>
                </a:r>
                <a:r>
                  <a:rPr lang="en-US" altLang="zh-CN" sz="2400" b="1"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个系数。</a:t>
                </a:r>
              </a:p>
              <a:p>
                <a:r>
                  <a:rPr lang="zh-CN" altLang="en-US" sz="2400" b="1" dirty="0">
                    <a:latin typeface="微软雅黑" panose="020B0503020204020204" pitchFamily="34" charset="-122"/>
                    <a:ea typeface="微软雅黑" panose="020B0503020204020204" pitchFamily="34" charset="-122"/>
                  </a:rPr>
                  <a:t>机器人为了实现平稳运动，其轨迹函数的</a:t>
                </a:r>
                <a:r>
                  <a:rPr lang="en-US" altLang="zh-CN" sz="2400" b="1"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个约束条件定义如下：</a:t>
                </a:r>
              </a:p>
              <a:p>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满足起始点关节角度约束： </a:t>
                </a:r>
                <a14:m>
                  <m:oMath xmlns:m="http://schemas.openxmlformats.org/officeDocument/2006/math">
                    <m:r>
                      <a:rPr lang="zh-CN" altLang="en-US" sz="2400" b="1" i="1" smtClean="0">
                        <a:latin typeface="Cambria Math" panose="02040503050406030204" pitchFamily="18" charset="0"/>
                      </a:rPr>
                      <m:t>𝜽</m:t>
                    </m:r>
                    <m:d>
                      <m:dPr>
                        <m:ctrlPr>
                          <a:rPr lang="zh-CN" altLang="en-US" sz="2400" b="1" i="1">
                            <a:latin typeface="Cambria Math" panose="02040503050406030204" pitchFamily="18" charset="0"/>
                          </a:rPr>
                        </m:ctrlPr>
                      </m:dPr>
                      <m:e>
                        <m:r>
                          <a:rPr lang="zh-CN" altLang="en-US" sz="2400" b="1" i="0">
                            <a:latin typeface="Cambria Math" panose="02040503050406030204" pitchFamily="18" charset="0"/>
                          </a:rPr>
                          <m:t>𝟎</m:t>
                        </m:r>
                      </m:e>
                    </m:d>
                    <m:r>
                      <a:rPr lang="zh-CN" altLang="en-US" sz="2400" b="1" i="0">
                        <a:latin typeface="Cambria Math" panose="02040503050406030204" pitchFamily="18" charset="0"/>
                      </a:rPr>
                      <m:t>=</m:t>
                    </m:r>
                    <m:sSub>
                      <m:sSubPr>
                        <m:ctrlPr>
                          <a:rPr lang="zh-CN" altLang="en-US" sz="2400" b="1" i="1">
                            <a:solidFill>
                              <a:srgbClr val="836967"/>
                            </a:solidFill>
                            <a:latin typeface="Cambria Math" panose="02040503050406030204" pitchFamily="18" charset="0"/>
                          </a:rPr>
                        </m:ctrlPr>
                      </m:sSubPr>
                      <m:e>
                        <m:r>
                          <a:rPr lang="zh-CN" altLang="en-US" sz="2400" b="1" i="1">
                            <a:latin typeface="Cambria Math" panose="02040503050406030204" pitchFamily="18" charset="0"/>
                          </a:rPr>
                          <m:t>𝜽</m:t>
                        </m:r>
                      </m:e>
                      <m:sub>
                        <m:r>
                          <a:rPr lang="zh-CN" altLang="en-US" sz="2400" b="1" i="0">
                            <a:latin typeface="Cambria Math" panose="02040503050406030204" pitchFamily="18" charset="0"/>
                          </a:rPr>
                          <m:t>𝟎</m:t>
                        </m:r>
                      </m:sub>
                    </m:sSub>
                  </m:oMath>
                </a14:m>
                <a:r>
                  <a:rPr lang="zh-CN" altLang="en-US" sz="2400" b="1" dirty="0">
                    <a:latin typeface="微软雅黑" panose="020B0503020204020204" pitchFamily="34" charset="-122"/>
                    <a:ea typeface="微软雅黑" panose="020B0503020204020204" pitchFamily="34" charset="-122"/>
                  </a:rPr>
                  <a:t> ；</a:t>
                </a:r>
              </a:p>
              <a:p>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满足终止点关节角度约束： </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𝜽</m:t>
                    </m:r>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oMath>
                </a14:m>
                <a:r>
                  <a:rPr lang="zh-CN" altLang="en-US" sz="2400" b="1" dirty="0">
                    <a:latin typeface="微软雅黑" panose="020B0503020204020204" pitchFamily="34" charset="-122"/>
                    <a:ea typeface="微软雅黑" panose="020B0503020204020204" pitchFamily="34" charset="-122"/>
                  </a:rPr>
                  <a:t>；</a:t>
                </a:r>
              </a:p>
              <a:p>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满足起始点关节速度约束： </a:t>
                </a:r>
                <a14:m>
                  <m:oMath xmlns:m="http://schemas.openxmlformats.org/officeDocument/2006/math">
                    <m:acc>
                      <m:accPr>
                        <m:chr m:val="̇"/>
                        <m:ctrlPr>
                          <a:rPr lang="zh-CN" altLang="en-US" sz="2400" b="1" i="1" smtClean="0">
                            <a:solidFill>
                              <a:srgbClr val="836967"/>
                            </a:solidFill>
                            <a:latin typeface="Cambria Math" panose="02040503050406030204" pitchFamily="18" charset="0"/>
                          </a:rPr>
                        </m:ctrlPr>
                      </m:accPr>
                      <m:e>
                        <m:r>
                          <a:rPr lang="zh-CN" altLang="en-US" sz="2400" b="1" i="1">
                            <a:latin typeface="Cambria Math" panose="02040503050406030204" pitchFamily="18" charset="0"/>
                          </a:rPr>
                          <m:t>𝜽</m:t>
                        </m:r>
                      </m:e>
                    </m:acc>
                    <m:d>
                      <m:dPr>
                        <m:ctrlPr>
                          <a:rPr lang="zh-CN" altLang="en-US" sz="2400" b="1" i="1">
                            <a:latin typeface="Cambria Math" panose="02040503050406030204" pitchFamily="18" charset="0"/>
                          </a:rPr>
                        </m:ctrlPr>
                      </m:dPr>
                      <m:e>
                        <m:r>
                          <a:rPr lang="zh-CN" altLang="en-US" sz="2400" b="1" i="0">
                            <a:latin typeface="Cambria Math" panose="02040503050406030204" pitchFamily="18" charset="0"/>
                          </a:rPr>
                          <m:t>𝟎</m:t>
                        </m:r>
                      </m:e>
                    </m:d>
                    <m:r>
                      <a:rPr lang="zh-CN" altLang="en-US" sz="2400" b="1" i="0">
                        <a:latin typeface="Cambria Math" panose="02040503050406030204" pitchFamily="18" charset="0"/>
                      </a:rPr>
                      <m:t>=</m:t>
                    </m:r>
                    <m:r>
                      <a:rPr lang="zh-CN" altLang="en-US" sz="2400" b="1" i="0">
                        <a:latin typeface="Cambria Math" panose="02040503050406030204" pitchFamily="18" charset="0"/>
                      </a:rPr>
                      <m:t>𝟎</m:t>
                    </m:r>
                    <m:r>
                      <a:rPr lang="zh-CN" altLang="en-US" sz="2400" b="1" i="1">
                        <a:latin typeface="Cambria Math" panose="02040503050406030204" pitchFamily="18" charset="0"/>
                      </a:rPr>
                      <m:t> </m:t>
                    </m:r>
                  </m:oMath>
                </a14:m>
                <a:r>
                  <a:rPr lang="zh-CN" altLang="en-US" sz="2400" b="1" dirty="0">
                    <a:latin typeface="微软雅黑" panose="020B0503020204020204" pitchFamily="34" charset="-122"/>
                    <a:ea typeface="微软雅黑" panose="020B0503020204020204" pitchFamily="34" charset="-122"/>
                  </a:rPr>
                  <a:t>；</a:t>
                </a:r>
              </a:p>
              <a:p>
                <a:r>
                  <a:rPr lang="en-US" altLang="zh-CN" sz="2400" b="1"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满足终止点关节速度约束： </a:t>
                </a:r>
                <a14:m>
                  <m:oMath xmlns:m="http://schemas.openxmlformats.org/officeDocument/2006/math">
                    <m:acc>
                      <m:accPr>
                        <m:chr m:val="̇"/>
                        <m:ctrlPr>
                          <a:rPr lang="zh-CN" altLang="zh-CN" sz="2400" b="1" i="1" smtClean="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𝜽</m:t>
                        </m:r>
                      </m:e>
                    </m:acc>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sz="2400" b="1" dirty="0">
                    <a:latin typeface="微软雅黑" panose="020B0503020204020204" pitchFamily="34" charset="-122"/>
                    <a:ea typeface="微软雅黑" panose="020B0503020204020204" pitchFamily="34" charset="-122"/>
                  </a:rPr>
                  <a:t>。</a:t>
                </a:r>
              </a:p>
              <a:p>
                <a:r>
                  <a:rPr lang="zh-CN" altLang="en-US" sz="2400" b="1" dirty="0">
                    <a:latin typeface="微软雅黑" panose="020B0503020204020204" pitchFamily="34" charset="-122"/>
                    <a:ea typeface="微软雅黑" panose="020B0503020204020204" pitchFamily="34" charset="-122"/>
                  </a:rPr>
                  <a:t>将约束条件代入式</a:t>
                </a:r>
                <a:r>
                  <a:rPr lang="en-US" altLang="zh-CN" sz="2400" b="1" dirty="0">
                    <a:latin typeface="微软雅黑" panose="020B0503020204020204" pitchFamily="34" charset="-122"/>
                    <a:ea typeface="微软雅黑" panose="020B0503020204020204" pitchFamily="34" charset="-122"/>
                  </a:rPr>
                  <a:t>(5.1)</a:t>
                </a:r>
                <a:r>
                  <a:rPr lang="zh-CN" altLang="en-US" sz="2400" b="1" dirty="0">
                    <a:latin typeface="微软雅黑" panose="020B0503020204020204" pitchFamily="34" charset="-122"/>
                    <a:ea typeface="微软雅黑" panose="020B0503020204020204" pitchFamily="34" charset="-122"/>
                  </a:rPr>
                  <a:t>，可得：</a:t>
                </a:r>
              </a:p>
              <a:p>
                <a:r>
                  <a:rPr lang="zh-CN" altLang="en-US" sz="2400" b="1" dirty="0">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en-US" sz="2400" b="1" i="1" smtClean="0">
                            <a:solidFill>
                              <a:srgbClr val="836967"/>
                            </a:solidFill>
                            <a:latin typeface="Cambria Math" panose="02040503050406030204" pitchFamily="18" charset="0"/>
                          </a:rPr>
                        </m:ctrlPr>
                      </m:sSubPr>
                      <m:e>
                        <m:r>
                          <a:rPr lang="zh-CN" altLang="en-US" sz="2400" b="1" i="1">
                            <a:latin typeface="Cambria Math" panose="02040503050406030204" pitchFamily="18" charset="0"/>
                          </a:rPr>
                          <m:t>𝒂</m:t>
                        </m:r>
                      </m:e>
                      <m:sub>
                        <m:r>
                          <a:rPr lang="zh-CN" altLang="en-US" sz="2400" b="1" i="0">
                            <a:latin typeface="Cambria Math" panose="02040503050406030204" pitchFamily="18" charset="0"/>
                          </a:rPr>
                          <m:t>𝟎</m:t>
                        </m:r>
                      </m:sub>
                    </m:sSub>
                    <m:r>
                      <a:rPr lang="zh-CN" altLang="en-US" sz="2400" b="1" i="0">
                        <a:latin typeface="Cambria Math" panose="02040503050406030204" pitchFamily="18" charset="0"/>
                      </a:rPr>
                      <m:t>=</m:t>
                    </m:r>
                    <m:sSub>
                      <m:sSubPr>
                        <m:ctrlPr>
                          <a:rPr lang="zh-CN" altLang="en-US" sz="2400" b="1" i="1">
                            <a:solidFill>
                              <a:srgbClr val="836967"/>
                            </a:solidFill>
                            <a:latin typeface="Cambria Math" panose="02040503050406030204" pitchFamily="18" charset="0"/>
                          </a:rPr>
                        </m:ctrlPr>
                      </m:sSubPr>
                      <m:e>
                        <m:r>
                          <a:rPr lang="zh-CN" altLang="en-US" sz="2400" b="1" i="1">
                            <a:latin typeface="Cambria Math" panose="02040503050406030204" pitchFamily="18" charset="0"/>
                          </a:rPr>
                          <m:t>𝜽</m:t>
                        </m:r>
                      </m:e>
                      <m:sub>
                        <m:r>
                          <a:rPr lang="zh-CN" altLang="en-US" sz="2400" b="1" i="0">
                            <a:latin typeface="Cambria Math" panose="02040503050406030204" pitchFamily="18" charset="0"/>
                          </a:rPr>
                          <m:t>𝟎</m:t>
                        </m:r>
                      </m:sub>
                    </m:sSub>
                  </m:oMath>
                </a14:m>
                <a:r>
                  <a:rPr lang="zh-CN" altLang="en-US" sz="2400" b="1" dirty="0">
                    <a:latin typeface="微软雅黑" panose="020B0503020204020204" pitchFamily="34" charset="-122"/>
                    <a:ea typeface="微软雅黑" panose="020B0503020204020204" pitchFamily="34" charset="-122"/>
                  </a:rPr>
                  <a:t>，</a:t>
                </a:r>
                <a:r>
                  <a:rPr lang="zh-CN" altLang="en-US" sz="2400" b="1" dirty="0">
                    <a:solidFill>
                      <a:srgbClr val="836967"/>
                    </a:solidFill>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en-US" sz="2400" b="1" i="1">
                            <a:solidFill>
                              <a:srgbClr val="836967"/>
                            </a:solidFill>
                            <a:latin typeface="Cambria Math" panose="02040503050406030204" pitchFamily="18" charset="0"/>
                          </a:rPr>
                        </m:ctrlPr>
                      </m:sSubPr>
                      <m:e>
                        <m:r>
                          <a:rPr lang="zh-CN" altLang="en-US" sz="2400" b="1" i="1">
                            <a:latin typeface="Cambria Math" panose="02040503050406030204" pitchFamily="18" charset="0"/>
                          </a:rPr>
                          <m:t>𝒂</m:t>
                        </m:r>
                      </m:e>
                      <m:sub>
                        <m:r>
                          <a:rPr lang="zh-CN" altLang="en-US" sz="2400" b="1" i="1">
                            <a:latin typeface="Cambria Math" panose="02040503050406030204" pitchFamily="18" charset="0"/>
                          </a:rPr>
                          <m:t>𝟏</m:t>
                        </m:r>
                      </m:sub>
                    </m:sSub>
                    <m:r>
                      <a:rPr lang="zh-CN" altLang="en-US" sz="2400" b="1">
                        <a:latin typeface="Cambria Math" panose="02040503050406030204" pitchFamily="18" charset="0"/>
                      </a:rPr>
                      <m:t>=</m:t>
                    </m:r>
                    <m:r>
                      <a:rPr lang="zh-CN" altLang="en-US" sz="2400" b="1" i="1">
                        <a:latin typeface="Cambria Math" panose="02040503050406030204" pitchFamily="18" charset="0"/>
                      </a:rPr>
                      <m:t>𝟎</m:t>
                    </m:r>
                  </m:oMath>
                </a14:m>
                <a:r>
                  <a:rPr lang="zh-CN" altLang="en-US" sz="2400" b="1"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b="1" i="1">
                            <a:latin typeface="Cambria Math" panose="02040503050406030204" pitchFamily="18" charset="0"/>
                            <a:ea typeface="Cambria Math" panose="02040503050406030204" pitchFamily="18" charset="0"/>
                          </a:rPr>
                        </m:ctrlPr>
                      </m:fPr>
                      <m:num>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𝟑</m:t>
                        </m:r>
                      </m:num>
                      <m:den>
                        <m:sSubSup>
                          <m:sSubSupPr>
                            <m:ctrlPr>
                              <a:rPr lang="zh-CN" altLang="zh-CN" sz="2400" b="1" i="1">
                                <a:latin typeface="Cambria Math" panose="02040503050406030204" pitchFamily="18" charset="0"/>
                                <a:ea typeface="Cambria Math" panose="02040503050406030204" pitchFamily="18" charset="0"/>
                              </a:rPr>
                            </m:ctrlPr>
                          </m:sSubSup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𝒕</m:t>
                            </m:r>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𝒇</m:t>
                            </m:r>
                          </m:sub>
                          <m:sup>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𝟐</m:t>
                            </m:r>
                          </m:sup>
                        </m:sSubSup>
                      </m:den>
                    </m:f>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𝒇</m:t>
                        </m:r>
                      </m:sub>
                    </m:sSub>
                    <m:r>
                      <a:rPr lang="en-US" altLang="zh-CN" sz="2400" b="1" i="1" kern="1000">
                        <a:latin typeface="Cambria Math" panose="02040503050406030204" pitchFamily="18" charset="0"/>
                        <a:ea typeface="宋体" panose="02010600030101010101" pitchFamily="2" charset="-122"/>
                      </a:rPr>
                      <m:t>−</m:t>
                    </m:r>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𝟎</m:t>
                        </m:r>
                      </m:sub>
                    </m:s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400" b="1" dirty="0">
                    <a:latin typeface="微软雅黑" panose="020B0503020204020204" pitchFamily="34" charset="-122"/>
                    <a:ea typeface="微软雅黑" panose="020B0503020204020204" pitchFamily="34" charset="-122"/>
                  </a:rPr>
                  <a:t> ， </a:t>
                </a:r>
                <a14:m>
                  <m:oMath xmlns:m="http://schemas.openxmlformats.org/officeDocument/2006/math">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𝟑</m:t>
                        </m:r>
                      </m:sub>
                    </m:s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rPr>
                      <m:t>−</m:t>
                    </m:r>
                    <m:f>
                      <m:fPr>
                        <m:ctrlPr>
                          <a:rPr lang="zh-CN" altLang="zh-CN" sz="2400" b="1" i="1">
                            <a:latin typeface="Cambria Math" panose="02040503050406030204" pitchFamily="18" charset="0"/>
                            <a:ea typeface="Cambria Math" panose="02040503050406030204" pitchFamily="18" charset="0"/>
                          </a:rPr>
                        </m:ctrlPr>
                      </m:fPr>
                      <m:num>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𝟐</m:t>
                        </m:r>
                      </m:num>
                      <m:den>
                        <m:sSubSup>
                          <m:sSubSupPr>
                            <m:ctrlPr>
                              <a:rPr lang="zh-CN" altLang="zh-CN" sz="2400" b="1" i="1">
                                <a:latin typeface="Cambria Math" panose="02040503050406030204" pitchFamily="18" charset="0"/>
                                <a:ea typeface="Cambria Math" panose="02040503050406030204" pitchFamily="18" charset="0"/>
                              </a:rPr>
                            </m:ctrlPr>
                          </m:sSubSup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𝒕</m:t>
                            </m:r>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𝒇</m:t>
                            </m:r>
                          </m:sub>
                          <m:sup>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𝟑</m:t>
                            </m:r>
                          </m:sup>
                        </m:sSubSup>
                      </m:den>
                    </m:f>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𝒇</m:t>
                        </m:r>
                      </m:sub>
                    </m:sSub>
                    <m:r>
                      <a:rPr lang="en-US" altLang="zh-CN" sz="2400" b="1" i="1" kern="1000">
                        <a:latin typeface="Cambria Math" panose="02040503050406030204" pitchFamily="18" charset="0"/>
                        <a:ea typeface="宋体" panose="02010600030101010101" pitchFamily="2" charset="-122"/>
                      </a:rPr>
                      <m:t>−</m:t>
                    </m:r>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𝟎</m:t>
                        </m:r>
                      </m:sub>
                    </m:s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(5.2)</a:t>
                </a:r>
              </a:p>
            </p:txBody>
          </p:sp>
        </mc:Choice>
        <mc:Fallback xmlns="">
          <p:sp>
            <p:nvSpPr>
              <p:cNvPr id="3" name="文本框 2">
                <a:extLst>
                  <a:ext uri="{FF2B5EF4-FFF2-40B4-BE49-F238E27FC236}">
                    <a16:creationId xmlns:a16="http://schemas.microsoft.com/office/drawing/2014/main" id="{05E00320-8A07-441C-A718-9EDD5513CE99}"/>
                  </a:ext>
                </a:extLst>
              </p:cNvPr>
              <p:cNvSpPr txBox="1">
                <a:spLocks noRot="1" noChangeAspect="1" noMove="1" noResize="1" noEditPoints="1" noAdjustHandles="1" noChangeArrowheads="1" noChangeShapeType="1" noTextEdit="1"/>
              </p:cNvSpPr>
              <p:nvPr/>
            </p:nvSpPr>
            <p:spPr>
              <a:xfrm>
                <a:off x="874643" y="1281296"/>
                <a:ext cx="10400307" cy="3807517"/>
              </a:xfrm>
              <a:prstGeom prst="rect">
                <a:avLst/>
              </a:prstGeom>
              <a:blipFill>
                <a:blip r:embed="rId2"/>
                <a:stretch>
                  <a:fillRect l="-879" t="-1280" r="-5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21194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11F250E5-3B8D-E10D-F69C-950DEA08FD99}"/>
                  </a:ext>
                </a:extLst>
              </p:cNvPr>
              <p:cNvSpPr txBox="1"/>
              <p:nvPr/>
            </p:nvSpPr>
            <p:spPr>
              <a:xfrm>
                <a:off x="906087" y="1205345"/>
                <a:ext cx="10399222" cy="4997394"/>
              </a:xfrm>
              <a:prstGeom prst="rect">
                <a:avLst/>
              </a:prstGeom>
              <a:noFill/>
            </p:spPr>
            <p:txBody>
              <a:bodyPr wrap="square">
                <a:spAutoFit/>
              </a:bodyPr>
              <a:lstStyle/>
              <a:p>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：设</a:t>
                </a:r>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自由度的旋转关节机械手处于静止状态时，</a:t>
                </a:r>
                <a14:m>
                  <m:oMath xmlns:m="http://schemas.openxmlformats.org/officeDocument/2006/math">
                    <m:sSub>
                      <m:sSubPr>
                        <m:ctrlPr>
                          <a:rPr lang="zh-CN" altLang="zh-CN" sz="2400" b="1" i="1" smtClean="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𝟏𝟓</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dirty="0">
                    <a:latin typeface="微软雅黑" panose="020B0503020204020204" pitchFamily="34" charset="-122"/>
                    <a:ea typeface="微软雅黑" panose="020B0503020204020204" pitchFamily="34" charset="-122"/>
                  </a:rPr>
                  <a:t>要在</a:t>
                </a:r>
                <a14:m>
                  <m:oMath xmlns:m="http://schemas.openxmlformats.org/officeDocument/2006/math">
                    <m:r>
                      <a:rPr lang="en-US" altLang="zh-CN" sz="2400" b="1" i="1">
                        <a:latin typeface="Cambria Math" panose="02040503050406030204" pitchFamily="18" charset="0"/>
                      </a:rPr>
                      <m:t>𝟑</m:t>
                    </m:r>
                    <m:r>
                      <a:rPr lang="en-US" altLang="zh-CN" sz="2400" b="1" i="1">
                        <a:latin typeface="Cambria Math" panose="02040503050406030204" pitchFamily="18" charset="0"/>
                      </a:rPr>
                      <m:t>𝒔</m:t>
                    </m:r>
                  </m:oMath>
                </a14:m>
                <a:r>
                  <a:rPr lang="zh-CN" altLang="zh-CN" sz="2400" b="1" dirty="0">
                    <a:latin typeface="微软雅黑" panose="020B0503020204020204" pitchFamily="34" charset="-122"/>
                    <a:ea typeface="微软雅黑" panose="020B0503020204020204" pitchFamily="34" charset="-122"/>
                  </a:rPr>
                  <a:t>内平稳运动到达终止位置</a:t>
                </a:r>
                <a14:m>
                  <m:oMath xmlns:m="http://schemas.openxmlformats.org/officeDocument/2006/math">
                    <m:r>
                      <a:rPr lang="en-US" altLang="zh-CN" sz="2400" b="1" i="1">
                        <a:latin typeface="Cambria Math" panose="02040503050406030204" pitchFamily="18" charset="0"/>
                      </a:rPr>
                      <m:t>(</m:t>
                    </m:r>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𝜽</m:t>
                        </m:r>
                      </m:e>
                      <m:sub>
                        <m:r>
                          <a:rPr lang="en-US" altLang="zh-CN" sz="2400" b="1" i="1">
                            <a:latin typeface="Cambria Math" panose="02040503050406030204" pitchFamily="18" charset="0"/>
                          </a:rPr>
                          <m:t>𝒇</m:t>
                        </m:r>
                      </m:sub>
                    </m:sSub>
                    <m:r>
                      <a:rPr lang="en-US" altLang="zh-CN" sz="2400" b="1" i="1">
                        <a:latin typeface="Cambria Math" panose="02040503050406030204" pitchFamily="18" charset="0"/>
                      </a:rPr>
                      <m:t>=</m:t>
                    </m:r>
                    <m:r>
                      <a:rPr lang="en-US" altLang="zh-CN" sz="2400" b="1" i="1">
                        <a:latin typeface="Cambria Math" panose="02040503050406030204" pitchFamily="18" charset="0"/>
                      </a:rPr>
                      <m:t>𝟕𝟓</m:t>
                    </m:r>
                    <m:r>
                      <a:rPr lang="en-US" altLang="zh-CN" sz="2400" b="1" i="1">
                        <a:latin typeface="Cambria Math" panose="02040503050406030204" pitchFamily="18" charset="0"/>
                      </a:rPr>
                      <m:t>°)</m:t>
                    </m:r>
                  </m:oMath>
                </a14:m>
                <a:r>
                  <a:rPr lang="zh-CN" altLang="zh-CN" sz="2400" b="1" dirty="0">
                    <a:latin typeface="微软雅黑" panose="020B0503020204020204" pitchFamily="34" charset="-122"/>
                    <a:ea typeface="微软雅黑" panose="020B0503020204020204" pitchFamily="34" charset="-122"/>
                  </a:rPr>
                  <a:t>，并且在终止点的速度为零，求该机械手的关节角度约束和速度约束。</a:t>
                </a:r>
                <a:endParaRPr lang="en-US" altLang="zh-CN" sz="2400" b="1" dirty="0">
                  <a:latin typeface="微软雅黑" panose="020B0503020204020204" pitchFamily="34" charset="-122"/>
                  <a:ea typeface="微软雅黑" panose="020B0503020204020204" pitchFamily="34" charset="-122"/>
                </a:endParaRPr>
              </a:p>
              <a:p>
                <a:r>
                  <a:rPr lang="en-US" altLang="zh-CN" sz="2400" b="1"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解：将已知条件代入式</a:t>
                </a:r>
                <a:r>
                  <a:rPr lang="en-US" altLang="zh-CN" sz="2400" b="1" dirty="0">
                    <a:latin typeface="微软雅黑" panose="020B0503020204020204" pitchFamily="34" charset="-122"/>
                    <a:ea typeface="微软雅黑" panose="020B0503020204020204" pitchFamily="34" charset="-122"/>
                  </a:rPr>
                  <a:t>(5.2)</a:t>
                </a:r>
                <a:r>
                  <a:rPr lang="zh-CN" altLang="zh-CN" sz="2400" b="1" dirty="0">
                    <a:latin typeface="微软雅黑" panose="020B0503020204020204" pitchFamily="34" charset="-122"/>
                    <a:ea typeface="微软雅黑" panose="020B0503020204020204" pitchFamily="34" charset="-122"/>
                  </a:rPr>
                  <a:t>可得</a:t>
                </a:r>
                <a:endParaRPr lang="en-US" altLang="zh-CN" sz="2400" b="1"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b="1" i="1">
                        <a:latin typeface="Cambria Math" panose="02040503050406030204" pitchFamily="18" charset="0"/>
                      </a:rPr>
                      <m:t>𝜽</m:t>
                    </m:r>
                    <m:r>
                      <a:rPr lang="en-US" altLang="zh-CN" sz="2400" b="1" i="1">
                        <a:latin typeface="Cambria Math" panose="02040503050406030204" pitchFamily="18" charset="0"/>
                      </a:rPr>
                      <m:t>(</m:t>
                    </m:r>
                    <m:r>
                      <a:rPr lang="en-US" altLang="zh-CN" sz="2400" b="1" i="1">
                        <a:latin typeface="Cambria Math" panose="02040503050406030204" pitchFamily="18" charset="0"/>
                      </a:rPr>
                      <m:t>𝒕</m:t>
                    </m:r>
                    <m:r>
                      <a:rPr lang="en-US" altLang="zh-CN" sz="2400" b="1" i="1">
                        <a:latin typeface="Cambria Math" panose="02040503050406030204" pitchFamily="18" charset="0"/>
                      </a:rPr>
                      <m:t>)=</m:t>
                    </m:r>
                    <m:r>
                      <a:rPr lang="en-US" altLang="zh-CN" sz="2400" b="1" i="1">
                        <a:latin typeface="Cambria Math" panose="02040503050406030204" pitchFamily="18" charset="0"/>
                      </a:rPr>
                      <m:t>𝟏𝟓</m:t>
                    </m:r>
                    <m:r>
                      <a:rPr lang="en-US" altLang="zh-CN" sz="2400" b="1" i="1">
                        <a:latin typeface="Cambria Math" panose="02040503050406030204" pitchFamily="18" charset="0"/>
                      </a:rPr>
                      <m:t>.</m:t>
                    </m:r>
                    <m:r>
                      <a:rPr lang="en-US" altLang="zh-CN" sz="2400" b="1" i="1">
                        <a:latin typeface="Cambria Math" panose="02040503050406030204" pitchFamily="18" charset="0"/>
                      </a:rPr>
                      <m:t>𝟎</m:t>
                    </m:r>
                    <m:r>
                      <a:rPr lang="en-US" altLang="zh-CN" sz="2400" b="1" i="1">
                        <a:latin typeface="Cambria Math" panose="02040503050406030204" pitchFamily="18" charset="0"/>
                      </a:rPr>
                      <m:t>+</m:t>
                    </m:r>
                    <m:r>
                      <a:rPr lang="en-US" altLang="zh-CN" sz="2400" b="1" i="1">
                        <a:latin typeface="Cambria Math" panose="02040503050406030204" pitchFamily="18" charset="0"/>
                      </a:rPr>
                      <m:t>𝟐𝟎</m:t>
                    </m:r>
                    <m:r>
                      <a:rPr lang="en-US" altLang="zh-CN" sz="2400" b="1" i="1">
                        <a:latin typeface="Cambria Math" panose="02040503050406030204" pitchFamily="18" charset="0"/>
                      </a:rPr>
                      <m:t>.</m:t>
                    </m:r>
                    <m:r>
                      <a:rPr lang="en-US" altLang="zh-CN" sz="2400" b="1" i="1">
                        <a:latin typeface="Cambria Math" panose="02040503050406030204" pitchFamily="18" charset="0"/>
                      </a:rPr>
                      <m:t>𝟎</m:t>
                    </m:r>
                    <m:sSup>
                      <m:sSupPr>
                        <m:ctrlPr>
                          <a:rPr lang="zh-CN" altLang="zh-CN" sz="2400" b="1" i="1">
                            <a:latin typeface="Cambria Math" panose="02040503050406030204" pitchFamily="18" charset="0"/>
                          </a:rPr>
                        </m:ctrlPr>
                      </m:sSupPr>
                      <m:e>
                        <m:r>
                          <a:rPr lang="en-US" altLang="zh-CN" sz="2400" b="1" i="1">
                            <a:latin typeface="Cambria Math" panose="02040503050406030204" pitchFamily="18" charset="0"/>
                          </a:rPr>
                          <m:t>𝒕</m:t>
                        </m:r>
                      </m:e>
                      <m:sup>
                        <m:r>
                          <a:rPr lang="en-US" altLang="zh-CN" sz="2400" b="1" i="1">
                            <a:latin typeface="Cambria Math" panose="02040503050406030204" pitchFamily="18" charset="0"/>
                          </a:rPr>
                          <m:t>𝟐</m:t>
                        </m:r>
                      </m:sup>
                    </m:sSup>
                    <m:r>
                      <a:rPr lang="en-US" altLang="zh-CN" sz="2400" b="1" i="1">
                        <a:latin typeface="Cambria Math" panose="02040503050406030204" pitchFamily="18" charset="0"/>
                      </a:rPr>
                      <m:t>−</m:t>
                    </m:r>
                    <m:r>
                      <a:rPr lang="en-US" altLang="zh-CN" sz="2400" b="1" i="1">
                        <a:latin typeface="Cambria Math" panose="02040503050406030204" pitchFamily="18" charset="0"/>
                      </a:rPr>
                      <m:t>𝟒</m:t>
                    </m:r>
                    <m:r>
                      <a:rPr lang="en-US" altLang="zh-CN" sz="2400" b="1" i="1">
                        <a:latin typeface="Cambria Math" panose="02040503050406030204" pitchFamily="18" charset="0"/>
                      </a:rPr>
                      <m:t>.</m:t>
                    </m:r>
                    <m:r>
                      <a:rPr lang="en-US" altLang="zh-CN" sz="2400" b="1" i="1">
                        <a:latin typeface="Cambria Math" panose="02040503050406030204" pitchFamily="18" charset="0"/>
                      </a:rPr>
                      <m:t>𝟒𝟒</m:t>
                    </m:r>
                    <m:sSup>
                      <m:sSupPr>
                        <m:ctrlPr>
                          <a:rPr lang="zh-CN" altLang="zh-CN" sz="2400" b="1" i="1">
                            <a:latin typeface="Cambria Math" panose="02040503050406030204" pitchFamily="18" charset="0"/>
                          </a:rPr>
                        </m:ctrlPr>
                      </m:sSupPr>
                      <m:e>
                        <m:r>
                          <a:rPr lang="en-US" altLang="zh-CN" sz="2400" b="1" i="1">
                            <a:latin typeface="Cambria Math" panose="02040503050406030204" pitchFamily="18" charset="0"/>
                          </a:rPr>
                          <m:t>𝒕</m:t>
                        </m:r>
                      </m:e>
                      <m:sup>
                        <m:r>
                          <a:rPr lang="en-US" altLang="zh-CN" sz="2400" b="1" i="1">
                            <a:latin typeface="Cambria Math" panose="02040503050406030204" pitchFamily="18" charset="0"/>
                          </a:rPr>
                          <m:t>𝟑</m:t>
                        </m:r>
                      </m:sup>
                    </m:sSup>
                  </m:oMath>
                </a14:m>
                <a:r>
                  <a:rPr lang="zh-CN" altLang="zh-CN" sz="2400" b="1" dirty="0">
                    <a:latin typeface="微软雅黑" panose="020B0503020204020204" pitchFamily="34" charset="-122"/>
                    <a:ea typeface="微软雅黑" panose="020B0503020204020204" pitchFamily="34" charset="-122"/>
                  </a:rPr>
                  <a:t>，</a:t>
                </a:r>
                <a14:m>
                  <m:oMath xmlns:m="http://schemas.openxmlformats.org/officeDocument/2006/math">
                    <m:acc>
                      <m:accPr>
                        <m:chr m:val="̇"/>
                        <m:ctrlPr>
                          <a:rPr lang="zh-CN" altLang="zh-CN" sz="2400" b="1" i="1">
                            <a:latin typeface="Cambria Math" panose="02040503050406030204" pitchFamily="18" charset="0"/>
                          </a:rPr>
                        </m:ctrlPr>
                      </m:accPr>
                      <m:e>
                        <m:r>
                          <a:rPr lang="en-US" altLang="zh-CN" sz="2400" b="1" i="1">
                            <a:latin typeface="Cambria Math" panose="02040503050406030204" pitchFamily="18" charset="0"/>
                          </a:rPr>
                          <m:t>𝜽</m:t>
                        </m:r>
                      </m:e>
                    </m:acc>
                    <m:r>
                      <a:rPr lang="en-US" altLang="zh-CN" sz="2400" b="1" i="1">
                        <a:latin typeface="Cambria Math" panose="02040503050406030204" pitchFamily="18" charset="0"/>
                      </a:rPr>
                      <m:t>(</m:t>
                    </m:r>
                    <m:r>
                      <a:rPr lang="en-US" altLang="zh-CN" sz="2400" b="1" i="1">
                        <a:latin typeface="Cambria Math" panose="02040503050406030204" pitchFamily="18" charset="0"/>
                      </a:rPr>
                      <m:t>𝒕</m:t>
                    </m:r>
                    <m:r>
                      <a:rPr lang="en-US" altLang="zh-CN" sz="2400" b="1" i="1">
                        <a:latin typeface="Cambria Math" panose="02040503050406030204" pitchFamily="18" charset="0"/>
                      </a:rPr>
                      <m:t>)=</m:t>
                    </m:r>
                    <m:r>
                      <a:rPr lang="en-US" altLang="zh-CN" sz="2400" b="1" i="1">
                        <a:latin typeface="Cambria Math" panose="02040503050406030204" pitchFamily="18" charset="0"/>
                      </a:rPr>
                      <m:t>𝟒𝟎</m:t>
                    </m:r>
                    <m:r>
                      <a:rPr lang="en-US" altLang="zh-CN" sz="2400" b="1" i="1">
                        <a:latin typeface="Cambria Math" panose="02040503050406030204" pitchFamily="18" charset="0"/>
                      </a:rPr>
                      <m:t>.</m:t>
                    </m:r>
                    <m:r>
                      <a:rPr lang="en-US" altLang="zh-CN" sz="2400" b="1" i="1">
                        <a:latin typeface="Cambria Math" panose="02040503050406030204" pitchFamily="18" charset="0"/>
                      </a:rPr>
                      <m:t>𝟎</m:t>
                    </m:r>
                    <m:r>
                      <a:rPr lang="en-US" altLang="zh-CN" sz="2400" b="1" i="1">
                        <a:latin typeface="Cambria Math" panose="02040503050406030204" pitchFamily="18" charset="0"/>
                      </a:rPr>
                      <m:t>𝒕</m:t>
                    </m:r>
                    <m:r>
                      <a:rPr lang="en-US" altLang="zh-CN" sz="2400" b="1" i="1">
                        <a:latin typeface="Cambria Math" panose="02040503050406030204" pitchFamily="18" charset="0"/>
                      </a:rPr>
                      <m:t>−</m:t>
                    </m:r>
                    <m:r>
                      <a:rPr lang="en-US" altLang="zh-CN" sz="2400" b="1" i="1">
                        <a:latin typeface="Cambria Math" panose="02040503050406030204" pitchFamily="18" charset="0"/>
                      </a:rPr>
                      <m:t>𝟏𝟑</m:t>
                    </m:r>
                    <m:r>
                      <a:rPr lang="en-US" altLang="zh-CN" sz="2400" b="1" i="1">
                        <a:latin typeface="Cambria Math" panose="02040503050406030204" pitchFamily="18" charset="0"/>
                      </a:rPr>
                      <m:t>.</m:t>
                    </m:r>
                    <m:r>
                      <a:rPr lang="en-US" altLang="zh-CN" sz="2400" b="1" i="1">
                        <a:latin typeface="Cambria Math" panose="02040503050406030204" pitchFamily="18" charset="0"/>
                      </a:rPr>
                      <m:t>𝟑𝟐</m:t>
                    </m:r>
                    <m:sSup>
                      <m:sSupPr>
                        <m:ctrlPr>
                          <a:rPr lang="zh-CN" altLang="zh-CN" sz="2400" b="1" i="1">
                            <a:latin typeface="Cambria Math" panose="02040503050406030204" pitchFamily="18" charset="0"/>
                          </a:rPr>
                        </m:ctrlPr>
                      </m:sSupPr>
                      <m:e>
                        <m:r>
                          <a:rPr lang="en-US" altLang="zh-CN" sz="2400" b="1" i="1">
                            <a:latin typeface="Cambria Math" panose="02040503050406030204" pitchFamily="18" charset="0"/>
                          </a:rPr>
                          <m:t>𝒕</m:t>
                        </m:r>
                      </m:e>
                      <m:sup>
                        <m:r>
                          <a:rPr lang="en-US" altLang="zh-CN" sz="2400" b="1" i="1">
                            <a:latin typeface="Cambria Math" panose="02040503050406030204" pitchFamily="18" charset="0"/>
                          </a:rPr>
                          <m:t>𝟐</m:t>
                        </m:r>
                      </m:sup>
                    </m:sSup>
                  </m:oMath>
                </a14:m>
                <a:r>
                  <a:rPr lang="zh-CN" altLang="zh-CN" sz="2400" b="1" dirty="0">
                    <a:latin typeface="微软雅黑" panose="020B0503020204020204" pitchFamily="34" charset="-122"/>
                    <a:ea typeface="微软雅黑" panose="020B0503020204020204" pitchFamily="34" charset="-122"/>
                  </a:rPr>
                  <a:t>。</a:t>
                </a:r>
                <a:endParaRPr lang="zh-CN" altLang="zh-CN" dirty="0"/>
              </a:p>
              <a:p>
                <a:pPr>
                  <a:lnSpc>
                    <a:spcPct val="200000"/>
                  </a:lnSpc>
                </a:pP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、过路径点的三次多项式插值 </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       机器人在运动过程中，在运动路径的过程中有时候有些特殊要求，如抬腿结束和落地开始要保证平滑或者加速度为</a:t>
                </a:r>
                <a:r>
                  <a:rPr lang="en-US" altLang="zh-CN" sz="2400" b="1" dirty="0">
                    <a:latin typeface="微软雅黑" panose="020B0503020204020204" pitchFamily="34" charset="-122"/>
                    <a:ea typeface="微软雅黑" panose="020B0503020204020204" pitchFamily="34" charset="-122"/>
                  </a:rPr>
                  <a:t>0</a:t>
                </a:r>
                <a:r>
                  <a:rPr lang="zh-CN" altLang="en-US" sz="2400" b="1" dirty="0">
                    <a:latin typeface="微软雅黑" panose="020B0503020204020204" pitchFamily="34" charset="-122"/>
                    <a:ea typeface="微软雅黑" panose="020B0503020204020204" pitchFamily="34" charset="-122"/>
                  </a:rPr>
                  <a:t>。该方法把所有路径点都看成起始点或终止点，求解逆运动学方程，得到相应的机器人关节矢量值。然后确定所要求的三次多项式插值函数，把路径点平滑地连接起来，如图</a:t>
                </a:r>
                <a:r>
                  <a:rPr lang="en-US" altLang="zh-CN" sz="2400" b="1" dirty="0">
                    <a:latin typeface="微软雅黑" panose="020B0503020204020204" pitchFamily="34" charset="-122"/>
                    <a:ea typeface="微软雅黑" panose="020B0503020204020204" pitchFamily="34" charset="-122"/>
                  </a:rPr>
                  <a:t>5.8</a:t>
                </a:r>
                <a:r>
                  <a:rPr lang="zh-CN" altLang="en-US" sz="2400" b="1" dirty="0">
                    <a:latin typeface="微软雅黑" panose="020B0503020204020204" pitchFamily="34" charset="-122"/>
                    <a:ea typeface="微软雅黑" panose="020B0503020204020204" pitchFamily="34" charset="-122"/>
                  </a:rPr>
                  <a:t>所示。此时，这些起始点和终止点的关节速度不再是零，从而约束条件可设为</a:t>
                </a:r>
                <a:endParaRPr lang="en-US" altLang="zh-CN" sz="2400" b="1" dirty="0">
                  <a:latin typeface="微软雅黑" panose="020B0503020204020204" pitchFamily="34" charset="-122"/>
                  <a:ea typeface="微软雅黑" panose="020B0503020204020204" pitchFamily="34" charset="-122"/>
                </a:endParaRPr>
              </a:p>
              <a:p>
                <a14:m>
                  <m:oMath xmlns:m="http://schemas.openxmlformats.org/officeDocument/2006/math">
                    <m:acc>
                      <m:accPr>
                        <m:chr m:val="̇"/>
                        <m:ctrlPr>
                          <a:rPr lang="zh-CN" altLang="zh-CN" sz="2400" b="1" i="1" smtClean="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𝜽</m:t>
                        </m:r>
                      </m:e>
                    </m:acc>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acc>
                          <m:accPr>
                            <m:chr m:val="̇"/>
                            <m:ctrlPr>
                              <a:rPr lang="zh-CN" altLang="zh-CN" sz="2400" b="1" i="1">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acc>
                      <m:accPr>
                        <m:chr m:val="̇"/>
                        <m:ctrlPr>
                          <a:rPr lang="zh-CN" altLang="zh-CN" sz="2400" b="1" i="1">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𝜽</m:t>
                        </m:r>
                      </m:e>
                    </m:acc>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acc>
                          <m:accPr>
                            <m:chr m:val="̇"/>
                            <m:ctrlPr>
                              <a:rPr lang="zh-CN" altLang="zh-CN" sz="2400" b="1" i="1">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29" name="文本框 28">
                <a:extLst>
                  <a:ext uri="{FF2B5EF4-FFF2-40B4-BE49-F238E27FC236}">
                    <a16:creationId xmlns:a16="http://schemas.microsoft.com/office/drawing/2014/main" id="{11F250E5-3B8D-E10D-F69C-950DEA08FD99}"/>
                  </a:ext>
                </a:extLst>
              </p:cNvPr>
              <p:cNvSpPr txBox="1">
                <a:spLocks noRot="1" noChangeAspect="1" noMove="1" noResize="1" noEditPoints="1" noAdjustHandles="1" noChangeArrowheads="1" noChangeShapeType="1" noTextEdit="1"/>
              </p:cNvSpPr>
              <p:nvPr/>
            </p:nvSpPr>
            <p:spPr>
              <a:xfrm>
                <a:off x="906087" y="1205345"/>
                <a:ext cx="10399222" cy="4997394"/>
              </a:xfrm>
              <a:prstGeom prst="rect">
                <a:avLst/>
              </a:prstGeom>
              <a:blipFill>
                <a:blip r:embed="rId2"/>
                <a:stretch>
                  <a:fillRect l="-938" t="-976" r="-3810" b="-12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75913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a:extLst>
              <a:ext uri="{FF2B5EF4-FFF2-40B4-BE49-F238E27FC236}">
                <a16:creationId xmlns:a16="http://schemas.microsoft.com/office/drawing/2014/main" id="{8B600E80-25FF-F5E4-2196-F503332B3596}"/>
              </a:ext>
            </a:extLst>
          </p:cNvPr>
          <p:cNvPicPr>
            <a:picLocks noChangeAspect="1"/>
          </p:cNvPicPr>
          <p:nvPr/>
        </p:nvPicPr>
        <p:blipFill>
          <a:blip r:embed="rId2"/>
          <a:stretch>
            <a:fillRect/>
          </a:stretch>
        </p:blipFill>
        <p:spPr>
          <a:xfrm>
            <a:off x="7458074" y="938911"/>
            <a:ext cx="4255377" cy="3450635"/>
          </a:xfrm>
          <a:prstGeom prst="rect">
            <a:avLst/>
          </a:prstGeom>
        </p:spPr>
      </p:pic>
      <p:sp>
        <p:nvSpPr>
          <p:cNvPr id="6" name="文本框 5">
            <a:extLst>
              <a:ext uri="{FF2B5EF4-FFF2-40B4-BE49-F238E27FC236}">
                <a16:creationId xmlns:a16="http://schemas.microsoft.com/office/drawing/2014/main" id="{77FD5A4F-6538-7415-8817-852342D94E5C}"/>
              </a:ext>
            </a:extLst>
          </p:cNvPr>
          <p:cNvSpPr txBox="1"/>
          <p:nvPr/>
        </p:nvSpPr>
        <p:spPr>
          <a:xfrm>
            <a:off x="6629400" y="4020214"/>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5.8  </a:t>
            </a:r>
            <a:r>
              <a:rPr lang="zh-CN" altLang="zh-CN" sz="1800" kern="1000" dirty="0">
                <a:effectLst/>
                <a:latin typeface="Times New Roman" panose="02020603050405020304" pitchFamily="18" charset="0"/>
                <a:ea typeface="宋体" panose="02010600030101010101" pitchFamily="2" charset="-122"/>
              </a:rPr>
              <a:t>过路径点的三次多项式插值</a:t>
            </a:r>
          </a:p>
        </p:txBody>
      </p:sp>
      <p:sp>
        <p:nvSpPr>
          <p:cNvPr id="9" name="文本框 8">
            <a:extLst>
              <a:ext uri="{FF2B5EF4-FFF2-40B4-BE49-F238E27FC236}">
                <a16:creationId xmlns:a16="http://schemas.microsoft.com/office/drawing/2014/main" id="{574DC2E1-52EB-9AF4-C733-2CF82657A81B}"/>
              </a:ext>
            </a:extLst>
          </p:cNvPr>
          <p:cNvSpPr txBox="1"/>
          <p:nvPr/>
        </p:nvSpPr>
        <p:spPr>
          <a:xfrm>
            <a:off x="663719" y="1341885"/>
            <a:ext cx="6380018" cy="830997"/>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利用上述约束条件和式</a:t>
            </a:r>
            <a:r>
              <a:rPr lang="en-US" altLang="zh-CN" sz="2400" b="1" kern="1000" dirty="0">
                <a:effectLst/>
                <a:latin typeface="微软雅黑" panose="020B0503020204020204" pitchFamily="34" charset="-122"/>
                <a:ea typeface="微软雅黑" panose="020B0503020204020204" pitchFamily="34" charset="-122"/>
              </a:rPr>
              <a:t>(5.2)</a:t>
            </a:r>
            <a:r>
              <a:rPr lang="zh-CN" altLang="zh-CN" sz="2400" b="1" kern="1000" dirty="0">
                <a:effectLst/>
                <a:latin typeface="微软雅黑" panose="020B0503020204020204" pitchFamily="34" charset="-122"/>
                <a:ea typeface="微软雅黑" panose="020B0503020204020204" pitchFamily="34" charset="-122"/>
              </a:rPr>
              <a:t>同理可以求得此时的三次多项式系数：</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3065F5E-65BE-2A14-EFD3-1432D2BB1FE5}"/>
                  </a:ext>
                </a:extLst>
              </p:cNvPr>
              <p:cNvSpPr txBox="1"/>
              <p:nvPr/>
            </p:nvSpPr>
            <p:spPr>
              <a:xfrm>
                <a:off x="91440" y="2244589"/>
                <a:ext cx="7057505" cy="18005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2000" b="1" i="1" smtClean="0">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𝟎</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𝟎</m:t>
                          </m:r>
                        </m:sub>
                      </m:sSub>
                    </m:oMath>
                    <m:oMath xmlns:m="http://schemas.openxmlformats.org/officeDocument/2006/math">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𝟎</m:t>
                          </m:r>
                        </m:sub>
                      </m:sSub>
                    </m:oMath>
                  </m:oMathPara>
                </a14:m>
                <a:endParaRPr lang="en-US" altLang="zh-CN" sz="2000" b="1" i="1" kern="1000" dirty="0">
                  <a:effectLst/>
                  <a:latin typeface="Cambria Math" panose="02040503050406030204" pitchFamily="18" charset="0"/>
                  <a:ea typeface="宋体" panose="02010600030101010101" pitchFamily="2" charset="-122"/>
                  <a:cs typeface="Times New Roman" panose="02020603050405020304" pitchFamily="18" charset="0"/>
                </a:endParaRPr>
              </a:p>
              <a:p>
                <a:r>
                  <a:rPr lang="en-US" altLang="zh-CN" sz="2000" b="1" dirty="0">
                    <a:effectLst/>
                    <a:ea typeface="Cambria Math" panose="02040503050406030204" pitchFamily="18" charset="0"/>
                  </a:rPr>
                  <a:t>                             </a:t>
                </a:r>
                <a14:m>
                  <m:oMath xmlns:m="http://schemas.openxmlformats.org/officeDocument/2006/math">
                    <m:r>
                      <a:rPr lang="en-US" altLang="zh-CN" sz="2000" b="1" i="1" smtClean="0">
                        <a:effectLst/>
                        <a:latin typeface="Cambria Math" panose="02040503050406030204" pitchFamily="18" charset="0"/>
                        <a:ea typeface="Cambria Math" panose="02040503050406030204" pitchFamily="18" charset="0"/>
                      </a:rPr>
                      <m:t> </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𝟑</m:t>
                        </m:r>
                      </m:num>
                      <m:den>
                        <m:sSubSup>
                          <m:sSubSupPr>
                            <m:ctrlPr>
                              <a:rPr lang="zh-CN" altLang="zh-CN" sz="2000" b="1" i="1">
                                <a:effectLst/>
                                <a:latin typeface="Cambria Math" panose="02040503050406030204" pitchFamily="18" charset="0"/>
                                <a:ea typeface="Cambria Math" panose="02040503050406030204" pitchFamily="18" charset="0"/>
                              </a:rPr>
                            </m:ctrlPr>
                          </m:sSubSup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𝒇</m:t>
                            </m:r>
                          </m:sub>
                          <m: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𝟐</m:t>
                            </m:r>
                          </m:sup>
                        </m:sSubSup>
                      </m:den>
                    </m:f>
                    <m:d>
                      <m:dPr>
                        <m:ctrlP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ctrlPr>
                      </m:dPr>
                      <m:e>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r>
                          <a:rPr lang="en-US" altLang="zh-CN" sz="2000" b="1" i="1" kern="1000">
                            <a:effectLst/>
                            <a:latin typeface="Cambria Math" panose="02040503050406030204" pitchFamily="18" charset="0"/>
                            <a:ea typeface="宋体" panose="02010600030101010101" pitchFamily="2" charset="-122"/>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𝟎</m:t>
                            </m:r>
                          </m:sub>
                        </m:sSub>
                      </m:e>
                    </m:d>
                    <m:r>
                      <a:rPr lang="en-US" altLang="zh-CN" sz="2000" b="1" i="1" kern="1000">
                        <a:effectLst/>
                        <a:latin typeface="Cambria Math" panose="02040503050406030204" pitchFamily="18" charset="0"/>
                        <a:ea typeface="宋体" panose="02010600030101010101" pitchFamily="2" charset="-122"/>
                      </a:rPr>
                      <m:t>−</m:t>
                    </m:r>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𝟐</m:t>
                        </m:r>
                      </m:num>
                      <m:den>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den>
                    </m:f>
                    <m:sSub>
                      <m:sSubPr>
                        <m:ctrlPr>
                          <a:rPr lang="zh-CN" altLang="zh-CN" sz="2000" b="1" i="1">
                            <a:effectLst/>
                            <a:latin typeface="Cambria Math" panose="02040503050406030204" pitchFamily="18" charset="0"/>
                            <a:ea typeface="Cambria Math" panose="02040503050406030204" pitchFamily="18" charset="0"/>
                          </a:rPr>
                        </m:ctrlPr>
                      </m:sSubPr>
                      <m:e>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𝟎</m:t>
                        </m:r>
                      </m:sub>
                    </m:sSub>
                    <m:r>
                      <a:rPr lang="en-US" altLang="zh-CN" sz="2000" b="1" i="1" kern="1000">
                        <a:effectLst/>
                        <a:latin typeface="Cambria Math" panose="02040503050406030204" pitchFamily="18" charset="0"/>
                        <a:ea typeface="宋体" panose="02010600030101010101" pitchFamily="2" charset="-122"/>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sSub>
                      <m:sSubPr>
                        <m:ctrlPr>
                          <a:rPr lang="zh-CN" altLang="zh-CN" sz="2000" b="1" i="1">
                            <a:effectLst/>
                            <a:latin typeface="Cambria Math" panose="02040503050406030204" pitchFamily="18" charset="0"/>
                            <a:ea typeface="Cambria Math" panose="02040503050406030204" pitchFamily="18" charset="0"/>
                          </a:rPr>
                        </m:ctrlPr>
                      </m:sSubPr>
                      <m:e>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oMath>
                </a14:m>
                <a:r>
                  <a:rPr lang="en-US" altLang="zh-CN" sz="2000" b="1" kern="1000" dirty="0">
                    <a:latin typeface="Times New Roman" panose="02020603050405020304" pitchFamily="18" charset="0"/>
                    <a:ea typeface="宋体" panose="02010600030101010101" pitchFamily="2" charset="-122"/>
                  </a:rPr>
                  <a:t>          </a:t>
                </a:r>
                <a:r>
                  <a:rPr lang="en-US" altLang="zh-CN" sz="2000" b="1" kern="10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0" dirty="0">
                    <a:latin typeface="微软雅黑" panose="020B0503020204020204" pitchFamily="34" charset="-122"/>
                    <a:ea typeface="微软雅黑" panose="020B0503020204020204" pitchFamily="34" charset="-122"/>
                  </a:rPr>
                  <a:t>5.3</a:t>
                </a:r>
                <a:r>
                  <a:rPr lang="en-US" altLang="zh-CN" sz="2000" b="1" kern="10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b="1" i="1"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sz="2000" b="1" dirty="0">
                    <a:effectLst/>
                    <a:ea typeface="Cambria Math" panose="02040503050406030204" pitchFamily="18" charset="0"/>
                  </a:rPr>
                  <a:t>                             </a:t>
                </a:r>
                <a14:m>
                  <m:oMath xmlns:m="http://schemas.openxmlformats.org/officeDocument/2006/math">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𝒂</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𝟑</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rPr>
                      <m:t>−</m:t>
                    </m:r>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𝟐</m:t>
                        </m:r>
                      </m:num>
                      <m:den>
                        <m:sSubSup>
                          <m:sSubSupPr>
                            <m:ctrlPr>
                              <a:rPr lang="zh-CN" altLang="zh-CN" sz="2000" b="1" i="1">
                                <a:effectLst/>
                                <a:latin typeface="Cambria Math" panose="02040503050406030204" pitchFamily="18" charset="0"/>
                                <a:ea typeface="Cambria Math" panose="02040503050406030204" pitchFamily="18" charset="0"/>
                              </a:rPr>
                            </m:ctrlPr>
                          </m:sSubSup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𝒇</m:t>
                            </m:r>
                          </m:sub>
                          <m: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𝟑</m:t>
                            </m:r>
                          </m:sup>
                        </m:sSubSup>
                      </m:den>
                    </m:f>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r>
                      <a:rPr lang="en-US" altLang="zh-CN" sz="2000" b="1" i="1" kern="1000">
                        <a:effectLst/>
                        <a:latin typeface="Cambria Math" panose="02040503050406030204" pitchFamily="18" charset="0"/>
                        <a:ea typeface="宋体" panose="02010600030101010101" pitchFamily="2" charset="-122"/>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𝟎</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𝟏</m:t>
                        </m:r>
                      </m:num>
                      <m:den>
                        <m:sSubSup>
                          <m:sSubSupPr>
                            <m:ctrlPr>
                              <a:rPr lang="zh-CN" altLang="zh-CN" sz="2000" b="1" i="1">
                                <a:effectLst/>
                                <a:latin typeface="Cambria Math" panose="02040503050406030204" pitchFamily="18" charset="0"/>
                                <a:ea typeface="Cambria Math" panose="02040503050406030204" pitchFamily="18" charset="0"/>
                              </a:rPr>
                            </m:ctrlPr>
                          </m:sSubSup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𝒇</m:t>
                            </m:r>
                          </m:sub>
                          <m: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𝟐</m:t>
                            </m:r>
                          </m:sup>
                        </m:sSubSup>
                      </m:den>
                    </m:f>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𝟎</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oMath>
                </a14:m>
                <a:r>
                  <a:rPr lang="en-US" altLang="zh-CN" sz="1800" kern="1000" dirty="0">
                    <a:effectLst/>
                    <a:latin typeface="Times New Roman" panose="02020603050405020304" pitchFamily="18" charset="0"/>
                    <a:ea typeface="宋体" panose="02010600030101010101" pitchFamily="2" charset="-122"/>
                  </a:rPr>
                  <a:t>	</a:t>
                </a:r>
                <a:endParaRPr lang="zh-CN" altLang="en-US" dirty="0"/>
              </a:p>
            </p:txBody>
          </p:sp>
        </mc:Choice>
        <mc:Fallback xmlns="">
          <p:sp>
            <p:nvSpPr>
              <p:cNvPr id="12" name="文本框 11">
                <a:extLst>
                  <a:ext uri="{FF2B5EF4-FFF2-40B4-BE49-F238E27FC236}">
                    <a16:creationId xmlns:a16="http://schemas.microsoft.com/office/drawing/2014/main" id="{D3065F5E-65BE-2A14-EFD3-1432D2BB1FE5}"/>
                  </a:ext>
                </a:extLst>
              </p:cNvPr>
              <p:cNvSpPr txBox="1">
                <a:spLocks noRot="1" noChangeAspect="1" noMove="1" noResize="1" noEditPoints="1" noAdjustHandles="1" noChangeArrowheads="1" noChangeShapeType="1" noTextEdit="1"/>
              </p:cNvSpPr>
              <p:nvPr/>
            </p:nvSpPr>
            <p:spPr>
              <a:xfrm>
                <a:off x="91440" y="2244589"/>
                <a:ext cx="7057505" cy="1800558"/>
              </a:xfrm>
              <a:prstGeom prst="rect">
                <a:avLst/>
              </a:prstGeom>
              <a:blipFill>
                <a:blip r:embed="rId3"/>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CDA0A9C4-8BDF-49AE-90D3-38377AF7E1BC}"/>
              </a:ext>
            </a:extLst>
          </p:cNvPr>
          <p:cNvSpPr txBox="1"/>
          <p:nvPr/>
        </p:nvSpPr>
        <p:spPr>
          <a:xfrm>
            <a:off x="663719" y="4469355"/>
            <a:ext cx="10559112" cy="1569660"/>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      由上式确定的三次多项式描述了起始点和终止点具有任意给定位置和速度的运动轨迹。在此基础上，计算路径点上的关节速度有下述的</a:t>
            </a: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种方法。</a:t>
            </a:r>
          </a:p>
          <a:p>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根据工具坐标系在直角坐标空间中的瞬时线速度和角速度来确定每个路径点的关节速度。</a:t>
            </a:r>
          </a:p>
        </p:txBody>
      </p:sp>
    </p:spTree>
    <p:extLst>
      <p:ext uri="{BB962C8B-B14F-4D97-AF65-F5344CB8AC3E}">
        <p14:creationId xmlns:p14="http://schemas.microsoft.com/office/powerpoint/2010/main" val="1402434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a:extLst>
              <a:ext uri="{FF2B5EF4-FFF2-40B4-BE49-F238E27FC236}">
                <a16:creationId xmlns:a16="http://schemas.microsoft.com/office/drawing/2014/main" id="{DFCA35BB-36D4-1A28-0F78-9E32E0E91DA4}"/>
              </a:ext>
            </a:extLst>
          </p:cNvPr>
          <p:cNvSpPr txBox="1"/>
          <p:nvPr/>
        </p:nvSpPr>
        <p:spPr>
          <a:xfrm>
            <a:off x="839586" y="1102567"/>
            <a:ext cx="10399222"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为了保证每个路径点上的加速度连续，由控制系统按照此要求自动地选择路径点的关节速度。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在直角坐标空间或关节空间中采用某种适当的启发式方法，由控制系统自动地选择路径点的关节速度。</a:t>
            </a:r>
          </a:p>
        </p:txBody>
      </p:sp>
      <p:sp>
        <p:nvSpPr>
          <p:cNvPr id="6" name="文本框 5">
            <a:extLst>
              <a:ext uri="{FF2B5EF4-FFF2-40B4-BE49-F238E27FC236}">
                <a16:creationId xmlns:a16="http://schemas.microsoft.com/office/drawing/2014/main" id="{2982ED37-7022-7948-12C6-6AD68475A9E0}"/>
              </a:ext>
            </a:extLst>
          </p:cNvPr>
          <p:cNvSpPr txBox="1"/>
          <p:nvPr/>
        </p:nvSpPr>
        <p:spPr>
          <a:xfrm>
            <a:off x="839586" y="2635115"/>
            <a:ext cx="10341032" cy="830997"/>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       对于方法</a:t>
            </a: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，为了保证路径点处的加速度连续，可以设法用两条三次曲线在路径点处按照一定的规则联系起来，拼凑成所要求的轨迹。</a:t>
            </a:r>
          </a:p>
        </p:txBody>
      </p:sp>
      <p:pic>
        <p:nvPicPr>
          <p:cNvPr id="7" name="图片 4">
            <a:extLst>
              <a:ext uri="{FF2B5EF4-FFF2-40B4-BE49-F238E27FC236}">
                <a16:creationId xmlns:a16="http://schemas.microsoft.com/office/drawing/2014/main" id="{377F1E3E-4E80-1BD4-660F-F445307B43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7376" y="3403767"/>
            <a:ext cx="3292982" cy="2912609"/>
          </a:xfrm>
          <a:prstGeom prst="rect">
            <a:avLst/>
          </a:prstGeom>
          <a:noFill/>
          <a:ln>
            <a:noFill/>
          </a:ln>
        </p:spPr>
      </p:pic>
      <p:sp>
        <p:nvSpPr>
          <p:cNvPr id="8" name="文本框 7">
            <a:extLst>
              <a:ext uri="{FF2B5EF4-FFF2-40B4-BE49-F238E27FC236}">
                <a16:creationId xmlns:a16="http://schemas.microsoft.com/office/drawing/2014/main" id="{0ADDFF43-100E-9B78-D7FD-0D8BFAD2A4E7}"/>
              </a:ext>
            </a:extLst>
          </p:cNvPr>
          <p:cNvSpPr txBox="1"/>
          <p:nvPr/>
        </p:nvSpPr>
        <p:spPr>
          <a:xfrm>
            <a:off x="839586" y="3403767"/>
            <a:ext cx="7319600" cy="830997"/>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       其约束条件是：连接处不仅速度要连续，加速度也要连续，如图</a:t>
            </a:r>
            <a:r>
              <a:rPr lang="en-US" altLang="zh-CN" sz="2400" b="1" dirty="0">
                <a:latin typeface="微软雅黑" panose="020B0503020204020204" pitchFamily="34" charset="-122"/>
                <a:ea typeface="微软雅黑" panose="020B0503020204020204" pitchFamily="34" charset="-122"/>
              </a:rPr>
              <a:t>5.9</a:t>
            </a:r>
            <a:r>
              <a:rPr lang="zh-CN" altLang="en-US" sz="2400" b="1" dirty="0">
                <a:latin typeface="微软雅黑" panose="020B0503020204020204" pitchFamily="34" charset="-122"/>
                <a:ea typeface="微软雅黑" panose="020B0503020204020204" pitchFamily="34" charset="-122"/>
              </a:rPr>
              <a:t>所示。</a:t>
            </a:r>
          </a:p>
        </p:txBody>
      </p:sp>
      <p:sp>
        <p:nvSpPr>
          <p:cNvPr id="11" name="文本框 10">
            <a:extLst>
              <a:ext uri="{FF2B5EF4-FFF2-40B4-BE49-F238E27FC236}">
                <a16:creationId xmlns:a16="http://schemas.microsoft.com/office/drawing/2014/main" id="{4D0B105B-4BFB-BA7C-9269-F35801CF5322}"/>
              </a:ext>
            </a:extLst>
          </p:cNvPr>
          <p:cNvSpPr txBox="1"/>
          <p:nvPr/>
        </p:nvSpPr>
        <p:spPr>
          <a:xfrm>
            <a:off x="8983802" y="6316376"/>
            <a:ext cx="1760130"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5.9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方法</a:t>
            </a:r>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a:t>
            </a:r>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 </a:t>
            </a:r>
            <a:endParaRPr lang="zh-CN" altLang="en-US" dirty="0"/>
          </a:p>
        </p:txBody>
      </p:sp>
    </p:spTree>
    <p:extLst>
      <p:ext uri="{BB962C8B-B14F-4D97-AF65-F5344CB8AC3E}">
        <p14:creationId xmlns:p14="http://schemas.microsoft.com/office/powerpoint/2010/main" val="585275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a:extLst>
              <a:ext uri="{FF2B5EF4-FFF2-40B4-BE49-F238E27FC236}">
                <a16:creationId xmlns:a16="http://schemas.microsoft.com/office/drawing/2014/main" id="{06ECE801-30B9-2B55-8B2E-92C6C5E8A3C2}"/>
              </a:ext>
            </a:extLst>
          </p:cNvPr>
          <p:cNvSpPr txBox="1"/>
          <p:nvPr/>
        </p:nvSpPr>
        <p:spPr>
          <a:xfrm>
            <a:off x="814647" y="1230284"/>
            <a:ext cx="10365971" cy="1200329"/>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       对于方法</a:t>
            </a: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，假设用线段把这些路径点依次连接起来，若相邻线段的斜率在路径点处改变符号，则把速度选定为零；若相邻线段不改变符号，则选择路径点两侧的线段斜率的平均值作为该点的速度，如图</a:t>
            </a:r>
            <a:r>
              <a:rPr lang="en-US" altLang="zh-CN" sz="2400" b="1" dirty="0">
                <a:latin typeface="微软雅黑" panose="020B0503020204020204" pitchFamily="34" charset="-122"/>
                <a:ea typeface="微软雅黑" panose="020B0503020204020204" pitchFamily="34" charset="-122"/>
              </a:rPr>
              <a:t>5.10</a:t>
            </a:r>
            <a:r>
              <a:rPr lang="zh-CN" altLang="en-US" sz="2400" b="1" dirty="0">
                <a:latin typeface="微软雅黑" panose="020B0503020204020204" pitchFamily="34" charset="-122"/>
                <a:ea typeface="微软雅黑" panose="020B0503020204020204" pitchFamily="34" charset="-122"/>
              </a:rPr>
              <a:t>所示。</a:t>
            </a:r>
          </a:p>
        </p:txBody>
      </p:sp>
      <p:pic>
        <p:nvPicPr>
          <p:cNvPr id="5" name="图片 3">
            <a:extLst>
              <a:ext uri="{FF2B5EF4-FFF2-40B4-BE49-F238E27FC236}">
                <a16:creationId xmlns:a16="http://schemas.microsoft.com/office/drawing/2014/main" id="{BDF1DFA2-0ABF-0B39-33FC-C797D56AAF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9776" y="2430613"/>
            <a:ext cx="4010842" cy="2731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ABE07075-8F7F-705C-6653-6F921C53C3FF}"/>
              </a:ext>
            </a:extLst>
          </p:cNvPr>
          <p:cNvSpPr txBox="1"/>
          <p:nvPr/>
        </p:nvSpPr>
        <p:spPr>
          <a:xfrm>
            <a:off x="814646" y="2430613"/>
            <a:ext cx="6246111" cy="2677656"/>
          </a:xfrm>
          <a:prstGeom prst="rect">
            <a:avLst/>
          </a:prstGeom>
          <a:noFill/>
        </p:spPr>
        <p:txBody>
          <a:bodyPr wrap="square">
            <a:spAutoFit/>
          </a:bodyPr>
          <a:lstStyle/>
          <a:p>
            <a:pPr algn="just"/>
            <a:r>
              <a:rPr lang="en-US" altLang="zh-CN" sz="2400" b="1"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如果对运动轨迹的要求更为严格，约束条件增多，那么三次多项式就不能满足需要，必须用更高阶的多项式对运动轨迹的路径段进行插值。例如，对某段路径的起始点和终止点都规定了关节的位置、速度和加速度</a:t>
            </a:r>
            <a:r>
              <a:rPr lang="en-US" altLang="zh-CN" sz="2400" b="1" dirty="0">
                <a:latin typeface="微软雅黑" panose="020B0503020204020204" pitchFamily="34" charset="-122"/>
                <a:ea typeface="微软雅黑" panose="020B0503020204020204" pitchFamily="34" charset="-122"/>
              </a:rPr>
              <a:t>(</a:t>
            </a:r>
            <a:r>
              <a:rPr lang="zh-CN" altLang="zh-CN" sz="2400" b="1" dirty="0">
                <a:latin typeface="微软雅黑" panose="020B0503020204020204" pitchFamily="34" charset="-122"/>
                <a:ea typeface="微软雅黑" panose="020B0503020204020204" pitchFamily="34" charset="-122"/>
              </a:rPr>
              <a:t>有</a:t>
            </a:r>
            <a:r>
              <a:rPr lang="en-US" altLang="zh-CN" sz="2400" b="1" dirty="0">
                <a:latin typeface="微软雅黑" panose="020B0503020204020204" pitchFamily="34" charset="-122"/>
                <a:ea typeface="微软雅黑" panose="020B0503020204020204" pitchFamily="34" charset="-122"/>
              </a:rPr>
              <a:t>6</a:t>
            </a:r>
            <a:r>
              <a:rPr lang="zh-CN" altLang="zh-CN" sz="2400" b="1" dirty="0">
                <a:latin typeface="微软雅黑" panose="020B0503020204020204" pitchFamily="34" charset="-122"/>
                <a:ea typeface="微软雅黑" panose="020B0503020204020204" pitchFamily="34" charset="-122"/>
              </a:rPr>
              <a:t>个未知系数</a:t>
            </a:r>
            <a:r>
              <a:rPr lang="en-US" altLang="zh-CN" sz="2400" b="1" dirty="0">
                <a:latin typeface="微软雅黑" panose="020B0503020204020204" pitchFamily="34" charset="-122"/>
                <a:ea typeface="微软雅黑" panose="020B0503020204020204" pitchFamily="34" charset="-122"/>
              </a:rPr>
              <a:t>)</a:t>
            </a:r>
            <a:r>
              <a:rPr lang="zh-CN" altLang="zh-CN" sz="2400" b="1" dirty="0">
                <a:latin typeface="微软雅黑" panose="020B0503020204020204" pitchFamily="34" charset="-122"/>
                <a:ea typeface="微软雅黑" panose="020B0503020204020204" pitchFamily="34" charset="-122"/>
              </a:rPr>
              <a:t>，则要用一个五次多项式进行插值。</a:t>
            </a:r>
            <a:r>
              <a:rPr lang="zh-CN" altLang="en-US" sz="2400" b="1" dirty="0">
                <a:latin typeface="微软雅黑" panose="020B0503020204020204" pitchFamily="34" charset="-122"/>
                <a:ea typeface="微软雅黑" panose="020B0503020204020204" pitchFamily="34" charset="-122"/>
              </a:rPr>
              <a:t>如下：</a:t>
            </a:r>
            <a:endParaRPr lang="zh-CN" altLang="zh-CN" sz="2400" b="1"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36484D33-C42A-806A-0DF7-96970D9B059F}"/>
              </a:ext>
            </a:extLst>
          </p:cNvPr>
          <p:cNvSpPr txBox="1"/>
          <p:nvPr/>
        </p:nvSpPr>
        <p:spPr>
          <a:xfrm>
            <a:off x="8299535" y="5258384"/>
            <a:ext cx="2466530" cy="369332"/>
          </a:xfrm>
          <a:prstGeom prst="rect">
            <a:avLst/>
          </a:prstGeom>
          <a:noFill/>
        </p:spPr>
        <p:txBody>
          <a:bodyPr wrap="square">
            <a:spAutoFit/>
          </a:bodyPr>
          <a:lstStyle/>
          <a:p>
            <a:r>
              <a:rPr lang="zh-CN" altLang="zh-CN" sz="1800" kern="1000" dirty="0">
                <a:effectLst/>
                <a:ea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5.10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方法</a:t>
            </a:r>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3</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F91FFCBB-506A-BF6B-835B-0E454F2306BA}"/>
                  </a:ext>
                </a:extLst>
              </p:cNvPr>
              <p:cNvSpPr txBox="1"/>
              <p:nvPr/>
            </p:nvSpPr>
            <p:spPr>
              <a:xfrm>
                <a:off x="938253" y="5363753"/>
                <a:ext cx="6122504" cy="4116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000" b="1" i="1" smtClean="0">
                          <a:latin typeface="Cambria Math" panose="02040503050406030204" pitchFamily="18" charset="0"/>
                        </a:rPr>
                        <m:t>𝜽</m:t>
                      </m:r>
                      <m:d>
                        <m:dPr>
                          <m:ctrlPr>
                            <a:rPr lang="zh-CN" altLang="en-US" sz="2000" b="1" i="1">
                              <a:latin typeface="Cambria Math" panose="02040503050406030204" pitchFamily="18" charset="0"/>
                            </a:rPr>
                          </m:ctrlPr>
                        </m:dPr>
                        <m:e>
                          <m:r>
                            <a:rPr lang="zh-CN" altLang="en-US" sz="2000" b="1" i="1">
                              <a:latin typeface="Cambria Math" panose="02040503050406030204" pitchFamily="18" charset="0"/>
                            </a:rPr>
                            <m:t>𝒕</m:t>
                          </m:r>
                        </m:e>
                      </m:d>
                      <m:r>
                        <a:rPr lang="zh-CN" altLang="en-US" sz="2000" b="1" i="0">
                          <a:latin typeface="Cambria Math" panose="02040503050406030204" pitchFamily="18" charset="0"/>
                        </a:rPr>
                        <m:t>=</m:t>
                      </m:r>
                      <m:sSub>
                        <m:sSubPr>
                          <m:ctrlPr>
                            <a:rPr lang="zh-CN" altLang="en-US" sz="2000" b="1" i="1">
                              <a:solidFill>
                                <a:srgbClr val="836967"/>
                              </a:solidFill>
                              <a:latin typeface="Cambria Math" panose="02040503050406030204" pitchFamily="18" charset="0"/>
                            </a:rPr>
                          </m:ctrlPr>
                        </m:sSubPr>
                        <m:e>
                          <m:r>
                            <a:rPr lang="zh-CN" altLang="en-US" sz="2000" b="1" i="1">
                              <a:latin typeface="Cambria Math" panose="02040503050406030204" pitchFamily="18" charset="0"/>
                            </a:rPr>
                            <m:t>𝒂</m:t>
                          </m:r>
                        </m:e>
                        <m:sub>
                          <m:r>
                            <a:rPr lang="zh-CN" altLang="en-US" sz="2000" b="1" i="0">
                              <a:latin typeface="Cambria Math" panose="02040503050406030204" pitchFamily="18" charset="0"/>
                            </a:rPr>
                            <m:t>𝟎</m:t>
                          </m:r>
                        </m:sub>
                      </m:sSub>
                      <m:r>
                        <a:rPr lang="zh-CN" altLang="en-US" sz="2000" b="1" i="0">
                          <a:latin typeface="Cambria Math" panose="02040503050406030204" pitchFamily="18" charset="0"/>
                        </a:rPr>
                        <m:t>+</m:t>
                      </m:r>
                      <m:sSub>
                        <m:sSubPr>
                          <m:ctrlPr>
                            <a:rPr lang="zh-CN" altLang="en-US" sz="2000" b="1" i="1">
                              <a:solidFill>
                                <a:srgbClr val="836967"/>
                              </a:solidFill>
                              <a:latin typeface="Cambria Math" panose="02040503050406030204" pitchFamily="18" charset="0"/>
                            </a:rPr>
                          </m:ctrlPr>
                        </m:sSubPr>
                        <m:e>
                          <m:r>
                            <a:rPr lang="zh-CN" altLang="en-US" sz="2000" b="1" i="1">
                              <a:latin typeface="Cambria Math" panose="02040503050406030204" pitchFamily="18" charset="0"/>
                            </a:rPr>
                            <m:t>𝒂</m:t>
                          </m:r>
                        </m:e>
                        <m:sub>
                          <m:r>
                            <a:rPr lang="zh-CN" altLang="en-US" sz="2000" b="1" i="0">
                              <a:latin typeface="Cambria Math" panose="02040503050406030204" pitchFamily="18" charset="0"/>
                            </a:rPr>
                            <m:t>𝟏</m:t>
                          </m:r>
                        </m:sub>
                      </m:sSub>
                      <m:r>
                        <a:rPr lang="zh-CN" altLang="en-US" sz="2000" b="1" i="1">
                          <a:latin typeface="Cambria Math" panose="02040503050406030204" pitchFamily="18" charset="0"/>
                        </a:rPr>
                        <m:t>𝒕</m:t>
                      </m:r>
                      <m:r>
                        <a:rPr lang="zh-CN" altLang="en-US" sz="2000" b="1" i="0">
                          <a:latin typeface="Cambria Math" panose="02040503050406030204" pitchFamily="18" charset="0"/>
                        </a:rPr>
                        <m:t>+</m:t>
                      </m:r>
                      <m:sSub>
                        <m:sSubPr>
                          <m:ctrlPr>
                            <a:rPr lang="zh-CN" altLang="en-US" sz="2000" b="1" i="1">
                              <a:solidFill>
                                <a:srgbClr val="836967"/>
                              </a:solidFill>
                              <a:latin typeface="Cambria Math" panose="02040503050406030204" pitchFamily="18" charset="0"/>
                            </a:rPr>
                          </m:ctrlPr>
                        </m:sSubPr>
                        <m:e>
                          <m:r>
                            <a:rPr lang="zh-CN" altLang="en-US" sz="2000" b="1" i="1">
                              <a:latin typeface="Cambria Math" panose="02040503050406030204" pitchFamily="18" charset="0"/>
                            </a:rPr>
                            <m:t>𝒂</m:t>
                          </m:r>
                        </m:e>
                        <m:sub>
                          <m:r>
                            <a:rPr lang="zh-CN" altLang="en-US" sz="2000" b="1" i="0">
                              <a:latin typeface="Cambria Math" panose="02040503050406030204" pitchFamily="18" charset="0"/>
                            </a:rPr>
                            <m:t>𝟐</m:t>
                          </m:r>
                        </m:sub>
                      </m:sSub>
                      <m:sSup>
                        <m:sSupPr>
                          <m:ctrlPr>
                            <a:rPr lang="zh-CN" altLang="en-US" sz="2000" b="1" i="1">
                              <a:solidFill>
                                <a:srgbClr val="836967"/>
                              </a:solidFill>
                              <a:latin typeface="Cambria Math" panose="02040503050406030204" pitchFamily="18" charset="0"/>
                            </a:rPr>
                          </m:ctrlPr>
                        </m:sSupPr>
                        <m:e>
                          <m:r>
                            <a:rPr lang="zh-CN" altLang="en-US" sz="2000" b="1" i="1">
                              <a:latin typeface="Cambria Math" panose="02040503050406030204" pitchFamily="18" charset="0"/>
                            </a:rPr>
                            <m:t>𝒕</m:t>
                          </m:r>
                        </m:e>
                        <m:sup>
                          <m:r>
                            <a:rPr lang="zh-CN" altLang="en-US" sz="2000" b="1" i="0">
                              <a:latin typeface="Cambria Math" panose="02040503050406030204" pitchFamily="18" charset="0"/>
                            </a:rPr>
                            <m:t>𝟐</m:t>
                          </m:r>
                        </m:sup>
                      </m:sSup>
                      <m:r>
                        <a:rPr lang="zh-CN" altLang="en-US" sz="2000" b="1" i="0">
                          <a:latin typeface="Cambria Math" panose="02040503050406030204" pitchFamily="18" charset="0"/>
                        </a:rPr>
                        <m:t>+</m:t>
                      </m:r>
                      <m:sSub>
                        <m:sSubPr>
                          <m:ctrlPr>
                            <a:rPr lang="zh-CN" altLang="en-US" sz="2000" b="1" i="1">
                              <a:solidFill>
                                <a:srgbClr val="836967"/>
                              </a:solidFill>
                              <a:latin typeface="Cambria Math" panose="02040503050406030204" pitchFamily="18" charset="0"/>
                            </a:rPr>
                          </m:ctrlPr>
                        </m:sSubPr>
                        <m:e>
                          <m:r>
                            <a:rPr lang="zh-CN" altLang="en-US" sz="2000" b="1" i="1">
                              <a:latin typeface="Cambria Math" panose="02040503050406030204" pitchFamily="18" charset="0"/>
                            </a:rPr>
                            <m:t>𝒂</m:t>
                          </m:r>
                        </m:e>
                        <m:sub>
                          <m:r>
                            <a:rPr lang="zh-CN" altLang="en-US" sz="2000" b="1" i="0">
                              <a:latin typeface="Cambria Math" panose="02040503050406030204" pitchFamily="18" charset="0"/>
                            </a:rPr>
                            <m:t>𝟑</m:t>
                          </m:r>
                        </m:sub>
                      </m:sSub>
                      <m:sSup>
                        <m:sSupPr>
                          <m:ctrlPr>
                            <a:rPr lang="zh-CN" altLang="en-US" sz="2000" b="1" i="1">
                              <a:solidFill>
                                <a:srgbClr val="836967"/>
                              </a:solidFill>
                              <a:latin typeface="Cambria Math" panose="02040503050406030204" pitchFamily="18" charset="0"/>
                            </a:rPr>
                          </m:ctrlPr>
                        </m:sSupPr>
                        <m:e>
                          <m:r>
                            <a:rPr lang="zh-CN" altLang="en-US" sz="2000" b="1" i="1">
                              <a:latin typeface="Cambria Math" panose="02040503050406030204" pitchFamily="18" charset="0"/>
                            </a:rPr>
                            <m:t>𝒕</m:t>
                          </m:r>
                        </m:e>
                        <m:sup>
                          <m:r>
                            <a:rPr lang="zh-CN" altLang="en-US" sz="2000" b="1" i="0">
                              <a:latin typeface="Cambria Math" panose="02040503050406030204" pitchFamily="18" charset="0"/>
                            </a:rPr>
                            <m:t>𝟑</m:t>
                          </m:r>
                        </m:sup>
                      </m:sSup>
                      <m:r>
                        <a:rPr lang="zh-CN" altLang="en-US" sz="2000" b="1" i="0">
                          <a:latin typeface="Cambria Math" panose="02040503050406030204" pitchFamily="18" charset="0"/>
                        </a:rPr>
                        <m:t>+</m:t>
                      </m:r>
                      <m:sSub>
                        <m:sSubPr>
                          <m:ctrlPr>
                            <a:rPr lang="zh-CN" altLang="en-US" sz="2000" b="1" i="1">
                              <a:solidFill>
                                <a:srgbClr val="836967"/>
                              </a:solidFill>
                              <a:latin typeface="Cambria Math" panose="02040503050406030204" pitchFamily="18" charset="0"/>
                            </a:rPr>
                          </m:ctrlPr>
                        </m:sSubPr>
                        <m:e>
                          <m:r>
                            <a:rPr lang="zh-CN" altLang="en-US" sz="2000" b="1" i="1">
                              <a:latin typeface="Cambria Math" panose="02040503050406030204" pitchFamily="18" charset="0"/>
                            </a:rPr>
                            <m:t>𝒂</m:t>
                          </m:r>
                        </m:e>
                        <m:sub>
                          <m:r>
                            <a:rPr lang="zh-CN" altLang="en-US" sz="2000" b="1" i="0">
                              <a:latin typeface="Cambria Math" panose="02040503050406030204" pitchFamily="18" charset="0"/>
                            </a:rPr>
                            <m:t>𝟒</m:t>
                          </m:r>
                        </m:sub>
                      </m:sSub>
                      <m:sSup>
                        <m:sSupPr>
                          <m:ctrlPr>
                            <a:rPr lang="zh-CN" altLang="en-US" sz="2000" b="1" i="1">
                              <a:solidFill>
                                <a:srgbClr val="836967"/>
                              </a:solidFill>
                              <a:latin typeface="Cambria Math" panose="02040503050406030204" pitchFamily="18" charset="0"/>
                            </a:rPr>
                          </m:ctrlPr>
                        </m:sSupPr>
                        <m:e>
                          <m:r>
                            <a:rPr lang="zh-CN" altLang="en-US" sz="2000" b="1" i="1">
                              <a:latin typeface="Cambria Math" panose="02040503050406030204" pitchFamily="18" charset="0"/>
                            </a:rPr>
                            <m:t>𝒕</m:t>
                          </m:r>
                        </m:e>
                        <m:sup>
                          <m:r>
                            <a:rPr lang="zh-CN" altLang="en-US" sz="2000" b="1" i="0">
                              <a:latin typeface="Cambria Math" panose="02040503050406030204" pitchFamily="18" charset="0"/>
                            </a:rPr>
                            <m:t>𝟒</m:t>
                          </m:r>
                        </m:sup>
                      </m:sSup>
                      <m:r>
                        <a:rPr lang="zh-CN" altLang="en-US" sz="2000" b="1" i="0">
                          <a:latin typeface="Cambria Math" panose="02040503050406030204" pitchFamily="18" charset="0"/>
                        </a:rPr>
                        <m:t>+</m:t>
                      </m:r>
                      <m:sSub>
                        <m:sSubPr>
                          <m:ctrlPr>
                            <a:rPr lang="zh-CN" altLang="en-US" sz="2000" b="1" i="1">
                              <a:solidFill>
                                <a:srgbClr val="836967"/>
                              </a:solidFill>
                              <a:latin typeface="Cambria Math" panose="02040503050406030204" pitchFamily="18" charset="0"/>
                            </a:rPr>
                          </m:ctrlPr>
                        </m:sSubPr>
                        <m:e>
                          <m:r>
                            <a:rPr lang="zh-CN" altLang="en-US" sz="2000" b="1" i="1">
                              <a:latin typeface="Cambria Math" panose="02040503050406030204" pitchFamily="18" charset="0"/>
                            </a:rPr>
                            <m:t>𝒂</m:t>
                          </m:r>
                        </m:e>
                        <m:sub>
                          <m:r>
                            <a:rPr lang="zh-CN" altLang="en-US" sz="2000" b="1" i="0">
                              <a:latin typeface="Cambria Math" panose="02040503050406030204" pitchFamily="18" charset="0"/>
                            </a:rPr>
                            <m:t>𝟓</m:t>
                          </m:r>
                        </m:sub>
                      </m:sSub>
                      <m:sSup>
                        <m:sSupPr>
                          <m:ctrlPr>
                            <a:rPr lang="zh-CN" altLang="en-US" sz="2000" b="1" i="1">
                              <a:solidFill>
                                <a:srgbClr val="836967"/>
                              </a:solidFill>
                              <a:latin typeface="Cambria Math" panose="02040503050406030204" pitchFamily="18" charset="0"/>
                            </a:rPr>
                          </m:ctrlPr>
                        </m:sSupPr>
                        <m:e>
                          <m:r>
                            <a:rPr lang="zh-CN" altLang="en-US" sz="2000" b="1" i="1">
                              <a:latin typeface="Cambria Math" panose="02040503050406030204" pitchFamily="18" charset="0"/>
                            </a:rPr>
                            <m:t>𝒕</m:t>
                          </m:r>
                        </m:e>
                        <m:sup>
                          <m:r>
                            <a:rPr lang="zh-CN" altLang="en-US" sz="2000" b="1" i="0">
                              <a:latin typeface="Cambria Math" panose="02040503050406030204" pitchFamily="18" charset="0"/>
                            </a:rPr>
                            <m:t>𝟓</m:t>
                          </m:r>
                        </m:sup>
                      </m:sSup>
                    </m:oMath>
                  </m:oMathPara>
                </a14:m>
                <a:endParaRPr lang="zh-CN" altLang="en-US" sz="2000" b="1" dirty="0">
                  <a:latin typeface="微软雅黑" panose="020B0503020204020204" pitchFamily="34" charset="-122"/>
                  <a:ea typeface="微软雅黑" panose="020B0503020204020204" pitchFamily="34" charset="-122"/>
                </a:endParaRPr>
              </a:p>
            </p:txBody>
          </p:sp>
        </mc:Choice>
        <mc:Fallback xmlns="">
          <p:sp>
            <p:nvSpPr>
              <p:cNvPr id="16" name="文本框 15">
                <a:extLst>
                  <a:ext uri="{FF2B5EF4-FFF2-40B4-BE49-F238E27FC236}">
                    <a16:creationId xmlns:a16="http://schemas.microsoft.com/office/drawing/2014/main" id="{F91FFCBB-506A-BF6B-835B-0E454F2306BA}"/>
                  </a:ext>
                </a:extLst>
              </p:cNvPr>
              <p:cNvSpPr txBox="1">
                <a:spLocks noRot="1" noChangeAspect="1" noMove="1" noResize="1" noEditPoints="1" noAdjustHandles="1" noChangeArrowheads="1" noChangeShapeType="1" noTextEdit="1"/>
              </p:cNvSpPr>
              <p:nvPr/>
            </p:nvSpPr>
            <p:spPr>
              <a:xfrm>
                <a:off x="938253" y="5363753"/>
                <a:ext cx="6122504" cy="411651"/>
              </a:xfrm>
              <a:prstGeom prst="rect">
                <a:avLst/>
              </a:prstGeom>
              <a:blipFill>
                <a:blip r:embed="rId3"/>
                <a:stretch>
                  <a:fillRect b="-44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05389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a:extLst>
              <a:ext uri="{FF2B5EF4-FFF2-40B4-BE49-F238E27FC236}">
                <a16:creationId xmlns:a16="http://schemas.microsoft.com/office/drawing/2014/main" id="{C56B9EB5-4625-08B3-18DB-026E7E3EB08B}"/>
              </a:ext>
            </a:extLst>
          </p:cNvPr>
          <p:cNvSpPr txBox="1"/>
          <p:nvPr/>
        </p:nvSpPr>
        <p:spPr>
          <a:xfrm>
            <a:off x="985961" y="1280335"/>
            <a:ext cx="6122504" cy="461665"/>
          </a:xfrm>
          <a:prstGeom prst="rect">
            <a:avLst/>
          </a:prstGeom>
          <a:noFill/>
        </p:spPr>
        <p:txBody>
          <a:bodyPr wrap="square">
            <a:spAutoFit/>
          </a:bodyPr>
          <a:lstStyle/>
          <a:p>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用抛物线过渡的线性插值</a:t>
            </a:r>
            <a:endParaRPr lang="zh-CN" altLang="en-US" sz="2400" b="1"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14BF7D96-B561-130A-BA72-EF1704B3D17F}"/>
              </a:ext>
            </a:extLst>
          </p:cNvPr>
          <p:cNvSpPr txBox="1"/>
          <p:nvPr/>
        </p:nvSpPr>
        <p:spPr>
          <a:xfrm>
            <a:off x="1065144" y="1742000"/>
            <a:ext cx="10288988" cy="1200329"/>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单纯线性插值将导致在节点处关节运动速度不连续，加速度无限大。为了解决上述问题，使用线性插值时，在每个节点的邻域内增加一段抛物线的“缓冲区段”，从而使整个轨迹上的位移和速度都连续，如图</a:t>
            </a:r>
            <a:r>
              <a:rPr lang="en-US" altLang="zh-CN" sz="2400" b="1" kern="1000" dirty="0">
                <a:effectLst/>
                <a:latin typeface="微软雅黑" panose="020B0503020204020204" pitchFamily="34" charset="-122"/>
                <a:ea typeface="微软雅黑" panose="020B0503020204020204" pitchFamily="34" charset="-122"/>
              </a:rPr>
              <a:t>5.11</a:t>
            </a:r>
            <a:r>
              <a:rPr lang="zh-CN" altLang="zh-CN" sz="2400" b="1" kern="1000" dirty="0">
                <a:effectLst/>
                <a:latin typeface="微软雅黑" panose="020B0503020204020204" pitchFamily="34" charset="-122"/>
                <a:ea typeface="微软雅黑" panose="020B0503020204020204" pitchFamily="34" charset="-122"/>
              </a:rPr>
              <a:t>所示。</a:t>
            </a:r>
          </a:p>
        </p:txBody>
      </p:sp>
      <p:pic>
        <p:nvPicPr>
          <p:cNvPr id="9" name="图片 7">
            <a:extLst>
              <a:ext uri="{FF2B5EF4-FFF2-40B4-BE49-F238E27FC236}">
                <a16:creationId xmlns:a16="http://schemas.microsoft.com/office/drawing/2014/main" id="{D8AFEA95-224D-1C17-3E9C-1A85B912E2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532" y="2942329"/>
            <a:ext cx="4038600" cy="310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8825270B-D4A9-58C7-17D1-F50A94F117EB}"/>
              </a:ext>
            </a:extLst>
          </p:cNvPr>
          <p:cNvSpPr txBox="1"/>
          <p:nvPr/>
        </p:nvSpPr>
        <p:spPr>
          <a:xfrm>
            <a:off x="6273580" y="5858050"/>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5.11  </a:t>
            </a:r>
            <a:r>
              <a:rPr lang="zh-CN" altLang="zh-CN" sz="1800" kern="1000" dirty="0">
                <a:effectLst/>
                <a:latin typeface="Times New Roman" panose="02020603050405020304" pitchFamily="18" charset="0"/>
                <a:ea typeface="宋体" panose="02010600030101010101" pitchFamily="2" charset="-122"/>
              </a:rPr>
              <a:t>用抛物线过渡的线性插值</a:t>
            </a:r>
          </a:p>
        </p:txBody>
      </p:sp>
    </p:spTree>
    <p:extLst>
      <p:ext uri="{BB962C8B-B14F-4D97-AF65-F5344CB8AC3E}">
        <p14:creationId xmlns:p14="http://schemas.microsoft.com/office/powerpoint/2010/main" val="367650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13">
            <a:extLst>
              <a:ext uri="{FF2B5EF4-FFF2-40B4-BE49-F238E27FC236}">
                <a16:creationId xmlns:a16="http://schemas.microsoft.com/office/drawing/2014/main" id="{6D8CB817-B635-B5C2-FA4A-BF59FF4F8446}"/>
              </a:ext>
            </a:extLst>
          </p:cNvPr>
          <p:cNvSpPr txBox="1"/>
          <p:nvPr/>
        </p:nvSpPr>
        <p:spPr>
          <a:xfrm>
            <a:off x="800431" y="814379"/>
            <a:ext cx="10591138" cy="1938992"/>
          </a:xfrm>
          <a:prstGeom prst="rect">
            <a:avLst/>
          </a:prstGeom>
          <a:noFill/>
        </p:spPr>
        <p:txBody>
          <a:bodyPr wrap="square">
            <a:spAutoFit/>
          </a:bodyPr>
          <a:lstStyle/>
          <a:p>
            <a:pPr>
              <a:lnSpc>
                <a:spcPct val="200000"/>
              </a:lnSpc>
            </a:pPr>
            <a:r>
              <a:rPr lang="en-US" altLang="zh-CN" sz="2400" b="1"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．过路径点的用抛物线过渡的线性插值</a:t>
            </a:r>
          </a:p>
          <a:p>
            <a:r>
              <a:rPr lang="zh-CN" altLang="en-US" sz="2400" b="1" dirty="0">
                <a:latin typeface="微软雅黑" panose="020B0503020204020204" pitchFamily="34" charset="-122"/>
                <a:ea typeface="微软雅黑" panose="020B0503020204020204" pitchFamily="34" charset="-122"/>
              </a:rPr>
              <a:t>       如图</a:t>
            </a:r>
            <a:r>
              <a:rPr lang="en-US" altLang="zh-CN" sz="2400" b="1" dirty="0">
                <a:latin typeface="微软雅黑" panose="020B0503020204020204" pitchFamily="34" charset="-122"/>
                <a:ea typeface="微软雅黑" panose="020B0503020204020204" pitchFamily="34" charset="-122"/>
              </a:rPr>
              <a:t>5.12</a:t>
            </a:r>
            <a:r>
              <a:rPr lang="zh-CN" altLang="en-US" sz="2400" b="1" dirty="0">
                <a:latin typeface="微软雅黑" panose="020B0503020204020204" pitchFamily="34" charset="-122"/>
                <a:ea typeface="微软雅黑" panose="020B0503020204020204" pitchFamily="34" charset="-122"/>
              </a:rPr>
              <a:t>所示，某个关节在运动中设有 个路径点，其中三个相邻的路径点表示为 ， 和 ，每两个相邻的路径点之间都以线性函数相连，而所有的路径点附近则由抛物线过渡</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同样存在多解</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a:t>
            </a:r>
          </a:p>
        </p:txBody>
      </p:sp>
      <p:pic>
        <p:nvPicPr>
          <p:cNvPr id="15" name="图片 5">
            <a:extLst>
              <a:ext uri="{FF2B5EF4-FFF2-40B4-BE49-F238E27FC236}">
                <a16:creationId xmlns:a16="http://schemas.microsoft.com/office/drawing/2014/main" id="{F3A29998-99BE-6F6E-FFB0-1EECF5325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1575" y="2706696"/>
            <a:ext cx="4810125"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文本框 17">
            <a:extLst>
              <a:ext uri="{FF2B5EF4-FFF2-40B4-BE49-F238E27FC236}">
                <a16:creationId xmlns:a16="http://schemas.microsoft.com/office/drawing/2014/main" id="{21852063-E965-D1A7-656A-AD55D7450C76}"/>
              </a:ext>
            </a:extLst>
          </p:cNvPr>
          <p:cNvSpPr txBox="1"/>
          <p:nvPr/>
        </p:nvSpPr>
        <p:spPr>
          <a:xfrm>
            <a:off x="7076661" y="6043621"/>
            <a:ext cx="4810125" cy="369332"/>
          </a:xfrm>
          <a:prstGeom prst="rect">
            <a:avLst/>
          </a:prstGeom>
          <a:noFill/>
        </p:spPr>
        <p:txBody>
          <a:bodyPr wrap="square">
            <a:spAutoFit/>
          </a:bodyPr>
          <a:lstStyle/>
          <a:p>
            <a:r>
              <a:rPr lang="zh-CN" altLang="zh-CN" sz="1800" kern="1000" dirty="0">
                <a:effectLst/>
                <a:ea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5.12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过路径点的用抛物线过渡的线性插值</a:t>
            </a:r>
            <a:r>
              <a:rPr lang="zh-CN" altLang="zh-CN" sz="1800" kern="1000" dirty="0">
                <a:effectLst/>
                <a:ea typeface="Times New Roman" panose="02020603050405020304" pitchFamily="18" charset="0"/>
              </a:rPr>
              <a:t> </a:t>
            </a:r>
            <a:endParaRPr lang="zh-CN" altLang="en-US" dirty="0"/>
          </a:p>
        </p:txBody>
      </p:sp>
    </p:spTree>
    <p:extLst>
      <p:ext uri="{BB962C8B-B14F-4D97-AF65-F5344CB8AC3E}">
        <p14:creationId xmlns:p14="http://schemas.microsoft.com/office/powerpoint/2010/main" val="10059258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a:extLst>
              <a:ext uri="{FF2B5EF4-FFF2-40B4-BE49-F238E27FC236}">
                <a16:creationId xmlns:a16="http://schemas.microsoft.com/office/drawing/2014/main" id="{6108041D-6454-633E-15C1-C5BE3E0F9B22}"/>
              </a:ext>
            </a:extLst>
          </p:cNvPr>
          <p:cNvSpPr txBox="1"/>
          <p:nvPr/>
        </p:nvSpPr>
        <p:spPr>
          <a:xfrm>
            <a:off x="1009814" y="1143609"/>
            <a:ext cx="9939131" cy="1646605"/>
          </a:xfrm>
          <a:prstGeom prst="rect">
            <a:avLst/>
          </a:prstGeom>
          <a:noFill/>
        </p:spPr>
        <p:txBody>
          <a:bodyPr wrap="square">
            <a:spAutoFit/>
          </a:bodyPr>
          <a:lstStyle/>
          <a:p>
            <a:pPr algn="just">
              <a:spcBef>
                <a:spcPts val="600"/>
              </a:spcBef>
              <a:spcAft>
                <a:spcPts val="600"/>
              </a:spcAft>
            </a:pP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．带“伪节点”的线性插值</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当要求机器人通过某个节点且速度不为零时，常采用此方法。此方法在节点两端规定两个“伪节点”，令原节点在两伪节点的连线上，并位于两过渡域之间的线性域上，如图</a:t>
            </a:r>
            <a:r>
              <a:rPr lang="en-US" altLang="zh-CN" sz="2400" b="1" kern="1000" dirty="0">
                <a:effectLst/>
                <a:latin typeface="微软雅黑" panose="020B0503020204020204" pitchFamily="34" charset="-122"/>
                <a:ea typeface="微软雅黑" panose="020B0503020204020204" pitchFamily="34" charset="-122"/>
              </a:rPr>
              <a:t>5.13</a:t>
            </a:r>
            <a:r>
              <a:rPr lang="zh-CN" altLang="zh-CN" sz="2400" b="1" kern="1000" dirty="0">
                <a:effectLst/>
                <a:latin typeface="微软雅黑" panose="020B0503020204020204" pitchFamily="34" charset="-122"/>
                <a:ea typeface="微软雅黑" panose="020B0503020204020204" pitchFamily="34" charset="-122"/>
              </a:rPr>
              <a:t>所示。</a:t>
            </a:r>
          </a:p>
        </p:txBody>
      </p:sp>
      <p:pic>
        <p:nvPicPr>
          <p:cNvPr id="6" name="图片 4">
            <a:extLst>
              <a:ext uri="{FF2B5EF4-FFF2-40B4-BE49-F238E27FC236}">
                <a16:creationId xmlns:a16="http://schemas.microsoft.com/office/drawing/2014/main" id="{731FF4E5-139C-96FB-7D97-7C299D1C65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1286" y="2790214"/>
            <a:ext cx="4608512" cy="334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E22772DE-8742-2BD3-F585-C3716CDCED8F}"/>
              </a:ext>
            </a:extLst>
          </p:cNvPr>
          <p:cNvSpPr txBox="1"/>
          <p:nvPr/>
        </p:nvSpPr>
        <p:spPr>
          <a:xfrm>
            <a:off x="7370859" y="5950411"/>
            <a:ext cx="3673503"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5.13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带“伪节点”的线性插值</a:t>
            </a:r>
            <a:endParaRPr lang="zh-CN" altLang="en-US" dirty="0"/>
          </a:p>
        </p:txBody>
      </p:sp>
    </p:spTree>
    <p:extLst>
      <p:ext uri="{BB962C8B-B14F-4D97-AF65-F5344CB8AC3E}">
        <p14:creationId xmlns:p14="http://schemas.microsoft.com/office/powerpoint/2010/main" val="39015289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a:extLst>
              <a:ext uri="{FF2B5EF4-FFF2-40B4-BE49-F238E27FC236}">
                <a16:creationId xmlns:a16="http://schemas.microsoft.com/office/drawing/2014/main" id="{5222F595-B967-4FCC-C0E4-92BF7A4DF046}"/>
              </a:ext>
            </a:extLst>
          </p:cNvPr>
          <p:cNvSpPr txBox="1"/>
          <p:nvPr/>
        </p:nvSpPr>
        <p:spPr>
          <a:xfrm>
            <a:off x="1062824" y="930302"/>
            <a:ext cx="10066351" cy="5262979"/>
          </a:xfrm>
          <a:prstGeom prst="rect">
            <a:avLst/>
          </a:prstGeom>
          <a:noFill/>
        </p:spPr>
        <p:txBody>
          <a:bodyPr wrap="square">
            <a:spAutoFit/>
          </a:bodyPr>
          <a:lstStyle/>
          <a:p>
            <a:pPr>
              <a:lnSpc>
                <a:spcPct val="200000"/>
              </a:lnSpc>
            </a:pPr>
            <a:r>
              <a:rPr lang="en-US" altLang="zh-CN" sz="2400" b="1" dirty="0">
                <a:latin typeface="微软雅黑" panose="020B0503020204020204" pitchFamily="34" charset="-122"/>
                <a:ea typeface="微软雅黑" panose="020B0503020204020204" pitchFamily="34" charset="-122"/>
              </a:rPr>
              <a:t>5.4.2  </a:t>
            </a:r>
            <a:r>
              <a:rPr lang="zh-CN" altLang="en-US" sz="2400" b="1" dirty="0">
                <a:latin typeface="微软雅黑" panose="020B0503020204020204" pitchFamily="34" charset="-122"/>
                <a:ea typeface="微软雅黑" panose="020B0503020204020204" pitchFamily="34" charset="-122"/>
              </a:rPr>
              <a:t>机器人步态生成方法</a:t>
            </a:r>
          </a:p>
          <a:p>
            <a:r>
              <a:rPr lang="zh-CN" altLang="en-US" sz="2400" b="1" dirty="0">
                <a:latin typeface="微软雅黑" panose="020B0503020204020204" pitchFamily="34" charset="-122"/>
                <a:ea typeface="微软雅黑" panose="020B0503020204020204" pitchFamily="34" charset="-122"/>
              </a:rPr>
              <a:t>       向前行走是四足机器人移动控制最基本的问题，其他行走方式均为向前行走的扩展，最常见的是基于足端轨迹规划的向前行走方法，首先规划足端运动轨迹，然后使用逆运动学计算各个关节角度，最后使用伺服控制器实现关节位置伺服。足端轨迹多种多样，基本的轨迹规划方法都具有以下特点：</a:t>
            </a:r>
          </a:p>
          <a:p>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轨迹连续；</a:t>
            </a:r>
          </a:p>
          <a:p>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速度连续；</a:t>
            </a:r>
          </a:p>
          <a:p>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摆动腿在触地前即开始后撤；</a:t>
            </a:r>
          </a:p>
          <a:p>
            <a:r>
              <a:rPr lang="en-US" altLang="zh-CN" sz="2400" b="1"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支撑腿在离地后仍后撤一段距离；</a:t>
            </a:r>
          </a:p>
          <a:p>
            <a:r>
              <a:rPr lang="en-US" altLang="zh-CN" sz="2400" b="1" dirty="0">
                <a:latin typeface="微软雅黑" panose="020B0503020204020204" pitchFamily="34" charset="-122"/>
                <a:ea typeface="微软雅黑" panose="020B0503020204020204" pitchFamily="34" charset="-122"/>
              </a:rPr>
              <a:t>(5)</a:t>
            </a:r>
            <a:r>
              <a:rPr lang="zh-CN" altLang="en-US" sz="2400" b="1" dirty="0">
                <a:latin typeface="微软雅黑" panose="020B0503020204020204" pitchFamily="34" charset="-122"/>
                <a:ea typeface="微软雅黑" panose="020B0503020204020204" pitchFamily="34" charset="-122"/>
              </a:rPr>
              <a:t>支撑相速度基本恒定。</a:t>
            </a:r>
          </a:p>
          <a:p>
            <a:r>
              <a:rPr lang="zh-CN" altLang="en-US" sz="2400" b="1" dirty="0">
                <a:latin typeface="微软雅黑" panose="020B0503020204020204" pitchFamily="34" charset="-122"/>
                <a:ea typeface="微软雅黑" panose="020B0503020204020204" pitchFamily="34" charset="-122"/>
              </a:rPr>
              <a:t>       常见的四足机器人的步态生成方法有三次曲线法、复合摆线法、改进复合摆线法和三次贝塞尔曲线规划法等。</a:t>
            </a:r>
          </a:p>
        </p:txBody>
      </p:sp>
    </p:spTree>
    <p:extLst>
      <p:ext uri="{BB962C8B-B14F-4D97-AF65-F5344CB8AC3E}">
        <p14:creationId xmlns:p14="http://schemas.microsoft.com/office/powerpoint/2010/main" val="1310423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a:extLst>
              <a:ext uri="{FF2B5EF4-FFF2-40B4-BE49-F238E27FC236}">
                <a16:creationId xmlns:a16="http://schemas.microsoft.com/office/drawing/2014/main" id="{50D321CD-A187-C97E-68A3-284D27825B8B}"/>
              </a:ext>
            </a:extLst>
          </p:cNvPr>
          <p:cNvSpPr txBox="1"/>
          <p:nvPr/>
        </p:nvSpPr>
        <p:spPr>
          <a:xfrm>
            <a:off x="850788" y="810145"/>
            <a:ext cx="10209473" cy="3416320"/>
          </a:xfrm>
          <a:prstGeom prst="rect">
            <a:avLst/>
          </a:prstGeom>
          <a:noFill/>
        </p:spPr>
        <p:txBody>
          <a:bodyPr wrap="square">
            <a:spAutoFit/>
          </a:bodyPr>
          <a:lstStyle/>
          <a:p>
            <a:pPr>
              <a:lnSpc>
                <a:spcPct val="200000"/>
              </a:lnSpc>
            </a:pP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．三次曲线法</a:t>
            </a:r>
          </a:p>
          <a:p>
            <a:r>
              <a:rPr lang="zh-CN" altLang="en-US" sz="2400" b="1" dirty="0">
                <a:latin typeface="微软雅黑" panose="020B0503020204020204" pitchFamily="34" charset="-122"/>
                <a:ea typeface="微软雅黑" panose="020B0503020204020204" pitchFamily="34" charset="-122"/>
              </a:rPr>
              <a:t>       在三次曲线法中，利用三次多项式对机器人的步态进行规划。在机器人的步态规划中，为了降低步态规划的难度，一般分别单独规划前进方向</a:t>
            </a:r>
            <a:r>
              <a:rPr lang="en-US" altLang="zh-CN" sz="2400" b="1" dirty="0">
                <a:latin typeface="微软雅黑" panose="020B0503020204020204" pitchFamily="34" charset="-122"/>
                <a:ea typeface="微软雅黑" panose="020B0503020204020204" pitchFamily="34" charset="-122"/>
              </a:rPr>
              <a:t>(x</a:t>
            </a:r>
            <a:r>
              <a:rPr lang="zh-CN" altLang="en-US" sz="2400" b="1" dirty="0">
                <a:latin typeface="微软雅黑" panose="020B0503020204020204" pitchFamily="34" charset="-122"/>
                <a:ea typeface="微软雅黑" panose="020B0503020204020204" pitchFamily="34" charset="-122"/>
              </a:rPr>
              <a:t>轴</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和上下方向</a:t>
            </a:r>
            <a:r>
              <a:rPr lang="en-US" altLang="zh-CN" sz="2400" b="1" dirty="0">
                <a:latin typeface="微软雅黑" panose="020B0503020204020204" pitchFamily="34" charset="-122"/>
                <a:ea typeface="微软雅黑" panose="020B0503020204020204" pitchFamily="34" charset="-122"/>
              </a:rPr>
              <a:t>(z</a:t>
            </a:r>
            <a:r>
              <a:rPr lang="zh-CN" altLang="en-US" sz="2400" b="1" dirty="0">
                <a:latin typeface="微软雅黑" panose="020B0503020204020204" pitchFamily="34" charset="-122"/>
                <a:ea typeface="微软雅黑" panose="020B0503020204020204" pitchFamily="34" charset="-122"/>
              </a:rPr>
              <a:t>轴</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的足端运动轨迹，其中</a:t>
            </a:r>
            <a:r>
              <a:rPr lang="en-US" altLang="zh-CN" sz="2400" b="1" dirty="0">
                <a:latin typeface="微软雅黑" panose="020B0503020204020204" pitchFamily="34" charset="-122"/>
                <a:ea typeface="微软雅黑" panose="020B0503020204020204" pitchFamily="34" charset="-122"/>
              </a:rPr>
              <a:t>x</a:t>
            </a:r>
            <a:r>
              <a:rPr lang="zh-CN" altLang="en-US" sz="2400" b="1" dirty="0">
                <a:latin typeface="微软雅黑" panose="020B0503020204020204" pitchFamily="34" charset="-122"/>
                <a:ea typeface="微软雅黑" panose="020B0503020204020204" pitchFamily="34" charset="-122"/>
              </a:rPr>
              <a:t>轴方向实现足端的前后摆动，</a:t>
            </a:r>
            <a:r>
              <a:rPr lang="en-US" altLang="zh-CN" sz="2400" b="1" dirty="0">
                <a:latin typeface="微软雅黑" panose="020B0503020204020204" pitchFamily="34" charset="-122"/>
                <a:ea typeface="微软雅黑" panose="020B0503020204020204" pitchFamily="34" charset="-122"/>
              </a:rPr>
              <a:t>z</a:t>
            </a:r>
            <a:r>
              <a:rPr lang="zh-CN" altLang="en-US" sz="2400" b="1" dirty="0">
                <a:latin typeface="微软雅黑" panose="020B0503020204020204" pitchFamily="34" charset="-122"/>
                <a:ea typeface="微软雅黑" panose="020B0503020204020204" pitchFamily="34" charset="-122"/>
              </a:rPr>
              <a:t>轴方向实现足端的抬落。</a:t>
            </a:r>
          </a:p>
          <a:p>
            <a:r>
              <a:rPr lang="zh-CN" altLang="en-US" sz="2400" b="1" dirty="0">
                <a:latin typeface="微软雅黑" panose="020B0503020204020204" pitchFamily="34" charset="-122"/>
                <a:ea typeface="微软雅黑" panose="020B0503020204020204" pitchFamily="34" charset="-122"/>
              </a:rPr>
              <a:t>在</a:t>
            </a:r>
            <a:r>
              <a:rPr lang="en-US" altLang="zh-CN" sz="2400" b="1" dirty="0">
                <a:latin typeface="微软雅黑" panose="020B0503020204020204" pitchFamily="34" charset="-122"/>
                <a:ea typeface="微软雅黑" panose="020B0503020204020204" pitchFamily="34" charset="-122"/>
              </a:rPr>
              <a:t>x</a:t>
            </a:r>
            <a:r>
              <a:rPr lang="zh-CN" altLang="en-US" sz="2400" b="1" dirty="0">
                <a:latin typeface="微软雅黑" panose="020B0503020204020204" pitchFamily="34" charset="-122"/>
                <a:ea typeface="微软雅黑" panose="020B0503020204020204" pitchFamily="34" charset="-122"/>
              </a:rPr>
              <a:t>轴方向的步态运动中，分为支撑相和摆动相，前半个周期</a:t>
            </a:r>
            <a:r>
              <a:rPr lang="en-US" altLang="zh-CN" sz="2400" b="1" dirty="0">
                <a:latin typeface="微软雅黑" panose="020B0503020204020204" pitchFamily="34" charset="-122"/>
                <a:ea typeface="微软雅黑" panose="020B0503020204020204" pitchFamily="34" charset="-122"/>
              </a:rPr>
              <a:t>[0,0.5T]</a:t>
            </a:r>
            <a:r>
              <a:rPr lang="zh-CN" altLang="en-US" sz="2400" b="1" dirty="0">
                <a:latin typeface="微软雅黑" panose="020B0503020204020204" pitchFamily="34" charset="-122"/>
                <a:ea typeface="微软雅黑" panose="020B0503020204020204" pitchFamily="34" charset="-122"/>
              </a:rPr>
              <a:t>为支撑相，后半个周期</a:t>
            </a:r>
            <a:r>
              <a:rPr lang="en-US" altLang="zh-CN" sz="2400" b="1" dirty="0">
                <a:latin typeface="微软雅黑" panose="020B0503020204020204" pitchFamily="34" charset="-122"/>
                <a:ea typeface="微软雅黑" panose="020B0503020204020204" pitchFamily="34" charset="-122"/>
              </a:rPr>
              <a:t>(0.5T,T)</a:t>
            </a:r>
            <a:r>
              <a:rPr lang="zh-CN" altLang="en-US" sz="2400" b="1" dirty="0">
                <a:latin typeface="微软雅黑" panose="020B0503020204020204" pitchFamily="34" charset="-122"/>
                <a:ea typeface="微软雅黑" panose="020B0503020204020204" pitchFamily="34" charset="-122"/>
              </a:rPr>
              <a:t>为摆动相。支撑相的足端轨迹为直线，摆动相使用三次多项式曲线，其运动曲线单位化之后的表示公式如下</a:t>
            </a:r>
          </a:p>
        </p:txBody>
      </p:sp>
      <p:sp>
        <p:nvSpPr>
          <p:cNvPr id="11" name="文本框 10">
            <a:extLst>
              <a:ext uri="{FF2B5EF4-FFF2-40B4-BE49-F238E27FC236}">
                <a16:creationId xmlns:a16="http://schemas.microsoft.com/office/drawing/2014/main" id="{F544B491-14E1-1D21-F21B-4F2C40B59FF5}"/>
              </a:ext>
            </a:extLst>
          </p:cNvPr>
          <p:cNvSpPr txBox="1"/>
          <p:nvPr/>
        </p:nvSpPr>
        <p:spPr>
          <a:xfrm>
            <a:off x="3061252" y="3198614"/>
            <a:ext cx="6122504" cy="369332"/>
          </a:xfrm>
          <a:prstGeom prst="rect">
            <a:avLst/>
          </a:prstGeom>
          <a:noFill/>
        </p:spPr>
        <p:txBody>
          <a:bodyPr wrap="square">
            <a:spAutoFit/>
          </a:bodyPr>
          <a:lstStyle/>
          <a:p>
            <a:r>
              <a:rPr lang="zh-CN" altLang="en-US" dirty="0"/>
              <a:t> 	</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D92B542-FFA8-5F9B-1CC3-03AE5BEA95CA}"/>
                  </a:ext>
                </a:extLst>
              </p:cNvPr>
              <p:cNvSpPr txBox="1"/>
              <p:nvPr/>
            </p:nvSpPr>
            <p:spPr>
              <a:xfrm>
                <a:off x="1864577" y="4438532"/>
                <a:ext cx="8181893" cy="1232004"/>
              </a:xfrm>
              <a:prstGeom prst="rect">
                <a:avLst/>
              </a:prstGeom>
              <a:noFill/>
            </p:spPr>
            <p:txBody>
              <a:bodyPr wrap="square">
                <a:spAutoFit/>
              </a:bodyPr>
              <a:lstStyle/>
              <a:p>
                <a14:m>
                  <m:oMath xmlns:m="http://schemas.openxmlformats.org/officeDocument/2006/math">
                    <m:d>
                      <m:dPr>
                        <m:begChr m:val="{"/>
                        <m:endChr m:val=""/>
                        <m:ctrlPr>
                          <a:rPr lang="zh-CN" altLang="zh-CN" sz="2000" b="1" i="1" smtClean="0">
                            <a:effectLst/>
                            <a:latin typeface="Cambria Math" panose="02040503050406030204" pitchFamily="18" charset="0"/>
                            <a:ea typeface="Cambria Math" panose="02040503050406030204" pitchFamily="18" charset="0"/>
                          </a:rPr>
                        </m:ctrlPr>
                      </m:dPr>
                      <m:e>
                        <m:m>
                          <m:mPr>
                            <m:mcs>
                              <m:mc>
                                <m:mcPr>
                                  <m:count m:val="2"/>
                                  <m:mcJc m:val="center"/>
                                </m:mcPr>
                              </m:mc>
                            </m:mcs>
                            <m:ctrlPr>
                              <a:rPr lang="zh-CN" altLang="zh-CN" sz="2000" b="1" i="1">
                                <a:effectLst/>
                                <a:latin typeface="Cambria Math" panose="02040503050406030204" pitchFamily="18" charset="0"/>
                                <a:ea typeface="Cambria Math" panose="02040503050406030204" pitchFamily="18" charset="0"/>
                              </a:rPr>
                            </m:ctrlPr>
                          </m:mPr>
                          <m:m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𝒙</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𝑺</m:t>
                              </m:r>
                              <m:r>
                                <a:rPr lang="en-US" altLang="zh-CN" sz="2000" b="1" i="1" kern="1000">
                                  <a:effectLst/>
                                  <a:latin typeface="Cambria Math" panose="02040503050406030204" pitchFamily="18" charset="0"/>
                                  <a:ea typeface="宋体" panose="02010600030101010101" pitchFamily="2" charset="-122"/>
                                </a:rPr>
                                <m:t>×</m:t>
                              </m:r>
                              <m:d>
                                <m:dPr>
                                  <m:ctrlPr>
                                    <a:rPr lang="zh-CN" altLang="zh-CN" sz="2000" b="1" i="1">
                                      <a:effectLst/>
                                      <a:latin typeface="Cambria Math" panose="02040503050406030204" pitchFamily="18" charset="0"/>
                                      <a:ea typeface="Cambria Math" panose="02040503050406030204" pitchFamily="18" charset="0"/>
                                    </a:rPr>
                                  </m:ctrlPr>
                                </m:d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2000" b="1" i="1" kern="1000">
                                      <a:effectLst/>
                                      <a:latin typeface="Cambria Math" panose="02040503050406030204" pitchFamily="18" charset="0"/>
                                      <a:ea typeface="宋体" panose="02010600030101010101" pitchFamily="2" charset="-122"/>
                                    </a:rPr>
                                    <m:t>−</m:t>
                                  </m:r>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𝟒</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num>
                                    <m:den>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den>
                                  </m:f>
                                </m:e>
                              </m:d>
                            </m:e>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zh-CN" altLang="zh-CN" sz="2000" b="1" i="1" kern="10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𝟓</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e>
                          </m:mr>
                          <m:m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𝒙</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𝑺</m:t>
                              </m:r>
                              <m:r>
                                <a:rPr lang="en-US" altLang="zh-CN" sz="2000" b="1" i="1" kern="1000">
                                  <a:effectLst/>
                                  <a:latin typeface="Cambria Math" panose="02040503050406030204" pitchFamily="18" charset="0"/>
                                  <a:ea typeface="宋体" panose="02010600030101010101" pitchFamily="2" charset="-122"/>
                                </a:rPr>
                                <m:t>×</m:t>
                              </m:r>
                              <m:d>
                                <m:dPr>
                                  <m:ctrlPr>
                                    <a:rPr lang="zh-CN" altLang="zh-CN" sz="2000" b="1" i="1">
                                      <a:effectLst/>
                                      <a:latin typeface="Cambria Math" panose="02040503050406030204" pitchFamily="18" charset="0"/>
                                      <a:ea typeface="Cambria Math" panose="02040503050406030204" pitchFamily="18" charset="0"/>
                                    </a:rPr>
                                  </m:ctrlPr>
                                </m:dPr>
                                <m:e>
                                  <m:r>
                                    <a:rPr lang="en-US" altLang="zh-CN" sz="2000" b="1" i="1" kern="1000">
                                      <a:effectLst/>
                                      <a:latin typeface="Cambria Math" panose="02040503050406030204" pitchFamily="18" charset="0"/>
                                      <a:ea typeface="宋体" panose="02010600030101010101" pitchFamily="2" charset="-122"/>
                                    </a:rPr>
                                    <m:t>−</m:t>
                                  </m:r>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𝟔𝟒</m:t>
                                      </m:r>
                                      <m:sSup>
                                        <m:sSupPr>
                                          <m:ctrlPr>
                                            <a:rPr lang="zh-CN" altLang="zh-CN" sz="2000" b="1" i="1">
                                              <a:effectLst/>
                                              <a:latin typeface="Cambria Math" panose="02040503050406030204" pitchFamily="18" charset="0"/>
                                              <a:ea typeface="Cambria Math" panose="02040503050406030204" pitchFamily="18" charset="0"/>
                                            </a:rPr>
                                          </m:ctrlPr>
                                        </m:sSup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e>
                                        <m: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𝟑</m:t>
                                          </m:r>
                                        </m:sup>
                                      </m:sSup>
                                    </m:num>
                                    <m:den>
                                      <m:sSup>
                                        <m:sSupPr>
                                          <m:ctrlPr>
                                            <a:rPr lang="zh-CN" altLang="zh-CN" sz="2000" b="1" i="1">
                                              <a:effectLst/>
                                              <a:latin typeface="Cambria Math" panose="02040503050406030204" pitchFamily="18" charset="0"/>
                                              <a:ea typeface="Cambria Math" panose="02040503050406030204" pitchFamily="18" charset="0"/>
                                            </a:rPr>
                                          </m:ctrlPr>
                                        </m:sSup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e>
                                        <m: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𝟑</m:t>
                                          </m:r>
                                        </m:sup>
                                      </m:sSup>
                                    </m:den>
                                  </m:f>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𝟏𝟒𝟒</m:t>
                                      </m:r>
                                      <m:sSup>
                                        <m:sSupPr>
                                          <m:ctrlPr>
                                            <a:rPr lang="zh-CN" altLang="zh-CN" sz="2000" b="1" i="1">
                                              <a:effectLst/>
                                              <a:latin typeface="Cambria Math" panose="02040503050406030204" pitchFamily="18" charset="0"/>
                                              <a:ea typeface="Cambria Math" panose="02040503050406030204" pitchFamily="18" charset="0"/>
                                            </a:rPr>
                                          </m:ctrlPr>
                                        </m:sSup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e>
                                        <m: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𝟐</m:t>
                                          </m:r>
                                        </m:sup>
                                      </m:sSup>
                                    </m:num>
                                    <m:den>
                                      <m:sSup>
                                        <m:sSupPr>
                                          <m:ctrlPr>
                                            <a:rPr lang="zh-CN" altLang="zh-CN" sz="2000" b="1" i="1">
                                              <a:effectLst/>
                                              <a:latin typeface="Cambria Math" panose="02040503050406030204" pitchFamily="18" charset="0"/>
                                              <a:ea typeface="Cambria Math" panose="02040503050406030204" pitchFamily="18" charset="0"/>
                                            </a:rPr>
                                          </m:ctrlPr>
                                        </m:sSup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e>
                                        <m: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𝟐</m:t>
                                          </m:r>
                                        </m:sup>
                                      </m:sSup>
                                    </m:den>
                                  </m:f>
                                  <m:r>
                                    <a:rPr lang="en-US" altLang="zh-CN" sz="2000" b="1" i="1" kern="1000">
                                      <a:effectLst/>
                                      <a:latin typeface="Cambria Math" panose="02040503050406030204" pitchFamily="18" charset="0"/>
                                      <a:ea typeface="宋体" panose="02010600030101010101" pitchFamily="2" charset="-122"/>
                                    </a:rPr>
                                    <m:t>−</m:t>
                                  </m:r>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𝟏𝟎𝟎</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num>
                                    <m:den>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den>
                                  </m:f>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𝟐𝟏</m:t>
                                  </m:r>
                                </m:e>
                              </m:d>
                            </m:e>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zh-CN" altLang="zh-CN" sz="2000" b="1" i="1" kern="100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𝟓</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e>
                          </m:mr>
                        </m:m>
                      </m:e>
                    </m:d>
                  </m:oMath>
                </a14:m>
                <a:r>
                  <a:rPr lang="en-US" altLang="zh-CN" sz="2000" b="1" kern="1000" dirty="0">
                    <a:effectLst/>
                    <a:latin typeface="宋体" panose="02010600030101010101" pitchFamily="2" charset="-122"/>
                    <a:cs typeface="Times New Roman" panose="02020603050405020304" pitchFamily="18" charset="0"/>
                  </a:rPr>
                  <a:t>        (</a:t>
                </a:r>
                <a:r>
                  <a:rPr lang="en-US" altLang="zh-CN" sz="2000" b="1" kern="1000" dirty="0">
                    <a:effectLst/>
                    <a:latin typeface="Times New Roman" panose="02020603050405020304" pitchFamily="18" charset="0"/>
                    <a:ea typeface="宋体" panose="02010600030101010101" pitchFamily="2" charset="-122"/>
                  </a:rPr>
                  <a:t>5.4</a:t>
                </a:r>
                <a:r>
                  <a:rPr lang="en-US" altLang="zh-CN" sz="2000" b="1" kern="1000" dirty="0">
                    <a:effectLst/>
                    <a:latin typeface="宋体" panose="02010600030101010101" pitchFamily="2" charset="-122"/>
                    <a:cs typeface="Times New Roman" panose="02020603050405020304" pitchFamily="18" charset="0"/>
                  </a:rPr>
                  <a:t>)</a:t>
                </a:r>
                <a:endParaRPr lang="zh-CN" altLang="en-US" sz="2000" b="1" dirty="0"/>
              </a:p>
            </p:txBody>
          </p:sp>
        </mc:Choice>
        <mc:Fallback xmlns="">
          <p:sp>
            <p:nvSpPr>
              <p:cNvPr id="18" name="文本框 17">
                <a:extLst>
                  <a:ext uri="{FF2B5EF4-FFF2-40B4-BE49-F238E27FC236}">
                    <a16:creationId xmlns:a16="http://schemas.microsoft.com/office/drawing/2014/main" id="{2D92B542-FFA8-5F9B-1CC3-03AE5BEA95CA}"/>
                  </a:ext>
                </a:extLst>
              </p:cNvPr>
              <p:cNvSpPr txBox="1">
                <a:spLocks noRot="1" noChangeAspect="1" noMove="1" noResize="1" noEditPoints="1" noAdjustHandles="1" noChangeArrowheads="1" noChangeShapeType="1" noTextEdit="1"/>
              </p:cNvSpPr>
              <p:nvPr/>
            </p:nvSpPr>
            <p:spPr>
              <a:xfrm>
                <a:off x="1864577" y="4438532"/>
                <a:ext cx="8181893" cy="1232004"/>
              </a:xfrm>
              <a:prstGeom prst="rect">
                <a:avLst/>
              </a:prstGeom>
              <a:blipFill>
                <a:blip r:embed="rId2"/>
                <a:stretch>
                  <a:fillRect/>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9DC930AD-C47E-C890-56C3-F8485C42A8D0}"/>
              </a:ext>
            </a:extLst>
          </p:cNvPr>
          <p:cNvSpPr txBox="1"/>
          <p:nvPr/>
        </p:nvSpPr>
        <p:spPr>
          <a:xfrm>
            <a:off x="850788" y="5671792"/>
            <a:ext cx="10209473" cy="830997"/>
          </a:xfrm>
          <a:prstGeom prst="rect">
            <a:avLst/>
          </a:prstGeom>
          <a:noFill/>
        </p:spPr>
        <p:txBody>
          <a:bodyPr wrap="square">
            <a:spAutoFit/>
          </a:bodyPr>
          <a:lstStyle/>
          <a:p>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式中，</a:t>
            </a:r>
            <a:r>
              <a:rPr lang="en-US" altLang="zh-CN" sz="2400" b="1" i="1" kern="1000" dirty="0">
                <a:effectLst/>
                <a:latin typeface="微软雅黑" panose="020B0503020204020204" pitchFamily="34" charset="-122"/>
                <a:ea typeface="微软雅黑" panose="020B0503020204020204" pitchFamily="34" charset="-122"/>
              </a:rPr>
              <a:t>S </a:t>
            </a:r>
            <a:r>
              <a:rPr lang="zh-CN" altLang="zh-CN" sz="2400" b="1" kern="1000" dirty="0">
                <a:effectLst/>
                <a:latin typeface="微软雅黑" panose="020B0503020204020204" pitchFamily="34" charset="-122"/>
                <a:ea typeface="微软雅黑" panose="020B0503020204020204" pitchFamily="34" charset="-122"/>
              </a:rPr>
              <a:t>表示四足机器人行走过程中的腿摆幅，</a:t>
            </a:r>
            <a:r>
              <a:rPr lang="en-US" altLang="zh-CN" sz="2400" b="1" i="1" kern="1000" dirty="0">
                <a:effectLst/>
                <a:latin typeface="微软雅黑" panose="020B0503020204020204" pitchFamily="34" charset="-122"/>
                <a:ea typeface="微软雅黑" panose="020B0503020204020204" pitchFamily="34" charset="-122"/>
              </a:rPr>
              <a:t>t </a:t>
            </a:r>
            <a:r>
              <a:rPr lang="zh-CN" altLang="zh-CN" sz="2400" b="1" kern="1000" dirty="0">
                <a:effectLst/>
                <a:latin typeface="微软雅黑" panose="020B0503020204020204" pitchFamily="34" charset="-122"/>
                <a:ea typeface="微软雅黑" panose="020B0503020204020204" pitchFamily="34" charset="-122"/>
              </a:rPr>
              <a:t>是当前周期流逝的时间，</a:t>
            </a:r>
            <a:r>
              <a:rPr lang="en-US" altLang="zh-CN" sz="2400" b="1" i="1" kern="1000" dirty="0">
                <a:effectLst/>
                <a:latin typeface="微软雅黑" panose="020B0503020204020204" pitchFamily="34" charset="-122"/>
                <a:ea typeface="微软雅黑" panose="020B0503020204020204" pitchFamily="34" charset="-122"/>
              </a:rPr>
              <a:t>T </a:t>
            </a:r>
            <a:r>
              <a:rPr lang="zh-CN" altLang="zh-CN" sz="2400" b="1" kern="1000" dirty="0">
                <a:effectLst/>
                <a:latin typeface="微软雅黑" panose="020B0503020204020204" pitchFamily="34" charset="-122"/>
                <a:ea typeface="微软雅黑" panose="020B0503020204020204" pitchFamily="34" charset="-122"/>
              </a:rPr>
              <a:t>表示一个完整步态周期总时间。</a:t>
            </a:r>
            <a:endParaRPr lang="zh-CN" altLang="en-US" sz="2400" dirty="0"/>
          </a:p>
        </p:txBody>
      </p:sp>
    </p:spTree>
    <p:extLst>
      <p:ext uri="{BB962C8B-B14F-4D97-AF65-F5344CB8AC3E}">
        <p14:creationId xmlns:p14="http://schemas.microsoft.com/office/powerpoint/2010/main" val="16578339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a:extLst>
              <a:ext uri="{FF2B5EF4-FFF2-40B4-BE49-F238E27FC236}">
                <a16:creationId xmlns:a16="http://schemas.microsoft.com/office/drawing/2014/main" id="{0B0C5783-919F-8D6F-1461-54E516D7ECF7}"/>
              </a:ext>
            </a:extLst>
          </p:cNvPr>
          <p:cNvSpPr txBox="1"/>
          <p:nvPr/>
        </p:nvSpPr>
        <p:spPr>
          <a:xfrm>
            <a:off x="628154" y="1288110"/>
            <a:ext cx="10630894" cy="1200329"/>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在</a:t>
            </a:r>
            <a:r>
              <a:rPr lang="en-US" altLang="zh-CN" sz="2400" b="1" kern="1000" dirty="0">
                <a:effectLst/>
                <a:latin typeface="微软雅黑" panose="020B0503020204020204" pitchFamily="34" charset="-122"/>
                <a:ea typeface="微软雅黑" panose="020B0503020204020204" pitchFamily="34" charset="-122"/>
              </a:rPr>
              <a:t> </a:t>
            </a:r>
            <a:r>
              <a:rPr lang="en-US" altLang="zh-CN" sz="2400" b="1" i="1" kern="1000" dirty="0">
                <a:effectLst/>
                <a:latin typeface="微软雅黑" panose="020B0503020204020204" pitchFamily="34" charset="-122"/>
                <a:ea typeface="微软雅黑" panose="020B0503020204020204" pitchFamily="34" charset="-122"/>
              </a:rPr>
              <a:t>z </a:t>
            </a:r>
            <a:r>
              <a:rPr lang="zh-CN" altLang="zh-CN" sz="2400" b="1" kern="1000" dirty="0">
                <a:effectLst/>
                <a:latin typeface="微软雅黑" panose="020B0503020204020204" pitchFamily="34" charset="-122"/>
                <a:ea typeface="微软雅黑" panose="020B0503020204020204" pitchFamily="34" charset="-122"/>
              </a:rPr>
              <a:t>轴方向的步态运动中，也分为支撑相和摆动相，其中支撑相速度为恒定值，摆动相可以使用比较简单的曲线</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如正弦或者余弦曲线</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，其中使用余弦曲线的公式可表示为</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51F0B28-D648-FAD9-7602-77D7B6828A1F}"/>
                  </a:ext>
                </a:extLst>
              </p:cNvPr>
              <p:cNvSpPr txBox="1"/>
              <p:nvPr/>
            </p:nvSpPr>
            <p:spPr>
              <a:xfrm>
                <a:off x="1445375" y="2777631"/>
                <a:ext cx="6122504" cy="12959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000" b="1" i="1" smtClean="0">
                              <a:solidFill>
                                <a:srgbClr val="836967"/>
                              </a:solidFill>
                              <a:latin typeface="Cambria Math" panose="02040503050406030204" pitchFamily="18" charset="0"/>
                            </a:rPr>
                          </m:ctrlPr>
                        </m:dPr>
                        <m:e>
                          <m:m>
                            <m:mPr>
                              <m:plcHide m:val="on"/>
                              <m:mcs>
                                <m:mc>
                                  <m:mcPr>
                                    <m:count m:val="2"/>
                                    <m:mcJc m:val="center"/>
                                  </m:mcPr>
                                </m:mc>
                              </m:mcs>
                              <m:ctrlPr>
                                <a:rPr lang="zh-CN" altLang="en-US" sz="2000" b="1" i="1">
                                  <a:solidFill>
                                    <a:srgbClr val="836967"/>
                                  </a:solidFill>
                                  <a:latin typeface="Cambria Math" panose="02040503050406030204" pitchFamily="18" charset="0"/>
                                </a:rPr>
                              </m:ctrlPr>
                            </m:mPr>
                            <m:mr>
                              <m:e>
                                <m:r>
                                  <a:rPr lang="zh-CN" altLang="en-US" sz="2000" b="1" i="1">
                                    <a:latin typeface="Cambria Math" panose="02040503050406030204" pitchFamily="18" charset="0"/>
                                  </a:rPr>
                                  <m:t>𝒛</m:t>
                                </m:r>
                                <m:d>
                                  <m:dPr>
                                    <m:ctrlPr>
                                      <a:rPr lang="zh-CN" altLang="en-US" sz="2000" b="1" i="1">
                                        <a:latin typeface="Cambria Math" panose="02040503050406030204" pitchFamily="18" charset="0"/>
                                      </a:rPr>
                                    </m:ctrlPr>
                                  </m:dPr>
                                  <m:e>
                                    <m:r>
                                      <a:rPr lang="zh-CN" altLang="en-US" sz="2000" b="1" i="1">
                                        <a:latin typeface="Cambria Math" panose="02040503050406030204" pitchFamily="18" charset="0"/>
                                      </a:rPr>
                                      <m:t>𝒕</m:t>
                                    </m:r>
                                  </m:e>
                                </m:d>
                                <m:r>
                                  <a:rPr lang="zh-CN" altLang="en-US" sz="2000" b="1" i="0">
                                    <a:latin typeface="Cambria Math" panose="02040503050406030204" pitchFamily="18" charset="0"/>
                                  </a:rPr>
                                  <m:t>=</m:t>
                                </m:r>
                                <m:r>
                                  <a:rPr lang="zh-CN" altLang="en-US" sz="2000" b="1" i="0">
                                    <a:latin typeface="Cambria Math" panose="02040503050406030204" pitchFamily="18" charset="0"/>
                                  </a:rPr>
                                  <m:t>𝟎</m:t>
                                </m:r>
                              </m:e>
                              <m:e>
                                <m:r>
                                  <a:rPr lang="zh-CN" altLang="en-US" sz="2000" b="1" i="1">
                                    <a:latin typeface="Cambria Math" panose="02040503050406030204" pitchFamily="18" charset="0"/>
                                  </a:rPr>
                                  <m:t>𝒕</m:t>
                                </m:r>
                                <m:r>
                                  <a:rPr lang="zh-CN" altLang="en-US" sz="2000" b="1" i="0">
                                    <a:latin typeface="Cambria Math" panose="02040503050406030204" pitchFamily="18" charset="0"/>
                                  </a:rPr>
                                  <m:t>∈</m:t>
                                </m:r>
                                <m:d>
                                  <m:dPr>
                                    <m:begChr m:val="["/>
                                    <m:endChr m:val="]"/>
                                    <m:ctrlPr>
                                      <a:rPr lang="zh-CN" altLang="en-US" sz="2000" b="1" i="1">
                                        <a:latin typeface="Cambria Math" panose="02040503050406030204" pitchFamily="18" charset="0"/>
                                      </a:rPr>
                                    </m:ctrlPr>
                                  </m:dPr>
                                  <m:e>
                                    <m:r>
                                      <a:rPr lang="zh-CN" altLang="en-US" sz="2000" b="1" i="0">
                                        <a:latin typeface="Cambria Math" panose="02040503050406030204" pitchFamily="18" charset="0"/>
                                      </a:rPr>
                                      <m:t>𝟎</m:t>
                                    </m:r>
                                    <m:r>
                                      <a:rPr lang="zh-CN" altLang="en-US" sz="2000" b="1" i="0">
                                        <a:latin typeface="Cambria Math" panose="02040503050406030204" pitchFamily="18" charset="0"/>
                                      </a:rPr>
                                      <m:t>,</m:t>
                                    </m:r>
                                    <m:r>
                                      <a:rPr lang="zh-CN" altLang="en-US" sz="2000" b="1" i="0">
                                        <a:latin typeface="Cambria Math" panose="02040503050406030204" pitchFamily="18" charset="0"/>
                                      </a:rPr>
                                      <m:t>𝟎</m:t>
                                    </m:r>
                                    <m:r>
                                      <a:rPr lang="zh-CN" altLang="en-US" sz="2000" b="1" i="0">
                                        <a:latin typeface="Cambria Math" panose="02040503050406030204" pitchFamily="18" charset="0"/>
                                      </a:rPr>
                                      <m:t>.</m:t>
                                    </m:r>
                                    <m:r>
                                      <a:rPr lang="zh-CN" altLang="en-US" sz="2000" b="1" i="0">
                                        <a:latin typeface="Cambria Math" panose="02040503050406030204" pitchFamily="18" charset="0"/>
                                      </a:rPr>
                                      <m:t>𝟓</m:t>
                                    </m:r>
                                    <m:r>
                                      <a:rPr lang="zh-CN" altLang="en-US" sz="2000" b="1" i="1">
                                        <a:latin typeface="Cambria Math" panose="02040503050406030204" pitchFamily="18" charset="0"/>
                                      </a:rPr>
                                      <m:t>𝑻</m:t>
                                    </m:r>
                                  </m:e>
                                </m:d>
                              </m:e>
                            </m:mr>
                            <m:mr>
                              <m:e>
                                <m:r>
                                  <a:rPr lang="zh-CN" altLang="en-US" sz="2000" b="1" i="1">
                                    <a:latin typeface="Cambria Math" panose="02040503050406030204" pitchFamily="18" charset="0"/>
                                  </a:rPr>
                                  <m:t>𝒛</m:t>
                                </m:r>
                                <m:d>
                                  <m:dPr>
                                    <m:ctrlPr>
                                      <a:rPr lang="zh-CN" altLang="en-US" sz="2000" b="1" i="1">
                                        <a:latin typeface="Cambria Math" panose="02040503050406030204" pitchFamily="18" charset="0"/>
                                      </a:rPr>
                                    </m:ctrlPr>
                                  </m:dPr>
                                  <m:e>
                                    <m:r>
                                      <a:rPr lang="zh-CN" altLang="en-US" sz="2000" b="1" i="1">
                                        <a:latin typeface="Cambria Math" panose="02040503050406030204" pitchFamily="18" charset="0"/>
                                      </a:rPr>
                                      <m:t>𝒕</m:t>
                                    </m:r>
                                  </m:e>
                                </m:d>
                                <m:r>
                                  <a:rPr lang="zh-CN" altLang="en-US" sz="2000" b="1" i="0">
                                    <a:latin typeface="Cambria Math" panose="02040503050406030204" pitchFamily="18" charset="0"/>
                                  </a:rPr>
                                  <m:t>=</m:t>
                                </m:r>
                                <m:r>
                                  <a:rPr lang="zh-CN" altLang="en-US" sz="2000" b="1" i="1">
                                    <a:latin typeface="Cambria Math" panose="02040503050406030204" pitchFamily="18" charset="0"/>
                                  </a:rPr>
                                  <m:t>𝑯</m:t>
                                </m:r>
                                <m:r>
                                  <a:rPr lang="zh-CN" altLang="en-US" sz="2000" b="1" i="0">
                                    <a:latin typeface="Cambria Math" panose="02040503050406030204" pitchFamily="18" charset="0"/>
                                  </a:rPr>
                                  <m:t>×</m:t>
                                </m:r>
                                <m:f>
                                  <m:fPr>
                                    <m:ctrlPr>
                                      <a:rPr lang="zh-CN" altLang="en-US" sz="2000" b="1" i="1">
                                        <a:solidFill>
                                          <a:srgbClr val="836967"/>
                                        </a:solidFill>
                                        <a:latin typeface="Cambria Math" panose="02040503050406030204" pitchFamily="18" charset="0"/>
                                      </a:rPr>
                                    </m:ctrlPr>
                                  </m:fPr>
                                  <m:num>
                                    <m:r>
                                      <a:rPr lang="zh-CN" altLang="en-US" sz="2000" b="1" i="0">
                                        <a:latin typeface="Cambria Math" panose="02040503050406030204" pitchFamily="18" charset="0"/>
                                      </a:rPr>
                                      <m:t>𝟏</m:t>
                                    </m:r>
                                    <m:r>
                                      <a:rPr lang="zh-CN" altLang="en-US" sz="2000" b="1" i="0">
                                        <a:latin typeface="Cambria Math" panose="02040503050406030204" pitchFamily="18" charset="0"/>
                                      </a:rPr>
                                      <m:t>−</m:t>
                                    </m:r>
                                    <m:func>
                                      <m:funcPr>
                                        <m:ctrlPr>
                                          <a:rPr lang="zh-CN" altLang="en-US" sz="2000" b="1" i="1">
                                            <a:latin typeface="Cambria Math" panose="02040503050406030204" pitchFamily="18" charset="0"/>
                                          </a:rPr>
                                        </m:ctrlPr>
                                      </m:funcPr>
                                      <m:fName>
                                        <m:r>
                                          <a:rPr lang="zh-CN" altLang="en-US" sz="2000" b="1" i="1">
                                            <a:latin typeface="Cambria Math" panose="02040503050406030204" pitchFamily="18" charset="0"/>
                                          </a:rPr>
                                          <m:t>𝒄𝒐𝒔</m:t>
                                        </m:r>
                                      </m:fName>
                                      <m:e>
                                        <m:d>
                                          <m:dPr>
                                            <m:ctrlPr>
                                              <a:rPr lang="zh-CN" altLang="en-US" sz="2000" b="1" i="1">
                                                <a:solidFill>
                                                  <a:srgbClr val="836967"/>
                                                </a:solidFill>
                                                <a:latin typeface="Cambria Math" panose="02040503050406030204" pitchFamily="18" charset="0"/>
                                              </a:rPr>
                                            </m:ctrlPr>
                                          </m:dPr>
                                          <m:e>
                                            <m:f>
                                              <m:fPr>
                                                <m:ctrlPr>
                                                  <a:rPr lang="zh-CN" altLang="en-US" sz="2000" b="1" i="1">
                                                    <a:solidFill>
                                                      <a:srgbClr val="836967"/>
                                                    </a:solidFill>
                                                    <a:latin typeface="Cambria Math" panose="02040503050406030204" pitchFamily="18" charset="0"/>
                                                  </a:rPr>
                                                </m:ctrlPr>
                                              </m:fPr>
                                              <m:num>
                                                <m:r>
                                                  <a:rPr lang="zh-CN" altLang="en-US" sz="2000" b="1" i="0">
                                                    <a:latin typeface="Cambria Math" panose="02040503050406030204" pitchFamily="18" charset="0"/>
                                                  </a:rPr>
                                                  <m:t>𝟒</m:t>
                                                </m:r>
                                                <m:r>
                                                  <a:rPr lang="zh-CN" altLang="en-US" sz="2000" b="1" i="1">
                                                    <a:latin typeface="Cambria Math" panose="02040503050406030204" pitchFamily="18" charset="0"/>
                                                  </a:rPr>
                                                  <m:t>𝝅</m:t>
                                                </m:r>
                                                <m:r>
                                                  <a:rPr lang="zh-CN" altLang="en-US" sz="2000" b="1" i="1">
                                                    <a:latin typeface="Cambria Math" panose="02040503050406030204" pitchFamily="18" charset="0"/>
                                                  </a:rPr>
                                                  <m:t>𝒕</m:t>
                                                </m:r>
                                              </m:num>
                                              <m:den>
                                                <m:r>
                                                  <a:rPr lang="zh-CN" altLang="en-US" sz="2000" b="1" i="1">
                                                    <a:latin typeface="Cambria Math" panose="02040503050406030204" pitchFamily="18" charset="0"/>
                                                  </a:rPr>
                                                  <m:t>𝑻</m:t>
                                                </m:r>
                                              </m:den>
                                            </m:f>
                                          </m:e>
                                        </m:d>
                                      </m:e>
                                    </m:func>
                                  </m:num>
                                  <m:den>
                                    <m:r>
                                      <a:rPr lang="zh-CN" altLang="en-US" sz="2000" b="1" i="0">
                                        <a:latin typeface="Cambria Math" panose="02040503050406030204" pitchFamily="18" charset="0"/>
                                      </a:rPr>
                                      <m:t>𝟐</m:t>
                                    </m:r>
                                  </m:den>
                                </m:f>
                              </m:e>
                              <m:e>
                                <m:r>
                                  <a:rPr lang="zh-CN" altLang="en-US" sz="2000" b="1" i="1">
                                    <a:latin typeface="Cambria Math" panose="02040503050406030204" pitchFamily="18" charset="0"/>
                                  </a:rPr>
                                  <m:t>𝒕</m:t>
                                </m:r>
                                <m:r>
                                  <a:rPr lang="zh-CN" altLang="en-US" sz="2000" b="1" i="0">
                                    <a:latin typeface="Cambria Math" panose="02040503050406030204" pitchFamily="18" charset="0"/>
                                  </a:rPr>
                                  <m:t>∈</m:t>
                                </m:r>
                                <m:d>
                                  <m:dPr>
                                    <m:sepChr m:val=","/>
                                    <m:ctrlPr>
                                      <a:rPr lang="zh-CN" altLang="en-US" sz="2000" b="1" i="1">
                                        <a:latin typeface="Cambria Math" panose="02040503050406030204" pitchFamily="18" charset="0"/>
                                      </a:rPr>
                                    </m:ctrlPr>
                                  </m:dPr>
                                  <m:e>
                                    <m:r>
                                      <a:rPr lang="zh-CN" altLang="en-US" sz="2000" b="1" i="0">
                                        <a:latin typeface="Cambria Math" panose="02040503050406030204" pitchFamily="18" charset="0"/>
                                      </a:rPr>
                                      <m:t>𝟎</m:t>
                                    </m:r>
                                    <m:r>
                                      <a:rPr lang="zh-CN" altLang="en-US" sz="2000" b="1" i="0">
                                        <a:latin typeface="Cambria Math" panose="02040503050406030204" pitchFamily="18" charset="0"/>
                                      </a:rPr>
                                      <m:t>.</m:t>
                                    </m:r>
                                    <m:r>
                                      <a:rPr lang="zh-CN" altLang="en-US" sz="2000" b="1" i="0">
                                        <a:latin typeface="Cambria Math" panose="02040503050406030204" pitchFamily="18" charset="0"/>
                                      </a:rPr>
                                      <m:t>𝟓</m:t>
                                    </m:r>
                                  </m:e>
                                  <m:e>
                                    <m:r>
                                      <a:rPr lang="zh-CN" altLang="en-US" sz="2000" b="1" i="1">
                                        <a:latin typeface="Cambria Math" panose="02040503050406030204" pitchFamily="18" charset="0"/>
                                      </a:rPr>
                                      <m:t>𝑻𝑻</m:t>
                                    </m:r>
                                  </m:e>
                                </m:d>
                              </m:e>
                            </m:mr>
                          </m:m>
                        </m:e>
                      </m:d>
                    </m:oMath>
                  </m:oMathPara>
                </a14:m>
                <a:endParaRPr lang="zh-CN" altLang="en-US" b="1" dirty="0"/>
              </a:p>
            </p:txBody>
          </p:sp>
        </mc:Choice>
        <mc:Fallback xmlns="">
          <p:sp>
            <p:nvSpPr>
              <p:cNvPr id="12" name="文本框 11">
                <a:extLst>
                  <a:ext uri="{FF2B5EF4-FFF2-40B4-BE49-F238E27FC236}">
                    <a16:creationId xmlns:a16="http://schemas.microsoft.com/office/drawing/2014/main" id="{D51F0B28-D648-FAD9-7602-77D7B6828A1F}"/>
                  </a:ext>
                </a:extLst>
              </p:cNvPr>
              <p:cNvSpPr txBox="1">
                <a:spLocks noRot="1" noChangeAspect="1" noMove="1" noResize="1" noEditPoints="1" noAdjustHandles="1" noChangeArrowheads="1" noChangeShapeType="1" noTextEdit="1"/>
              </p:cNvSpPr>
              <p:nvPr/>
            </p:nvSpPr>
            <p:spPr>
              <a:xfrm>
                <a:off x="1445375" y="2777631"/>
                <a:ext cx="6122504" cy="1295932"/>
              </a:xfrm>
              <a:prstGeom prst="rect">
                <a:avLst/>
              </a:prstGeom>
              <a:blipFill>
                <a:blip r:embed="rId2"/>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F1D1764D-72AC-2B83-EBD5-1A5412179D0E}"/>
              </a:ext>
            </a:extLst>
          </p:cNvPr>
          <p:cNvSpPr txBox="1"/>
          <p:nvPr/>
        </p:nvSpPr>
        <p:spPr>
          <a:xfrm>
            <a:off x="7951304" y="3225542"/>
            <a:ext cx="1582310" cy="400110"/>
          </a:xfrm>
          <a:prstGeom prst="rect">
            <a:avLst/>
          </a:prstGeom>
          <a:noFill/>
        </p:spPr>
        <p:txBody>
          <a:bodyPr wrap="square">
            <a:spAutoFit/>
          </a:bodyPr>
          <a:lstStyle/>
          <a:p>
            <a:r>
              <a:rPr lang="en-US" altLang="zh-CN" sz="2000" b="1" kern="1000" dirty="0">
                <a:effectLst/>
                <a:latin typeface="宋体" panose="02010600030101010101" pitchFamily="2" charset="-122"/>
                <a:cs typeface="Times New Roman" panose="02020603050405020304" pitchFamily="18" charset="0"/>
              </a:rPr>
              <a:t>(</a:t>
            </a:r>
            <a:r>
              <a:rPr lang="en-US" altLang="zh-CN" sz="2000" b="1" kern="1000" dirty="0">
                <a:effectLst/>
                <a:latin typeface="Times New Roman" panose="02020603050405020304" pitchFamily="18" charset="0"/>
                <a:ea typeface="宋体" panose="02010600030101010101" pitchFamily="2" charset="-122"/>
              </a:rPr>
              <a:t>5.5</a:t>
            </a:r>
            <a:r>
              <a:rPr lang="en-US" altLang="zh-CN" sz="2000" b="1" kern="1000" dirty="0">
                <a:effectLst/>
                <a:latin typeface="宋体" panose="02010600030101010101" pitchFamily="2" charset="-122"/>
                <a:cs typeface="Times New Roman" panose="02020603050405020304" pitchFamily="18" charset="0"/>
              </a:rPr>
              <a:t>)</a:t>
            </a:r>
            <a:endParaRPr lang="zh-CN" altLang="en-US" sz="2000" b="1" dirty="0"/>
          </a:p>
        </p:txBody>
      </p:sp>
      <p:sp>
        <p:nvSpPr>
          <p:cNvPr id="18" name="文本框 17">
            <a:extLst>
              <a:ext uri="{FF2B5EF4-FFF2-40B4-BE49-F238E27FC236}">
                <a16:creationId xmlns:a16="http://schemas.microsoft.com/office/drawing/2014/main" id="{CEC01CB9-AD62-9EE4-CDE9-8F2A73057BFD}"/>
              </a:ext>
            </a:extLst>
          </p:cNvPr>
          <p:cNvSpPr txBox="1"/>
          <p:nvPr/>
        </p:nvSpPr>
        <p:spPr>
          <a:xfrm>
            <a:off x="628154" y="4362755"/>
            <a:ext cx="10630894" cy="830997"/>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式中，</a:t>
            </a:r>
            <a:r>
              <a:rPr lang="en-US" altLang="zh-CN" sz="2400" b="1" i="1" kern="1000" dirty="0">
                <a:effectLst/>
                <a:latin typeface="微软雅黑" panose="020B0503020204020204" pitchFamily="34" charset="-122"/>
                <a:ea typeface="微软雅黑" panose="020B0503020204020204" pitchFamily="34" charset="-122"/>
              </a:rPr>
              <a:t>H </a:t>
            </a:r>
            <a:r>
              <a:rPr lang="zh-CN" altLang="zh-CN" sz="2400" b="1" kern="1000" dirty="0">
                <a:effectLst/>
                <a:latin typeface="微软雅黑" panose="020B0503020204020204" pitchFamily="34" charset="-122"/>
                <a:ea typeface="微软雅黑" panose="020B0503020204020204" pitchFamily="34" charset="-122"/>
              </a:rPr>
              <a:t>表示跨步高度。可以根据地面的不平坦程度和机器人运动速度的需求修改参数</a:t>
            </a:r>
            <a:r>
              <a:rPr lang="en-US" altLang="zh-CN" sz="2400" b="1" i="1" kern="1000" dirty="0">
                <a:effectLst/>
                <a:latin typeface="微软雅黑" panose="020B0503020204020204" pitchFamily="34" charset="-122"/>
                <a:ea typeface="微软雅黑" panose="020B0503020204020204" pitchFamily="34" charset="-122"/>
              </a:rPr>
              <a:t>S</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i="1" kern="1000" dirty="0">
                <a:effectLst/>
                <a:latin typeface="微软雅黑" panose="020B0503020204020204" pitchFamily="34" charset="-122"/>
                <a:ea typeface="微软雅黑" panose="020B0503020204020204" pitchFamily="34" charset="-122"/>
              </a:rPr>
              <a:t>H </a:t>
            </a:r>
            <a:r>
              <a:rPr lang="zh-CN" altLang="zh-CN" sz="2400" b="1" kern="1000" dirty="0">
                <a:effectLst/>
                <a:latin typeface="微软雅黑" panose="020B0503020204020204" pitchFamily="34" charset="-122"/>
                <a:ea typeface="微软雅黑" panose="020B0503020204020204" pitchFamily="34" charset="-122"/>
              </a:rPr>
              <a:t>和</a:t>
            </a:r>
            <a:r>
              <a:rPr lang="en-US" altLang="zh-CN" sz="2400" b="1" i="1" kern="1000" dirty="0">
                <a:effectLst/>
                <a:latin typeface="微软雅黑" panose="020B0503020204020204" pitchFamily="34" charset="-122"/>
                <a:ea typeface="微软雅黑" panose="020B0503020204020204" pitchFamily="34" charset="-122"/>
              </a:rPr>
              <a:t>T </a:t>
            </a:r>
            <a:r>
              <a:rPr lang="zh-CN" altLang="zh-CN" sz="2400" b="1" kern="1000" dirty="0">
                <a:effectLst/>
                <a:latin typeface="微软雅黑" panose="020B0503020204020204" pitchFamily="34" charset="-122"/>
                <a:ea typeface="微软雅黑" panose="020B0503020204020204" pitchFamily="34" charset="-122"/>
              </a:rPr>
              <a:t>以实现对机器人步长、步高和步频的控制。</a:t>
            </a:r>
          </a:p>
        </p:txBody>
      </p:sp>
      <p:sp>
        <p:nvSpPr>
          <p:cNvPr id="21" name="文本框 20">
            <a:extLst>
              <a:ext uri="{FF2B5EF4-FFF2-40B4-BE49-F238E27FC236}">
                <a16:creationId xmlns:a16="http://schemas.microsoft.com/office/drawing/2014/main" id="{CF5E9987-353A-3397-681C-5949EFE30D4B}"/>
              </a:ext>
            </a:extLst>
          </p:cNvPr>
          <p:cNvSpPr txBox="1"/>
          <p:nvPr/>
        </p:nvSpPr>
        <p:spPr>
          <a:xfrm>
            <a:off x="628154" y="5193752"/>
            <a:ext cx="10630893" cy="1200329"/>
          </a:xfrm>
          <a:prstGeom prst="rect">
            <a:avLst/>
          </a:prstGeom>
          <a:noFill/>
        </p:spPr>
        <p:txBody>
          <a:bodyPr wrap="square">
            <a:spAutoFit/>
          </a:bodyPr>
          <a:lstStyle/>
          <a:p>
            <a:pPr algn="just"/>
            <a:r>
              <a:rPr lang="en-US" altLang="zh-CN" sz="2400" b="1" kern="1000" spc="-10" dirty="0">
                <a:effectLst/>
                <a:latin typeface="微软雅黑" panose="020B0503020204020204" pitchFamily="34" charset="-122"/>
                <a:ea typeface="微软雅黑" panose="020B0503020204020204" pitchFamily="34" charset="-122"/>
              </a:rPr>
              <a:t>        </a:t>
            </a:r>
            <a:r>
              <a:rPr lang="zh-CN" altLang="zh-CN" sz="2400" b="1" kern="1000" spc="-10" dirty="0">
                <a:effectLst/>
                <a:latin typeface="微软雅黑" panose="020B0503020204020204" pitchFamily="34" charset="-122"/>
                <a:ea typeface="微软雅黑" panose="020B0503020204020204" pitchFamily="34" charset="-122"/>
              </a:rPr>
              <a:t>基于式</a:t>
            </a:r>
            <a:r>
              <a:rPr lang="en-US" altLang="zh-CN" sz="2400" b="1" kern="1000" spc="-10" dirty="0">
                <a:effectLst/>
                <a:latin typeface="微软雅黑" panose="020B0503020204020204" pitchFamily="34" charset="-122"/>
                <a:ea typeface="微软雅黑" panose="020B0503020204020204" pitchFamily="34" charset="-122"/>
              </a:rPr>
              <a:t>(5.4)</a:t>
            </a:r>
            <a:r>
              <a:rPr lang="zh-CN" altLang="zh-CN" sz="2400" b="1" kern="1000" spc="-10" dirty="0">
                <a:effectLst/>
                <a:latin typeface="微软雅黑" panose="020B0503020204020204" pitchFamily="34" charset="-122"/>
                <a:ea typeface="微软雅黑" panose="020B0503020204020204" pitchFamily="34" charset="-122"/>
              </a:rPr>
              <a:t>和式</a:t>
            </a:r>
            <a:r>
              <a:rPr lang="en-US" altLang="zh-CN" sz="2400" b="1" kern="1000" spc="-10" dirty="0">
                <a:effectLst/>
                <a:latin typeface="微软雅黑" panose="020B0503020204020204" pitchFamily="34" charset="-122"/>
                <a:ea typeface="微软雅黑" panose="020B0503020204020204" pitchFamily="34" charset="-122"/>
              </a:rPr>
              <a:t>(5.5)</a:t>
            </a:r>
            <a:r>
              <a:rPr lang="zh-CN" altLang="zh-CN" sz="2400" b="1" kern="1000" spc="-10" dirty="0">
                <a:effectLst/>
                <a:latin typeface="微软雅黑" panose="020B0503020204020204" pitchFamily="34" charset="-122"/>
                <a:ea typeface="微软雅黑" panose="020B0503020204020204" pitchFamily="34" charset="-122"/>
              </a:rPr>
              <a:t>，利用</a:t>
            </a:r>
            <a:r>
              <a:rPr lang="en-US" altLang="zh-CN" sz="2400" b="1" kern="1000" spc="-10" dirty="0">
                <a:effectLst/>
                <a:latin typeface="微软雅黑" panose="020B0503020204020204" pitchFamily="34" charset="-122"/>
                <a:ea typeface="微软雅黑" panose="020B0503020204020204" pitchFamily="34" charset="-122"/>
              </a:rPr>
              <a:t>MATLAB</a:t>
            </a:r>
            <a:r>
              <a:rPr lang="zh-CN" altLang="zh-CN" sz="2400" b="1" kern="1000" spc="-10" dirty="0">
                <a:effectLst/>
                <a:latin typeface="微软雅黑" panose="020B0503020204020204" pitchFamily="34" charset="-122"/>
                <a:ea typeface="微软雅黑" panose="020B0503020204020204" pitchFamily="34" charset="-122"/>
              </a:rPr>
              <a:t>编程，经单位化后，向前行走时的</a:t>
            </a:r>
            <a:r>
              <a:rPr lang="en-US" altLang="zh-CN" sz="2400" b="1" i="1" kern="1000" spc="-10" dirty="0">
                <a:effectLst/>
                <a:latin typeface="微软雅黑" panose="020B0503020204020204" pitchFamily="34" charset="-122"/>
                <a:ea typeface="微软雅黑" panose="020B0503020204020204" pitchFamily="34" charset="-122"/>
              </a:rPr>
              <a:t>x</a:t>
            </a:r>
            <a:r>
              <a:rPr lang="zh-CN" altLang="zh-CN" sz="2400" b="1" kern="1000" spc="-10" dirty="0">
                <a:effectLst/>
                <a:latin typeface="微软雅黑" panose="020B0503020204020204" pitchFamily="34" charset="-122"/>
                <a:ea typeface="微软雅黑" panose="020B0503020204020204" pitchFamily="34" charset="-122"/>
              </a:rPr>
              <a:t>轴足端轨迹如图</a:t>
            </a:r>
            <a:r>
              <a:rPr lang="en-US" altLang="zh-CN" sz="2400" b="1" kern="1000" spc="-10" dirty="0">
                <a:effectLst/>
                <a:latin typeface="微软雅黑" panose="020B0503020204020204" pitchFamily="34" charset="-122"/>
                <a:ea typeface="微软雅黑" panose="020B0503020204020204" pitchFamily="34" charset="-122"/>
              </a:rPr>
              <a:t>5.14</a:t>
            </a:r>
            <a:r>
              <a:rPr lang="zh-CN" altLang="zh-CN" sz="2400" b="1" kern="1000" spc="-10" dirty="0">
                <a:effectLst/>
                <a:latin typeface="微软雅黑" panose="020B0503020204020204" pitchFamily="34" charset="-122"/>
                <a:ea typeface="微软雅黑" panose="020B0503020204020204" pitchFamily="34" charset="-122"/>
              </a:rPr>
              <a:t>所示，</a:t>
            </a:r>
            <a:r>
              <a:rPr lang="en-US" altLang="zh-CN" sz="2400" b="1" i="1" kern="1000" spc="-10" dirty="0">
                <a:effectLst/>
                <a:latin typeface="微软雅黑" panose="020B0503020204020204" pitchFamily="34" charset="-122"/>
                <a:ea typeface="微软雅黑" panose="020B0503020204020204" pitchFamily="34" charset="-122"/>
              </a:rPr>
              <a:t>z</a:t>
            </a:r>
            <a:r>
              <a:rPr lang="zh-CN" altLang="zh-CN" sz="2400" b="1" kern="1000" spc="-10" dirty="0">
                <a:effectLst/>
                <a:latin typeface="微软雅黑" panose="020B0503020204020204" pitchFamily="34" charset="-122"/>
                <a:ea typeface="微软雅黑" panose="020B0503020204020204" pitchFamily="34" charset="-122"/>
              </a:rPr>
              <a:t>轴足端轨迹如图</a:t>
            </a:r>
            <a:r>
              <a:rPr lang="en-US" altLang="zh-CN" sz="2400" b="1" kern="1000" spc="-10" dirty="0">
                <a:effectLst/>
                <a:latin typeface="微软雅黑" panose="020B0503020204020204" pitchFamily="34" charset="-122"/>
                <a:ea typeface="微软雅黑" panose="020B0503020204020204" pitchFamily="34" charset="-122"/>
              </a:rPr>
              <a:t>5.15</a:t>
            </a:r>
            <a:r>
              <a:rPr lang="zh-CN" altLang="zh-CN" sz="2400" b="1" kern="1000" spc="-10" dirty="0">
                <a:effectLst/>
                <a:latin typeface="微软雅黑" panose="020B0503020204020204" pitchFamily="34" charset="-122"/>
                <a:ea typeface="微软雅黑" panose="020B0503020204020204" pitchFamily="34" charset="-122"/>
              </a:rPr>
              <a:t>所示，矢状平面内合成后的足端轨迹如图</a:t>
            </a:r>
            <a:r>
              <a:rPr lang="en-US" altLang="zh-CN" sz="2400" b="1" kern="1000" spc="-10" dirty="0">
                <a:effectLst/>
                <a:latin typeface="微软雅黑" panose="020B0503020204020204" pitchFamily="34" charset="-122"/>
                <a:ea typeface="微软雅黑" panose="020B0503020204020204" pitchFamily="34" charset="-122"/>
              </a:rPr>
              <a:t>5.16</a:t>
            </a:r>
            <a:r>
              <a:rPr lang="zh-CN" altLang="zh-CN" sz="2400" b="1" kern="1000" spc="-10" dirty="0">
                <a:effectLst/>
                <a:latin typeface="微软雅黑" panose="020B0503020204020204" pitchFamily="34" charset="-122"/>
                <a:ea typeface="微软雅黑" panose="020B0503020204020204" pitchFamily="34" charset="-122"/>
              </a:rPr>
              <a:t>所示。</a:t>
            </a:r>
            <a:endParaRPr lang="zh-CN" altLang="zh-CN" sz="2400" b="1" kern="1000" dirty="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734405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3">
            <a:extLst>
              <a:ext uri="{FF2B5EF4-FFF2-40B4-BE49-F238E27FC236}">
                <a16:creationId xmlns:a16="http://schemas.microsoft.com/office/drawing/2014/main" id="{7D1E673B-4A74-8BB7-C980-97DCDE0049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92" y="1179815"/>
            <a:ext cx="4988337" cy="3940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5">
            <a:extLst>
              <a:ext uri="{FF2B5EF4-FFF2-40B4-BE49-F238E27FC236}">
                <a16:creationId xmlns:a16="http://schemas.microsoft.com/office/drawing/2014/main" id="{5E4BE6FD-F5A2-943B-2865-CA765C6CB9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7759" y="1179815"/>
            <a:ext cx="5067850" cy="400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39759E22-241A-1E05-67D0-BAA2B39ADF64}"/>
              </a:ext>
            </a:extLst>
          </p:cNvPr>
          <p:cNvSpPr txBox="1"/>
          <p:nvPr/>
        </p:nvSpPr>
        <p:spPr>
          <a:xfrm>
            <a:off x="302150" y="5308853"/>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5.14  </a:t>
            </a:r>
            <a:r>
              <a:rPr lang="zh-CN" altLang="zh-CN" sz="1800" kern="1000" dirty="0">
                <a:effectLst/>
                <a:latin typeface="Times New Roman" panose="02020603050405020304" pitchFamily="18" charset="0"/>
                <a:ea typeface="宋体" panose="02010600030101010101" pitchFamily="2" charset="-122"/>
              </a:rPr>
              <a:t>向前行走时的</a:t>
            </a:r>
            <a:r>
              <a:rPr lang="en-US" altLang="zh-CN" sz="1800" i="1" kern="1000" dirty="0">
                <a:effectLst/>
                <a:latin typeface="Times New Roman" panose="02020603050405020304" pitchFamily="18" charset="0"/>
                <a:ea typeface="宋体" panose="02010600030101010101" pitchFamily="2" charset="-122"/>
              </a:rPr>
              <a:t>x</a:t>
            </a:r>
            <a:r>
              <a:rPr lang="zh-CN" altLang="zh-CN" sz="1800" kern="1000" dirty="0">
                <a:effectLst/>
                <a:latin typeface="Times New Roman" panose="02020603050405020304" pitchFamily="18" charset="0"/>
                <a:ea typeface="宋体" panose="02010600030101010101" pitchFamily="2" charset="-122"/>
              </a:rPr>
              <a:t>轴足端轨迹</a:t>
            </a:r>
          </a:p>
        </p:txBody>
      </p:sp>
      <p:sp>
        <p:nvSpPr>
          <p:cNvPr id="11" name="文本框 10">
            <a:extLst>
              <a:ext uri="{FF2B5EF4-FFF2-40B4-BE49-F238E27FC236}">
                <a16:creationId xmlns:a16="http://schemas.microsoft.com/office/drawing/2014/main" id="{BB409459-5866-FCDF-6B8D-D85D7C97775F}"/>
              </a:ext>
            </a:extLst>
          </p:cNvPr>
          <p:cNvSpPr txBox="1"/>
          <p:nvPr/>
        </p:nvSpPr>
        <p:spPr>
          <a:xfrm>
            <a:off x="6069496" y="5342041"/>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5.15  </a:t>
            </a:r>
            <a:r>
              <a:rPr lang="zh-CN" altLang="zh-CN" sz="1800" kern="1000" dirty="0">
                <a:effectLst/>
                <a:latin typeface="Times New Roman" panose="02020603050405020304" pitchFamily="18" charset="0"/>
                <a:ea typeface="宋体" panose="02010600030101010101" pitchFamily="2" charset="-122"/>
              </a:rPr>
              <a:t>向前行走时的</a:t>
            </a:r>
            <a:r>
              <a:rPr lang="en-US" altLang="zh-CN" sz="1800" i="1" kern="1000" dirty="0">
                <a:effectLst/>
                <a:latin typeface="Times New Roman" panose="02020603050405020304" pitchFamily="18" charset="0"/>
                <a:ea typeface="宋体" panose="02010600030101010101" pitchFamily="2" charset="-122"/>
              </a:rPr>
              <a:t>z</a:t>
            </a:r>
            <a:r>
              <a:rPr lang="zh-CN" altLang="zh-CN" sz="1800" kern="1000" dirty="0">
                <a:effectLst/>
                <a:latin typeface="Times New Roman" panose="02020603050405020304" pitchFamily="18" charset="0"/>
                <a:ea typeface="宋体" panose="02010600030101010101" pitchFamily="2" charset="-122"/>
              </a:rPr>
              <a:t>轴足端轨迹</a:t>
            </a:r>
          </a:p>
        </p:txBody>
      </p:sp>
    </p:spTree>
    <p:extLst>
      <p:ext uri="{BB962C8B-B14F-4D97-AF65-F5344CB8AC3E}">
        <p14:creationId xmlns:p14="http://schemas.microsoft.com/office/powerpoint/2010/main" val="6636430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a:extLst>
              <a:ext uri="{FF2B5EF4-FFF2-40B4-BE49-F238E27FC236}">
                <a16:creationId xmlns:a16="http://schemas.microsoft.com/office/drawing/2014/main" id="{48357AA6-FA68-23A5-EA85-E0A8DDE74C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7751" y="1071094"/>
            <a:ext cx="4286250" cy="342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AA4513E6-8F13-FF57-F7CA-9594EE559097}"/>
              </a:ext>
            </a:extLst>
          </p:cNvPr>
          <p:cNvSpPr txBox="1"/>
          <p:nvPr/>
        </p:nvSpPr>
        <p:spPr>
          <a:xfrm>
            <a:off x="6069496" y="4694511"/>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5.16  </a:t>
            </a:r>
            <a:r>
              <a:rPr lang="zh-CN" altLang="zh-CN" sz="1800" kern="1000" dirty="0">
                <a:effectLst/>
                <a:latin typeface="Times New Roman" panose="02020603050405020304" pitchFamily="18" charset="0"/>
                <a:ea typeface="宋体" panose="02010600030101010101" pitchFamily="2" charset="-122"/>
              </a:rPr>
              <a:t>向前行走时的矢状平面内合成后的足端轨迹</a:t>
            </a:r>
          </a:p>
        </p:txBody>
      </p:sp>
      <p:sp>
        <p:nvSpPr>
          <p:cNvPr id="7" name="文本框 6">
            <a:extLst>
              <a:ext uri="{FF2B5EF4-FFF2-40B4-BE49-F238E27FC236}">
                <a16:creationId xmlns:a16="http://schemas.microsoft.com/office/drawing/2014/main" id="{52805FD3-89C9-C560-FD6B-D12A7CF307F0}"/>
              </a:ext>
            </a:extLst>
          </p:cNvPr>
          <p:cNvSpPr txBox="1"/>
          <p:nvPr/>
        </p:nvSpPr>
        <p:spPr>
          <a:xfrm>
            <a:off x="612249" y="1174461"/>
            <a:ext cx="5661329" cy="2677656"/>
          </a:xfrm>
          <a:prstGeom prst="rect">
            <a:avLst/>
          </a:prstGeom>
          <a:noFill/>
        </p:spPr>
        <p:txBody>
          <a:bodyPr wrap="square" rtlCol="0">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在机器人的步态规划中，各条腿足端的步态运动轨迹一致，各条腿之间的步态运动曲线只有相位之间的差别，因此，基于机器人各个步态的定义，可以通过调整机器人的各条腿的相位差实现其他腿的运动曲线规划，从而实现基于位置的机器人整体步态运动。</a:t>
            </a:r>
          </a:p>
        </p:txBody>
      </p:sp>
    </p:spTree>
    <p:extLst>
      <p:ext uri="{BB962C8B-B14F-4D97-AF65-F5344CB8AC3E}">
        <p14:creationId xmlns:p14="http://schemas.microsoft.com/office/powerpoint/2010/main" val="9961190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a:extLst>
              <a:ext uri="{FF2B5EF4-FFF2-40B4-BE49-F238E27FC236}">
                <a16:creationId xmlns:a16="http://schemas.microsoft.com/office/drawing/2014/main" id="{B2F79912-6A43-DE02-3C9D-A88F956C88DE}"/>
              </a:ext>
            </a:extLst>
          </p:cNvPr>
          <p:cNvSpPr txBox="1"/>
          <p:nvPr/>
        </p:nvSpPr>
        <p:spPr>
          <a:xfrm>
            <a:off x="820309" y="1152940"/>
            <a:ext cx="10551381" cy="3493264"/>
          </a:xfrm>
          <a:prstGeom prst="rect">
            <a:avLst/>
          </a:prstGeom>
          <a:noFill/>
        </p:spPr>
        <p:txBody>
          <a:bodyPr wrap="square">
            <a:spAutoFit/>
          </a:bodyPr>
          <a:lstStyle/>
          <a:p>
            <a:pPr algn="just">
              <a:spcBef>
                <a:spcPts val="600"/>
              </a:spcBef>
              <a:spcAft>
                <a:spcPts val="600"/>
              </a:spcAft>
            </a:pP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．复合摆线法</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复合摆线法将数学中的摆线方程引入足端轨迹的规划中，满足在机器人抬腿和落地瞬间实现零冲击和落地软着陆，关节速度和加速度变化平滑、连续、无奇点，足端在抬腿和落地瞬间前进方向和竖直方向上速度和加速度分量皆为零等足端规划要求。这种摆线运动轨迹主要具有抬腿高度可变，落地角与地面垂直，不打滑，适用于弹性腿的特点。</a:t>
            </a:r>
          </a:p>
          <a:p>
            <a:pPr algn="just"/>
            <a:r>
              <a:rPr lang="zh-CN" altLang="zh-CN" sz="2400" b="1" kern="1000" dirty="0">
                <a:effectLst/>
                <a:latin typeface="微软雅黑" panose="020B0503020204020204" pitchFamily="34" charset="-122"/>
                <a:ea typeface="微软雅黑" panose="020B0503020204020204" pitchFamily="34" charset="-122"/>
              </a:rPr>
              <a:t>在复合摆线法中，首先假设在摆动腿周期和站姿周期之间的连接点处速度为</a:t>
            </a:r>
            <a:r>
              <a:rPr lang="en-US" altLang="zh-CN" sz="2400" b="1" kern="1000" dirty="0">
                <a:effectLst/>
                <a:latin typeface="微软雅黑" panose="020B0503020204020204" pitchFamily="34" charset="-122"/>
                <a:ea typeface="微软雅黑" panose="020B0503020204020204" pitchFamily="34" charset="-122"/>
              </a:rPr>
              <a:t>0</a:t>
            </a:r>
            <a:r>
              <a:rPr lang="zh-CN" altLang="zh-CN" sz="2400" b="1" kern="1000" dirty="0">
                <a:effectLst/>
                <a:latin typeface="微软雅黑" panose="020B0503020204020204" pitchFamily="34" charset="-122"/>
                <a:ea typeface="微软雅黑" panose="020B0503020204020204" pitchFamily="34" charset="-122"/>
              </a:rPr>
              <a:t>，作为速度的边界条件。另外，人和四足动物正常行走时，足的运动接近于正弦曲线，从而定义</a:t>
            </a:r>
          </a:p>
        </p:txBody>
      </p:sp>
      <p:sp>
        <p:nvSpPr>
          <p:cNvPr id="19" name="Rectangle 4">
            <a:extLst>
              <a:ext uri="{FF2B5EF4-FFF2-40B4-BE49-F238E27FC236}">
                <a16:creationId xmlns:a16="http://schemas.microsoft.com/office/drawing/2014/main" id="{D3CD3AA2-0EED-E32F-62EB-DB2F76B3FA0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文本框 21">
            <a:extLst>
              <a:ext uri="{FF2B5EF4-FFF2-40B4-BE49-F238E27FC236}">
                <a16:creationId xmlns:a16="http://schemas.microsoft.com/office/drawing/2014/main" id="{AD2928B6-AA0C-A9D8-B81E-01904641CC69}"/>
              </a:ext>
            </a:extLst>
          </p:cNvPr>
          <p:cNvSpPr txBox="1"/>
          <p:nvPr/>
        </p:nvSpPr>
        <p:spPr>
          <a:xfrm>
            <a:off x="3061252" y="3198614"/>
            <a:ext cx="6122504" cy="369332"/>
          </a:xfrm>
          <a:prstGeom prst="rect">
            <a:avLst/>
          </a:prstGeom>
          <a:noFill/>
        </p:spPr>
        <p:txBody>
          <a:bodyPr wrap="square">
            <a:spAutoFit/>
          </a:bodyPr>
          <a:lstStyle/>
          <a:p>
            <a:endParaRPr lang="zh-CN" altLang="en-US" dirty="0"/>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2465418B-15E0-A275-637D-5B5A1140178D}"/>
                  </a:ext>
                </a:extLst>
              </p:cNvPr>
              <p:cNvSpPr txBox="1"/>
              <p:nvPr/>
            </p:nvSpPr>
            <p:spPr>
              <a:xfrm>
                <a:off x="4011183" y="4757073"/>
                <a:ext cx="6893781" cy="606513"/>
              </a:xfrm>
              <a:prstGeom prst="rect">
                <a:avLst/>
              </a:prstGeom>
              <a:noFill/>
            </p:spPr>
            <p:txBody>
              <a:bodyPr wrap="square">
                <a:spAutoFit/>
              </a:bodyPr>
              <a:lstStyle/>
              <a:p>
                <a14:m>
                  <m:oMath xmlns:m="http://schemas.openxmlformats.org/officeDocument/2006/math">
                    <m:acc>
                      <m:accPr>
                        <m:chr m:val="̈"/>
                        <m:ctrlPr>
                          <a:rPr lang="zh-CN" altLang="zh-CN" sz="2000" b="1" i="1" smtClean="0">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𝒙</m:t>
                        </m:r>
                      </m:e>
                    </m:acc>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𝑨</m:t>
                        </m:r>
                      </m:e>
                      <m:sub>
                        <m:r>
                          <m:rPr>
                            <m:nor/>
                          </m:rPr>
                          <a:rPr lang="en-US" altLang="zh-CN" sz="2000" b="1" kern="1000">
                            <a:effectLst/>
                            <a:latin typeface="Cambria Math" panose="02040503050406030204" pitchFamily="18" charset="0"/>
                            <a:ea typeface="宋体" panose="02010600030101010101" pitchFamily="2" charset="-122"/>
                            <a:cs typeface="Times New Roman" panose="02020603050405020304" pitchFamily="18" charset="0"/>
                          </a:rPr>
                          <m:t>m</m:t>
                        </m:r>
                        <m:r>
                          <m:rPr>
                            <m:nor/>
                          </m:rPr>
                          <a:rPr lang="en-US" altLang="zh-CN" sz="2000" b="1" kern="1000">
                            <a:effectLst/>
                            <a:latin typeface="Cambria Math" panose="02040503050406030204" pitchFamily="18" charset="0"/>
                            <a:ea typeface="宋体" panose="02010600030101010101" pitchFamily="2" charset="-122"/>
                            <a:cs typeface="Times New Roman" panose="02020603050405020304" pitchFamily="18" charset="0"/>
                          </a:rPr>
                          <m:t>1</m:t>
                        </m:r>
                      </m:sub>
                    </m:sSub>
                    <m:func>
                      <m:funcPr>
                        <m:ctrlPr>
                          <a:rPr lang="zh-CN" altLang="zh-CN" sz="2000" b="1" i="1">
                            <a:effectLst/>
                            <a:latin typeface="Cambria Math" panose="02040503050406030204" pitchFamily="18" charset="0"/>
                            <a:ea typeface="Cambria Math" panose="02040503050406030204" pitchFamily="18" charset="0"/>
                          </a:rPr>
                        </m:ctrlPr>
                      </m:funcPr>
                      <m:fNa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𝒔𝒊𝒏</m:t>
                        </m:r>
                      </m:fName>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e>
                    </m:func>
                    <m:f>
                      <m:fPr>
                        <m:ctrlPr>
                          <a:rPr lang="zh-CN" altLang="zh-CN" sz="2000" b="1" i="1" kern="1050">
                            <a:latin typeface="Cambria Math" panose="02040503050406030204" pitchFamily="18" charset="0"/>
                            <a:ea typeface="Cambria Math" panose="02040503050406030204" pitchFamily="18" charset="0"/>
                          </a:rPr>
                        </m:ctrlPr>
                      </m:fPr>
                      <m:num>
                        <m:r>
                          <a:rPr lang="en-US" altLang="zh-CN" sz="2000" b="1" i="1" kern="1000">
                            <a:latin typeface="Cambria Math" panose="02040503050406030204" pitchFamily="18" charset="0"/>
                            <a:ea typeface="宋体" panose="02010600030101010101" pitchFamily="2" charset="-122"/>
                            <a:cs typeface="Times New Roman" panose="02020603050405020304" pitchFamily="18" charset="0"/>
                          </a:rPr>
                          <m:t>𝟐</m:t>
                        </m:r>
                        <m:r>
                          <a:rPr lang="en-US" altLang="zh-CN" sz="2000" b="1" i="1" kern="1000">
                            <a:latin typeface="Cambria Math" panose="02040503050406030204" pitchFamily="18" charset="0"/>
                            <a:ea typeface="宋体" panose="02010600030101010101" pitchFamily="2" charset="-122"/>
                            <a:cs typeface="Times New Roman" panose="02020603050405020304" pitchFamily="18" charset="0"/>
                          </a:rPr>
                          <m:t>𝝅</m:t>
                        </m:r>
                        <m:r>
                          <a:rPr lang="en-US" altLang="zh-CN" sz="2000" b="1" i="1" kern="1000">
                            <a:latin typeface="Cambria Math" panose="02040503050406030204" pitchFamily="18" charset="0"/>
                            <a:ea typeface="宋体" panose="02010600030101010101" pitchFamily="2" charset="-122"/>
                            <a:cs typeface="Times New Roman" panose="02020603050405020304" pitchFamily="18" charset="0"/>
                          </a:rPr>
                          <m:t>𝒕</m:t>
                        </m:r>
                      </m:num>
                      <m:den>
                        <m:sSub>
                          <m:sSubPr>
                            <m:ctrlPr>
                              <a:rPr lang="zh-CN" altLang="zh-CN" sz="2000" b="1" i="1" kern="1050">
                                <a:latin typeface="Cambria Math" panose="02040503050406030204" pitchFamily="18" charset="0"/>
                                <a:ea typeface="Cambria Math" panose="02040503050406030204" pitchFamily="18" charset="0"/>
                              </a:rPr>
                            </m:ctrlPr>
                          </m:sSubPr>
                          <m:e>
                            <m:r>
                              <a:rPr lang="en-US" altLang="zh-CN" sz="2000" b="1" i="1" kern="1050">
                                <a:latin typeface="Cambria Math" panose="02040503050406030204" pitchFamily="18" charset="0"/>
                                <a:ea typeface="宋体" panose="02010600030101010101" pitchFamily="2" charset="-122"/>
                              </a:rPr>
                              <m:t>𝑻</m:t>
                            </m:r>
                          </m:e>
                          <m:sub>
                            <m:r>
                              <a:rPr lang="en-US" altLang="zh-CN" sz="2000" b="1" i="1" kern="1050">
                                <a:latin typeface="Cambria Math" panose="02040503050406030204" pitchFamily="18" charset="0"/>
                                <a:ea typeface="宋体" panose="02010600030101010101" pitchFamily="2" charset="-122"/>
                              </a:rPr>
                              <m:t>𝒚</m:t>
                            </m:r>
                          </m:sub>
                        </m:sSub>
                      </m:den>
                    </m:f>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oMath>
                </a14:m>
                <a:r>
                  <a:rPr lang="en-US" altLang="zh-CN" sz="2000" b="1" kern="1000" dirty="0">
                    <a:effectLst/>
                    <a:latin typeface="Times New Roman" panose="02020603050405020304" pitchFamily="18" charset="0"/>
                    <a:ea typeface="宋体" panose="02010600030101010101" pitchFamily="2" charset="-122"/>
                  </a:rPr>
                  <a:t>	</a:t>
                </a:r>
                <a:r>
                  <a:rPr lang="zh-CN" altLang="zh-CN" sz="2000" b="1" kern="1050" dirty="0">
                    <a:ea typeface="Cambria Math" panose="02040503050406030204" pitchFamily="18" charset="0"/>
                  </a:rPr>
                  <a:t> </a:t>
                </a:r>
                <a:r>
                  <a:rPr lang="en-US" altLang="zh-CN" sz="2000" b="1" kern="1000" dirty="0">
                    <a:effectLst/>
                    <a:latin typeface="宋体" panose="02010600030101010101" pitchFamily="2" charset="-122"/>
                    <a:cs typeface="Times New Roman" panose="02020603050405020304" pitchFamily="18" charset="0"/>
                  </a:rPr>
                  <a:t>(</a:t>
                </a:r>
                <a:r>
                  <a:rPr lang="en-US" altLang="zh-CN" sz="2000" b="1" kern="1000" dirty="0">
                    <a:effectLst/>
                    <a:latin typeface="Times New Roman" panose="02020603050405020304" pitchFamily="18" charset="0"/>
                    <a:ea typeface="宋体" panose="02010600030101010101" pitchFamily="2" charset="-122"/>
                  </a:rPr>
                  <a:t>5.6</a:t>
                </a:r>
                <a:r>
                  <a:rPr lang="en-US" altLang="zh-CN" sz="2000" b="1" kern="1000" dirty="0">
                    <a:effectLst/>
                    <a:latin typeface="宋体" panose="02010600030101010101" pitchFamily="2" charset="-122"/>
                    <a:cs typeface="Times New Roman" panose="02020603050405020304" pitchFamily="18" charset="0"/>
                  </a:rPr>
                  <a:t>)</a:t>
                </a:r>
                <a:endParaRPr lang="zh-CN" altLang="en-US" sz="2000" b="1" dirty="0"/>
              </a:p>
            </p:txBody>
          </p:sp>
        </mc:Choice>
        <mc:Fallback xmlns="">
          <p:sp>
            <p:nvSpPr>
              <p:cNvPr id="27" name="文本框 26">
                <a:extLst>
                  <a:ext uri="{FF2B5EF4-FFF2-40B4-BE49-F238E27FC236}">
                    <a16:creationId xmlns:a16="http://schemas.microsoft.com/office/drawing/2014/main" id="{2465418B-15E0-A275-637D-5B5A1140178D}"/>
                  </a:ext>
                </a:extLst>
              </p:cNvPr>
              <p:cNvSpPr txBox="1">
                <a:spLocks noRot="1" noChangeAspect="1" noMove="1" noResize="1" noEditPoints="1" noAdjustHandles="1" noChangeArrowheads="1" noChangeShapeType="1" noTextEdit="1"/>
              </p:cNvSpPr>
              <p:nvPr/>
            </p:nvSpPr>
            <p:spPr>
              <a:xfrm>
                <a:off x="4011183" y="4757073"/>
                <a:ext cx="6893781" cy="60651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2E954570-0DEB-177C-8B32-3D7EA761DAA8}"/>
                  </a:ext>
                </a:extLst>
              </p:cNvPr>
              <p:cNvSpPr txBox="1"/>
              <p:nvPr/>
            </p:nvSpPr>
            <p:spPr>
              <a:xfrm>
                <a:off x="820310" y="5359383"/>
                <a:ext cx="10551380" cy="495520"/>
              </a:xfrm>
              <a:prstGeom prst="rect">
                <a:avLst/>
              </a:prstGeom>
              <a:noFill/>
            </p:spPr>
            <p:txBody>
              <a:bodyPr wrap="square">
                <a:spAutoFit/>
              </a:bodyPr>
              <a:lstStyle/>
              <a:p>
                <a:pPr algn="just"/>
                <a:r>
                  <a:rPr lang="en-US" altLang="zh-CN" sz="2400" b="1" kern="100" dirty="0">
                    <a:effectLst/>
                    <a:latin typeface="微软雅黑" panose="020B0503020204020204" pitchFamily="34" charset="-122"/>
                    <a:ea typeface="微软雅黑" panose="020B0503020204020204" pitchFamily="34" charset="-122"/>
                  </a:rPr>
                  <a:t>       </a:t>
                </a:r>
                <a:r>
                  <a:rPr lang="zh-CN" altLang="zh-CN" sz="2400" b="1" kern="100" dirty="0">
                    <a:effectLst/>
                    <a:latin typeface="微软雅黑" panose="020B0503020204020204" pitchFamily="34" charset="-122"/>
                    <a:ea typeface="微软雅黑" panose="020B0503020204020204" pitchFamily="34" charset="-122"/>
                  </a:rPr>
                  <a:t>式中，</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𝑨</m:t>
                        </m:r>
                      </m:e>
                      <m:sub>
                        <m:r>
                          <a:rPr lang="en-US" altLang="zh-CN" sz="2400" b="1" i="1" kern="100" smtClean="0">
                            <a:effectLst/>
                            <a:latin typeface="Cambria Math" panose="02040503050406030204" pitchFamily="18" charset="0"/>
                            <a:ea typeface="宋体" panose="02010600030101010101" pitchFamily="2" charset="-122"/>
                          </a:rPr>
                          <m:t>𝒎</m:t>
                        </m:r>
                        <m:r>
                          <a:rPr lang="en-US" altLang="zh-CN" sz="2400" b="1" i="1" kern="100" smtClean="0">
                            <a:effectLst/>
                            <a:latin typeface="Cambria Math" panose="02040503050406030204" pitchFamily="18" charset="0"/>
                            <a:ea typeface="宋体" panose="02010600030101010101" pitchFamily="2" charset="-122"/>
                          </a:rPr>
                          <m:t>𝟏</m:t>
                        </m:r>
                      </m:sub>
                    </m:sSub>
                  </m:oMath>
                </a14:m>
                <a:r>
                  <a:rPr lang="zh-CN" altLang="zh-CN" sz="2400" b="1" kern="100" dirty="0">
                    <a:effectLst/>
                    <a:latin typeface="微软雅黑" panose="020B0503020204020204" pitchFamily="34" charset="-122"/>
                    <a:ea typeface="微软雅黑" panose="020B0503020204020204" pitchFamily="34" charset="-122"/>
                  </a:rPr>
                  <a:t>为待定参数，</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𝑻</m:t>
                        </m:r>
                      </m:e>
                      <m:sub>
                        <m:r>
                          <a:rPr lang="en-US" altLang="zh-CN" sz="2400" b="1" i="1" kern="100">
                            <a:effectLst/>
                            <a:latin typeface="Cambria Math" panose="02040503050406030204" pitchFamily="18" charset="0"/>
                            <a:ea typeface="宋体" panose="02010600030101010101" pitchFamily="2" charset="-122"/>
                          </a:rPr>
                          <m:t>𝒚</m:t>
                        </m:r>
                      </m:sub>
                    </m:sSub>
                  </m:oMath>
                </a14:m>
                <a:r>
                  <a:rPr lang="zh-CN" altLang="zh-CN" sz="2400" b="1" kern="100" dirty="0">
                    <a:effectLst/>
                    <a:latin typeface="微软雅黑" panose="020B0503020204020204" pitchFamily="34" charset="-122"/>
                    <a:ea typeface="微软雅黑" panose="020B0503020204020204" pitchFamily="34" charset="-122"/>
                  </a:rPr>
                  <a:t>为摆动腿摆动时间，</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𝒕</m:t>
                    </m:r>
                  </m:oMath>
                </a14:m>
                <a:r>
                  <a:rPr lang="zh-CN" altLang="zh-CN" sz="2400" b="1" kern="100" dirty="0">
                    <a:effectLst/>
                    <a:latin typeface="微软雅黑" panose="020B0503020204020204" pitchFamily="34" charset="-122"/>
                    <a:ea typeface="微软雅黑" panose="020B0503020204020204" pitchFamily="34" charset="-122"/>
                  </a:rPr>
                  <a:t>为步行时间。</a:t>
                </a:r>
              </a:p>
            </p:txBody>
          </p:sp>
        </mc:Choice>
        <mc:Fallback xmlns="">
          <p:sp>
            <p:nvSpPr>
              <p:cNvPr id="30" name="文本框 29">
                <a:extLst>
                  <a:ext uri="{FF2B5EF4-FFF2-40B4-BE49-F238E27FC236}">
                    <a16:creationId xmlns:a16="http://schemas.microsoft.com/office/drawing/2014/main" id="{2E954570-0DEB-177C-8B32-3D7EA761DAA8}"/>
                  </a:ext>
                </a:extLst>
              </p:cNvPr>
              <p:cNvSpPr txBox="1">
                <a:spLocks noRot="1" noChangeAspect="1" noMove="1" noResize="1" noEditPoints="1" noAdjustHandles="1" noChangeArrowheads="1" noChangeShapeType="1" noTextEdit="1"/>
              </p:cNvSpPr>
              <p:nvPr/>
            </p:nvSpPr>
            <p:spPr>
              <a:xfrm>
                <a:off x="820310" y="5359383"/>
                <a:ext cx="10551380" cy="495520"/>
              </a:xfrm>
              <a:prstGeom prst="rect">
                <a:avLst/>
              </a:prstGeom>
              <a:blipFill>
                <a:blip r:embed="rId3"/>
                <a:stretch>
                  <a:fillRect t="-9877" b="-209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180657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053FF78-1247-B4B2-DA36-00BED9E0D3A0}"/>
                  </a:ext>
                </a:extLst>
              </p:cNvPr>
              <p:cNvSpPr txBox="1"/>
              <p:nvPr/>
            </p:nvSpPr>
            <p:spPr>
              <a:xfrm>
                <a:off x="739472" y="1184744"/>
                <a:ext cx="9183756" cy="1025922"/>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由上式可得关于速度的表达式为</a:t>
                </a:r>
              </a:p>
              <a:p>
                <a:pPr algn="jus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𝒙</m:t>
                        </m:r>
                      </m:e>
                    </m:acc>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𝑨</m:t>
                            </m:r>
                          </m:e>
                          <m:sub>
                            <m:r>
                              <a:rPr lang="en-US" altLang="zh-CN" sz="2000" b="1" i="1" kern="1050" smtClean="0">
                                <a:effectLst/>
                                <a:latin typeface="Cambria Math" panose="02040503050406030204" pitchFamily="18" charset="0"/>
                                <a:ea typeface="宋体" panose="02010600030101010101" pitchFamily="2" charset="-122"/>
                              </a:rPr>
                              <m:t>𝒎</m:t>
                            </m:r>
                            <m:r>
                              <a:rPr lang="en-US" altLang="zh-CN" sz="2000" b="1" i="1" kern="1050" smtClean="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𝑻</m:t>
                            </m:r>
                          </m:e>
                          <m:sub>
                            <m:r>
                              <a:rPr lang="en-US" altLang="zh-CN" sz="2000" b="1" i="1" kern="1050" smtClean="0">
                                <a:effectLst/>
                                <a:latin typeface="Cambria Math" panose="02040503050406030204" pitchFamily="18" charset="0"/>
                                <a:ea typeface="宋体" panose="02010600030101010101" pitchFamily="2" charset="-122"/>
                              </a:rPr>
                              <m:t>𝒚</m:t>
                            </m:r>
                          </m:sub>
                        </m:sSub>
                      </m:num>
                      <m:den>
                        <m:r>
                          <a:rPr lang="en-US" altLang="zh-CN" sz="2000" b="1" i="1" kern="1050" smtClean="0">
                            <a:effectLst/>
                            <a:latin typeface="Cambria Math" panose="02040503050406030204" pitchFamily="18" charset="0"/>
                            <a:ea typeface="宋体" panose="02010600030101010101" pitchFamily="2" charset="-122"/>
                          </a:rPr>
                          <m:t>𝟐</m:t>
                        </m:r>
                        <m:r>
                          <a:rPr lang="en-US" altLang="zh-CN" sz="2000" b="1" i="1" kern="1050" smtClean="0">
                            <a:effectLst/>
                            <a:latin typeface="Cambria Math" panose="02040503050406030204" pitchFamily="18" charset="0"/>
                            <a:ea typeface="宋体" panose="02010600030101010101" pitchFamily="2" charset="-122"/>
                          </a:rPr>
                          <m:t>𝝅</m:t>
                        </m:r>
                      </m:den>
                    </m:f>
                    <m:d>
                      <m:dPr>
                        <m:ctrlPr>
                          <a:rPr lang="zh-CN" altLang="zh-CN" sz="2000" b="1" i="1" kern="1050">
                            <a:effectLst/>
                            <a:latin typeface="Cambria Math" panose="02040503050406030204" pitchFamily="18" charset="0"/>
                            <a:ea typeface="Cambria Math" panose="02040503050406030204" pitchFamily="18" charset="0"/>
                          </a:rPr>
                        </m:ctrlPr>
                      </m:dPr>
                      <m:e>
                        <m:r>
                          <a:rPr lang="en-US" altLang="zh-CN" sz="2000" b="1" i="1" kern="1050" smtClean="0">
                            <a:effectLst/>
                            <a:latin typeface="Cambria Math" panose="02040503050406030204" pitchFamily="18" charset="0"/>
                            <a:ea typeface="宋体" panose="02010600030101010101" pitchFamily="2" charset="-122"/>
                          </a:rPr>
                          <m:t>𝟏</m:t>
                        </m:r>
                        <m:r>
                          <a:rPr lang="en-US" altLang="zh-CN" sz="2000" b="1" i="1" kern="1050" smtClean="0">
                            <a:effectLst/>
                            <a:latin typeface="Cambria Math" panose="02040503050406030204" pitchFamily="18" charset="0"/>
                            <a:ea typeface="宋体" panose="02010600030101010101" pitchFamily="2" charset="-122"/>
                          </a:rPr>
                          <m:t>−</m:t>
                        </m:r>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𝒄𝒐𝒔</m:t>
                            </m:r>
                          </m:fName>
                          <m:e>
                            <m:r>
                              <a:rPr lang="en-US" altLang="zh-CN" sz="2000" b="1" i="1" kern="1050" smtClean="0">
                                <a:effectLst/>
                                <a:latin typeface="Cambria Math" panose="02040503050406030204" pitchFamily="18" charset="0"/>
                                <a:ea typeface="宋体" panose="02010600030101010101" pitchFamily="2" charset="-122"/>
                              </a:rPr>
                              <m:t>𝟐</m:t>
                            </m:r>
                          </m:e>
                        </m:func>
                        <m:r>
                          <a:rPr lang="en-US" altLang="zh-CN" sz="2000" b="1" i="1" kern="1050" smtClean="0">
                            <a:effectLst/>
                            <a:latin typeface="Cambria Math" panose="02040503050406030204" pitchFamily="18" charset="0"/>
                            <a:ea typeface="宋体" panose="02010600030101010101" pitchFamily="2" charset="-122"/>
                          </a:rPr>
                          <m:t>𝝅</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𝒕</m:t>
                            </m:r>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𝑻</m:t>
                                </m:r>
                              </m:e>
                              <m:sub>
                                <m:r>
                                  <a:rPr lang="en-US" altLang="zh-CN" sz="2000" b="1" i="1" kern="1050" smtClean="0">
                                    <a:effectLst/>
                                    <a:latin typeface="Cambria Math" panose="02040503050406030204" pitchFamily="18" charset="0"/>
                                    <a:ea typeface="宋体" panose="02010600030101010101" pitchFamily="2" charset="-122"/>
                                  </a:rPr>
                                  <m:t>𝒚</m:t>
                                </m:r>
                              </m:sub>
                            </m:sSub>
                          </m:den>
                        </m:f>
                      </m:e>
                    </m:d>
                  </m:oMath>
                </a14:m>
                <a:r>
                  <a:rPr lang="en-US" altLang="zh-CN" sz="2000" b="1" kern="1050" dirty="0">
                    <a:effectLst/>
                    <a:latin typeface="微软雅黑" panose="020B0503020204020204" pitchFamily="34" charset="-122"/>
                    <a:ea typeface="微软雅黑" panose="020B0503020204020204" pitchFamily="34" charset="-122"/>
                  </a:rPr>
                  <a:t>	        (5.7)</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11" name="文本框 10">
                <a:extLst>
                  <a:ext uri="{FF2B5EF4-FFF2-40B4-BE49-F238E27FC236}">
                    <a16:creationId xmlns:a16="http://schemas.microsoft.com/office/drawing/2014/main" id="{7053FF78-1247-B4B2-DA36-00BED9E0D3A0}"/>
                  </a:ext>
                </a:extLst>
              </p:cNvPr>
              <p:cNvSpPr txBox="1">
                <a:spLocks noRot="1" noChangeAspect="1" noMove="1" noResize="1" noEditPoints="1" noAdjustHandles="1" noChangeArrowheads="1" noChangeShapeType="1" noTextEdit="1"/>
              </p:cNvSpPr>
              <p:nvPr/>
            </p:nvSpPr>
            <p:spPr>
              <a:xfrm>
                <a:off x="739472" y="1184744"/>
                <a:ext cx="9183756" cy="1025922"/>
              </a:xfrm>
              <a:prstGeom prst="rect">
                <a:avLst/>
              </a:prstGeom>
              <a:blipFill>
                <a:blip r:embed="rId2"/>
                <a:stretch>
                  <a:fillRect l="-995" t="-47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CBCFF4C0-7B44-25CC-EE12-F7B5C93F5EC4}"/>
                  </a:ext>
                </a:extLst>
              </p:cNvPr>
              <p:cNvSpPr txBox="1"/>
              <p:nvPr/>
            </p:nvSpPr>
            <p:spPr>
              <a:xfrm>
                <a:off x="739472" y="2289976"/>
                <a:ext cx="10455965" cy="2504725"/>
              </a:xfrm>
              <a:prstGeom prst="rect">
                <a:avLst/>
              </a:prstGeom>
              <a:noFill/>
            </p:spPr>
            <p:txBody>
              <a:bodyPr wrap="square">
                <a:spAutoFit/>
              </a:bodyPr>
              <a:lstStyle/>
              <a:p>
                <a:pPr algn="just"/>
                <a:r>
                  <a:rPr lang="zh-CN" altLang="zh-CN" sz="2400" b="1" kern="100" dirty="0">
                    <a:effectLst/>
                    <a:latin typeface="微软雅黑" panose="020B0503020204020204" pitchFamily="34" charset="-122"/>
                    <a:ea typeface="微软雅黑" panose="020B0503020204020204" pitchFamily="34" charset="-122"/>
                  </a:rPr>
                  <a:t>由式</a:t>
                </a:r>
                <a:r>
                  <a:rPr lang="en-US" altLang="zh-CN" sz="2400" b="1" kern="100" dirty="0">
                    <a:effectLst/>
                    <a:latin typeface="微软雅黑" panose="020B0503020204020204" pitchFamily="34" charset="-122"/>
                    <a:ea typeface="微软雅黑" panose="020B0503020204020204" pitchFamily="34" charset="-122"/>
                  </a:rPr>
                  <a:t>(5.7)</a:t>
                </a:r>
                <a:r>
                  <a:rPr lang="zh-CN" altLang="zh-CN" sz="2400" b="1" kern="100" dirty="0">
                    <a:effectLst/>
                    <a:latin typeface="微软雅黑" panose="020B0503020204020204" pitchFamily="34" charset="-122"/>
                    <a:ea typeface="微软雅黑" panose="020B0503020204020204" pitchFamily="34" charset="-122"/>
                  </a:rPr>
                  <a:t>得，当</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𝒕</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𝟎</m:t>
                    </m:r>
                  </m:oMath>
                </a14:m>
                <a:r>
                  <a:rPr lang="zh-CN" altLang="zh-CN" sz="2400" b="1" kern="100" dirty="0">
                    <a:effectLst/>
                    <a:latin typeface="微软雅黑" panose="020B0503020204020204" pitchFamily="34" charset="-122"/>
                    <a:ea typeface="微软雅黑" panose="020B0503020204020204" pitchFamily="34" charset="-122"/>
                  </a:rPr>
                  <a:t>且</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𝒕</m:t>
                    </m:r>
                    <m:r>
                      <a:rPr lang="en-US" altLang="zh-CN" sz="2400" b="1" i="1" kern="10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𝑻</m:t>
                        </m:r>
                      </m:e>
                      <m:sub>
                        <m:r>
                          <a:rPr lang="en-US" altLang="zh-CN" sz="2400" b="1" i="1" kern="100">
                            <a:effectLst/>
                            <a:latin typeface="Cambria Math" panose="02040503050406030204" pitchFamily="18" charset="0"/>
                            <a:ea typeface="宋体" panose="02010600030101010101" pitchFamily="2" charset="-122"/>
                          </a:rPr>
                          <m:t>𝒚</m:t>
                        </m:r>
                      </m:sub>
                    </m:sSub>
                  </m:oMath>
                </a14:m>
                <a:r>
                  <a:rPr lang="zh-CN" altLang="zh-CN" sz="2400" b="1" kern="100" dirty="0">
                    <a:effectLst/>
                    <a:latin typeface="微软雅黑" panose="020B0503020204020204" pitchFamily="34" charset="-122"/>
                    <a:ea typeface="微软雅黑" panose="020B0503020204020204" pitchFamily="34" charset="-122"/>
                  </a:rPr>
                  <a:t>时，</a:t>
                </a:r>
                <a14:m>
                  <m:oMath xmlns:m="http://schemas.openxmlformats.org/officeDocument/2006/math">
                    <m:acc>
                      <m:accPr>
                        <m:chr m:val="̇"/>
                        <m:ctrlPr>
                          <a:rPr lang="zh-CN" altLang="zh-CN" sz="2400" b="1" i="1" kern="100">
                            <a:effectLst/>
                            <a:latin typeface="Cambria Math" panose="02040503050406030204" pitchFamily="18" charset="0"/>
                            <a:ea typeface="Cambria Math" panose="02040503050406030204" pitchFamily="18" charset="0"/>
                          </a:rPr>
                        </m:ctrlPr>
                      </m:accPr>
                      <m:e>
                        <m:r>
                          <a:rPr lang="en-US" altLang="zh-CN" sz="2400" b="1" i="1" kern="100">
                            <a:effectLst/>
                            <a:latin typeface="Cambria Math" panose="02040503050406030204" pitchFamily="18" charset="0"/>
                            <a:ea typeface="宋体" panose="02010600030101010101" pitchFamily="2" charset="-122"/>
                          </a:rPr>
                          <m:t>𝒙</m:t>
                        </m:r>
                      </m:e>
                    </m:acc>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𝟎</m:t>
                    </m:r>
                  </m:oMath>
                </a14:m>
                <a:r>
                  <a:rPr lang="zh-CN" altLang="zh-CN" sz="2400" b="1" kern="100" dirty="0">
                    <a:effectLst/>
                    <a:latin typeface="微软雅黑" panose="020B0503020204020204" pitchFamily="34" charset="-122"/>
                    <a:ea typeface="微软雅黑" panose="020B0503020204020204" pitchFamily="34" charset="-122"/>
                  </a:rPr>
                  <a:t>。对式</a:t>
                </a:r>
                <a:r>
                  <a:rPr lang="en-US" altLang="zh-CN" sz="2400" b="1" kern="100" dirty="0">
                    <a:effectLst/>
                    <a:latin typeface="微软雅黑" panose="020B0503020204020204" pitchFamily="34" charset="-122"/>
                    <a:ea typeface="微软雅黑" panose="020B0503020204020204" pitchFamily="34" charset="-122"/>
                  </a:rPr>
                  <a:t>(5.4)</a:t>
                </a:r>
                <a:r>
                  <a:rPr lang="zh-CN" altLang="zh-CN" sz="2400" b="1" kern="100" dirty="0">
                    <a:effectLst/>
                    <a:latin typeface="微软雅黑" panose="020B0503020204020204" pitchFamily="34" charset="-122"/>
                    <a:ea typeface="微软雅黑" panose="020B0503020204020204" pitchFamily="34" charset="-122"/>
                  </a:rPr>
                  <a:t>中的</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𝒕</m:t>
                    </m:r>
                  </m:oMath>
                </a14:m>
                <a:r>
                  <a:rPr lang="zh-CN" altLang="zh-CN" sz="2400" b="1" kern="100" dirty="0">
                    <a:effectLst/>
                    <a:latin typeface="微软雅黑" panose="020B0503020204020204" pitchFamily="34" charset="-122"/>
                    <a:ea typeface="微软雅黑" panose="020B0503020204020204" pitchFamily="34" charset="-122"/>
                  </a:rPr>
                  <a:t>进行积分，可得机器人步态规划的位置表达式为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r>
                  <a:rPr lang="en-US" altLang="zh-CN" sz="2400" b="1" kern="1050" dirty="0">
                    <a:latin typeface="微软雅黑" panose="020B0503020204020204" pitchFamily="34" charset="-122"/>
                    <a:ea typeface="微软雅黑" panose="020B0503020204020204" pitchFamily="34" charset="-122"/>
                  </a:rPr>
                  <a:t>   </a:t>
                </a: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sSub>
                          <m:sSubPr>
                            <m:ctrlPr>
                              <a:rPr lang="zh-CN" altLang="zh-CN" sz="2000" b="1" i="1" kern="1050">
                                <a:latin typeface="Cambria Math" panose="02040503050406030204" pitchFamily="18" charset="0"/>
                                <a:ea typeface="Cambria Math" panose="02040503050406030204" pitchFamily="18" charset="0"/>
                              </a:rPr>
                            </m:ctrlPr>
                          </m:sSubPr>
                          <m:e>
                            <m:r>
                              <a:rPr lang="en-US" altLang="zh-CN" sz="2000" b="1" i="1" kern="1050">
                                <a:latin typeface="Cambria Math" panose="02040503050406030204" pitchFamily="18" charset="0"/>
                                <a:ea typeface="宋体" panose="02010600030101010101" pitchFamily="2" charset="-122"/>
                              </a:rPr>
                              <m:t>𝑨</m:t>
                            </m:r>
                          </m:e>
                          <m:sub>
                            <m:r>
                              <a:rPr lang="en-US" altLang="zh-CN" sz="2000" b="1" i="1" kern="1050">
                                <a:latin typeface="Cambria Math" panose="02040503050406030204" pitchFamily="18" charset="0"/>
                                <a:ea typeface="宋体" panose="02010600030101010101" pitchFamily="2" charset="-122"/>
                              </a:rPr>
                              <m:t>𝒎</m:t>
                            </m:r>
                            <m:r>
                              <a:rPr lang="en-US" altLang="zh-CN" sz="2000" b="1" i="1" kern="1050">
                                <a:latin typeface="Cambria Math" panose="02040503050406030204" pitchFamily="18" charset="0"/>
                                <a:ea typeface="宋体" panose="02010600030101010101" pitchFamily="2" charset="-122"/>
                              </a:rPr>
                              <m:t>𝟏</m:t>
                            </m:r>
                          </m:sub>
                        </m:sSub>
                        <m:sSub>
                          <m:sSubPr>
                            <m:ctrlPr>
                              <a:rPr lang="zh-CN" altLang="zh-CN" sz="2000" b="1" i="1" kern="1050">
                                <a:latin typeface="Cambria Math" panose="02040503050406030204" pitchFamily="18" charset="0"/>
                                <a:ea typeface="Cambria Math" panose="02040503050406030204" pitchFamily="18" charset="0"/>
                              </a:rPr>
                            </m:ctrlPr>
                          </m:sSubPr>
                          <m:e>
                            <m:r>
                              <a:rPr lang="en-US" altLang="zh-CN" sz="2000" b="1" i="1" kern="1050">
                                <a:latin typeface="Cambria Math" panose="02040503050406030204" pitchFamily="18" charset="0"/>
                                <a:ea typeface="宋体" panose="02010600030101010101" pitchFamily="2" charset="-122"/>
                              </a:rPr>
                              <m:t>𝑻</m:t>
                            </m:r>
                          </m:e>
                          <m:sub>
                            <m:r>
                              <a:rPr lang="en-US" altLang="zh-CN" sz="2000" b="1" i="1" kern="1050">
                                <a:latin typeface="Cambria Math" panose="02040503050406030204" pitchFamily="18" charset="0"/>
                                <a:ea typeface="宋体" panose="02010600030101010101" pitchFamily="2" charset="-122"/>
                              </a:rPr>
                              <m:t>𝒚</m:t>
                            </m:r>
                          </m:sub>
                        </m:sSub>
                      </m:num>
                      <m:den>
                        <m:r>
                          <a:rPr lang="en-US" altLang="zh-CN" sz="2000" b="1" i="1" kern="1050">
                            <a:effectLst/>
                            <a:latin typeface="Cambria Math" panose="02040503050406030204" pitchFamily="18" charset="0"/>
                            <a:ea typeface="宋体" panose="02010600030101010101" pitchFamily="2" charset="-122"/>
                          </a:rPr>
                          <m:t>𝟐</m:t>
                        </m:r>
                        <m:r>
                          <a:rPr lang="en-US" altLang="zh-CN" sz="2000" b="1" i="1" kern="1050">
                            <a:effectLst/>
                            <a:latin typeface="Cambria Math" panose="02040503050406030204" pitchFamily="18" charset="0"/>
                            <a:ea typeface="宋体" panose="02010600030101010101" pitchFamily="2" charset="-122"/>
                          </a:rPr>
                          <m:t>𝝅</m:t>
                        </m:r>
                      </m:den>
                    </m:f>
                    <m:d>
                      <m:dPr>
                        <m:ctrlPr>
                          <a:rPr lang="zh-CN" altLang="zh-CN" sz="2000" b="1" i="1" kern="1050">
                            <a:effectLst/>
                            <a:latin typeface="Cambria Math" panose="02040503050406030204" pitchFamily="18" charset="0"/>
                            <a:ea typeface="Cambria Math" panose="02040503050406030204" pitchFamily="18" charset="0"/>
                          </a:rPr>
                        </m:ctrlPr>
                      </m:dPr>
                      <m:e>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𝑻</m:t>
                                </m:r>
                              </m:e>
                              <m:sub>
                                <m:r>
                                  <a:rPr lang="en-US" altLang="zh-CN" sz="2000" b="1" i="1" kern="1050">
                                    <a:effectLst/>
                                    <a:latin typeface="Cambria Math" panose="02040503050406030204" pitchFamily="18" charset="0"/>
                                    <a:ea typeface="宋体" panose="02010600030101010101" pitchFamily="2" charset="-122"/>
                                  </a:rPr>
                                  <m:t>𝒚</m:t>
                                </m:r>
                              </m:sub>
                            </m:sSub>
                          </m:num>
                          <m:den>
                            <m:r>
                              <a:rPr lang="en-US" altLang="zh-CN" sz="2000" b="1" i="1" kern="1050">
                                <a:effectLst/>
                                <a:latin typeface="Cambria Math" panose="02040503050406030204" pitchFamily="18" charset="0"/>
                                <a:ea typeface="宋体" panose="02010600030101010101" pitchFamily="2" charset="-122"/>
                              </a:rPr>
                              <m:t>𝟐</m:t>
                            </m:r>
                            <m:r>
                              <a:rPr lang="en-US" altLang="zh-CN" sz="2000" b="1" i="1" kern="1050">
                                <a:effectLst/>
                                <a:latin typeface="Cambria Math" panose="02040503050406030204" pitchFamily="18" charset="0"/>
                                <a:ea typeface="宋体" panose="02010600030101010101" pitchFamily="2" charset="-122"/>
                              </a:rPr>
                              <m:t>𝝅</m:t>
                            </m:r>
                          </m:den>
                        </m:f>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a:effectLst/>
                                <a:latin typeface="Cambria Math" panose="02040503050406030204" pitchFamily="18" charset="0"/>
                                <a:ea typeface="宋体" panose="02010600030101010101" pitchFamily="2" charset="-122"/>
                              </a:rPr>
                              <m:t>𝒔𝒊𝒏</m:t>
                            </m:r>
                          </m:fName>
                          <m:e>
                            <m:r>
                              <a:rPr lang="en-US" altLang="zh-CN" sz="2000" b="1" i="1" kern="1050">
                                <a:effectLst/>
                                <a:latin typeface="Cambria Math" panose="02040503050406030204" pitchFamily="18" charset="0"/>
                                <a:ea typeface="宋体" panose="02010600030101010101" pitchFamily="2" charset="-122"/>
                              </a:rPr>
                              <m:t>𝟐</m:t>
                            </m:r>
                          </m:e>
                        </m:func>
                        <m:r>
                          <a:rPr lang="en-US" altLang="zh-CN" sz="2000" b="1" i="1" kern="1050">
                            <a:effectLst/>
                            <a:latin typeface="Cambria Math" panose="02040503050406030204" pitchFamily="18" charset="0"/>
                            <a:ea typeface="宋体" panose="02010600030101010101" pitchFamily="2" charset="-122"/>
                          </a:rPr>
                          <m:t>𝝅</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𝒕</m:t>
                            </m:r>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𝑻</m:t>
                                </m:r>
                              </m:e>
                              <m:sub>
                                <m:r>
                                  <a:rPr lang="en-US" altLang="zh-CN" sz="2000" b="1" i="1" kern="1050">
                                    <a:effectLst/>
                                    <a:latin typeface="Cambria Math" panose="02040503050406030204" pitchFamily="18" charset="0"/>
                                    <a:ea typeface="宋体" panose="02010600030101010101" pitchFamily="2" charset="-122"/>
                                  </a:rPr>
                                  <m:t>𝒚</m:t>
                                </m:r>
                              </m:sub>
                            </m:sSub>
                          </m:den>
                        </m:f>
                      </m:e>
                    </m:d>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𝒄</m:t>
                        </m:r>
                      </m:e>
                      <m:sub>
                        <m:r>
                          <a:rPr lang="en-US" altLang="zh-CN" sz="2000" b="1" i="1" kern="1050">
                            <a:effectLst/>
                            <a:latin typeface="Cambria Math" panose="02040503050406030204" pitchFamily="18" charset="0"/>
                            <a:ea typeface="宋体" panose="02010600030101010101" pitchFamily="2" charset="-122"/>
                          </a:rPr>
                          <m:t>𝟏</m:t>
                        </m:r>
                      </m:sub>
                    </m:sSub>
                  </m:oMath>
                </a14:m>
                <a:r>
                  <a:rPr lang="en-US" altLang="zh-CN" sz="2000" b="1" kern="1050" dirty="0">
                    <a:effectLst/>
                    <a:latin typeface="微软雅黑" panose="020B0503020204020204" pitchFamily="34" charset="-122"/>
                    <a:ea typeface="微软雅黑" panose="020B0503020204020204" pitchFamily="34" charset="-122"/>
                  </a:rPr>
                  <a:t>	          (5.8)</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当</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时，</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；当</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𝑺</m:t>
                        </m:r>
                      </m:e>
                      <m:sub>
                        <m:r>
                          <a:rPr lang="en-US" altLang="zh-CN" sz="2400" b="1" i="1" kern="1000">
                            <a:effectLst/>
                            <a:latin typeface="Cambria Math" panose="02040503050406030204" pitchFamily="18" charset="0"/>
                            <a:ea typeface="宋体" panose="02010600030101010101" pitchFamily="2" charset="-122"/>
                          </a:rPr>
                          <m:t>𝟎</m:t>
                        </m:r>
                      </m:sub>
                    </m:sSub>
                  </m:oMath>
                </a14:m>
                <a:r>
                  <a:rPr lang="zh-CN" altLang="zh-CN" sz="2400" b="1" kern="1000" dirty="0">
                    <a:effectLst/>
                    <a:latin typeface="微软雅黑" panose="020B0503020204020204" pitchFamily="34" charset="-122"/>
                    <a:ea typeface="微软雅黑" panose="020B0503020204020204" pitchFamily="34" charset="-122"/>
                  </a:rPr>
                  <a:t>时，</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𝑻</m:t>
                        </m:r>
                      </m:e>
                      <m:sub>
                        <m:r>
                          <a:rPr lang="en-US" altLang="zh-CN" sz="2400" b="1" i="1" kern="1000">
                            <a:effectLst/>
                            <a:latin typeface="Cambria Math" panose="02040503050406030204" pitchFamily="18" charset="0"/>
                            <a:ea typeface="宋体" panose="02010600030101010101" pitchFamily="2" charset="-122"/>
                          </a:rPr>
                          <m:t>𝒚</m:t>
                        </m:r>
                      </m:sub>
                    </m:sSub>
                  </m:oMath>
                </a14:m>
                <a:r>
                  <a:rPr lang="zh-CN" altLang="zh-CN" sz="2400" b="1" kern="1000" dirty="0">
                    <a:effectLst/>
                    <a:latin typeface="微软雅黑" panose="020B0503020204020204" pitchFamily="34" charset="-122"/>
                    <a:ea typeface="微软雅黑" panose="020B0503020204020204" pitchFamily="34" charset="-122"/>
                  </a:rPr>
                  <a:t>。有</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𝒄</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𝟎</m:t>
                    </m:r>
                  </m:oMath>
                </a14:m>
                <a:r>
                  <a:rPr lang="zh-CN" altLang="zh-CN" sz="2000" b="1" kern="105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𝑨</m:t>
                        </m:r>
                      </m:e>
                      <m:sub>
                        <m:r>
                          <a:rPr lang="en-US" altLang="zh-CN" sz="2000" b="1" i="1" kern="1050" smtClean="0">
                            <a:effectLst/>
                            <a:latin typeface="Cambria Math" panose="02040503050406030204" pitchFamily="18" charset="0"/>
                            <a:ea typeface="宋体" panose="02010600030101010101" pitchFamily="2" charset="-122"/>
                          </a:rPr>
                          <m:t>𝒎</m:t>
                        </m:r>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𝟐</m:t>
                        </m:r>
                        <m:r>
                          <a:rPr lang="en-US" altLang="zh-CN" sz="2000" b="1" i="1" kern="1050">
                            <a:effectLst/>
                            <a:latin typeface="Cambria Math" panose="02040503050406030204" pitchFamily="18" charset="0"/>
                            <a:ea typeface="宋体" panose="02010600030101010101" pitchFamily="2" charset="-122"/>
                          </a:rPr>
                          <m:t>𝝅</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𝑺</m:t>
                            </m:r>
                          </m:e>
                          <m:sub>
                            <m:r>
                              <a:rPr lang="en-US" altLang="zh-CN" sz="2000" b="1" i="1" kern="1050">
                                <a:effectLst/>
                                <a:latin typeface="Cambria Math" panose="02040503050406030204" pitchFamily="18" charset="0"/>
                                <a:ea typeface="宋体" panose="02010600030101010101" pitchFamily="2" charset="-122"/>
                              </a:rPr>
                              <m:t>𝟎</m:t>
                            </m:r>
                          </m:sub>
                        </m:sSub>
                      </m:num>
                      <m:den>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𝑻</m:t>
                            </m:r>
                          </m:e>
                          <m:sub>
                            <m:r>
                              <a:rPr lang="en-US" altLang="zh-CN" sz="2000" b="1" i="1" kern="1050">
                                <a:effectLst/>
                                <a:latin typeface="Cambria Math" panose="02040503050406030204" pitchFamily="18" charset="0"/>
                                <a:ea typeface="宋体" panose="02010600030101010101" pitchFamily="2" charset="-122"/>
                              </a:rPr>
                              <m:t>𝒚</m:t>
                            </m:r>
                          </m:sub>
                          <m:sup>
                            <m:r>
                              <a:rPr lang="en-US" altLang="zh-CN" sz="2000" b="1" i="1" kern="1050">
                                <a:effectLst/>
                                <a:latin typeface="Cambria Math" panose="02040503050406030204" pitchFamily="18" charset="0"/>
                                <a:ea typeface="宋体" panose="02010600030101010101" pitchFamily="2" charset="-122"/>
                              </a:rPr>
                              <m:t>𝟐</m:t>
                            </m:r>
                          </m:sup>
                        </m:sSubSup>
                      </m:den>
                    </m:f>
                  </m:oMath>
                </a14:m>
                <a:r>
                  <a:rPr lang="en-US" altLang="zh-CN" sz="2000" b="1" kern="1050" dirty="0">
                    <a:effectLst/>
                    <a:latin typeface="Times New Roman" panose="02020603050405020304" pitchFamily="18" charset="0"/>
                    <a:ea typeface="宋体" panose="02010600030101010101" pitchFamily="2" charset="-122"/>
                  </a:rPr>
                  <a:t>	            </a:t>
                </a:r>
                <a:r>
                  <a:rPr lang="en-US" altLang="zh-CN" sz="2000" b="1" kern="1050" dirty="0">
                    <a:effectLst/>
                    <a:latin typeface="微软雅黑" panose="020B0503020204020204" pitchFamily="34" charset="-122"/>
                    <a:ea typeface="微软雅黑" panose="020B0503020204020204" pitchFamily="34" charset="-122"/>
                  </a:rPr>
                  <a:t>(5.9)</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21" name="文本框 20">
                <a:extLst>
                  <a:ext uri="{FF2B5EF4-FFF2-40B4-BE49-F238E27FC236}">
                    <a16:creationId xmlns:a16="http://schemas.microsoft.com/office/drawing/2014/main" id="{CBCFF4C0-7B44-25CC-EE12-F7B5C93F5EC4}"/>
                  </a:ext>
                </a:extLst>
              </p:cNvPr>
              <p:cNvSpPr txBox="1">
                <a:spLocks noRot="1" noChangeAspect="1" noMove="1" noResize="1" noEditPoints="1" noAdjustHandles="1" noChangeArrowheads="1" noChangeShapeType="1" noTextEdit="1"/>
              </p:cNvSpPr>
              <p:nvPr/>
            </p:nvSpPr>
            <p:spPr>
              <a:xfrm>
                <a:off x="739472" y="2289976"/>
                <a:ext cx="10455965" cy="2504725"/>
              </a:xfrm>
              <a:prstGeom prst="rect">
                <a:avLst/>
              </a:prstGeom>
              <a:blipFill>
                <a:blip r:embed="rId3"/>
                <a:stretch>
                  <a:fillRect l="-874" t="-1946" r="-8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5027CB47-7F5F-A83B-7ED6-CE9E439706C4}"/>
                  </a:ext>
                </a:extLst>
              </p:cNvPr>
              <p:cNvSpPr txBox="1"/>
              <p:nvPr/>
            </p:nvSpPr>
            <p:spPr>
              <a:xfrm>
                <a:off x="739472" y="4874011"/>
                <a:ext cx="10654746" cy="830997"/>
              </a:xfrm>
              <a:prstGeom prst="rect">
                <a:avLst/>
              </a:prstGeom>
              <a:noFill/>
            </p:spPr>
            <p:txBody>
              <a:bodyPr wrap="square">
                <a:spAutoFit/>
              </a:bodyPr>
              <a:lstStyle/>
              <a:p>
                <a:pPr indent="612000"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𝑺</m:t>
                        </m:r>
                      </m:e>
                      <m:sub>
                        <m:r>
                          <a:rPr lang="en-US" altLang="zh-CN" sz="2400" b="1" i="1" kern="1000">
                            <a:effectLst/>
                            <a:latin typeface="Cambria Math" panose="02040503050406030204" pitchFamily="18" charset="0"/>
                            <a:ea typeface="宋体" panose="02010600030101010101" pitchFamily="2" charset="-122"/>
                          </a:rPr>
                          <m:t>𝟎</m:t>
                        </m:r>
                      </m:sub>
                    </m:sSub>
                  </m:oMath>
                </a14:m>
                <a:r>
                  <a:rPr lang="zh-CN" altLang="zh-CN" sz="2400" b="1" kern="1000" dirty="0">
                    <a:effectLst/>
                    <a:latin typeface="微软雅黑" panose="020B0503020204020204" pitchFamily="34" charset="-122"/>
                    <a:ea typeface="微软雅黑" panose="020B0503020204020204" pitchFamily="34" charset="-122"/>
                  </a:rPr>
                  <a:t>为步长。将式</a:t>
                </a:r>
                <a:r>
                  <a:rPr lang="en-US" altLang="zh-CN" sz="2400" b="1" kern="1000" dirty="0">
                    <a:effectLst/>
                    <a:latin typeface="微软雅黑" panose="020B0503020204020204" pitchFamily="34" charset="-122"/>
                    <a:ea typeface="微软雅黑" panose="020B0503020204020204" pitchFamily="34" charset="-122"/>
                  </a:rPr>
                  <a:t>(5.9)</a:t>
                </a:r>
                <a:r>
                  <a:rPr lang="zh-CN" altLang="zh-CN" sz="2400" b="1" kern="1000" dirty="0">
                    <a:effectLst/>
                    <a:latin typeface="微软雅黑" panose="020B0503020204020204" pitchFamily="34" charset="-122"/>
                    <a:ea typeface="微软雅黑" panose="020B0503020204020204" pitchFamily="34" charset="-122"/>
                  </a:rPr>
                  <a:t>代入式</a:t>
                </a:r>
                <a:r>
                  <a:rPr lang="en-US" altLang="zh-CN" sz="2400" b="1" kern="1000" dirty="0">
                    <a:effectLst/>
                    <a:latin typeface="微软雅黑" panose="020B0503020204020204" pitchFamily="34" charset="-122"/>
                    <a:ea typeface="微软雅黑" panose="020B0503020204020204" pitchFamily="34" charset="-122"/>
                  </a:rPr>
                  <a:t>(5.6)</a:t>
                </a:r>
                <a:r>
                  <a:rPr lang="zh-CN" altLang="zh-CN" sz="2400" b="1" kern="1000" dirty="0">
                    <a:effectLst/>
                    <a:latin typeface="微软雅黑" panose="020B0503020204020204" pitchFamily="34" charset="-122"/>
                    <a:ea typeface="微软雅黑" panose="020B0503020204020204" pitchFamily="34" charset="-122"/>
                  </a:rPr>
                  <a:t>～式</a:t>
                </a:r>
                <a:r>
                  <a:rPr lang="en-US" altLang="zh-CN" sz="2400" b="1" kern="1000" dirty="0">
                    <a:effectLst/>
                    <a:latin typeface="微软雅黑" panose="020B0503020204020204" pitchFamily="34" charset="-122"/>
                    <a:ea typeface="微软雅黑" panose="020B0503020204020204" pitchFamily="34" charset="-122"/>
                  </a:rPr>
                  <a:t>(5.8)</a:t>
                </a:r>
                <a:r>
                  <a:rPr lang="zh-CN" altLang="zh-CN" sz="2400" b="1" kern="1000" dirty="0">
                    <a:effectLst/>
                    <a:latin typeface="微软雅黑" panose="020B0503020204020204" pitchFamily="34" charset="-122"/>
                    <a:ea typeface="微软雅黑" panose="020B0503020204020204" pitchFamily="34" charset="-122"/>
                  </a:rPr>
                  <a:t>中，依次得到以下式</a:t>
                </a:r>
                <a:r>
                  <a:rPr lang="en-US" altLang="zh-CN" sz="2400" b="1" kern="1000" dirty="0">
                    <a:effectLst/>
                    <a:latin typeface="微软雅黑" panose="020B0503020204020204" pitchFamily="34" charset="-122"/>
                    <a:ea typeface="微软雅黑" panose="020B0503020204020204" pitchFamily="34" charset="-122"/>
                  </a:rPr>
                  <a:t>(5.10)</a:t>
                </a:r>
                <a:r>
                  <a:rPr lang="zh-CN" altLang="zh-CN" sz="2400" b="1" kern="1000" dirty="0">
                    <a:effectLst/>
                    <a:latin typeface="微软雅黑" panose="020B0503020204020204" pitchFamily="34" charset="-122"/>
                    <a:ea typeface="微软雅黑" panose="020B0503020204020204" pitchFamily="34" charset="-122"/>
                  </a:rPr>
                  <a:t>～式</a:t>
                </a:r>
                <a:r>
                  <a:rPr lang="en-US" altLang="zh-CN" sz="2400" b="1" kern="1000" dirty="0">
                    <a:effectLst/>
                    <a:latin typeface="微软雅黑" panose="020B0503020204020204" pitchFamily="34" charset="-122"/>
                    <a:ea typeface="微软雅黑" panose="020B0503020204020204" pitchFamily="34" charset="-122"/>
                  </a:rPr>
                  <a:t>(5.12)</a:t>
                </a:r>
                <a:r>
                  <a:rPr lang="zh-CN" altLang="zh-CN" sz="2400" b="1" kern="1000" dirty="0">
                    <a:effectLst/>
                    <a:latin typeface="微软雅黑" panose="020B0503020204020204" pitchFamily="34" charset="-122"/>
                    <a:ea typeface="微软雅黑" panose="020B0503020204020204" pitchFamily="34" charset="-122"/>
                  </a:rPr>
                  <a:t>：</a:t>
                </a:r>
              </a:p>
            </p:txBody>
          </p:sp>
        </mc:Choice>
        <mc:Fallback xmlns="">
          <p:sp>
            <p:nvSpPr>
              <p:cNvPr id="24" name="文本框 23">
                <a:extLst>
                  <a:ext uri="{FF2B5EF4-FFF2-40B4-BE49-F238E27FC236}">
                    <a16:creationId xmlns:a16="http://schemas.microsoft.com/office/drawing/2014/main" id="{5027CB47-7F5F-A83B-7ED6-CE9E439706C4}"/>
                  </a:ext>
                </a:extLst>
              </p:cNvPr>
              <p:cNvSpPr txBox="1">
                <a:spLocks noRot="1" noChangeAspect="1" noMove="1" noResize="1" noEditPoints="1" noAdjustHandles="1" noChangeArrowheads="1" noChangeShapeType="1" noTextEdit="1"/>
              </p:cNvSpPr>
              <p:nvPr/>
            </p:nvSpPr>
            <p:spPr>
              <a:xfrm>
                <a:off x="739472" y="4874011"/>
                <a:ext cx="10654746" cy="830997"/>
              </a:xfrm>
              <a:prstGeom prst="rect">
                <a:avLst/>
              </a:prstGeom>
              <a:blipFill>
                <a:blip r:embed="rId4"/>
                <a:stretch>
                  <a:fillRect l="-858" t="-5882" r="-915" b="-161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05074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F9BC888-2228-F6BE-3C11-F5EBDB21BDFC}"/>
                  </a:ext>
                </a:extLst>
              </p:cNvPr>
              <p:cNvSpPr txBox="1"/>
              <p:nvPr/>
            </p:nvSpPr>
            <p:spPr>
              <a:xfrm>
                <a:off x="728869" y="974752"/>
                <a:ext cx="10734261" cy="5567934"/>
              </a:xfrm>
              <a:prstGeom prst="rect">
                <a:avLst/>
              </a:prstGeom>
              <a:noFill/>
            </p:spPr>
            <p:txBody>
              <a:bodyPr wrap="square">
                <a:spAutoFit/>
              </a:bodyPr>
              <a:lstStyle/>
              <a:p>
                <a:pPr>
                  <a:tabLst>
                    <a:tab pos="5364480" algn="r"/>
                  </a:tabLst>
                </a:pPr>
                <a:r>
                  <a:rPr lang="en-US" altLang="zh-CN" sz="2000" b="1" kern="1050" dirty="0">
                    <a:effectLst/>
                    <a:ea typeface="Cambria Math" panose="02040503050406030204" pitchFamily="18" charset="0"/>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𝟐</m:t>
                        </m:r>
                        <m:r>
                          <a:rPr lang="en-US" altLang="zh-CN" sz="2000" b="1" i="1" kern="1050">
                            <a:effectLst/>
                            <a:latin typeface="Cambria Math" panose="02040503050406030204" pitchFamily="18" charset="0"/>
                            <a:ea typeface="宋体" panose="02010600030101010101" pitchFamily="2" charset="-122"/>
                          </a:rPr>
                          <m:t>𝝅</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𝑺</m:t>
                            </m:r>
                          </m:e>
                          <m:sub>
                            <m:r>
                              <a:rPr lang="en-US" altLang="zh-CN" sz="2000" b="1" i="1" kern="1050">
                                <a:effectLst/>
                                <a:latin typeface="Cambria Math" panose="02040503050406030204" pitchFamily="18" charset="0"/>
                                <a:ea typeface="宋体" panose="02010600030101010101" pitchFamily="2" charset="-122"/>
                              </a:rPr>
                              <m:t>𝟎</m:t>
                            </m:r>
                          </m:sub>
                        </m:sSub>
                      </m:num>
                      <m:den>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𝑻</m:t>
                            </m:r>
                          </m:e>
                          <m:sub>
                            <m:r>
                              <a:rPr lang="en-US" altLang="zh-CN" sz="2000" b="1" i="1" kern="1050">
                                <a:effectLst/>
                                <a:latin typeface="Cambria Math" panose="02040503050406030204" pitchFamily="18" charset="0"/>
                                <a:ea typeface="宋体" panose="02010600030101010101" pitchFamily="2" charset="-122"/>
                              </a:rPr>
                              <m:t>𝒚</m:t>
                            </m:r>
                          </m:sub>
                          <m:sup>
                            <m:r>
                              <a:rPr lang="en-US" altLang="zh-CN" sz="2000" b="1" i="1" kern="1050">
                                <a:effectLst/>
                                <a:latin typeface="Cambria Math" panose="02040503050406030204" pitchFamily="18" charset="0"/>
                                <a:ea typeface="宋体" panose="02010600030101010101" pitchFamily="2" charset="-122"/>
                              </a:rPr>
                              <m:t>𝟐</m:t>
                            </m:r>
                          </m:sup>
                        </m:sSubSup>
                      </m:den>
                    </m:f>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a:effectLst/>
                            <a:latin typeface="Cambria Math" panose="02040503050406030204" pitchFamily="18" charset="0"/>
                            <a:ea typeface="宋体" panose="02010600030101010101" pitchFamily="2" charset="-122"/>
                          </a:rPr>
                          <m:t>𝒔𝒊𝒏</m:t>
                        </m:r>
                      </m:fName>
                      <m:e>
                        <m:r>
                          <a:rPr lang="en-US" altLang="zh-CN" sz="2000" b="1" i="1" kern="1050">
                            <a:effectLst/>
                            <a:latin typeface="Cambria Math" panose="02040503050406030204" pitchFamily="18" charset="0"/>
                            <a:ea typeface="宋体" panose="02010600030101010101" pitchFamily="2" charset="-122"/>
                          </a:rPr>
                          <m:t>𝟐</m:t>
                        </m:r>
                      </m:e>
                    </m:func>
                    <m:r>
                      <a:rPr lang="en-US" altLang="zh-CN" sz="2000" b="1" i="1" kern="1050">
                        <a:effectLst/>
                        <a:latin typeface="Cambria Math" panose="02040503050406030204" pitchFamily="18" charset="0"/>
                        <a:ea typeface="宋体" panose="02010600030101010101" pitchFamily="2" charset="-122"/>
                      </a:rPr>
                      <m:t>𝝅</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𝒕</m:t>
                        </m:r>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𝑻</m:t>
                            </m:r>
                          </m:e>
                          <m:sub>
                            <m:r>
                              <a:rPr lang="en-US" altLang="zh-CN" sz="2000" b="1" i="1" kern="1050">
                                <a:effectLst/>
                                <a:latin typeface="Cambria Math" panose="02040503050406030204" pitchFamily="18" charset="0"/>
                                <a:ea typeface="宋体" panose="02010600030101010101" pitchFamily="2" charset="-122"/>
                              </a:rPr>
                              <m:t>𝒚</m:t>
                            </m:r>
                          </m:sub>
                        </m:sSub>
                      </m:den>
                    </m:f>
                  </m:oMath>
                </a14:m>
                <a:r>
                  <a:rPr lang="en-US" altLang="zh-CN" sz="2000" b="1" kern="1050" dirty="0">
                    <a:effectLst/>
                    <a:latin typeface="微软雅黑" panose="020B0503020204020204" pitchFamily="34" charset="-122"/>
                    <a:ea typeface="微软雅黑" panose="020B0503020204020204" pitchFamily="34" charset="-122"/>
                  </a:rPr>
                  <a:t>	              (5.10)</a:t>
                </a:r>
                <a:endParaRPr lang="zh-CN" altLang="zh-CN" sz="2000" b="1" kern="1050" dirty="0">
                  <a:effectLst/>
                  <a:latin typeface="微软雅黑" panose="020B0503020204020204" pitchFamily="34" charset="-122"/>
                  <a:ea typeface="微软雅黑" panose="020B0503020204020204" pitchFamily="34" charset="-122"/>
                </a:endParaRPr>
              </a:p>
              <a:p>
                <a:pPr>
                  <a:spcBef>
                    <a:spcPts val="500"/>
                  </a:spcBef>
                  <a:spcAft>
                    <a:spcPts val="5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𝑺</m:t>
                            </m:r>
                          </m:e>
                          <m:sub>
                            <m:r>
                              <a:rPr lang="en-US" altLang="zh-CN" sz="2000" b="1" i="1" kern="1050">
                                <a:effectLst/>
                                <a:latin typeface="Cambria Math" panose="02040503050406030204" pitchFamily="18" charset="0"/>
                                <a:ea typeface="宋体" panose="02010600030101010101" pitchFamily="2" charset="-122"/>
                              </a:rPr>
                              <m:t>𝟎</m:t>
                            </m:r>
                          </m:sub>
                        </m:sSub>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𝑻</m:t>
                            </m:r>
                          </m:e>
                          <m:sub>
                            <m:r>
                              <a:rPr lang="en-US" altLang="zh-CN" sz="2000" b="1" i="1" kern="1050">
                                <a:effectLst/>
                                <a:latin typeface="Cambria Math" panose="02040503050406030204" pitchFamily="18" charset="0"/>
                                <a:ea typeface="宋体" panose="02010600030101010101" pitchFamily="2" charset="-122"/>
                              </a:rPr>
                              <m:t>𝒚</m:t>
                            </m:r>
                          </m:sub>
                        </m:sSub>
                      </m:den>
                    </m:f>
                    <m:d>
                      <m:dPr>
                        <m:ctrlPr>
                          <a:rPr lang="zh-CN" altLang="zh-CN" sz="2000" b="1" i="1" kern="1050">
                            <a:effectLst/>
                            <a:latin typeface="Cambria Math" panose="02040503050406030204" pitchFamily="18" charset="0"/>
                            <a:ea typeface="Cambria Math" panose="02040503050406030204" pitchFamily="18" charset="0"/>
                          </a:rPr>
                        </m:ctrlPr>
                      </m:dPr>
                      <m:e>
                        <m:r>
                          <a:rPr lang="en-US" altLang="zh-CN" sz="2000" b="1" i="1" kern="1050">
                            <a:effectLst/>
                            <a:latin typeface="Cambria Math" panose="02040503050406030204" pitchFamily="18" charset="0"/>
                            <a:ea typeface="宋体" panose="02010600030101010101" pitchFamily="2" charset="-122"/>
                          </a:rPr>
                          <m:t>𝟏</m:t>
                        </m:r>
                        <m:r>
                          <a:rPr lang="en-US" altLang="zh-CN" sz="2000" b="1" i="1" kern="1050">
                            <a:effectLst/>
                            <a:latin typeface="Cambria Math" panose="02040503050406030204" pitchFamily="18" charset="0"/>
                            <a:ea typeface="宋体" panose="02010600030101010101" pitchFamily="2" charset="-122"/>
                          </a:rPr>
                          <m:t>−</m:t>
                        </m:r>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a:effectLst/>
                                <a:latin typeface="Cambria Math" panose="02040503050406030204" pitchFamily="18" charset="0"/>
                                <a:ea typeface="宋体" panose="02010600030101010101" pitchFamily="2" charset="-122"/>
                              </a:rPr>
                              <m:t>𝒄𝒐𝒔</m:t>
                            </m:r>
                          </m:fName>
                          <m:e>
                            <m:r>
                              <a:rPr lang="en-US" altLang="zh-CN" sz="2000" b="1" i="1" kern="1050">
                                <a:effectLst/>
                                <a:latin typeface="Cambria Math" panose="02040503050406030204" pitchFamily="18" charset="0"/>
                                <a:ea typeface="宋体" panose="02010600030101010101" pitchFamily="2" charset="-122"/>
                              </a:rPr>
                              <m:t>𝟐</m:t>
                            </m:r>
                          </m:e>
                        </m:func>
                        <m:r>
                          <a:rPr lang="en-US" altLang="zh-CN" sz="2000" b="1" i="1" kern="1050">
                            <a:effectLst/>
                            <a:latin typeface="Cambria Math" panose="02040503050406030204" pitchFamily="18" charset="0"/>
                            <a:ea typeface="宋体" panose="02010600030101010101" pitchFamily="2" charset="-122"/>
                          </a:rPr>
                          <m:t>𝝅</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𝒕</m:t>
                            </m:r>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𝑻</m:t>
                                </m:r>
                              </m:e>
                              <m:sub>
                                <m:r>
                                  <a:rPr lang="en-US" altLang="zh-CN" sz="2000" b="1" i="1" kern="1050">
                                    <a:effectLst/>
                                    <a:latin typeface="Cambria Math" panose="02040503050406030204" pitchFamily="18" charset="0"/>
                                    <a:ea typeface="宋体" panose="02010600030101010101" pitchFamily="2" charset="-122"/>
                                  </a:rPr>
                                  <m:t>𝒚</m:t>
                                </m:r>
                              </m:sub>
                            </m:sSub>
                          </m:den>
                        </m:f>
                      </m:e>
                    </m:d>
                  </m:oMath>
                </a14:m>
                <a:r>
                  <a:rPr lang="en-US" altLang="zh-CN" sz="2000" b="1" kern="1050" dirty="0">
                    <a:effectLst/>
                    <a:latin typeface="微软雅黑" panose="020B0503020204020204" pitchFamily="34" charset="-122"/>
                    <a:ea typeface="微软雅黑" panose="020B0503020204020204" pitchFamily="34" charset="-122"/>
                  </a:rPr>
                  <a:t>	           (5.11)</a:t>
                </a:r>
                <a:endParaRPr lang="zh-CN" altLang="zh-CN" sz="2000" b="1" kern="1050" dirty="0">
                  <a:effectLst/>
                  <a:latin typeface="微软雅黑" panose="020B0503020204020204" pitchFamily="34" charset="-122"/>
                  <a:ea typeface="微软雅黑" panose="020B0503020204020204" pitchFamily="34" charset="-122"/>
                </a:endParaRPr>
              </a:p>
              <a:p>
                <a:pPr>
                  <a:spcBef>
                    <a:spcPts val="500"/>
                  </a:spcBef>
                  <a:spcAft>
                    <a:spcPts val="500"/>
                  </a:spcAft>
                  <a:tabLst>
                    <a:tab pos="5364480" algn="r"/>
                  </a:tabLst>
                </a:pPr>
                <a:r>
                  <a:rPr lang="en-US" altLang="zh-CN" sz="2000" b="1" kern="1050" dirty="0">
                    <a:effectLst/>
                    <a:ea typeface="宋体" panose="02010600030101010101" pitchFamily="2"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𝑺</m:t>
                        </m:r>
                      </m:e>
                      <m:sub>
                        <m:r>
                          <a:rPr lang="en-US" altLang="zh-CN" sz="2000" b="1" i="1" kern="1050">
                            <a:effectLst/>
                            <a:latin typeface="Cambria Math" panose="02040503050406030204" pitchFamily="18" charset="0"/>
                            <a:ea typeface="宋体" panose="02010600030101010101" pitchFamily="2" charset="-122"/>
                          </a:rPr>
                          <m:t>𝟎</m:t>
                        </m:r>
                      </m:sub>
                    </m:sSub>
                    <m:d>
                      <m:dPr>
                        <m:ctrlPr>
                          <a:rPr lang="zh-CN" altLang="zh-CN" sz="2000" b="1" i="1" kern="1050">
                            <a:effectLst/>
                            <a:latin typeface="Cambria Math" panose="02040503050406030204" pitchFamily="18" charset="0"/>
                            <a:ea typeface="Cambria Math" panose="02040503050406030204" pitchFamily="18" charset="0"/>
                          </a:rPr>
                        </m:ctrlPr>
                      </m:dPr>
                      <m:e>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𝒕</m:t>
                            </m:r>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𝑻</m:t>
                                </m:r>
                              </m:e>
                              <m:sub>
                                <m:r>
                                  <a:rPr lang="en-US" altLang="zh-CN" sz="2000" b="1" i="1" kern="1050">
                                    <a:effectLst/>
                                    <a:latin typeface="Cambria Math" panose="02040503050406030204" pitchFamily="18" charset="0"/>
                                    <a:ea typeface="宋体" panose="02010600030101010101" pitchFamily="2" charset="-122"/>
                                  </a:rPr>
                                  <m:t>𝒚</m:t>
                                </m:r>
                              </m:sub>
                            </m:sSub>
                          </m:den>
                        </m:f>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𝟏</m:t>
                            </m:r>
                          </m:num>
                          <m:den>
                            <m:r>
                              <a:rPr lang="en-US" altLang="zh-CN" sz="2000" b="1" i="1" kern="1050">
                                <a:effectLst/>
                                <a:latin typeface="Cambria Math" panose="02040503050406030204" pitchFamily="18" charset="0"/>
                                <a:ea typeface="宋体" panose="02010600030101010101" pitchFamily="2" charset="-122"/>
                              </a:rPr>
                              <m:t>𝟐</m:t>
                            </m:r>
                            <m:r>
                              <a:rPr lang="en-US" altLang="zh-CN" sz="2000" b="1" i="1" kern="1050">
                                <a:effectLst/>
                                <a:latin typeface="Cambria Math" panose="02040503050406030204" pitchFamily="18" charset="0"/>
                                <a:ea typeface="宋体" panose="02010600030101010101" pitchFamily="2" charset="-122"/>
                              </a:rPr>
                              <m:t>𝝅</m:t>
                            </m:r>
                          </m:den>
                        </m:f>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a:effectLst/>
                                <a:latin typeface="Cambria Math" panose="02040503050406030204" pitchFamily="18" charset="0"/>
                                <a:ea typeface="宋体" panose="02010600030101010101" pitchFamily="2" charset="-122"/>
                              </a:rPr>
                              <m:t>𝒔𝒊𝒏</m:t>
                            </m:r>
                          </m:fName>
                          <m:e>
                            <m:r>
                              <a:rPr lang="en-US" altLang="zh-CN" sz="2000" b="1" i="1" kern="1050">
                                <a:effectLst/>
                                <a:latin typeface="Cambria Math" panose="02040503050406030204" pitchFamily="18" charset="0"/>
                                <a:ea typeface="宋体" panose="02010600030101010101" pitchFamily="2" charset="-122"/>
                              </a:rPr>
                              <m:t>𝟐</m:t>
                            </m:r>
                          </m:e>
                        </m:func>
                        <m:r>
                          <a:rPr lang="en-US" altLang="zh-CN" sz="2000" b="1" i="1" kern="1050">
                            <a:effectLst/>
                            <a:latin typeface="Cambria Math" panose="02040503050406030204" pitchFamily="18" charset="0"/>
                            <a:ea typeface="宋体" panose="02010600030101010101" pitchFamily="2" charset="-122"/>
                          </a:rPr>
                          <m:t>𝝅</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𝒕</m:t>
                            </m:r>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𝑻</m:t>
                                </m:r>
                              </m:e>
                              <m:sub>
                                <m:r>
                                  <a:rPr lang="en-US" altLang="zh-CN" sz="2000" b="1" i="1" kern="1050">
                                    <a:effectLst/>
                                    <a:latin typeface="Cambria Math" panose="02040503050406030204" pitchFamily="18" charset="0"/>
                                    <a:ea typeface="宋体" panose="02010600030101010101" pitchFamily="2" charset="-122"/>
                                  </a:rPr>
                                  <m:t>𝒚</m:t>
                                </m:r>
                              </m:sub>
                            </m:sSub>
                          </m:den>
                        </m:f>
                      </m:e>
                    </m:d>
                  </m:oMath>
                </a14:m>
                <a:r>
                  <a:rPr lang="en-US" altLang="zh-CN" sz="2000" b="1" kern="1050" dirty="0">
                    <a:effectLst/>
                    <a:latin typeface="微软雅黑" panose="020B0503020204020204" pitchFamily="34" charset="-122"/>
                    <a:ea typeface="微软雅黑" panose="020B0503020204020204" pitchFamily="34" charset="-122"/>
                  </a:rPr>
                  <a:t>	(5.12)</a:t>
                </a:r>
                <a:endParaRPr lang="zh-CN" altLang="zh-CN" sz="2000" b="1" kern="1050" dirty="0">
                  <a:effectLst/>
                  <a:latin typeface="微软雅黑" panose="020B0503020204020204" pitchFamily="34" charset="-122"/>
                  <a:ea typeface="微软雅黑" panose="020B0503020204020204" pitchFamily="34" charset="-122"/>
                </a:endParaRPr>
              </a:p>
              <a:p>
                <a:pPr indent="612000" algn="just"/>
                <a:r>
                  <a:rPr lang="zh-CN" altLang="zh-CN" sz="2400" b="1" kern="100" dirty="0">
                    <a:effectLst/>
                    <a:latin typeface="微软雅黑" panose="020B0503020204020204" pitchFamily="34" charset="-122"/>
                    <a:ea typeface="微软雅黑" panose="020B0503020204020204" pitchFamily="34" charset="-122"/>
                  </a:rPr>
                  <a:t>在</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𝒛</m:t>
                    </m:r>
                  </m:oMath>
                </a14:m>
                <a:r>
                  <a:rPr lang="zh-CN" altLang="zh-CN" sz="2400" b="1" kern="100" dirty="0">
                    <a:effectLst/>
                    <a:latin typeface="微软雅黑" panose="020B0503020204020204" pitchFamily="34" charset="-122"/>
                    <a:ea typeface="微软雅黑" panose="020B0503020204020204" pitchFamily="34" charset="-122"/>
                  </a:rPr>
                  <a:t>轴运动中，设定足端运动的边界条件，使在出发点、最大足端高度和落地点的加速度和速度为</a:t>
                </a:r>
                <a:r>
                  <a:rPr lang="en-US" altLang="zh-CN" sz="2400" b="1" kern="100" dirty="0">
                    <a:effectLst/>
                    <a:latin typeface="微软雅黑" panose="020B0503020204020204" pitchFamily="34" charset="-122"/>
                    <a:ea typeface="微软雅黑" panose="020B0503020204020204" pitchFamily="34" charset="-122"/>
                  </a:rPr>
                  <a:t>0</a:t>
                </a:r>
                <a:r>
                  <a:rPr lang="zh-CN" altLang="zh-CN" sz="2400" b="1" kern="100" dirty="0">
                    <a:effectLst/>
                    <a:latin typeface="微软雅黑" panose="020B0503020204020204" pitchFamily="34" charset="-122"/>
                    <a:ea typeface="微软雅黑" panose="020B0503020204020204" pitchFamily="34" charset="-122"/>
                  </a:rPr>
                  <a:t>。将脚重复撞击地面的周期性运动视为凸轮轴的一种垂直运动，加速度呈正弦规律变化。</a:t>
                </a:r>
              </a:p>
              <a:p>
                <a:pPr indent="612000" algn="just">
                  <a:spcBef>
                    <a:spcPts val="500"/>
                  </a:spcBef>
                  <a:spcAft>
                    <a:spcPts val="5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𝒛</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𝑨</m:t>
                        </m:r>
                      </m:e>
                      <m:sub>
                        <m:r>
                          <a:rPr lang="en-US" altLang="zh-CN" sz="2000" b="1" i="1" kern="1050" smtClean="0">
                            <a:effectLst/>
                            <a:latin typeface="Cambria Math" panose="02040503050406030204" pitchFamily="18" charset="0"/>
                            <a:ea typeface="宋体" panose="02010600030101010101" pitchFamily="2" charset="-122"/>
                          </a:rPr>
                          <m:t>𝒎</m:t>
                        </m:r>
                        <m:r>
                          <a:rPr lang="en-US" altLang="zh-CN" sz="2000" b="1" i="1" kern="1050" smtClean="0">
                            <a:effectLst/>
                            <a:latin typeface="Cambria Math" panose="02040503050406030204" pitchFamily="18" charset="0"/>
                            <a:ea typeface="宋体" panose="02010600030101010101" pitchFamily="2" charset="-122"/>
                          </a:rPr>
                          <m:t>𝟐</m:t>
                        </m:r>
                      </m:sub>
                    </m:sSub>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a:effectLst/>
                            <a:latin typeface="Cambria Math" panose="02040503050406030204" pitchFamily="18" charset="0"/>
                            <a:ea typeface="宋体" panose="02010600030101010101" pitchFamily="2" charset="-122"/>
                          </a:rPr>
                          <m:t>𝒔𝒊𝒏</m:t>
                        </m:r>
                      </m:fName>
                      <m:e>
                        <m:r>
                          <a:rPr lang="en-US" altLang="zh-CN" sz="2000" b="1" i="1" kern="1050">
                            <a:effectLst/>
                            <a:latin typeface="Cambria Math" panose="02040503050406030204" pitchFamily="18" charset="0"/>
                            <a:ea typeface="宋体" panose="02010600030101010101" pitchFamily="2" charset="-122"/>
                          </a:rPr>
                          <m:t>𝟒</m:t>
                        </m:r>
                      </m:e>
                    </m:func>
                    <m:r>
                      <a:rPr lang="en-US" altLang="zh-CN" sz="2000" b="1" i="1" kern="1050">
                        <a:effectLst/>
                        <a:latin typeface="Cambria Math" panose="02040503050406030204" pitchFamily="18" charset="0"/>
                        <a:ea typeface="宋体" panose="02010600030101010101" pitchFamily="2" charset="-122"/>
                      </a:rPr>
                      <m:t>𝝅</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𝒕</m:t>
                        </m:r>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𝑻</m:t>
                            </m:r>
                          </m:e>
                          <m:sub>
                            <m:r>
                              <a:rPr lang="en-US" altLang="zh-CN" sz="2000" b="1" i="1" kern="1050">
                                <a:effectLst/>
                                <a:latin typeface="Cambria Math" panose="02040503050406030204" pitchFamily="18" charset="0"/>
                                <a:ea typeface="宋体" panose="02010600030101010101" pitchFamily="2" charset="-122"/>
                              </a:rPr>
                              <m:t>𝒚</m:t>
                            </m:r>
                          </m:sub>
                        </m:sSub>
                      </m:den>
                    </m:f>
                  </m:oMath>
                </a14:m>
                <a:r>
                  <a:rPr lang="en-US" altLang="zh-CN" sz="2000" b="1" kern="1050" dirty="0">
                    <a:effectLst/>
                    <a:latin typeface="微软雅黑" panose="020B0503020204020204" pitchFamily="34" charset="-122"/>
                    <a:ea typeface="微软雅黑" panose="020B0503020204020204" pitchFamily="34" charset="-122"/>
                  </a:rPr>
                  <a:t>	            (5.13)</a:t>
                </a:r>
                <a:endParaRPr lang="zh-CN" altLang="zh-CN" sz="2000" b="1" kern="1050" dirty="0">
                  <a:effectLst/>
                  <a:latin typeface="微软雅黑" panose="020B0503020204020204" pitchFamily="34" charset="-122"/>
                  <a:ea typeface="微软雅黑" panose="020B0503020204020204" pitchFamily="34" charset="-122"/>
                </a:endParaRPr>
              </a:p>
              <a:p>
                <a:pPr indent="612000" algn="just"/>
                <a:r>
                  <a:rPr lang="zh-CN" altLang="zh-CN" sz="2400" b="1" kern="100" dirty="0">
                    <a:effectLst/>
                    <a:latin typeface="微软雅黑" panose="020B0503020204020204" pitchFamily="34" charset="-122"/>
                    <a:ea typeface="微软雅黑" panose="020B0503020204020204" pitchFamily="34" charset="-122"/>
                  </a:rPr>
                  <a:t>式中，</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𝑨</m:t>
                        </m:r>
                      </m:e>
                      <m:sub>
                        <m:r>
                          <a:rPr lang="en-US" altLang="zh-CN" sz="2400" b="1" i="1" kern="100" smtClean="0">
                            <a:effectLst/>
                            <a:latin typeface="Cambria Math" panose="02040503050406030204" pitchFamily="18" charset="0"/>
                            <a:ea typeface="宋体" panose="02010600030101010101" pitchFamily="2" charset="-122"/>
                          </a:rPr>
                          <m:t>𝒎</m:t>
                        </m:r>
                        <m:r>
                          <a:rPr lang="en-US" altLang="zh-CN" sz="2400" b="1" i="1" kern="100" smtClean="0">
                            <a:effectLst/>
                            <a:latin typeface="Cambria Math" panose="02040503050406030204" pitchFamily="18" charset="0"/>
                            <a:ea typeface="宋体" panose="02010600030101010101" pitchFamily="2" charset="-122"/>
                          </a:rPr>
                          <m:t>𝟐</m:t>
                        </m:r>
                      </m:sub>
                    </m:sSub>
                  </m:oMath>
                </a14:m>
                <a:r>
                  <a:rPr lang="zh-CN" altLang="zh-CN" sz="2400" b="1" kern="100" dirty="0">
                    <a:effectLst/>
                    <a:latin typeface="微软雅黑" panose="020B0503020204020204" pitchFamily="34" charset="-122"/>
                    <a:ea typeface="微软雅黑" panose="020B0503020204020204" pitchFamily="34" charset="-122"/>
                  </a:rPr>
                  <a:t>为待定系数。</a:t>
                </a:r>
              </a:p>
              <a:p>
                <a:pPr indent="612000" algn="just"/>
                <a:r>
                  <a:rPr lang="zh-CN" altLang="zh-CN" sz="2400" b="1" kern="1000" dirty="0">
                    <a:effectLst/>
                    <a:latin typeface="微软雅黑" panose="020B0503020204020204" pitchFamily="34" charset="-122"/>
                    <a:ea typeface="微软雅黑" panose="020B0503020204020204" pitchFamily="34" charset="-122"/>
                  </a:rPr>
                  <a:t>速度是通过对式</a:t>
                </a:r>
                <a:r>
                  <a:rPr lang="en-US" altLang="zh-CN" sz="2400" b="1" kern="1000" dirty="0">
                    <a:effectLst/>
                    <a:latin typeface="微软雅黑" panose="020B0503020204020204" pitchFamily="34" charset="-122"/>
                    <a:ea typeface="微软雅黑" panose="020B0503020204020204" pitchFamily="34" charset="-122"/>
                  </a:rPr>
                  <a:t>(5.13)</a:t>
                </a:r>
                <a:r>
                  <a:rPr lang="zh-CN" altLang="zh-CN" sz="2400" b="1" kern="1000" dirty="0">
                    <a:effectLst/>
                    <a:latin typeface="微软雅黑" panose="020B0503020204020204" pitchFamily="34" charset="-122"/>
                    <a:ea typeface="微软雅黑" panose="020B0503020204020204" pitchFamily="34" charset="-122"/>
                  </a:rPr>
                  <a:t>进行积分得到的：</a:t>
                </a:r>
              </a:p>
              <a:p>
                <a:pPr indent="612000" algn="just">
                  <a:spcBef>
                    <a:spcPts val="500"/>
                  </a:spcBef>
                  <a:spcAft>
                    <a:spcPts val="5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𝒛</m:t>
                        </m:r>
                      </m:e>
                    </m:acc>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𝑨</m:t>
                            </m:r>
                          </m:e>
                          <m:sub>
                            <m:r>
                              <a:rPr lang="en-US" altLang="zh-CN" sz="2000" b="1" i="1" kern="1050">
                                <a:effectLst/>
                                <a:latin typeface="Cambria Math" panose="02040503050406030204" pitchFamily="18" charset="0"/>
                                <a:ea typeface="宋体" panose="02010600030101010101" pitchFamily="2" charset="-122"/>
                              </a:rPr>
                              <m:t>𝒎</m:t>
                            </m:r>
                            <m:r>
                              <a:rPr lang="en-US" altLang="zh-CN" sz="2000" b="1" i="1" kern="105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𝑻</m:t>
                            </m:r>
                          </m:e>
                          <m:sub>
                            <m:r>
                              <a:rPr lang="en-US" altLang="zh-CN" sz="2000" b="1" i="1" kern="1050">
                                <a:effectLst/>
                                <a:latin typeface="Cambria Math" panose="02040503050406030204" pitchFamily="18" charset="0"/>
                                <a:ea typeface="宋体" panose="02010600030101010101" pitchFamily="2" charset="-122"/>
                              </a:rPr>
                              <m:t>𝒚</m:t>
                            </m:r>
                          </m:sub>
                        </m:sSub>
                      </m:num>
                      <m:den>
                        <m:r>
                          <a:rPr lang="en-US" altLang="zh-CN" sz="2000" b="1" i="1" kern="1050">
                            <a:effectLst/>
                            <a:latin typeface="Cambria Math" panose="02040503050406030204" pitchFamily="18" charset="0"/>
                            <a:ea typeface="宋体" panose="02010600030101010101" pitchFamily="2" charset="-122"/>
                          </a:rPr>
                          <m:t>𝟒</m:t>
                        </m:r>
                        <m:r>
                          <a:rPr lang="en-US" altLang="zh-CN" sz="2000" b="1" i="1" kern="1050">
                            <a:effectLst/>
                            <a:latin typeface="Cambria Math" panose="02040503050406030204" pitchFamily="18" charset="0"/>
                            <a:ea typeface="宋体" panose="02010600030101010101" pitchFamily="2" charset="-122"/>
                          </a:rPr>
                          <m:t>𝝅</m:t>
                        </m:r>
                      </m:den>
                    </m:f>
                    <m:d>
                      <m:dPr>
                        <m:ctrlPr>
                          <a:rPr lang="zh-CN" altLang="zh-CN" sz="2000" b="1" i="1" kern="1050">
                            <a:effectLst/>
                            <a:latin typeface="Cambria Math" panose="02040503050406030204" pitchFamily="18" charset="0"/>
                            <a:ea typeface="Cambria Math" panose="02040503050406030204" pitchFamily="18" charset="0"/>
                          </a:rPr>
                        </m:ctrlPr>
                      </m:dPr>
                      <m:e>
                        <m:r>
                          <a:rPr lang="en-US" altLang="zh-CN" sz="2000" b="1" i="1" kern="1050">
                            <a:effectLst/>
                            <a:latin typeface="Cambria Math" panose="02040503050406030204" pitchFamily="18" charset="0"/>
                            <a:ea typeface="宋体" panose="02010600030101010101" pitchFamily="2" charset="-122"/>
                          </a:rPr>
                          <m:t>𝟏</m:t>
                        </m:r>
                        <m:r>
                          <a:rPr lang="en-US" altLang="zh-CN" sz="2000" b="1" i="1" kern="1050">
                            <a:effectLst/>
                            <a:latin typeface="Cambria Math" panose="02040503050406030204" pitchFamily="18" charset="0"/>
                            <a:ea typeface="宋体" panose="02010600030101010101" pitchFamily="2" charset="-122"/>
                          </a:rPr>
                          <m:t>−</m:t>
                        </m:r>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a:effectLst/>
                                <a:latin typeface="Cambria Math" panose="02040503050406030204" pitchFamily="18" charset="0"/>
                                <a:ea typeface="宋体" panose="02010600030101010101" pitchFamily="2" charset="-122"/>
                              </a:rPr>
                              <m:t>𝒄𝒐𝒔</m:t>
                            </m:r>
                          </m:fName>
                          <m:e>
                            <m:r>
                              <a:rPr lang="en-US" altLang="zh-CN" sz="2000" b="1" i="1" kern="1050">
                                <a:effectLst/>
                                <a:latin typeface="Cambria Math" panose="02040503050406030204" pitchFamily="18" charset="0"/>
                                <a:ea typeface="宋体" panose="02010600030101010101" pitchFamily="2" charset="-122"/>
                              </a:rPr>
                              <m:t>𝟒</m:t>
                            </m:r>
                          </m:e>
                        </m:func>
                        <m:r>
                          <a:rPr lang="en-US" altLang="zh-CN" sz="2000" b="1" i="1" kern="1050">
                            <a:effectLst/>
                            <a:latin typeface="Cambria Math" panose="02040503050406030204" pitchFamily="18" charset="0"/>
                            <a:ea typeface="宋体" panose="02010600030101010101" pitchFamily="2" charset="-122"/>
                          </a:rPr>
                          <m:t>𝝅</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𝒕</m:t>
                            </m:r>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𝑻</m:t>
                                </m:r>
                              </m:e>
                              <m:sub>
                                <m:r>
                                  <a:rPr lang="en-US" altLang="zh-CN" sz="2000" b="1" i="1" kern="1050">
                                    <a:effectLst/>
                                    <a:latin typeface="Cambria Math" panose="02040503050406030204" pitchFamily="18" charset="0"/>
                                    <a:ea typeface="宋体" panose="02010600030101010101" pitchFamily="2" charset="-122"/>
                                  </a:rPr>
                                  <m:t>𝒚</m:t>
                                </m:r>
                              </m:sub>
                            </m:sSub>
                          </m:den>
                        </m:f>
                      </m:e>
                    </m:d>
                  </m:oMath>
                </a14:m>
                <a:r>
                  <a:rPr lang="en-US" altLang="zh-CN" sz="2000" b="1" kern="1050" dirty="0">
                    <a:effectLst/>
                    <a:latin typeface="微软雅黑" panose="020B0503020204020204" pitchFamily="34" charset="-122"/>
                    <a:ea typeface="微软雅黑" panose="020B0503020204020204" pitchFamily="34" charset="-122"/>
                  </a:rPr>
                  <a:t>	             (5.14)</a:t>
                </a:r>
                <a:endParaRPr lang="zh-CN" altLang="zh-CN" sz="2000" b="1" kern="1050" dirty="0">
                  <a:effectLst/>
                  <a:latin typeface="微软雅黑" panose="020B0503020204020204" pitchFamily="34" charset="-122"/>
                  <a:ea typeface="微软雅黑" panose="020B0503020204020204" pitchFamily="34" charset="-122"/>
                </a:endParaRPr>
              </a:p>
              <a:p>
                <a:pPr indent="612000" algn="just"/>
                <a:r>
                  <a:rPr lang="zh-CN" altLang="zh-CN" sz="2400" b="1" kern="100" dirty="0">
                    <a:effectLst/>
                    <a:latin typeface="微软雅黑" panose="020B0503020204020204" pitchFamily="34" charset="-122"/>
                    <a:ea typeface="微软雅黑" panose="020B0503020204020204" pitchFamily="34" charset="-122"/>
                  </a:rPr>
                  <a:t>由式</a:t>
                </a:r>
                <a:r>
                  <a:rPr lang="en-US" altLang="zh-CN" sz="2400" b="1" kern="100" dirty="0">
                    <a:effectLst/>
                    <a:latin typeface="微软雅黑" panose="020B0503020204020204" pitchFamily="34" charset="-122"/>
                    <a:ea typeface="微软雅黑" panose="020B0503020204020204" pitchFamily="34" charset="-122"/>
                  </a:rPr>
                  <a:t>(5.14)</a:t>
                </a:r>
                <a:r>
                  <a:rPr lang="zh-CN" altLang="zh-CN" sz="2400" b="1" kern="100" dirty="0">
                    <a:effectLst/>
                    <a:latin typeface="微软雅黑" panose="020B0503020204020204" pitchFamily="34" charset="-122"/>
                    <a:ea typeface="微软雅黑" panose="020B0503020204020204" pitchFamily="34" charset="-122"/>
                  </a:rPr>
                  <a:t>可知，当</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𝒕</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𝟎</m:t>
                    </m:r>
                  </m:oMath>
                </a14:m>
                <a:r>
                  <a:rPr lang="zh-CN" altLang="zh-CN" sz="2400" b="1" kern="100" dirty="0">
                    <a:effectLst/>
                    <a:latin typeface="微软雅黑" panose="020B0503020204020204" pitchFamily="34" charset="-122"/>
                    <a:ea typeface="微软雅黑" panose="020B0503020204020204" pitchFamily="34" charset="-122"/>
                  </a:rPr>
                  <a:t>或</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𝒕</m:t>
                    </m:r>
                    <m:r>
                      <a:rPr lang="en-US" altLang="zh-CN" sz="2400" b="1" i="1" kern="10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𝑻</m:t>
                        </m:r>
                      </m:e>
                      <m:sub>
                        <m:r>
                          <a:rPr lang="en-US" altLang="zh-CN" sz="2400" b="1" i="1" kern="100">
                            <a:effectLst/>
                            <a:latin typeface="Cambria Math" panose="02040503050406030204" pitchFamily="18" charset="0"/>
                            <a:ea typeface="宋体" panose="02010600030101010101" pitchFamily="2" charset="-122"/>
                          </a:rPr>
                          <m:t>𝒚</m:t>
                        </m:r>
                      </m:sub>
                    </m:sSub>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𝟐</m:t>
                    </m:r>
                  </m:oMath>
                </a14:m>
                <a:r>
                  <a:rPr lang="zh-CN" altLang="zh-CN" sz="2400" b="1" kern="100" dirty="0">
                    <a:effectLst/>
                    <a:latin typeface="微软雅黑" panose="020B0503020204020204" pitchFamily="34" charset="-122"/>
                    <a:ea typeface="微软雅黑" panose="020B0503020204020204" pitchFamily="34" charset="-122"/>
                  </a:rPr>
                  <a:t>时，</a:t>
                </a:r>
                <a14:m>
                  <m:oMath xmlns:m="http://schemas.openxmlformats.org/officeDocument/2006/math">
                    <m:acc>
                      <m:accPr>
                        <m:chr m:val="̇"/>
                        <m:ctrlPr>
                          <a:rPr lang="zh-CN" altLang="zh-CN" sz="2400" b="1" i="1" kern="100">
                            <a:effectLst/>
                            <a:latin typeface="Cambria Math" panose="02040503050406030204" pitchFamily="18" charset="0"/>
                            <a:ea typeface="Cambria Math" panose="02040503050406030204" pitchFamily="18" charset="0"/>
                          </a:rPr>
                        </m:ctrlPr>
                      </m:accPr>
                      <m:e>
                        <m:r>
                          <a:rPr lang="en-US" altLang="zh-CN" sz="2400" b="1" i="1" kern="100">
                            <a:effectLst/>
                            <a:latin typeface="Cambria Math" panose="02040503050406030204" pitchFamily="18" charset="0"/>
                            <a:ea typeface="宋体" panose="02010600030101010101" pitchFamily="2" charset="-122"/>
                          </a:rPr>
                          <m:t>𝒛</m:t>
                        </m:r>
                      </m:e>
                    </m:acc>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𝟎</m:t>
                    </m:r>
                  </m:oMath>
                </a14:m>
                <a:r>
                  <a:rPr lang="zh-CN" altLang="zh-CN" sz="2400" b="1" kern="100" dirty="0">
                    <a:effectLst/>
                    <a:latin typeface="微软雅黑" panose="020B0503020204020204" pitchFamily="34" charset="-122"/>
                    <a:ea typeface="微软雅黑" panose="020B0503020204020204" pitchFamily="34" charset="-122"/>
                  </a:rPr>
                  <a:t>。</a:t>
                </a:r>
              </a:p>
            </p:txBody>
          </p:sp>
        </mc:Choice>
        <mc:Fallback xmlns="">
          <p:sp>
            <p:nvSpPr>
              <p:cNvPr id="14" name="文本框 13">
                <a:extLst>
                  <a:ext uri="{FF2B5EF4-FFF2-40B4-BE49-F238E27FC236}">
                    <a16:creationId xmlns:a16="http://schemas.microsoft.com/office/drawing/2014/main" id="{1F9BC888-2228-F6BE-3C11-F5EBDB21BDFC}"/>
                  </a:ext>
                </a:extLst>
              </p:cNvPr>
              <p:cNvSpPr txBox="1">
                <a:spLocks noRot="1" noChangeAspect="1" noMove="1" noResize="1" noEditPoints="1" noAdjustHandles="1" noChangeArrowheads="1" noChangeShapeType="1" noTextEdit="1"/>
              </p:cNvSpPr>
              <p:nvPr/>
            </p:nvSpPr>
            <p:spPr>
              <a:xfrm>
                <a:off x="728869" y="974752"/>
                <a:ext cx="10734261" cy="5567934"/>
              </a:xfrm>
              <a:prstGeom prst="rect">
                <a:avLst/>
              </a:prstGeom>
              <a:blipFill>
                <a:blip r:embed="rId2"/>
                <a:stretch>
                  <a:fillRect l="-909" r="-909" b="-9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775012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9E8CFCDD-805E-3EAC-814F-3565BEB2EE6F}"/>
                  </a:ext>
                </a:extLst>
              </p:cNvPr>
              <p:cNvSpPr txBox="1"/>
              <p:nvPr/>
            </p:nvSpPr>
            <p:spPr>
              <a:xfrm>
                <a:off x="788504" y="1224501"/>
                <a:ext cx="10828352" cy="4950651"/>
              </a:xfrm>
              <a:prstGeom prst="rect">
                <a:avLst/>
              </a:prstGeom>
              <a:noFill/>
            </p:spPr>
            <p:txBody>
              <a:bodyPr wrap="square">
                <a:spAutoFit/>
              </a:bodyPr>
              <a:lstStyle/>
              <a:p>
                <a:pPr algn="just"/>
                <a:r>
                  <a:rPr lang="zh-CN" altLang="zh-CN" sz="2400" b="1" kern="1000" dirty="0">
                    <a:effectLst/>
                    <a:latin typeface="Times New Roman" panose="02020603050405020304" pitchFamily="18" charset="0"/>
                    <a:ea typeface="宋体" panose="02010600030101010101" pitchFamily="2" charset="-122"/>
                  </a:rPr>
                  <a:t>位置是由式</a:t>
                </a:r>
                <a:r>
                  <a:rPr lang="en-US" altLang="zh-CN" sz="2400" b="1" kern="1000" dirty="0">
                    <a:effectLst/>
                    <a:latin typeface="宋体" panose="02010600030101010101" pitchFamily="2" charset="-122"/>
                    <a:ea typeface="宋体" panose="02010600030101010101" pitchFamily="2" charset="-122"/>
                  </a:rPr>
                  <a:t>(</a:t>
                </a:r>
                <a:r>
                  <a:rPr lang="en-US" altLang="zh-CN" sz="2400" b="1" kern="1000" dirty="0">
                    <a:effectLst/>
                    <a:latin typeface="Times New Roman" panose="02020603050405020304" pitchFamily="18" charset="0"/>
                    <a:ea typeface="宋体" panose="02010600030101010101" pitchFamily="2" charset="-122"/>
                  </a:rPr>
                  <a:t>5.14</a:t>
                </a:r>
                <a:r>
                  <a:rPr lang="en-US" altLang="zh-CN" sz="2400" b="1" kern="1000" dirty="0">
                    <a:effectLst/>
                    <a:latin typeface="宋体" panose="02010600030101010101" pitchFamily="2" charset="-122"/>
                    <a:ea typeface="宋体" panose="02010600030101010101" pitchFamily="2" charset="-122"/>
                  </a:rPr>
                  <a:t>)</a:t>
                </a:r>
                <a:r>
                  <a:rPr lang="zh-CN" altLang="zh-CN" sz="2400" b="1" kern="1000" dirty="0">
                    <a:effectLst/>
                    <a:latin typeface="Times New Roman" panose="02020603050405020304" pitchFamily="18" charset="0"/>
                    <a:ea typeface="宋体" panose="02010600030101010101" pitchFamily="2" charset="-122"/>
                  </a:rPr>
                  <a:t>对</a:t>
                </a:r>
                <a:r>
                  <a:rPr lang="en-US" altLang="zh-CN" sz="2400" b="1" i="1" kern="1000" dirty="0">
                    <a:effectLst/>
                    <a:latin typeface="Times New Roman" panose="02020603050405020304" pitchFamily="18" charset="0"/>
                    <a:ea typeface="宋体" panose="02010600030101010101" pitchFamily="2" charset="-122"/>
                  </a:rPr>
                  <a:t>t</a:t>
                </a:r>
                <a:r>
                  <a:rPr lang="zh-CN" altLang="zh-CN" sz="2400" b="1" kern="1000" dirty="0">
                    <a:effectLst/>
                    <a:latin typeface="Times New Roman" panose="02020603050405020304" pitchFamily="18" charset="0"/>
                    <a:ea typeface="宋体" panose="02010600030101010101" pitchFamily="2" charset="-122"/>
                  </a:rPr>
                  <a:t>积分得到的：</a:t>
                </a:r>
              </a:p>
              <a:p>
                <a:pPr algn="just">
                  <a:spcBef>
                    <a:spcPts val="500"/>
                  </a:spcBef>
                  <a:spcAft>
                    <a:spcPts val="500"/>
                  </a:spcAft>
                  <a:tabLst>
                    <a:tab pos="5364480" algn="r"/>
                  </a:tabLst>
                </a:pPr>
                <a:r>
                  <a:rPr lang="en-US" altLang="zh-CN" sz="2000" b="1" kern="1050" dirty="0">
                    <a:effectLst/>
                    <a:latin typeface="Times New Roman" panose="02020603050405020304" pitchFamily="18" charset="0"/>
                    <a:ea typeface="宋体" panose="02010600030101010101" pitchFamily="2" charset="-122"/>
                  </a:rPr>
                  <a:t>	 </a:t>
                </a:r>
                <a14:m>
                  <m:oMath xmlns:m="http://schemas.openxmlformats.org/officeDocument/2006/math">
                    <m:r>
                      <a:rPr lang="en-US" altLang="zh-CN" sz="2000" b="1" i="1" kern="1050" smtClean="0">
                        <a:effectLst/>
                        <a:latin typeface="Cambria Math" panose="02040503050406030204" pitchFamily="18" charset="0"/>
                        <a:ea typeface="宋体" panose="02010600030101010101" pitchFamily="2" charset="-122"/>
                      </a:rPr>
                      <m:t>𝒛</m:t>
                    </m:r>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𝑨</m:t>
                            </m:r>
                          </m:e>
                          <m:sub>
                            <m:r>
                              <a:rPr lang="en-US" altLang="zh-CN" sz="2000" b="1" i="1" kern="1050" smtClean="0">
                                <a:effectLst/>
                                <a:latin typeface="Cambria Math" panose="02040503050406030204" pitchFamily="18" charset="0"/>
                                <a:ea typeface="宋体" panose="02010600030101010101" pitchFamily="2" charset="-122"/>
                              </a:rPr>
                              <m:t>𝒎</m:t>
                            </m:r>
                            <m:r>
                              <a:rPr lang="en-US" altLang="zh-CN" sz="2000" b="1" i="1" kern="1050" smtClean="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𝑻</m:t>
                            </m:r>
                          </m:e>
                          <m:sub>
                            <m:r>
                              <a:rPr lang="en-US" altLang="zh-CN" sz="2000" b="1" i="1" kern="1050" smtClean="0">
                                <a:effectLst/>
                                <a:latin typeface="Cambria Math" panose="02040503050406030204" pitchFamily="18" charset="0"/>
                                <a:ea typeface="宋体" panose="02010600030101010101" pitchFamily="2" charset="-122"/>
                              </a:rPr>
                              <m:t>𝒚</m:t>
                            </m:r>
                          </m:sub>
                        </m:sSub>
                      </m:num>
                      <m:den>
                        <m:r>
                          <a:rPr lang="en-US" altLang="zh-CN" sz="2000" b="1" i="1" kern="1050" smtClean="0">
                            <a:effectLst/>
                            <a:latin typeface="Cambria Math" panose="02040503050406030204" pitchFamily="18" charset="0"/>
                            <a:ea typeface="宋体" panose="02010600030101010101" pitchFamily="2" charset="-122"/>
                          </a:rPr>
                          <m:t>𝟒</m:t>
                        </m:r>
                        <m:r>
                          <a:rPr lang="en-US" altLang="zh-CN" sz="2000" b="1" i="1" kern="1050" smtClean="0">
                            <a:effectLst/>
                            <a:latin typeface="Cambria Math" panose="02040503050406030204" pitchFamily="18" charset="0"/>
                            <a:ea typeface="宋体" panose="02010600030101010101" pitchFamily="2" charset="-122"/>
                          </a:rPr>
                          <m:t>𝝅</m:t>
                        </m:r>
                      </m:den>
                    </m:f>
                    <m:d>
                      <m:dPr>
                        <m:ctrlPr>
                          <a:rPr lang="zh-CN" altLang="zh-CN" sz="2000" b="1" i="1" kern="1050">
                            <a:effectLst/>
                            <a:latin typeface="Cambria Math" panose="02040503050406030204" pitchFamily="18" charset="0"/>
                            <a:ea typeface="Cambria Math" panose="02040503050406030204" pitchFamily="18" charset="0"/>
                          </a:rPr>
                        </m:ctrlPr>
                      </m:dPr>
                      <m:e>
                        <m:f>
                          <m:fPr>
                            <m:ctrlPr>
                              <a:rPr lang="zh-CN" altLang="zh-CN" sz="2000" b="1" i="1" kern="1050">
                                <a:effectLst/>
                                <a:latin typeface="Cambria Math" panose="02040503050406030204" pitchFamily="18" charset="0"/>
                                <a:ea typeface="Cambria Math" panose="02040503050406030204" pitchFamily="18" charset="0"/>
                              </a:rPr>
                            </m:ctrlPr>
                          </m:fPr>
                          <m:num>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𝑻</m:t>
                                </m:r>
                              </m:e>
                              <m:sub>
                                <m:r>
                                  <a:rPr lang="en-US" altLang="zh-CN" sz="2000" b="1" i="1" kern="1050" smtClean="0">
                                    <a:effectLst/>
                                    <a:latin typeface="Cambria Math" panose="02040503050406030204" pitchFamily="18" charset="0"/>
                                    <a:ea typeface="宋体" panose="02010600030101010101" pitchFamily="2" charset="-122"/>
                                  </a:rPr>
                                  <m:t>𝒚</m:t>
                                </m:r>
                              </m:sub>
                            </m:sSub>
                          </m:num>
                          <m:den>
                            <m:r>
                              <a:rPr lang="en-US" altLang="zh-CN" sz="2000" b="1" i="1" kern="1050" smtClean="0">
                                <a:effectLst/>
                                <a:latin typeface="Cambria Math" panose="02040503050406030204" pitchFamily="18" charset="0"/>
                                <a:ea typeface="宋体" panose="02010600030101010101" pitchFamily="2" charset="-122"/>
                              </a:rPr>
                              <m:t>𝟐</m:t>
                            </m:r>
                          </m:den>
                        </m:f>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𝑻</m:t>
                                </m:r>
                              </m:e>
                              <m:sub>
                                <m:r>
                                  <a:rPr lang="en-US" altLang="zh-CN" sz="2000" b="1" i="1" kern="1050" smtClean="0">
                                    <a:effectLst/>
                                    <a:latin typeface="Cambria Math" panose="02040503050406030204" pitchFamily="18" charset="0"/>
                                    <a:ea typeface="宋体" panose="02010600030101010101" pitchFamily="2" charset="-122"/>
                                  </a:rPr>
                                  <m:t>𝒚</m:t>
                                </m:r>
                              </m:sub>
                            </m:sSub>
                          </m:num>
                          <m:den>
                            <m:r>
                              <a:rPr lang="en-US" altLang="zh-CN" sz="2000" b="1" i="1" kern="1050" smtClean="0">
                                <a:effectLst/>
                                <a:latin typeface="Cambria Math" panose="02040503050406030204" pitchFamily="18" charset="0"/>
                                <a:ea typeface="宋体" panose="02010600030101010101" pitchFamily="2" charset="-122"/>
                              </a:rPr>
                              <m:t>𝟒</m:t>
                            </m:r>
                            <m:r>
                              <a:rPr lang="en-US" altLang="zh-CN" sz="2000" b="1" i="1" kern="1050" smtClean="0">
                                <a:effectLst/>
                                <a:latin typeface="Cambria Math" panose="02040503050406030204" pitchFamily="18" charset="0"/>
                                <a:ea typeface="宋体" panose="02010600030101010101" pitchFamily="2" charset="-122"/>
                              </a:rPr>
                              <m:t>𝝅</m:t>
                            </m:r>
                          </m:den>
                        </m:f>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𝒔𝒊𝒏</m:t>
                            </m:r>
                          </m:fName>
                          <m:e>
                            <m:r>
                              <a:rPr lang="en-US" altLang="zh-CN" sz="2000" b="1" i="1" kern="1050" smtClean="0">
                                <a:effectLst/>
                                <a:latin typeface="Cambria Math" panose="02040503050406030204" pitchFamily="18" charset="0"/>
                                <a:ea typeface="宋体" panose="02010600030101010101" pitchFamily="2" charset="-122"/>
                              </a:rPr>
                              <m:t>𝟒</m:t>
                            </m:r>
                          </m:e>
                        </m:func>
                        <m:r>
                          <a:rPr lang="en-US" altLang="zh-CN" sz="2000" b="1" i="1" kern="1050" smtClean="0">
                            <a:effectLst/>
                            <a:latin typeface="Cambria Math" panose="02040503050406030204" pitchFamily="18" charset="0"/>
                            <a:ea typeface="宋体" panose="02010600030101010101" pitchFamily="2" charset="-122"/>
                          </a:rPr>
                          <m:t>𝝅</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𝒕</m:t>
                            </m:r>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𝑻</m:t>
                                </m:r>
                              </m:e>
                              <m:sub>
                                <m:r>
                                  <a:rPr lang="en-US" altLang="zh-CN" sz="2000" b="1" i="1" kern="1050" smtClean="0">
                                    <a:effectLst/>
                                    <a:latin typeface="Cambria Math" panose="02040503050406030204" pitchFamily="18" charset="0"/>
                                    <a:ea typeface="宋体" panose="02010600030101010101" pitchFamily="2" charset="-122"/>
                                  </a:rPr>
                                  <m:t>𝒚</m:t>
                                </m:r>
                              </m:sub>
                            </m:sSub>
                          </m:den>
                        </m:f>
                      </m:e>
                    </m:d>
                  </m:oMath>
                </a14:m>
                <a:r>
                  <a:rPr lang="en-US" altLang="zh-CN" sz="2000" b="1" kern="1050" dirty="0">
                    <a:effectLst/>
                    <a:latin typeface="Times New Roman" panose="02020603050405020304" pitchFamily="18" charset="0"/>
                    <a:ea typeface="宋体" panose="02010600030101010101" pitchFamily="2" charset="-122"/>
                  </a:rPr>
                  <a:t>	         </a:t>
                </a:r>
                <a:r>
                  <a:rPr lang="en-US" altLang="zh-CN" sz="2000" b="1" kern="1050" dirty="0">
                    <a:effectLst/>
                    <a:latin typeface="宋体" panose="02010600030101010101" pitchFamily="2" charset="-122"/>
                    <a:ea typeface="宋体" panose="02010600030101010101" pitchFamily="2" charset="-122"/>
                  </a:rPr>
                  <a:t>(</a:t>
                </a:r>
                <a:r>
                  <a:rPr lang="en-US" altLang="zh-CN" sz="2000" b="1" kern="1050" dirty="0">
                    <a:effectLst/>
                    <a:latin typeface="Times New Roman" panose="02020603050405020304" pitchFamily="18" charset="0"/>
                    <a:ea typeface="宋体" panose="02010600030101010101" pitchFamily="2" charset="-122"/>
                  </a:rPr>
                  <a:t>5.15</a:t>
                </a:r>
                <a:r>
                  <a:rPr lang="en-US" altLang="zh-CN" sz="2000" b="1" kern="1050" dirty="0">
                    <a:effectLst/>
                    <a:latin typeface="宋体" panose="02010600030101010101" pitchFamily="2" charset="-122"/>
                    <a:ea typeface="宋体" panose="02010600030101010101" pitchFamily="2" charset="-122"/>
                  </a:rPr>
                  <a:t>)</a:t>
                </a:r>
                <a:endParaRPr lang="zh-CN" altLang="zh-CN" sz="2000" b="1" kern="1050" dirty="0">
                  <a:effectLst/>
                  <a:latin typeface="Times New Roman" panose="02020603050405020304" pitchFamily="18" charset="0"/>
                  <a:ea typeface="宋体" panose="02010600030101010101" pitchFamily="2" charset="-122"/>
                </a:endParaRPr>
              </a:p>
              <a:p>
                <a:pPr algn="just">
                  <a:spcBef>
                    <a:spcPts val="500"/>
                  </a:spcBef>
                  <a:spcAft>
                    <a:spcPts val="500"/>
                  </a:spcAft>
                  <a:tabLst>
                    <a:tab pos="5364480" algn="r"/>
                  </a:tabLst>
                </a:pPr>
                <a:r>
                  <a:rPr lang="en-US" altLang="zh-CN" sz="2000" b="1" kern="1050" dirty="0">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𝑨</m:t>
                        </m:r>
                      </m:e>
                      <m:sub>
                        <m:r>
                          <a:rPr lang="en-US" altLang="zh-CN" sz="2000" b="1" i="1" kern="1050" smtClean="0">
                            <a:effectLst/>
                            <a:latin typeface="Cambria Math" panose="02040503050406030204" pitchFamily="18" charset="0"/>
                            <a:ea typeface="宋体" panose="02010600030101010101" pitchFamily="2" charset="-122"/>
                          </a:rPr>
                          <m:t>𝒎</m:t>
                        </m:r>
                        <m:r>
                          <a:rPr lang="en-US" altLang="zh-CN" sz="2000" b="1" i="1" kern="1050" smtClean="0">
                            <a:effectLst/>
                            <a:latin typeface="Cambria Math" panose="02040503050406030204" pitchFamily="18" charset="0"/>
                            <a:ea typeface="宋体" panose="02010600030101010101" pitchFamily="2" charset="-122"/>
                          </a:rPr>
                          <m:t>𝟐</m:t>
                        </m:r>
                      </m:sub>
                    </m:sSub>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𝟖</m:t>
                        </m:r>
                        <m:r>
                          <a:rPr lang="en-US" altLang="zh-CN" sz="2000" b="1" i="1" kern="1050" smtClean="0">
                            <a:effectLst/>
                            <a:latin typeface="Cambria Math" panose="02040503050406030204" pitchFamily="18" charset="0"/>
                            <a:ea typeface="宋体" panose="02010600030101010101" pitchFamily="2" charset="-122"/>
                          </a:rPr>
                          <m:t>𝝅</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𝑯</m:t>
                            </m:r>
                          </m:e>
                          <m:sub>
                            <m:r>
                              <a:rPr lang="en-US" altLang="zh-CN" sz="2000" b="1" i="1" kern="1050" smtClean="0">
                                <a:effectLst/>
                                <a:latin typeface="Cambria Math" panose="02040503050406030204" pitchFamily="18" charset="0"/>
                                <a:ea typeface="宋体" panose="02010600030101010101" pitchFamily="2" charset="-122"/>
                              </a:rPr>
                              <m:t>𝟎</m:t>
                            </m:r>
                          </m:sub>
                        </m:sSub>
                      </m:num>
                      <m:den>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𝑻</m:t>
                            </m:r>
                          </m:e>
                          <m:sub>
                            <m:r>
                              <a:rPr lang="en-US" altLang="zh-CN" sz="2000" b="1" i="1" kern="1050" smtClean="0">
                                <a:effectLst/>
                                <a:latin typeface="Cambria Math" panose="02040503050406030204" pitchFamily="18" charset="0"/>
                                <a:ea typeface="宋体" panose="02010600030101010101" pitchFamily="2" charset="-122"/>
                              </a:rPr>
                              <m:t>𝒚</m:t>
                            </m:r>
                          </m:sub>
                          <m:sup>
                            <m:r>
                              <a:rPr lang="en-US" altLang="zh-CN" sz="2000" b="1" i="1" kern="1050" smtClean="0">
                                <a:effectLst/>
                                <a:latin typeface="Cambria Math" panose="02040503050406030204" pitchFamily="18" charset="0"/>
                                <a:ea typeface="宋体" panose="02010600030101010101" pitchFamily="2" charset="-122"/>
                              </a:rPr>
                              <m:t>𝟐</m:t>
                            </m:r>
                          </m:sup>
                        </m:sSubSup>
                      </m:den>
                    </m:f>
                  </m:oMath>
                </a14:m>
                <a:r>
                  <a:rPr lang="en-US" altLang="zh-CN" sz="2000" b="1" kern="1050" dirty="0">
                    <a:effectLst/>
                    <a:latin typeface="Times New Roman" panose="02020603050405020304" pitchFamily="18" charset="0"/>
                    <a:ea typeface="宋体" panose="02010600030101010101" pitchFamily="2" charset="-122"/>
                  </a:rPr>
                  <a:t>	                        </a:t>
                </a:r>
                <a:r>
                  <a:rPr lang="en-US" altLang="zh-CN" sz="2000" b="1" kern="1050" dirty="0">
                    <a:effectLst/>
                    <a:latin typeface="宋体" panose="02010600030101010101" pitchFamily="2" charset="-122"/>
                    <a:ea typeface="宋体" panose="02010600030101010101" pitchFamily="2" charset="-122"/>
                  </a:rPr>
                  <a:t>(</a:t>
                </a:r>
                <a:r>
                  <a:rPr lang="en-US" altLang="zh-CN" sz="2000" b="1" kern="1050" dirty="0">
                    <a:effectLst/>
                    <a:latin typeface="Times New Roman" panose="02020603050405020304" pitchFamily="18" charset="0"/>
                    <a:ea typeface="宋体" panose="02010600030101010101" pitchFamily="2" charset="-122"/>
                  </a:rPr>
                  <a:t>5.16</a:t>
                </a:r>
                <a:r>
                  <a:rPr lang="en-US" altLang="zh-CN" sz="2000" b="1" kern="1050" dirty="0">
                    <a:effectLst/>
                    <a:latin typeface="宋体" panose="02010600030101010101" pitchFamily="2" charset="-122"/>
                    <a:ea typeface="宋体" panose="02010600030101010101" pitchFamily="2" charset="-122"/>
                  </a:rPr>
                  <a:t>)</a:t>
                </a:r>
                <a:endParaRPr lang="zh-CN" altLang="zh-CN" sz="2000" b="1" kern="1050" dirty="0">
                  <a:effectLst/>
                  <a:latin typeface="Times New Roman" panose="02020603050405020304" pitchFamily="18" charset="0"/>
                  <a:ea typeface="宋体" panose="02010600030101010101" pitchFamily="2" charset="-122"/>
                </a:endParaRPr>
              </a:p>
              <a:p>
                <a:pPr algn="just"/>
                <a:r>
                  <a:rPr lang="zh-CN" altLang="zh-CN" sz="2400" b="1" kern="100" spc="-10" dirty="0">
                    <a:effectLst/>
                    <a:latin typeface="Times New Roman" panose="02020603050405020304" pitchFamily="18" charset="0"/>
                    <a:ea typeface="宋体" panose="02010600030101010101" pitchFamily="2" charset="-122"/>
                  </a:rPr>
                  <a:t>由式</a:t>
                </a:r>
                <a:r>
                  <a:rPr lang="en-US" altLang="zh-CN" sz="2400" b="1" kern="100" spc="-10" dirty="0">
                    <a:effectLst/>
                    <a:latin typeface="宋体" panose="02010600030101010101" pitchFamily="2" charset="-122"/>
                    <a:ea typeface="宋体" panose="02010600030101010101" pitchFamily="2" charset="-122"/>
                  </a:rPr>
                  <a:t>(</a:t>
                </a:r>
                <a:r>
                  <a:rPr lang="en-US" altLang="zh-CN" sz="2400" b="1" kern="100" spc="-10" dirty="0">
                    <a:effectLst/>
                    <a:latin typeface="Times New Roman" panose="02020603050405020304" pitchFamily="18" charset="0"/>
                    <a:ea typeface="宋体" panose="02010600030101010101" pitchFamily="2" charset="-122"/>
                  </a:rPr>
                  <a:t>5.15</a:t>
                </a:r>
                <a:r>
                  <a:rPr lang="en-US" altLang="zh-CN" sz="2400" b="1" kern="100" spc="-10" dirty="0">
                    <a:effectLst/>
                    <a:latin typeface="宋体" panose="02010600030101010101" pitchFamily="2" charset="-122"/>
                    <a:ea typeface="宋体" panose="02010600030101010101" pitchFamily="2" charset="-122"/>
                  </a:rPr>
                  <a:t>)</a:t>
                </a:r>
                <a:r>
                  <a:rPr lang="zh-CN" altLang="zh-CN" sz="2400" b="1" kern="100" spc="-10" dirty="0">
                    <a:effectLst/>
                    <a:latin typeface="Times New Roman" panose="02020603050405020304" pitchFamily="18" charset="0"/>
                    <a:ea typeface="宋体" panose="02010600030101010101" pitchFamily="2" charset="-122"/>
                  </a:rPr>
                  <a:t>、式</a:t>
                </a:r>
                <a:r>
                  <a:rPr lang="en-US" altLang="zh-CN" sz="2400" b="1" kern="100" spc="-10" dirty="0">
                    <a:effectLst/>
                    <a:latin typeface="宋体" panose="02010600030101010101" pitchFamily="2" charset="-122"/>
                    <a:ea typeface="宋体" panose="02010600030101010101" pitchFamily="2" charset="-122"/>
                  </a:rPr>
                  <a:t>(</a:t>
                </a:r>
                <a:r>
                  <a:rPr lang="en-US" altLang="zh-CN" sz="2400" b="1" kern="100" spc="-10" dirty="0">
                    <a:effectLst/>
                    <a:latin typeface="Times New Roman" panose="02020603050405020304" pitchFamily="18" charset="0"/>
                    <a:ea typeface="宋体" panose="02010600030101010101" pitchFamily="2" charset="-122"/>
                  </a:rPr>
                  <a:t>5.16</a:t>
                </a:r>
                <a:r>
                  <a:rPr lang="en-US" altLang="zh-CN" sz="2400" b="1" kern="100" spc="-10" dirty="0">
                    <a:effectLst/>
                    <a:latin typeface="宋体" panose="02010600030101010101" pitchFamily="2" charset="-122"/>
                    <a:ea typeface="宋体" panose="02010600030101010101" pitchFamily="2" charset="-122"/>
                  </a:rPr>
                  <a:t>)</a:t>
                </a:r>
                <a:r>
                  <a:rPr lang="zh-CN" altLang="zh-CN" sz="2400" b="1" kern="100" spc="-10" dirty="0">
                    <a:effectLst/>
                    <a:latin typeface="Times New Roman" panose="02020603050405020304" pitchFamily="18" charset="0"/>
                    <a:ea typeface="宋体" panose="02010600030101010101" pitchFamily="2" charset="-122"/>
                  </a:rPr>
                  <a:t>得，当</a:t>
                </a:r>
                <a14:m>
                  <m:oMath xmlns:m="http://schemas.openxmlformats.org/officeDocument/2006/math">
                    <m:r>
                      <a:rPr lang="en-US" altLang="zh-CN" sz="2400" b="1" i="1" kern="100" spc="-10" smtClean="0">
                        <a:effectLst/>
                        <a:latin typeface="Cambria Math" panose="02040503050406030204" pitchFamily="18" charset="0"/>
                        <a:ea typeface="宋体" panose="02010600030101010101" pitchFamily="2" charset="-122"/>
                      </a:rPr>
                      <m:t>𝒕</m:t>
                    </m:r>
                    <m:r>
                      <a:rPr lang="en-US" altLang="zh-CN" sz="2400" b="1" i="1" kern="100" spc="-10" smtClean="0">
                        <a:effectLst/>
                        <a:latin typeface="Cambria Math" panose="02040503050406030204" pitchFamily="18" charset="0"/>
                        <a:ea typeface="宋体" panose="02010600030101010101" pitchFamily="2" charset="-122"/>
                      </a:rPr>
                      <m:t>=</m:t>
                    </m:r>
                    <m:r>
                      <a:rPr lang="en-US" altLang="zh-CN" sz="2400" b="1" i="1" kern="100" spc="-10" smtClean="0">
                        <a:effectLst/>
                        <a:latin typeface="Cambria Math" panose="02040503050406030204" pitchFamily="18" charset="0"/>
                        <a:ea typeface="宋体" panose="02010600030101010101" pitchFamily="2" charset="-122"/>
                      </a:rPr>
                      <m:t>𝟎</m:t>
                    </m:r>
                  </m:oMath>
                </a14:m>
                <a:r>
                  <a:rPr lang="zh-CN" altLang="zh-CN" sz="2400" b="1" kern="100" spc="-10" dirty="0">
                    <a:effectLst/>
                    <a:latin typeface="Times New Roman" panose="02020603050405020304" pitchFamily="18" charset="0"/>
                    <a:ea typeface="宋体" panose="02010600030101010101" pitchFamily="2" charset="-122"/>
                  </a:rPr>
                  <a:t>或</a:t>
                </a:r>
                <a14:m>
                  <m:oMath xmlns:m="http://schemas.openxmlformats.org/officeDocument/2006/math">
                    <m:sSub>
                      <m:sSubPr>
                        <m:ctrlPr>
                          <a:rPr lang="zh-CN" altLang="zh-CN" sz="2400" b="1" i="1" kern="100" spc="-10">
                            <a:effectLst/>
                            <a:latin typeface="Cambria Math" panose="02040503050406030204" pitchFamily="18" charset="0"/>
                            <a:ea typeface="Cambria Math" panose="02040503050406030204" pitchFamily="18" charset="0"/>
                          </a:rPr>
                        </m:ctrlPr>
                      </m:sSubPr>
                      <m:e>
                        <m:r>
                          <a:rPr lang="en-US" altLang="zh-CN" sz="2400" b="1" i="1" kern="100" spc="-10" smtClean="0">
                            <a:effectLst/>
                            <a:latin typeface="Cambria Math" panose="02040503050406030204" pitchFamily="18" charset="0"/>
                            <a:ea typeface="宋体" panose="02010600030101010101" pitchFamily="2" charset="-122"/>
                          </a:rPr>
                          <m:t>𝑻</m:t>
                        </m:r>
                      </m:e>
                      <m:sub>
                        <m:r>
                          <a:rPr lang="en-US" altLang="zh-CN" sz="2400" b="1" i="1" kern="100" spc="-10" smtClean="0">
                            <a:effectLst/>
                            <a:latin typeface="Cambria Math" panose="02040503050406030204" pitchFamily="18" charset="0"/>
                            <a:ea typeface="宋体" panose="02010600030101010101" pitchFamily="2" charset="-122"/>
                          </a:rPr>
                          <m:t>𝒚</m:t>
                        </m:r>
                      </m:sub>
                    </m:sSub>
                    <m:r>
                      <a:rPr lang="en-US" altLang="zh-CN" sz="2400" b="1" i="1" kern="100" spc="-10" smtClean="0">
                        <a:effectLst/>
                        <a:latin typeface="Cambria Math" panose="02040503050406030204" pitchFamily="18" charset="0"/>
                        <a:ea typeface="宋体" panose="02010600030101010101" pitchFamily="2" charset="-122"/>
                      </a:rPr>
                      <m:t>/</m:t>
                    </m:r>
                    <m:r>
                      <a:rPr lang="en-US" altLang="zh-CN" sz="2400" b="1" i="1" kern="100" spc="-10" smtClean="0">
                        <a:effectLst/>
                        <a:latin typeface="Cambria Math" panose="02040503050406030204" pitchFamily="18" charset="0"/>
                        <a:ea typeface="宋体" panose="02010600030101010101" pitchFamily="2" charset="-122"/>
                      </a:rPr>
                      <m:t>𝟐</m:t>
                    </m:r>
                  </m:oMath>
                </a14:m>
                <a:r>
                  <a:rPr lang="zh-CN" altLang="zh-CN" sz="2400" b="1" kern="100" spc="-10" dirty="0">
                    <a:effectLst/>
                    <a:latin typeface="Times New Roman" panose="02020603050405020304" pitchFamily="18" charset="0"/>
                    <a:ea typeface="宋体" panose="02010600030101010101" pitchFamily="2" charset="-122"/>
                  </a:rPr>
                  <a:t>时，</a:t>
                </a:r>
                <a14:m>
                  <m:oMath xmlns:m="http://schemas.openxmlformats.org/officeDocument/2006/math">
                    <m:r>
                      <a:rPr lang="en-US" altLang="zh-CN" sz="2400" b="1" i="1" kern="100" spc="-10" smtClean="0">
                        <a:effectLst/>
                        <a:latin typeface="Cambria Math" panose="02040503050406030204" pitchFamily="18" charset="0"/>
                        <a:ea typeface="宋体" panose="02010600030101010101" pitchFamily="2" charset="-122"/>
                      </a:rPr>
                      <m:t>𝒁</m:t>
                    </m:r>
                    <m:r>
                      <a:rPr lang="en-US" altLang="zh-CN" sz="2400" b="1" i="1" kern="100" spc="-10" smtClean="0">
                        <a:effectLst/>
                        <a:latin typeface="Cambria Math" panose="02040503050406030204" pitchFamily="18" charset="0"/>
                        <a:ea typeface="宋体" panose="02010600030101010101" pitchFamily="2" charset="-122"/>
                      </a:rPr>
                      <m:t>=</m:t>
                    </m:r>
                    <m:sSub>
                      <m:sSubPr>
                        <m:ctrlPr>
                          <a:rPr lang="zh-CN" altLang="zh-CN" sz="2400" b="1" i="1" kern="100" spc="-10">
                            <a:effectLst/>
                            <a:latin typeface="Cambria Math" panose="02040503050406030204" pitchFamily="18" charset="0"/>
                            <a:ea typeface="Cambria Math" panose="02040503050406030204" pitchFamily="18" charset="0"/>
                          </a:rPr>
                        </m:ctrlPr>
                      </m:sSubPr>
                      <m:e>
                        <m:r>
                          <a:rPr lang="en-US" altLang="zh-CN" sz="2400" b="1" i="1" kern="100" spc="-10" smtClean="0">
                            <a:effectLst/>
                            <a:latin typeface="Cambria Math" panose="02040503050406030204" pitchFamily="18" charset="0"/>
                            <a:ea typeface="宋体" panose="02010600030101010101" pitchFamily="2" charset="-122"/>
                          </a:rPr>
                          <m:t>𝑯</m:t>
                        </m:r>
                      </m:e>
                      <m:sub>
                        <m:r>
                          <a:rPr lang="en-US" altLang="zh-CN" sz="2400" b="1" i="1" kern="100" spc="-10" smtClean="0">
                            <a:effectLst/>
                            <a:latin typeface="Cambria Math" panose="02040503050406030204" pitchFamily="18" charset="0"/>
                            <a:ea typeface="宋体" panose="02010600030101010101" pitchFamily="2" charset="-122"/>
                          </a:rPr>
                          <m:t>𝟎</m:t>
                        </m:r>
                      </m:sub>
                    </m:sSub>
                  </m:oMath>
                </a14:m>
                <a:r>
                  <a:rPr lang="zh-CN" altLang="zh-CN" sz="2400" b="1" kern="100" spc="-10" dirty="0">
                    <a:effectLst/>
                    <a:latin typeface="Times New Roman" panose="02020603050405020304" pitchFamily="18" charset="0"/>
                    <a:ea typeface="宋体" panose="02010600030101010101" pitchFamily="2" charset="-122"/>
                  </a:rPr>
                  <a:t>，其中，</a:t>
                </a:r>
                <a14:m>
                  <m:oMath xmlns:m="http://schemas.openxmlformats.org/officeDocument/2006/math">
                    <m:sSub>
                      <m:sSubPr>
                        <m:ctrlPr>
                          <a:rPr lang="zh-CN" altLang="zh-CN" sz="2400" b="1" i="1" kern="100" spc="-10">
                            <a:effectLst/>
                            <a:latin typeface="Cambria Math" panose="02040503050406030204" pitchFamily="18" charset="0"/>
                            <a:ea typeface="Cambria Math" panose="02040503050406030204" pitchFamily="18" charset="0"/>
                          </a:rPr>
                        </m:ctrlPr>
                      </m:sSubPr>
                      <m:e>
                        <m:r>
                          <a:rPr lang="en-US" altLang="zh-CN" sz="2400" b="1" i="1" kern="100" spc="-10" smtClean="0">
                            <a:effectLst/>
                            <a:latin typeface="Cambria Math" panose="02040503050406030204" pitchFamily="18" charset="0"/>
                            <a:ea typeface="宋体" panose="02010600030101010101" pitchFamily="2" charset="-122"/>
                          </a:rPr>
                          <m:t>𝑯</m:t>
                        </m:r>
                      </m:e>
                      <m:sub>
                        <m:r>
                          <a:rPr lang="en-US" altLang="zh-CN" sz="2400" b="1" i="1" kern="100" spc="-10" smtClean="0">
                            <a:effectLst/>
                            <a:latin typeface="Cambria Math" panose="02040503050406030204" pitchFamily="18" charset="0"/>
                            <a:ea typeface="宋体" panose="02010600030101010101" pitchFamily="2" charset="-122"/>
                          </a:rPr>
                          <m:t>𝟎</m:t>
                        </m:r>
                      </m:sub>
                    </m:sSub>
                  </m:oMath>
                </a14:m>
                <a:r>
                  <a:rPr lang="zh-CN" altLang="zh-CN" sz="2400" b="1" kern="100" spc="-10" dirty="0">
                    <a:effectLst/>
                    <a:latin typeface="Times New Roman" panose="02020603050405020304" pitchFamily="18" charset="0"/>
                    <a:ea typeface="宋体" panose="02010600030101010101" pitchFamily="2" charset="-122"/>
                  </a:rPr>
                  <a:t>为摆动腿抬起的高度。</a:t>
                </a:r>
                <a:endParaRPr lang="zh-CN" altLang="zh-CN" sz="2400" b="1" kern="100" dirty="0">
                  <a:effectLst/>
                  <a:latin typeface="Times New Roman" panose="02020603050405020304" pitchFamily="18" charset="0"/>
                  <a:ea typeface="宋体" panose="02010600030101010101" pitchFamily="2" charset="-122"/>
                </a:endParaRPr>
              </a:p>
              <a:p>
                <a:pPr algn="just"/>
                <a:r>
                  <a:rPr lang="zh-CN" altLang="zh-CN" sz="2400" b="1" kern="1000" dirty="0">
                    <a:effectLst/>
                    <a:latin typeface="Times New Roman" panose="02020603050405020304" pitchFamily="18" charset="0"/>
                    <a:ea typeface="宋体" panose="02010600030101010101" pitchFamily="2" charset="-122"/>
                  </a:rPr>
                  <a:t>将式</a:t>
                </a:r>
                <a:r>
                  <a:rPr lang="en-US" altLang="zh-CN" sz="2400" b="1" kern="1000" dirty="0">
                    <a:effectLst/>
                    <a:latin typeface="宋体" panose="02010600030101010101" pitchFamily="2" charset="-122"/>
                    <a:ea typeface="宋体" panose="02010600030101010101" pitchFamily="2" charset="-122"/>
                  </a:rPr>
                  <a:t>(</a:t>
                </a:r>
                <a:r>
                  <a:rPr lang="en-US" altLang="zh-CN" sz="2400" b="1" kern="1000" dirty="0">
                    <a:effectLst/>
                    <a:latin typeface="Times New Roman" panose="02020603050405020304" pitchFamily="18" charset="0"/>
                    <a:ea typeface="宋体" panose="02010600030101010101" pitchFamily="2" charset="-122"/>
                  </a:rPr>
                  <a:t>5.16</a:t>
                </a:r>
                <a:r>
                  <a:rPr lang="en-US" altLang="zh-CN" sz="2400" b="1" kern="1000" dirty="0">
                    <a:effectLst/>
                    <a:latin typeface="宋体" panose="02010600030101010101" pitchFamily="2" charset="-122"/>
                    <a:ea typeface="宋体" panose="02010600030101010101" pitchFamily="2" charset="-122"/>
                  </a:rPr>
                  <a:t>)</a:t>
                </a:r>
                <a:r>
                  <a:rPr lang="zh-CN" altLang="zh-CN" sz="2400" b="1" kern="1000" dirty="0">
                    <a:effectLst/>
                    <a:latin typeface="Times New Roman" panose="02020603050405020304" pitchFamily="18" charset="0"/>
                    <a:ea typeface="宋体" panose="02010600030101010101" pitchFamily="2" charset="-122"/>
                  </a:rPr>
                  <a:t>代入式</a:t>
                </a:r>
                <a:r>
                  <a:rPr lang="en-US" altLang="zh-CN" sz="2400" b="1" kern="1000" dirty="0">
                    <a:effectLst/>
                    <a:latin typeface="宋体" panose="02010600030101010101" pitchFamily="2" charset="-122"/>
                    <a:ea typeface="宋体" panose="02010600030101010101" pitchFamily="2" charset="-122"/>
                  </a:rPr>
                  <a:t>(</a:t>
                </a:r>
                <a:r>
                  <a:rPr lang="en-US" altLang="zh-CN" sz="2400" b="1" kern="1000" dirty="0">
                    <a:effectLst/>
                    <a:latin typeface="Times New Roman" panose="02020603050405020304" pitchFamily="18" charset="0"/>
                    <a:ea typeface="宋体" panose="02010600030101010101" pitchFamily="2" charset="-122"/>
                  </a:rPr>
                  <a:t>5.13</a:t>
                </a:r>
                <a:r>
                  <a:rPr lang="en-US" altLang="zh-CN" sz="2400" b="1" kern="1000" dirty="0">
                    <a:effectLst/>
                    <a:latin typeface="宋体" panose="02010600030101010101" pitchFamily="2" charset="-122"/>
                    <a:ea typeface="宋体" panose="02010600030101010101" pitchFamily="2" charset="-122"/>
                  </a:rPr>
                  <a:t>)</a:t>
                </a:r>
                <a:r>
                  <a:rPr lang="zh-CN" altLang="zh-CN" sz="2400" b="1" kern="1000" dirty="0">
                    <a:effectLst/>
                    <a:latin typeface="Times New Roman" panose="02020603050405020304" pitchFamily="18" charset="0"/>
                    <a:ea typeface="宋体" panose="02010600030101010101" pitchFamily="2" charset="-122"/>
                  </a:rPr>
                  <a:t>～式</a:t>
                </a:r>
                <a:r>
                  <a:rPr lang="en-US" altLang="zh-CN" sz="2400" b="1" kern="1000" dirty="0">
                    <a:effectLst/>
                    <a:latin typeface="宋体" panose="02010600030101010101" pitchFamily="2" charset="-122"/>
                    <a:ea typeface="宋体" panose="02010600030101010101" pitchFamily="2" charset="-122"/>
                  </a:rPr>
                  <a:t>(</a:t>
                </a:r>
                <a:r>
                  <a:rPr lang="en-US" altLang="zh-CN" sz="2400" b="1" kern="1000" dirty="0">
                    <a:effectLst/>
                    <a:latin typeface="Times New Roman" panose="02020603050405020304" pitchFamily="18" charset="0"/>
                    <a:ea typeface="宋体" panose="02010600030101010101" pitchFamily="2" charset="-122"/>
                  </a:rPr>
                  <a:t>5.15</a:t>
                </a:r>
                <a:r>
                  <a:rPr lang="en-US" altLang="zh-CN" sz="2400" b="1" kern="1000" dirty="0">
                    <a:effectLst/>
                    <a:latin typeface="宋体" panose="02010600030101010101" pitchFamily="2" charset="-122"/>
                    <a:ea typeface="宋体" panose="02010600030101010101" pitchFamily="2" charset="-122"/>
                  </a:rPr>
                  <a:t>)</a:t>
                </a:r>
                <a:r>
                  <a:rPr lang="zh-CN" altLang="zh-CN" sz="2400" b="1" kern="1000" dirty="0">
                    <a:effectLst/>
                    <a:latin typeface="Times New Roman" panose="02020603050405020304" pitchFamily="18" charset="0"/>
                    <a:ea typeface="宋体" panose="02010600030101010101" pitchFamily="2" charset="-122"/>
                  </a:rPr>
                  <a:t>中，得到以下结果：</a:t>
                </a:r>
              </a:p>
              <a:p>
                <a:pPr algn="just">
                  <a:spcBef>
                    <a:spcPts val="600"/>
                  </a:spcBef>
                  <a:spcAft>
                    <a:spcPts val="600"/>
                  </a:spcAft>
                  <a:tabLst>
                    <a:tab pos="5364480" algn="r"/>
                  </a:tabLst>
                </a:pPr>
                <a:r>
                  <a:rPr lang="en-US" altLang="zh-CN" sz="2000" b="1" kern="1050" dirty="0">
                    <a:effectLst/>
                    <a:ea typeface="Cambria Math" panose="02040503050406030204" pitchFamily="18" charset="0"/>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𝒛</m:t>
                        </m:r>
                      </m:e>
                    </m:acc>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𝟖</m:t>
                        </m:r>
                        <m:r>
                          <a:rPr lang="en-US" altLang="zh-CN" sz="2000" b="1" i="1" kern="1050" smtClean="0">
                            <a:effectLst/>
                            <a:latin typeface="Cambria Math" panose="02040503050406030204" pitchFamily="18" charset="0"/>
                            <a:ea typeface="宋体" panose="02010600030101010101" pitchFamily="2" charset="-122"/>
                          </a:rPr>
                          <m:t>𝝅</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𝑯</m:t>
                            </m:r>
                          </m:e>
                          <m:sub>
                            <m:r>
                              <a:rPr lang="en-US" altLang="zh-CN" sz="2000" b="1" i="1" kern="1050" smtClean="0">
                                <a:effectLst/>
                                <a:latin typeface="Cambria Math" panose="02040503050406030204" pitchFamily="18" charset="0"/>
                                <a:ea typeface="宋体" panose="02010600030101010101" pitchFamily="2" charset="-122"/>
                              </a:rPr>
                              <m:t>𝟎</m:t>
                            </m:r>
                          </m:sub>
                        </m:sSub>
                      </m:num>
                      <m:den>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𝑻</m:t>
                            </m:r>
                          </m:e>
                          <m:sub>
                            <m:r>
                              <a:rPr lang="en-US" altLang="zh-CN" sz="2000" b="1" i="1" kern="1050" smtClean="0">
                                <a:effectLst/>
                                <a:latin typeface="Cambria Math" panose="02040503050406030204" pitchFamily="18" charset="0"/>
                                <a:ea typeface="宋体" panose="02010600030101010101" pitchFamily="2" charset="-122"/>
                              </a:rPr>
                              <m:t>𝒚</m:t>
                            </m:r>
                          </m:sub>
                          <m:sup>
                            <m:r>
                              <a:rPr lang="en-US" altLang="zh-CN" sz="2000" b="1" i="1" kern="1050" smtClean="0">
                                <a:effectLst/>
                                <a:latin typeface="Cambria Math" panose="02040503050406030204" pitchFamily="18" charset="0"/>
                                <a:ea typeface="宋体" panose="02010600030101010101" pitchFamily="2" charset="-122"/>
                              </a:rPr>
                              <m:t>𝟐</m:t>
                            </m:r>
                          </m:sup>
                        </m:sSubSup>
                      </m:den>
                    </m:f>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𝒔𝒊𝒏</m:t>
                        </m:r>
                      </m:fName>
                      <m:e>
                        <m:r>
                          <a:rPr lang="en-US" altLang="zh-CN" sz="2000" b="1" i="1" kern="1050" smtClean="0">
                            <a:effectLst/>
                            <a:latin typeface="Cambria Math" panose="02040503050406030204" pitchFamily="18" charset="0"/>
                            <a:ea typeface="宋体" panose="02010600030101010101" pitchFamily="2" charset="-122"/>
                          </a:rPr>
                          <m:t>𝟒</m:t>
                        </m:r>
                      </m:e>
                    </m:func>
                    <m:r>
                      <a:rPr lang="en-US" altLang="zh-CN" sz="2000" b="1" i="1" kern="1050" smtClean="0">
                        <a:effectLst/>
                        <a:latin typeface="Cambria Math" panose="02040503050406030204" pitchFamily="18" charset="0"/>
                        <a:ea typeface="宋体" panose="02010600030101010101" pitchFamily="2" charset="-122"/>
                      </a:rPr>
                      <m:t>𝝅</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𝒕</m:t>
                        </m:r>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𝑻</m:t>
                            </m:r>
                          </m:e>
                          <m:sub>
                            <m:r>
                              <a:rPr lang="en-US" altLang="zh-CN" sz="2000" b="1" i="1" kern="1050" smtClean="0">
                                <a:effectLst/>
                                <a:latin typeface="Cambria Math" panose="02040503050406030204" pitchFamily="18" charset="0"/>
                                <a:ea typeface="宋体" panose="02010600030101010101" pitchFamily="2" charset="-122"/>
                              </a:rPr>
                              <m:t>𝒚</m:t>
                            </m:r>
                          </m:sub>
                        </m:sSub>
                      </m:den>
                    </m:f>
                  </m:oMath>
                </a14:m>
                <a:r>
                  <a:rPr lang="en-US" altLang="zh-CN" sz="2000" b="1" kern="1050" dirty="0">
                    <a:effectLst/>
                    <a:latin typeface="Times New Roman" panose="02020603050405020304" pitchFamily="18" charset="0"/>
                    <a:ea typeface="宋体" panose="02010600030101010101" pitchFamily="2" charset="-122"/>
                  </a:rPr>
                  <a:t>	                   </a:t>
                </a:r>
                <a:r>
                  <a:rPr lang="en-US" altLang="zh-CN" sz="2000" b="1" kern="1050" dirty="0">
                    <a:effectLst/>
                    <a:latin typeface="宋体" panose="02010600030101010101" pitchFamily="2" charset="-122"/>
                    <a:ea typeface="宋体" panose="02010600030101010101" pitchFamily="2" charset="-122"/>
                  </a:rPr>
                  <a:t>(</a:t>
                </a:r>
                <a:r>
                  <a:rPr lang="en-US" altLang="zh-CN" sz="2000" b="1" kern="1050" dirty="0">
                    <a:effectLst/>
                    <a:latin typeface="Times New Roman" panose="02020603050405020304" pitchFamily="18" charset="0"/>
                    <a:ea typeface="宋体" panose="02010600030101010101" pitchFamily="2" charset="-122"/>
                  </a:rPr>
                  <a:t>5.17</a:t>
                </a:r>
                <a:r>
                  <a:rPr lang="en-US" altLang="zh-CN" sz="2000" b="1" kern="1050" dirty="0">
                    <a:effectLst/>
                    <a:latin typeface="宋体" panose="02010600030101010101" pitchFamily="2" charset="-122"/>
                    <a:ea typeface="宋体" panose="02010600030101010101" pitchFamily="2" charset="-122"/>
                  </a:rPr>
                  <a:t>)</a:t>
                </a:r>
                <a:endParaRPr lang="zh-CN" altLang="zh-CN" sz="2000" b="1" kern="1050" dirty="0">
                  <a:effectLst/>
                  <a:latin typeface="Times New Roman" panose="02020603050405020304" pitchFamily="18" charset="0"/>
                  <a:ea typeface="宋体" panose="02010600030101010101" pitchFamily="2" charset="-122"/>
                </a:endParaRPr>
              </a:p>
              <a:p>
                <a:pPr algn="just">
                  <a:spcBef>
                    <a:spcPts val="600"/>
                  </a:spcBef>
                  <a:spcAft>
                    <a:spcPts val="600"/>
                  </a:spcAft>
                  <a:tabLst>
                    <a:tab pos="5364480" algn="r"/>
                  </a:tabLst>
                </a:pPr>
                <a:r>
                  <a:rPr lang="en-US" altLang="zh-CN" sz="2000" b="1" kern="1050" dirty="0">
                    <a:effectLst/>
                    <a:ea typeface="Cambria Math" panose="02040503050406030204" pitchFamily="18" charset="0"/>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𝒛</m:t>
                        </m:r>
                      </m:e>
                    </m:acc>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𝟐</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𝑯</m:t>
                            </m:r>
                          </m:e>
                          <m:sub>
                            <m:r>
                              <a:rPr lang="en-US" altLang="zh-CN" sz="2000" b="1" i="1" kern="1050" smtClean="0">
                                <a:effectLst/>
                                <a:latin typeface="Cambria Math" panose="02040503050406030204" pitchFamily="18" charset="0"/>
                                <a:ea typeface="宋体" panose="02010600030101010101" pitchFamily="2" charset="-122"/>
                              </a:rPr>
                              <m:t>𝟎</m:t>
                            </m:r>
                          </m:sub>
                        </m:sSub>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𝑻</m:t>
                            </m:r>
                          </m:e>
                          <m:sub>
                            <m:r>
                              <a:rPr lang="en-US" altLang="zh-CN" sz="2000" b="1" i="1" kern="1050" smtClean="0">
                                <a:effectLst/>
                                <a:latin typeface="Cambria Math" panose="02040503050406030204" pitchFamily="18" charset="0"/>
                                <a:ea typeface="宋体" panose="02010600030101010101" pitchFamily="2" charset="-122"/>
                              </a:rPr>
                              <m:t>𝒚</m:t>
                            </m:r>
                          </m:sub>
                        </m:sSub>
                      </m:den>
                    </m:f>
                    <m:d>
                      <m:dPr>
                        <m:ctrlPr>
                          <a:rPr lang="zh-CN" altLang="zh-CN" sz="2000" b="1" i="1" kern="1050">
                            <a:effectLst/>
                            <a:latin typeface="Cambria Math" panose="02040503050406030204" pitchFamily="18" charset="0"/>
                            <a:ea typeface="Cambria Math" panose="02040503050406030204" pitchFamily="18" charset="0"/>
                          </a:rPr>
                        </m:ctrlPr>
                      </m:dPr>
                      <m:e>
                        <m:r>
                          <a:rPr lang="en-US" altLang="zh-CN" sz="2000" b="1" i="1" kern="1050" smtClean="0">
                            <a:effectLst/>
                            <a:latin typeface="Cambria Math" panose="02040503050406030204" pitchFamily="18" charset="0"/>
                            <a:ea typeface="宋体" panose="02010600030101010101" pitchFamily="2" charset="-122"/>
                          </a:rPr>
                          <m:t>𝟏</m:t>
                        </m:r>
                        <m:r>
                          <a:rPr lang="en-US" altLang="zh-CN" sz="2000" b="1" i="1" kern="1050" smtClean="0">
                            <a:effectLst/>
                            <a:latin typeface="Cambria Math" panose="02040503050406030204" pitchFamily="18" charset="0"/>
                            <a:ea typeface="宋体" panose="02010600030101010101" pitchFamily="2" charset="-122"/>
                          </a:rPr>
                          <m:t>−</m:t>
                        </m:r>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𝒄𝒐𝒔</m:t>
                            </m:r>
                          </m:fName>
                          <m:e>
                            <m:r>
                              <a:rPr lang="en-US" altLang="zh-CN" sz="2000" b="1" i="1" kern="1050" smtClean="0">
                                <a:effectLst/>
                                <a:latin typeface="Cambria Math" panose="02040503050406030204" pitchFamily="18" charset="0"/>
                                <a:ea typeface="宋体" panose="02010600030101010101" pitchFamily="2" charset="-122"/>
                              </a:rPr>
                              <m:t>𝟒</m:t>
                            </m:r>
                          </m:e>
                        </m:func>
                        <m:r>
                          <a:rPr lang="en-US" altLang="zh-CN" sz="2000" b="1" i="1" kern="1050" smtClean="0">
                            <a:effectLst/>
                            <a:latin typeface="Cambria Math" panose="02040503050406030204" pitchFamily="18" charset="0"/>
                            <a:ea typeface="宋体" panose="02010600030101010101" pitchFamily="2" charset="-122"/>
                          </a:rPr>
                          <m:t>𝝅</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𝒕</m:t>
                            </m:r>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𝑻</m:t>
                                </m:r>
                              </m:e>
                              <m:sub>
                                <m:r>
                                  <a:rPr lang="en-US" altLang="zh-CN" sz="2000" b="1" i="1" kern="1050" smtClean="0">
                                    <a:effectLst/>
                                    <a:latin typeface="Cambria Math" panose="02040503050406030204" pitchFamily="18" charset="0"/>
                                    <a:ea typeface="宋体" panose="02010600030101010101" pitchFamily="2" charset="-122"/>
                                  </a:rPr>
                                  <m:t>𝒚</m:t>
                                </m:r>
                              </m:sub>
                            </m:sSub>
                          </m:den>
                        </m:f>
                      </m:e>
                    </m:d>
                  </m:oMath>
                </a14:m>
                <a:r>
                  <a:rPr lang="en-US" altLang="zh-CN" sz="2000" b="1" kern="1050" dirty="0">
                    <a:effectLst/>
                    <a:latin typeface="Times New Roman" panose="02020603050405020304" pitchFamily="18" charset="0"/>
                    <a:ea typeface="宋体" panose="02010600030101010101" pitchFamily="2" charset="-122"/>
                  </a:rPr>
                  <a:t>	</a:t>
                </a:r>
                <a:r>
                  <a:rPr lang="en-US" altLang="zh-CN" sz="2000" b="1" kern="1050" dirty="0">
                    <a:effectLst/>
                    <a:latin typeface="宋体" panose="02010600030101010101" pitchFamily="2" charset="-122"/>
                    <a:ea typeface="宋体" panose="02010600030101010101" pitchFamily="2" charset="-122"/>
                  </a:rPr>
                  <a:t>(</a:t>
                </a:r>
                <a:r>
                  <a:rPr lang="en-US" altLang="zh-CN" sz="2000" b="1" kern="1050" dirty="0">
                    <a:effectLst/>
                    <a:latin typeface="Times New Roman" panose="02020603050405020304" pitchFamily="18" charset="0"/>
                    <a:ea typeface="宋体" panose="02010600030101010101" pitchFamily="2" charset="-122"/>
                  </a:rPr>
                  <a:t>5.18</a:t>
                </a:r>
                <a:r>
                  <a:rPr lang="en-US" altLang="zh-CN" sz="2000" b="1" kern="1050" dirty="0">
                    <a:effectLst/>
                    <a:latin typeface="宋体" panose="02010600030101010101" pitchFamily="2" charset="-122"/>
                    <a:ea typeface="宋体" panose="02010600030101010101" pitchFamily="2" charset="-122"/>
                  </a:rPr>
                  <a:t>)</a:t>
                </a:r>
                <a:endParaRPr lang="zh-CN" altLang="zh-CN" sz="2000" b="1" kern="1050" dirty="0">
                  <a:effectLst/>
                  <a:latin typeface="Times New Roman" panose="02020603050405020304" pitchFamily="18" charset="0"/>
                  <a:ea typeface="宋体" panose="02010600030101010101" pitchFamily="2" charset="-122"/>
                </a:endParaRPr>
              </a:p>
              <a:p>
                <a:pPr algn="just">
                  <a:tabLst>
                    <a:tab pos="5364480" algn="r"/>
                  </a:tabLst>
                </a:pPr>
                <a:r>
                  <a:rPr lang="en-US" altLang="zh-CN" sz="2000" b="1" kern="1050" dirty="0">
                    <a:effectLst/>
                    <a:ea typeface="宋体" panose="02010600030101010101" pitchFamily="2" charset="-122"/>
                  </a:rPr>
                  <a:t>                                         </a:t>
                </a:r>
                <a14:m>
                  <m:oMath xmlns:m="http://schemas.openxmlformats.org/officeDocument/2006/math">
                    <m:r>
                      <a:rPr lang="en-US" altLang="zh-CN" sz="2000" b="1" i="1" kern="1050" smtClean="0">
                        <a:effectLst/>
                        <a:latin typeface="Cambria Math" panose="02040503050406030204" pitchFamily="18" charset="0"/>
                        <a:ea typeface="宋体" panose="02010600030101010101" pitchFamily="2" charset="-122"/>
                      </a:rPr>
                      <m:t>𝒛</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𝟐</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𝑯</m:t>
                        </m:r>
                      </m:e>
                      <m:sub>
                        <m:r>
                          <a:rPr lang="en-US" altLang="zh-CN" sz="2000" b="1" i="1" kern="1050" smtClean="0">
                            <a:effectLst/>
                            <a:latin typeface="Cambria Math" panose="02040503050406030204" pitchFamily="18" charset="0"/>
                            <a:ea typeface="宋体" panose="02010600030101010101" pitchFamily="2" charset="-122"/>
                          </a:rPr>
                          <m:t>𝟎</m:t>
                        </m:r>
                      </m:sub>
                    </m:sSub>
                    <m:d>
                      <m:dPr>
                        <m:ctrlPr>
                          <a:rPr lang="zh-CN" altLang="zh-CN" sz="2000" b="1" i="1" kern="1050">
                            <a:effectLst/>
                            <a:latin typeface="Cambria Math" panose="02040503050406030204" pitchFamily="18" charset="0"/>
                            <a:ea typeface="Cambria Math" panose="02040503050406030204" pitchFamily="18" charset="0"/>
                          </a:rPr>
                        </m:ctrlPr>
                      </m:dPr>
                      <m:e>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𝒕</m:t>
                            </m:r>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𝑻</m:t>
                                </m:r>
                              </m:e>
                              <m:sub>
                                <m:r>
                                  <a:rPr lang="en-US" altLang="zh-CN" sz="2000" b="1" i="1" kern="1050" smtClean="0">
                                    <a:effectLst/>
                                    <a:latin typeface="Cambria Math" panose="02040503050406030204" pitchFamily="18" charset="0"/>
                                    <a:ea typeface="宋体" panose="02010600030101010101" pitchFamily="2" charset="-122"/>
                                  </a:rPr>
                                  <m:t>𝒚</m:t>
                                </m:r>
                              </m:sub>
                            </m:sSub>
                          </m:den>
                        </m:f>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𝟏</m:t>
                            </m:r>
                          </m:num>
                          <m:den>
                            <m:r>
                              <a:rPr lang="en-US" altLang="zh-CN" sz="2000" b="1" i="1" kern="1050" smtClean="0">
                                <a:effectLst/>
                                <a:latin typeface="Cambria Math" panose="02040503050406030204" pitchFamily="18" charset="0"/>
                                <a:ea typeface="宋体" panose="02010600030101010101" pitchFamily="2" charset="-122"/>
                              </a:rPr>
                              <m:t>𝟒</m:t>
                            </m:r>
                            <m:r>
                              <a:rPr lang="en-US" altLang="zh-CN" sz="2000" b="1" i="1" kern="1050" smtClean="0">
                                <a:effectLst/>
                                <a:latin typeface="Cambria Math" panose="02040503050406030204" pitchFamily="18" charset="0"/>
                                <a:ea typeface="宋体" panose="02010600030101010101" pitchFamily="2" charset="-122"/>
                              </a:rPr>
                              <m:t>𝝅</m:t>
                            </m:r>
                          </m:den>
                        </m:f>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𝒔𝒊𝒏</m:t>
                            </m:r>
                          </m:fName>
                          <m:e>
                            <m:r>
                              <a:rPr lang="en-US" altLang="zh-CN" sz="2000" b="1" i="1" kern="1050" smtClean="0">
                                <a:effectLst/>
                                <a:latin typeface="Cambria Math" panose="02040503050406030204" pitchFamily="18" charset="0"/>
                                <a:ea typeface="宋体" panose="02010600030101010101" pitchFamily="2" charset="-122"/>
                              </a:rPr>
                              <m:t>𝟒</m:t>
                            </m:r>
                          </m:e>
                        </m:func>
                        <m:r>
                          <a:rPr lang="en-US" altLang="zh-CN" sz="2000" b="1" i="1" kern="1050" smtClean="0">
                            <a:effectLst/>
                            <a:latin typeface="Cambria Math" panose="02040503050406030204" pitchFamily="18" charset="0"/>
                            <a:ea typeface="宋体" panose="02010600030101010101" pitchFamily="2" charset="-122"/>
                          </a:rPr>
                          <m:t>𝝅</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𝒕</m:t>
                            </m:r>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𝑻</m:t>
                                </m:r>
                              </m:e>
                              <m:sub>
                                <m:r>
                                  <a:rPr lang="en-US" altLang="zh-CN" sz="2000" b="1" i="1" kern="1050" smtClean="0">
                                    <a:effectLst/>
                                    <a:latin typeface="Cambria Math" panose="02040503050406030204" pitchFamily="18" charset="0"/>
                                    <a:ea typeface="宋体" panose="02010600030101010101" pitchFamily="2" charset="-122"/>
                                  </a:rPr>
                                  <m:t>𝒚</m:t>
                                </m:r>
                              </m:sub>
                            </m:sSub>
                          </m:den>
                        </m:f>
                      </m:e>
                    </m:d>
                  </m:oMath>
                </a14:m>
                <a:r>
                  <a:rPr lang="en-US" altLang="zh-CN" sz="2000" b="1" kern="1050" dirty="0">
                    <a:effectLst/>
                    <a:latin typeface="Times New Roman" panose="02020603050405020304" pitchFamily="18" charset="0"/>
                    <a:ea typeface="宋体" panose="02010600030101010101" pitchFamily="2" charset="-122"/>
                  </a:rPr>
                  <a:t>	</a:t>
                </a:r>
                <a:r>
                  <a:rPr lang="en-US" altLang="zh-CN" sz="2000" b="1" kern="1050" dirty="0">
                    <a:effectLst/>
                    <a:latin typeface="宋体" panose="02010600030101010101" pitchFamily="2" charset="-122"/>
                    <a:ea typeface="宋体" panose="02010600030101010101" pitchFamily="2" charset="-122"/>
                  </a:rPr>
                  <a:t>(</a:t>
                </a:r>
                <a:r>
                  <a:rPr lang="en-US" altLang="zh-CN" sz="2000" b="1" kern="1050" dirty="0">
                    <a:effectLst/>
                    <a:latin typeface="Times New Roman" panose="02020603050405020304" pitchFamily="18" charset="0"/>
                    <a:ea typeface="宋体" panose="02010600030101010101" pitchFamily="2" charset="-122"/>
                  </a:rPr>
                  <a:t>5.19</a:t>
                </a:r>
                <a:r>
                  <a:rPr lang="en-US" altLang="zh-CN" sz="2000" b="1" kern="1050" dirty="0">
                    <a:effectLst/>
                    <a:latin typeface="宋体" panose="02010600030101010101" pitchFamily="2" charset="-122"/>
                    <a:ea typeface="宋体" panose="02010600030101010101" pitchFamily="2" charset="-122"/>
                  </a:rPr>
                  <a:t>)</a:t>
                </a:r>
                <a:endParaRPr lang="zh-CN" altLang="zh-CN" sz="2000" b="1" kern="1050" dirty="0">
                  <a:effectLst/>
                  <a:latin typeface="Times New Roman" panose="02020603050405020304" pitchFamily="18" charset="0"/>
                  <a:ea typeface="宋体" panose="02010600030101010101" pitchFamily="2" charset="-122"/>
                </a:endParaRPr>
              </a:p>
            </p:txBody>
          </p:sp>
        </mc:Choice>
        <mc:Fallback xmlns="">
          <p:sp>
            <p:nvSpPr>
              <p:cNvPr id="21" name="文本框 20">
                <a:extLst>
                  <a:ext uri="{FF2B5EF4-FFF2-40B4-BE49-F238E27FC236}">
                    <a16:creationId xmlns:a16="http://schemas.microsoft.com/office/drawing/2014/main" id="{9E8CFCDD-805E-3EAC-814F-3565BEB2EE6F}"/>
                  </a:ext>
                </a:extLst>
              </p:cNvPr>
              <p:cNvSpPr txBox="1">
                <a:spLocks noRot="1" noChangeAspect="1" noMove="1" noResize="1" noEditPoints="1" noAdjustHandles="1" noChangeArrowheads="1" noChangeShapeType="1" noTextEdit="1"/>
              </p:cNvSpPr>
              <p:nvPr/>
            </p:nvSpPr>
            <p:spPr>
              <a:xfrm>
                <a:off x="788504" y="1224501"/>
                <a:ext cx="10828352" cy="4950651"/>
              </a:xfrm>
              <a:prstGeom prst="rect">
                <a:avLst/>
              </a:prstGeom>
              <a:blipFill>
                <a:blip r:embed="rId2"/>
                <a:stretch>
                  <a:fillRect l="-844" t="-1355" r="-8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151465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a:extLst>
              <a:ext uri="{FF2B5EF4-FFF2-40B4-BE49-F238E27FC236}">
                <a16:creationId xmlns:a16="http://schemas.microsoft.com/office/drawing/2014/main" id="{9E09C4C8-29ED-0F1E-D2FA-3D40FFDB3DDF}"/>
              </a:ext>
            </a:extLst>
          </p:cNvPr>
          <p:cNvSpPr txBox="1"/>
          <p:nvPr/>
        </p:nvSpPr>
        <p:spPr>
          <a:xfrm>
            <a:off x="925727" y="993910"/>
            <a:ext cx="10301515" cy="1200329"/>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基于式</a:t>
            </a:r>
            <a:r>
              <a:rPr lang="en-US" altLang="zh-CN" sz="2400" b="1" kern="1000" dirty="0">
                <a:effectLst/>
                <a:latin typeface="微软雅黑" panose="020B0503020204020204" pitchFamily="34" charset="-122"/>
                <a:ea typeface="微软雅黑" panose="020B0503020204020204" pitchFamily="34" charset="-122"/>
              </a:rPr>
              <a:t>(5.12)</a:t>
            </a:r>
            <a:r>
              <a:rPr lang="zh-CN" altLang="zh-CN" sz="2400" b="1" kern="1000" dirty="0">
                <a:effectLst/>
                <a:latin typeface="微软雅黑" panose="020B0503020204020204" pitchFamily="34" charset="-122"/>
                <a:ea typeface="微软雅黑" panose="020B0503020204020204" pitchFamily="34" charset="-122"/>
              </a:rPr>
              <a:t>和式</a:t>
            </a:r>
            <a:r>
              <a:rPr lang="en-US" altLang="zh-CN" sz="2400" b="1" kern="1000" dirty="0">
                <a:effectLst/>
                <a:latin typeface="微软雅黑" panose="020B0503020204020204" pitchFamily="34" charset="-122"/>
                <a:ea typeface="微软雅黑" panose="020B0503020204020204" pitchFamily="34" charset="-122"/>
              </a:rPr>
              <a:t>(5.19)</a:t>
            </a:r>
            <a:r>
              <a:rPr lang="zh-CN" altLang="zh-CN" sz="2400" b="1" kern="1000" dirty="0">
                <a:effectLst/>
                <a:latin typeface="微软雅黑" panose="020B0503020204020204" pitchFamily="34" charset="-122"/>
                <a:ea typeface="微软雅黑" panose="020B0503020204020204" pitchFamily="34" charset="-122"/>
              </a:rPr>
              <a:t>，利用</a:t>
            </a:r>
            <a:r>
              <a:rPr lang="en-US" altLang="zh-CN" sz="2400" b="1" kern="1000" dirty="0">
                <a:effectLst/>
                <a:latin typeface="微软雅黑" panose="020B0503020204020204" pitchFamily="34" charset="-122"/>
                <a:ea typeface="微软雅黑" panose="020B0503020204020204" pitchFamily="34" charset="-122"/>
              </a:rPr>
              <a:t>MATLAB</a:t>
            </a:r>
            <a:r>
              <a:rPr lang="zh-CN" altLang="zh-CN" sz="2400" b="1" kern="1000" dirty="0">
                <a:effectLst/>
                <a:latin typeface="微软雅黑" panose="020B0503020204020204" pitchFamily="34" charset="-122"/>
                <a:ea typeface="微软雅黑" panose="020B0503020204020204" pitchFamily="34" charset="-122"/>
              </a:rPr>
              <a:t>编程，经单位化后，向前行走时的</a:t>
            </a:r>
            <a:r>
              <a:rPr lang="en-US" altLang="zh-CN" sz="2400" b="1" kern="1000" dirty="0">
                <a:effectLst/>
                <a:latin typeface="微软雅黑" panose="020B0503020204020204" pitchFamily="34" charset="-122"/>
                <a:ea typeface="微软雅黑" panose="020B0503020204020204" pitchFamily="34" charset="-122"/>
              </a:rPr>
              <a:t> </a:t>
            </a:r>
            <a:r>
              <a:rPr lang="en-US" altLang="zh-CN" sz="2400" b="1" i="1" kern="1000" dirty="0">
                <a:effectLst/>
                <a:latin typeface="微软雅黑" panose="020B0503020204020204" pitchFamily="34" charset="-122"/>
                <a:ea typeface="微软雅黑" panose="020B0503020204020204" pitchFamily="34" charset="-122"/>
              </a:rPr>
              <a:t>x </a:t>
            </a:r>
            <a:r>
              <a:rPr lang="zh-CN" altLang="zh-CN" sz="2400" b="1" kern="1000" dirty="0">
                <a:effectLst/>
                <a:latin typeface="微软雅黑" panose="020B0503020204020204" pitchFamily="34" charset="-122"/>
                <a:ea typeface="微软雅黑" panose="020B0503020204020204" pitchFamily="34" charset="-122"/>
              </a:rPr>
              <a:t>轴足端轨迹如图</a:t>
            </a:r>
            <a:r>
              <a:rPr lang="en-US" altLang="zh-CN" sz="2400" b="1" kern="1000" dirty="0">
                <a:effectLst/>
                <a:latin typeface="微软雅黑" panose="020B0503020204020204" pitchFamily="34" charset="-122"/>
                <a:ea typeface="微软雅黑" panose="020B0503020204020204" pitchFamily="34" charset="-122"/>
              </a:rPr>
              <a:t>5.17</a:t>
            </a:r>
            <a:r>
              <a:rPr lang="zh-CN" altLang="zh-CN" sz="2400" b="1" kern="1000" dirty="0">
                <a:effectLst/>
                <a:latin typeface="微软雅黑" panose="020B0503020204020204" pitchFamily="34" charset="-122"/>
                <a:ea typeface="微软雅黑" panose="020B0503020204020204" pitchFamily="34" charset="-122"/>
              </a:rPr>
              <a:t>所示，</a:t>
            </a:r>
            <a:r>
              <a:rPr lang="en-US" altLang="zh-CN" sz="2400" b="1" i="1" kern="1000" dirty="0">
                <a:effectLst/>
                <a:latin typeface="微软雅黑" panose="020B0503020204020204" pitchFamily="34" charset="-122"/>
                <a:ea typeface="微软雅黑" panose="020B0503020204020204" pitchFamily="34" charset="-122"/>
              </a:rPr>
              <a:t>z </a:t>
            </a:r>
            <a:r>
              <a:rPr lang="zh-CN" altLang="zh-CN" sz="2400" b="1" kern="1000" dirty="0">
                <a:effectLst/>
                <a:latin typeface="微软雅黑" panose="020B0503020204020204" pitchFamily="34" charset="-122"/>
                <a:ea typeface="微软雅黑" panose="020B0503020204020204" pitchFamily="34" charset="-122"/>
              </a:rPr>
              <a:t>轴足端轨迹如图</a:t>
            </a:r>
            <a:r>
              <a:rPr lang="en-US" altLang="zh-CN" sz="2400" b="1" kern="1000" dirty="0">
                <a:effectLst/>
                <a:latin typeface="微软雅黑" panose="020B0503020204020204" pitchFamily="34" charset="-122"/>
                <a:ea typeface="微软雅黑" panose="020B0503020204020204" pitchFamily="34" charset="-122"/>
              </a:rPr>
              <a:t>5.18</a:t>
            </a:r>
            <a:r>
              <a:rPr lang="zh-CN" altLang="zh-CN" sz="2400" b="1" kern="1000" dirty="0">
                <a:effectLst/>
                <a:latin typeface="微软雅黑" panose="020B0503020204020204" pitchFamily="34" charset="-122"/>
                <a:ea typeface="微软雅黑" panose="020B0503020204020204" pitchFamily="34" charset="-122"/>
              </a:rPr>
              <a:t>所示，矢状平面内合成后的足端轨迹如图</a:t>
            </a:r>
            <a:r>
              <a:rPr lang="en-US" altLang="zh-CN" sz="2400" b="1" kern="1000" dirty="0">
                <a:effectLst/>
                <a:latin typeface="微软雅黑" panose="020B0503020204020204" pitchFamily="34" charset="-122"/>
                <a:ea typeface="微软雅黑" panose="020B0503020204020204" pitchFamily="34" charset="-122"/>
              </a:rPr>
              <a:t>5.19</a:t>
            </a:r>
            <a:r>
              <a:rPr lang="zh-CN" altLang="zh-CN" sz="2400" b="1" kern="1000" dirty="0">
                <a:effectLst/>
                <a:latin typeface="微软雅黑" panose="020B0503020204020204" pitchFamily="34" charset="-122"/>
                <a:ea typeface="微软雅黑" panose="020B0503020204020204" pitchFamily="34" charset="-122"/>
              </a:rPr>
              <a:t>所示。</a:t>
            </a:r>
          </a:p>
        </p:txBody>
      </p:sp>
      <p:pic>
        <p:nvPicPr>
          <p:cNvPr id="6" name="图片 7">
            <a:extLst>
              <a:ext uri="{FF2B5EF4-FFF2-40B4-BE49-F238E27FC236}">
                <a16:creationId xmlns:a16="http://schemas.microsoft.com/office/drawing/2014/main" id="{D8DE8DC3-FEBE-E55F-A9E6-E4B0678390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0964" y="2194239"/>
            <a:ext cx="3814017" cy="3189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5">
            <a:extLst>
              <a:ext uri="{FF2B5EF4-FFF2-40B4-BE49-F238E27FC236}">
                <a16:creationId xmlns:a16="http://schemas.microsoft.com/office/drawing/2014/main" id="{12253A2A-6A01-FCE5-F867-5139CA0AC6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7059" y="2194239"/>
            <a:ext cx="3925162" cy="315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95E53034-A5BA-FEC6-6059-1A7A9B98164C}"/>
              </a:ext>
            </a:extLst>
          </p:cNvPr>
          <p:cNvSpPr txBox="1"/>
          <p:nvPr/>
        </p:nvSpPr>
        <p:spPr>
          <a:xfrm>
            <a:off x="204941" y="5383283"/>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5.17  </a:t>
            </a:r>
            <a:r>
              <a:rPr lang="zh-CN" altLang="zh-CN" sz="1800" kern="1000" dirty="0">
                <a:effectLst/>
                <a:latin typeface="Times New Roman" panose="02020603050405020304" pitchFamily="18" charset="0"/>
                <a:ea typeface="宋体" panose="02010600030101010101" pitchFamily="2" charset="-122"/>
              </a:rPr>
              <a:t>向前行走时的</a:t>
            </a:r>
            <a:r>
              <a:rPr lang="en-US" altLang="zh-CN" sz="1800" i="1" kern="1000" dirty="0">
                <a:effectLst/>
                <a:latin typeface="Times New Roman" panose="02020603050405020304" pitchFamily="18" charset="0"/>
                <a:ea typeface="宋体" panose="02010600030101010101" pitchFamily="2" charset="-122"/>
              </a:rPr>
              <a:t>x</a:t>
            </a:r>
            <a:r>
              <a:rPr lang="zh-CN" altLang="zh-CN" sz="1800" kern="1000" dirty="0">
                <a:effectLst/>
                <a:latin typeface="Times New Roman" panose="02020603050405020304" pitchFamily="18" charset="0"/>
                <a:ea typeface="宋体" panose="02010600030101010101" pitchFamily="2" charset="-122"/>
              </a:rPr>
              <a:t>轴足端轨迹</a:t>
            </a:r>
          </a:p>
        </p:txBody>
      </p:sp>
      <p:sp>
        <p:nvSpPr>
          <p:cNvPr id="13" name="文本框 12">
            <a:extLst>
              <a:ext uri="{FF2B5EF4-FFF2-40B4-BE49-F238E27FC236}">
                <a16:creationId xmlns:a16="http://schemas.microsoft.com/office/drawing/2014/main" id="{B51A3457-43DA-09F1-ABD5-3CAF38264AB8}"/>
              </a:ext>
            </a:extLst>
          </p:cNvPr>
          <p:cNvSpPr txBox="1"/>
          <p:nvPr/>
        </p:nvSpPr>
        <p:spPr>
          <a:xfrm>
            <a:off x="5618388" y="5399902"/>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5.18  </a:t>
            </a:r>
            <a:r>
              <a:rPr lang="zh-CN" altLang="zh-CN" sz="1800" kern="1000" dirty="0">
                <a:effectLst/>
                <a:latin typeface="Times New Roman" panose="02020603050405020304" pitchFamily="18" charset="0"/>
                <a:ea typeface="宋体" panose="02010600030101010101" pitchFamily="2" charset="-122"/>
              </a:rPr>
              <a:t>向前行走时的</a:t>
            </a:r>
            <a:r>
              <a:rPr lang="en-US" altLang="zh-CN" sz="1800" i="1" kern="1000" dirty="0">
                <a:effectLst/>
                <a:latin typeface="Times New Roman" panose="02020603050405020304" pitchFamily="18" charset="0"/>
                <a:ea typeface="宋体" panose="02010600030101010101" pitchFamily="2" charset="-122"/>
              </a:rPr>
              <a:t>z</a:t>
            </a:r>
            <a:r>
              <a:rPr lang="zh-CN" altLang="zh-CN" sz="1800" kern="1000" dirty="0">
                <a:effectLst/>
                <a:latin typeface="Times New Roman" panose="02020603050405020304" pitchFamily="18" charset="0"/>
                <a:ea typeface="宋体" panose="02010600030101010101" pitchFamily="2" charset="-122"/>
              </a:rPr>
              <a:t>轴足端轨迹</a:t>
            </a:r>
          </a:p>
        </p:txBody>
      </p:sp>
      <p:sp>
        <p:nvSpPr>
          <p:cNvPr id="16" name="文本框 15">
            <a:extLst>
              <a:ext uri="{FF2B5EF4-FFF2-40B4-BE49-F238E27FC236}">
                <a16:creationId xmlns:a16="http://schemas.microsoft.com/office/drawing/2014/main" id="{BAA3EC76-FB16-43F2-A84A-08BB61EE3BFE}"/>
              </a:ext>
            </a:extLst>
          </p:cNvPr>
          <p:cNvSpPr txBox="1"/>
          <p:nvPr/>
        </p:nvSpPr>
        <p:spPr>
          <a:xfrm>
            <a:off x="925726" y="5803941"/>
            <a:ext cx="10301515" cy="830997"/>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图</a:t>
            </a:r>
            <a:r>
              <a:rPr lang="en-US" altLang="zh-CN" sz="2400" b="1" kern="1000" dirty="0">
                <a:effectLst/>
                <a:latin typeface="微软雅黑" panose="020B0503020204020204" pitchFamily="34" charset="-122"/>
                <a:ea typeface="微软雅黑" panose="020B0503020204020204" pitchFamily="34" charset="-122"/>
              </a:rPr>
              <a:t>5.20</a:t>
            </a:r>
            <a:r>
              <a:rPr lang="zh-CN" altLang="zh-CN" sz="2400" b="1" kern="1000" dirty="0">
                <a:effectLst/>
                <a:latin typeface="微软雅黑" panose="020B0503020204020204" pitchFamily="34" charset="-122"/>
                <a:ea typeface="微软雅黑" panose="020B0503020204020204" pitchFamily="34" charset="-122"/>
              </a:rPr>
              <a:t>为三次曲线法和复合摆线法矢状平面内合成后的足端轨迹对比，从轨迹上可以看出，两者的运动轨迹基本一致。</a:t>
            </a:r>
          </a:p>
        </p:txBody>
      </p:sp>
    </p:spTree>
    <p:extLst>
      <p:ext uri="{BB962C8B-B14F-4D97-AF65-F5344CB8AC3E}">
        <p14:creationId xmlns:p14="http://schemas.microsoft.com/office/powerpoint/2010/main" val="26580307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a:extLst>
              <a:ext uri="{FF2B5EF4-FFF2-40B4-BE49-F238E27FC236}">
                <a16:creationId xmlns:a16="http://schemas.microsoft.com/office/drawing/2014/main" id="{12C49654-C9FD-6CDF-519B-B90F0BF61F37}"/>
              </a:ext>
            </a:extLst>
          </p:cNvPr>
          <p:cNvSpPr txBox="1"/>
          <p:nvPr/>
        </p:nvSpPr>
        <p:spPr>
          <a:xfrm>
            <a:off x="963432" y="834887"/>
            <a:ext cx="10573910" cy="2308324"/>
          </a:xfrm>
          <a:prstGeom prst="rect">
            <a:avLst/>
          </a:prstGeom>
          <a:noFill/>
        </p:spPr>
        <p:txBody>
          <a:bodyPr wrap="square">
            <a:spAutoFit/>
          </a:bodyPr>
          <a:lstStyle/>
          <a:p>
            <a:pPr>
              <a:lnSpc>
                <a:spcPct val="200000"/>
              </a:lnSpc>
            </a:pP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．改进复合摆线法</a:t>
            </a:r>
          </a:p>
          <a:p>
            <a:r>
              <a:rPr lang="zh-CN" altLang="en-US" sz="2400" b="1" dirty="0">
                <a:latin typeface="微软雅黑" panose="020B0503020204020204" pitchFamily="34" charset="-122"/>
                <a:ea typeface="微软雅黑" panose="020B0503020204020204" pitchFamily="34" charset="-122"/>
              </a:rPr>
              <a:t>       为了防止当足底与地面接触时产生滑动，在步态规划中，摆动腿的抬腿速度和落地速度均为</a:t>
            </a:r>
            <a:r>
              <a:rPr lang="en-US" altLang="zh-CN" sz="2400" b="1" dirty="0">
                <a:latin typeface="微软雅黑" panose="020B0503020204020204" pitchFamily="34" charset="-122"/>
                <a:ea typeface="微软雅黑" panose="020B0503020204020204" pitchFamily="34" charset="-122"/>
              </a:rPr>
              <a:t>0</a:t>
            </a:r>
            <a:r>
              <a:rPr lang="zh-CN" altLang="en-US" sz="2400" b="1" dirty="0">
                <a:latin typeface="微软雅黑" panose="020B0503020204020204" pitchFamily="34" charset="-122"/>
                <a:ea typeface="微软雅黑" panose="020B0503020204020204" pitchFamily="34" charset="-122"/>
              </a:rPr>
              <a:t>。为了防止机器人行走过程中产生拖地现象，仅在 轴方向</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机器人前进方向</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步态规划中采用复合摆线的形式。修改后的四足机器人摆动腿的步态规划轨迹定义为</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803A326-FB04-9029-C005-CE5E1DE569B6}"/>
                  </a:ext>
                </a:extLst>
              </p:cNvPr>
              <p:cNvSpPr txBox="1"/>
              <p:nvPr/>
            </p:nvSpPr>
            <p:spPr>
              <a:xfrm>
                <a:off x="2679589" y="3143211"/>
                <a:ext cx="5939625" cy="1353960"/>
              </a:xfrm>
              <a:prstGeom prst="rect">
                <a:avLst/>
              </a:prstGeom>
              <a:noFill/>
            </p:spPr>
            <p:txBody>
              <a:bodyPr wrap="square">
                <a:spAutoFit/>
              </a:bodyPr>
              <a:lstStyle/>
              <a:p>
                <a:pPr algn="just">
                  <a:tabLst>
                    <a:tab pos="5364480" algn="r"/>
                  </a:tabLst>
                </a:pPr>
                <a14:m>
                  <m:oMathPara xmlns:m="http://schemas.openxmlformats.org/officeDocument/2006/math">
                    <m:oMathParaPr>
                      <m:jc m:val="centerGroup"/>
                    </m:oMathParaPr>
                    <m:oMath xmlns:m="http://schemas.openxmlformats.org/officeDocument/2006/math">
                      <m:r>
                        <a:rPr lang="en-US" altLang="zh-CN" sz="2000" i="1" kern="1050">
                          <a:effectLst/>
                          <a:latin typeface="Cambria Math" panose="02040503050406030204" pitchFamily="18" charset="0"/>
                          <a:ea typeface="宋体" panose="02010600030101010101" pitchFamily="2" charset="-122"/>
                        </a:rPr>
                        <m:t>𝑥</m:t>
                      </m:r>
                      <m:d>
                        <m:dPr>
                          <m:ctrlPr>
                            <a:rPr lang="en-US" altLang="zh-CN" sz="2000" i="1" kern="1050">
                              <a:effectLst/>
                              <a:latin typeface="Cambria Math" panose="02040503050406030204" pitchFamily="18" charset="0"/>
                              <a:ea typeface="宋体" panose="02010600030101010101" pitchFamily="2" charset="-122"/>
                            </a:rPr>
                          </m:ctrlPr>
                        </m:dPr>
                        <m:e>
                          <m:r>
                            <a:rPr lang="en-US" altLang="zh-CN" sz="2000" i="1" kern="1050">
                              <a:effectLst/>
                              <a:latin typeface="Cambria Math" panose="02040503050406030204" pitchFamily="18" charset="0"/>
                              <a:ea typeface="宋体" panose="02010600030101010101" pitchFamily="2" charset="-122"/>
                            </a:rPr>
                            <m:t>𝑡</m:t>
                          </m:r>
                        </m:e>
                      </m:d>
                      <m:r>
                        <a:rPr lang="en-US" altLang="zh-CN" sz="2000" i="1" kern="1050">
                          <a:effectLst/>
                          <a:latin typeface="Cambria Math" panose="02040503050406030204" pitchFamily="18" charset="0"/>
                          <a:ea typeface="宋体" panose="02010600030101010101" pitchFamily="2" charset="-122"/>
                        </a:rPr>
                        <m:t>=</m:t>
                      </m:r>
                      <m:sSub>
                        <m:sSubPr>
                          <m:ctrlPr>
                            <a:rPr lang="zh-CN" altLang="zh-CN" sz="2000" i="1" kern="1050">
                              <a:effectLst/>
                              <a:latin typeface="Cambria Math" panose="02040503050406030204" pitchFamily="18" charset="0"/>
                              <a:ea typeface="Cambria Math" panose="02040503050406030204" pitchFamily="18" charset="0"/>
                            </a:rPr>
                          </m:ctrlPr>
                        </m:sSubPr>
                        <m:e>
                          <m:r>
                            <a:rPr lang="en-US" altLang="zh-CN" sz="2000" i="1" kern="1050">
                              <a:effectLst/>
                              <a:latin typeface="Cambria Math" panose="02040503050406030204" pitchFamily="18" charset="0"/>
                              <a:ea typeface="宋体" panose="02010600030101010101" pitchFamily="2" charset="-122"/>
                            </a:rPr>
                            <m:t>𝑆</m:t>
                          </m:r>
                        </m:e>
                        <m:sub>
                          <m:r>
                            <a:rPr lang="en-US" altLang="zh-CN" sz="2000" i="1" kern="1050">
                              <a:effectLst/>
                              <a:latin typeface="Cambria Math" panose="02040503050406030204" pitchFamily="18" charset="0"/>
                              <a:ea typeface="宋体" panose="02010600030101010101" pitchFamily="2" charset="-122"/>
                            </a:rPr>
                            <m:t>0</m:t>
                          </m:r>
                        </m:sub>
                      </m:sSub>
                      <m:d>
                        <m:dPr>
                          <m:ctrlPr>
                            <a:rPr lang="zh-CN" altLang="zh-CN" sz="2000" i="1" kern="1050">
                              <a:effectLst/>
                              <a:latin typeface="Cambria Math" panose="02040503050406030204" pitchFamily="18" charset="0"/>
                              <a:ea typeface="Cambria Math" panose="02040503050406030204" pitchFamily="18" charset="0"/>
                            </a:rPr>
                          </m:ctrlPr>
                        </m:dPr>
                        <m:e>
                          <m:f>
                            <m:fPr>
                              <m:ctrlPr>
                                <a:rPr lang="zh-CN" altLang="zh-CN" sz="2000" i="1" kern="1050">
                                  <a:effectLst/>
                                  <a:latin typeface="Cambria Math" panose="02040503050406030204" pitchFamily="18" charset="0"/>
                                  <a:ea typeface="Cambria Math" panose="02040503050406030204" pitchFamily="18" charset="0"/>
                                </a:rPr>
                              </m:ctrlPr>
                            </m:fPr>
                            <m:num>
                              <m:r>
                                <a:rPr lang="en-US" altLang="zh-CN" sz="2000" i="1" kern="1050">
                                  <a:effectLst/>
                                  <a:latin typeface="Cambria Math" panose="02040503050406030204" pitchFamily="18" charset="0"/>
                                  <a:ea typeface="宋体" panose="02010600030101010101" pitchFamily="2" charset="-122"/>
                                </a:rPr>
                                <m:t>𝑡</m:t>
                              </m:r>
                            </m:num>
                            <m:den>
                              <m:r>
                                <a:rPr lang="en-US" altLang="zh-CN" sz="2000" i="1" kern="1050">
                                  <a:effectLst/>
                                  <a:latin typeface="Cambria Math" panose="02040503050406030204" pitchFamily="18" charset="0"/>
                                  <a:ea typeface="宋体" panose="02010600030101010101" pitchFamily="2" charset="-122"/>
                                </a:rPr>
                                <m:t>𝑇</m:t>
                              </m:r>
                            </m:den>
                          </m:f>
                          <m:r>
                            <a:rPr lang="en-US" altLang="zh-CN" sz="2000" i="1" kern="1050">
                              <a:effectLst/>
                              <a:latin typeface="Cambria Math" panose="02040503050406030204" pitchFamily="18" charset="0"/>
                              <a:ea typeface="宋体" panose="02010600030101010101" pitchFamily="2" charset="-122"/>
                            </a:rPr>
                            <m:t>−</m:t>
                          </m:r>
                          <m:f>
                            <m:fPr>
                              <m:ctrlPr>
                                <a:rPr lang="zh-CN" altLang="zh-CN" sz="2000" i="1" kern="1050">
                                  <a:effectLst/>
                                  <a:latin typeface="Cambria Math" panose="02040503050406030204" pitchFamily="18" charset="0"/>
                                  <a:ea typeface="Cambria Math" panose="02040503050406030204" pitchFamily="18" charset="0"/>
                                </a:rPr>
                              </m:ctrlPr>
                            </m:fPr>
                            <m:num>
                              <m:r>
                                <a:rPr lang="en-US" altLang="zh-CN" sz="2000" i="1" kern="1050">
                                  <a:effectLst/>
                                  <a:latin typeface="Cambria Math" panose="02040503050406030204" pitchFamily="18" charset="0"/>
                                  <a:ea typeface="宋体" panose="02010600030101010101" pitchFamily="2" charset="-122"/>
                                </a:rPr>
                                <m:t>1</m:t>
                              </m:r>
                            </m:num>
                            <m:den>
                              <m:r>
                                <a:rPr lang="en-US" altLang="zh-CN" sz="2000" i="1" kern="1050">
                                  <a:effectLst/>
                                  <a:latin typeface="Cambria Math" panose="02040503050406030204" pitchFamily="18" charset="0"/>
                                  <a:ea typeface="宋体" panose="02010600030101010101" pitchFamily="2" charset="-122"/>
                                </a:rPr>
                                <m:t>2</m:t>
                              </m:r>
                              <m:r>
                                <a:rPr lang="en-US" altLang="zh-CN" sz="2000" i="1" kern="1050">
                                  <a:effectLst/>
                                  <a:latin typeface="Cambria Math" panose="02040503050406030204" pitchFamily="18" charset="0"/>
                                  <a:ea typeface="宋体" panose="02010600030101010101" pitchFamily="2" charset="-122"/>
                                </a:rPr>
                                <m:t>𝜋</m:t>
                              </m:r>
                            </m:den>
                          </m:f>
                          <m:func>
                            <m:funcPr>
                              <m:ctrlPr>
                                <a:rPr lang="zh-CN" altLang="zh-CN" sz="2000" i="1" kern="1050">
                                  <a:effectLst/>
                                  <a:latin typeface="Cambria Math" panose="02040503050406030204" pitchFamily="18" charset="0"/>
                                  <a:ea typeface="Cambria Math" panose="02040503050406030204" pitchFamily="18" charset="0"/>
                                </a:rPr>
                              </m:ctrlPr>
                            </m:funcPr>
                            <m:fName>
                              <m:r>
                                <a:rPr lang="en-US" altLang="zh-CN" sz="2000" i="1" kern="1050">
                                  <a:effectLst/>
                                  <a:latin typeface="Cambria Math" panose="02040503050406030204" pitchFamily="18" charset="0"/>
                                  <a:ea typeface="宋体" panose="02010600030101010101" pitchFamily="2" charset="-122"/>
                                </a:rPr>
                                <m:t>𝑠𝑖𝑛</m:t>
                              </m:r>
                            </m:fName>
                            <m:e>
                              <m:d>
                                <m:dPr>
                                  <m:ctrlPr>
                                    <a:rPr lang="zh-CN" altLang="zh-CN" sz="2000" i="1" kern="1050">
                                      <a:effectLst/>
                                      <a:latin typeface="Cambria Math" panose="02040503050406030204" pitchFamily="18" charset="0"/>
                                      <a:ea typeface="Cambria Math" panose="02040503050406030204" pitchFamily="18" charset="0"/>
                                    </a:rPr>
                                  </m:ctrlPr>
                                </m:dPr>
                                <m:e>
                                  <m:r>
                                    <a:rPr lang="en-US" altLang="zh-CN" sz="2000" i="1" kern="1050">
                                      <a:effectLst/>
                                      <a:latin typeface="Cambria Math" panose="02040503050406030204" pitchFamily="18" charset="0"/>
                                      <a:ea typeface="宋体" panose="02010600030101010101" pitchFamily="2" charset="-122"/>
                                    </a:rPr>
                                    <m:t>2</m:t>
                                  </m:r>
                                  <m:r>
                                    <a:rPr lang="en-US" altLang="zh-CN" sz="2000" i="1" kern="1050">
                                      <a:effectLst/>
                                      <a:latin typeface="Cambria Math" panose="02040503050406030204" pitchFamily="18" charset="0"/>
                                      <a:ea typeface="宋体" panose="02010600030101010101" pitchFamily="2" charset="-122"/>
                                    </a:rPr>
                                    <m:t>𝜋</m:t>
                                  </m:r>
                                  <m:f>
                                    <m:fPr>
                                      <m:ctrlPr>
                                        <a:rPr lang="zh-CN" altLang="zh-CN" sz="2000" i="1" kern="1050">
                                          <a:effectLst/>
                                          <a:latin typeface="Cambria Math" panose="02040503050406030204" pitchFamily="18" charset="0"/>
                                          <a:ea typeface="Cambria Math" panose="02040503050406030204" pitchFamily="18" charset="0"/>
                                        </a:rPr>
                                      </m:ctrlPr>
                                    </m:fPr>
                                    <m:num>
                                      <m:r>
                                        <a:rPr lang="en-US" altLang="zh-CN" sz="2000" i="1" kern="1050">
                                          <a:effectLst/>
                                          <a:latin typeface="Cambria Math" panose="02040503050406030204" pitchFamily="18" charset="0"/>
                                          <a:ea typeface="宋体" panose="02010600030101010101" pitchFamily="2" charset="-122"/>
                                        </a:rPr>
                                        <m:t>𝑡</m:t>
                                      </m:r>
                                    </m:num>
                                    <m:den>
                                      <m:sSub>
                                        <m:sSubPr>
                                          <m:ctrlPr>
                                            <a:rPr lang="zh-CN" altLang="zh-CN" sz="2000" i="1" kern="1050">
                                              <a:effectLst/>
                                              <a:latin typeface="Cambria Math" panose="02040503050406030204" pitchFamily="18" charset="0"/>
                                              <a:ea typeface="Cambria Math" panose="02040503050406030204" pitchFamily="18" charset="0"/>
                                            </a:rPr>
                                          </m:ctrlPr>
                                        </m:sSubPr>
                                        <m:e>
                                          <m:r>
                                            <a:rPr lang="en-US" altLang="zh-CN" sz="2000" i="1" kern="1050">
                                              <a:effectLst/>
                                              <a:latin typeface="Cambria Math" panose="02040503050406030204" pitchFamily="18" charset="0"/>
                                              <a:ea typeface="宋体" panose="02010600030101010101" pitchFamily="2" charset="-122"/>
                                            </a:rPr>
                                            <m:t>𝑇</m:t>
                                          </m:r>
                                        </m:e>
                                        <m:sub>
                                          <m:r>
                                            <a:rPr lang="en-US" altLang="zh-CN" sz="2000" i="1" kern="1050">
                                              <a:effectLst/>
                                              <a:latin typeface="Cambria Math" panose="02040503050406030204" pitchFamily="18" charset="0"/>
                                              <a:ea typeface="宋体" panose="02010600030101010101" pitchFamily="2" charset="-122"/>
                                            </a:rPr>
                                            <m:t>𝑦</m:t>
                                          </m:r>
                                        </m:sub>
                                      </m:sSub>
                                    </m:den>
                                  </m:f>
                                </m:e>
                              </m:d>
                            </m:e>
                          </m:func>
                        </m:e>
                      </m:d>
                    </m:oMath>
                  </m:oMathPara>
                </a14:m>
                <a:endParaRPr lang="en-US" altLang="zh-CN" sz="2000" i="1" kern="1050" dirty="0">
                  <a:effectLst/>
                  <a:latin typeface="Cambria Math" panose="02040503050406030204" pitchFamily="18" charset="0"/>
                  <a:ea typeface="宋体" panose="02010600030101010101" pitchFamily="2" charset="-122"/>
                </a:endParaRPr>
              </a:p>
              <a:p>
                <a:pPr algn="just">
                  <a:tabLst>
                    <a:tab pos="5364480" algn="r"/>
                  </a:tabLst>
                </a:pPr>
                <a:r>
                  <a:rPr lang="en-US" altLang="zh-CN" sz="2000" kern="1050" dirty="0">
                    <a:effectLst/>
                    <a:ea typeface="宋体" panose="02010600030101010101" pitchFamily="2" charset="-122"/>
                  </a:rPr>
                  <a:t>                     </a:t>
                </a:r>
                <a14:m>
                  <m:oMath xmlns:m="http://schemas.openxmlformats.org/officeDocument/2006/math">
                    <m:r>
                      <a:rPr lang="en-US" altLang="zh-CN" sz="2000" i="1" kern="1050">
                        <a:effectLst/>
                        <a:latin typeface="Cambria Math" panose="02040503050406030204" pitchFamily="18" charset="0"/>
                        <a:ea typeface="宋体" panose="02010600030101010101" pitchFamily="2" charset="-122"/>
                      </a:rPr>
                      <m:t>𝑧</m:t>
                    </m:r>
                    <m:r>
                      <a:rPr lang="en-US" altLang="zh-CN" sz="2000" i="1" kern="1050">
                        <a:effectLst/>
                        <a:latin typeface="Cambria Math" panose="02040503050406030204" pitchFamily="18" charset="0"/>
                        <a:ea typeface="宋体" panose="02010600030101010101" pitchFamily="2" charset="-122"/>
                      </a:rPr>
                      <m:t>(</m:t>
                    </m:r>
                    <m:r>
                      <a:rPr lang="en-US" altLang="zh-CN" sz="2000" i="1" kern="1050">
                        <a:effectLst/>
                        <a:latin typeface="Cambria Math" panose="02040503050406030204" pitchFamily="18" charset="0"/>
                        <a:ea typeface="宋体" panose="02010600030101010101" pitchFamily="2" charset="-122"/>
                      </a:rPr>
                      <m:t>𝑡</m:t>
                    </m:r>
                    <m:r>
                      <a:rPr lang="en-US" altLang="zh-CN" sz="2000" i="1" kern="1050">
                        <a:effectLst/>
                        <a:latin typeface="Cambria Math" panose="02040503050406030204" pitchFamily="18" charset="0"/>
                        <a:ea typeface="宋体" panose="02010600030101010101" pitchFamily="2" charset="-122"/>
                      </a:rPr>
                      <m:t>)=</m:t>
                    </m:r>
                    <m:sSub>
                      <m:sSubPr>
                        <m:ctrlPr>
                          <a:rPr lang="zh-CN" altLang="zh-CN" sz="2000" i="1" kern="1050">
                            <a:effectLst/>
                            <a:latin typeface="Cambria Math" panose="02040503050406030204" pitchFamily="18" charset="0"/>
                            <a:ea typeface="Cambria Math" panose="02040503050406030204" pitchFamily="18" charset="0"/>
                          </a:rPr>
                        </m:ctrlPr>
                      </m:sSubPr>
                      <m:e>
                        <m:r>
                          <a:rPr lang="en-US" altLang="zh-CN" sz="2000" i="1" kern="1050">
                            <a:effectLst/>
                            <a:latin typeface="Cambria Math" panose="02040503050406030204" pitchFamily="18" charset="0"/>
                            <a:ea typeface="宋体" panose="02010600030101010101" pitchFamily="2" charset="-122"/>
                          </a:rPr>
                          <m:t>𝐻</m:t>
                        </m:r>
                      </m:e>
                      <m:sub>
                        <m:r>
                          <a:rPr lang="en-US" altLang="zh-CN" sz="2000" i="1" kern="1050">
                            <a:effectLst/>
                            <a:latin typeface="Cambria Math" panose="02040503050406030204" pitchFamily="18" charset="0"/>
                            <a:ea typeface="宋体" panose="02010600030101010101" pitchFamily="2" charset="-122"/>
                          </a:rPr>
                          <m:t>0</m:t>
                        </m:r>
                      </m:sub>
                    </m:sSub>
                    <m:d>
                      <m:dPr>
                        <m:ctrlPr>
                          <a:rPr lang="zh-CN" altLang="zh-CN" sz="2000" i="1" kern="1050">
                            <a:effectLst/>
                            <a:latin typeface="Cambria Math" panose="02040503050406030204" pitchFamily="18" charset="0"/>
                            <a:ea typeface="Cambria Math" panose="02040503050406030204" pitchFamily="18" charset="0"/>
                          </a:rPr>
                        </m:ctrlPr>
                      </m:dPr>
                      <m:e>
                        <m:f>
                          <m:fPr>
                            <m:ctrlPr>
                              <a:rPr lang="zh-CN" altLang="zh-CN" sz="2000" i="1" kern="1050">
                                <a:effectLst/>
                                <a:latin typeface="Cambria Math" panose="02040503050406030204" pitchFamily="18" charset="0"/>
                                <a:ea typeface="Cambria Math" panose="02040503050406030204" pitchFamily="18" charset="0"/>
                              </a:rPr>
                            </m:ctrlPr>
                          </m:fPr>
                          <m:num>
                            <m:r>
                              <a:rPr lang="en-US" altLang="zh-CN" sz="2000" i="1" kern="1050">
                                <a:effectLst/>
                                <a:latin typeface="Cambria Math" panose="02040503050406030204" pitchFamily="18" charset="0"/>
                                <a:ea typeface="宋体" panose="02010600030101010101" pitchFamily="2" charset="-122"/>
                              </a:rPr>
                              <m:t>1</m:t>
                            </m:r>
                          </m:num>
                          <m:den>
                            <m:r>
                              <a:rPr lang="en-US" altLang="zh-CN" sz="2000" i="1" kern="1050">
                                <a:effectLst/>
                                <a:latin typeface="Cambria Math" panose="02040503050406030204" pitchFamily="18" charset="0"/>
                                <a:ea typeface="宋体" panose="02010600030101010101" pitchFamily="2" charset="-122"/>
                              </a:rPr>
                              <m:t>2</m:t>
                            </m:r>
                          </m:den>
                        </m:f>
                        <m:r>
                          <a:rPr lang="en-US" altLang="zh-CN" sz="2000" i="1" kern="1050">
                            <a:effectLst/>
                            <a:latin typeface="Cambria Math" panose="02040503050406030204" pitchFamily="18" charset="0"/>
                            <a:ea typeface="宋体" panose="02010600030101010101" pitchFamily="2" charset="-122"/>
                          </a:rPr>
                          <m:t>−</m:t>
                        </m:r>
                        <m:f>
                          <m:fPr>
                            <m:ctrlPr>
                              <a:rPr lang="zh-CN" altLang="zh-CN" sz="2000" i="1" kern="1050">
                                <a:effectLst/>
                                <a:latin typeface="Cambria Math" panose="02040503050406030204" pitchFamily="18" charset="0"/>
                                <a:ea typeface="Cambria Math" panose="02040503050406030204" pitchFamily="18" charset="0"/>
                              </a:rPr>
                            </m:ctrlPr>
                          </m:fPr>
                          <m:num>
                            <m:r>
                              <a:rPr lang="en-US" altLang="zh-CN" sz="2000" i="1" kern="1050">
                                <a:effectLst/>
                                <a:latin typeface="Cambria Math" panose="02040503050406030204" pitchFamily="18" charset="0"/>
                                <a:ea typeface="宋体" panose="02010600030101010101" pitchFamily="2" charset="-122"/>
                              </a:rPr>
                              <m:t>1</m:t>
                            </m:r>
                          </m:num>
                          <m:den>
                            <m:r>
                              <a:rPr lang="en-US" altLang="zh-CN" sz="2000" i="1" kern="1050">
                                <a:effectLst/>
                                <a:latin typeface="Cambria Math" panose="02040503050406030204" pitchFamily="18" charset="0"/>
                                <a:ea typeface="宋体" panose="02010600030101010101" pitchFamily="2" charset="-122"/>
                              </a:rPr>
                              <m:t>2</m:t>
                            </m:r>
                          </m:den>
                        </m:f>
                        <m:func>
                          <m:funcPr>
                            <m:ctrlPr>
                              <a:rPr lang="zh-CN" altLang="zh-CN" sz="2000" i="1" kern="1050">
                                <a:effectLst/>
                                <a:latin typeface="Cambria Math" panose="02040503050406030204" pitchFamily="18" charset="0"/>
                                <a:ea typeface="Cambria Math" panose="02040503050406030204" pitchFamily="18" charset="0"/>
                              </a:rPr>
                            </m:ctrlPr>
                          </m:funcPr>
                          <m:fName>
                            <m:r>
                              <a:rPr lang="en-US" altLang="zh-CN" sz="2000" i="1" kern="1050">
                                <a:effectLst/>
                                <a:latin typeface="Cambria Math" panose="02040503050406030204" pitchFamily="18" charset="0"/>
                                <a:ea typeface="宋体" panose="02010600030101010101" pitchFamily="2" charset="-122"/>
                              </a:rPr>
                              <m:t>𝑐𝑜𝑠</m:t>
                            </m:r>
                          </m:fName>
                          <m:e>
                            <m:d>
                              <m:dPr>
                                <m:ctrlPr>
                                  <a:rPr lang="zh-CN" altLang="zh-CN" sz="2000" i="1" kern="1050">
                                    <a:effectLst/>
                                    <a:latin typeface="Cambria Math" panose="02040503050406030204" pitchFamily="18" charset="0"/>
                                    <a:ea typeface="Cambria Math" panose="02040503050406030204" pitchFamily="18" charset="0"/>
                                  </a:rPr>
                                </m:ctrlPr>
                              </m:dPr>
                              <m:e>
                                <m:r>
                                  <a:rPr lang="en-US" altLang="zh-CN" sz="2000" i="1" kern="1050">
                                    <a:effectLst/>
                                    <a:latin typeface="Cambria Math" panose="02040503050406030204" pitchFamily="18" charset="0"/>
                                    <a:ea typeface="宋体" panose="02010600030101010101" pitchFamily="2" charset="-122"/>
                                  </a:rPr>
                                  <m:t>2</m:t>
                                </m:r>
                                <m:r>
                                  <a:rPr lang="en-US" altLang="zh-CN" sz="2000" i="1" kern="1050">
                                    <a:effectLst/>
                                    <a:latin typeface="Cambria Math" panose="02040503050406030204" pitchFamily="18" charset="0"/>
                                    <a:ea typeface="宋体" panose="02010600030101010101" pitchFamily="2" charset="-122"/>
                                  </a:rPr>
                                  <m:t>𝜋</m:t>
                                </m:r>
                                <m:f>
                                  <m:fPr>
                                    <m:ctrlPr>
                                      <a:rPr lang="zh-CN" altLang="zh-CN" sz="2000" i="1" kern="1050">
                                        <a:effectLst/>
                                        <a:latin typeface="Cambria Math" panose="02040503050406030204" pitchFamily="18" charset="0"/>
                                        <a:ea typeface="Cambria Math" panose="02040503050406030204" pitchFamily="18" charset="0"/>
                                      </a:rPr>
                                    </m:ctrlPr>
                                  </m:fPr>
                                  <m:num>
                                    <m:r>
                                      <a:rPr lang="en-US" altLang="zh-CN" sz="2000" i="1" kern="1050">
                                        <a:effectLst/>
                                        <a:latin typeface="Cambria Math" panose="02040503050406030204" pitchFamily="18" charset="0"/>
                                        <a:ea typeface="宋体" panose="02010600030101010101" pitchFamily="2" charset="-122"/>
                                      </a:rPr>
                                      <m:t>𝑡</m:t>
                                    </m:r>
                                  </m:num>
                                  <m:den>
                                    <m:sSub>
                                      <m:sSubPr>
                                        <m:ctrlPr>
                                          <a:rPr lang="zh-CN" altLang="zh-CN" sz="2000" i="1" kern="1050">
                                            <a:effectLst/>
                                            <a:latin typeface="Cambria Math" panose="02040503050406030204" pitchFamily="18" charset="0"/>
                                            <a:ea typeface="Cambria Math" panose="02040503050406030204" pitchFamily="18" charset="0"/>
                                          </a:rPr>
                                        </m:ctrlPr>
                                      </m:sSubPr>
                                      <m:e>
                                        <m:r>
                                          <a:rPr lang="en-US" altLang="zh-CN" sz="2000" i="1" kern="1050">
                                            <a:effectLst/>
                                            <a:latin typeface="Cambria Math" panose="02040503050406030204" pitchFamily="18" charset="0"/>
                                            <a:ea typeface="宋体" panose="02010600030101010101" pitchFamily="2" charset="-122"/>
                                          </a:rPr>
                                          <m:t>𝑇</m:t>
                                        </m:r>
                                      </m:e>
                                      <m:sub>
                                        <m:r>
                                          <a:rPr lang="en-US" altLang="zh-CN" sz="2000" i="1" kern="1050">
                                            <a:effectLst/>
                                            <a:latin typeface="Cambria Math" panose="02040503050406030204" pitchFamily="18" charset="0"/>
                                            <a:ea typeface="宋体" panose="02010600030101010101" pitchFamily="2" charset="-122"/>
                                          </a:rPr>
                                          <m:t>𝑦</m:t>
                                        </m:r>
                                      </m:sub>
                                    </m:sSub>
                                  </m:den>
                                </m:f>
                              </m:e>
                            </m:d>
                          </m:e>
                        </m:func>
                      </m:e>
                    </m:d>
                  </m:oMath>
                </a14:m>
                <a:r>
                  <a:rPr lang="en-US" altLang="zh-CN" sz="2000" kern="1050" dirty="0">
                    <a:effectLst/>
                    <a:latin typeface="Times New Roman" panose="02020603050405020304" pitchFamily="18" charset="0"/>
                    <a:ea typeface="宋体" panose="02010600030101010101" pitchFamily="2" charset="-122"/>
                  </a:rPr>
                  <a:t>	</a:t>
                </a:r>
                <a:endParaRPr lang="zh-CN" altLang="zh-CN" sz="1800" kern="1050" dirty="0">
                  <a:effectLst/>
                  <a:latin typeface="Times New Roman" panose="02020603050405020304" pitchFamily="18" charset="0"/>
                  <a:ea typeface="宋体" panose="02010600030101010101" pitchFamily="2" charset="-122"/>
                </a:endParaRPr>
              </a:p>
            </p:txBody>
          </p:sp>
        </mc:Choice>
        <mc:Fallback xmlns="">
          <p:sp>
            <p:nvSpPr>
              <p:cNvPr id="7" name="文本框 6">
                <a:extLst>
                  <a:ext uri="{FF2B5EF4-FFF2-40B4-BE49-F238E27FC236}">
                    <a16:creationId xmlns:a16="http://schemas.microsoft.com/office/drawing/2014/main" id="{9803A326-FB04-9029-C005-CE5E1DE569B6}"/>
                  </a:ext>
                </a:extLst>
              </p:cNvPr>
              <p:cNvSpPr txBox="1">
                <a:spLocks noRot="1" noChangeAspect="1" noMove="1" noResize="1" noEditPoints="1" noAdjustHandles="1" noChangeArrowheads="1" noChangeShapeType="1" noTextEdit="1"/>
              </p:cNvSpPr>
              <p:nvPr/>
            </p:nvSpPr>
            <p:spPr>
              <a:xfrm>
                <a:off x="2679589" y="3143211"/>
                <a:ext cx="5939625" cy="1353960"/>
              </a:xfrm>
              <a:prstGeom prst="rect">
                <a:avLst/>
              </a:prstGeom>
              <a:blipFill>
                <a:blip r:embed="rId2"/>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3C6DC23D-F0A5-A8D1-ECDC-1AC46CA8734D}"/>
              </a:ext>
            </a:extLst>
          </p:cNvPr>
          <p:cNvSpPr txBox="1"/>
          <p:nvPr/>
        </p:nvSpPr>
        <p:spPr>
          <a:xfrm>
            <a:off x="7983110" y="3643477"/>
            <a:ext cx="2536466" cy="400110"/>
          </a:xfrm>
          <a:prstGeom prst="rect">
            <a:avLst/>
          </a:prstGeom>
          <a:noFill/>
        </p:spPr>
        <p:txBody>
          <a:bodyPr wrap="square" rtlCol="0">
            <a:spAutoFit/>
          </a:bodyPr>
          <a:lstStyle/>
          <a:p>
            <a:r>
              <a:rPr lang="en-US" altLang="zh-CN" sz="2000" b="1" kern="1050" dirty="0">
                <a:effectLst/>
                <a:latin typeface="微软雅黑" panose="020B0503020204020204" pitchFamily="34" charset="-122"/>
                <a:ea typeface="微软雅黑" panose="020B0503020204020204" pitchFamily="34" charset="-122"/>
              </a:rPr>
              <a:t>(5.20)</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3B34886-444A-38C3-812E-6CE601CEF627}"/>
                  </a:ext>
                </a:extLst>
              </p:cNvPr>
              <p:cNvSpPr txBox="1"/>
              <p:nvPr/>
            </p:nvSpPr>
            <p:spPr>
              <a:xfrm>
                <a:off x="963431" y="4628324"/>
                <a:ext cx="10573909" cy="1229504"/>
              </a:xfrm>
              <a:prstGeom prst="rect">
                <a:avLst/>
              </a:prstGeom>
              <a:noFill/>
            </p:spPr>
            <p:txBody>
              <a:bodyPr wrap="square">
                <a:spAutoFit/>
              </a:bodyPr>
              <a:lstStyle/>
              <a:p>
                <a:pPr algn="just"/>
                <a:r>
                  <a:rPr lang="en-US" altLang="zh-CN" sz="2400" b="1" kern="100" dirty="0">
                    <a:effectLst/>
                    <a:latin typeface="微软雅黑" panose="020B0503020204020204" pitchFamily="34" charset="-122"/>
                    <a:ea typeface="微软雅黑" panose="020B0503020204020204" pitchFamily="34" charset="-122"/>
                  </a:rPr>
                  <a:t>       </a:t>
                </a:r>
                <a:r>
                  <a:rPr lang="zh-CN" altLang="zh-CN" sz="2400" b="1" kern="100" dirty="0">
                    <a:effectLst/>
                    <a:latin typeface="微软雅黑" panose="020B0503020204020204" pitchFamily="34" charset="-122"/>
                    <a:ea typeface="微软雅黑" panose="020B0503020204020204" pitchFamily="34" charset="-122"/>
                  </a:rPr>
                  <a:t>式中，</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𝑺</m:t>
                        </m:r>
                      </m:e>
                      <m:sub>
                        <m:r>
                          <a:rPr lang="en-US" altLang="zh-CN" sz="2400" b="1" i="1" kern="100">
                            <a:effectLst/>
                            <a:latin typeface="Cambria Math" panose="02040503050406030204" pitchFamily="18" charset="0"/>
                            <a:ea typeface="宋体" panose="02010600030101010101" pitchFamily="2" charset="-122"/>
                          </a:rPr>
                          <m:t>𝟎</m:t>
                        </m:r>
                      </m:sub>
                    </m:sSub>
                  </m:oMath>
                </a14:m>
                <a:r>
                  <a:rPr lang="zh-CN" altLang="zh-CN" sz="2400" b="1" kern="1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𝑯</m:t>
                        </m:r>
                      </m:e>
                      <m:sub>
                        <m:r>
                          <a:rPr lang="en-US" altLang="zh-CN" sz="2400" b="1" i="1" kern="100">
                            <a:effectLst/>
                            <a:latin typeface="Cambria Math" panose="02040503050406030204" pitchFamily="18" charset="0"/>
                            <a:ea typeface="宋体" panose="02010600030101010101" pitchFamily="2" charset="-122"/>
                          </a:rPr>
                          <m:t>𝟎</m:t>
                        </m:r>
                      </m:sub>
                    </m:sSub>
                  </m:oMath>
                </a14:m>
                <a:r>
                  <a:rPr lang="zh-CN" altLang="zh-CN" sz="2400" b="1" kern="100" dirty="0">
                    <a:effectLst/>
                    <a:latin typeface="微软雅黑" panose="020B0503020204020204" pitchFamily="34" charset="-122"/>
                    <a:ea typeface="微软雅黑" panose="020B0503020204020204" pitchFamily="34" charset="-122"/>
                  </a:rPr>
                  <a:t>分别表示四足机器人行走过程中的步长和步高，</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𝒕</m:t>
                    </m:r>
                  </m:oMath>
                </a14:m>
                <a:r>
                  <a:rPr lang="zh-CN" altLang="zh-CN" sz="2400" b="1" kern="100" dirty="0">
                    <a:effectLst/>
                    <a:latin typeface="微软雅黑" panose="020B0503020204020204" pitchFamily="34" charset="-122"/>
                    <a:ea typeface="微软雅黑" panose="020B0503020204020204" pitchFamily="34" charset="-122"/>
                  </a:rPr>
                  <a:t>是步态轨迹的采样时间，</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𝑻</m:t>
                        </m:r>
                      </m:e>
                      <m:sub>
                        <m:r>
                          <a:rPr lang="en-US" altLang="zh-CN" sz="2400" b="1" i="1" kern="100">
                            <a:effectLst/>
                            <a:latin typeface="Cambria Math" panose="02040503050406030204" pitchFamily="18" charset="0"/>
                            <a:ea typeface="宋体" panose="02010600030101010101" pitchFamily="2" charset="-122"/>
                          </a:rPr>
                          <m:t>𝒚</m:t>
                        </m:r>
                      </m:sub>
                    </m:sSub>
                  </m:oMath>
                </a14:m>
                <a:r>
                  <a:rPr lang="zh-CN" altLang="zh-CN" sz="2400" b="1" kern="100" dirty="0">
                    <a:effectLst/>
                    <a:latin typeface="微软雅黑" panose="020B0503020204020204" pitchFamily="34" charset="-122"/>
                    <a:ea typeface="微软雅黑" panose="020B0503020204020204" pitchFamily="34" charset="-122"/>
                  </a:rPr>
                  <a:t>为摆动腿摆动时间。可以根据地面的不平坦程度和机器人运动速度的要求修改参数。</a:t>
                </a:r>
              </a:p>
            </p:txBody>
          </p:sp>
        </mc:Choice>
        <mc:Fallback xmlns="">
          <p:sp>
            <p:nvSpPr>
              <p:cNvPr id="11" name="文本框 10">
                <a:extLst>
                  <a:ext uri="{FF2B5EF4-FFF2-40B4-BE49-F238E27FC236}">
                    <a16:creationId xmlns:a16="http://schemas.microsoft.com/office/drawing/2014/main" id="{23B34886-444A-38C3-812E-6CE601CEF627}"/>
                  </a:ext>
                </a:extLst>
              </p:cNvPr>
              <p:cNvSpPr txBox="1">
                <a:spLocks noRot="1" noChangeAspect="1" noMove="1" noResize="1" noEditPoints="1" noAdjustHandles="1" noChangeArrowheads="1" noChangeShapeType="1" noTextEdit="1"/>
              </p:cNvSpPr>
              <p:nvPr/>
            </p:nvSpPr>
            <p:spPr>
              <a:xfrm>
                <a:off x="963431" y="4628324"/>
                <a:ext cx="10573909" cy="1229504"/>
              </a:xfrm>
              <a:prstGeom prst="rect">
                <a:avLst/>
              </a:prstGeom>
              <a:blipFill>
                <a:blip r:embed="rId3"/>
                <a:stretch>
                  <a:fillRect l="-865" t="-3960" r="-865" b="-108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629155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29438D-45CF-3D7C-35B2-A5000363B3E4}"/>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2">
            <a:extLst>
              <a:ext uri="{FF2B5EF4-FFF2-40B4-BE49-F238E27FC236}">
                <a16:creationId xmlns:a16="http://schemas.microsoft.com/office/drawing/2014/main" id="{C5A36D14-8884-1297-AE82-2DD8D75999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667" y="809801"/>
            <a:ext cx="4471128" cy="3806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4">
            <a:extLst>
              <a:ext uri="{FF2B5EF4-FFF2-40B4-BE49-F238E27FC236}">
                <a16:creationId xmlns:a16="http://schemas.microsoft.com/office/drawing/2014/main" id="{4E9850A0-8B33-32BC-B0D3-F61BD32730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1023" y="865862"/>
            <a:ext cx="4967390" cy="380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3C4F318B-3A1D-E293-95C6-1A16271498F1}"/>
              </a:ext>
            </a:extLst>
          </p:cNvPr>
          <p:cNvSpPr txBox="1"/>
          <p:nvPr/>
        </p:nvSpPr>
        <p:spPr>
          <a:xfrm>
            <a:off x="0" y="4612521"/>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5.19  </a:t>
            </a:r>
            <a:r>
              <a:rPr lang="zh-CN" altLang="zh-CN" sz="1800" kern="1000" dirty="0">
                <a:effectLst/>
                <a:latin typeface="Times New Roman" panose="02020603050405020304" pitchFamily="18" charset="0"/>
                <a:ea typeface="宋体" panose="02010600030101010101" pitchFamily="2" charset="-122"/>
              </a:rPr>
              <a:t>向前行走时的矢状平面内足端轨迹</a:t>
            </a:r>
          </a:p>
        </p:txBody>
      </p:sp>
      <p:sp>
        <p:nvSpPr>
          <p:cNvPr id="10" name="文本框 9">
            <a:extLst>
              <a:ext uri="{FF2B5EF4-FFF2-40B4-BE49-F238E27FC236}">
                <a16:creationId xmlns:a16="http://schemas.microsoft.com/office/drawing/2014/main" id="{C4941321-7420-846F-5228-FA4AE6C25E3F}"/>
              </a:ext>
            </a:extLst>
          </p:cNvPr>
          <p:cNvSpPr txBox="1"/>
          <p:nvPr/>
        </p:nvSpPr>
        <p:spPr>
          <a:xfrm>
            <a:off x="6087266" y="4658687"/>
            <a:ext cx="5314903" cy="646331"/>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5.20  </a:t>
            </a:r>
            <a:r>
              <a:rPr lang="zh-CN" altLang="zh-CN" sz="1800" kern="1000" dirty="0">
                <a:effectLst/>
                <a:latin typeface="Times New Roman" panose="02020603050405020304" pitchFamily="18" charset="0"/>
                <a:ea typeface="宋体" panose="02010600030101010101" pitchFamily="2" charset="-122"/>
              </a:rPr>
              <a:t>基于三次曲线和复合摆线矢状平面内合成后的足端轨迹对比</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4572BE9-881D-7B2B-A714-1131F87E247C}"/>
                  </a:ext>
                </a:extLst>
              </p:cNvPr>
              <p:cNvSpPr txBox="1"/>
              <p:nvPr/>
            </p:nvSpPr>
            <p:spPr>
              <a:xfrm>
                <a:off x="818985" y="5375046"/>
                <a:ext cx="10717728" cy="1234184"/>
              </a:xfrm>
              <a:prstGeom prst="rect">
                <a:avLst/>
              </a:prstGeom>
              <a:noFill/>
            </p:spPr>
            <p:txBody>
              <a:bodyPr wrap="square">
                <a:spAutoFit/>
              </a:bodyPr>
              <a:lstStyle/>
              <a:p>
                <a:pPr algn="just"/>
                <a:r>
                  <a:rPr lang="zh-CN" altLang="zh-CN" sz="2400" b="1" kern="100" dirty="0">
                    <a:effectLst/>
                    <a:latin typeface="微软雅黑" panose="020B0503020204020204" pitchFamily="34" charset="-122"/>
                    <a:ea typeface="微软雅黑" panose="020B0503020204020204" pitchFamily="34" charset="-122"/>
                  </a:rPr>
                  <a:t>设</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𝑺</m:t>
                        </m:r>
                      </m:e>
                      <m:sub>
                        <m:r>
                          <a:rPr lang="en-US" altLang="zh-CN" sz="2400" b="1" i="1" kern="100">
                            <a:effectLst/>
                            <a:latin typeface="Cambria Math" panose="02040503050406030204" pitchFamily="18" charset="0"/>
                            <a:ea typeface="宋体" panose="02010600030101010101" pitchFamily="2" charset="-122"/>
                          </a:rPr>
                          <m:t>𝟎</m:t>
                        </m:r>
                      </m:sub>
                    </m:sSub>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𝟎</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𝟓</m:t>
                    </m:r>
                    <m:r>
                      <a:rPr lang="en-US" altLang="zh-CN" sz="2400" b="1" i="1" kern="10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𝑯</m:t>
                        </m:r>
                      </m:e>
                      <m:sub>
                        <m:r>
                          <a:rPr lang="en-US" altLang="zh-CN" sz="2400" b="1" i="1" kern="100">
                            <a:effectLst/>
                            <a:latin typeface="Cambria Math" panose="02040503050406030204" pitchFamily="18" charset="0"/>
                            <a:ea typeface="宋体" panose="02010600030101010101" pitchFamily="2" charset="-122"/>
                          </a:rPr>
                          <m:t>𝟎</m:t>
                        </m:r>
                      </m:sub>
                    </m:sSub>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𝟎</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𝟐</m:t>
                    </m:r>
                    <m:r>
                      <a:rPr lang="en-US" altLang="zh-CN" sz="2400" b="1" i="1" kern="10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𝑻</m:t>
                        </m:r>
                      </m:e>
                      <m:sub>
                        <m:r>
                          <a:rPr lang="en-US" altLang="zh-CN" sz="2400" b="1" i="1" kern="100">
                            <a:effectLst/>
                            <a:latin typeface="Cambria Math" panose="02040503050406030204" pitchFamily="18" charset="0"/>
                            <a:ea typeface="宋体" panose="02010600030101010101" pitchFamily="2" charset="-122"/>
                          </a:rPr>
                          <m:t>𝒚</m:t>
                        </m:r>
                      </m:sub>
                    </m:sSub>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𝟏</m:t>
                    </m:r>
                  </m:oMath>
                </a14:m>
                <a:r>
                  <a:rPr lang="zh-CN" altLang="zh-CN" sz="2400" b="1" kern="100" dirty="0">
                    <a:effectLst/>
                    <a:latin typeface="微软雅黑" panose="020B0503020204020204" pitchFamily="34" charset="-122"/>
                    <a:ea typeface="微软雅黑" panose="020B0503020204020204" pitchFamily="34" charset="-122"/>
                  </a:rPr>
                  <a:t>，则一个步态运动周期内的摆动腿足端步态规划轨迹如图</a:t>
                </a:r>
                <a:r>
                  <a:rPr lang="en-US" altLang="zh-CN" sz="2400" b="1" kern="100" dirty="0">
                    <a:effectLst/>
                    <a:latin typeface="微软雅黑" panose="020B0503020204020204" pitchFamily="34" charset="-122"/>
                    <a:ea typeface="微软雅黑" panose="020B0503020204020204" pitchFamily="34" charset="-122"/>
                  </a:rPr>
                  <a:t>5.21</a:t>
                </a:r>
                <a:r>
                  <a:rPr lang="zh-CN" altLang="zh-CN" sz="2400" b="1" kern="100" dirty="0">
                    <a:effectLst/>
                    <a:latin typeface="微软雅黑" panose="020B0503020204020204" pitchFamily="34" charset="-122"/>
                    <a:ea typeface="微软雅黑" panose="020B0503020204020204" pitchFamily="34" charset="-122"/>
                  </a:rPr>
                  <a:t>所示。进行四足机器人足端轨迹规划后，利用机器人逆运动学模型即可规划出摆动腿各个旋转关节的角度取值。</a:t>
                </a:r>
              </a:p>
            </p:txBody>
          </p:sp>
        </mc:Choice>
        <mc:Fallback xmlns="">
          <p:sp>
            <p:nvSpPr>
              <p:cNvPr id="13" name="文本框 12">
                <a:extLst>
                  <a:ext uri="{FF2B5EF4-FFF2-40B4-BE49-F238E27FC236}">
                    <a16:creationId xmlns:a16="http://schemas.microsoft.com/office/drawing/2014/main" id="{84572BE9-881D-7B2B-A714-1131F87E247C}"/>
                  </a:ext>
                </a:extLst>
              </p:cNvPr>
              <p:cNvSpPr txBox="1">
                <a:spLocks noRot="1" noChangeAspect="1" noMove="1" noResize="1" noEditPoints="1" noAdjustHandles="1" noChangeArrowheads="1" noChangeShapeType="1" noTextEdit="1"/>
              </p:cNvSpPr>
              <p:nvPr/>
            </p:nvSpPr>
            <p:spPr>
              <a:xfrm>
                <a:off x="818985" y="5375046"/>
                <a:ext cx="10717728" cy="1234184"/>
              </a:xfrm>
              <a:prstGeom prst="rect">
                <a:avLst/>
              </a:prstGeom>
              <a:blipFill>
                <a:blip r:embed="rId4"/>
                <a:stretch>
                  <a:fillRect l="-853" t="-3960" r="-853" b="-108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445505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8FA1B6B-42EC-AFA3-F9FC-C0FF9316B2A1}"/>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5">
            <a:extLst>
              <a:ext uri="{FF2B5EF4-FFF2-40B4-BE49-F238E27FC236}">
                <a16:creationId xmlns:a16="http://schemas.microsoft.com/office/drawing/2014/main" id="{7BB10E2F-2289-E329-E41C-23ADC37D6A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2033" y="988612"/>
            <a:ext cx="5355743" cy="4108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50EDF86B-0078-E793-A29D-9218D1ED2BA9}"/>
              </a:ext>
            </a:extLst>
          </p:cNvPr>
          <p:cNvSpPr txBox="1"/>
          <p:nvPr/>
        </p:nvSpPr>
        <p:spPr>
          <a:xfrm>
            <a:off x="2899576" y="5096786"/>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5.21  </a:t>
            </a:r>
            <a:r>
              <a:rPr lang="zh-CN" altLang="zh-CN" sz="1800" kern="1000" dirty="0">
                <a:effectLst/>
                <a:latin typeface="Times New Roman" panose="02020603050405020304" pitchFamily="18" charset="0"/>
                <a:ea typeface="宋体" panose="02010600030101010101" pitchFamily="2" charset="-122"/>
              </a:rPr>
              <a:t>摆动腿足端步态规划轨迹</a:t>
            </a:r>
          </a:p>
        </p:txBody>
      </p:sp>
    </p:spTree>
    <p:extLst>
      <p:ext uri="{BB962C8B-B14F-4D97-AF65-F5344CB8AC3E}">
        <p14:creationId xmlns:p14="http://schemas.microsoft.com/office/powerpoint/2010/main" val="11091196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B0DD27E-FCDE-E9E4-2A0D-1FEF3270646D}"/>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a:extLst>
              <a:ext uri="{FF2B5EF4-FFF2-40B4-BE49-F238E27FC236}">
                <a16:creationId xmlns:a16="http://schemas.microsoft.com/office/drawing/2014/main" id="{D1235406-8047-3EBD-46D0-80C61102A39D}"/>
              </a:ext>
            </a:extLst>
          </p:cNvPr>
          <p:cNvSpPr txBox="1"/>
          <p:nvPr/>
        </p:nvSpPr>
        <p:spPr>
          <a:xfrm>
            <a:off x="720919" y="1297502"/>
            <a:ext cx="6053592" cy="2677656"/>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设支撑腿与地面之间无滑动，则支撑腿推动身体向前移动等效于足端轨迹反向水平后移。从而可以利用四足机器人的逆运动学模型，生成相应的支撑腿各个关节的运动轨迹。设四足机器人在行走过程中始终保持机体和地面平行，姿态不变，直线行走时支撑腿的运行轨迹如图</a:t>
            </a:r>
            <a:r>
              <a:rPr lang="en-US" altLang="zh-CN" sz="2400" b="1" kern="1000" dirty="0">
                <a:effectLst/>
                <a:latin typeface="微软雅黑" panose="020B0503020204020204" pitchFamily="34" charset="-122"/>
                <a:ea typeface="微软雅黑" panose="020B0503020204020204" pitchFamily="34" charset="-122"/>
              </a:rPr>
              <a:t>5.22</a:t>
            </a:r>
            <a:r>
              <a:rPr lang="zh-CN" altLang="zh-CN" sz="2400" b="1" kern="1000" dirty="0">
                <a:effectLst/>
                <a:latin typeface="微软雅黑" panose="020B0503020204020204" pitchFamily="34" charset="-122"/>
                <a:ea typeface="微软雅黑" panose="020B0503020204020204" pitchFamily="34" charset="-122"/>
              </a:rPr>
              <a:t>所示。</a:t>
            </a:r>
          </a:p>
        </p:txBody>
      </p:sp>
      <p:pic>
        <p:nvPicPr>
          <p:cNvPr id="8" name="图片 3">
            <a:extLst>
              <a:ext uri="{FF2B5EF4-FFF2-40B4-BE49-F238E27FC236}">
                <a16:creationId xmlns:a16="http://schemas.microsoft.com/office/drawing/2014/main" id="{1B7D1D83-AF97-0D8A-3B50-B7FB2BBCC6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4618" y="1297502"/>
            <a:ext cx="4496463" cy="3476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a:extLst>
              <a:ext uri="{FF2B5EF4-FFF2-40B4-BE49-F238E27FC236}">
                <a16:creationId xmlns:a16="http://schemas.microsoft.com/office/drawing/2014/main" id="{C559F6E6-9C81-E2FB-6C9F-3E02E64A1C94}"/>
              </a:ext>
            </a:extLst>
          </p:cNvPr>
          <p:cNvSpPr txBox="1"/>
          <p:nvPr/>
        </p:nvSpPr>
        <p:spPr>
          <a:xfrm>
            <a:off x="6096000" y="4768490"/>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5.22  </a:t>
            </a:r>
            <a:r>
              <a:rPr lang="zh-CN" altLang="zh-CN" sz="1800" kern="1000" dirty="0">
                <a:effectLst/>
                <a:latin typeface="Times New Roman" panose="02020603050405020304" pitchFamily="18" charset="0"/>
                <a:ea typeface="宋体" panose="02010600030101010101" pitchFamily="2" charset="-122"/>
              </a:rPr>
              <a:t>支撑腿运行轨迹</a:t>
            </a:r>
          </a:p>
        </p:txBody>
      </p:sp>
    </p:spTree>
    <p:extLst>
      <p:ext uri="{BB962C8B-B14F-4D97-AF65-F5344CB8AC3E}">
        <p14:creationId xmlns:p14="http://schemas.microsoft.com/office/powerpoint/2010/main" val="648649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B0DD27E-FCDE-E9E4-2A0D-1FEF3270646D}"/>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a:extLst>
              <a:ext uri="{FF2B5EF4-FFF2-40B4-BE49-F238E27FC236}">
                <a16:creationId xmlns:a16="http://schemas.microsoft.com/office/drawing/2014/main" id="{5B2E0ED8-C8D0-D4A7-0DE9-39B7F9D9200E}"/>
              </a:ext>
            </a:extLst>
          </p:cNvPr>
          <p:cNvSpPr txBox="1"/>
          <p:nvPr/>
        </p:nvSpPr>
        <p:spPr>
          <a:xfrm>
            <a:off x="763326" y="882595"/>
            <a:ext cx="10463916" cy="2308324"/>
          </a:xfrm>
          <a:prstGeom prst="rect">
            <a:avLst/>
          </a:prstGeom>
          <a:noFill/>
        </p:spPr>
        <p:txBody>
          <a:bodyPr wrap="square">
            <a:spAutoFit/>
          </a:bodyPr>
          <a:lstStyle/>
          <a:p>
            <a:pPr algn="just">
              <a:lnSpc>
                <a:spcPct val="200000"/>
              </a:lnSpc>
            </a:pP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．三次贝塞尔曲线规划法</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贝塞尔曲线是一种典型的差值曲线，其最初是按照由已知曲线参数方程来确定</a:t>
            </a:r>
            <a:r>
              <a:rPr lang="en-US" altLang="zh-CN" sz="2400" b="1" kern="1000" dirty="0">
                <a:effectLst/>
                <a:latin typeface="微软雅黑" panose="020B0503020204020204" pitchFamily="34" charset="-122"/>
                <a:ea typeface="微软雅黑" panose="020B0503020204020204" pitchFamily="34" charset="-122"/>
              </a:rPr>
              <a:t>4</a:t>
            </a:r>
            <a:r>
              <a:rPr lang="zh-CN" altLang="zh-CN" sz="2400" b="1" kern="1000" dirty="0">
                <a:effectLst/>
                <a:latin typeface="微软雅黑" panose="020B0503020204020204" pitchFamily="34" charset="-122"/>
                <a:ea typeface="微软雅黑" panose="020B0503020204020204" pitchFamily="34" charset="-122"/>
              </a:rPr>
              <a:t>个点的思路设计的，是应用于二维图形应用程序的数学曲线。一般的矢量图形软件通过它来精确画出曲线，具有曲线平滑、计算量小的特点。考虑到加速度的平滑，至少选择三次插值方法。典型三次贝塞尔曲线的方程为</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0D10B21-6C18-E1B5-2135-8ED3872F6E82}"/>
                  </a:ext>
                </a:extLst>
              </p:cNvPr>
              <p:cNvSpPr txBox="1"/>
              <p:nvPr/>
            </p:nvSpPr>
            <p:spPr>
              <a:xfrm>
                <a:off x="950844" y="3309731"/>
                <a:ext cx="10276398" cy="1074910"/>
              </a:xfrm>
              <a:prstGeom prst="rect">
                <a:avLst/>
              </a:prstGeom>
              <a:noFill/>
            </p:spPr>
            <p:txBody>
              <a:bodyPr wrap="square">
                <a:spAutoFit/>
              </a:bodyPr>
              <a:lstStyle/>
              <a:p>
                <a14:m>
                  <m:oMath xmlns:m="http://schemas.openxmlformats.org/officeDocument/2006/math">
                    <m:r>
                      <a:rPr lang="en-US" altLang="zh-CN" sz="2000" b="1" i="1" kern="1000" smtClean="0">
                        <a:effectLst/>
                        <a:latin typeface="Cambria Math" panose="02040503050406030204" pitchFamily="18" charset="0"/>
                        <a:ea typeface="宋体" panose="02010600030101010101" pitchFamily="2" charset="-122"/>
                        <a:cs typeface="Times New Roman" panose="02020603050405020304" pitchFamily="18" charset="0"/>
                      </a:rPr>
                      <m:t>𝑩</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000" b="1" i="1">
                            <a:effectLst/>
                            <a:latin typeface="Cambria Math" panose="02040503050406030204" pitchFamily="18" charset="0"/>
                            <a:ea typeface="Cambria Math" panose="02040503050406030204" pitchFamily="18" charset="0"/>
                          </a:rPr>
                        </m:ctrlPr>
                      </m:dPr>
                      <m:e>
                        <m:m>
                          <m:mPr>
                            <m:mcs>
                              <m:mc>
                                <m:mcPr>
                                  <m:count m:val="2"/>
                                  <m:mcJc m:val="center"/>
                                </m:mcPr>
                              </m:mc>
                            </m:mcs>
                            <m:ctrlPr>
                              <a:rPr lang="zh-CN" altLang="zh-CN" sz="2000" b="1" i="1">
                                <a:effectLst/>
                                <a:latin typeface="Cambria Math" panose="02040503050406030204" pitchFamily="18" charset="0"/>
                                <a:ea typeface="Cambria Math" panose="02040503050406030204" pitchFamily="18" charset="0"/>
                              </a:rPr>
                            </m:ctrlPr>
                          </m:mPr>
                          <m:mr>
                            <m:e>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𝑷</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𝟎</m:t>
                                  </m:r>
                                </m:sub>
                              </m:sSub>
                              <m:sSup>
                                <m:sSupPr>
                                  <m:ctrlPr>
                                    <a:rPr lang="zh-CN" altLang="zh-CN" sz="2000" b="1" i="1">
                                      <a:effectLst/>
                                      <a:latin typeface="Cambria Math" panose="02040503050406030204" pitchFamily="18" charset="0"/>
                                      <a:ea typeface="Cambria Math" panose="02040503050406030204" pitchFamily="18" charset="0"/>
                                    </a:rPr>
                                  </m:ctrlPr>
                                </m:sSupPr>
                                <m:e>
                                  <m:d>
                                    <m:dPr>
                                      <m:ctrlPr>
                                        <a:rPr lang="zh-CN" altLang="zh-CN" sz="2000" b="1" i="1">
                                          <a:effectLst/>
                                          <a:latin typeface="Cambria Math" panose="02040503050406030204" pitchFamily="18" charset="0"/>
                                          <a:ea typeface="Cambria Math" panose="02040503050406030204" pitchFamily="18" charset="0"/>
                                        </a:rPr>
                                      </m:ctrlPr>
                                    </m:d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2000" b="1" i="1" kern="1000">
                                          <a:effectLst/>
                                          <a:latin typeface="Cambria Math" panose="02040503050406030204" pitchFamily="18" charset="0"/>
                                          <a:ea typeface="宋体" panose="02010600030101010101" pitchFamily="2" charset="-122"/>
                                        </a:rPr>
                                        <m:t>−</m:t>
                                      </m:r>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num>
                                        <m:den>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den>
                                      </m:f>
                                    </m:e>
                                  </m:d>
                                </m:e>
                                <m: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𝟑</m:t>
                                  </m:r>
                                </m:sup>
                              </m:s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𝟑</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𝑷</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𝟏</m:t>
                                  </m:r>
                                </m:sub>
                              </m:sSub>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num>
                                <m:den>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den>
                              </m:f>
                              <m:sSup>
                                <m:sSupPr>
                                  <m:ctrlPr>
                                    <a:rPr lang="zh-CN" altLang="zh-CN" sz="2000" b="1" i="1">
                                      <a:effectLst/>
                                      <a:latin typeface="Cambria Math" panose="02040503050406030204" pitchFamily="18" charset="0"/>
                                      <a:ea typeface="Cambria Math" panose="02040503050406030204" pitchFamily="18" charset="0"/>
                                    </a:rPr>
                                  </m:ctrlPr>
                                </m:sSupPr>
                                <m:e>
                                  <m:d>
                                    <m:dPr>
                                      <m:ctrlPr>
                                        <a:rPr lang="zh-CN" altLang="zh-CN" sz="2000" b="1" i="1">
                                          <a:effectLst/>
                                          <a:latin typeface="Cambria Math" panose="02040503050406030204" pitchFamily="18" charset="0"/>
                                          <a:ea typeface="Cambria Math" panose="02040503050406030204" pitchFamily="18" charset="0"/>
                                        </a:rPr>
                                      </m:ctrlPr>
                                    </m:d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2000" b="1" i="1" kern="1000">
                                          <a:effectLst/>
                                          <a:latin typeface="Cambria Math" panose="02040503050406030204" pitchFamily="18" charset="0"/>
                                          <a:ea typeface="宋体" panose="02010600030101010101" pitchFamily="2" charset="-122"/>
                                        </a:rPr>
                                        <m:t>−</m:t>
                                      </m:r>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num>
                                        <m:den>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den>
                                      </m:f>
                                    </m:e>
                                  </m:d>
                                </m:e>
                                <m: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𝟐</m:t>
                                  </m:r>
                                </m:sup>
                              </m:s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𝟑</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𝑷</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𝟐</m:t>
                                  </m:r>
                                </m:sub>
                              </m:sSub>
                              <m:sSup>
                                <m:sSupPr>
                                  <m:ctrlPr>
                                    <a:rPr lang="zh-CN" altLang="zh-CN" sz="2000" b="1" i="1">
                                      <a:effectLst/>
                                      <a:latin typeface="Cambria Math" panose="02040503050406030204" pitchFamily="18" charset="0"/>
                                      <a:ea typeface="Cambria Math" panose="02040503050406030204" pitchFamily="18" charset="0"/>
                                    </a:rPr>
                                  </m:ctrlPr>
                                </m:sSupPr>
                                <m:e>
                                  <m:d>
                                    <m:dPr>
                                      <m:ctrlPr>
                                        <a:rPr lang="zh-CN" altLang="zh-CN" sz="2000" b="1" i="1">
                                          <a:effectLst/>
                                          <a:latin typeface="Cambria Math" panose="02040503050406030204" pitchFamily="18" charset="0"/>
                                          <a:ea typeface="Cambria Math" panose="02040503050406030204" pitchFamily="18" charset="0"/>
                                        </a:rPr>
                                      </m:ctrlPr>
                                    </m:dPr>
                                    <m:e>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num>
                                        <m:den>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den>
                                      </m:f>
                                    </m:e>
                                  </m:d>
                                </m:e>
                                <m: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𝟐</m:t>
                                  </m:r>
                                </m:sup>
                              </m:sSup>
                              <m:d>
                                <m:dPr>
                                  <m:ctrlPr>
                                    <a:rPr lang="zh-CN" altLang="zh-CN" sz="2000" b="1" i="1">
                                      <a:effectLst/>
                                      <a:latin typeface="Cambria Math" panose="02040503050406030204" pitchFamily="18" charset="0"/>
                                      <a:ea typeface="Cambria Math" panose="02040503050406030204" pitchFamily="18" charset="0"/>
                                    </a:rPr>
                                  </m:ctrlPr>
                                </m:d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2000" b="1" i="1" kern="1000">
                                      <a:effectLst/>
                                      <a:latin typeface="Cambria Math" panose="02040503050406030204" pitchFamily="18" charset="0"/>
                                      <a:ea typeface="宋体" panose="02010600030101010101" pitchFamily="2" charset="-122"/>
                                    </a:rPr>
                                    <m:t>−</m:t>
                                  </m:r>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num>
                                    <m:den>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den>
                                  </m:f>
                                </m:e>
                              </m:d>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𝑷</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𝟑</m:t>
                                  </m:r>
                                </m:sub>
                              </m:sSub>
                              <m:sSup>
                                <m:sSupPr>
                                  <m:ctrlPr>
                                    <a:rPr lang="zh-CN" altLang="zh-CN" sz="2000" b="1" i="1">
                                      <a:effectLst/>
                                      <a:latin typeface="Cambria Math" panose="02040503050406030204" pitchFamily="18" charset="0"/>
                                      <a:ea typeface="Cambria Math" panose="02040503050406030204" pitchFamily="18" charset="0"/>
                                    </a:rPr>
                                  </m:ctrlPr>
                                </m:sSupPr>
                                <m:e>
                                  <m:d>
                                    <m:dPr>
                                      <m:ctrlPr>
                                        <a:rPr lang="zh-CN" altLang="zh-CN" sz="2000" b="1" i="1">
                                          <a:effectLst/>
                                          <a:latin typeface="Cambria Math" panose="02040503050406030204" pitchFamily="18" charset="0"/>
                                          <a:ea typeface="Cambria Math" panose="02040503050406030204" pitchFamily="18" charset="0"/>
                                        </a:rPr>
                                      </m:ctrlPr>
                                    </m:dPr>
                                    <m:e>
                                      <m:f>
                                        <m:fPr>
                                          <m:ctrlPr>
                                            <a:rPr lang="zh-CN" altLang="zh-CN" sz="2000" b="1" i="1">
                                              <a:effectLst/>
                                              <a:latin typeface="Cambria Math" panose="02040503050406030204" pitchFamily="18" charset="0"/>
                                              <a:ea typeface="Cambria Math" panose="02040503050406030204" pitchFamily="18" charset="0"/>
                                            </a:rPr>
                                          </m:ctrlPr>
                                        </m:fPr>
                                        <m:num>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num>
                                        <m:den>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den>
                                      </m:f>
                                    </m:e>
                                  </m:d>
                                </m:e>
                                <m: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𝟑</m:t>
                                  </m:r>
                                </m:sup>
                              </m:sSup>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e>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2000" b="1" i="1" kern="1000">
                                  <a:effectLst/>
                                  <a:latin typeface="Cambria Math" panose="02040503050406030204" pitchFamily="18" charset="0"/>
                                  <a:ea typeface="宋体" panose="02010600030101010101" pitchFamily="2" charset="-122"/>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000" b="1" i="1" kern="1000">
                                  <a:effectLst/>
                                  <a:latin typeface="Cambria Math" panose="02040503050406030204" pitchFamily="18" charset="0"/>
                                  <a:ea typeface="宋体" panose="02010600030101010101" pitchFamily="2" charset="-122"/>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e>
                          </m:mr>
                          <m:m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𝑩</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𝑷</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𝟑</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e>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&gt;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𝑻</m:t>
                              </m:r>
                            </m:e>
                          </m:mr>
                        </m:m>
                      </m:e>
                    </m:d>
                  </m:oMath>
                </a14:m>
                <a:r>
                  <a:rPr lang="en-US" altLang="zh-CN" sz="2000" b="1" kern="1000" dirty="0">
                    <a:effectLst/>
                    <a:latin typeface="Times New Roman" panose="02020603050405020304" pitchFamily="18" charset="0"/>
                    <a:ea typeface="宋体" panose="02010600030101010101" pitchFamily="2" charset="-122"/>
                  </a:rPr>
                  <a:t>	</a:t>
                </a: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0" dirty="0">
                    <a:effectLst/>
                    <a:latin typeface="微软雅黑" panose="020B0503020204020204" pitchFamily="34" charset="-122"/>
                    <a:ea typeface="微软雅黑" panose="020B0503020204020204" pitchFamily="34" charset="-122"/>
                  </a:rPr>
                  <a:t>5.21</a:t>
                </a: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000" b="1" dirty="0">
                  <a:latin typeface="微软雅黑" panose="020B0503020204020204" pitchFamily="34" charset="-122"/>
                  <a:ea typeface="微软雅黑" panose="020B0503020204020204" pitchFamily="34" charset="-122"/>
                </a:endParaRPr>
              </a:p>
            </p:txBody>
          </p:sp>
        </mc:Choice>
        <mc:Fallback xmlns="">
          <p:sp>
            <p:nvSpPr>
              <p:cNvPr id="11" name="文本框 10">
                <a:extLst>
                  <a:ext uri="{FF2B5EF4-FFF2-40B4-BE49-F238E27FC236}">
                    <a16:creationId xmlns:a16="http://schemas.microsoft.com/office/drawing/2014/main" id="{A0D10B21-6C18-E1B5-2135-8ED3872F6E82}"/>
                  </a:ext>
                </a:extLst>
              </p:cNvPr>
              <p:cNvSpPr txBox="1">
                <a:spLocks noRot="1" noChangeAspect="1" noMove="1" noResize="1" noEditPoints="1" noAdjustHandles="1" noChangeArrowheads="1" noChangeShapeType="1" noTextEdit="1"/>
              </p:cNvSpPr>
              <p:nvPr/>
            </p:nvSpPr>
            <p:spPr>
              <a:xfrm>
                <a:off x="950844" y="3309731"/>
                <a:ext cx="10276398" cy="107491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4B7073A-9E65-BB0E-6B09-4EB55A0CFEE0}"/>
                  </a:ext>
                </a:extLst>
              </p:cNvPr>
              <p:cNvSpPr txBox="1"/>
              <p:nvPr/>
            </p:nvSpPr>
            <p:spPr>
              <a:xfrm>
                <a:off x="763326" y="4503453"/>
                <a:ext cx="10463915" cy="1938992"/>
              </a:xfrm>
              <a:prstGeom prst="rect">
                <a:avLst/>
              </a:prstGeom>
              <a:noFill/>
            </p:spPr>
            <p:txBody>
              <a:bodyPr wrap="square">
                <a:spAutoFit/>
              </a:bodyPr>
              <a:lstStyle/>
              <a:p>
                <a:pPr algn="just"/>
                <a:r>
                  <a:rPr lang="en-US" altLang="zh-CN" sz="2400" b="1" kern="0" dirty="0">
                    <a:effectLst/>
                    <a:latin typeface="微软雅黑" panose="020B0503020204020204" pitchFamily="34" charset="-122"/>
                    <a:ea typeface="微软雅黑" panose="020B0503020204020204" pitchFamily="34" charset="-122"/>
                  </a:rPr>
                  <a:t>       </a:t>
                </a:r>
                <a:r>
                  <a:rPr lang="zh-CN" altLang="zh-CN" sz="2400" b="1" kern="0" dirty="0">
                    <a:effectLst/>
                    <a:latin typeface="微软雅黑" panose="020B0503020204020204" pitchFamily="34" charset="-122"/>
                    <a:ea typeface="微软雅黑" panose="020B0503020204020204" pitchFamily="34" charset="-122"/>
                  </a:rPr>
                  <a:t>其中，</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𝑷</m:t>
                        </m:r>
                      </m:e>
                      <m:sub>
                        <m:r>
                          <a:rPr lang="en-US" altLang="zh-CN" sz="2400" b="1" i="1" kern="0">
                            <a:effectLst/>
                            <a:latin typeface="Cambria Math" panose="02040503050406030204" pitchFamily="18" charset="0"/>
                            <a:ea typeface="宋体" panose="02010600030101010101" pitchFamily="2" charset="-122"/>
                          </a:rPr>
                          <m:t>𝟎</m:t>
                        </m:r>
                      </m:sub>
                    </m:sSub>
                  </m:oMath>
                </a14:m>
                <a:r>
                  <a:rPr lang="zh-CN" altLang="zh-CN" sz="2400" b="1" kern="0" dirty="0">
                    <a:effectLst/>
                    <a:latin typeface="微软雅黑" panose="020B0503020204020204" pitchFamily="34" charset="-122"/>
                    <a:ea typeface="微软雅黑" panose="020B0503020204020204" pitchFamily="34" charset="-122"/>
                  </a:rPr>
                  <a:t>为足端轨迹起始点，</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𝑷</m:t>
                        </m:r>
                      </m:e>
                      <m:sub>
                        <m:r>
                          <a:rPr lang="en-US" altLang="zh-CN" sz="2400" b="1" i="1" kern="0">
                            <a:effectLst/>
                            <a:latin typeface="Cambria Math" panose="02040503050406030204" pitchFamily="18" charset="0"/>
                            <a:ea typeface="宋体" panose="02010600030101010101" pitchFamily="2" charset="-122"/>
                          </a:rPr>
                          <m:t>𝟑</m:t>
                        </m:r>
                      </m:sub>
                    </m:sSub>
                  </m:oMath>
                </a14:m>
                <a:r>
                  <a:rPr lang="zh-CN" altLang="zh-CN" sz="2400" b="1" kern="0" dirty="0">
                    <a:effectLst/>
                    <a:latin typeface="微软雅黑" panose="020B0503020204020204" pitchFamily="34" charset="-122"/>
                    <a:ea typeface="微软雅黑" panose="020B0503020204020204" pitchFamily="34" charset="-122"/>
                  </a:rPr>
                  <a:t>为终止点，</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𝑷</m:t>
                        </m:r>
                      </m:e>
                      <m:sub>
                        <m:r>
                          <a:rPr lang="en-US" altLang="zh-CN" sz="2400" b="1" i="1" kern="0">
                            <a:effectLst/>
                            <a:latin typeface="Cambria Math" panose="02040503050406030204" pitchFamily="18" charset="0"/>
                            <a:ea typeface="宋体" panose="02010600030101010101" pitchFamily="2" charset="-122"/>
                          </a:rPr>
                          <m:t>𝟏</m:t>
                        </m:r>
                      </m:sub>
                    </m:sSub>
                  </m:oMath>
                </a14:m>
                <a:r>
                  <a:rPr lang="zh-CN" altLang="zh-CN" sz="2400" b="1" kern="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𝑷</m:t>
                        </m:r>
                      </m:e>
                      <m:sub>
                        <m:r>
                          <a:rPr lang="en-US" altLang="zh-CN" sz="2400" b="1" i="1" kern="0">
                            <a:effectLst/>
                            <a:latin typeface="Cambria Math" panose="02040503050406030204" pitchFamily="18" charset="0"/>
                            <a:ea typeface="宋体" panose="02010600030101010101" pitchFamily="2" charset="-122"/>
                          </a:rPr>
                          <m:t>𝟐</m:t>
                        </m:r>
                      </m:sub>
                    </m:sSub>
                  </m:oMath>
                </a14:m>
                <a:r>
                  <a:rPr lang="zh-CN" altLang="zh-CN" sz="2400" b="1" kern="0" dirty="0">
                    <a:effectLst/>
                    <a:latin typeface="微软雅黑" panose="020B0503020204020204" pitchFamily="34" charset="-122"/>
                    <a:ea typeface="微软雅黑" panose="020B0503020204020204" pitchFamily="34" charset="-122"/>
                  </a:rPr>
                  <a:t>分别决定起始点处和终止点处的运动方向</a:t>
                </a:r>
                <a:r>
                  <a:rPr lang="en-US" altLang="zh-CN" sz="2400" b="1" kern="0" dirty="0">
                    <a:effectLst/>
                    <a:latin typeface="微软雅黑" panose="020B0503020204020204" pitchFamily="34" charset="-122"/>
                    <a:ea typeface="微软雅黑" panose="020B0503020204020204" pitchFamily="34" charset="-122"/>
                  </a:rPr>
                  <a:t>(</a:t>
                </a:r>
                <a:r>
                  <a:rPr lang="zh-CN" altLang="zh-CN" sz="2400" b="1" kern="0" dirty="0">
                    <a:effectLst/>
                    <a:latin typeface="微软雅黑" panose="020B0503020204020204" pitchFamily="34" charset="-122"/>
                    <a:ea typeface="微软雅黑" panose="020B0503020204020204" pitchFamily="34" charset="-122"/>
                  </a:rPr>
                  <a:t>根据摩擦锥的要求自适应调整</a:t>
                </a:r>
                <a:r>
                  <a:rPr lang="en-US" altLang="zh-CN" sz="2400" b="1" kern="0" dirty="0">
                    <a:effectLst/>
                    <a:latin typeface="微软雅黑" panose="020B0503020204020204" pitchFamily="34" charset="-122"/>
                    <a:ea typeface="微软雅黑" panose="020B0503020204020204" pitchFamily="34" charset="-122"/>
                  </a:rPr>
                  <a:t>)</a:t>
                </a:r>
                <a:r>
                  <a:rPr lang="zh-CN" altLang="zh-CN" sz="2400" b="1" kern="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0">
                        <a:effectLst/>
                        <a:latin typeface="Cambria Math" panose="02040503050406030204" pitchFamily="18" charset="0"/>
                        <a:ea typeface="宋体" panose="02010600030101010101" pitchFamily="2" charset="-122"/>
                      </a:rPr>
                      <m:t>𝑻</m:t>
                    </m:r>
                  </m:oMath>
                </a14:m>
                <a:r>
                  <a:rPr lang="zh-CN" altLang="zh-CN" sz="2400" b="1" kern="0" dirty="0">
                    <a:effectLst/>
                    <a:latin typeface="微软雅黑" panose="020B0503020204020204" pitchFamily="34" charset="-122"/>
                    <a:ea typeface="微软雅黑" panose="020B0503020204020204" pitchFamily="34" charset="-122"/>
                  </a:rPr>
                  <a:t>为预备触地阶段的最长时间，</a:t>
                </a:r>
                <a14:m>
                  <m:oMath xmlns:m="http://schemas.openxmlformats.org/officeDocument/2006/math">
                    <m:r>
                      <a:rPr lang="en-US" altLang="zh-CN" sz="2400" b="1" i="1" kern="0">
                        <a:effectLst/>
                        <a:latin typeface="Cambria Math" panose="02040503050406030204" pitchFamily="18" charset="0"/>
                        <a:ea typeface="宋体" panose="02010600030101010101" pitchFamily="2" charset="-122"/>
                      </a:rPr>
                      <m:t>𝒕</m:t>
                    </m:r>
                  </m:oMath>
                </a14:m>
                <a:r>
                  <a:rPr lang="zh-CN" altLang="zh-CN" sz="2400" b="1" kern="0" dirty="0">
                    <a:effectLst/>
                    <a:latin typeface="微软雅黑" panose="020B0503020204020204" pitchFamily="34" charset="-122"/>
                    <a:ea typeface="微软雅黑" panose="020B0503020204020204" pitchFamily="34" charset="-122"/>
                  </a:rPr>
                  <a:t>为该阶段已流逝的时间，</a:t>
                </a:r>
                <a14:m>
                  <m:oMath xmlns:m="http://schemas.openxmlformats.org/officeDocument/2006/math">
                    <m:r>
                      <a:rPr lang="en-US" altLang="zh-CN" sz="2400" b="1" i="1" kern="0">
                        <a:effectLst/>
                        <a:latin typeface="Cambria Math" panose="02040503050406030204" pitchFamily="18" charset="0"/>
                        <a:ea typeface="宋体" panose="02010600030101010101" pitchFamily="2" charset="-122"/>
                      </a:rPr>
                      <m:t>𝑩</m:t>
                    </m:r>
                    <m:r>
                      <a:rPr lang="en-US" altLang="zh-CN" sz="2400" b="1" i="1" kern="0">
                        <a:effectLst/>
                        <a:latin typeface="Cambria Math" panose="02040503050406030204" pitchFamily="18" charset="0"/>
                        <a:ea typeface="宋体" panose="02010600030101010101" pitchFamily="2" charset="-122"/>
                      </a:rPr>
                      <m:t>(</m:t>
                    </m:r>
                    <m:r>
                      <a:rPr lang="en-US" altLang="zh-CN" sz="2400" b="1" i="1" kern="0">
                        <a:effectLst/>
                        <a:latin typeface="Cambria Math" panose="02040503050406030204" pitchFamily="18" charset="0"/>
                        <a:ea typeface="宋体" panose="02010600030101010101" pitchFamily="2" charset="-122"/>
                      </a:rPr>
                      <m:t>𝒕</m:t>
                    </m:r>
                    <m:r>
                      <a:rPr lang="en-US" altLang="zh-CN" sz="2400" b="1" i="1" kern="0">
                        <a:effectLst/>
                        <a:latin typeface="Cambria Math" panose="02040503050406030204" pitchFamily="18" charset="0"/>
                        <a:ea typeface="宋体" panose="02010600030101010101" pitchFamily="2" charset="-122"/>
                      </a:rPr>
                      <m:t>)</m:t>
                    </m:r>
                  </m:oMath>
                </a14:m>
                <a:r>
                  <a:rPr lang="zh-CN" altLang="zh-CN" sz="2400" b="1" kern="0" dirty="0">
                    <a:effectLst/>
                    <a:latin typeface="微软雅黑" panose="020B0503020204020204" pitchFamily="34" charset="-122"/>
                    <a:ea typeface="微软雅黑" panose="020B0503020204020204" pitchFamily="34" charset="-122"/>
                  </a:rPr>
                  <a:t>为水平坐标系中的足端坐标。当</a:t>
                </a:r>
                <a14:m>
                  <m:oMath xmlns:m="http://schemas.openxmlformats.org/officeDocument/2006/math">
                    <m:r>
                      <a:rPr lang="en-US" altLang="zh-CN" sz="2400" b="1" i="1" kern="0">
                        <a:effectLst/>
                        <a:latin typeface="Cambria Math" panose="02040503050406030204" pitchFamily="18" charset="0"/>
                        <a:ea typeface="宋体" panose="02010600030101010101" pitchFamily="2" charset="-122"/>
                      </a:rPr>
                      <m:t>𝒕</m:t>
                    </m:r>
                    <m:r>
                      <a:rPr lang="en-US" altLang="zh-CN" sz="2400" b="1" i="1" kern="0">
                        <a:effectLst/>
                        <a:latin typeface="Cambria Math" panose="02040503050406030204" pitchFamily="18" charset="0"/>
                        <a:ea typeface="宋体" panose="02010600030101010101" pitchFamily="2" charset="-122"/>
                      </a:rPr>
                      <m:t>&gt;</m:t>
                    </m:r>
                    <m:r>
                      <a:rPr lang="en-US" altLang="zh-CN" sz="2400" b="1" i="1" kern="0">
                        <a:effectLst/>
                        <a:latin typeface="Cambria Math" panose="02040503050406030204" pitchFamily="18" charset="0"/>
                        <a:ea typeface="宋体" panose="02010600030101010101" pitchFamily="2" charset="-122"/>
                      </a:rPr>
                      <m:t>𝑻</m:t>
                    </m:r>
                  </m:oMath>
                </a14:m>
                <a:r>
                  <a:rPr lang="zh-CN" altLang="zh-CN" sz="2400" b="1" kern="0" dirty="0">
                    <a:effectLst/>
                    <a:latin typeface="微软雅黑" panose="020B0503020204020204" pitchFamily="34" charset="-122"/>
                    <a:ea typeface="微软雅黑" panose="020B0503020204020204" pitchFamily="34" charset="-122"/>
                  </a:rPr>
                  <a:t>时，足端已到达预备触地的位置，令</a:t>
                </a:r>
                <a14:m>
                  <m:oMath xmlns:m="http://schemas.openxmlformats.org/officeDocument/2006/math">
                    <m:r>
                      <a:rPr lang="en-US" altLang="zh-CN" sz="2400" b="1" i="1" kern="0">
                        <a:effectLst/>
                        <a:latin typeface="Cambria Math" panose="02040503050406030204" pitchFamily="18" charset="0"/>
                        <a:ea typeface="宋体" panose="02010600030101010101" pitchFamily="2" charset="-122"/>
                      </a:rPr>
                      <m:t>𝑩</m:t>
                    </m:r>
                    <m:r>
                      <a:rPr lang="en-US" altLang="zh-CN" sz="2400" b="1" i="1" kern="0">
                        <a:effectLst/>
                        <a:latin typeface="Cambria Math" panose="02040503050406030204" pitchFamily="18" charset="0"/>
                        <a:ea typeface="宋体" panose="02010600030101010101" pitchFamily="2" charset="-122"/>
                      </a:rPr>
                      <m:t>(</m:t>
                    </m:r>
                    <m:r>
                      <a:rPr lang="en-US" altLang="zh-CN" sz="2400" b="1" i="1" kern="0">
                        <a:effectLst/>
                        <a:latin typeface="Cambria Math" panose="02040503050406030204" pitchFamily="18" charset="0"/>
                        <a:ea typeface="宋体" panose="02010600030101010101" pitchFamily="2" charset="-122"/>
                      </a:rPr>
                      <m:t>𝒕</m:t>
                    </m:r>
                    <m:r>
                      <a:rPr lang="en-US" altLang="zh-CN" sz="2400" b="1" i="1" kern="0">
                        <a:effectLst/>
                        <a:latin typeface="Cambria Math" panose="02040503050406030204" pitchFamily="18" charset="0"/>
                        <a:ea typeface="宋体" panose="02010600030101010101" pitchFamily="2" charset="-122"/>
                      </a:rPr>
                      <m:t>)=</m:t>
                    </m:r>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𝑷</m:t>
                        </m:r>
                      </m:e>
                      <m:sub>
                        <m:r>
                          <a:rPr lang="en-US" altLang="zh-CN" sz="2400" b="1" i="1" kern="0">
                            <a:effectLst/>
                            <a:latin typeface="Cambria Math" panose="02040503050406030204" pitchFamily="18" charset="0"/>
                            <a:ea typeface="宋体" panose="02010600030101010101" pitchFamily="2" charset="-122"/>
                          </a:rPr>
                          <m:t>𝟑</m:t>
                        </m:r>
                      </m:sub>
                    </m:sSub>
                  </m:oMath>
                </a14:m>
                <a:r>
                  <a:rPr lang="zh-CN" altLang="zh-CN" sz="2400" b="1" kern="0" dirty="0">
                    <a:effectLst/>
                    <a:latin typeface="微软雅黑" panose="020B0503020204020204" pitchFamily="34" charset="-122"/>
                    <a:ea typeface="微软雅黑" panose="020B0503020204020204" pitchFamily="34" charset="-122"/>
                  </a:rPr>
                  <a:t>，锁定位置，等待足端触地。</a:t>
                </a:r>
                <a:endParaRPr lang="zh-CN" altLang="zh-CN" sz="2400" b="1" kern="100" dirty="0">
                  <a:effectLst/>
                  <a:latin typeface="微软雅黑" panose="020B0503020204020204" pitchFamily="34" charset="-122"/>
                  <a:ea typeface="微软雅黑" panose="020B0503020204020204" pitchFamily="34" charset="-122"/>
                </a:endParaRPr>
              </a:p>
            </p:txBody>
          </p:sp>
        </mc:Choice>
        <mc:Fallback xmlns="">
          <p:sp>
            <p:nvSpPr>
              <p:cNvPr id="14" name="文本框 13">
                <a:extLst>
                  <a:ext uri="{FF2B5EF4-FFF2-40B4-BE49-F238E27FC236}">
                    <a16:creationId xmlns:a16="http://schemas.microsoft.com/office/drawing/2014/main" id="{34B7073A-9E65-BB0E-6B09-4EB55A0CFEE0}"/>
                  </a:ext>
                </a:extLst>
              </p:cNvPr>
              <p:cNvSpPr txBox="1">
                <a:spLocks noRot="1" noChangeAspect="1" noMove="1" noResize="1" noEditPoints="1" noAdjustHandles="1" noChangeArrowheads="1" noChangeShapeType="1" noTextEdit="1"/>
              </p:cNvSpPr>
              <p:nvPr/>
            </p:nvSpPr>
            <p:spPr>
              <a:xfrm>
                <a:off x="763326" y="4503453"/>
                <a:ext cx="10463915" cy="1938992"/>
              </a:xfrm>
              <a:prstGeom prst="rect">
                <a:avLst/>
              </a:prstGeom>
              <a:blipFill>
                <a:blip r:embed="rId3"/>
                <a:stretch>
                  <a:fillRect l="-874" t="-2516" r="-874" b="-62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100160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B0DD27E-FCDE-E9E4-2A0D-1FEF3270646D}"/>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A97D9C2-CEAF-00A2-65D7-5A73228FADDA}"/>
                  </a:ext>
                </a:extLst>
              </p:cNvPr>
              <p:cNvSpPr txBox="1"/>
              <p:nvPr/>
            </p:nvSpPr>
            <p:spPr>
              <a:xfrm>
                <a:off x="707666" y="1081377"/>
                <a:ext cx="10614991" cy="1200329"/>
              </a:xfrm>
              <a:prstGeom prst="rect">
                <a:avLst/>
              </a:prstGeom>
              <a:noFill/>
            </p:spPr>
            <p:txBody>
              <a:bodyPr wrap="square">
                <a:spAutoFit/>
              </a:bodyPr>
              <a:lstStyle/>
              <a:p>
                <a:pPr algn="just"/>
                <a:r>
                  <a:rPr lang="en-US" altLang="zh-CN" sz="2400" b="1" kern="0" dirty="0">
                    <a:effectLst/>
                    <a:latin typeface="微软雅黑" panose="020B0503020204020204" pitchFamily="34" charset="-122"/>
                    <a:ea typeface="微软雅黑" panose="020B0503020204020204" pitchFamily="34" charset="-122"/>
                  </a:rPr>
                  <a:t>       </a:t>
                </a:r>
                <a:r>
                  <a:rPr lang="zh-CN" altLang="zh-CN" sz="2400" b="1" kern="0" dirty="0">
                    <a:effectLst/>
                    <a:latin typeface="微软雅黑" panose="020B0503020204020204" pitchFamily="34" charset="-122"/>
                    <a:ea typeface="微软雅黑" panose="020B0503020204020204" pitchFamily="34" charset="-122"/>
                  </a:rPr>
                  <a:t>在基于贝塞尔曲线的四足机器人适应性步态规划中，如图</a:t>
                </a:r>
                <a:r>
                  <a:rPr lang="en-US" altLang="zh-CN" sz="2400" b="1" kern="0" dirty="0">
                    <a:effectLst/>
                    <a:latin typeface="微软雅黑" panose="020B0503020204020204" pitchFamily="34" charset="-122"/>
                    <a:ea typeface="微软雅黑" panose="020B0503020204020204" pitchFamily="34" charset="-122"/>
                  </a:rPr>
                  <a:t>5.23</a:t>
                </a:r>
                <a:r>
                  <a:rPr lang="zh-CN" altLang="zh-CN" sz="2400" b="1" kern="0" dirty="0">
                    <a:effectLst/>
                    <a:latin typeface="微软雅黑" panose="020B0503020204020204" pitchFamily="34" charset="-122"/>
                    <a:ea typeface="微软雅黑" panose="020B0503020204020204" pitchFamily="34" charset="-122"/>
                  </a:rPr>
                  <a:t>所示，首先利用两条贝塞尔曲线生成封闭的机器人步态周期运动轨迹，其中</a:t>
                </a:r>
                <a14:m>
                  <m:oMath xmlns:m="http://schemas.openxmlformats.org/officeDocument/2006/math">
                    <m:r>
                      <a:rPr lang="en-US" altLang="zh-CN" sz="2400" b="1" i="1" kern="0">
                        <a:effectLst/>
                        <a:latin typeface="Cambria Math" panose="02040503050406030204" pitchFamily="18" charset="0"/>
                        <a:ea typeface="宋体" panose="02010600030101010101" pitchFamily="2" charset="-122"/>
                      </a:rPr>
                      <m:t>𝑯</m:t>
                    </m:r>
                  </m:oMath>
                </a14:m>
                <a:r>
                  <a:rPr lang="zh-CN" altLang="zh-CN" sz="2400" b="1" kern="0" dirty="0">
                    <a:effectLst/>
                    <a:latin typeface="微软雅黑" panose="020B0503020204020204" pitchFamily="34" charset="-122"/>
                    <a:ea typeface="微软雅黑" panose="020B0503020204020204" pitchFamily="34" charset="-122"/>
                  </a:rPr>
                  <a:t>表示步高，</a:t>
                </a:r>
                <a14:m>
                  <m:oMath xmlns:m="http://schemas.openxmlformats.org/officeDocument/2006/math">
                    <m:r>
                      <a:rPr lang="en-US" altLang="zh-CN" sz="2400" b="1" i="1" kern="0">
                        <a:effectLst/>
                        <a:latin typeface="Cambria Math" panose="02040503050406030204" pitchFamily="18" charset="0"/>
                        <a:ea typeface="宋体" panose="02010600030101010101" pitchFamily="2" charset="-122"/>
                      </a:rPr>
                      <m:t>𝑳</m:t>
                    </m:r>
                  </m:oMath>
                </a14:m>
                <a:r>
                  <a:rPr lang="zh-CN" altLang="zh-CN" sz="2400" b="1" kern="0" dirty="0">
                    <a:effectLst/>
                    <a:latin typeface="微软雅黑" panose="020B0503020204020204" pitchFamily="34" charset="-122"/>
                    <a:ea typeface="微软雅黑" panose="020B0503020204020204" pitchFamily="34" charset="-122"/>
                  </a:rPr>
                  <a:t>表示步长。</a:t>
                </a:r>
                <a:endParaRPr lang="zh-CN" altLang="zh-CN" sz="2400" b="1" kern="100" dirty="0">
                  <a:effectLst/>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6A97D9C2-CEAF-00A2-65D7-5A73228FADDA}"/>
                  </a:ext>
                </a:extLst>
              </p:cNvPr>
              <p:cNvSpPr txBox="1">
                <a:spLocks noRot="1" noChangeAspect="1" noMove="1" noResize="1" noEditPoints="1" noAdjustHandles="1" noChangeArrowheads="1" noChangeShapeType="1" noTextEdit="1"/>
              </p:cNvSpPr>
              <p:nvPr/>
            </p:nvSpPr>
            <p:spPr>
              <a:xfrm>
                <a:off x="707666" y="1081377"/>
                <a:ext cx="10614991" cy="1200329"/>
              </a:xfrm>
              <a:prstGeom prst="rect">
                <a:avLst/>
              </a:prstGeom>
              <a:blipFill>
                <a:blip r:embed="rId2"/>
                <a:stretch>
                  <a:fillRect l="-862" t="-4061" r="-919" b="-10660"/>
                </a:stretch>
              </a:blipFill>
            </p:spPr>
            <p:txBody>
              <a:bodyPr/>
              <a:lstStyle/>
              <a:p>
                <a:r>
                  <a:rPr lang="zh-CN" altLang="en-US">
                    <a:noFill/>
                  </a:rPr>
                  <a:t> </a:t>
                </a:r>
              </a:p>
            </p:txBody>
          </p:sp>
        </mc:Fallback>
      </mc:AlternateContent>
      <p:pic>
        <p:nvPicPr>
          <p:cNvPr id="14338" name="Picture 2">
            <a:extLst>
              <a:ext uri="{FF2B5EF4-FFF2-40B4-BE49-F238E27FC236}">
                <a16:creationId xmlns:a16="http://schemas.microsoft.com/office/drawing/2014/main" id="{0582A7D8-2AC6-1DA0-4A7D-AC7EDD7F0C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78561" y="2281706"/>
            <a:ext cx="3720686" cy="334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37F25D12-1FFF-3B79-8C1D-A574A8D0ABFF}"/>
                  </a:ext>
                </a:extLst>
              </p:cNvPr>
              <p:cNvSpPr txBox="1"/>
              <p:nvPr/>
            </p:nvSpPr>
            <p:spPr>
              <a:xfrm>
                <a:off x="707665" y="2281706"/>
                <a:ext cx="6122504" cy="4154984"/>
              </a:xfrm>
              <a:prstGeom prst="rect">
                <a:avLst/>
              </a:prstGeom>
              <a:noFill/>
            </p:spPr>
            <p:txBody>
              <a:bodyPr wrap="square">
                <a:spAutoFit/>
              </a:bodyPr>
              <a:lstStyle/>
              <a:p>
                <a:r>
                  <a:rPr lang="en-US" altLang="zh-CN" sz="2400" b="1" kern="0" dirty="0">
                    <a:effectLst/>
                    <a:latin typeface="微软雅黑" panose="020B0503020204020204" pitchFamily="34" charset="-122"/>
                    <a:ea typeface="微软雅黑" panose="020B0503020204020204" pitchFamily="34" charset="-122"/>
                  </a:rPr>
                  <a:t>       </a:t>
                </a:r>
                <a:r>
                  <a:rPr lang="zh-CN" altLang="zh-CN" sz="2400" b="1" kern="0" dirty="0">
                    <a:effectLst/>
                    <a:latin typeface="微软雅黑" panose="020B0503020204020204" pitchFamily="34" charset="-122"/>
                    <a:ea typeface="微软雅黑" panose="020B0503020204020204" pitchFamily="34" charset="-122"/>
                  </a:rPr>
                  <a:t>利用</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𝑷</m:t>
                        </m:r>
                      </m:e>
                      <m:sub>
                        <m:r>
                          <a:rPr lang="en-US" altLang="zh-CN" sz="2400" b="1" i="1" kern="0">
                            <a:effectLst/>
                            <a:latin typeface="Cambria Math" panose="02040503050406030204" pitchFamily="18" charset="0"/>
                            <a:ea typeface="宋体" panose="02010600030101010101" pitchFamily="2" charset="-122"/>
                          </a:rPr>
                          <m:t>𝟏</m:t>
                        </m:r>
                      </m:sub>
                    </m:sSub>
                  </m:oMath>
                </a14:m>
                <a:r>
                  <a:rPr lang="zh-CN" altLang="zh-CN" sz="2400" b="1" kern="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𝑷</m:t>
                        </m:r>
                      </m:e>
                      <m:sub>
                        <m:r>
                          <a:rPr lang="en-US" altLang="zh-CN" sz="2400" b="1" i="1" kern="0">
                            <a:effectLst/>
                            <a:latin typeface="Cambria Math" panose="02040503050406030204" pitchFamily="18" charset="0"/>
                            <a:ea typeface="宋体" panose="02010600030101010101" pitchFamily="2" charset="-122"/>
                          </a:rPr>
                          <m:t>𝟐</m:t>
                        </m:r>
                      </m:sub>
                    </m:sSub>
                  </m:oMath>
                </a14:m>
                <a:r>
                  <a:rPr lang="zh-CN" altLang="zh-CN" sz="2400" b="1" kern="0" dirty="0">
                    <a:effectLst/>
                    <a:latin typeface="微软雅黑" panose="020B0503020204020204" pitchFamily="34" charset="-122"/>
                    <a:ea typeface="微软雅黑" panose="020B0503020204020204" pitchFamily="34" charset="-122"/>
                  </a:rPr>
                  <a:t>相对于</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𝑷</m:t>
                        </m:r>
                      </m:e>
                      <m:sub>
                        <m:r>
                          <a:rPr lang="en-US" altLang="zh-CN" sz="2400" b="1" i="1" kern="0">
                            <a:effectLst/>
                            <a:latin typeface="Cambria Math" panose="02040503050406030204" pitchFamily="18" charset="0"/>
                            <a:ea typeface="宋体" panose="02010600030101010101" pitchFamily="2" charset="-122"/>
                          </a:rPr>
                          <m:t>𝟎</m:t>
                        </m:r>
                      </m:sub>
                    </m:sSub>
                  </m:oMath>
                </a14:m>
                <a:r>
                  <a:rPr lang="zh-CN" altLang="zh-CN" sz="2400" b="1" kern="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𝑷</m:t>
                        </m:r>
                      </m:e>
                      <m:sub>
                        <m:r>
                          <a:rPr lang="en-US" altLang="zh-CN" sz="2400" b="1" i="1" kern="0">
                            <a:effectLst/>
                            <a:latin typeface="Cambria Math" panose="02040503050406030204" pitchFamily="18" charset="0"/>
                            <a:ea typeface="宋体" panose="02010600030101010101" pitchFamily="2" charset="-122"/>
                          </a:rPr>
                          <m:t>𝟑</m:t>
                        </m:r>
                      </m:sub>
                    </m:sSub>
                  </m:oMath>
                </a14:m>
                <a:r>
                  <a:rPr lang="zh-CN" altLang="zh-CN" sz="2400" b="1" kern="0" dirty="0">
                    <a:effectLst/>
                    <a:latin typeface="微软雅黑" panose="020B0503020204020204" pitchFamily="34" charset="-122"/>
                    <a:ea typeface="微软雅黑" panose="020B0503020204020204" pitchFamily="34" charset="-122"/>
                  </a:rPr>
                  <a:t>的位置进行机器人足端离地和入地角度的调整，防止机器人运动过程中出现滑动；利用定义的滤波参数</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𝒛</m:t>
                        </m:r>
                      </m:e>
                      <m:sub>
                        <m:r>
                          <a:rPr lang="en-US" altLang="zh-CN" sz="2400" b="1" i="1" kern="0">
                            <a:effectLst/>
                            <a:latin typeface="Cambria Math" panose="02040503050406030204" pitchFamily="18" charset="0"/>
                            <a:ea typeface="宋体" panose="02010600030101010101" pitchFamily="2" charset="-122"/>
                          </a:rPr>
                          <m:t>𝒓</m:t>
                        </m:r>
                      </m:sub>
                    </m:sSub>
                  </m:oMath>
                </a14:m>
                <a:r>
                  <a:rPr lang="en-US" altLang="zh-CN" sz="2400" b="1" kern="0" dirty="0">
                    <a:effectLst/>
                    <a:latin typeface="微软雅黑" panose="020B0503020204020204" pitchFamily="34" charset="-122"/>
                    <a:ea typeface="微软雅黑" panose="020B0503020204020204" pitchFamily="34" charset="-122"/>
                  </a:rPr>
                  <a:t> (</a:t>
                </a:r>
                <a:r>
                  <a:rPr lang="zh-CN" altLang="zh-CN" sz="2400" b="1" kern="0" dirty="0">
                    <a:effectLst/>
                    <a:latin typeface="微软雅黑" panose="020B0503020204020204" pitchFamily="34" charset="-122"/>
                    <a:ea typeface="微软雅黑" panose="020B0503020204020204" pitchFamily="34" charset="-122"/>
                  </a:rPr>
                  <a:t>崎岖度调整参数</a:t>
                </a:r>
                <a:r>
                  <a:rPr lang="en-US" altLang="zh-CN" sz="2400" b="1" kern="0" dirty="0">
                    <a:effectLst/>
                    <a:latin typeface="微软雅黑" panose="020B0503020204020204" pitchFamily="34" charset="-122"/>
                    <a:ea typeface="微软雅黑" panose="020B0503020204020204" pitchFamily="34" charset="-122"/>
                  </a:rPr>
                  <a:t>)</a:t>
                </a:r>
                <a:r>
                  <a:rPr lang="zh-CN" altLang="zh-CN" sz="2400" b="1" kern="0" dirty="0">
                    <a:effectLst/>
                    <a:latin typeface="微软雅黑" panose="020B0503020204020204" pitchFamily="34" charset="-122"/>
                    <a:ea typeface="微软雅黑" panose="020B0503020204020204" pitchFamily="34" charset="-122"/>
                  </a:rPr>
                  <a:t>对步态周期曲线进行截断处理，实现从摆动阶段到支撑阶段的过渡，以适应高低不平的地形环境；当机器人在斜坡或不平整地面上行走时，利用定义的斜面坡度参数</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𝒛</m:t>
                        </m:r>
                      </m:e>
                      <m:sub>
                        <m:r>
                          <a:rPr lang="en-US" altLang="zh-CN" sz="2400" b="1" i="1" kern="0">
                            <a:effectLst/>
                            <a:latin typeface="Cambria Math" panose="02040503050406030204" pitchFamily="18" charset="0"/>
                            <a:ea typeface="宋体" panose="02010600030101010101" pitchFamily="2" charset="-122"/>
                          </a:rPr>
                          <m:t>𝒔</m:t>
                        </m:r>
                      </m:sub>
                    </m:sSub>
                  </m:oMath>
                </a14:m>
                <a:r>
                  <a:rPr lang="zh-CN" altLang="zh-CN" sz="2400" b="1" kern="0" dirty="0">
                    <a:effectLst/>
                    <a:latin typeface="微软雅黑" panose="020B0503020204020204" pitchFamily="34" charset="-122"/>
                    <a:ea typeface="微软雅黑" panose="020B0503020204020204" pitchFamily="34" charset="-122"/>
                  </a:rPr>
                  <a:t>对机器人的摆动曲线进行坡度调整，实现机器人步态规划对斜坡的自适应调整</a:t>
                </a:r>
                <a:r>
                  <a:rPr lang="en-US" altLang="zh-CN" sz="2400" b="1" kern="0" dirty="0">
                    <a:effectLst/>
                    <a:latin typeface="微软雅黑" panose="020B0503020204020204" pitchFamily="34" charset="-122"/>
                    <a:ea typeface="微软雅黑" panose="020B0503020204020204" pitchFamily="34" charset="-122"/>
                  </a:rPr>
                  <a:t>(</a:t>
                </a:r>
                <a:r>
                  <a:rPr lang="zh-CN" altLang="zh-CN" sz="2400" b="1" kern="0" dirty="0">
                    <a:effectLst/>
                    <a:latin typeface="微软雅黑" panose="020B0503020204020204" pitchFamily="34" charset="-122"/>
                    <a:ea typeface="微软雅黑" panose="020B0503020204020204" pitchFamily="34" charset="-122"/>
                  </a:rPr>
                  <a:t>当地面存在坡度时，</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𝒛</m:t>
                        </m:r>
                      </m:e>
                      <m:sub>
                        <m:r>
                          <a:rPr lang="en-US" altLang="zh-CN" sz="2400" b="1" i="1" kern="0">
                            <a:effectLst/>
                            <a:latin typeface="Cambria Math" panose="02040503050406030204" pitchFamily="18" charset="0"/>
                            <a:ea typeface="宋体" panose="02010600030101010101" pitchFamily="2" charset="-122"/>
                          </a:rPr>
                          <m:t>𝒔</m:t>
                        </m:r>
                      </m:sub>
                    </m:sSub>
                  </m:oMath>
                </a14:m>
                <a:r>
                  <a:rPr lang="zh-CN" altLang="zh-CN" sz="2400" b="1" kern="0" dirty="0">
                    <a:effectLst/>
                    <a:latin typeface="微软雅黑" panose="020B0503020204020204" pitchFamily="34" charset="-122"/>
                    <a:ea typeface="微软雅黑" panose="020B0503020204020204" pitchFamily="34" charset="-122"/>
                  </a:rPr>
                  <a:t>被激活，当在水平地面上行走时，</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𝒛</m:t>
                        </m:r>
                      </m:e>
                      <m:sub>
                        <m:r>
                          <a:rPr lang="en-US" altLang="zh-CN" sz="2400" b="1" i="1" kern="0">
                            <a:effectLst/>
                            <a:latin typeface="Cambria Math" panose="02040503050406030204" pitchFamily="18" charset="0"/>
                            <a:ea typeface="宋体" panose="02010600030101010101" pitchFamily="2" charset="-122"/>
                          </a:rPr>
                          <m:t>𝒔</m:t>
                        </m:r>
                      </m:sub>
                    </m:sSub>
                  </m:oMath>
                </a14:m>
                <a:r>
                  <a:rPr lang="zh-CN" altLang="zh-CN" sz="2400" b="1" kern="0" dirty="0">
                    <a:effectLst/>
                    <a:latin typeface="微软雅黑" panose="020B0503020204020204" pitchFamily="34" charset="-122"/>
                    <a:ea typeface="微软雅黑" panose="020B0503020204020204" pitchFamily="34" charset="-122"/>
                  </a:rPr>
                  <a:t>取值为</a:t>
                </a:r>
                <a:r>
                  <a:rPr lang="en-US" altLang="zh-CN" sz="2400" b="1" kern="0" dirty="0">
                    <a:effectLst/>
                    <a:latin typeface="微软雅黑" panose="020B0503020204020204" pitchFamily="34" charset="-122"/>
                    <a:ea typeface="微软雅黑" panose="020B0503020204020204" pitchFamily="34" charset="-122"/>
                  </a:rPr>
                  <a:t>0)</a:t>
                </a:r>
                <a:r>
                  <a:rPr lang="zh-CN" altLang="zh-CN" sz="2400" b="1" kern="0" dirty="0">
                    <a:effectLst/>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37F25D12-1FFF-3B79-8C1D-A574A8D0ABFF}"/>
                  </a:ext>
                </a:extLst>
              </p:cNvPr>
              <p:cNvSpPr txBox="1">
                <a:spLocks noRot="1" noChangeAspect="1" noMove="1" noResize="1" noEditPoints="1" noAdjustHandles="1" noChangeArrowheads="1" noChangeShapeType="1" noTextEdit="1"/>
              </p:cNvSpPr>
              <p:nvPr/>
            </p:nvSpPr>
            <p:spPr>
              <a:xfrm>
                <a:off x="707665" y="2281706"/>
                <a:ext cx="6122504" cy="4154984"/>
              </a:xfrm>
              <a:prstGeom prst="rect">
                <a:avLst/>
              </a:prstGeom>
              <a:blipFill>
                <a:blip r:embed="rId4"/>
                <a:stretch>
                  <a:fillRect l="-1494" t="-1173" r="-697" b="-2346"/>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D4992C9F-6682-260A-1DD4-4D684EB8FBB8}"/>
              </a:ext>
            </a:extLst>
          </p:cNvPr>
          <p:cNvSpPr txBox="1"/>
          <p:nvPr/>
        </p:nvSpPr>
        <p:spPr>
          <a:xfrm>
            <a:off x="6281530" y="5756745"/>
            <a:ext cx="6122504" cy="838691"/>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5.23  </a:t>
            </a:r>
            <a:r>
              <a:rPr lang="zh-CN" altLang="zh-CN" sz="1800" kern="0" dirty="0">
                <a:effectLst/>
                <a:latin typeface="Times New Roman" panose="02020603050405020304" pitchFamily="18" charset="0"/>
                <a:ea typeface="宋体" panose="02010600030101010101" pitchFamily="2" charset="-122"/>
              </a:rPr>
              <a:t>基于贝塞尔曲线的四足机器人</a:t>
            </a:r>
            <a:endParaRPr lang="en-US" altLang="zh-CN" sz="1800" kern="0" dirty="0">
              <a:effectLst/>
              <a:latin typeface="Times New Roman" panose="02020603050405020304" pitchFamily="18" charset="0"/>
              <a:ea typeface="宋体" panose="02010600030101010101" pitchFamily="2" charset="-122"/>
            </a:endParaRPr>
          </a:p>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适应性步态规划</a:t>
            </a:r>
            <a:endParaRPr lang="zh-CN" altLang="zh-CN" sz="1800" kern="10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7331515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B0DD27E-FCDE-E9E4-2A0D-1FEF3270646D}"/>
              </a:ext>
            </a:extLst>
          </p:cNvPr>
          <p:cNvSpPr txBox="1"/>
          <p:nvPr/>
        </p:nvSpPr>
        <p:spPr>
          <a:xfrm>
            <a:off x="1698305" y="-19050"/>
            <a:ext cx="5759769"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5.4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机器人轨迹规划与步态生成</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a:extLst>
              <a:ext uri="{FF2B5EF4-FFF2-40B4-BE49-F238E27FC236}">
                <a16:creationId xmlns:a16="http://schemas.microsoft.com/office/drawing/2014/main" id="{FA2EDA94-EBEC-C1D4-CA61-5E78465244D6}"/>
              </a:ext>
            </a:extLst>
          </p:cNvPr>
          <p:cNvSpPr txBox="1"/>
          <p:nvPr/>
        </p:nvSpPr>
        <p:spPr>
          <a:xfrm>
            <a:off x="1113495" y="1028343"/>
            <a:ext cx="9821888" cy="2677656"/>
          </a:xfrm>
          <a:prstGeom prst="rect">
            <a:avLst/>
          </a:prstGeom>
          <a:noFill/>
        </p:spPr>
        <p:txBody>
          <a:bodyPr wrap="square">
            <a:spAutoFit/>
          </a:bodyPr>
          <a:lstStyle/>
          <a:p>
            <a:pPr algn="ctr">
              <a:lnSpc>
                <a:spcPct val="200000"/>
              </a:lnSpc>
            </a:pPr>
            <a:r>
              <a:rPr lang="zh-CN" altLang="zh-CN" sz="3600" b="1" kern="1400" dirty="0">
                <a:effectLst/>
                <a:latin typeface="Arial" panose="020B0604020202020204" pitchFamily="34" charset="0"/>
                <a:ea typeface="方正小标宋_GBK"/>
                <a:cs typeface="Times New Roman" panose="02020603050405020304" pitchFamily="18" charset="0"/>
              </a:rPr>
              <a:t>习</a:t>
            </a:r>
            <a:r>
              <a:rPr lang="en-US" altLang="zh-CN" sz="3600" b="1" kern="1400" dirty="0">
                <a:effectLst/>
                <a:latin typeface="Arial" panose="020B0604020202020204" pitchFamily="34" charset="0"/>
                <a:ea typeface="方正小标宋_GBK"/>
                <a:cs typeface="Times New Roman" panose="02020603050405020304" pitchFamily="18" charset="0"/>
              </a:rPr>
              <a:t>    </a:t>
            </a:r>
            <a:r>
              <a:rPr lang="zh-CN" altLang="zh-CN" sz="3600" b="1" kern="1400" dirty="0">
                <a:effectLst/>
                <a:latin typeface="Arial" panose="020B0604020202020204" pitchFamily="34" charset="0"/>
                <a:ea typeface="方正小标宋_GBK"/>
                <a:cs typeface="Times New Roman" panose="02020603050405020304" pitchFamily="18" charset="0"/>
              </a:rPr>
              <a:t>题</a:t>
            </a:r>
          </a:p>
          <a:p>
            <a:pPr algn="just"/>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rPr>
              <a:t>．什么是机器人的周期步态，周期步态的优势在什么地方？</a:t>
            </a:r>
          </a:p>
          <a:p>
            <a:pPr algn="just"/>
            <a:r>
              <a:rPr lang="en-US" altLang="zh-CN" sz="2400" b="1" kern="1000" dirty="0">
                <a:effectLst/>
                <a:latin typeface="微软雅黑" panose="020B0503020204020204" pitchFamily="34" charset="-122"/>
                <a:ea typeface="微软雅黑" panose="020B0503020204020204" pitchFamily="34" charset="-122"/>
              </a:rPr>
              <a:t>2</a:t>
            </a:r>
            <a:r>
              <a:rPr lang="zh-CN" altLang="zh-CN" sz="2400" b="1" kern="1000" dirty="0">
                <a:effectLst/>
                <a:latin typeface="微软雅黑" panose="020B0503020204020204" pitchFamily="34" charset="-122"/>
                <a:ea typeface="微软雅黑" panose="020B0503020204020204" pitchFamily="34" charset="-122"/>
              </a:rPr>
              <a:t>．一般用什么来区分静步态和动步态，与静步态相比，动步态有什么优势和缺点？</a:t>
            </a:r>
          </a:p>
          <a:p>
            <a:pPr algn="just"/>
            <a:r>
              <a:rPr lang="en-US" altLang="zh-CN" sz="2400" b="1" kern="100" dirty="0">
                <a:effectLst/>
                <a:latin typeface="微软雅黑" panose="020B0503020204020204" pitchFamily="34" charset="-122"/>
                <a:ea typeface="微软雅黑" panose="020B0503020204020204" pitchFamily="34" charset="-122"/>
              </a:rPr>
              <a:t>3</a:t>
            </a:r>
            <a:r>
              <a:rPr lang="zh-CN" altLang="zh-CN" sz="2400" b="1" kern="100" dirty="0">
                <a:effectLst/>
                <a:latin typeface="微软雅黑" panose="020B0503020204020204" pitchFamily="34" charset="-122"/>
                <a:ea typeface="微软雅黑" panose="020B0503020204020204" pitchFamily="34" charset="-122"/>
              </a:rPr>
              <a:t>．机器人步态规划中，三次曲线法和复合摆线法有什么区别？</a:t>
            </a:r>
          </a:p>
        </p:txBody>
      </p:sp>
    </p:spTree>
    <p:extLst>
      <p:ext uri="{BB962C8B-B14F-4D97-AF65-F5344CB8AC3E}">
        <p14:creationId xmlns:p14="http://schemas.microsoft.com/office/powerpoint/2010/main" val="42926859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AutoShape 4">
            <a:extLst>
              <a:ext uri="{FF2B5EF4-FFF2-40B4-BE49-F238E27FC236}">
                <a16:creationId xmlns:a16="http://schemas.microsoft.com/office/drawing/2014/main" id="{6FD23B7C-E33E-C766-1E42-A6D028C81F05}"/>
              </a:ext>
            </a:extLst>
          </p:cNvPr>
          <p:cNvSpPr>
            <a:spLocks noChangeArrowheads="1"/>
          </p:cNvSpPr>
          <p:nvPr/>
        </p:nvSpPr>
        <p:spPr bwMode="auto">
          <a:xfrm>
            <a:off x="3124200" y="838200"/>
            <a:ext cx="3200400" cy="2895600"/>
          </a:xfrm>
          <a:prstGeom prst="cloudCallout">
            <a:avLst>
              <a:gd name="adj1" fmla="val 70833"/>
              <a:gd name="adj2" fmla="val 63213"/>
            </a:avLst>
          </a:prstGeom>
          <a:solidFill>
            <a:schemeClr val="accent1"/>
          </a:solidFill>
          <a:ln w="2857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SzPct val="80000"/>
              <a:buFont typeface="Arial" panose="020B0604020202020204" pitchFamily="34" charset="0"/>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hlink"/>
              </a:buClr>
              <a:buSzPct val="80000"/>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folHlink"/>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1" lang="en-US" altLang="zh-CN" sz="4400" b="1">
                <a:solidFill>
                  <a:srgbClr val="FF3300"/>
                </a:solidFill>
                <a:latin typeface="Monotype Corsiva" panose="03010101010201010101" pitchFamily="66" charset="0"/>
              </a:rPr>
              <a:t>Class is over.</a:t>
            </a:r>
            <a:br>
              <a:rPr kumimoji="1" lang="en-US" altLang="zh-CN" sz="4400" b="1">
                <a:solidFill>
                  <a:srgbClr val="FF3300"/>
                </a:solidFill>
                <a:latin typeface="Monotype Corsiva" panose="03010101010201010101" pitchFamily="66" charset="0"/>
              </a:rPr>
            </a:br>
            <a:r>
              <a:rPr kumimoji="1" lang="en-US" altLang="zh-CN" sz="4400" b="1">
                <a:solidFill>
                  <a:srgbClr val="FF3300"/>
                </a:solidFill>
                <a:latin typeface="Monotype Corsiva" panose="03010101010201010101" pitchFamily="66" charset="0"/>
              </a:rPr>
              <a:t>Bye-bye!</a:t>
            </a:r>
          </a:p>
        </p:txBody>
      </p:sp>
      <p:pic>
        <p:nvPicPr>
          <p:cNvPr id="46083" name="Picture 5" descr="PE01832_">
            <a:extLst>
              <a:ext uri="{FF2B5EF4-FFF2-40B4-BE49-F238E27FC236}">
                <a16:creationId xmlns:a16="http://schemas.microsoft.com/office/drawing/2014/main" id="{CFD07595-6900-0E46-8DF5-9DF1D6EE89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3581401"/>
            <a:ext cx="3049588" cy="2786063"/>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M3ZWI0MTQ0Y2E3ODlhYzE4NTUzNDI4YjE3OTFmMG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3403</TotalTime>
  <Words>5939</Words>
  <Application>Microsoft Office PowerPoint</Application>
  <PresentationFormat>宽屏</PresentationFormat>
  <Paragraphs>229</Paragraphs>
  <Slides>46</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46</vt:i4>
      </vt:variant>
    </vt:vector>
  </HeadingPairs>
  <TitlesOfParts>
    <vt:vector size="56" baseType="lpstr">
      <vt:lpstr>等线</vt:lpstr>
      <vt:lpstr>等线 Light</vt:lpstr>
      <vt:lpstr>宋体</vt:lpstr>
      <vt:lpstr>微软雅黑</vt:lpstr>
      <vt:lpstr>Arial</vt:lpstr>
      <vt:lpstr>Calibri</vt:lpstr>
      <vt:lpstr>Cambria Math</vt:lpstr>
      <vt:lpstr>Monotype Corsiva</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郝 子鑫1</cp:lastModifiedBy>
  <cp:revision>18</cp:revision>
  <dcterms:created xsi:type="dcterms:W3CDTF">2023-05-09T06:35:00Z</dcterms:created>
  <dcterms:modified xsi:type="dcterms:W3CDTF">2023-05-22T00:14:12Z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1238AA68CF4746A6913CACC12A22C1F3_12</vt:lpwstr>
  </property>
  <property fmtid="{D5CDD505-2E9C-101B-9397-08002B2CF9AE}" pid="3" name="KSOProductBuildVer">
    <vt:lpwstr>2052-11.1.0.14036</vt:lpwstr>
  </property>
</Properties>
</file>