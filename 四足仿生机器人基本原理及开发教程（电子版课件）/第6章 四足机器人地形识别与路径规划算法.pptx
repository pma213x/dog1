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58"/>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26" r:id="rId57"/>
  </p:sldIdLst>
  <p:sldSz cx="12192000" cy="6858000"/>
  <p:notesSz cx="6858000" cy="9144000"/>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4660"/>
  </p:normalViewPr>
  <p:slideViewPr>
    <p:cSldViewPr snapToGrid="0">
      <p:cViewPr>
        <p:scale>
          <a:sx n="50" d="100"/>
          <a:sy n="50" d="100"/>
        </p:scale>
        <p:origin x="24" y="5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2023/5/22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2023/5/22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
        <p:nvSpPr>
          <p:cNvPr id="7" name="Line 7"/>
          <p:cNvSpPr/>
          <p:nvPr/>
        </p:nvSpPr>
        <p:spPr>
          <a:xfrm>
            <a:off x="0" y="684213"/>
            <a:ext cx="12192000" cy="0"/>
          </a:xfrm>
          <a:prstGeom prst="line">
            <a:avLst/>
          </a:prstGeom>
          <a:ln w="114300" cap="flat" cmpd="thickThin">
            <a:solidFill>
              <a:srgbClr val="660033"/>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openxmlformats.org/officeDocument/2006/relationships/image" Target="../media/image13.emf"/><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12.wmf"/><Relationship Id="rId10" Type="http://schemas.openxmlformats.org/officeDocument/2006/relationships/image" Target="../media/image14.emf"/><Relationship Id="rId4" Type="http://schemas.openxmlformats.org/officeDocument/2006/relationships/oleObject" Target="../embeddings/oleObject1.bin"/><Relationship Id="rId9"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4.bin"/><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e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1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24.gif"/><Relationship Id="rId2" Type="http://schemas.openxmlformats.org/officeDocument/2006/relationships/oleObject" Target="../embeddings/oleObject9.bin"/><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3.emf"/><Relationship Id="rId4" Type="http://schemas.openxmlformats.org/officeDocument/2006/relationships/oleObject" Target="../embeddings/oleObject10.bin"/></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40.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32.emf"/></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12.bin"/><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13.bin"/><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slideLayout" Target="../slideLayouts/slideLayout1.xml"/><Relationship Id="rId5" Type="http://schemas.openxmlformats.org/officeDocument/2006/relationships/image" Target="../media/image40.wmf"/><Relationship Id="rId4" Type="http://schemas.openxmlformats.org/officeDocument/2006/relationships/image" Target="../media/image39.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41.emf"/><Relationship Id="rId7" Type="http://schemas.openxmlformats.org/officeDocument/2006/relationships/image" Target="../media/image58.png"/><Relationship Id="rId2" Type="http://schemas.openxmlformats.org/officeDocument/2006/relationships/oleObject" Target="../embeddings/oleObject14.bin"/><Relationship Id="rId1" Type="http://schemas.openxmlformats.org/officeDocument/2006/relationships/slideLayout" Target="../slideLayouts/slideLayout1.xml"/><Relationship Id="rId6" Type="http://schemas.openxmlformats.org/officeDocument/2006/relationships/image" Target="../media/image42.emf"/><Relationship Id="rId5" Type="http://schemas.openxmlformats.org/officeDocument/2006/relationships/oleObject" Target="../embeddings/oleObject15.bin"/><Relationship Id="rId4" Type="http://schemas.openxmlformats.org/officeDocument/2006/relationships/image" Target="../media/image56.png"/><Relationship Id="rId9" Type="http://schemas.openxmlformats.org/officeDocument/2006/relationships/image" Target="../media/image43.emf"/></Relationships>
</file>

<file path=ppt/slides/_rels/slide34.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45.emf"/><Relationship Id="rId5" Type="http://schemas.openxmlformats.org/officeDocument/2006/relationships/oleObject" Target="../embeddings/oleObject18.bin"/><Relationship Id="rId4" Type="http://schemas.openxmlformats.org/officeDocument/2006/relationships/image" Target="../media/image44.emf"/></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20.bin"/><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image" Target="../media/image51.emf"/><Relationship Id="rId7" Type="http://schemas.openxmlformats.org/officeDocument/2006/relationships/oleObject" Target="../embeddings/oleObject22.bin"/><Relationship Id="rId12" Type="http://schemas.openxmlformats.org/officeDocument/2006/relationships/image" Target="../media/image55.png"/><Relationship Id="rId2" Type="http://schemas.openxmlformats.org/officeDocument/2006/relationships/oleObject" Target="../embeddings/oleObject21.bin"/><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53.wmf"/><Relationship Id="rId5" Type="http://schemas.openxmlformats.org/officeDocument/2006/relationships/image" Target="../media/image69.png"/><Relationship Id="rId10" Type="http://schemas.openxmlformats.org/officeDocument/2006/relationships/oleObject" Target="../embeddings/oleObject23.bin"/><Relationship Id="rId4" Type="http://schemas.openxmlformats.org/officeDocument/2006/relationships/image" Target="../media/image68.png"/><Relationship Id="rId9" Type="http://schemas.openxmlformats.org/officeDocument/2006/relationships/image" Target="../media/image7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oleObject" Target="../embeddings/oleObject24.bin"/><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image" Target="../media/image77.png"/><Relationship Id="rId1"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57.emf"/></Relationships>
</file>

<file path=ppt/slides/_rels/slide43.xml.rels><?xml version="1.0" encoding="UTF-8" standalone="yes"?>
<Relationships xmlns="http://schemas.openxmlformats.org/package/2006/relationships"><Relationship Id="rId3" Type="http://schemas.openxmlformats.org/officeDocument/2006/relationships/image" Target="../media/image58.wmf"/><Relationship Id="rId7" Type="http://schemas.openxmlformats.org/officeDocument/2006/relationships/image" Target="../media/image83.png"/><Relationship Id="rId2" Type="http://schemas.openxmlformats.org/officeDocument/2006/relationships/oleObject" Target="../embeddings/oleObject26.bin"/><Relationship Id="rId1" Type="http://schemas.openxmlformats.org/officeDocument/2006/relationships/slideLayout" Target="../slideLayouts/slideLayout1.xml"/><Relationship Id="rId6" Type="http://schemas.openxmlformats.org/officeDocument/2006/relationships/image" Target="../media/image59.emf"/><Relationship Id="rId5" Type="http://schemas.openxmlformats.org/officeDocument/2006/relationships/oleObject" Target="../embeddings/oleObject27.bin"/><Relationship Id="rId4" Type="http://schemas.openxmlformats.org/officeDocument/2006/relationships/image" Target="../media/image81.png"/></Relationships>
</file>

<file path=ppt/slides/_rels/slide44.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oleObject" Target="../embeddings/oleObject28.bin"/><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5">
            <a:extLst>
              <a:ext uri="{FF2B5EF4-FFF2-40B4-BE49-F238E27FC236}">
                <a16:creationId xmlns:a16="http://schemas.microsoft.com/office/drawing/2014/main" id="{9E162AEE-0247-C9AB-6A19-A94E6D5F7BAD}"/>
              </a:ext>
            </a:extLst>
          </p:cNvPr>
          <p:cNvSpPr/>
          <p:nvPr/>
        </p:nvSpPr>
        <p:spPr>
          <a:xfrm>
            <a:off x="1169669" y="1584960"/>
            <a:ext cx="9498330" cy="1844040"/>
          </a:xfrm>
          <a:prstGeom prst="rect">
            <a:avLst/>
          </a:prstGeom>
          <a:noFill/>
          <a:ln w="9525">
            <a:noFill/>
          </a:ln>
        </p:spPr>
        <p:txBody>
          <a:bodyPr/>
          <a:lstStyle/>
          <a:p>
            <a:pPr algn="ctr">
              <a:spcBef>
                <a:spcPct val="20000"/>
              </a:spcBef>
            </a:pP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第六章  四足机器人地形识别与路径规划算法</a:t>
            </a:r>
          </a:p>
        </p:txBody>
      </p:sp>
      <p:sp>
        <p:nvSpPr>
          <p:cNvPr id="8" name="Rectangle 30">
            <a:extLst>
              <a:ext uri="{FF2B5EF4-FFF2-40B4-BE49-F238E27FC236}">
                <a16:creationId xmlns:a16="http://schemas.microsoft.com/office/drawing/2014/main" id="{59F05569-F360-12F4-972E-37E66FB6089F}"/>
              </a:ext>
            </a:extLst>
          </p:cNvPr>
          <p:cNvSpPr/>
          <p:nvPr/>
        </p:nvSpPr>
        <p:spPr>
          <a:xfrm>
            <a:off x="3510596" y="3429000"/>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3401A5B-16E1-D8FE-B8F3-EDC4CACDB8AE}"/>
              </a:ext>
            </a:extLst>
          </p:cNvPr>
          <p:cNvSpPr txBox="1"/>
          <p:nvPr/>
        </p:nvSpPr>
        <p:spPr>
          <a:xfrm>
            <a:off x="842837" y="1121134"/>
            <a:ext cx="10463917" cy="341632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机器人路径规划就是在已有的全局或局部环境描述中，在多种约束条件下，根据机器人的任务需要，优化出一条从起始点到终止点的可行路径，使该路径与环境中的障碍物无碰撞，并实现规划路径长度短、机器人行进能耗低、算法计算速度快等优化目标。</a:t>
            </a:r>
          </a:p>
          <a:p>
            <a:pPr algn="just"/>
            <a:r>
              <a:rPr lang="zh-CN" altLang="zh-CN" sz="2400" b="1" kern="1000" dirty="0">
                <a:effectLst/>
                <a:latin typeface="微软雅黑" panose="020B0503020204020204" pitchFamily="34" charset="-122"/>
                <a:ea typeface="微软雅黑" panose="020B0503020204020204" pitchFamily="34" charset="-122"/>
              </a:rPr>
              <a:t>由于机器人所处环境特征不同，以及设计目标的多样性，路径规划问题也有很多不同的分类。根据环境描述的完备性，路径规划问题可以分为环境全部已知的全局路径规划和仅机器人周边环境已知的局部路径规划；根据环境中障碍物的状态，路径规划问题可以分为全部是静态障碍物的静态路径规划和存在运动障碍物的动态路径规划。</a:t>
            </a:r>
            <a:endParaRPr lang="zh-CN" altLang="en-US" sz="2400" dirty="0"/>
          </a:p>
        </p:txBody>
      </p:sp>
    </p:spTree>
    <p:extLst>
      <p:ext uri="{BB962C8B-B14F-4D97-AF65-F5344CB8AC3E}">
        <p14:creationId xmlns:p14="http://schemas.microsoft.com/office/powerpoint/2010/main" val="3354300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008937C-DCEE-0BC6-F8AD-44F96838F368}"/>
              </a:ext>
            </a:extLst>
          </p:cNvPr>
          <p:cNvSpPr txBox="1"/>
          <p:nvPr/>
        </p:nvSpPr>
        <p:spPr>
          <a:xfrm>
            <a:off x="1798568" y="39757"/>
            <a:ext cx="8229600" cy="523220"/>
          </a:xfrm>
          <a:prstGeom prst="rect">
            <a:avLst/>
          </a:prstGeom>
          <a:noFill/>
        </p:spPr>
        <p:txBody>
          <a:bodyPr wrap="square" rtlCol="0">
            <a:spAutoFit/>
          </a:bodyPr>
          <a:lstStyle/>
          <a:p>
            <a:r>
              <a:rPr lang="zh-CN" altLang="en-US" sz="2800" b="1" dirty="0">
                <a:latin typeface="Times New Roman" pitchFamily="18" charset="0"/>
                <a:ea typeface="华文中宋" pitchFamily="2" charset="-122"/>
              </a:rPr>
              <a:t>本章提纲</a:t>
            </a:r>
            <a:endParaRPr lang="zh-CN" altLang="en-US" sz="2800" dirty="0"/>
          </a:p>
        </p:txBody>
      </p:sp>
      <p:sp>
        <p:nvSpPr>
          <p:cNvPr id="5" name="文本框 4">
            <a:extLst>
              <a:ext uri="{FF2B5EF4-FFF2-40B4-BE49-F238E27FC236}">
                <a16:creationId xmlns:a16="http://schemas.microsoft.com/office/drawing/2014/main" id="{92C82DD6-218B-BBC3-53BC-77A8AC07F70E}"/>
              </a:ext>
            </a:extLst>
          </p:cNvPr>
          <p:cNvSpPr txBox="1"/>
          <p:nvPr/>
        </p:nvSpPr>
        <p:spPr>
          <a:xfrm>
            <a:off x="1041621" y="1176793"/>
            <a:ext cx="6265628" cy="1200329"/>
          </a:xfrm>
          <a:prstGeom prst="rect">
            <a:avLst/>
          </a:prstGeom>
          <a:noFill/>
        </p:spPr>
        <p:txBody>
          <a:bodyPr wrap="square">
            <a:spAutoFit/>
          </a:bodyPr>
          <a:lstStyle/>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6.1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地图创建与地形识别</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6.2</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全局路径规划算法</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6.3</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局部路径规划算法</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641852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878299DB-CEF2-8595-6059-F50D8E481567}"/>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6.1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地图创建与地形识别</a:t>
            </a:r>
          </a:p>
        </p:txBody>
      </p:sp>
      <p:sp>
        <p:nvSpPr>
          <p:cNvPr id="10" name="文本框 9">
            <a:extLst>
              <a:ext uri="{FF2B5EF4-FFF2-40B4-BE49-F238E27FC236}">
                <a16:creationId xmlns:a16="http://schemas.microsoft.com/office/drawing/2014/main" id="{942A2320-D625-1FBD-7BAD-9369113990C3}"/>
              </a:ext>
            </a:extLst>
          </p:cNvPr>
          <p:cNvSpPr txBox="1"/>
          <p:nvPr/>
        </p:nvSpPr>
        <p:spPr>
          <a:xfrm>
            <a:off x="755374" y="1023218"/>
            <a:ext cx="10567283" cy="1569660"/>
          </a:xfrm>
          <a:prstGeom prst="rect">
            <a:avLst/>
          </a:prstGeom>
          <a:noFill/>
        </p:spPr>
        <p:txBody>
          <a:bodyPr wrap="square">
            <a:spAutoFit/>
          </a:bodyPr>
          <a:lstStyle/>
          <a:p>
            <a:pPr algn="just"/>
            <a:r>
              <a:rPr lang="en-US" altLang="zh-CN" sz="2400" b="1" kern="1000" spc="-30" dirty="0">
                <a:effectLst/>
                <a:latin typeface="微软雅黑" panose="020B0503020204020204" pitchFamily="34" charset="-122"/>
                <a:ea typeface="微软雅黑" panose="020B0503020204020204" pitchFamily="34" charset="-122"/>
              </a:rPr>
              <a:t>       </a:t>
            </a:r>
            <a:r>
              <a:rPr lang="zh-CN" altLang="zh-CN" sz="2400" b="1" kern="1000" spc="-30" dirty="0">
                <a:effectLst/>
                <a:latin typeface="微软雅黑" panose="020B0503020204020204" pitchFamily="34" charset="-122"/>
                <a:ea typeface="微软雅黑" panose="020B0503020204020204" pitchFamily="34" charset="-122"/>
              </a:rPr>
              <a:t>在机器人路径规划中，首先要已知自身所处的环境，对周围的地图和地形进行识别。因此，机器人在运动之前，为了提高与环境的自主交互能力，要进行地图创建</a:t>
            </a:r>
            <a:r>
              <a:rPr lang="en-US" altLang="zh-CN" sz="2400" b="1" kern="1000" spc="-30" dirty="0">
                <a:effectLst/>
                <a:latin typeface="微软雅黑" panose="020B0503020204020204" pitchFamily="34" charset="-122"/>
                <a:ea typeface="微软雅黑" panose="020B0503020204020204" pitchFamily="34" charset="-122"/>
              </a:rPr>
              <a:t>(</a:t>
            </a:r>
            <a:r>
              <a:rPr lang="zh-CN" altLang="zh-CN" sz="2400" b="1" kern="1000" spc="-30" dirty="0">
                <a:effectLst/>
                <a:latin typeface="微软雅黑" panose="020B0503020204020204" pitchFamily="34" charset="-122"/>
                <a:ea typeface="微软雅黑" panose="020B0503020204020204" pitchFamily="34" charset="-122"/>
              </a:rPr>
              <a:t>环境建模</a:t>
            </a:r>
            <a:r>
              <a:rPr lang="en-US" altLang="zh-CN" sz="2400" b="1" kern="1000" spc="-30" dirty="0">
                <a:effectLst/>
                <a:latin typeface="微软雅黑" panose="020B0503020204020204" pitchFamily="34" charset="-122"/>
                <a:ea typeface="微软雅黑" panose="020B0503020204020204" pitchFamily="34" charset="-122"/>
              </a:rPr>
              <a:t>)</a:t>
            </a:r>
            <a:r>
              <a:rPr lang="zh-CN" altLang="zh-CN" sz="2400" b="1" kern="1000" spc="-30" dirty="0">
                <a:effectLst/>
                <a:latin typeface="微软雅黑" panose="020B0503020204020204" pitchFamily="34" charset="-122"/>
                <a:ea typeface="微软雅黑" panose="020B0503020204020204" pitchFamily="34" charset="-122"/>
              </a:rPr>
              <a:t>。创建地图的目的是供机器人进行自主定位、路径规划等。常用的地图类型情况如图</a:t>
            </a:r>
            <a:r>
              <a:rPr lang="en-US" altLang="zh-CN" sz="2400" b="1" kern="1000" spc="-30" dirty="0">
                <a:effectLst/>
                <a:latin typeface="微软雅黑" panose="020B0503020204020204" pitchFamily="34" charset="-122"/>
                <a:ea typeface="微软雅黑" panose="020B0503020204020204" pitchFamily="34" charset="-122"/>
              </a:rPr>
              <a:t>6.1</a:t>
            </a:r>
            <a:r>
              <a:rPr lang="zh-CN" altLang="zh-CN" sz="2400" b="1" kern="1000" spc="-30" dirty="0">
                <a:effectLst/>
                <a:latin typeface="微软雅黑" panose="020B0503020204020204" pitchFamily="34" charset="-122"/>
                <a:ea typeface="微软雅黑" panose="020B0503020204020204" pitchFamily="34" charset="-122"/>
              </a:rPr>
              <a:t>所示。</a:t>
            </a:r>
            <a:endParaRPr lang="zh-CN" altLang="zh-CN" sz="2400" b="1" kern="1000" dirty="0">
              <a:effectLst/>
              <a:latin typeface="微软雅黑" panose="020B0503020204020204" pitchFamily="34" charset="-122"/>
              <a:ea typeface="微软雅黑" panose="020B0503020204020204" pitchFamily="34" charset="-122"/>
            </a:endParaRPr>
          </a:p>
        </p:txBody>
      </p:sp>
      <p:pic>
        <p:nvPicPr>
          <p:cNvPr id="11" name="图片 21">
            <a:extLst>
              <a:ext uri="{FF2B5EF4-FFF2-40B4-BE49-F238E27FC236}">
                <a16:creationId xmlns:a16="http://schemas.microsoft.com/office/drawing/2014/main" id="{14BFF0BA-1BF5-B32E-F851-06408753AA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987" y="2619954"/>
            <a:ext cx="5395016" cy="329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a:extLst>
              <a:ext uri="{FF2B5EF4-FFF2-40B4-BE49-F238E27FC236}">
                <a16:creationId xmlns:a16="http://schemas.microsoft.com/office/drawing/2014/main" id="{D8019B76-4E9E-7F8F-40F5-D864CCF3727A}"/>
              </a:ext>
            </a:extLst>
          </p:cNvPr>
          <p:cNvSpPr txBox="1"/>
          <p:nvPr/>
        </p:nvSpPr>
        <p:spPr>
          <a:xfrm>
            <a:off x="3034748" y="5910292"/>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6.1  </a:t>
            </a:r>
            <a:r>
              <a:rPr lang="zh-CN" altLang="zh-CN" sz="1800" kern="1000" dirty="0">
                <a:effectLst/>
                <a:latin typeface="Times New Roman" panose="02020603050405020304" pitchFamily="18" charset="0"/>
                <a:ea typeface="宋体" panose="02010600030101010101" pitchFamily="2" charset="-122"/>
              </a:rPr>
              <a:t>地图类型</a:t>
            </a:r>
          </a:p>
        </p:txBody>
      </p:sp>
    </p:spTree>
    <p:extLst>
      <p:ext uri="{BB962C8B-B14F-4D97-AF65-F5344CB8AC3E}">
        <p14:creationId xmlns:p14="http://schemas.microsoft.com/office/powerpoint/2010/main" val="3131850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6.1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地图创建与地形识别</a:t>
            </a:r>
          </a:p>
        </p:txBody>
      </p:sp>
      <p:sp>
        <p:nvSpPr>
          <p:cNvPr id="6" name="文本框 5">
            <a:extLst>
              <a:ext uri="{FF2B5EF4-FFF2-40B4-BE49-F238E27FC236}">
                <a16:creationId xmlns:a16="http://schemas.microsoft.com/office/drawing/2014/main" id="{2A568A60-CA1D-AC0E-1440-597D7BD801D9}"/>
              </a:ext>
            </a:extLst>
          </p:cNvPr>
          <p:cNvSpPr txBox="1"/>
          <p:nvPr/>
        </p:nvSpPr>
        <p:spPr>
          <a:xfrm>
            <a:off x="898497" y="1265040"/>
            <a:ext cx="10042498" cy="156966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拓扑地图在机器人领域中应用较早，其在创建过程中无须精确的距离度量信息，构建简单，如图</a:t>
            </a:r>
            <a:r>
              <a:rPr lang="en-US" altLang="zh-CN" sz="2400" b="1" kern="1000" dirty="0">
                <a:effectLst/>
                <a:latin typeface="微软雅黑" panose="020B0503020204020204" pitchFamily="34" charset="-122"/>
                <a:ea typeface="微软雅黑" panose="020B0503020204020204" pitchFamily="34" charset="-122"/>
              </a:rPr>
              <a:t>6.2</a:t>
            </a:r>
            <a:r>
              <a:rPr lang="zh-CN" altLang="zh-CN" sz="2400" b="1" kern="1000" dirty="0">
                <a:effectLst/>
                <a:latin typeface="微软雅黑" panose="020B0503020204020204" pitchFamily="34" charset="-122"/>
                <a:ea typeface="微软雅黑" panose="020B0503020204020204" pitchFamily="34" charset="-122"/>
              </a:rPr>
              <a:t>所示。然而当环境中存在两个具有相似拓扑结构的区域时，拓扑地图很难对其进行区分，因此其应用存在一定的局限性。</a:t>
            </a:r>
          </a:p>
        </p:txBody>
      </p:sp>
      <p:pic>
        <p:nvPicPr>
          <p:cNvPr id="9" name="图片 4">
            <a:extLst>
              <a:ext uri="{FF2B5EF4-FFF2-40B4-BE49-F238E27FC236}">
                <a16:creationId xmlns:a16="http://schemas.microsoft.com/office/drawing/2014/main" id="{F1A1E9D1-865E-B92D-EE52-183EBDD0F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495" y="2834700"/>
            <a:ext cx="3852862"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5">
            <a:extLst>
              <a:ext uri="{FF2B5EF4-FFF2-40B4-BE49-F238E27FC236}">
                <a16:creationId xmlns:a16="http://schemas.microsoft.com/office/drawing/2014/main" id="{F71204A5-5C48-635D-4A8D-E321FA431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55" y="2833113"/>
            <a:ext cx="3671888"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a:extLst>
              <a:ext uri="{FF2B5EF4-FFF2-40B4-BE49-F238E27FC236}">
                <a16:creationId xmlns:a16="http://schemas.microsoft.com/office/drawing/2014/main" id="{C518AB03-D03A-3083-4514-6F95C3C90EE0}"/>
              </a:ext>
            </a:extLst>
          </p:cNvPr>
          <p:cNvSpPr txBox="1"/>
          <p:nvPr/>
        </p:nvSpPr>
        <p:spPr>
          <a:xfrm>
            <a:off x="2858494" y="5731104"/>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  </a:t>
            </a:r>
            <a:r>
              <a:rPr lang="zh-CN" altLang="zh-CN" sz="1800" kern="1000" dirty="0">
                <a:effectLst/>
                <a:latin typeface="Times New Roman" panose="02020603050405020304" pitchFamily="18" charset="0"/>
                <a:ea typeface="宋体" panose="02010600030101010101" pitchFamily="2" charset="-122"/>
              </a:rPr>
              <a:t>拓扑地图</a:t>
            </a:r>
          </a:p>
        </p:txBody>
      </p:sp>
    </p:spTree>
    <p:extLst>
      <p:ext uri="{BB962C8B-B14F-4D97-AF65-F5344CB8AC3E}">
        <p14:creationId xmlns:p14="http://schemas.microsoft.com/office/powerpoint/2010/main" val="3950617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6.1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地图创建与地形识别</a:t>
            </a:r>
          </a:p>
        </p:txBody>
      </p:sp>
      <p:sp>
        <p:nvSpPr>
          <p:cNvPr id="5" name="文本框 4">
            <a:extLst>
              <a:ext uri="{FF2B5EF4-FFF2-40B4-BE49-F238E27FC236}">
                <a16:creationId xmlns:a16="http://schemas.microsoft.com/office/drawing/2014/main" id="{5BA65503-36D0-E61D-40EB-52EE35FA9259}"/>
              </a:ext>
            </a:extLst>
          </p:cNvPr>
          <p:cNvSpPr txBox="1"/>
          <p:nvPr/>
        </p:nvSpPr>
        <p:spPr>
          <a:xfrm>
            <a:off x="1050897" y="1041621"/>
            <a:ext cx="10090206" cy="1200329"/>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几何地图又称基于特征的地图，它使用全局坐标表示环境中的一些基本几何图元。由于能提供路径规划，机器人定位所需要的度量信息且存储量相对较小，因此其在基于视觉的同步定位与地图创建研究中应用较多。</a:t>
            </a:r>
          </a:p>
        </p:txBody>
      </p:sp>
      <p:pic>
        <p:nvPicPr>
          <p:cNvPr id="2050" name="Picture 2">
            <a:extLst>
              <a:ext uri="{FF2B5EF4-FFF2-40B4-BE49-F238E27FC236}">
                <a16:creationId xmlns:a16="http://schemas.microsoft.com/office/drawing/2014/main" id="{EBDA9C1C-74CC-3AF0-9A0D-AD5E69FA40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5208" y="2358204"/>
            <a:ext cx="7521584" cy="308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43DF6757-D988-5252-EEFD-BDFE5993614B}"/>
              </a:ext>
            </a:extLst>
          </p:cNvPr>
          <p:cNvSpPr txBox="1"/>
          <p:nvPr/>
        </p:nvSpPr>
        <p:spPr>
          <a:xfrm>
            <a:off x="3034748" y="5554946"/>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6.3  </a:t>
            </a:r>
            <a:r>
              <a:rPr lang="zh-CN" altLang="zh-CN" sz="1800" kern="1000" dirty="0">
                <a:effectLst/>
                <a:latin typeface="Times New Roman" panose="02020603050405020304" pitchFamily="18" charset="0"/>
                <a:ea typeface="宋体" panose="02010600030101010101" pitchFamily="2" charset="-122"/>
              </a:rPr>
              <a:t>几何地图</a:t>
            </a:r>
          </a:p>
        </p:txBody>
      </p:sp>
    </p:spTree>
    <p:extLst>
      <p:ext uri="{BB962C8B-B14F-4D97-AF65-F5344CB8AC3E}">
        <p14:creationId xmlns:p14="http://schemas.microsoft.com/office/powerpoint/2010/main" val="2343777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6.1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地图创建与地形识别</a:t>
            </a:r>
          </a:p>
        </p:txBody>
      </p:sp>
      <p:sp>
        <p:nvSpPr>
          <p:cNvPr id="5" name="文本框 4">
            <a:extLst>
              <a:ext uri="{FF2B5EF4-FFF2-40B4-BE49-F238E27FC236}">
                <a16:creationId xmlns:a16="http://schemas.microsoft.com/office/drawing/2014/main" id="{881290D5-786E-5736-2EF2-33DFBBF42C3B}"/>
              </a:ext>
            </a:extLst>
          </p:cNvPr>
          <p:cNvSpPr txBox="1"/>
          <p:nvPr/>
        </p:nvSpPr>
        <p:spPr>
          <a:xfrm>
            <a:off x="874643" y="1168841"/>
            <a:ext cx="10312842" cy="156966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栅格地图如图</a:t>
            </a:r>
            <a:r>
              <a:rPr lang="en-US" altLang="zh-CN" sz="2400" b="1" kern="1000" dirty="0">
                <a:effectLst/>
                <a:latin typeface="微软雅黑" panose="020B0503020204020204" pitchFamily="34" charset="-122"/>
                <a:ea typeface="微软雅黑" panose="020B0503020204020204" pitchFamily="34" charset="-122"/>
              </a:rPr>
              <a:t>6.4</a:t>
            </a:r>
            <a:r>
              <a:rPr lang="zh-CN" altLang="zh-CN" sz="2400" b="1" kern="1000" dirty="0">
                <a:effectLst/>
                <a:latin typeface="微软雅黑" panose="020B0503020204020204" pitchFamily="34" charset="-122"/>
                <a:ea typeface="微软雅黑" panose="020B0503020204020204" pitchFamily="34" charset="-122"/>
              </a:rPr>
              <a:t>所示，是对传统几何地图的离散化表示，它将空间表示成连续的区域，每个栅格代表了固定区域的大小且可以用于记录不同的信息，但其缺点为占用的数据量相对较大，对于大场景下的机器人自主导航任务，较难适应。</a:t>
            </a:r>
          </a:p>
        </p:txBody>
      </p:sp>
      <p:pic>
        <p:nvPicPr>
          <p:cNvPr id="3074" name="Picture 2">
            <a:extLst>
              <a:ext uri="{FF2B5EF4-FFF2-40B4-BE49-F238E27FC236}">
                <a16:creationId xmlns:a16="http://schemas.microsoft.com/office/drawing/2014/main" id="{90AB8FCD-8FD7-C2CC-7835-4D5B703D52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9038" y="2738501"/>
            <a:ext cx="6735774" cy="241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D5531367-81B7-C7B5-3BD1-0C9D5C184BF9}"/>
              </a:ext>
            </a:extLst>
          </p:cNvPr>
          <p:cNvSpPr txBox="1"/>
          <p:nvPr/>
        </p:nvSpPr>
        <p:spPr>
          <a:xfrm>
            <a:off x="3205673" y="5319827"/>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6.4  </a:t>
            </a:r>
            <a:r>
              <a:rPr lang="zh-CN" altLang="zh-CN" sz="1800" kern="1000" dirty="0">
                <a:effectLst/>
                <a:latin typeface="Times New Roman" panose="02020603050405020304" pitchFamily="18" charset="0"/>
                <a:ea typeface="宋体" panose="02010600030101010101" pitchFamily="2" charset="-122"/>
              </a:rPr>
              <a:t>栅格地图</a:t>
            </a:r>
          </a:p>
        </p:txBody>
      </p:sp>
    </p:spTree>
    <p:extLst>
      <p:ext uri="{BB962C8B-B14F-4D97-AF65-F5344CB8AC3E}">
        <p14:creationId xmlns:p14="http://schemas.microsoft.com/office/powerpoint/2010/main" val="3267985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6.1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地图创建与地形识别</a:t>
            </a:r>
          </a:p>
        </p:txBody>
      </p:sp>
      <p:sp>
        <p:nvSpPr>
          <p:cNvPr id="5" name="文本框 4">
            <a:extLst>
              <a:ext uri="{FF2B5EF4-FFF2-40B4-BE49-F238E27FC236}">
                <a16:creationId xmlns:a16="http://schemas.microsoft.com/office/drawing/2014/main" id="{50AC6F3B-F8CF-AC7F-869D-08AC70E44C70}"/>
              </a:ext>
            </a:extLst>
          </p:cNvPr>
          <p:cNvSpPr txBox="1"/>
          <p:nvPr/>
        </p:nvSpPr>
        <p:spPr>
          <a:xfrm>
            <a:off x="895540" y="1106015"/>
            <a:ext cx="9811910" cy="156966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随着四足机器人技术的研究逐步由结构化环境转向非结构化环境，上述平面地图已经较难适用于复杂环境下机器人环境感知的要求。与之相比，三维环境地图</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如图</a:t>
            </a:r>
            <a:r>
              <a:rPr lang="en-US" altLang="zh-CN" sz="2400" b="1" kern="1000" dirty="0">
                <a:effectLst/>
                <a:latin typeface="微软雅黑" panose="020B0503020204020204" pitchFamily="34" charset="-122"/>
                <a:ea typeface="微软雅黑" panose="020B0503020204020204" pitchFamily="34" charset="-122"/>
              </a:rPr>
              <a:t>6.5</a:t>
            </a:r>
            <a:r>
              <a:rPr lang="zh-CN" altLang="zh-CN" sz="2400" b="1" kern="1000" dirty="0">
                <a:effectLst/>
                <a:latin typeface="微软雅黑" panose="020B0503020204020204" pitchFamily="34" charset="-122"/>
                <a:ea typeface="微软雅黑" panose="020B0503020204020204" pitchFamily="34" charset="-122"/>
              </a:rPr>
              <a:t>所示</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由于记录了更加丰富的环境信息，现在成了机器人领域更为常用的环境表示方式。</a:t>
            </a:r>
          </a:p>
        </p:txBody>
      </p:sp>
      <p:pic>
        <p:nvPicPr>
          <p:cNvPr id="4098" name="图片 58">
            <a:extLst>
              <a:ext uri="{FF2B5EF4-FFF2-40B4-BE49-F238E27FC236}">
                <a16:creationId xmlns:a16="http://schemas.microsoft.com/office/drawing/2014/main" id="{1A03DAB3-F32C-09B1-C5E5-6E780352D8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539" y="2939089"/>
            <a:ext cx="2238176" cy="223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图片 57">
            <a:extLst>
              <a:ext uri="{FF2B5EF4-FFF2-40B4-BE49-F238E27FC236}">
                <a16:creationId xmlns:a16="http://schemas.microsoft.com/office/drawing/2014/main" id="{158CEFF6-6107-A6CF-1107-BF3C5D601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267"/>
          <a:stretch>
            <a:fillRect/>
          </a:stretch>
        </p:blipFill>
        <p:spPr bwMode="auto">
          <a:xfrm>
            <a:off x="3323037" y="2939090"/>
            <a:ext cx="2238176" cy="223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图片 56">
            <a:extLst>
              <a:ext uri="{FF2B5EF4-FFF2-40B4-BE49-F238E27FC236}">
                <a16:creationId xmlns:a16="http://schemas.microsoft.com/office/drawing/2014/main" id="{6ADED827-7216-37D9-9B58-7C61AFD768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0534" y="2939090"/>
            <a:ext cx="2308771" cy="2308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图片 55">
            <a:extLst>
              <a:ext uri="{FF2B5EF4-FFF2-40B4-BE49-F238E27FC236}">
                <a16:creationId xmlns:a16="http://schemas.microsoft.com/office/drawing/2014/main" id="{15E20CF8-9F82-BCE3-292A-43EDFDC282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52960" y="2939090"/>
            <a:ext cx="2238177" cy="2238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96E40C4A-9A2B-A661-5965-649A6F638AF0}"/>
              </a:ext>
            </a:extLst>
          </p:cNvPr>
          <p:cNvSpPr txBox="1"/>
          <p:nvPr/>
        </p:nvSpPr>
        <p:spPr>
          <a:xfrm>
            <a:off x="1221847" y="5440679"/>
            <a:ext cx="1441840" cy="369332"/>
          </a:xfrm>
          <a:prstGeom prst="rect">
            <a:avLst/>
          </a:prstGeom>
          <a:noFill/>
        </p:spPr>
        <p:txBody>
          <a:bodyPr wrap="square">
            <a:spAutoFit/>
          </a:bodyPr>
          <a:lstStyle/>
          <a:p>
            <a:r>
              <a:rPr lang="en-US" altLang="zh-CN" kern="1000" dirty="0">
                <a:effectLst/>
                <a:latin typeface="宋体" panose="02010600030101010101" pitchFamily="2" charset="-122"/>
                <a:cs typeface="Times New Roman" panose="02020603050405020304" pitchFamily="18" charset="0"/>
              </a:rPr>
              <a:t>(</a:t>
            </a:r>
            <a:r>
              <a:rPr lang="en-US" altLang="zh-CN" kern="1000" dirty="0">
                <a:effectLst/>
                <a:latin typeface="Times New Roman" panose="02020603050405020304" pitchFamily="18" charset="0"/>
                <a:ea typeface="宋体" panose="02010600030101010101" pitchFamily="2" charset="-122"/>
              </a:rPr>
              <a:t>a</a:t>
            </a:r>
            <a:r>
              <a:rPr lang="en-US" altLang="zh-CN" kern="1000" dirty="0">
                <a:effectLst/>
                <a:latin typeface="宋体" panose="02010600030101010101" pitchFamily="2" charset="-122"/>
                <a:cs typeface="Times New Roman" panose="02020603050405020304" pitchFamily="18" charset="0"/>
              </a:rPr>
              <a:t>)</a:t>
            </a:r>
            <a:r>
              <a:rPr lang="zh-CN" altLang="zh-CN" kern="1000" dirty="0">
                <a:effectLst/>
                <a:latin typeface="Times New Roman" panose="02020603050405020304" pitchFamily="18" charset="0"/>
                <a:ea typeface="宋体" panose="02010600030101010101" pitchFamily="2" charset="-122"/>
                <a:cs typeface="Times New Roman" panose="02020603050405020304" pitchFamily="18" charset="0"/>
              </a:rPr>
              <a:t>原始数据</a:t>
            </a:r>
            <a:r>
              <a:rPr lang="zh-CN" altLang="zh-CN" kern="1000" dirty="0">
                <a:effectLst/>
                <a:ea typeface="Times New Roman" panose="02020603050405020304" pitchFamily="18" charset="0"/>
              </a:rPr>
              <a:t> </a:t>
            </a:r>
            <a:endParaRPr lang="zh-CN" altLang="en-US" sz="4800" dirty="0"/>
          </a:p>
        </p:txBody>
      </p:sp>
      <p:sp>
        <p:nvSpPr>
          <p:cNvPr id="14" name="文本框 13">
            <a:extLst>
              <a:ext uri="{FF2B5EF4-FFF2-40B4-BE49-F238E27FC236}">
                <a16:creationId xmlns:a16="http://schemas.microsoft.com/office/drawing/2014/main" id="{D9875E9C-4ECA-5878-D36D-112BC46EE8E7}"/>
              </a:ext>
            </a:extLst>
          </p:cNvPr>
          <p:cNvSpPr txBox="1"/>
          <p:nvPr/>
        </p:nvSpPr>
        <p:spPr>
          <a:xfrm>
            <a:off x="3323036" y="5440679"/>
            <a:ext cx="2238177" cy="369332"/>
          </a:xfrm>
          <a:prstGeom prst="rect">
            <a:avLst/>
          </a:prstGeom>
          <a:noFill/>
        </p:spPr>
        <p:txBody>
          <a:bodyPr wrap="square">
            <a:spAutoFit/>
          </a:bodyPr>
          <a:lstStyle/>
          <a:p>
            <a:pPr algn="ctr" eaLnBrk="1" hangingPunct="1">
              <a:spcBef>
                <a:spcPct val="0"/>
              </a:spcBef>
              <a:buClrTx/>
              <a:buSzTx/>
              <a:buFontTx/>
              <a:buNone/>
            </a:pPr>
            <a:r>
              <a:rPr lang="en-US" altLang="zh-CN" sz="1800" dirty="0">
                <a:latin typeface="宋体" panose="02010600030101010101" pitchFamily="2" charset="-122"/>
                <a:ea typeface="宋体" panose="02010600030101010101" pitchFamily="2" charset="-122"/>
              </a:rPr>
              <a:t>(b) </a:t>
            </a:r>
            <a:r>
              <a:rPr lang="zh-CN" altLang="zh-CN" sz="1800" dirty="0">
                <a:latin typeface="宋体" panose="02010600030101010101" pitchFamily="2" charset="-122"/>
                <a:ea typeface="宋体" panose="02010600030101010101" pitchFamily="2" charset="-122"/>
                <a:cs typeface="Times New Roman" panose="02020603050405020304" pitchFamily="18" charset="0"/>
              </a:rPr>
              <a:t>三维栅格地图</a:t>
            </a:r>
            <a:endParaRPr lang="zh-CN" altLang="en-US" sz="1800" dirty="0">
              <a:latin typeface="宋体" panose="02010600030101010101" pitchFamily="2" charset="-122"/>
              <a:ea typeface="宋体" panose="02010600030101010101" pitchFamily="2" charset="-122"/>
            </a:endParaRPr>
          </a:p>
        </p:txBody>
      </p:sp>
      <p:sp>
        <p:nvSpPr>
          <p:cNvPr id="16" name="文本框 15">
            <a:extLst>
              <a:ext uri="{FF2B5EF4-FFF2-40B4-BE49-F238E27FC236}">
                <a16:creationId xmlns:a16="http://schemas.microsoft.com/office/drawing/2014/main" id="{54A7B4D6-E08F-93FE-F96C-60C13508FA27}"/>
              </a:ext>
            </a:extLst>
          </p:cNvPr>
          <p:cNvSpPr txBox="1"/>
          <p:nvPr/>
        </p:nvSpPr>
        <p:spPr>
          <a:xfrm>
            <a:off x="5926005" y="5440679"/>
            <a:ext cx="1957828" cy="369332"/>
          </a:xfrm>
          <a:prstGeom prst="rect">
            <a:avLst/>
          </a:prstGeom>
          <a:noFill/>
        </p:spPr>
        <p:txBody>
          <a:bodyPr wrap="square">
            <a:spAutoFit/>
          </a:bodyPr>
          <a:lstStyle/>
          <a:p>
            <a:pPr algn="ctr" eaLnBrk="1" hangingPunct="1">
              <a:defRPr/>
            </a:pPr>
            <a:r>
              <a:rPr lang="en-US" altLang="zh-CN" sz="1800" dirty="0">
                <a:latin typeface="+mn-ea"/>
                <a:ea typeface="+mn-ea"/>
              </a:rPr>
              <a:t> </a:t>
            </a:r>
            <a:r>
              <a:rPr lang="en-US" altLang="zh-CN" sz="1800" dirty="0">
                <a:latin typeface="+mn-lt"/>
                <a:ea typeface="+mn-ea"/>
              </a:rPr>
              <a:t>(c)</a:t>
            </a:r>
            <a:r>
              <a:rPr lang="zh-CN" altLang="zh-CN" sz="1800" dirty="0">
                <a:latin typeface="+mn-ea"/>
                <a:ea typeface="+mn-ea"/>
                <a:cs typeface="Times New Roman" panose="02020603050405020304" pitchFamily="18" charset="0"/>
              </a:rPr>
              <a:t>高程地图</a:t>
            </a:r>
            <a:endParaRPr lang="zh-CN" altLang="en-US" sz="1800" dirty="0">
              <a:latin typeface="+mn-ea"/>
              <a:ea typeface="+mn-ea"/>
            </a:endParaRPr>
          </a:p>
        </p:txBody>
      </p:sp>
      <p:sp>
        <p:nvSpPr>
          <p:cNvPr id="18" name="文本框 17">
            <a:extLst>
              <a:ext uri="{FF2B5EF4-FFF2-40B4-BE49-F238E27FC236}">
                <a16:creationId xmlns:a16="http://schemas.microsoft.com/office/drawing/2014/main" id="{B41526D3-62A8-3DC9-BD10-C0325533482A}"/>
              </a:ext>
            </a:extLst>
          </p:cNvPr>
          <p:cNvSpPr txBox="1"/>
          <p:nvPr/>
        </p:nvSpPr>
        <p:spPr>
          <a:xfrm>
            <a:off x="8207489" y="5440679"/>
            <a:ext cx="2499961" cy="369332"/>
          </a:xfrm>
          <a:prstGeom prst="rect">
            <a:avLst/>
          </a:prstGeom>
          <a:noFill/>
        </p:spPr>
        <p:txBody>
          <a:bodyPr wrap="square">
            <a:spAutoFit/>
          </a:bodyPr>
          <a:lstStyle/>
          <a:p>
            <a:pPr algn="ctr" eaLnBrk="1" hangingPunct="1">
              <a:defRPr/>
            </a:pPr>
            <a:r>
              <a:rPr lang="en-US" altLang="zh-CN" sz="1800" dirty="0">
                <a:latin typeface="+mn-lt"/>
                <a:ea typeface="+mn-ea"/>
              </a:rPr>
              <a:t>(d)</a:t>
            </a:r>
            <a:r>
              <a:rPr lang="zh-CN" altLang="zh-CN" sz="1800" dirty="0">
                <a:latin typeface="+mn-lt"/>
                <a:ea typeface="+mn-ea"/>
                <a:cs typeface="Times New Roman" panose="02020603050405020304" pitchFamily="18" charset="0"/>
              </a:rPr>
              <a:t>多层地图</a:t>
            </a:r>
            <a:endParaRPr lang="zh-CN" altLang="en-US" sz="1800" dirty="0">
              <a:latin typeface="+mn-lt"/>
              <a:ea typeface="+mn-ea"/>
            </a:endParaRPr>
          </a:p>
        </p:txBody>
      </p:sp>
      <p:sp>
        <p:nvSpPr>
          <p:cNvPr id="21" name="文本框 20">
            <a:extLst>
              <a:ext uri="{FF2B5EF4-FFF2-40B4-BE49-F238E27FC236}">
                <a16:creationId xmlns:a16="http://schemas.microsoft.com/office/drawing/2014/main" id="{F9FFE12F-ADCC-E75A-CA11-CED51E27465E}"/>
              </a:ext>
            </a:extLst>
          </p:cNvPr>
          <p:cNvSpPr txBox="1"/>
          <p:nvPr/>
        </p:nvSpPr>
        <p:spPr>
          <a:xfrm>
            <a:off x="2864753" y="6002829"/>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6.5  </a:t>
            </a:r>
            <a:r>
              <a:rPr lang="zh-CN" altLang="zh-CN" sz="1800" kern="1000" dirty="0">
                <a:effectLst/>
                <a:latin typeface="Times New Roman" panose="02020603050405020304" pitchFamily="18" charset="0"/>
                <a:ea typeface="宋体" panose="02010600030101010101" pitchFamily="2" charset="-122"/>
              </a:rPr>
              <a:t>三维地图表示方法</a:t>
            </a:r>
          </a:p>
        </p:txBody>
      </p:sp>
    </p:spTree>
    <p:extLst>
      <p:ext uri="{BB962C8B-B14F-4D97-AF65-F5344CB8AC3E}">
        <p14:creationId xmlns:p14="http://schemas.microsoft.com/office/powerpoint/2010/main" val="421781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2CB65B2-7A62-25C6-62B2-B26B64073A7E}"/>
                  </a:ext>
                </a:extLst>
              </p:cNvPr>
              <p:cNvSpPr txBox="1"/>
              <p:nvPr/>
            </p:nvSpPr>
            <p:spPr>
              <a:xfrm>
                <a:off x="1009816" y="1192696"/>
                <a:ext cx="10352598" cy="5262979"/>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全局路径规划是指在机器人所处环境全部已知的情况下，对环境建立地图描述，并通过多种搜索算法在建立的环境地图描述中搜索无碰撞优化路径。</a:t>
                </a:r>
              </a:p>
              <a:p>
                <a:pPr algn="just"/>
                <a:r>
                  <a:rPr lang="zh-CN" altLang="zh-CN" sz="2400" b="1" kern="1000" dirty="0">
                    <a:effectLst/>
                    <a:latin typeface="微软雅黑" panose="020B0503020204020204" pitchFamily="34" charset="-122"/>
                    <a:ea typeface="微软雅黑" panose="020B0503020204020204" pitchFamily="34" charset="-122"/>
                  </a:rPr>
                  <a:t>全局路径规划过程中常用的算法有栅格法、可视图法、自由空间法等，常用的路径搜索算法有基于图的搜索算法、基于采样的路径规划算法等。</a:t>
                </a:r>
              </a:p>
              <a:p>
                <a:pPr algn="just"/>
                <a:r>
                  <a:rPr lang="zh-CN" altLang="zh-CN" sz="2400" b="1" kern="1000" dirty="0">
                    <a:effectLst/>
                    <a:latin typeface="微软雅黑" panose="020B0503020204020204" pitchFamily="34" charset="-122"/>
                    <a:ea typeface="微软雅黑" panose="020B0503020204020204" pitchFamily="34" charset="-122"/>
                  </a:rPr>
                  <a:t>基于图的搜索算法包括</a:t>
                </a:r>
                <a:r>
                  <a:rPr lang="en-US" altLang="zh-CN" sz="2400" b="1" kern="1000" dirty="0">
                    <a:effectLst/>
                    <a:latin typeface="微软雅黑" panose="020B0503020204020204" pitchFamily="34" charset="-122"/>
                    <a:ea typeface="微软雅黑" panose="020B0503020204020204" pitchFamily="34" charset="-122"/>
                  </a:rPr>
                  <a:t>Dijkstra</a:t>
                </a:r>
                <a:r>
                  <a:rPr lang="zh-CN" altLang="zh-CN" sz="2400" b="1" kern="1000" dirty="0">
                    <a:effectLst/>
                    <a:latin typeface="微软雅黑" panose="020B0503020204020204" pitchFamily="34" charset="-122"/>
                    <a:ea typeface="微软雅黑" panose="020B0503020204020204" pitchFamily="34" charset="-122"/>
                  </a:rPr>
                  <a:t>算法、</a:t>
                </a:r>
                <a:r>
                  <a:rPr lang="en-US" altLang="zh-CN" sz="2400" b="1" kern="1000" dirty="0">
                    <a:effectLst/>
                    <a:latin typeface="微软雅黑" panose="020B0503020204020204" pitchFamily="34" charset="-122"/>
                    <a:ea typeface="微软雅黑" panose="020B0503020204020204" pitchFamily="34" charset="-122"/>
                  </a:rPr>
                  <a:t>A*</a:t>
                </a:r>
                <a:r>
                  <a:rPr lang="zh-CN" altLang="zh-CN" sz="2400" b="1" kern="1000" dirty="0">
                    <a:effectLst/>
                    <a:latin typeface="微软雅黑" panose="020B0503020204020204" pitchFamily="34" charset="-122"/>
                    <a:ea typeface="微软雅黑" panose="020B0503020204020204" pitchFamily="34" charset="-122"/>
                  </a:rPr>
                  <a:t>算法、</a:t>
                </a:r>
                <a:r>
                  <a:rPr lang="en-US" altLang="zh-CN" sz="2400" b="1" kern="1000" dirty="0">
                    <a:effectLst/>
                    <a:latin typeface="微软雅黑" panose="020B0503020204020204" pitchFamily="34" charset="-122"/>
                    <a:ea typeface="微软雅黑" panose="020B0503020204020204" pitchFamily="34" charset="-122"/>
                  </a:rPr>
                  <a:t>D*</a:t>
                </a:r>
                <a:r>
                  <a:rPr lang="zh-CN" altLang="zh-CN" sz="2400" b="1" kern="1000" dirty="0">
                    <a:effectLst/>
                    <a:latin typeface="微软雅黑" panose="020B0503020204020204" pitchFamily="34" charset="-122"/>
                    <a:ea typeface="微软雅黑" panose="020B0503020204020204" pitchFamily="34" charset="-122"/>
                  </a:rPr>
                  <a:t>算法等。</a:t>
                </a:r>
                <a:r>
                  <a:rPr lang="en-US" altLang="zh-CN" sz="2400" b="1" kern="1000" dirty="0">
                    <a:effectLst/>
                    <a:latin typeface="微软雅黑" panose="020B0503020204020204" pitchFamily="34" charset="-122"/>
                    <a:ea typeface="微软雅黑" panose="020B0503020204020204" pitchFamily="34" charset="-122"/>
                  </a:rPr>
                  <a:t>Dijkstra</a:t>
                </a:r>
                <a:r>
                  <a:rPr lang="zh-CN" altLang="zh-CN" sz="2400" b="1" kern="1000" dirty="0">
                    <a:effectLst/>
                    <a:latin typeface="微软雅黑" panose="020B0503020204020204" pitchFamily="34" charset="-122"/>
                    <a:ea typeface="微软雅黑" panose="020B0503020204020204" pitchFamily="34" charset="-122"/>
                  </a:rPr>
                  <a:t>算法采用贪心搜索的思想，搜索从起始点到当前节点花费代价最小的路径。</a:t>
                </a:r>
                <a:r>
                  <a:rPr lang="en-US" altLang="zh-CN" sz="2400" b="1" kern="1000" dirty="0">
                    <a:effectLst/>
                    <a:latin typeface="微软雅黑" panose="020B0503020204020204" pitchFamily="34" charset="-122"/>
                    <a:ea typeface="微软雅黑" panose="020B0503020204020204" pitchFamily="34" charset="-122"/>
                  </a:rPr>
                  <a:t>Dijkstra</a:t>
                </a:r>
                <a:r>
                  <a:rPr lang="zh-CN" altLang="zh-CN" sz="2400" b="1" kern="1000" dirty="0">
                    <a:effectLst/>
                    <a:latin typeface="微软雅黑" panose="020B0503020204020204" pitchFamily="34" charset="-122"/>
                    <a:ea typeface="微软雅黑" panose="020B0503020204020204" pitchFamily="34" charset="-122"/>
                  </a:rPr>
                  <a:t>算法能够找到两点之间的最短路径。</a:t>
                </a:r>
                <a:r>
                  <a:rPr lang="en-US" altLang="zh-CN" sz="2400" b="1" kern="1000" dirty="0">
                    <a:effectLst/>
                    <a:latin typeface="微软雅黑" panose="020B0503020204020204" pitchFamily="34" charset="-122"/>
                    <a:ea typeface="微软雅黑" panose="020B0503020204020204" pitchFamily="34" charset="-122"/>
                  </a:rPr>
                  <a:t>A*</a:t>
                </a:r>
                <a:r>
                  <a:rPr lang="zh-CN" altLang="zh-CN" sz="2400" b="1" kern="1000" dirty="0">
                    <a:effectLst/>
                    <a:latin typeface="微软雅黑" panose="020B0503020204020204" pitchFamily="34" charset="-122"/>
                    <a:ea typeface="微软雅黑" panose="020B0503020204020204" pitchFamily="34" charset="-122"/>
                  </a:rPr>
                  <a:t>算法通过引入启发函数，计算机器人距起始点和终止点的距离和，使得该算法在能够找到两点之间最短路径的同时，拥有比</a:t>
                </a:r>
                <a:r>
                  <a:rPr lang="en-US" altLang="zh-CN" sz="2400" b="1" kern="1000" dirty="0">
                    <a:effectLst/>
                    <a:latin typeface="微软雅黑" panose="020B0503020204020204" pitchFamily="34" charset="-122"/>
                    <a:ea typeface="微软雅黑" panose="020B0503020204020204" pitchFamily="34" charset="-122"/>
                  </a:rPr>
                  <a:t>Dijkstra</a:t>
                </a:r>
                <a:r>
                  <a:rPr lang="zh-CN" altLang="zh-CN" sz="2400" b="1" kern="1000" dirty="0">
                    <a:effectLst/>
                    <a:latin typeface="微软雅黑" panose="020B0503020204020204" pitchFamily="34" charset="-122"/>
                    <a:ea typeface="微软雅黑" panose="020B0503020204020204" pitchFamily="34" charset="-122"/>
                  </a:rPr>
                  <a:t>算法更高的搜索效率。</a:t>
                </a:r>
              </a:p>
              <a:p>
                <a:pPr algn="just"/>
                <a:r>
                  <a:rPr lang="zh-CN" altLang="zh-CN" sz="2400" b="1" kern="1000" spc="20" dirty="0">
                    <a:effectLst/>
                    <a:latin typeface="微软雅黑" panose="020B0503020204020204" pitchFamily="34" charset="-122"/>
                    <a:ea typeface="微软雅黑" panose="020B0503020204020204" pitchFamily="34" charset="-122"/>
                  </a:rPr>
                  <a:t>其中，基于采样的路径规划算法有概率路标法</a:t>
                </a:r>
                <a:r>
                  <a:rPr lang="en-US" altLang="zh-CN" sz="2400" b="1" kern="1000" spc="20" dirty="0">
                    <a:effectLst/>
                    <a:latin typeface="微软雅黑" panose="020B0503020204020204" pitchFamily="34" charset="-122"/>
                    <a:ea typeface="微软雅黑" panose="020B0503020204020204" pitchFamily="34" charset="-122"/>
                  </a:rPr>
                  <a:t>(Probabilistic RoadMap</a:t>
                </a:r>
                <a:r>
                  <a:rPr lang="zh-CN" altLang="zh-CN" sz="2400" b="1" kern="1000" spc="20" dirty="0">
                    <a:effectLst/>
                    <a:latin typeface="微软雅黑" panose="020B0503020204020204" pitchFamily="34" charset="-122"/>
                    <a:ea typeface="微软雅黑" panose="020B0503020204020204" pitchFamily="34" charset="-122"/>
                  </a:rPr>
                  <a:t>，</a:t>
                </a:r>
                <a:r>
                  <a:rPr lang="en-US" altLang="zh-CN" sz="2400" b="1" kern="1000" spc="20" dirty="0">
                    <a:effectLst/>
                    <a:latin typeface="微软雅黑" panose="020B0503020204020204" pitchFamily="34" charset="-122"/>
                    <a:ea typeface="微软雅黑" panose="020B0503020204020204" pitchFamily="34" charset="-122"/>
                  </a:rPr>
                  <a:t>PRM)</a:t>
                </a:r>
                <a:r>
                  <a:rPr lang="zh-CN" altLang="zh-CN" sz="2400" b="1" kern="1000" spc="20" dirty="0">
                    <a:effectLst/>
                    <a:latin typeface="微软雅黑" panose="020B0503020204020204" pitchFamily="34" charset="-122"/>
                    <a:ea typeface="微软雅黑" panose="020B0503020204020204" pitchFamily="34" charset="-122"/>
                  </a:rPr>
                  <a:t>和快速扩展随机树算法</a:t>
                </a:r>
                <a:r>
                  <a:rPr lang="en-US" altLang="zh-CN" sz="2400" b="1" kern="1000" spc="20" dirty="0">
                    <a:effectLst/>
                    <a:latin typeface="微软雅黑" panose="020B0503020204020204" pitchFamily="34" charset="-122"/>
                    <a:ea typeface="微软雅黑" panose="020B0503020204020204" pitchFamily="34" charset="-122"/>
                  </a:rPr>
                  <a:t>(Rapidly exploring Random Tree</a:t>
                </a:r>
                <a:r>
                  <a:rPr lang="zh-CN" altLang="zh-CN" sz="2400" b="1" kern="1000" spc="20" dirty="0">
                    <a:effectLst/>
                    <a:latin typeface="微软雅黑" panose="020B0503020204020204" pitchFamily="34" charset="-122"/>
                    <a:ea typeface="微软雅黑" panose="020B0503020204020204" pitchFamily="34" charset="-122"/>
                  </a:rPr>
                  <a:t>，</a:t>
                </a:r>
                <a:r>
                  <a:rPr lang="en-US" altLang="zh-CN" sz="2400" b="1" kern="1000" spc="20" dirty="0">
                    <a:effectLst/>
                    <a:latin typeface="微软雅黑" panose="020B0503020204020204" pitchFamily="34" charset="-122"/>
                    <a:ea typeface="微软雅黑" panose="020B0503020204020204" pitchFamily="34" charset="-122"/>
                  </a:rPr>
                  <a:t>RRT)</a:t>
                </a:r>
                <a:r>
                  <a:rPr lang="zh-CN" altLang="zh-CN" sz="2400" b="1" kern="1000" spc="20" dirty="0">
                    <a:effectLst/>
                    <a:latin typeface="微软雅黑" panose="020B0503020204020204" pitchFamily="34" charset="-122"/>
                    <a:ea typeface="微软雅黑" panose="020B0503020204020204" pitchFamily="34" charset="-122"/>
                  </a:rPr>
                  <a:t>。概率路标法</a:t>
                </a:r>
                <a:r>
                  <a:rPr lang="en-US" altLang="zh-CN" sz="2400" b="1" kern="1000" spc="20" dirty="0">
                    <a:effectLst/>
                    <a:latin typeface="微软雅黑" panose="020B0503020204020204" pitchFamily="34" charset="-122"/>
                    <a:ea typeface="微软雅黑" panose="020B0503020204020204" pitchFamily="34" charset="-122"/>
                  </a:rPr>
                  <a:t>(</a:t>
                </a:r>
                <a:r>
                  <a:rPr lang="zh-CN" altLang="zh-CN" sz="2400" b="1" kern="1000" spc="20" dirty="0">
                    <a:effectLst/>
                    <a:latin typeface="微软雅黑" panose="020B0503020204020204" pitchFamily="34" charset="-122"/>
                    <a:ea typeface="微软雅黑" panose="020B0503020204020204" pitchFamily="34" charset="-122"/>
                  </a:rPr>
                  <a:t>如图</a:t>
                </a:r>
                <a:r>
                  <a:rPr lang="en-US" altLang="zh-CN" sz="2400" b="1" kern="1000" spc="20" dirty="0">
                    <a:effectLst/>
                    <a:latin typeface="微软雅黑" panose="020B0503020204020204" pitchFamily="34" charset="-122"/>
                    <a:ea typeface="微软雅黑" panose="020B0503020204020204" pitchFamily="34" charset="-122"/>
                  </a:rPr>
                  <a:t>6.6</a:t>
                </a:r>
                <a:r>
                  <a:rPr lang="zh-CN" altLang="zh-CN" sz="2400" b="1" kern="1000" spc="20" dirty="0">
                    <a:effectLst/>
                    <a:latin typeface="微软雅黑" panose="020B0503020204020204" pitchFamily="34" charset="-122"/>
                    <a:ea typeface="微软雅黑" panose="020B0503020204020204" pitchFamily="34" charset="-122"/>
                  </a:rPr>
                  <a:t>所示</a:t>
                </a:r>
                <a:r>
                  <a:rPr lang="en-US" altLang="zh-CN" sz="2400" b="1" kern="1000" spc="20" dirty="0">
                    <a:effectLst/>
                    <a:latin typeface="微软雅黑" panose="020B0503020204020204" pitchFamily="34" charset="-122"/>
                    <a:ea typeface="微软雅黑" panose="020B0503020204020204" pitchFamily="34" charset="-122"/>
                  </a:rPr>
                  <a:t>)</a:t>
                </a:r>
                <a:r>
                  <a:rPr lang="zh-CN" altLang="zh-CN" sz="2400" b="1" kern="1000" spc="20" dirty="0">
                    <a:effectLst/>
                    <a:latin typeface="微软雅黑" panose="020B0503020204020204" pitchFamily="34" charset="-122"/>
                    <a:ea typeface="微软雅黑" panose="020B0503020204020204" pitchFamily="34" charset="-122"/>
                  </a:rPr>
                  <a:t>首先在状态空间中进行采样，获取</a:t>
                </a:r>
                <a14:m>
                  <m:oMath xmlns:m="http://schemas.openxmlformats.org/officeDocument/2006/math">
                    <m:r>
                      <a:rPr lang="en-US" altLang="zh-CN" sz="2400" b="1" i="1" kern="1000" spc="20" smtClean="0">
                        <a:effectLst/>
                        <a:latin typeface="Cambria Math" panose="02040503050406030204" pitchFamily="18" charset="0"/>
                        <a:ea typeface="宋体" panose="02010600030101010101" pitchFamily="2" charset="-122"/>
                      </a:rPr>
                      <m:t>𝒏</m:t>
                    </m:r>
                  </m:oMath>
                </a14:m>
                <a:r>
                  <a:rPr lang="zh-CN" altLang="zh-CN" sz="2400" b="1" kern="1000" spc="20" dirty="0">
                    <a:effectLst/>
                    <a:latin typeface="微软雅黑" panose="020B0503020204020204" pitchFamily="34" charset="-122"/>
                    <a:ea typeface="微软雅黑" panose="020B0503020204020204" pitchFamily="34" charset="-122"/>
                  </a:rPr>
                  <a:t>个采样点，之后将</a:t>
                </a:r>
                <a14:m>
                  <m:oMath xmlns:m="http://schemas.openxmlformats.org/officeDocument/2006/math">
                    <m:r>
                      <a:rPr lang="en-US" altLang="zh-CN" sz="2400" b="1" i="1" kern="1000" spc="20" smtClean="0">
                        <a:effectLst/>
                        <a:latin typeface="Cambria Math" panose="02040503050406030204" pitchFamily="18" charset="0"/>
                        <a:ea typeface="宋体" panose="02010600030101010101" pitchFamily="2" charset="-122"/>
                      </a:rPr>
                      <m:t>𝒏</m:t>
                    </m:r>
                  </m:oMath>
                </a14:m>
                <a:r>
                  <a:rPr lang="zh-CN" altLang="zh-CN" sz="2400" b="1" kern="1000" spc="20" dirty="0">
                    <a:effectLst/>
                    <a:latin typeface="微软雅黑" panose="020B0503020204020204" pitchFamily="34" charset="-122"/>
                    <a:ea typeface="微软雅黑" panose="020B0503020204020204" pitchFamily="34" charset="-122"/>
                  </a:rPr>
                  <a:t>个采样点相互连接，舍弃掉与障碍物碰撞的连线，形成可行无碰撞的线路图，最后通过图搜索获得从起始点到目标点的路径。</a:t>
                </a:r>
                <a:endParaRPr lang="zh-CN" altLang="zh-CN" sz="2400" b="1" kern="1000" dirty="0">
                  <a:effectLst/>
                  <a:latin typeface="微软雅黑" panose="020B0503020204020204" pitchFamily="34" charset="-122"/>
                  <a:ea typeface="微软雅黑" panose="020B0503020204020204" pitchFamily="34" charset="-122"/>
                </a:endParaRPr>
              </a:p>
            </p:txBody>
          </p:sp>
        </mc:Choice>
        <mc:Fallback xmlns="">
          <p:sp>
            <p:nvSpPr>
              <p:cNvPr id="20" name="文本框 19">
                <a:extLst>
                  <a:ext uri="{FF2B5EF4-FFF2-40B4-BE49-F238E27FC236}">
                    <a16:creationId xmlns:a16="http://schemas.microsoft.com/office/drawing/2014/main" id="{42CB65B2-7A62-25C6-62B2-B26B64073A7E}"/>
                  </a:ext>
                </a:extLst>
              </p:cNvPr>
              <p:cNvSpPr txBox="1">
                <a:spLocks noRot="1" noChangeAspect="1" noMove="1" noResize="1" noEditPoints="1" noAdjustHandles="1" noChangeArrowheads="1" noChangeShapeType="1" noTextEdit="1"/>
              </p:cNvSpPr>
              <p:nvPr/>
            </p:nvSpPr>
            <p:spPr>
              <a:xfrm>
                <a:off x="1009816" y="1192696"/>
                <a:ext cx="10352598" cy="5262979"/>
              </a:xfrm>
              <a:prstGeom prst="rect">
                <a:avLst/>
              </a:prstGeom>
              <a:blipFill>
                <a:blip r:embed="rId2"/>
                <a:stretch>
                  <a:fillRect l="-942" t="-927" r="-3887" b="-17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67127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241" name="图片 18" descr="RPM1">
            <a:extLst>
              <a:ext uri="{FF2B5EF4-FFF2-40B4-BE49-F238E27FC236}">
                <a16:creationId xmlns:a16="http://schemas.microsoft.com/office/drawing/2014/main" id="{A8322B9D-2806-B079-8CF4-D96DFD398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436" t="4268" r="12660" b="9746"/>
          <a:stretch>
            <a:fillRect/>
          </a:stretch>
        </p:blipFill>
        <p:spPr bwMode="auto">
          <a:xfrm>
            <a:off x="2448386" y="1587072"/>
            <a:ext cx="3044673" cy="3088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2" name="图片 17" descr="RPM2">
            <a:extLst>
              <a:ext uri="{FF2B5EF4-FFF2-40B4-BE49-F238E27FC236}">
                <a16:creationId xmlns:a16="http://schemas.microsoft.com/office/drawing/2014/main" id="{119C1A9A-FED5-6E65-D0DB-3CA9310D2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436" t="4268" r="12660" b="9746"/>
          <a:stretch>
            <a:fillRect/>
          </a:stretch>
        </p:blipFill>
        <p:spPr bwMode="auto">
          <a:xfrm>
            <a:off x="6698941" y="1587073"/>
            <a:ext cx="3044673" cy="308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61A6AF41-98A2-67F2-1632-0243AD79946D}"/>
              </a:ext>
            </a:extLst>
          </p:cNvPr>
          <p:cNvSpPr txBox="1"/>
          <p:nvPr/>
        </p:nvSpPr>
        <p:spPr>
          <a:xfrm>
            <a:off x="3034748" y="4901595"/>
            <a:ext cx="612250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6.6  </a:t>
            </a:r>
            <a:r>
              <a:rPr lang="zh-CN" altLang="zh-CN" sz="1800" kern="1000" dirty="0">
                <a:effectLst/>
                <a:latin typeface="Times New Roman" panose="02020603050405020304" pitchFamily="18" charset="0"/>
                <a:ea typeface="宋体" panose="02010600030101010101" pitchFamily="2" charset="-122"/>
              </a:rPr>
              <a:t>概率路标法</a:t>
            </a:r>
          </a:p>
        </p:txBody>
      </p:sp>
    </p:spTree>
    <p:extLst>
      <p:ext uri="{BB962C8B-B14F-4D97-AF65-F5344CB8AC3E}">
        <p14:creationId xmlns:p14="http://schemas.microsoft.com/office/powerpoint/2010/main" val="4043956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AF0AAD62-C088-3022-E634-4539CAB6E62C}"/>
              </a:ext>
            </a:extLst>
          </p:cNvPr>
          <p:cNvSpPr txBox="1"/>
          <p:nvPr/>
        </p:nvSpPr>
        <p:spPr>
          <a:xfrm>
            <a:off x="979335" y="1319916"/>
            <a:ext cx="10233329" cy="1569660"/>
          </a:xfrm>
          <a:prstGeom prst="rect">
            <a:avLst/>
          </a:prstGeom>
          <a:noFill/>
        </p:spPr>
        <p:txBody>
          <a:bodyPr wrap="square">
            <a:spAutoFit/>
          </a:bodyPr>
          <a:lstStyle>
            <a:defPPr>
              <a:defRPr lang="zh-CN"/>
            </a:defPPr>
            <a:lvl1pPr indent="612000" algn="just">
              <a:defRPr sz="2400" b="1" kern="1000">
                <a:effectLst/>
                <a:latin typeface="微软雅黑" panose="020B0503020204020204" pitchFamily="34" charset="-122"/>
                <a:ea typeface="微软雅黑" panose="020B0503020204020204" pitchFamily="34" charset="-122"/>
              </a:defRPr>
            </a:lvl1pPr>
          </a:lstStyle>
          <a:p>
            <a:r>
              <a:rPr lang="en-US" altLang="zh-CN" dirty="0"/>
              <a:t>1998</a:t>
            </a:r>
            <a:r>
              <a:rPr lang="zh-CN" altLang="zh-CN" dirty="0"/>
              <a:t>年提出的快速扩展随机树算法通过随机地在地图中采样，从路径规划的起始点生长一棵节点树，结合地图信息进行碰撞检测，控制节点树在状态空间中快速生长，直至生长到目标点邻域，即可获得一条可行无碰撞路径。</a:t>
            </a:r>
          </a:p>
        </p:txBody>
      </p:sp>
      <p:sp>
        <p:nvSpPr>
          <p:cNvPr id="8" name="文本框 7">
            <a:extLst>
              <a:ext uri="{FF2B5EF4-FFF2-40B4-BE49-F238E27FC236}">
                <a16:creationId xmlns:a16="http://schemas.microsoft.com/office/drawing/2014/main" id="{FE1260E6-375E-78E9-ADDB-23BA0C7B2059}"/>
              </a:ext>
            </a:extLst>
          </p:cNvPr>
          <p:cNvSpPr txBox="1"/>
          <p:nvPr/>
        </p:nvSpPr>
        <p:spPr>
          <a:xfrm>
            <a:off x="979335" y="2889576"/>
            <a:ext cx="10152491" cy="3046988"/>
          </a:xfrm>
          <a:prstGeom prst="rect">
            <a:avLst/>
          </a:prstGeom>
          <a:noFill/>
        </p:spPr>
        <p:txBody>
          <a:bodyPr wrap="square">
            <a:spAutoFit/>
          </a:bodyPr>
          <a:lstStyle/>
          <a:p>
            <a:pPr indent="612000" algn="just"/>
            <a:r>
              <a:rPr lang="en-US" altLang="zh-CN" sz="2400" b="1" kern="1000" dirty="0">
                <a:latin typeface="微软雅黑" panose="020B0503020204020204" pitchFamily="34" charset="-122"/>
                <a:ea typeface="微软雅黑" panose="020B0503020204020204" pitchFamily="34" charset="-122"/>
              </a:rPr>
              <a:t>6.2.1  </a:t>
            </a:r>
            <a:r>
              <a:rPr lang="zh-CN" altLang="zh-CN" sz="2400" b="1" kern="1000" dirty="0">
                <a:latin typeface="微软雅黑" panose="020B0503020204020204" pitchFamily="34" charset="-122"/>
                <a:ea typeface="微软雅黑" panose="020B0503020204020204" pitchFamily="34" charset="-122"/>
              </a:rPr>
              <a:t>栅格法</a:t>
            </a:r>
          </a:p>
          <a:p>
            <a:pPr indent="612000" algn="just"/>
            <a:r>
              <a:rPr lang="zh-CN" altLang="zh-CN" sz="2400" b="1" kern="1000" dirty="0">
                <a:latin typeface="微软雅黑" panose="020B0503020204020204" pitchFamily="34" charset="-122"/>
                <a:ea typeface="微软雅黑" panose="020B0503020204020204" pitchFamily="34" charset="-122"/>
              </a:rPr>
              <a:t>栅格法</a:t>
            </a:r>
            <a:r>
              <a:rPr lang="en-US" altLang="zh-CN" sz="2400" b="1" kern="1000" dirty="0">
                <a:latin typeface="微软雅黑" panose="020B0503020204020204" pitchFamily="34" charset="-122"/>
                <a:ea typeface="微软雅黑" panose="020B0503020204020204" pitchFamily="34" charset="-122"/>
              </a:rPr>
              <a:t>(</a:t>
            </a:r>
            <a:r>
              <a:rPr lang="zh-CN" altLang="zh-CN" sz="2400" b="1" kern="1000" dirty="0">
                <a:latin typeface="微软雅黑" panose="020B0503020204020204" pitchFamily="34" charset="-122"/>
                <a:ea typeface="微软雅黑" panose="020B0503020204020204" pitchFamily="34" charset="-122"/>
              </a:rPr>
              <a:t>如图</a:t>
            </a:r>
            <a:r>
              <a:rPr lang="en-US" altLang="zh-CN" sz="2400" b="1" kern="1000" dirty="0">
                <a:latin typeface="微软雅黑" panose="020B0503020204020204" pitchFamily="34" charset="-122"/>
                <a:ea typeface="微软雅黑" panose="020B0503020204020204" pitchFamily="34" charset="-122"/>
              </a:rPr>
              <a:t>6.7</a:t>
            </a:r>
            <a:r>
              <a:rPr lang="zh-CN" altLang="zh-CN" sz="2400" b="1" kern="1000" dirty="0">
                <a:latin typeface="微软雅黑" panose="020B0503020204020204" pitchFamily="34" charset="-122"/>
                <a:ea typeface="微软雅黑" panose="020B0503020204020204" pitchFamily="34" charset="-122"/>
              </a:rPr>
              <a:t>所示</a:t>
            </a:r>
            <a:r>
              <a:rPr lang="en-US" altLang="zh-CN" sz="2400" b="1" kern="1000" dirty="0">
                <a:latin typeface="微软雅黑" panose="020B0503020204020204" pitchFamily="34" charset="-122"/>
                <a:ea typeface="微软雅黑" panose="020B0503020204020204" pitchFamily="34" charset="-122"/>
              </a:rPr>
              <a:t>)</a:t>
            </a:r>
            <a:r>
              <a:rPr lang="zh-CN" altLang="zh-CN" sz="2400" b="1" kern="1000" dirty="0">
                <a:latin typeface="微软雅黑" panose="020B0503020204020204" pitchFamily="34" charset="-122"/>
                <a:ea typeface="微软雅黑" panose="020B0503020204020204" pitchFamily="34" charset="-122"/>
              </a:rPr>
              <a:t>在地图建模中应用十分广泛。通过将地图划分为均匀网格，将地图空间栅格化，通过每个栅格内的数据信息记录地图特征。对于简单的地图建模，可使用二值化栅格地图，即将障碍物所在栅格标记为</a:t>
            </a:r>
            <a:r>
              <a:rPr lang="en-US" altLang="zh-CN" sz="2400" b="1" kern="1000" dirty="0">
                <a:latin typeface="微软雅黑" panose="020B0503020204020204" pitchFamily="34" charset="-122"/>
                <a:ea typeface="微软雅黑" panose="020B0503020204020204" pitchFamily="34" charset="-122"/>
              </a:rPr>
              <a:t>1</a:t>
            </a:r>
            <a:r>
              <a:rPr lang="zh-CN" altLang="zh-CN" sz="2400" b="1" kern="1000" dirty="0">
                <a:latin typeface="微软雅黑" panose="020B0503020204020204" pitchFamily="34" charset="-122"/>
                <a:ea typeface="微软雅黑" panose="020B0503020204020204" pitchFamily="34" charset="-122"/>
              </a:rPr>
              <a:t>，将非障碍物所在栅格标记为</a:t>
            </a:r>
            <a:r>
              <a:rPr lang="en-US" altLang="zh-CN" sz="2400" b="1" kern="1000" dirty="0">
                <a:latin typeface="微软雅黑" panose="020B0503020204020204" pitchFamily="34" charset="-122"/>
                <a:ea typeface="微软雅黑" panose="020B0503020204020204" pitchFamily="34" charset="-122"/>
              </a:rPr>
              <a:t>0</a:t>
            </a:r>
            <a:r>
              <a:rPr lang="zh-CN" altLang="zh-CN" sz="2400" b="1" kern="1000" dirty="0">
                <a:latin typeface="微软雅黑" panose="020B0503020204020204" pitchFamily="34" charset="-122"/>
                <a:ea typeface="微软雅黑" panose="020B0503020204020204" pitchFamily="34" charset="-122"/>
              </a:rPr>
              <a:t>。对于包含可通过性及穿越代价等信息的复杂的地图建模，除标记该栅格是否可通过之外，栅格地图中还记录着机器人穿越可通行栅格花费的代价，如在室外环境中，机器人穿越山坡、沼泽等地形的代价要高于穿越平坦坚实地形的代价。</a:t>
            </a:r>
          </a:p>
        </p:txBody>
      </p:sp>
    </p:spTree>
    <p:extLst>
      <p:ext uri="{BB962C8B-B14F-4D97-AF65-F5344CB8AC3E}">
        <p14:creationId xmlns:p14="http://schemas.microsoft.com/office/powerpoint/2010/main" val="1383562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18A8B6AE-27B7-2FD9-00A7-2B5854D44B90}"/>
              </a:ext>
            </a:extLst>
          </p:cNvPr>
          <p:cNvSpPr txBox="1"/>
          <p:nvPr/>
        </p:nvSpPr>
        <p:spPr>
          <a:xfrm>
            <a:off x="808744" y="1343771"/>
            <a:ext cx="10574511" cy="1938992"/>
          </a:xfrm>
          <a:prstGeom prst="rect">
            <a:avLst/>
          </a:prstGeom>
          <a:noFill/>
        </p:spPr>
        <p:txBody>
          <a:bodyPr wrap="square">
            <a:spAutoFit/>
          </a:bodyPr>
          <a:lstStyle/>
          <a:p>
            <a:pPr indent="612000" algn="just"/>
            <a:r>
              <a:rPr lang="zh-CN" altLang="zh-CN" sz="2400" b="1" kern="1000" dirty="0">
                <a:latin typeface="微软雅黑" panose="020B0503020204020204" pitchFamily="34" charset="-122"/>
                <a:ea typeface="微软雅黑" panose="020B0503020204020204" pitchFamily="34" charset="-122"/>
              </a:rPr>
              <a:t>栅格地图中栅格的分辨率影响着地图建模的精度：栅格过大，会导致地图建模不够精确，路径精确度降低，甚至导致无法发现路径；栅格过小，会增加路径规划的计算量，需要较长的规划时间。</a:t>
            </a:r>
          </a:p>
          <a:p>
            <a:pPr indent="612000" algn="just"/>
            <a:r>
              <a:rPr lang="zh-CN" altLang="zh-CN" sz="2400" b="1" kern="1000" dirty="0">
                <a:latin typeface="微软雅黑" panose="020B0503020204020204" pitchFamily="34" charset="-122"/>
                <a:ea typeface="微软雅黑" panose="020B0503020204020204" pitchFamily="34" charset="-122"/>
              </a:rPr>
              <a:t>在环境地图建模中，如何描述障碍物是一个关键的问题，对障碍物的表示做以下两点假设：</a:t>
            </a:r>
            <a:r>
              <a:rPr lang="en-US" altLang="zh-CN" sz="2400" b="1" kern="1000" dirty="0">
                <a:latin typeface="微软雅黑" panose="020B0503020204020204" pitchFamily="34" charset="-122"/>
                <a:ea typeface="微软雅黑" panose="020B0503020204020204" pitchFamily="34" charset="-122"/>
              </a:rPr>
              <a:t> </a:t>
            </a:r>
            <a:endParaRPr lang="zh-CN" altLang="zh-CN" sz="2400" b="1" kern="10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BFE2E4B-64BC-ECAF-F6B5-DFF36F3BD9A0}"/>
              </a:ext>
            </a:extLst>
          </p:cNvPr>
          <p:cNvSpPr txBox="1"/>
          <p:nvPr/>
        </p:nvSpPr>
        <p:spPr>
          <a:xfrm>
            <a:off x="808744" y="3205905"/>
            <a:ext cx="10629569" cy="2308324"/>
          </a:xfrm>
          <a:prstGeom prst="rect">
            <a:avLst/>
          </a:prstGeom>
          <a:noFill/>
        </p:spPr>
        <p:txBody>
          <a:bodyPr wrap="square">
            <a:spAutoFit/>
          </a:bodyPr>
          <a:lstStyle/>
          <a:p>
            <a:pPr indent="612000" algn="just"/>
            <a:r>
              <a:rPr lang="en-US" altLang="zh-CN" sz="2400" b="1" kern="1000" dirty="0">
                <a:latin typeface="微软雅黑" panose="020B0503020204020204" pitchFamily="34" charset="-122"/>
                <a:ea typeface="微软雅黑" panose="020B0503020204020204" pitchFamily="34" charset="-122"/>
              </a:rPr>
              <a:t>(1)</a:t>
            </a:r>
            <a:r>
              <a:rPr lang="zh-CN" altLang="zh-CN" sz="2400" b="1" kern="1000" dirty="0">
                <a:latin typeface="微软雅黑" panose="020B0503020204020204" pitchFamily="34" charset="-122"/>
                <a:ea typeface="微软雅黑" panose="020B0503020204020204" pitchFamily="34" charset="-122"/>
              </a:rPr>
              <a:t>二维栅格地图中的障碍物面积即障碍物实体相对地面的最大投影面积，障碍物的高度信息不参与计算；</a:t>
            </a:r>
            <a:r>
              <a:rPr lang="en-US" altLang="zh-CN" sz="2400" b="1" kern="1000" dirty="0">
                <a:latin typeface="微软雅黑" panose="020B0503020204020204" pitchFamily="34" charset="-122"/>
                <a:ea typeface="微软雅黑" panose="020B0503020204020204" pitchFamily="34" charset="-122"/>
              </a:rPr>
              <a:t> </a:t>
            </a:r>
            <a:endParaRPr lang="zh-CN" altLang="zh-CN" sz="2400" b="1" kern="1000" dirty="0">
              <a:latin typeface="微软雅黑" panose="020B0503020204020204" pitchFamily="34" charset="-122"/>
              <a:ea typeface="微软雅黑" panose="020B0503020204020204" pitchFamily="34" charset="-122"/>
            </a:endParaRPr>
          </a:p>
          <a:p>
            <a:pPr indent="612000" algn="just"/>
            <a:r>
              <a:rPr lang="en-US" altLang="zh-CN" sz="2400" b="1" kern="1000" dirty="0">
                <a:latin typeface="微软雅黑" panose="020B0503020204020204" pitchFamily="34" charset="-122"/>
                <a:ea typeface="微软雅黑" panose="020B0503020204020204" pitchFamily="34" charset="-122"/>
              </a:rPr>
              <a:t>(2)</a:t>
            </a:r>
            <a:r>
              <a:rPr lang="zh-CN" altLang="zh-CN" sz="2400" b="1" kern="1000" dirty="0">
                <a:latin typeface="微软雅黑" panose="020B0503020204020204" pitchFamily="34" charset="-122"/>
                <a:ea typeface="微软雅黑" panose="020B0503020204020204" pitchFamily="34" charset="-122"/>
              </a:rPr>
              <a:t>环境中障碍物的位置和大小信息通过各种传感器采集得到，经过计算机处理，转化为二值信息栅格。</a:t>
            </a:r>
            <a:r>
              <a:rPr lang="en-US" altLang="zh-CN" sz="2400" b="1" kern="1000" dirty="0">
                <a:latin typeface="微软雅黑" panose="020B0503020204020204" pitchFamily="34" charset="-122"/>
                <a:ea typeface="微软雅黑" panose="020B0503020204020204" pitchFamily="34" charset="-122"/>
              </a:rPr>
              <a:t> </a:t>
            </a:r>
          </a:p>
          <a:p>
            <a:pPr indent="612000" algn="just"/>
            <a:r>
              <a:rPr lang="zh-CN" altLang="zh-CN" sz="2400" b="1" kern="1000" dirty="0">
                <a:latin typeface="微软雅黑" panose="020B0503020204020204" pitchFamily="34" charset="-122"/>
                <a:ea typeface="微软雅黑" panose="020B0503020204020204" pitchFamily="34" charset="-122"/>
              </a:rPr>
              <a:t>一般情况下，划分栅格的流程如下。</a:t>
            </a:r>
          </a:p>
          <a:p>
            <a:pPr indent="612000" algn="just"/>
            <a:r>
              <a:rPr lang="zh-CN" altLang="zh-CN" sz="2400" b="1" kern="1000" dirty="0">
                <a:latin typeface="微软雅黑" panose="020B0503020204020204" pitchFamily="34" charset="-122"/>
                <a:ea typeface="微软雅黑" panose="020B0503020204020204" pitchFamily="34" charset="-122"/>
              </a:rPr>
              <a:t>步骤</a:t>
            </a:r>
            <a:r>
              <a:rPr lang="en-US" altLang="zh-CN" sz="2400" b="1" kern="1000" dirty="0">
                <a:latin typeface="微软雅黑" panose="020B0503020204020204" pitchFamily="34" charset="-122"/>
                <a:ea typeface="微软雅黑" panose="020B0503020204020204" pitchFamily="34" charset="-122"/>
              </a:rPr>
              <a:t>1</a:t>
            </a:r>
            <a:r>
              <a:rPr lang="zh-CN" altLang="zh-CN" sz="2400" b="1" kern="1000" dirty="0">
                <a:latin typeface="微软雅黑" panose="020B0503020204020204" pitchFamily="34" charset="-122"/>
                <a:ea typeface="微软雅黑" panose="020B0503020204020204" pitchFamily="34" charset="-122"/>
              </a:rPr>
              <a:t>：选定环境空间中的障碍物。</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8B502A9-EF1B-B9E1-B8E6-877BBE1BDB20}"/>
                  </a:ext>
                </a:extLst>
              </p:cNvPr>
              <p:cNvSpPr txBox="1"/>
              <p:nvPr/>
            </p:nvSpPr>
            <p:spPr>
              <a:xfrm>
                <a:off x="808744" y="5410862"/>
                <a:ext cx="11208689" cy="461665"/>
              </a:xfrm>
              <a:prstGeom prst="rect">
                <a:avLst/>
              </a:prstGeom>
              <a:noFill/>
            </p:spPr>
            <p:txBody>
              <a:bodyPr wrap="square">
                <a:spAutoFit/>
              </a:bodyPr>
              <a:lstStyle/>
              <a:p>
                <a:pPr indent="612000" algn="just"/>
                <a:r>
                  <a:rPr lang="zh-CN" altLang="zh-CN" sz="2400" b="1" kern="1000" dirty="0">
                    <a:latin typeface="微软雅黑" panose="020B0503020204020204" pitchFamily="34" charset="-122"/>
                    <a:ea typeface="微软雅黑" panose="020B0503020204020204" pitchFamily="34" charset="-122"/>
                  </a:rPr>
                  <a:t>步骤</a:t>
                </a:r>
                <a:r>
                  <a:rPr lang="en-US" altLang="zh-CN" sz="2400" b="1" kern="1000" dirty="0">
                    <a:latin typeface="微软雅黑" panose="020B0503020204020204" pitchFamily="34" charset="-122"/>
                    <a:ea typeface="微软雅黑" panose="020B0503020204020204" pitchFamily="34" charset="-122"/>
                  </a:rPr>
                  <a:t>2</a:t>
                </a:r>
                <a:r>
                  <a:rPr lang="zh-CN" altLang="zh-CN" sz="2400" b="1" kern="1000" dirty="0">
                    <a:latin typeface="微软雅黑" panose="020B0503020204020204" pitchFamily="34" charset="-122"/>
                    <a:ea typeface="微软雅黑" panose="020B0503020204020204" pitchFamily="34" charset="-122"/>
                  </a:rPr>
                  <a:t>：用多个矩形包络障碍物，可得出边长的最大、最小值：</a:t>
                </a:r>
                <a14:m>
                  <m:oMath xmlns:m="http://schemas.openxmlformats.org/officeDocument/2006/math">
                    <m:sSub>
                      <m:sSubPr>
                        <m:ctrlPr>
                          <a:rPr lang="zh-CN" altLang="zh-CN" sz="2400" b="1" i="1" kern="1000">
                            <a:latin typeface="Cambria Math" panose="02040503050406030204" pitchFamily="18" charset="0"/>
                            <a:ea typeface="微软雅黑" panose="020B0503020204020204" pitchFamily="34" charset="-122"/>
                          </a:rPr>
                        </m:ctrlPr>
                      </m:sSubPr>
                      <m:e>
                        <m:r>
                          <a:rPr lang="en-US" altLang="zh-CN" sz="2400" b="1" kern="1000">
                            <a:latin typeface="Cambria Math" panose="02040503050406030204" pitchFamily="18" charset="0"/>
                            <a:ea typeface="微软雅黑" panose="020B0503020204020204" pitchFamily="34" charset="-122"/>
                          </a:rPr>
                          <m:t>𝑙</m:t>
                        </m:r>
                      </m:e>
                      <m:sub>
                        <m:r>
                          <a:rPr lang="en-US" altLang="zh-CN" sz="2400" b="1" kern="1000">
                            <a:latin typeface="Cambria Math" panose="02040503050406030204" pitchFamily="18" charset="0"/>
                            <a:ea typeface="微软雅黑" panose="020B0503020204020204" pitchFamily="34" charset="-122"/>
                          </a:rPr>
                          <m:t>𝑚𝑎𝑥</m:t>
                        </m:r>
                      </m:sub>
                    </m:sSub>
                    <m:r>
                      <a:rPr lang="zh-CN" altLang="en-US" sz="2400" b="1" i="1" kern="1000">
                        <a:latin typeface="Cambria Math" panose="02040503050406030204" pitchFamily="18" charset="0"/>
                        <a:ea typeface="微软雅黑" panose="020B0503020204020204" pitchFamily="34" charset="-122"/>
                      </a:rPr>
                      <m:t>、</m:t>
                    </m:r>
                  </m:oMath>
                </a14:m>
                <a:r>
                  <a:rPr lang="en-US" altLang="zh-CN" sz="2400" b="1" kern="1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400" b="1" i="1" kern="1000">
                            <a:latin typeface="Cambria Math" panose="02040503050406030204" pitchFamily="18" charset="0"/>
                            <a:ea typeface="微软雅黑" panose="020B0503020204020204" pitchFamily="34" charset="-122"/>
                          </a:rPr>
                        </m:ctrlPr>
                      </m:sSubPr>
                      <m:e>
                        <m:r>
                          <a:rPr lang="en-US" altLang="zh-CN" sz="2400" b="1" kern="1000">
                            <a:latin typeface="Cambria Math" panose="02040503050406030204" pitchFamily="18" charset="0"/>
                            <a:ea typeface="微软雅黑" panose="020B0503020204020204" pitchFamily="34" charset="-122"/>
                          </a:rPr>
                          <m:t>𝑙</m:t>
                        </m:r>
                      </m:e>
                      <m:sub>
                        <m:r>
                          <a:rPr lang="en-US" altLang="zh-CN" sz="2400" b="1" kern="1000">
                            <a:latin typeface="Cambria Math" panose="02040503050406030204" pitchFamily="18" charset="0"/>
                            <a:ea typeface="微软雅黑" panose="020B0503020204020204" pitchFamily="34" charset="-122"/>
                          </a:rPr>
                          <m:t>𝑚𝑖𝑛</m:t>
                        </m:r>
                      </m:sub>
                    </m:sSub>
                  </m:oMath>
                </a14:m>
                <a:r>
                  <a:rPr lang="zh-CN" altLang="zh-CN" sz="2400" b="1" kern="1000" dirty="0">
                    <a:latin typeface="微软雅黑" panose="020B0503020204020204" pitchFamily="34" charset="-122"/>
                    <a:ea typeface="微软雅黑" panose="020B0503020204020204" pitchFamily="34" charset="-122"/>
                  </a:rPr>
                  <a:t>。</a:t>
                </a:r>
              </a:p>
            </p:txBody>
          </p:sp>
        </mc:Choice>
        <mc:Fallback xmlns="">
          <p:sp>
            <p:nvSpPr>
              <p:cNvPr id="10" name="文本框 9">
                <a:extLst>
                  <a:ext uri="{FF2B5EF4-FFF2-40B4-BE49-F238E27FC236}">
                    <a16:creationId xmlns:a16="http://schemas.microsoft.com/office/drawing/2014/main" id="{D8B502A9-EF1B-B9E1-B8E6-877BBE1BDB20}"/>
                  </a:ext>
                </a:extLst>
              </p:cNvPr>
              <p:cNvSpPr txBox="1">
                <a:spLocks noRot="1" noChangeAspect="1" noMove="1" noResize="1" noEditPoints="1" noAdjustHandles="1" noChangeArrowheads="1" noChangeShapeType="1" noTextEdit="1"/>
              </p:cNvSpPr>
              <p:nvPr/>
            </p:nvSpPr>
            <p:spPr>
              <a:xfrm>
                <a:off x="808744" y="5410862"/>
                <a:ext cx="11208689" cy="461665"/>
              </a:xfrm>
              <a:prstGeom prst="rect">
                <a:avLst/>
              </a:prstGeom>
              <a:blipFill>
                <a:blip r:embed="rId2"/>
                <a:stretch>
                  <a:fillRect t="-10667" b="-30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4596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Rectangle 2">
                <a:extLst>
                  <a:ext uri="{FF2B5EF4-FFF2-40B4-BE49-F238E27FC236}">
                    <a16:creationId xmlns:a16="http://schemas.microsoft.com/office/drawing/2014/main" id="{B841C403-0E48-330D-F64F-F8C72FB35E3D}"/>
                  </a:ext>
                </a:extLst>
              </p:cNvPr>
              <p:cNvSpPr>
                <a:spLocks noChangeArrowheads="1"/>
              </p:cNvSpPr>
              <p:nvPr/>
            </p:nvSpPr>
            <p:spPr bwMode="auto">
              <a:xfrm>
                <a:off x="811646" y="1229330"/>
                <a:ext cx="6092329" cy="61555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步骤</a:t>
                </a:r>
                <a:r>
                  <a:rPr kumimoji="0" lang="en-US"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：分别求解每个矩形</a:t>
                </a:r>
                <a14:m>
                  <m:oMath xmlns:m="http://schemas.openxmlformats.org/officeDocument/2006/math">
                    <m:r>
                      <a:rPr lang="en-US" altLang="zh-CN" sz="2400" b="1" i="0" kern="1000" smtClean="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𝒊</m:t>
                    </m:r>
                  </m:oMath>
                </a14:m>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的面积</a:t>
                </a:r>
                <a:endPar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7" name="Rectangle 2">
                <a:extLst>
                  <a:ext uri="{FF2B5EF4-FFF2-40B4-BE49-F238E27FC236}">
                    <a16:creationId xmlns:a16="http://schemas.microsoft.com/office/drawing/2014/main" id="{B841C403-0E48-330D-F64F-F8C72FB35E3D}"/>
                  </a:ext>
                </a:extLst>
              </p:cNvPr>
              <p:cNvSpPr>
                <a:spLocks noRot="1" noChangeAspect="1" noMove="1" noResize="1" noEditPoints="1" noAdjustHandles="1" noChangeArrowheads="1" noChangeShapeType="1" noTextEdit="1"/>
              </p:cNvSpPr>
              <p:nvPr/>
            </p:nvSpPr>
            <p:spPr bwMode="auto">
              <a:xfrm>
                <a:off x="811646" y="1229330"/>
                <a:ext cx="6092329" cy="615553"/>
              </a:xfrm>
              <a:prstGeom prst="rect">
                <a:avLst/>
              </a:prstGeom>
              <a:blipFill>
                <a:blip r:embed="rId2"/>
                <a:stretch>
                  <a:fillRect l="-1500" t="-792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6846CD2-63FE-D578-CF89-519F57307D7C}"/>
                  </a:ext>
                </a:extLst>
              </p:cNvPr>
              <p:cNvSpPr txBox="1"/>
              <p:nvPr/>
            </p:nvSpPr>
            <p:spPr>
              <a:xfrm>
                <a:off x="811646" y="2281187"/>
                <a:ext cx="10084151" cy="2482731"/>
              </a:xfrm>
              <a:prstGeom prst="rect">
                <a:avLst/>
              </a:prstGeom>
              <a:noFill/>
            </p:spPr>
            <p:txBody>
              <a:bodyPr wrap="square">
                <a:spAutoFit/>
              </a:bodyPr>
              <a:lstStyle/>
              <a:p>
                <a:pPr algn="just"/>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𝒂</m:t>
                        </m:r>
                      </m:e>
                      <m:sub>
                        <m:r>
                          <a:rPr lang="en-US" altLang="zh-CN" sz="2400" b="1" i="1" kern="100">
                            <a:effectLst/>
                            <a:latin typeface="Cambria Math" panose="02040503050406030204" pitchFamily="18" charset="0"/>
                            <a:ea typeface="宋体" panose="02010600030101010101" pitchFamily="2" charset="-122"/>
                          </a:rPr>
                          <m:t>𝒊</m:t>
                        </m:r>
                      </m:sub>
                    </m:sSub>
                  </m:oMath>
                </a14:m>
                <a:r>
                  <a:rPr lang="zh-CN" altLang="zh-CN" sz="2400" b="1" kern="100" dirty="0">
                    <a:effectLst/>
                    <a:latin typeface="微软雅黑" panose="020B0503020204020204" pitchFamily="34" charset="-122"/>
                    <a:ea typeface="微软雅黑" panose="020B0503020204020204" pitchFamily="34" charset="-122"/>
                  </a:rPr>
                  <a:t>为矩形的长，</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𝒃</m:t>
                        </m:r>
                      </m:e>
                      <m:sub>
                        <m:r>
                          <a:rPr lang="en-US" altLang="zh-CN" sz="2400" b="1" i="1" kern="100">
                            <a:effectLst/>
                            <a:latin typeface="Cambria Math" panose="02040503050406030204" pitchFamily="18" charset="0"/>
                            <a:ea typeface="宋体" panose="02010600030101010101" pitchFamily="2" charset="-122"/>
                          </a:rPr>
                          <m:t>𝒊</m:t>
                        </m:r>
                      </m:sub>
                    </m:sSub>
                  </m:oMath>
                </a14:m>
                <a:r>
                  <a:rPr lang="zh-CN" altLang="zh-CN" sz="2400" b="1" kern="100" dirty="0">
                    <a:effectLst/>
                    <a:latin typeface="微软雅黑" panose="020B0503020204020204" pitchFamily="34" charset="-122"/>
                    <a:ea typeface="微软雅黑" panose="020B0503020204020204" pitchFamily="34" charset="-122"/>
                  </a:rPr>
                  <a:t>为矩形的宽，</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𝒊</m:t>
                    </m:r>
                  </m:oMath>
                </a14:m>
                <a:r>
                  <a:rPr lang="zh-CN" altLang="zh-CN" sz="2400" b="1" kern="100" dirty="0">
                    <a:effectLst/>
                    <a:latin typeface="微软雅黑" panose="020B0503020204020204" pitchFamily="34" charset="-122"/>
                    <a:ea typeface="微软雅黑" panose="020B0503020204020204" pitchFamily="34" charset="-122"/>
                  </a:rPr>
                  <a:t>指第</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𝒊</m:t>
                    </m:r>
                  </m:oMath>
                </a14:m>
                <a:r>
                  <a:rPr lang="zh-CN" altLang="zh-CN" sz="2400" b="1" kern="100" dirty="0">
                    <a:effectLst/>
                    <a:latin typeface="微软雅黑" panose="020B0503020204020204" pitchFamily="34" charset="-122"/>
                    <a:ea typeface="微软雅黑" panose="020B0503020204020204" pitchFamily="34" charset="-122"/>
                  </a:rPr>
                  <a:t>个矩形；</a:t>
                </a:r>
              </a:p>
              <a:p>
                <a:pPr algn="just"/>
                <a:r>
                  <a:rPr lang="zh-CN" altLang="zh-CN" sz="2400" b="1" kern="100" dirty="0">
                    <a:effectLst/>
                    <a:latin typeface="微软雅黑" panose="020B0503020204020204" pitchFamily="34" charset="-122"/>
                    <a:ea typeface="微软雅黑" panose="020B0503020204020204" pitchFamily="34" charset="-122"/>
                  </a:rPr>
                  <a:t>步骤</a:t>
                </a:r>
                <a:r>
                  <a:rPr lang="en-US" altLang="zh-CN" sz="2400" b="1" kern="100" dirty="0">
                    <a:effectLst/>
                    <a:latin typeface="微软雅黑" panose="020B0503020204020204" pitchFamily="34" charset="-122"/>
                    <a:ea typeface="微软雅黑" panose="020B0503020204020204" pitchFamily="34" charset="-122"/>
                  </a:rPr>
                  <a:t>4</a:t>
                </a:r>
                <a:r>
                  <a:rPr lang="zh-CN" altLang="zh-CN" sz="2400" b="1" kern="100" dirty="0">
                    <a:effectLst/>
                    <a:latin typeface="微软雅黑" panose="020B0503020204020204" pitchFamily="34" charset="-122"/>
                    <a:ea typeface="微软雅黑" panose="020B0503020204020204" pitchFamily="34" charset="-122"/>
                  </a:rPr>
                  <a:t>：求解</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𝒎</m:t>
                    </m:r>
                  </m:oMath>
                </a14:m>
                <a:r>
                  <a:rPr lang="zh-CN" altLang="zh-CN" sz="2400" b="1" kern="100" dirty="0">
                    <a:effectLst/>
                    <a:latin typeface="微软雅黑" panose="020B0503020204020204" pitchFamily="34" charset="-122"/>
                    <a:ea typeface="微软雅黑" panose="020B0503020204020204" pitchFamily="34" charset="-122"/>
                  </a:rPr>
                  <a:t>个矩形的区域面积</a:t>
                </a:r>
              </a:p>
              <a:p>
                <a:pPr algn="just">
                  <a:spcBef>
                    <a:spcPts val="400"/>
                  </a:spcBef>
                  <a:spcAft>
                    <a:spcPts val="400"/>
                  </a:spcAft>
                  <a:tabLst>
                    <a:tab pos="5364480" algn="r"/>
                  </a:tabLst>
                </a:pPr>
                <a:endParaRPr lang="en-US"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endParaRPr lang="en-US" altLang="zh-CN" sz="2000" b="1" kern="1050" dirty="0">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endParaRPr lang="en-US" altLang="zh-CN" sz="2000" b="1" kern="1050" dirty="0">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𝑺</m:t>
                        </m:r>
                      </m:e>
                      <m:sub>
                        <m:r>
                          <a:rPr lang="en-US" altLang="zh-CN" sz="2400" b="1" i="1" kern="100">
                            <a:effectLst/>
                            <a:latin typeface="Cambria Math" panose="02040503050406030204" pitchFamily="18" charset="0"/>
                            <a:ea typeface="宋体" panose="02010600030101010101" pitchFamily="2" charset="-122"/>
                          </a:rPr>
                          <m:t>𝒎</m:t>
                        </m:r>
                      </m:sub>
                    </m:sSub>
                  </m:oMath>
                </a14:m>
                <a:r>
                  <a:rPr lang="zh-CN" altLang="zh-CN" sz="2400" b="1" kern="100" dirty="0">
                    <a:effectLst/>
                    <a:latin typeface="微软雅黑" panose="020B0503020204020204" pitchFamily="34" charset="-122"/>
                    <a:ea typeface="微软雅黑" panose="020B0503020204020204" pitchFamily="34" charset="-122"/>
                  </a:rPr>
                  <a:t>表示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𝒎</m:t>
                    </m:r>
                  </m:oMath>
                </a14:m>
                <a:r>
                  <a:rPr lang="zh-CN" altLang="zh-CN" sz="2400" b="1" kern="100" dirty="0">
                    <a:effectLst/>
                    <a:latin typeface="微软雅黑" panose="020B0503020204020204" pitchFamily="34" charset="-122"/>
                    <a:ea typeface="微软雅黑" panose="020B0503020204020204" pitchFamily="34" charset="-122"/>
                  </a:rPr>
                  <a:t>个矩形面积之和； </a:t>
                </a:r>
              </a:p>
            </p:txBody>
          </p:sp>
        </mc:Choice>
        <mc:Fallback xmlns="">
          <p:sp>
            <p:nvSpPr>
              <p:cNvPr id="18" name="文本框 17">
                <a:extLst>
                  <a:ext uri="{FF2B5EF4-FFF2-40B4-BE49-F238E27FC236}">
                    <a16:creationId xmlns:a16="http://schemas.microsoft.com/office/drawing/2014/main" id="{96846CD2-63FE-D578-CF89-519F57307D7C}"/>
                  </a:ext>
                </a:extLst>
              </p:cNvPr>
              <p:cNvSpPr txBox="1">
                <a:spLocks noRot="1" noChangeAspect="1" noMove="1" noResize="1" noEditPoints="1" noAdjustHandles="1" noChangeArrowheads="1" noChangeShapeType="1" noTextEdit="1"/>
              </p:cNvSpPr>
              <p:nvPr/>
            </p:nvSpPr>
            <p:spPr>
              <a:xfrm>
                <a:off x="811646" y="2281187"/>
                <a:ext cx="10084151" cy="2482731"/>
              </a:xfrm>
              <a:prstGeom prst="rect">
                <a:avLst/>
              </a:prstGeom>
              <a:blipFill>
                <a:blip r:embed="rId3"/>
                <a:stretch>
                  <a:fillRect l="-907" t="-1966" b="-4668"/>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3ED18808-026B-9546-E669-CA36879DCE5B}"/>
              </a:ext>
            </a:extLst>
          </p:cNvPr>
          <p:cNvSpPr txBox="1"/>
          <p:nvPr/>
        </p:nvSpPr>
        <p:spPr>
          <a:xfrm>
            <a:off x="7334450" y="1812840"/>
            <a:ext cx="2739189" cy="307264"/>
          </a:xfrm>
          <a:prstGeom prst="rect">
            <a:avLst/>
          </a:prstGeom>
          <a:noFill/>
        </p:spPr>
        <p:txBody>
          <a:bodyPr wrap="square">
            <a:spAutoFit/>
          </a:bodyPr>
          <a:lstStyle/>
          <a:p>
            <a:pPr algn="just">
              <a:lnSpc>
                <a:spcPts val="1595"/>
              </a:lnSpc>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 </a:t>
            </a:r>
            <a:endParaRPr lang="zh-CN" altLang="zh-CN" sz="2000" b="1" kern="1050" dirty="0">
              <a:effectLst/>
              <a:latin typeface="微软雅黑" panose="020B0503020204020204" pitchFamily="34" charset="-122"/>
              <a:ea typeface="微软雅黑" panose="020B0503020204020204" pitchFamily="34" charset="-122"/>
            </a:endParaRPr>
          </a:p>
        </p:txBody>
      </p:sp>
      <p:sp>
        <p:nvSpPr>
          <p:cNvPr id="27" name="Rectangle 8">
            <a:extLst>
              <a:ext uri="{FF2B5EF4-FFF2-40B4-BE49-F238E27FC236}">
                <a16:creationId xmlns:a16="http://schemas.microsoft.com/office/drawing/2014/main" id="{E2A7D57C-05BF-56B4-4FA1-D3F864071B3A}"/>
              </a:ext>
            </a:extLst>
          </p:cNvPr>
          <p:cNvSpPr>
            <a:spLocks noChangeArrowheads="1"/>
          </p:cNvSpPr>
          <p:nvPr/>
        </p:nvSpPr>
        <p:spPr bwMode="auto">
          <a:xfrm>
            <a:off x="3339966" y="19449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8" name="对象 27">
            <a:extLst>
              <a:ext uri="{FF2B5EF4-FFF2-40B4-BE49-F238E27FC236}">
                <a16:creationId xmlns:a16="http://schemas.microsoft.com/office/drawing/2014/main" id="{DB5AB6E3-0B25-C25D-9BEA-075823F7E41A}"/>
              </a:ext>
            </a:extLst>
          </p:cNvPr>
          <p:cNvGraphicFramePr>
            <a:graphicFrameLocks noChangeAspect="1"/>
          </p:cNvGraphicFramePr>
          <p:nvPr>
            <p:extLst>
              <p:ext uri="{D42A27DB-BD31-4B8C-83A1-F6EECF244321}">
                <p14:modId xmlns:p14="http://schemas.microsoft.com/office/powerpoint/2010/main" val="1306641888"/>
              </p:ext>
            </p:extLst>
          </p:nvPr>
        </p:nvGraphicFramePr>
        <p:xfrm>
          <a:off x="3315902" y="1661914"/>
          <a:ext cx="1541649" cy="524817"/>
        </p:xfrm>
        <a:graphic>
          <a:graphicData uri="http://schemas.openxmlformats.org/presentationml/2006/ole">
            <mc:AlternateContent xmlns:mc="http://schemas.openxmlformats.org/markup-compatibility/2006">
              <mc:Choice xmlns:v="urn:schemas-microsoft-com:vml" Requires="v">
                <p:oleObj name="Equation" r:id="rId4" imgW="596641" imgH="203112" progId="Equation.DSMT4">
                  <p:embed/>
                </p:oleObj>
              </mc:Choice>
              <mc:Fallback>
                <p:oleObj name="Equation" r:id="rId4" imgW="596641" imgH="203112"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5902" y="1661914"/>
                        <a:ext cx="1541649" cy="524817"/>
                      </a:xfrm>
                      <a:prstGeom prst="rect">
                        <a:avLst/>
                      </a:prstGeom>
                      <a:noFill/>
                    </p:spPr>
                  </p:pic>
                </p:oleObj>
              </mc:Fallback>
            </mc:AlternateContent>
          </a:graphicData>
        </a:graphic>
      </p:graphicFrame>
      <p:graphicFrame>
        <p:nvGraphicFramePr>
          <p:cNvPr id="29" name="对象 28">
            <a:extLst>
              <a:ext uri="{FF2B5EF4-FFF2-40B4-BE49-F238E27FC236}">
                <a16:creationId xmlns:a16="http://schemas.microsoft.com/office/drawing/2014/main" id="{E649BF74-F6BB-09CB-3185-FD58009521F5}"/>
              </a:ext>
            </a:extLst>
          </p:cNvPr>
          <p:cNvGraphicFramePr>
            <a:graphicFrameLocks noChangeAspect="1"/>
          </p:cNvGraphicFramePr>
          <p:nvPr>
            <p:extLst>
              <p:ext uri="{D42A27DB-BD31-4B8C-83A1-F6EECF244321}">
                <p14:modId xmlns:p14="http://schemas.microsoft.com/office/powerpoint/2010/main" val="1112143553"/>
              </p:ext>
            </p:extLst>
          </p:nvPr>
        </p:nvGraphicFramePr>
        <p:xfrm>
          <a:off x="3339966" y="3090446"/>
          <a:ext cx="1751798" cy="1043444"/>
        </p:xfrm>
        <a:graphic>
          <a:graphicData uri="http://schemas.openxmlformats.org/presentationml/2006/ole">
            <mc:AlternateContent xmlns:mc="http://schemas.openxmlformats.org/markup-compatibility/2006">
              <mc:Choice xmlns:v="urn:schemas-microsoft-com:vml" Requires="v">
                <p:oleObj name="Equation" r:id="rId6" imgW="655755" imgH="391108" progId="Equation.DSMT4">
                  <p:embed/>
                </p:oleObj>
              </mc:Choice>
              <mc:Fallback>
                <p:oleObj name="Equation" r:id="rId6" imgW="655755" imgH="391108" progId="Equation.DSMT4">
                  <p:embed/>
                  <p:pic>
                    <p:nvPicPr>
                      <p:cNvPr id="0" name=""/>
                      <p:cNvPicPr/>
                      <p:nvPr/>
                    </p:nvPicPr>
                    <p:blipFill>
                      <a:blip r:embed="rId7"/>
                      <a:stretch>
                        <a:fillRect/>
                      </a:stretch>
                    </p:blipFill>
                    <p:spPr>
                      <a:xfrm>
                        <a:off x="3339966" y="3090446"/>
                        <a:ext cx="1751798" cy="1043444"/>
                      </a:xfrm>
                      <a:prstGeom prst="rect">
                        <a:avLst/>
                      </a:prstGeom>
                    </p:spPr>
                  </p:pic>
                </p:oleObj>
              </mc:Fallback>
            </mc:AlternateContent>
          </a:graphicData>
        </a:graphic>
      </p:graphicFrame>
      <p:sp>
        <p:nvSpPr>
          <p:cNvPr id="30" name="文本框 29">
            <a:extLst>
              <a:ext uri="{FF2B5EF4-FFF2-40B4-BE49-F238E27FC236}">
                <a16:creationId xmlns:a16="http://schemas.microsoft.com/office/drawing/2014/main" id="{82F07C7D-0DA0-4877-A783-56EBB7AC7EF6}"/>
              </a:ext>
            </a:extLst>
          </p:cNvPr>
          <p:cNvSpPr txBox="1"/>
          <p:nvPr/>
        </p:nvSpPr>
        <p:spPr>
          <a:xfrm>
            <a:off x="7334450" y="3090446"/>
            <a:ext cx="914400" cy="677108"/>
          </a:xfrm>
          <a:prstGeom prst="rect">
            <a:avLst/>
          </a:prstGeom>
          <a:noFill/>
        </p:spPr>
        <p:txBody>
          <a:bodyPr wrap="square" rtlCol="0">
            <a:spAutoFit/>
          </a:bodyPr>
          <a:lstStyle/>
          <a:p>
            <a:endParaRPr lang="en-US" altLang="zh-CN" dirty="0"/>
          </a:p>
          <a:p>
            <a:r>
              <a:rPr lang="en-US" altLang="zh-CN" sz="2000" b="1" dirty="0">
                <a:latin typeface="微软雅黑" panose="020B0503020204020204" pitchFamily="34" charset="-122"/>
                <a:ea typeface="微软雅黑" panose="020B0503020204020204" pitchFamily="34" charset="-122"/>
              </a:rPr>
              <a:t>(6.2)</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C9ADBF91-6728-25E4-9272-E0BC9998375F}"/>
                  </a:ext>
                </a:extLst>
              </p:cNvPr>
              <p:cNvSpPr txBox="1"/>
              <p:nvPr/>
            </p:nvSpPr>
            <p:spPr>
              <a:xfrm>
                <a:off x="794569" y="4858374"/>
                <a:ext cx="9279069" cy="1138773"/>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步骤</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：第 </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𝒊</m:t>
                    </m:r>
                  </m:oMath>
                </a14:m>
                <a:r>
                  <a:rPr lang="zh-CN" altLang="en-US" sz="2400" b="1" dirty="0">
                    <a:latin typeface="微软雅黑" panose="020B0503020204020204" pitchFamily="34" charset="-122"/>
                    <a:ea typeface="微软雅黑" panose="020B0503020204020204" pitchFamily="34" charset="-122"/>
                  </a:rPr>
                  <a:t>个栅格的长度 </a:t>
                </a:r>
              </a:p>
              <a:p>
                <a:r>
                  <a:rPr lang="zh-CN" altLang="en-US" sz="2400" b="1"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a:p>
                <a:r>
                  <a:rPr lang="en-US" altLang="zh-CN" sz="2000" b="1" dirty="0">
                    <a:latin typeface="微软雅黑" panose="020B0503020204020204" pitchFamily="34" charset="-122"/>
                    <a:ea typeface="微软雅黑" panose="020B0503020204020204" pitchFamily="34" charset="-122"/>
                  </a:rPr>
                  <a:t>                                                                                      (6.3) </a:t>
                </a:r>
              </a:p>
            </p:txBody>
          </p:sp>
        </mc:Choice>
        <mc:Fallback xmlns="">
          <p:sp>
            <p:nvSpPr>
              <p:cNvPr id="40" name="文本框 39">
                <a:extLst>
                  <a:ext uri="{FF2B5EF4-FFF2-40B4-BE49-F238E27FC236}">
                    <a16:creationId xmlns:a16="http://schemas.microsoft.com/office/drawing/2014/main" id="{C9ADBF91-6728-25E4-9272-E0BC9998375F}"/>
                  </a:ext>
                </a:extLst>
              </p:cNvPr>
              <p:cNvSpPr txBox="1">
                <a:spLocks noRot="1" noChangeAspect="1" noMove="1" noResize="1" noEditPoints="1" noAdjustHandles="1" noChangeArrowheads="1" noChangeShapeType="1" noTextEdit="1"/>
              </p:cNvSpPr>
              <p:nvPr/>
            </p:nvSpPr>
            <p:spPr>
              <a:xfrm>
                <a:off x="794569" y="4858374"/>
                <a:ext cx="9279069" cy="1138773"/>
              </a:xfrm>
              <a:prstGeom prst="rect">
                <a:avLst/>
              </a:prstGeom>
              <a:blipFill>
                <a:blip r:embed="rId8"/>
                <a:stretch>
                  <a:fillRect l="-986" t="-4278" b="-8556"/>
                </a:stretch>
              </a:blipFill>
            </p:spPr>
            <p:txBody>
              <a:bodyPr/>
              <a:lstStyle/>
              <a:p>
                <a:r>
                  <a:rPr lang="zh-CN" altLang="en-US">
                    <a:noFill/>
                  </a:rPr>
                  <a:t> </a:t>
                </a:r>
              </a:p>
            </p:txBody>
          </p:sp>
        </mc:Fallback>
      </mc:AlternateContent>
      <p:graphicFrame>
        <p:nvGraphicFramePr>
          <p:cNvPr id="43" name="对象 42">
            <a:extLst>
              <a:ext uri="{FF2B5EF4-FFF2-40B4-BE49-F238E27FC236}">
                <a16:creationId xmlns:a16="http://schemas.microsoft.com/office/drawing/2014/main" id="{1C6F6D7C-4E34-0B3A-18A9-8D4C9D0AF743}"/>
              </a:ext>
            </a:extLst>
          </p:cNvPr>
          <p:cNvGraphicFramePr>
            <a:graphicFrameLocks noChangeAspect="1"/>
          </p:cNvGraphicFramePr>
          <p:nvPr>
            <p:extLst>
              <p:ext uri="{D42A27DB-BD31-4B8C-83A1-F6EECF244321}">
                <p14:modId xmlns:p14="http://schemas.microsoft.com/office/powerpoint/2010/main" val="690679368"/>
              </p:ext>
            </p:extLst>
          </p:nvPr>
        </p:nvGraphicFramePr>
        <p:xfrm>
          <a:off x="3445844" y="5342686"/>
          <a:ext cx="1862816" cy="846358"/>
        </p:xfrm>
        <a:graphic>
          <a:graphicData uri="http://schemas.openxmlformats.org/presentationml/2006/ole">
            <mc:AlternateContent xmlns:mc="http://schemas.openxmlformats.org/markup-compatibility/2006">
              <mc:Choice xmlns:v="urn:schemas-microsoft-com:vml" Requires="v">
                <p:oleObj name="Equation" r:id="rId9" imgW="712496" imgH="324422" progId="Equation.DSMT4">
                  <p:embed/>
                </p:oleObj>
              </mc:Choice>
              <mc:Fallback>
                <p:oleObj name="Equation" r:id="rId9" imgW="712496" imgH="324422" progId="Equation.DSMT4">
                  <p:embed/>
                  <p:pic>
                    <p:nvPicPr>
                      <p:cNvPr id="0" name=""/>
                      <p:cNvPicPr/>
                      <p:nvPr/>
                    </p:nvPicPr>
                    <p:blipFill>
                      <a:blip r:embed="rId10"/>
                      <a:stretch>
                        <a:fillRect/>
                      </a:stretch>
                    </p:blipFill>
                    <p:spPr>
                      <a:xfrm>
                        <a:off x="3445844" y="5342686"/>
                        <a:ext cx="1862816" cy="846358"/>
                      </a:xfrm>
                      <a:prstGeom prst="rect">
                        <a:avLst/>
                      </a:prstGeom>
                    </p:spPr>
                  </p:pic>
                </p:oleObj>
              </mc:Fallback>
            </mc:AlternateContent>
          </a:graphicData>
        </a:graphic>
      </p:graphicFrame>
    </p:spTree>
    <p:extLst>
      <p:ext uri="{BB962C8B-B14F-4D97-AF65-F5344CB8AC3E}">
        <p14:creationId xmlns:p14="http://schemas.microsoft.com/office/powerpoint/2010/main" val="1953413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2">
            <a:extLst>
              <a:ext uri="{FF2B5EF4-FFF2-40B4-BE49-F238E27FC236}">
                <a16:creationId xmlns:a16="http://schemas.microsoft.com/office/drawing/2014/main" id="{82CC6213-BAC7-2B4F-34FA-8071644778ED}"/>
              </a:ext>
            </a:extLst>
          </p:cNvPr>
          <p:cNvSpPr>
            <a:spLocks noChangeArrowheads="1"/>
          </p:cNvSpPr>
          <p:nvPr/>
        </p:nvSpPr>
        <p:spPr bwMode="auto">
          <a:xfrm>
            <a:off x="1102562" y="1173251"/>
            <a:ext cx="233910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栅格单元的长度</a:t>
            </a:r>
            <a:endParaRPr kumimoji="0" lang="zh-CN"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269875" algn="l"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对象 8">
            <a:extLst>
              <a:ext uri="{FF2B5EF4-FFF2-40B4-BE49-F238E27FC236}">
                <a16:creationId xmlns:a16="http://schemas.microsoft.com/office/drawing/2014/main" id="{C5E0E2A3-16AE-45E0-C311-6C3079E6F7E6}"/>
              </a:ext>
            </a:extLst>
          </p:cNvPr>
          <p:cNvGraphicFramePr>
            <a:graphicFrameLocks noChangeAspect="1"/>
          </p:cNvGraphicFramePr>
          <p:nvPr>
            <p:extLst>
              <p:ext uri="{D42A27DB-BD31-4B8C-83A1-F6EECF244321}">
                <p14:modId xmlns:p14="http://schemas.microsoft.com/office/powerpoint/2010/main" val="2869029810"/>
              </p:ext>
            </p:extLst>
          </p:nvPr>
        </p:nvGraphicFramePr>
        <p:xfrm>
          <a:off x="3622308" y="1786909"/>
          <a:ext cx="2473692" cy="897053"/>
        </p:xfrm>
        <a:graphic>
          <a:graphicData uri="http://schemas.openxmlformats.org/presentationml/2006/ole">
            <mc:AlternateContent xmlns:mc="http://schemas.openxmlformats.org/markup-compatibility/2006">
              <mc:Choice xmlns:v="urn:schemas-microsoft-com:vml" Requires="v">
                <p:oleObj name="Equation" r:id="rId2" imgW="1155700" imgH="419100" progId="Equation.DSMT4">
                  <p:embed/>
                </p:oleObj>
              </mc:Choice>
              <mc:Fallback>
                <p:oleObj name="Equation" r:id="rId2" imgW="1155700" imgH="4191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2308" y="1786909"/>
                        <a:ext cx="2473692" cy="897053"/>
                      </a:xfrm>
                      <a:prstGeom prst="rect">
                        <a:avLst/>
                      </a:prstGeom>
                      <a:noFill/>
                    </p:spPr>
                  </p:pic>
                </p:oleObj>
              </mc:Fallback>
            </mc:AlternateContent>
          </a:graphicData>
        </a:graphic>
      </p:graphicFrame>
      <p:sp>
        <p:nvSpPr>
          <p:cNvPr id="13" name="文本框 12">
            <a:extLst>
              <a:ext uri="{FF2B5EF4-FFF2-40B4-BE49-F238E27FC236}">
                <a16:creationId xmlns:a16="http://schemas.microsoft.com/office/drawing/2014/main" id="{087722B4-0C8B-613D-D453-F9801C618817}"/>
              </a:ext>
            </a:extLst>
          </p:cNvPr>
          <p:cNvSpPr txBox="1"/>
          <p:nvPr/>
        </p:nvSpPr>
        <p:spPr>
          <a:xfrm>
            <a:off x="7379232" y="2270079"/>
            <a:ext cx="1361452" cy="400110"/>
          </a:xfrm>
          <a:prstGeom prst="rect">
            <a:avLst/>
          </a:prstGeom>
          <a:noFill/>
        </p:spPr>
        <p:txBody>
          <a:bodyPr wrap="square">
            <a:spAutoFit/>
          </a:bodyPr>
          <a:lstStyle/>
          <a:p>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6.4</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7367A9DA-3AA5-BF51-2E07-E9A9C7C54C53}"/>
              </a:ext>
            </a:extLst>
          </p:cNvPr>
          <p:cNvSpPr txBox="1"/>
          <p:nvPr/>
        </p:nvSpPr>
        <p:spPr>
          <a:xfrm>
            <a:off x="1102562" y="2761217"/>
            <a:ext cx="6126480" cy="461665"/>
          </a:xfrm>
          <a:prstGeom prst="rect">
            <a:avLst/>
          </a:prstGeom>
          <a:noFill/>
        </p:spPr>
        <p:txBody>
          <a:bodyPr wrap="square">
            <a:spAutoFit/>
          </a:bodyPr>
          <a:lstStyle/>
          <a:p>
            <a:pPr eaLnBrk="0" fontAlgn="base" hangingPunct="0">
              <a:spcBef>
                <a:spcPct val="0"/>
              </a:spcBef>
              <a:spcAft>
                <a:spcPct val="0"/>
              </a:spcAft>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栅格的总数</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7" name="对象 16">
            <a:extLst>
              <a:ext uri="{FF2B5EF4-FFF2-40B4-BE49-F238E27FC236}">
                <a16:creationId xmlns:a16="http://schemas.microsoft.com/office/drawing/2014/main" id="{A55FC0F9-DA2B-5649-A669-3C59512C2E74}"/>
              </a:ext>
            </a:extLst>
          </p:cNvPr>
          <p:cNvGraphicFramePr>
            <a:graphicFrameLocks noChangeAspect="1"/>
          </p:cNvGraphicFramePr>
          <p:nvPr>
            <p:extLst>
              <p:ext uri="{D42A27DB-BD31-4B8C-83A1-F6EECF244321}">
                <p14:modId xmlns:p14="http://schemas.microsoft.com/office/powerpoint/2010/main" val="855243016"/>
              </p:ext>
            </p:extLst>
          </p:nvPr>
        </p:nvGraphicFramePr>
        <p:xfrm>
          <a:off x="3622308" y="3105769"/>
          <a:ext cx="2667817" cy="777478"/>
        </p:xfrm>
        <a:graphic>
          <a:graphicData uri="http://schemas.openxmlformats.org/presentationml/2006/ole">
            <mc:AlternateContent xmlns:mc="http://schemas.openxmlformats.org/markup-compatibility/2006">
              <mc:Choice xmlns:v="urn:schemas-microsoft-com:vml" Requires="v">
                <p:oleObj name="Equation" r:id="rId4" imgW="1111838" imgH="324422" progId="Equation.DSMT4">
                  <p:embed/>
                </p:oleObj>
              </mc:Choice>
              <mc:Fallback>
                <p:oleObj name="Equation" r:id="rId4" imgW="1111838" imgH="324422" progId="Equation.DSMT4">
                  <p:embed/>
                  <p:pic>
                    <p:nvPicPr>
                      <p:cNvPr id="0" name=""/>
                      <p:cNvPicPr/>
                      <p:nvPr/>
                    </p:nvPicPr>
                    <p:blipFill>
                      <a:blip r:embed="rId5"/>
                      <a:stretch>
                        <a:fillRect/>
                      </a:stretch>
                    </p:blipFill>
                    <p:spPr>
                      <a:xfrm>
                        <a:off x="3622308" y="3105769"/>
                        <a:ext cx="2667817" cy="777478"/>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614B270F-7DAD-EDF5-50E1-04E7A7B0B5AF}"/>
              </a:ext>
            </a:extLst>
          </p:cNvPr>
          <p:cNvSpPr txBox="1"/>
          <p:nvPr/>
        </p:nvSpPr>
        <p:spPr>
          <a:xfrm>
            <a:off x="7379232" y="3450194"/>
            <a:ext cx="1361452" cy="400110"/>
          </a:xfrm>
          <a:prstGeom prst="rect">
            <a:avLst/>
          </a:prstGeom>
          <a:noFill/>
        </p:spPr>
        <p:txBody>
          <a:bodyPr wrap="square">
            <a:spAutoFit/>
          </a:bodyPr>
          <a:lstStyle/>
          <a:p>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6.5</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B3E82185-EAF6-66EC-1301-E6A3586AE553}"/>
                  </a:ext>
                </a:extLst>
              </p:cNvPr>
              <p:cNvSpPr txBox="1"/>
              <p:nvPr/>
            </p:nvSpPr>
            <p:spPr>
              <a:xfrm>
                <a:off x="963184" y="3883247"/>
                <a:ext cx="10265632" cy="2711512"/>
              </a:xfrm>
              <a:prstGeom prst="rect">
                <a:avLst/>
              </a:prstGeom>
              <a:noFill/>
            </p:spPr>
            <p:txBody>
              <a:bodyPr wrap="square">
                <a:spAutoFit/>
              </a:bodyPr>
              <a:lstStyle/>
              <a:p>
                <a:pPr indent="612000" algn="just"/>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𝑳</m:t>
                    </m:r>
                  </m:oMath>
                </a14:m>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表示地图的长度</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𝒎</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𝑾</m:t>
                    </m:r>
                  </m:oMath>
                </a14:m>
                <a:r>
                  <a:rPr lang="zh-CN" altLang="zh-CN" sz="2400" b="1" kern="100" dirty="0">
                    <a:effectLst/>
                    <a:latin typeface="微软雅黑" panose="020B0503020204020204" pitchFamily="34" charset="-122"/>
                    <a:ea typeface="微软雅黑" panose="020B0503020204020204" pitchFamily="34" charset="-122"/>
                  </a:rPr>
                  <a:t>表示地图的宽度</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𝒎</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𝑺</m:t>
                    </m:r>
                  </m:oMath>
                </a14:m>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表示地图的总面积为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m:t>
                    </m:r>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𝒎</m:t>
                        </m:r>
                      </m:e>
                      <m:sup>
                        <m:r>
                          <a:rPr lang="en-US" altLang="zh-CN" sz="2400" b="1" i="1" kern="100">
                            <a:effectLst/>
                            <a:latin typeface="Cambria Math" panose="02040503050406030204" pitchFamily="18" charset="0"/>
                            <a:ea typeface="宋体" panose="02010600030101010101" pitchFamily="2" charset="-122"/>
                          </a:rPr>
                          <m:t>𝟐</m:t>
                        </m:r>
                      </m:sup>
                    </m:sSup>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𝒏</m:t>
                        </m:r>
                      </m:e>
                      <m:sub>
                        <m:r>
                          <a:rPr lang="en-US" altLang="zh-CN" sz="2400" b="1" i="1" kern="100">
                            <a:effectLst/>
                            <a:latin typeface="Cambria Math" panose="02040503050406030204" pitchFamily="18" charset="0"/>
                            <a:ea typeface="宋体" panose="02010600030101010101" pitchFamily="2" charset="-122"/>
                          </a:rPr>
                          <m:t>𝒙</m:t>
                        </m:r>
                      </m:sub>
                    </m:sSub>
                  </m:oMath>
                </a14:m>
                <a:r>
                  <a:rPr lang="zh-CN" altLang="zh-CN" sz="2400" b="1" kern="100" dirty="0">
                    <a:effectLst/>
                    <a:latin typeface="微软雅黑" panose="020B0503020204020204" pitchFamily="34" charset="-122"/>
                    <a:ea typeface="微软雅黑" panose="020B0503020204020204" pitchFamily="34" charset="-122"/>
                  </a:rPr>
                  <a:t>为单元栅格行数；</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𝒏</m:t>
                        </m:r>
                      </m:e>
                      <m:sub>
                        <m:r>
                          <a:rPr lang="en-US" altLang="zh-CN" sz="2400" b="1" i="1" kern="100">
                            <a:effectLst/>
                            <a:latin typeface="Cambria Math" panose="02040503050406030204" pitchFamily="18" charset="0"/>
                            <a:ea typeface="宋体" panose="02010600030101010101" pitchFamily="2" charset="-122"/>
                          </a:rPr>
                          <m:t>𝒚</m:t>
                        </m:r>
                      </m:sub>
                    </m:sSub>
                  </m:oMath>
                </a14:m>
                <a:r>
                  <a:rPr lang="zh-CN" altLang="zh-CN" sz="2400" b="1" kern="100" dirty="0">
                    <a:effectLst/>
                    <a:latin typeface="微软雅黑" panose="020B0503020204020204" pitchFamily="34" charset="-122"/>
                    <a:ea typeface="微软雅黑" panose="020B0503020204020204" pitchFamily="34" charset="-122"/>
                  </a:rPr>
                  <a:t>为单元栅格列数。 </a:t>
                </a:r>
              </a:p>
              <a:p>
                <a:pPr indent="612000" algn="just"/>
                <a:r>
                  <a:rPr lang="zh-CN" altLang="zh-CN" sz="2400" b="1" kern="100" dirty="0">
                    <a:effectLst/>
                    <a:latin typeface="微软雅黑" panose="020B0503020204020204" pitchFamily="34" charset="-122"/>
                    <a:ea typeface="微软雅黑" panose="020B0503020204020204" pitchFamily="34" charset="-122"/>
                  </a:rPr>
                  <a:t>一般情况下，</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𝑵</m:t>
                    </m:r>
                  </m:oMath>
                </a14:m>
                <a:r>
                  <a:rPr lang="zh-CN" altLang="zh-CN" sz="2400" b="1" kern="100" dirty="0">
                    <a:effectLst/>
                    <a:latin typeface="微软雅黑" panose="020B0503020204020204" pitchFamily="34" charset="-122"/>
                    <a:ea typeface="微软雅黑" panose="020B0503020204020204" pitchFamily="34" charset="-122"/>
                  </a:rPr>
                  <a:t>的取值范围为为</a:t>
                </a:r>
                <a:r>
                  <a:rPr lang="en-US" altLang="zh-CN" sz="2400" b="1" kern="100" dirty="0">
                    <a:effectLst/>
                    <a:latin typeface="微软雅黑" panose="020B0503020204020204" pitchFamily="34" charset="-122"/>
                    <a:ea typeface="微软雅黑" panose="020B0503020204020204" pitchFamily="34" charset="-122"/>
                  </a:rPr>
                  <a:t>100</a:t>
                </a:r>
                <a:r>
                  <a:rPr lang="zh-CN" altLang="zh-CN" sz="2400" b="1" kern="100" dirty="0">
                    <a:effectLst/>
                    <a:latin typeface="微软雅黑" panose="020B0503020204020204" pitchFamily="34" charset="-122"/>
                    <a:ea typeface="微软雅黑" panose="020B0503020204020204" pitchFamily="34" charset="-122"/>
                  </a:rPr>
                  <a:t>～</a:t>
                </a:r>
                <a:r>
                  <a:rPr lang="en-US" altLang="zh-CN" sz="2400" b="1" kern="100" dirty="0">
                    <a:effectLst/>
                    <a:latin typeface="微软雅黑" panose="020B0503020204020204" pitchFamily="34" charset="-122"/>
                    <a:ea typeface="微软雅黑" panose="020B0503020204020204" pitchFamily="34" charset="-122"/>
                  </a:rPr>
                  <a:t>900</a:t>
                </a:r>
                <a:r>
                  <a:rPr lang="zh-CN" altLang="zh-CN" sz="2400" b="1" kern="100" dirty="0">
                    <a:effectLst/>
                    <a:latin typeface="微软雅黑" panose="020B0503020204020204" pitchFamily="34" charset="-122"/>
                    <a:ea typeface="微软雅黑" panose="020B0503020204020204" pitchFamily="34" charset="-122"/>
                  </a:rPr>
                  <a:t>；在高密度栅格模型情况下，可以取数万个栅格。均匀栅格地图是度量地图路径规划中最常用的表达方式，</a:t>
                </a:r>
                <a:endParaRPr lang="en-US" altLang="zh-CN" sz="2400" b="1" kern="100" dirty="0">
                  <a:effectLst/>
                  <a:latin typeface="微软雅黑" panose="020B0503020204020204" pitchFamily="34" charset="-122"/>
                  <a:ea typeface="微软雅黑" panose="020B0503020204020204" pitchFamily="34" charset="-122"/>
                </a:endParaRPr>
              </a:p>
              <a:p>
                <a:pPr indent="612000" algn="just"/>
                <a:r>
                  <a:rPr lang="zh-CN" altLang="zh-CN" sz="2400" b="1" kern="100" dirty="0">
                    <a:effectLst/>
                    <a:latin typeface="微软雅黑" panose="020B0503020204020204" pitchFamily="34" charset="-122"/>
                    <a:ea typeface="微软雅黑" panose="020B0503020204020204" pitchFamily="34" charset="-122"/>
                  </a:rPr>
                  <a:t>它将环境分解为一系列离散的节点，并且所有栅格节点大小统一、均匀分布，栅格经过赋值的形式来描述障碍物位置的信息。</a:t>
                </a:r>
                <a:endParaRPr lang="en-US" altLang="zh-CN" sz="2400" b="1" kern="100" dirty="0">
                  <a:effectLst/>
                  <a:latin typeface="微软雅黑" panose="020B0503020204020204" pitchFamily="34" charset="-122"/>
                  <a:ea typeface="微软雅黑" panose="020B0503020204020204" pitchFamily="34" charset="-122"/>
                </a:endParaRPr>
              </a:p>
              <a:p>
                <a:pPr indent="612000" algn="just"/>
                <a:endParaRPr lang="zh-CN" altLang="zh-CN" sz="2400" b="1" kern="100" dirty="0">
                  <a:effectLst/>
                  <a:latin typeface="微软雅黑" panose="020B0503020204020204" pitchFamily="34" charset="-122"/>
                  <a:ea typeface="微软雅黑" panose="020B0503020204020204" pitchFamily="34" charset="-122"/>
                </a:endParaRPr>
              </a:p>
            </p:txBody>
          </p:sp>
        </mc:Choice>
        <mc:Fallback>
          <p:sp>
            <p:nvSpPr>
              <p:cNvPr id="25" name="文本框 24">
                <a:extLst>
                  <a:ext uri="{FF2B5EF4-FFF2-40B4-BE49-F238E27FC236}">
                    <a16:creationId xmlns:a16="http://schemas.microsoft.com/office/drawing/2014/main" id="{B3E82185-EAF6-66EC-1301-E6A3586AE553}"/>
                  </a:ext>
                </a:extLst>
              </p:cNvPr>
              <p:cNvSpPr txBox="1">
                <a:spLocks noRot="1" noChangeAspect="1" noMove="1" noResize="1" noEditPoints="1" noAdjustHandles="1" noChangeArrowheads="1" noChangeShapeType="1" noTextEdit="1"/>
              </p:cNvSpPr>
              <p:nvPr/>
            </p:nvSpPr>
            <p:spPr>
              <a:xfrm>
                <a:off x="963184" y="3883247"/>
                <a:ext cx="10265632" cy="2711512"/>
              </a:xfrm>
              <a:prstGeom prst="rect">
                <a:avLst/>
              </a:prstGeom>
              <a:blipFill>
                <a:blip r:embed="rId6"/>
                <a:stretch>
                  <a:fillRect l="-891" t="-1798" r="-39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0372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D003EA4-59E2-4EF7-14F5-31477852E455}"/>
                  </a:ext>
                </a:extLst>
              </p:cNvPr>
              <p:cNvSpPr txBox="1"/>
              <p:nvPr/>
            </p:nvSpPr>
            <p:spPr>
              <a:xfrm>
                <a:off x="988196" y="1042334"/>
                <a:ext cx="10523620" cy="4893647"/>
              </a:xfrm>
              <a:prstGeom prst="rect">
                <a:avLst/>
              </a:prstGeom>
              <a:noFill/>
            </p:spPr>
            <p:txBody>
              <a:bodyPr wrap="square">
                <a:spAutoFit/>
              </a:bodyPr>
              <a:lstStyle/>
              <a:p>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栅格环境地图由两类栅格构成：一类是自由栅格，用</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𝒇</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𝒙</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oMath>
                </a14:m>
                <a:r>
                  <a:rPr lang="zh-CN" altLang="zh-CN" sz="2400" b="1" kern="100" dirty="0">
                    <a:effectLst/>
                    <a:latin typeface="微软雅黑" panose="020B0503020204020204" pitchFamily="34" charset="-122"/>
                    <a:ea typeface="微软雅黑" panose="020B0503020204020204" pitchFamily="34" charset="-122"/>
                  </a:rPr>
                  <a:t>表示，即机器人可通行区域；另一类是障碍物栅格，用</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𝒇</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𝒙</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𝟏</m:t>
                    </m:r>
                  </m:oMath>
                </a14:m>
                <a:r>
                  <a:rPr lang="zh-CN" altLang="zh-CN" sz="2400" b="1" kern="100" dirty="0">
                    <a:effectLst/>
                    <a:latin typeface="微软雅黑" panose="020B0503020204020204" pitchFamily="34" charset="-122"/>
                    <a:ea typeface="微软雅黑" panose="020B0503020204020204" pitchFamily="34" charset="-122"/>
                  </a:rPr>
                  <a:t>表示，是机器人需要绕行的区域。在进行路径规划之前，需要先将可通行区域栅格用白色表示，将不可通行区域栅格用黑色表示，再将栅格进行编号处理。栅格的标识方法主要有直角坐标系法和序号法两种。</a:t>
                </a:r>
                <a:endParaRPr lang="en-US" altLang="zh-CN" sz="2400" b="1" kern="100" dirty="0">
                  <a:effectLst/>
                  <a:latin typeface="微软雅黑" panose="020B0503020204020204" pitchFamily="34" charset="-122"/>
                  <a:ea typeface="微软雅黑" panose="020B0503020204020204" pitchFamily="34" charset="-122"/>
                </a:endParaRPr>
              </a:p>
              <a:p>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在二维栅格环境模型上创建直角坐标系，以该二维栅格环境模型的左上角为坐标原点</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𝑶</m:t>
                    </m:r>
                  </m:oMath>
                </a14:m>
                <a:r>
                  <a:rPr lang="zh-CN" altLang="zh-CN" sz="2400" b="1" kern="100" dirty="0">
                    <a:effectLst/>
                    <a:latin typeface="微软雅黑" panose="020B0503020204020204" pitchFamily="34" charset="-122"/>
                    <a:ea typeface="微软雅黑" panose="020B0503020204020204" pitchFamily="34" charset="-122"/>
                  </a:rPr>
                  <a:t>，以环境模型的水平方向为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𝒙</m:t>
                    </m:r>
                  </m:oMath>
                </a14:m>
                <a:r>
                  <a:rPr lang="zh-CN" altLang="zh-CN" sz="2400" b="1" kern="100" dirty="0">
                    <a:effectLst/>
                    <a:latin typeface="微软雅黑" panose="020B0503020204020204" pitchFamily="34" charset="-122"/>
                    <a:ea typeface="微软雅黑" panose="020B0503020204020204" pitchFamily="34" charset="-122"/>
                  </a:rPr>
                  <a:t>轴，以环境模型的竖直方向为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𝒚</m:t>
                    </m:r>
                  </m:oMath>
                </a14:m>
                <a:r>
                  <a:rPr lang="zh-CN" altLang="zh-CN" sz="2400" b="1" kern="100" dirty="0">
                    <a:effectLst/>
                    <a:latin typeface="微软雅黑" panose="020B0503020204020204" pitchFamily="34" charset="-122"/>
                    <a:ea typeface="微软雅黑" panose="020B0503020204020204" pitchFamily="34" charset="-122"/>
                  </a:rPr>
                  <a:t>轴，并令两坐标轴的单元长度均与单元栅格的边长成整倍数关系。在已创建的直角坐标系中，任意第</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𝒎</m:t>
                    </m:r>
                  </m:oMath>
                </a14:m>
                <a:r>
                  <a:rPr lang="zh-CN" altLang="zh-CN" sz="2400" b="1" kern="100" dirty="0">
                    <a:effectLst/>
                    <a:latin typeface="微软雅黑" panose="020B0503020204020204" pitchFamily="34" charset="-122"/>
                    <a:ea typeface="微软雅黑" panose="020B0503020204020204" pitchFamily="34" charset="-122"/>
                  </a:rPr>
                  <a:t>个单元栅格的位置</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𝑿</m:t>
                        </m:r>
                      </m:e>
                      <m:sub>
                        <m:r>
                          <a:rPr lang="en-US" altLang="zh-CN" sz="2400" b="1" i="1" kern="100">
                            <a:effectLst/>
                            <a:latin typeface="Cambria Math" panose="02040503050406030204" pitchFamily="18" charset="0"/>
                            <a:ea typeface="宋体" panose="02010600030101010101" pitchFamily="2" charset="-122"/>
                          </a:rPr>
                          <m:t>𝒎</m:t>
                        </m:r>
                      </m:sub>
                    </m:sSub>
                  </m:oMath>
                </a14:m>
                <a:r>
                  <a:rPr lang="zh-CN" altLang="zh-CN" sz="2400" b="1" kern="100" dirty="0">
                    <a:effectLst/>
                    <a:latin typeface="微软雅黑" panose="020B0503020204020204" pitchFamily="34" charset="-122"/>
                    <a:ea typeface="微软雅黑" panose="020B0503020204020204" pitchFamily="34" charset="-122"/>
                  </a:rPr>
                  <a:t>均可由对应的坐标</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𝒙</m:t>
                        </m:r>
                      </m:e>
                      <m:sub>
                        <m:r>
                          <a:rPr lang="en-US" altLang="zh-CN" sz="2400" b="1" i="1" kern="100">
                            <a:effectLst/>
                            <a:latin typeface="Cambria Math" panose="02040503050406030204" pitchFamily="18" charset="0"/>
                            <a:ea typeface="宋体" panose="02010600030101010101" pitchFamily="2" charset="-122"/>
                          </a:rPr>
                          <m:t>𝒎</m:t>
                        </m:r>
                      </m:sub>
                    </m:sSub>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𝒚</m:t>
                        </m:r>
                      </m:e>
                      <m:sub>
                        <m:r>
                          <a:rPr lang="en-US" altLang="zh-CN" sz="2400" b="1" i="1" kern="100">
                            <a:effectLst/>
                            <a:latin typeface="Cambria Math" panose="02040503050406030204" pitchFamily="18" charset="0"/>
                            <a:ea typeface="宋体" panose="02010600030101010101" pitchFamily="2" charset="-122"/>
                          </a:rPr>
                          <m:t>𝒎</m:t>
                        </m:r>
                      </m:sub>
                    </m:sSub>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来确定，用</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𝑴</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𝒙</m:t>
                        </m:r>
                      </m:e>
                      <m:sub>
                        <m:r>
                          <a:rPr lang="en-US" altLang="zh-CN" sz="2400" b="1" i="1" kern="100">
                            <a:effectLst/>
                            <a:latin typeface="Cambria Math" panose="02040503050406030204" pitchFamily="18" charset="0"/>
                            <a:ea typeface="宋体" panose="02010600030101010101" pitchFamily="2" charset="-122"/>
                          </a:rPr>
                          <m:t>𝒎</m:t>
                        </m:r>
                      </m:sub>
                    </m:sSub>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𝒚</m:t>
                        </m:r>
                      </m:e>
                      <m:sub>
                        <m:r>
                          <a:rPr lang="en-US" altLang="zh-CN" sz="2400" b="1" i="1" kern="100">
                            <a:effectLst/>
                            <a:latin typeface="Cambria Math" panose="02040503050406030204" pitchFamily="18" charset="0"/>
                            <a:ea typeface="宋体" panose="02010600030101010101" pitchFamily="2" charset="-122"/>
                          </a:rPr>
                          <m:t>𝒎</m:t>
                        </m:r>
                      </m:sub>
                    </m:sSub>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来代表直角坐标系下的栅格环境模型，则栅格环境的数学模型可表示为</a:t>
                </a:r>
              </a:p>
              <a:p>
                <a:endParaRPr lang="zh-CN" altLang="zh-CN" sz="2400" b="1" kern="100" dirty="0">
                  <a:effectLst/>
                  <a:latin typeface="微软雅黑" panose="020B0503020204020204" pitchFamily="34" charset="-122"/>
                  <a:ea typeface="微软雅黑" panose="020B0503020204020204" pitchFamily="34" charset="-122"/>
                </a:endParaRPr>
              </a:p>
              <a:p>
                <a:r>
                  <a:rPr lang="zh-CN" altLang="zh-CN" sz="2400" b="1" kern="100" dirty="0">
                    <a:effectLst/>
                    <a:latin typeface="微软雅黑" panose="020B0503020204020204" pitchFamily="34" charset="-122"/>
                    <a:ea typeface="微软雅黑" panose="020B0503020204020204" pitchFamily="34" charset="-122"/>
                  </a:rPr>
                  <a:t> </a:t>
                </a:r>
                <a:endParaRPr lang="zh-CN" altLang="en-US" sz="2400" dirty="0"/>
              </a:p>
            </p:txBody>
          </p:sp>
        </mc:Choice>
        <mc:Fallback xmlns="">
          <p:sp>
            <p:nvSpPr>
              <p:cNvPr id="4" name="文本框 3">
                <a:extLst>
                  <a:ext uri="{FF2B5EF4-FFF2-40B4-BE49-F238E27FC236}">
                    <a16:creationId xmlns:a16="http://schemas.microsoft.com/office/drawing/2014/main" id="{2D003EA4-59E2-4EF7-14F5-31477852E455}"/>
                  </a:ext>
                </a:extLst>
              </p:cNvPr>
              <p:cNvSpPr txBox="1">
                <a:spLocks noRot="1" noChangeAspect="1" noMove="1" noResize="1" noEditPoints="1" noAdjustHandles="1" noChangeArrowheads="1" noChangeShapeType="1" noTextEdit="1"/>
              </p:cNvSpPr>
              <p:nvPr/>
            </p:nvSpPr>
            <p:spPr>
              <a:xfrm>
                <a:off x="988196" y="1042334"/>
                <a:ext cx="10523620" cy="4893647"/>
              </a:xfrm>
              <a:prstGeom prst="rect">
                <a:avLst/>
              </a:prstGeom>
              <a:blipFill>
                <a:blip r:embed="rId2"/>
                <a:stretch>
                  <a:fillRect l="-869" t="-996" r="-3824"/>
                </a:stretch>
              </a:blipFill>
            </p:spPr>
            <p:txBody>
              <a:bodyPr/>
              <a:lstStyle/>
              <a:p>
                <a:r>
                  <a:rPr lang="zh-CN" altLang="en-US">
                    <a:noFill/>
                  </a:rPr>
                  <a:t> </a:t>
                </a:r>
              </a:p>
            </p:txBody>
          </p:sp>
        </mc:Fallback>
      </mc:AlternateContent>
      <p:graphicFrame>
        <p:nvGraphicFramePr>
          <p:cNvPr id="15" name="对象 14">
            <a:extLst>
              <a:ext uri="{FF2B5EF4-FFF2-40B4-BE49-F238E27FC236}">
                <a16:creationId xmlns:a16="http://schemas.microsoft.com/office/drawing/2014/main" id="{6C13AC6F-8A84-253E-E5A4-6DE299B160EE}"/>
              </a:ext>
            </a:extLst>
          </p:cNvPr>
          <p:cNvGraphicFramePr>
            <a:graphicFrameLocks noChangeAspect="1"/>
          </p:cNvGraphicFramePr>
          <p:nvPr>
            <p:extLst>
              <p:ext uri="{D42A27DB-BD31-4B8C-83A1-F6EECF244321}">
                <p14:modId xmlns:p14="http://schemas.microsoft.com/office/powerpoint/2010/main" val="2867023229"/>
              </p:ext>
            </p:extLst>
          </p:nvPr>
        </p:nvGraphicFramePr>
        <p:xfrm>
          <a:off x="2992889" y="5016129"/>
          <a:ext cx="5378450" cy="485775"/>
        </p:xfrm>
        <a:graphic>
          <a:graphicData uri="http://schemas.openxmlformats.org/presentationml/2006/ole">
            <mc:AlternateContent xmlns:mc="http://schemas.openxmlformats.org/markup-compatibility/2006">
              <mc:Choice xmlns:v="urn:schemas-microsoft-com:vml" Requires="v">
                <p:oleObj name="Equation" r:id="rId3" imgW="5378441" imgH="486377" progId="Equation.DSMT4">
                  <p:embed/>
                </p:oleObj>
              </mc:Choice>
              <mc:Fallback>
                <p:oleObj name="Equation" r:id="rId3" imgW="5378441" imgH="486377" progId="Equation.DSMT4">
                  <p:embed/>
                  <p:pic>
                    <p:nvPicPr>
                      <p:cNvPr id="0" name=""/>
                      <p:cNvPicPr/>
                      <p:nvPr/>
                    </p:nvPicPr>
                    <p:blipFill>
                      <a:blip r:embed="rId4"/>
                      <a:stretch>
                        <a:fillRect/>
                      </a:stretch>
                    </p:blipFill>
                    <p:spPr>
                      <a:xfrm>
                        <a:off x="2992889" y="5016129"/>
                        <a:ext cx="5378450" cy="485775"/>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CB65A8C0-5B1B-398C-47EE-EDAC18C10070}"/>
              </a:ext>
            </a:extLst>
          </p:cNvPr>
          <p:cNvSpPr txBox="1"/>
          <p:nvPr/>
        </p:nvSpPr>
        <p:spPr>
          <a:xfrm>
            <a:off x="9074495" y="5101794"/>
            <a:ext cx="999947" cy="400110"/>
          </a:xfrm>
          <a:prstGeom prst="rect">
            <a:avLst/>
          </a:prstGeom>
          <a:noFill/>
        </p:spPr>
        <p:txBody>
          <a:bodyPr wrap="square">
            <a:spAutoFit/>
          </a:bodyPr>
          <a:lstStyle/>
          <a:p>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6.6</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A134CAAD-B325-F661-46FE-4110FA11FC88}"/>
                  </a:ext>
                </a:extLst>
              </p:cNvPr>
              <p:cNvSpPr txBox="1"/>
              <p:nvPr/>
            </p:nvSpPr>
            <p:spPr>
              <a:xfrm>
                <a:off x="988196" y="5501904"/>
                <a:ext cx="10590997" cy="1200329"/>
              </a:xfrm>
              <a:prstGeom prst="rect">
                <a:avLst/>
              </a:prstGeom>
              <a:noFill/>
            </p:spPr>
            <p:txBody>
              <a:bodyPr wrap="square">
                <a:spAutoFit/>
              </a:bodyPr>
              <a:lstStyle/>
              <a:p>
                <a:pPr algn="just"/>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𝑿</m:t>
                        </m:r>
                      </m:e>
                      <m:sub>
                        <m:r>
                          <a:rPr lang="en-US" altLang="zh-CN" sz="2400" b="1" i="1" kern="100">
                            <a:effectLst/>
                            <a:latin typeface="Cambria Math" panose="02040503050406030204" pitchFamily="18" charset="0"/>
                            <a:ea typeface="宋体" panose="02010600030101010101" pitchFamily="2" charset="-122"/>
                          </a:rPr>
                          <m:t>𝒎</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oMath>
                </a14:m>
                <a:r>
                  <a:rPr lang="zh-CN" altLang="zh-CN" sz="2400" b="1" kern="100" dirty="0">
                    <a:effectLst/>
                    <a:latin typeface="微软雅黑" panose="020B0503020204020204" pitchFamily="34" charset="-122"/>
                    <a:ea typeface="微软雅黑" panose="020B0503020204020204" pitchFamily="34" charset="-122"/>
                  </a:rPr>
                  <a:t>表示当前栅格为自由栅格，</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𝑿</m:t>
                        </m:r>
                      </m:e>
                      <m:sub>
                        <m:r>
                          <a:rPr lang="en-US" altLang="zh-CN" sz="2400" b="1" i="1" kern="100">
                            <a:effectLst/>
                            <a:latin typeface="Cambria Math" panose="02040503050406030204" pitchFamily="18" charset="0"/>
                            <a:ea typeface="宋体" panose="02010600030101010101" pitchFamily="2" charset="-122"/>
                          </a:rPr>
                          <m:t>𝒎</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𝟏</m:t>
                    </m:r>
                  </m:oMath>
                </a14:m>
                <a:r>
                  <a:rPr lang="zh-CN" altLang="zh-CN" sz="2400" b="1" kern="100" dirty="0">
                    <a:effectLst/>
                    <a:latin typeface="微软雅黑" panose="020B0503020204020204" pitchFamily="34" charset="-122"/>
                    <a:ea typeface="微软雅黑" panose="020B0503020204020204" pitchFamily="34" charset="-122"/>
                  </a:rPr>
                  <a:t>表示当前栅格为障碍栅格。二值栅格环境模型如图</a:t>
                </a:r>
                <a:r>
                  <a:rPr lang="en-US" altLang="zh-CN" sz="2400" b="1" kern="100" dirty="0">
                    <a:effectLst/>
                    <a:latin typeface="微软雅黑" panose="020B0503020204020204" pitchFamily="34" charset="-122"/>
                    <a:ea typeface="微软雅黑" panose="020B0503020204020204" pitchFamily="34" charset="-122"/>
                  </a:rPr>
                  <a:t>6.8</a:t>
                </a:r>
                <a:r>
                  <a:rPr lang="zh-CN" altLang="zh-CN" sz="2400" b="1" kern="100" dirty="0">
                    <a:effectLst/>
                    <a:latin typeface="微软雅黑" panose="020B0503020204020204" pitchFamily="34" charset="-122"/>
                    <a:ea typeface="微软雅黑" panose="020B0503020204020204" pitchFamily="34" charset="-122"/>
                  </a:rPr>
                  <a:t>所示，直角坐标法栅格环境模型如图</a:t>
                </a:r>
                <a:r>
                  <a:rPr lang="en-US" altLang="zh-CN" sz="2400" b="1" kern="100" dirty="0">
                    <a:effectLst/>
                    <a:latin typeface="微软雅黑" panose="020B0503020204020204" pitchFamily="34" charset="-122"/>
                    <a:ea typeface="微软雅黑" panose="020B0503020204020204" pitchFamily="34" charset="-122"/>
                  </a:rPr>
                  <a:t>6.9</a:t>
                </a:r>
                <a:r>
                  <a:rPr lang="zh-CN" altLang="zh-CN" sz="2400" b="1" kern="100" dirty="0">
                    <a:effectLst/>
                    <a:latin typeface="微软雅黑" panose="020B0503020204020204" pitchFamily="34" charset="-122"/>
                    <a:ea typeface="微软雅黑" panose="020B0503020204020204" pitchFamily="34" charset="-122"/>
                  </a:rPr>
                  <a:t>所示，图</a:t>
                </a:r>
                <a:r>
                  <a:rPr lang="en-US" altLang="zh-CN" sz="2400" b="1" kern="100" dirty="0">
                    <a:effectLst/>
                    <a:latin typeface="微软雅黑" panose="020B0503020204020204" pitchFamily="34" charset="-122"/>
                    <a:ea typeface="微软雅黑" panose="020B0503020204020204" pitchFamily="34" charset="-122"/>
                  </a:rPr>
                  <a:t>6.9</a:t>
                </a:r>
                <a:r>
                  <a:rPr lang="zh-CN" altLang="zh-CN" sz="2400" b="1" kern="100" dirty="0">
                    <a:effectLst/>
                    <a:latin typeface="微软雅黑" panose="020B0503020204020204" pitchFamily="34" charset="-122"/>
                    <a:ea typeface="微软雅黑" panose="020B0503020204020204" pitchFamily="34" charset="-122"/>
                  </a:rPr>
                  <a:t>中的各个坐标就是单元栅格的坐标。</a:t>
                </a:r>
              </a:p>
            </p:txBody>
          </p:sp>
        </mc:Choice>
        <mc:Fallback xmlns="">
          <p:sp>
            <p:nvSpPr>
              <p:cNvPr id="19" name="文本框 18">
                <a:extLst>
                  <a:ext uri="{FF2B5EF4-FFF2-40B4-BE49-F238E27FC236}">
                    <a16:creationId xmlns:a16="http://schemas.microsoft.com/office/drawing/2014/main" id="{A134CAAD-B325-F661-46FE-4110FA11FC88}"/>
                  </a:ext>
                </a:extLst>
              </p:cNvPr>
              <p:cNvSpPr txBox="1">
                <a:spLocks noRot="1" noChangeAspect="1" noMove="1" noResize="1" noEditPoints="1" noAdjustHandles="1" noChangeArrowheads="1" noChangeShapeType="1" noTextEdit="1"/>
              </p:cNvSpPr>
              <p:nvPr/>
            </p:nvSpPr>
            <p:spPr>
              <a:xfrm>
                <a:off x="988196" y="5501904"/>
                <a:ext cx="10590997" cy="1200329"/>
              </a:xfrm>
              <a:prstGeom prst="rect">
                <a:avLst/>
              </a:prstGeom>
              <a:blipFill>
                <a:blip r:embed="rId5"/>
                <a:stretch>
                  <a:fillRect l="-864" t="-4082" r="-921" b="-112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3656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 name="组合 8">
            <a:extLst>
              <a:ext uri="{FF2B5EF4-FFF2-40B4-BE49-F238E27FC236}">
                <a16:creationId xmlns:a16="http://schemas.microsoft.com/office/drawing/2014/main" id="{38CA072E-4928-8A80-DF39-A78CCBD1B9B2}"/>
              </a:ext>
            </a:extLst>
          </p:cNvPr>
          <p:cNvGrpSpPr>
            <a:grpSpLocks/>
          </p:cNvGrpSpPr>
          <p:nvPr/>
        </p:nvGrpSpPr>
        <p:grpSpPr bwMode="auto">
          <a:xfrm>
            <a:off x="1350526" y="1777627"/>
            <a:ext cx="4469829" cy="3800731"/>
            <a:chOff x="670350" y="1196752"/>
            <a:chExt cx="2705489" cy="2514475"/>
          </a:xfrm>
        </p:grpSpPr>
        <p:pic>
          <p:nvPicPr>
            <p:cNvPr id="10" name="图片 1">
              <a:extLst>
                <a:ext uri="{FF2B5EF4-FFF2-40B4-BE49-F238E27FC236}">
                  <a16:creationId xmlns:a16="http://schemas.microsoft.com/office/drawing/2014/main" id="{8DCCFB1C-F31A-9EE7-5617-7648CFEA2F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196752"/>
              <a:ext cx="1958975"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7">
              <a:extLst>
                <a:ext uri="{FF2B5EF4-FFF2-40B4-BE49-F238E27FC236}">
                  <a16:creationId xmlns:a16="http://schemas.microsoft.com/office/drawing/2014/main" id="{F7090EF8-889C-39D4-3771-AB847C59BB6C}"/>
                </a:ext>
              </a:extLst>
            </p:cNvPr>
            <p:cNvSpPr txBox="1">
              <a:spLocks noChangeArrowheads="1"/>
            </p:cNvSpPr>
            <p:nvPr/>
          </p:nvSpPr>
          <p:spPr bwMode="auto">
            <a:xfrm>
              <a:off x="670350" y="3362081"/>
              <a:ext cx="2705489" cy="34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a:cs typeface="Times New Roman" panose="02020603050405020304" pitchFamily="18" charset="0"/>
                </a:rPr>
                <a:t>图</a:t>
              </a:r>
              <a:r>
                <a:rPr lang="en-US" altLang="zh-CN" sz="2000">
                  <a:cs typeface="Times New Roman" panose="02020603050405020304" pitchFamily="18" charset="0"/>
                </a:rPr>
                <a:t>6-8 </a:t>
              </a:r>
              <a:r>
                <a:rPr lang="zh-CN" altLang="zh-CN" sz="2000">
                  <a:cs typeface="Times New Roman" panose="02020603050405020304" pitchFamily="18" charset="0"/>
                </a:rPr>
                <a:t>二值栅格环境模型</a:t>
              </a:r>
              <a:endParaRPr lang="zh-CN" altLang="en-US" sz="2000"/>
            </a:p>
          </p:txBody>
        </p:sp>
      </p:grpSp>
      <p:grpSp>
        <p:nvGrpSpPr>
          <p:cNvPr id="12" name="组合 12">
            <a:extLst>
              <a:ext uri="{FF2B5EF4-FFF2-40B4-BE49-F238E27FC236}">
                <a16:creationId xmlns:a16="http://schemas.microsoft.com/office/drawing/2014/main" id="{26CFDF31-90A2-0329-F330-B73F3DE42527}"/>
              </a:ext>
            </a:extLst>
          </p:cNvPr>
          <p:cNvGrpSpPr>
            <a:grpSpLocks/>
          </p:cNvGrpSpPr>
          <p:nvPr/>
        </p:nvGrpSpPr>
        <p:grpSpPr bwMode="auto">
          <a:xfrm>
            <a:off x="6892317" y="1459640"/>
            <a:ext cx="3812123" cy="4113388"/>
            <a:chOff x="4920571" y="1347740"/>
            <a:chExt cx="2602667" cy="2671845"/>
          </a:xfrm>
        </p:grpSpPr>
        <p:graphicFrame>
          <p:nvGraphicFramePr>
            <p:cNvPr id="13" name="对象 4">
              <a:extLst>
                <a:ext uri="{FF2B5EF4-FFF2-40B4-BE49-F238E27FC236}">
                  <a16:creationId xmlns:a16="http://schemas.microsoft.com/office/drawing/2014/main" id="{67D9D354-3458-644A-3D86-5D2C05243F6E}"/>
                </a:ext>
              </a:extLst>
            </p:cNvPr>
            <p:cNvGraphicFramePr>
              <a:graphicFrameLocks noChangeAspect="1"/>
            </p:cNvGraphicFramePr>
            <p:nvPr>
              <p:extLst>
                <p:ext uri="{D42A27DB-BD31-4B8C-83A1-F6EECF244321}">
                  <p14:modId xmlns:p14="http://schemas.microsoft.com/office/powerpoint/2010/main" val="2285523088"/>
                </p:ext>
              </p:extLst>
            </p:nvPr>
          </p:nvGraphicFramePr>
          <p:xfrm>
            <a:off x="5002958" y="1347740"/>
            <a:ext cx="2520280" cy="2413034"/>
          </p:xfrm>
          <a:graphic>
            <a:graphicData uri="http://schemas.openxmlformats.org/presentationml/2006/ole">
              <mc:AlternateContent xmlns:mc="http://schemas.openxmlformats.org/markup-compatibility/2006">
                <mc:Choice xmlns:v="urn:schemas-microsoft-com:vml" Requires="v">
                  <p:oleObj r:id="rId3" imgW="4300283" imgH="4158589" progId="Visio.Drawing.11">
                    <p:embed/>
                  </p:oleObj>
                </mc:Choice>
                <mc:Fallback>
                  <p:oleObj r:id="rId3" imgW="4300283" imgH="4158589" progId="Visio.Drawing.11">
                    <p:embed/>
                    <p:pic>
                      <p:nvPicPr>
                        <p:cNvPr id="17413" name="对象 4">
                          <a:extLst>
                            <a:ext uri="{FF2B5EF4-FFF2-40B4-BE49-F238E27FC236}">
                              <a16:creationId xmlns:a16="http://schemas.microsoft.com/office/drawing/2014/main" id="{DB92C405-E681-CA05-CBF5-19DF24B81B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2958" y="1347740"/>
                          <a:ext cx="2520280" cy="2413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文本框 11">
              <a:extLst>
                <a:ext uri="{FF2B5EF4-FFF2-40B4-BE49-F238E27FC236}">
                  <a16:creationId xmlns:a16="http://schemas.microsoft.com/office/drawing/2014/main" id="{68022ECA-8737-A649-23FA-222C5CCE53E2}"/>
                </a:ext>
              </a:extLst>
            </p:cNvPr>
            <p:cNvSpPr txBox="1">
              <a:spLocks noChangeArrowheads="1"/>
            </p:cNvSpPr>
            <p:nvPr/>
          </p:nvSpPr>
          <p:spPr bwMode="auto">
            <a:xfrm>
              <a:off x="4920571" y="3680249"/>
              <a:ext cx="2602667" cy="339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000">
                  <a:cs typeface="Times New Roman" panose="02020603050405020304" pitchFamily="18" charset="0"/>
                </a:rPr>
                <a:t>图</a:t>
              </a:r>
              <a:r>
                <a:rPr lang="en-US" altLang="zh-CN" sz="2000">
                  <a:cs typeface="Times New Roman" panose="02020603050405020304" pitchFamily="18" charset="0"/>
                </a:rPr>
                <a:t>6-9 </a:t>
              </a:r>
              <a:r>
                <a:rPr lang="zh-CN" altLang="zh-CN" sz="2000">
                  <a:cs typeface="Times New Roman" panose="02020603050405020304" pitchFamily="18" charset="0"/>
                </a:rPr>
                <a:t>坐标法栅格环境模型</a:t>
              </a:r>
              <a:endParaRPr lang="zh-CN" altLang="en-US" sz="2000">
                <a:latin typeface="Tahoma" panose="020B0604030504040204" pitchFamily="34" charset="0"/>
              </a:endParaRPr>
            </a:p>
          </p:txBody>
        </p:sp>
      </p:grpSp>
    </p:spTree>
    <p:extLst>
      <p:ext uri="{BB962C8B-B14F-4D97-AF65-F5344CB8AC3E}">
        <p14:creationId xmlns:p14="http://schemas.microsoft.com/office/powerpoint/2010/main" val="3994007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6E260B7-4FE2-A590-BF1C-059DD4FB6CFA}"/>
                  </a:ext>
                </a:extLst>
              </p:cNvPr>
              <p:cNvSpPr txBox="1"/>
              <p:nvPr/>
            </p:nvSpPr>
            <p:spPr>
              <a:xfrm>
                <a:off x="1001027" y="1135781"/>
                <a:ext cx="6126480" cy="4601260"/>
              </a:xfrm>
              <a:prstGeom prst="rect">
                <a:avLst/>
              </a:prstGeom>
              <a:noFill/>
            </p:spPr>
            <p:txBody>
              <a:bodyPr wrap="square">
                <a:spAutoFit/>
              </a:bodyPr>
              <a:lstStyle/>
              <a:p>
                <a:pPr indent="269875"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序号法</a:t>
                </a:r>
              </a:p>
              <a:p>
                <a:pPr algn="just"/>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序号法的思想是为每个单元栅格赋序列值，以此来使所有单元栅格序列化，具体过程如下：首先在二维栅格环境模型上创建直角坐标系，创建过程与直角坐标系法相同，假设序列集</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𝑪</m:t>
                    </m:r>
                    <m:r>
                      <a:rPr lang="en-US" altLang="zh-CN" sz="2400" b="1" i="1" kern="100" smtClean="0">
                        <a:effectLst/>
                        <a:latin typeface="Cambria Math" panose="02040503050406030204" pitchFamily="18" charset="0"/>
                        <a:ea typeface="宋体" panose="02010600030101010101" pitchFamily="2" charset="-122"/>
                      </a:rPr>
                      <m:t>=</m:t>
                    </m:r>
                  </m:oMath>
                </a14:m>
                <a:r>
                  <a:rPr lang="en-US" altLang="zh-CN" sz="2400" b="1" kern="10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𝟏</m:t>
                    </m:r>
                    <m:r>
                      <a:rPr lang="en-US" altLang="zh-CN" sz="2400" b="1" i="1" kern="100" smtClean="0">
                        <a:effectLst/>
                        <a:latin typeface="Cambria Math" panose="02040503050406030204" pitchFamily="18" charset="0"/>
                        <a:ea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𝟐</m:t>
                    </m:r>
                    <m:r>
                      <a:rPr lang="en-US" altLang="zh-CN" sz="2400" b="1" i="1" kern="100" smtClean="0">
                        <a:effectLst/>
                        <a:latin typeface="Cambria Math" panose="02040503050406030204" pitchFamily="18" charset="0"/>
                        <a:ea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𝟑</m:t>
                    </m:r>
                    <m:r>
                      <a:rPr lang="en-US" altLang="zh-CN" sz="2400" b="1" i="1" kern="100" smtClean="0">
                        <a:effectLst/>
                        <a:latin typeface="Cambria Math" panose="02040503050406030204" pitchFamily="18" charset="0"/>
                        <a:ea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𝒖</m:t>
                    </m:r>
                    <m:r>
                      <a:rPr lang="en-US" altLang="zh-CN" sz="2400" b="1" i="1" kern="100" smtClean="0">
                        <a:effectLst/>
                        <a:latin typeface="Cambria Math" panose="02040503050406030204" pitchFamily="18" charset="0"/>
                        <a:ea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𝒖</m:t>
                    </m:r>
                    <m:r>
                      <a:rPr lang="zh-CN" altLang="zh-CN" sz="2400" b="1" i="1" kern="100" smtClean="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𝑵</m:t>
                    </m:r>
                    <m:r>
                      <a:rPr lang="en-US" altLang="zh-CN" sz="2400" b="1" i="1" kern="100" smtClean="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，若</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𝒎</m:t>
                    </m:r>
                  </m:oMath>
                </a14:m>
                <a:r>
                  <a:rPr lang="zh-CN" altLang="zh-CN" sz="2400" b="1" kern="100" dirty="0">
                    <a:effectLst/>
                    <a:latin typeface="微软雅黑" panose="020B0503020204020204" pitchFamily="34" charset="-122"/>
                    <a:ea typeface="微软雅黑" panose="020B0503020204020204" pitchFamily="34" charset="-122"/>
                  </a:rPr>
                  <a:t>代表序列号，</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𝒎</m:t>
                    </m:r>
                    <m:r>
                      <a:rPr lang="zh-CN" altLang="zh-CN" sz="2400" b="1" i="1" kern="100" smtClean="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𝑪</m:t>
                    </m:r>
                  </m:oMath>
                </a14:m>
                <a:r>
                  <a:rPr lang="zh-CN" altLang="zh-CN" sz="2400" b="1" kern="100" dirty="0">
                    <a:effectLst/>
                    <a:latin typeface="微软雅黑" panose="020B0503020204020204" pitchFamily="34" charset="-122"/>
                    <a:ea typeface="微软雅黑" panose="020B0503020204020204" pitchFamily="34" charset="-122"/>
                  </a:rPr>
                  <a:t>，对每个栅格从上到下、从左到右依次赋一序列值</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𝒎</m:t>
                    </m:r>
                  </m:oMath>
                </a14:m>
                <a:r>
                  <a:rPr lang="zh-CN" altLang="zh-CN" sz="2400" b="1" kern="100" dirty="0">
                    <a:effectLst/>
                    <a:latin typeface="微软雅黑" panose="020B0503020204020204" pitchFamily="34" charset="-122"/>
                    <a:ea typeface="微软雅黑" panose="020B0503020204020204" pitchFamily="34" charset="-122"/>
                  </a:rPr>
                  <a:t>，单元栅格序列化的结果，即序号法栅格环境模型如图</a:t>
                </a:r>
                <a:r>
                  <a:rPr lang="en-US" altLang="zh-CN" sz="2400" b="1" kern="100" dirty="0">
                    <a:effectLst/>
                    <a:latin typeface="微软雅黑" panose="020B0503020204020204" pitchFamily="34" charset="-122"/>
                    <a:ea typeface="微软雅黑" panose="020B0503020204020204" pitchFamily="34" charset="-122"/>
                  </a:rPr>
                  <a:t>6.10</a:t>
                </a:r>
                <a:r>
                  <a:rPr lang="zh-CN" altLang="zh-CN" sz="2400" b="1" kern="100" dirty="0">
                    <a:effectLst/>
                    <a:latin typeface="微软雅黑" panose="020B0503020204020204" pitchFamily="34" charset="-122"/>
                    <a:ea typeface="微软雅黑" panose="020B0503020204020204" pitchFamily="34" charset="-122"/>
                  </a:rPr>
                  <a:t>所示。在直角坐标系中，直角坐标系法与序号法相互对应，直角坐标系法中每个单元栅格的坐标位置</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𝒙</m:t>
                        </m:r>
                      </m:e>
                      <m:sub>
                        <m:r>
                          <a:rPr lang="en-US" altLang="zh-CN" sz="2400" b="1" i="1" kern="100" smtClean="0">
                            <a:effectLst/>
                            <a:latin typeface="Cambria Math" panose="02040503050406030204" pitchFamily="18" charset="0"/>
                            <a:ea typeface="宋体" panose="02010600030101010101" pitchFamily="2" charset="-122"/>
                          </a:rPr>
                          <m:t>𝒎</m:t>
                        </m:r>
                      </m:sub>
                    </m:sSub>
                    <m:r>
                      <a:rPr lang="en-US" altLang="zh-CN" sz="2400" b="1" i="1" kern="100" smtClean="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𝒚</m:t>
                        </m:r>
                      </m:e>
                      <m:sub>
                        <m:r>
                          <a:rPr lang="en-US" altLang="zh-CN" sz="2400" b="1" i="1" kern="100" smtClean="0">
                            <a:effectLst/>
                            <a:latin typeface="Cambria Math" panose="02040503050406030204" pitchFamily="18" charset="0"/>
                            <a:ea typeface="宋体" panose="02010600030101010101" pitchFamily="2" charset="-122"/>
                          </a:rPr>
                          <m:t>𝒎</m:t>
                        </m:r>
                      </m:sub>
                    </m:sSub>
                    <m:r>
                      <a:rPr lang="en-US" altLang="zh-CN" sz="2400" b="1" i="1" kern="100" smtClean="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均可由序号</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𝒎</m:t>
                    </m:r>
                  </m:oMath>
                </a14:m>
                <a:r>
                  <a:rPr lang="zh-CN" altLang="zh-CN" sz="2400" b="1" kern="100" dirty="0">
                    <a:effectLst/>
                    <a:latin typeface="微软雅黑" panose="020B0503020204020204" pitchFamily="34" charset="-122"/>
                    <a:ea typeface="微软雅黑" panose="020B0503020204020204" pitchFamily="34" charset="-122"/>
                  </a:rPr>
                  <a:t>来确定：</a:t>
                </a:r>
              </a:p>
            </p:txBody>
          </p:sp>
        </mc:Choice>
        <mc:Fallback xmlns="">
          <p:sp>
            <p:nvSpPr>
              <p:cNvPr id="5" name="文本框 4">
                <a:extLst>
                  <a:ext uri="{FF2B5EF4-FFF2-40B4-BE49-F238E27FC236}">
                    <a16:creationId xmlns:a16="http://schemas.microsoft.com/office/drawing/2014/main" id="{06E260B7-4FE2-A590-BF1C-059DD4FB6CFA}"/>
                  </a:ext>
                </a:extLst>
              </p:cNvPr>
              <p:cNvSpPr txBox="1">
                <a:spLocks noRot="1" noChangeAspect="1" noMove="1" noResize="1" noEditPoints="1" noAdjustHandles="1" noChangeArrowheads="1" noChangeShapeType="1" noTextEdit="1"/>
              </p:cNvSpPr>
              <p:nvPr/>
            </p:nvSpPr>
            <p:spPr>
              <a:xfrm>
                <a:off x="1001027" y="1135781"/>
                <a:ext cx="6126480" cy="4601260"/>
              </a:xfrm>
              <a:prstGeom prst="rect">
                <a:avLst/>
              </a:prstGeom>
              <a:blipFill>
                <a:blip r:embed="rId2"/>
                <a:stretch>
                  <a:fillRect l="-1493" t="-1060" r="-6667" b="-2119"/>
                </a:stretch>
              </a:blipFill>
            </p:spPr>
            <p:txBody>
              <a:bodyPr/>
              <a:lstStyle/>
              <a:p>
                <a:r>
                  <a:rPr lang="zh-CN" altLang="en-US">
                    <a:noFill/>
                  </a:rPr>
                  <a:t> </a:t>
                </a:r>
              </a:p>
            </p:txBody>
          </p:sp>
        </mc:Fallback>
      </mc:AlternateContent>
      <p:graphicFrame>
        <p:nvGraphicFramePr>
          <p:cNvPr id="21" name="对象 20">
            <a:extLst>
              <a:ext uri="{FF2B5EF4-FFF2-40B4-BE49-F238E27FC236}">
                <a16:creationId xmlns:a16="http://schemas.microsoft.com/office/drawing/2014/main" id="{E15FD787-A369-FCC2-9C3A-5E372BD01853}"/>
              </a:ext>
            </a:extLst>
          </p:cNvPr>
          <p:cNvGraphicFramePr>
            <a:graphicFrameLocks noChangeAspect="1"/>
          </p:cNvGraphicFramePr>
          <p:nvPr>
            <p:extLst>
              <p:ext uri="{D42A27DB-BD31-4B8C-83A1-F6EECF244321}">
                <p14:modId xmlns:p14="http://schemas.microsoft.com/office/powerpoint/2010/main" val="1971658643"/>
              </p:ext>
            </p:extLst>
          </p:nvPr>
        </p:nvGraphicFramePr>
        <p:xfrm>
          <a:off x="7946133" y="1577867"/>
          <a:ext cx="3675048" cy="3922971"/>
        </p:xfrm>
        <a:graphic>
          <a:graphicData uri="http://schemas.openxmlformats.org/presentationml/2006/ole">
            <mc:AlternateContent xmlns:mc="http://schemas.openxmlformats.org/markup-compatibility/2006">
              <mc:Choice xmlns:v="urn:schemas-microsoft-com:vml" Requires="v">
                <p:oleObj r:id="rId3" imgW="4482886" imgH="4572000" progId="Visio.Drawing.11">
                  <p:embed/>
                </p:oleObj>
              </mc:Choice>
              <mc:Fallback>
                <p:oleObj r:id="rId3" imgW="4482886" imgH="4572000" progId="Visio.Drawing.11">
                  <p:embed/>
                  <p:pic>
                    <p:nvPicPr>
                      <p:cNvPr id="5" name="对象 4">
                        <a:extLst>
                          <a:ext uri="{FF2B5EF4-FFF2-40B4-BE49-F238E27FC236}">
                            <a16:creationId xmlns:a16="http://schemas.microsoft.com/office/drawing/2014/main" id="{56068915-9205-DF3A-A575-C45DF59FFF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6133" y="1577867"/>
                        <a:ext cx="3675048" cy="3922971"/>
                      </a:xfrm>
                      <a:prstGeom prst="rect">
                        <a:avLst/>
                      </a:prstGeom>
                      <a:noFill/>
                    </p:spPr>
                  </p:pic>
                </p:oleObj>
              </mc:Fallback>
            </mc:AlternateContent>
          </a:graphicData>
        </a:graphic>
      </p:graphicFrame>
      <p:sp>
        <p:nvSpPr>
          <p:cNvPr id="23" name="文本框 22">
            <a:extLst>
              <a:ext uri="{FF2B5EF4-FFF2-40B4-BE49-F238E27FC236}">
                <a16:creationId xmlns:a16="http://schemas.microsoft.com/office/drawing/2014/main" id="{A15C1375-C4FB-F2AD-4C53-EC3EB8A21859}"/>
              </a:ext>
            </a:extLst>
          </p:cNvPr>
          <p:cNvSpPr txBox="1"/>
          <p:nvPr/>
        </p:nvSpPr>
        <p:spPr>
          <a:xfrm>
            <a:off x="6595712" y="5352887"/>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6.10  </a:t>
            </a:r>
            <a:r>
              <a:rPr lang="zh-CN" altLang="zh-CN" sz="1800" kern="1000" dirty="0">
                <a:effectLst/>
                <a:latin typeface="Times New Roman" panose="02020603050405020304" pitchFamily="18" charset="0"/>
                <a:ea typeface="宋体" panose="02010600030101010101" pitchFamily="2" charset="-122"/>
              </a:rPr>
              <a:t>序号法栅格环境模型</a:t>
            </a:r>
          </a:p>
        </p:txBody>
      </p:sp>
    </p:spTree>
    <p:extLst>
      <p:ext uri="{BB962C8B-B14F-4D97-AF65-F5344CB8AC3E}">
        <p14:creationId xmlns:p14="http://schemas.microsoft.com/office/powerpoint/2010/main" val="826463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2">
            <a:extLst>
              <a:ext uri="{FF2B5EF4-FFF2-40B4-BE49-F238E27FC236}">
                <a16:creationId xmlns:a16="http://schemas.microsoft.com/office/drawing/2014/main" id="{B33C4739-D1C4-4C53-6304-F6EC0E87ADF3}"/>
              </a:ext>
            </a:extLst>
          </p:cNvPr>
          <p:cNvSpPr>
            <a:spLocks noChangeArrowheads="1"/>
          </p:cNvSpPr>
          <p:nvPr/>
        </p:nvSpPr>
        <p:spPr bwMode="auto">
          <a:xfrm>
            <a:off x="3591809" y="1635075"/>
            <a:ext cx="17066156" cy="41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1" name="对象 10">
            <a:extLst>
              <a:ext uri="{FF2B5EF4-FFF2-40B4-BE49-F238E27FC236}">
                <a16:creationId xmlns:a16="http://schemas.microsoft.com/office/drawing/2014/main" id="{EEF7A56F-A165-1452-9A4D-C732ECABDB2C}"/>
              </a:ext>
            </a:extLst>
          </p:cNvPr>
          <p:cNvGraphicFramePr>
            <a:graphicFrameLocks noChangeAspect="1"/>
          </p:cNvGraphicFramePr>
          <p:nvPr>
            <p:extLst>
              <p:ext uri="{D42A27DB-BD31-4B8C-83A1-F6EECF244321}">
                <p14:modId xmlns:p14="http://schemas.microsoft.com/office/powerpoint/2010/main" val="2592496960"/>
              </p:ext>
            </p:extLst>
          </p:nvPr>
        </p:nvGraphicFramePr>
        <p:xfrm>
          <a:off x="3591809" y="1145928"/>
          <a:ext cx="3350460" cy="539365"/>
        </p:xfrm>
        <a:graphic>
          <a:graphicData uri="http://schemas.openxmlformats.org/presentationml/2006/ole">
            <mc:AlternateContent xmlns:mc="http://schemas.openxmlformats.org/markup-compatibility/2006">
              <mc:Choice xmlns:v="urn:schemas-microsoft-com:vml" Requires="v">
                <p:oleObj name="Equation" r:id="rId2" imgW="3491540" imgH="562340" progId="Equation.DSMT4">
                  <p:embed/>
                </p:oleObj>
              </mc:Choice>
              <mc:Fallback>
                <p:oleObj name="Equation" r:id="rId2" imgW="3491540" imgH="562340" progId="Equation.DSMT4">
                  <p:embed/>
                  <p:pic>
                    <p:nvPicPr>
                      <p:cNvPr id="0" name=""/>
                      <p:cNvPicPr/>
                      <p:nvPr/>
                    </p:nvPicPr>
                    <p:blipFill>
                      <a:blip r:embed="rId3"/>
                      <a:stretch>
                        <a:fillRect/>
                      </a:stretch>
                    </p:blipFill>
                    <p:spPr>
                      <a:xfrm>
                        <a:off x="3591809" y="1145928"/>
                        <a:ext cx="3350460" cy="53936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CB95308C-ABD0-928B-E711-47213E59F032}"/>
              </a:ext>
            </a:extLst>
          </p:cNvPr>
          <p:cNvGraphicFramePr>
            <a:graphicFrameLocks noChangeAspect="1"/>
          </p:cNvGraphicFramePr>
          <p:nvPr>
            <p:extLst>
              <p:ext uri="{D42A27DB-BD31-4B8C-83A1-F6EECF244321}">
                <p14:modId xmlns:p14="http://schemas.microsoft.com/office/powerpoint/2010/main" val="737540643"/>
              </p:ext>
            </p:extLst>
          </p:nvPr>
        </p:nvGraphicFramePr>
        <p:xfrm>
          <a:off x="4010507" y="1614211"/>
          <a:ext cx="2378308" cy="988170"/>
        </p:xfrm>
        <a:graphic>
          <a:graphicData uri="http://schemas.openxmlformats.org/presentationml/2006/ole">
            <mc:AlternateContent xmlns:mc="http://schemas.openxmlformats.org/markup-compatibility/2006">
              <mc:Choice xmlns:v="urn:schemas-microsoft-com:vml" Requires="v">
                <p:oleObj name="Equation" r:id="rId4" imgW="2479865" imgH="1030357" progId="Equation.DSMT4">
                  <p:embed/>
                </p:oleObj>
              </mc:Choice>
              <mc:Fallback>
                <p:oleObj name="Equation" r:id="rId4" imgW="2479865" imgH="1030357" progId="Equation.DSMT4">
                  <p:embed/>
                  <p:pic>
                    <p:nvPicPr>
                      <p:cNvPr id="0" name=""/>
                      <p:cNvPicPr/>
                      <p:nvPr/>
                    </p:nvPicPr>
                    <p:blipFill>
                      <a:blip r:embed="rId5"/>
                      <a:stretch>
                        <a:fillRect/>
                      </a:stretch>
                    </p:blipFill>
                    <p:spPr>
                      <a:xfrm>
                        <a:off x="4010507" y="1614211"/>
                        <a:ext cx="2378308" cy="98817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11F33C30-69F5-005E-787F-1E7200D1DF99}"/>
                  </a:ext>
                </a:extLst>
              </p:cNvPr>
              <p:cNvSpPr txBox="1"/>
              <p:nvPr/>
            </p:nvSpPr>
            <p:spPr>
              <a:xfrm>
                <a:off x="1109935" y="2535860"/>
                <a:ext cx="10327906" cy="46166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𝒏</m:t>
                        </m:r>
                      </m:e>
                      <m:sub>
                        <m:r>
                          <a:rPr lang="en-US" altLang="zh-CN" sz="2400" b="1" i="1" kern="100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为单元栅格行数，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𝒎𝒐𝒅</m:t>
                    </m:r>
                  </m:oMath>
                </a14:m>
                <a:r>
                  <a:rPr lang="zh-CN" altLang="zh-CN" sz="2400" b="1" kern="1000" dirty="0">
                    <a:effectLst/>
                    <a:latin typeface="微软雅黑" panose="020B0503020204020204" pitchFamily="34" charset="-122"/>
                    <a:ea typeface="微软雅黑" panose="020B0503020204020204" pitchFamily="34" charset="-122"/>
                  </a:rPr>
                  <a:t>为求余运算，</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𝒊𝒏𝒕</m:t>
                    </m:r>
                  </m:oMath>
                </a14:m>
                <a:r>
                  <a:rPr lang="zh-CN" altLang="zh-CN" sz="2400" b="1" kern="1000" dirty="0">
                    <a:effectLst/>
                    <a:latin typeface="微软雅黑" panose="020B0503020204020204" pitchFamily="34" charset="-122"/>
                    <a:ea typeface="微软雅黑" panose="020B0503020204020204" pitchFamily="34" charset="-122"/>
                  </a:rPr>
                  <a:t>为向下取整运算。</a:t>
                </a:r>
              </a:p>
            </p:txBody>
          </p:sp>
        </mc:Choice>
        <mc:Fallback xmlns="">
          <p:sp>
            <p:nvSpPr>
              <p:cNvPr id="16" name="文本框 15">
                <a:extLst>
                  <a:ext uri="{FF2B5EF4-FFF2-40B4-BE49-F238E27FC236}">
                    <a16:creationId xmlns:a16="http://schemas.microsoft.com/office/drawing/2014/main" id="{11F33C30-69F5-005E-787F-1E7200D1DF99}"/>
                  </a:ext>
                </a:extLst>
              </p:cNvPr>
              <p:cNvSpPr txBox="1">
                <a:spLocks noRot="1" noChangeAspect="1" noMove="1" noResize="1" noEditPoints="1" noAdjustHandles="1" noChangeArrowheads="1" noChangeShapeType="1" noTextEdit="1"/>
              </p:cNvSpPr>
              <p:nvPr/>
            </p:nvSpPr>
            <p:spPr>
              <a:xfrm>
                <a:off x="1109935" y="2535860"/>
                <a:ext cx="10327906" cy="461665"/>
              </a:xfrm>
              <a:prstGeom prst="rect">
                <a:avLst/>
              </a:prstGeom>
              <a:blipFill>
                <a:blip r:embed="rId6"/>
                <a:stretch>
                  <a:fillRect l="-885" t="-10526" b="-28947"/>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938CF833-6D0B-DC1C-58A0-1846F7C1B919}"/>
              </a:ext>
            </a:extLst>
          </p:cNvPr>
          <p:cNvSpPr txBox="1"/>
          <p:nvPr/>
        </p:nvSpPr>
        <p:spPr>
          <a:xfrm>
            <a:off x="7652082" y="1339998"/>
            <a:ext cx="2969393" cy="400110"/>
          </a:xfrm>
          <a:prstGeom prst="rect">
            <a:avLst/>
          </a:prstGeom>
          <a:noFill/>
        </p:spPr>
        <p:txBody>
          <a:bodyPr wrap="square">
            <a:spAutoFit/>
          </a:bodyPr>
          <a:lstStyle/>
          <a:p>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6.7</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1"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267F0FD0-9A71-AB54-9F0C-86FC7622B495}"/>
              </a:ext>
            </a:extLst>
          </p:cNvPr>
          <p:cNvSpPr txBox="1"/>
          <p:nvPr/>
        </p:nvSpPr>
        <p:spPr>
          <a:xfrm>
            <a:off x="7652081" y="1963413"/>
            <a:ext cx="2969393" cy="400110"/>
          </a:xfrm>
          <a:prstGeom prst="rect">
            <a:avLst/>
          </a:prstGeom>
          <a:noFill/>
        </p:spPr>
        <p:txBody>
          <a:bodyPr wrap="square">
            <a:spAutoFit/>
          </a:bodyPr>
          <a:lstStyle/>
          <a:p>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6.8</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1"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75B42AB3-494D-A68F-0BB2-0BA0C22D1E56}"/>
              </a:ext>
            </a:extLst>
          </p:cNvPr>
          <p:cNvSpPr txBox="1"/>
          <p:nvPr/>
        </p:nvSpPr>
        <p:spPr>
          <a:xfrm>
            <a:off x="1109935" y="2910234"/>
            <a:ext cx="6166764" cy="3785652"/>
          </a:xfrm>
          <a:prstGeom prst="rect">
            <a:avLst/>
          </a:prstGeom>
          <a:noFill/>
        </p:spPr>
        <p:txBody>
          <a:bodyPr wrap="square">
            <a:spAutoFit/>
          </a:bodyPr>
          <a:lstStyle/>
          <a:p>
            <a:r>
              <a:rPr kumimoji="0" lang="en-US"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可视图法将障碍物转化为地图中的不规则多边形，并将机器人起始点、终止点及各个多边形之间的可见顶点对两两连接，构成可视图，如图</a:t>
            </a: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6.11</a:t>
            </a: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所示。之后根据可视图中存在的连接线进行路径搜索即可获得从起始点到目标点的无碰撞可行路径。方法适用于障碍物稀疏分布的环境，对于障碍物数量较多且分布杂乱的情况，障碍物多边形的顶点过多，可视图边数会大大增加，增加了路径搜索的耗时。</a:t>
            </a:r>
            <a:endParaRPr lang="zh-CN" altLang="en-US" sz="2400" dirty="0"/>
          </a:p>
        </p:txBody>
      </p:sp>
      <p:pic>
        <p:nvPicPr>
          <p:cNvPr id="23" name="Picture 2">
            <a:extLst>
              <a:ext uri="{FF2B5EF4-FFF2-40B4-BE49-F238E27FC236}">
                <a16:creationId xmlns:a16="http://schemas.microsoft.com/office/drawing/2014/main" id="{AC34A67B-A690-12C0-EB1E-4F1004A155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15979" y="3214090"/>
            <a:ext cx="3919842" cy="2762024"/>
          </a:xfrm>
          <a:prstGeom prst="rect">
            <a:avLst/>
          </a:prstGeom>
          <a:noFill/>
          <a:extLst>
            <a:ext uri="{909E8E84-426E-40DD-AFC4-6F175D3DCCD1}">
              <a14:hiddenFill xmlns:a14="http://schemas.microsoft.com/office/drawing/2010/main">
                <a:solidFill>
                  <a:srgbClr val="FFFFFF"/>
                </a:solidFill>
              </a14:hiddenFill>
            </a:ext>
          </a:extLst>
        </p:spPr>
      </p:pic>
      <p:sp>
        <p:nvSpPr>
          <p:cNvPr id="24" name="Text Box 1">
            <a:extLst>
              <a:ext uri="{FF2B5EF4-FFF2-40B4-BE49-F238E27FC236}">
                <a16:creationId xmlns:a16="http://schemas.microsoft.com/office/drawing/2014/main" id="{5AE1E537-8F56-1D6A-E9C3-3E20487D9B57}"/>
              </a:ext>
            </a:extLst>
          </p:cNvPr>
          <p:cNvSpPr txBox="1">
            <a:spLocks noChangeArrowheads="1"/>
          </p:cNvSpPr>
          <p:nvPr/>
        </p:nvSpPr>
        <p:spPr bwMode="auto">
          <a:xfrm>
            <a:off x="8596558" y="6013835"/>
            <a:ext cx="22716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CN" altLang="zh-CN" sz="2400" dirty="0">
                <a:latin typeface="宋体" panose="02010600030101010101" pitchFamily="2" charset="-122"/>
                <a:ea typeface="宋体" panose="02010600030101010101" pitchFamily="2" charset="-122"/>
                <a:cs typeface="Times New Roman" panose="02020603050405020304" pitchFamily="18" charset="0"/>
              </a:rPr>
              <a:t>图</a:t>
            </a:r>
            <a:r>
              <a:rPr lang="en-US" altLang="zh-CN" sz="2400" dirty="0">
                <a:latin typeface="宋体" panose="02010600030101010101" pitchFamily="2" charset="-122"/>
                <a:ea typeface="宋体" panose="02010600030101010101" pitchFamily="2" charset="-122"/>
                <a:cs typeface="Times New Roman" panose="02020603050405020304" pitchFamily="18" charset="0"/>
              </a:rPr>
              <a:t>6.11  </a:t>
            </a:r>
            <a:r>
              <a:rPr lang="zh-CN" altLang="en-US" sz="2400" dirty="0">
                <a:latin typeface="宋体" panose="02010600030101010101" pitchFamily="2" charset="-122"/>
                <a:ea typeface="宋体" panose="02010600030101010101" pitchFamily="2" charset="-122"/>
                <a:cs typeface="Times New Roman" panose="02020603050405020304" pitchFamily="18" charset="0"/>
              </a:rPr>
              <a:t>可视图</a:t>
            </a:r>
          </a:p>
        </p:txBody>
      </p:sp>
    </p:spTree>
    <p:extLst>
      <p:ext uri="{BB962C8B-B14F-4D97-AF65-F5344CB8AC3E}">
        <p14:creationId xmlns:p14="http://schemas.microsoft.com/office/powerpoint/2010/main" val="3919528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85A6D7E-3337-43ED-C6B6-97B6D694F449}"/>
                  </a:ext>
                </a:extLst>
              </p:cNvPr>
              <p:cNvSpPr txBox="1"/>
              <p:nvPr/>
            </p:nvSpPr>
            <p:spPr>
              <a:xfrm>
                <a:off x="721894" y="1078837"/>
                <a:ext cx="10587789" cy="5262979"/>
              </a:xfrm>
              <a:prstGeom prst="rect">
                <a:avLst/>
              </a:prstGeom>
              <a:noFill/>
            </p:spPr>
            <p:txBody>
              <a:bodyPr wrap="square">
                <a:spAutoFit/>
              </a:bodyPr>
              <a:lstStyle/>
              <a:p>
                <a:pPr eaLnBrk="0" fontAlgn="base" hangingPunct="0">
                  <a:spcBef>
                    <a:spcPct val="0"/>
                  </a:spcBef>
                  <a:spcAft>
                    <a:spcPct val="0"/>
                  </a:spcAft>
                </a:pP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另外由于路径是由障碍物顶点连接而成的，因此该方法适用于机器人能够紧贴障碍物行进的场景中。</a:t>
                </a:r>
                <a:endParaRPr kumimoji="0" lang="en-US"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eaLnBrk="0" fontAlgn="base" hangingPunct="0">
                  <a:spcBef>
                    <a:spcPct val="0"/>
                  </a:spcBef>
                  <a:spcAft>
                    <a:spcPct val="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可视图法通常以障碍物多边形作为环境表示，对起始点</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𝑆</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、目标点</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𝐺</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和多边形障碍物的各顶点</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设</a:t>
                </a:r>
                <a14:m>
                  <m:oMath xmlns:m="http://schemas.openxmlformats.org/officeDocument/2006/math">
                    <m:sSub>
                      <m:sSubPr>
                        <m:ctrlPr>
                          <a:rPr lang="zh-CN" altLang="zh-CN" sz="2400" b="1"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𝑉</m:t>
                        </m:r>
                      </m:e>
                      <m:sub>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0</m:t>
                        </m:r>
                      </m:sub>
                    </m:sSub>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是所有障碍物的顶点构成的集合</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进行组合连接，要求起始点和障碍物各顶点之间、目标点和障碍物各顶点之间及障碍物顶点与顶点之间的连线均不能穿越障碍物，即直线是“可视的”。为图中的边赋权值，构造可见图</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𝐺</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𝑉</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𝐸</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，点集</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𝑉</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2400" b="1"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𝑉</m:t>
                        </m:r>
                      </m:e>
                      <m:sub>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0</m:t>
                        </m:r>
                      </m:sub>
                    </m:sSub>
                    <m:r>
                      <a:rPr lang="zh-CN" altLang="zh-CN" sz="2400" b="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𝑆</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𝐺</m:t>
                    </m:r>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𝐸</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为所有弧段，即可见边的集合。然后釆用某种算法搜索从起始点</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𝑆</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到目标点</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𝐺</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的最优路径，则规划最优路径的问题转化为从起始点至目标点经过这些可视直线的最短距离问题。</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eaLnBrk="0" fontAlgn="base" hangingPunct="0">
                  <a:spcBef>
                    <a:spcPct val="0"/>
                  </a:spcBef>
                  <a:spcAft>
                    <a:spcPct val="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障碍物环境示意图如图</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6.12</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所示，</a:t>
                </a:r>
                <a14:m>
                  <m:oMath xmlns:m="http://schemas.openxmlformats.org/officeDocument/2006/math">
                    <m:sSub>
                      <m:sSubPr>
                        <m:ctrlPr>
                          <a:rPr lang="zh-CN" altLang="zh-CN" sz="2400" b="1"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𝑂</m:t>
                        </m:r>
                      </m:e>
                      <m:sub>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𝑂</m:t>
                        </m:r>
                      </m:e>
                      <m:sub>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2</m:t>
                        </m:r>
                      </m:sub>
                    </m:sSub>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表示的封闭多边形分别代表两个障碍物，</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𝑆</m:t>
                    </m:r>
                  </m:oMath>
                </a14:m>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2400" b="1">
                        <a:latin typeface="Cambria Math" panose="02040503050406030204" pitchFamily="18" charset="0"/>
                        <a:ea typeface="微软雅黑" panose="020B0503020204020204" pitchFamily="34" charset="-122"/>
                        <a:cs typeface="Times New Roman" panose="02020603050405020304" pitchFamily="18" charset="0"/>
                      </a:rPr>
                      <m:t>𝐺</m:t>
                    </m:r>
                  </m:oMath>
                </a14:m>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分别表示起始点和目标点。其对应的可视图如图</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6.13</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所示，由起始点、目标点与各障碍物顶点之间的可视直线构成。</a:t>
                </a:r>
              </a:p>
              <a:p>
                <a:pPr eaLnBrk="0" fontAlgn="base" hangingPunct="0">
                  <a:spcBef>
                    <a:spcPct val="0"/>
                  </a:spcBef>
                  <a:spcAft>
                    <a:spcPct val="0"/>
                  </a:spcAft>
                </a:pPr>
                <a:endParaRPr lang="zh-CN"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085A6D7E-3337-43ED-C6B6-97B6D694F449}"/>
                  </a:ext>
                </a:extLst>
              </p:cNvPr>
              <p:cNvSpPr txBox="1">
                <a:spLocks noRot="1" noChangeAspect="1" noMove="1" noResize="1" noEditPoints="1" noAdjustHandles="1" noChangeArrowheads="1" noChangeShapeType="1" noTextEdit="1"/>
              </p:cNvSpPr>
              <p:nvPr/>
            </p:nvSpPr>
            <p:spPr>
              <a:xfrm>
                <a:off x="721894" y="1078837"/>
                <a:ext cx="10587789" cy="5262979"/>
              </a:xfrm>
              <a:prstGeom prst="rect">
                <a:avLst/>
              </a:prstGeom>
              <a:blipFill>
                <a:blip r:embed="rId2"/>
                <a:stretch>
                  <a:fillRect l="-864" t="-927" r="-7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612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Picture 7">
            <a:extLst>
              <a:ext uri="{FF2B5EF4-FFF2-40B4-BE49-F238E27FC236}">
                <a16:creationId xmlns:a16="http://schemas.microsoft.com/office/drawing/2014/main" id="{93C392EE-009C-6680-DD3D-401D561532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8943" y="1564483"/>
            <a:ext cx="5046995" cy="202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a:extLst>
              <a:ext uri="{FF2B5EF4-FFF2-40B4-BE49-F238E27FC236}">
                <a16:creationId xmlns:a16="http://schemas.microsoft.com/office/drawing/2014/main" id="{EF6101D7-3D49-4A5D-9C1D-133182B320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3927" y="1564483"/>
            <a:ext cx="5438174" cy="202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14">
            <a:extLst>
              <a:ext uri="{FF2B5EF4-FFF2-40B4-BE49-F238E27FC236}">
                <a16:creationId xmlns:a16="http://schemas.microsoft.com/office/drawing/2014/main" id="{EAA320D0-7D51-116D-7E54-939ED58E7128}"/>
              </a:ext>
            </a:extLst>
          </p:cNvPr>
          <p:cNvSpPr txBox="1"/>
          <p:nvPr/>
        </p:nvSpPr>
        <p:spPr>
          <a:xfrm>
            <a:off x="2191959" y="3937156"/>
            <a:ext cx="3173931"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6.12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障碍物环境示意图</a:t>
            </a:r>
            <a:r>
              <a:rPr lang="zh-CN" altLang="zh-CN" sz="1800" kern="1000" dirty="0">
                <a:effectLst/>
                <a:ea typeface="Times New Roman" panose="02020603050405020304" pitchFamily="18" charset="0"/>
              </a:rPr>
              <a:t> </a:t>
            </a:r>
            <a:endParaRPr lang="zh-CN" altLang="en-US" dirty="0"/>
          </a:p>
        </p:txBody>
      </p:sp>
      <p:sp>
        <p:nvSpPr>
          <p:cNvPr id="16" name="文本框 15">
            <a:extLst>
              <a:ext uri="{FF2B5EF4-FFF2-40B4-BE49-F238E27FC236}">
                <a16:creationId xmlns:a16="http://schemas.microsoft.com/office/drawing/2014/main" id="{573EF98B-291B-398C-88A1-57575907C3DE}"/>
              </a:ext>
            </a:extLst>
          </p:cNvPr>
          <p:cNvSpPr txBox="1"/>
          <p:nvPr/>
        </p:nvSpPr>
        <p:spPr>
          <a:xfrm>
            <a:off x="8075594" y="3939317"/>
            <a:ext cx="2846672" cy="369332"/>
          </a:xfrm>
          <a:prstGeom prst="rect">
            <a:avLst/>
          </a:prstGeom>
          <a:noFill/>
        </p:spPr>
        <p:txBody>
          <a:bodyPr wrap="square">
            <a:spAutoFit/>
          </a:bodyPr>
          <a:lstStyle/>
          <a:p>
            <a:pPr algn="just">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6.13  </a:t>
            </a:r>
            <a:r>
              <a:rPr lang="zh-CN" altLang="zh-CN" sz="1800" kern="1000" dirty="0">
                <a:effectLst/>
                <a:latin typeface="Times New Roman" panose="02020603050405020304" pitchFamily="18" charset="0"/>
                <a:ea typeface="宋体" panose="02010600030101010101" pitchFamily="2" charset="-122"/>
              </a:rPr>
              <a:t>对应的可视图</a:t>
            </a:r>
          </a:p>
        </p:txBody>
      </p:sp>
      <p:sp>
        <p:nvSpPr>
          <p:cNvPr id="19" name="文本框 18">
            <a:extLst>
              <a:ext uri="{FF2B5EF4-FFF2-40B4-BE49-F238E27FC236}">
                <a16:creationId xmlns:a16="http://schemas.microsoft.com/office/drawing/2014/main" id="{51395713-9F3F-6E3C-6D58-E9A9F529AA40}"/>
              </a:ext>
            </a:extLst>
          </p:cNvPr>
          <p:cNvSpPr txBox="1"/>
          <p:nvPr/>
        </p:nvSpPr>
        <p:spPr>
          <a:xfrm>
            <a:off x="908943" y="4504623"/>
            <a:ext cx="10573995" cy="1200329"/>
          </a:xfrm>
          <a:prstGeom prst="rect">
            <a:avLst/>
          </a:prstGeom>
          <a:noFill/>
        </p:spPr>
        <p:txBody>
          <a:bodyPr wrap="square">
            <a:spAutoFit/>
          </a:bodyPr>
          <a:lstStyle/>
          <a:p>
            <a:pPr eaLnBrk="0" fontAlgn="base" hangingPunct="0">
              <a:spcBef>
                <a:spcPct val="0"/>
              </a:spcBef>
              <a:spcAft>
                <a:spcPct val="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由此可见，利用可视图法规划避障路径主要在于构建可视图，而构建可视图的关键在于障碍物各顶点之间可见性的判断。判断时主要分为两种情况，同一障碍物各顶点之间可见性的判断及不同障碍物之间顶点可见性的判断。</a:t>
            </a:r>
          </a:p>
        </p:txBody>
      </p:sp>
    </p:spTree>
    <p:extLst>
      <p:ext uri="{BB962C8B-B14F-4D97-AF65-F5344CB8AC3E}">
        <p14:creationId xmlns:p14="http://schemas.microsoft.com/office/powerpoint/2010/main" val="183896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88A1FFFB-798E-2779-AFD5-638A667CE997}"/>
                  </a:ext>
                </a:extLst>
              </p:cNvPr>
              <p:cNvSpPr txBox="1"/>
              <p:nvPr/>
            </p:nvSpPr>
            <p:spPr>
              <a:xfrm>
                <a:off x="855421" y="1365664"/>
                <a:ext cx="5438273" cy="3416320"/>
              </a:xfrm>
              <a:prstGeom prst="rect">
                <a:avLst/>
              </a:prstGeom>
              <a:noFill/>
            </p:spPr>
            <p:txBody>
              <a:bodyPr wrap="square">
                <a:spAutoFit/>
              </a:bodyPr>
              <a:lstStyle/>
              <a:p>
                <a:pPr algn="just"/>
                <a:r>
                  <a:rPr lang="zh-CN" altLang="zh-CN" sz="2400" b="1" kern="1000" dirty="0">
                    <a:latin typeface="微软雅黑" panose="020B0503020204020204" pitchFamily="34" charset="-122"/>
                    <a:ea typeface="微软雅黑" panose="020B0503020204020204" pitchFamily="34" charset="-122"/>
                  </a:rPr>
                  <a:t>判断时主要分为两种情况，同一障碍物各顶点之间可见性的判断及不同障碍物之间顶点可见性的判断。</a:t>
                </a:r>
                <a:endParaRPr lang="en-US" altLang="zh-CN" sz="2400" b="1" kern="1000" dirty="0">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(1)</a:t>
                </a:r>
                <a:r>
                  <a:rPr lang="zh-CN" altLang="zh-CN" sz="2400" b="1" kern="1000" dirty="0">
                    <a:effectLst/>
                    <a:latin typeface="微软雅黑" panose="020B0503020204020204" pitchFamily="34" charset="-122"/>
                    <a:ea typeface="微软雅黑" panose="020B0503020204020204" pitchFamily="34" charset="-122"/>
                  </a:rPr>
                  <a:t>同一障碍物中，相邻顶点可见</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通常不考虑凹多边形障碍物中不相邻顶点也有可能可见的情况</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，不相邻顶点不可见，权值赋为</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endParaRPr lang="en-US" altLang="zh-CN" sz="2400" b="1" kern="1000" dirty="0">
                  <a:effectLst/>
                  <a:latin typeface="微软雅黑" panose="020B0503020204020204" pitchFamily="34" charset="-122"/>
                  <a:ea typeface="微软雅黑" panose="020B0503020204020204" pitchFamily="34" charset="-122"/>
                </a:endParaRPr>
              </a:p>
              <a:p>
                <a:pPr algn="just"/>
                <a:endParaRPr lang="zh-CN" altLang="zh-CN" sz="2400" b="1" kern="1000" dirty="0">
                  <a:effectLst/>
                  <a:latin typeface="微软雅黑" panose="020B0503020204020204" pitchFamily="34" charset="-122"/>
                  <a:ea typeface="微软雅黑" panose="020B0503020204020204" pitchFamily="34" charset="-122"/>
                </a:endParaRPr>
              </a:p>
              <a:p>
                <a:pPr algn="just"/>
                <a:r>
                  <a:rPr lang="en-US" altLang="zh-CN" sz="2400" b="1" kern="100" dirty="0">
                    <a:effectLst/>
                    <a:latin typeface="微软雅黑" panose="020B0503020204020204" pitchFamily="34" charset="-122"/>
                    <a:ea typeface="微软雅黑" panose="020B0503020204020204" pitchFamily="34" charset="-122"/>
                  </a:rPr>
                  <a:t>       </a:t>
                </a:r>
                <a:endParaRPr lang="zh-CN" altLang="zh-CN" sz="2400" b="1" kern="100" dirty="0">
                  <a:effectLst/>
                  <a:latin typeface="微软雅黑" panose="020B0503020204020204" pitchFamily="34" charset="-122"/>
                  <a:ea typeface="微软雅黑" panose="020B0503020204020204" pitchFamily="34" charset="-122"/>
                </a:endParaRPr>
              </a:p>
            </p:txBody>
          </p:sp>
        </mc:Choice>
        <mc:Fallback>
          <p:sp>
            <p:nvSpPr>
              <p:cNvPr id="6" name="文本框 5">
                <a:extLst>
                  <a:ext uri="{FF2B5EF4-FFF2-40B4-BE49-F238E27FC236}">
                    <a16:creationId xmlns:a16="http://schemas.microsoft.com/office/drawing/2014/main" id="{88A1FFFB-798E-2779-AFD5-638A667CE997}"/>
                  </a:ext>
                </a:extLst>
              </p:cNvPr>
              <p:cNvSpPr txBox="1">
                <a:spLocks noRot="1" noChangeAspect="1" noMove="1" noResize="1" noEditPoints="1" noAdjustHandles="1" noChangeArrowheads="1" noChangeShapeType="1" noTextEdit="1"/>
              </p:cNvSpPr>
              <p:nvPr/>
            </p:nvSpPr>
            <p:spPr>
              <a:xfrm>
                <a:off x="855421" y="1365664"/>
                <a:ext cx="5438273" cy="3416320"/>
              </a:xfrm>
              <a:prstGeom prst="rect">
                <a:avLst/>
              </a:prstGeom>
              <a:blipFill>
                <a:blip r:embed="rId2"/>
                <a:stretch>
                  <a:fillRect l="-1682" t="-1429" r="-1794"/>
                </a:stretch>
              </a:blipFill>
            </p:spPr>
            <p:txBody>
              <a:bodyPr/>
              <a:lstStyle/>
              <a:p>
                <a:r>
                  <a:rPr lang="zh-CN" altLang="en-US">
                    <a:noFill/>
                  </a:rPr>
                  <a:t> </a:t>
                </a:r>
              </a:p>
            </p:txBody>
          </p:sp>
        </mc:Fallback>
      </mc:AlternateContent>
      <p:pic>
        <p:nvPicPr>
          <p:cNvPr id="7" name="图片 4">
            <a:extLst>
              <a:ext uri="{FF2B5EF4-FFF2-40B4-BE49-F238E27FC236}">
                <a16:creationId xmlns:a16="http://schemas.microsoft.com/office/drawing/2014/main" id="{9BC2E94F-581D-8F89-9613-48D367E80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761" y="1214973"/>
            <a:ext cx="5522919" cy="28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35F0ED76-11E5-CB48-7449-89EAF7D3BF66}"/>
                  </a:ext>
                </a:extLst>
              </p:cNvPr>
              <p:cNvSpPr txBox="1"/>
              <p:nvPr/>
            </p:nvSpPr>
            <p:spPr>
              <a:xfrm>
                <a:off x="822346" y="5215849"/>
                <a:ext cx="10547308" cy="1200329"/>
              </a:xfrm>
              <a:prstGeom prst="rect">
                <a:avLst/>
              </a:prstGeom>
              <a:noFill/>
            </p:spPr>
            <p:txBody>
              <a:bodyPr wrap="square" rtlCol="0">
                <a:spAutoFit/>
              </a:bodyPr>
              <a:lstStyle/>
              <a:p>
                <a:pPr algn="just"/>
                <a:r>
                  <a:rPr lang="zh-CN" altLang="zh-CN" sz="2400" b="1" kern="100" dirty="0">
                    <a:effectLst/>
                    <a:latin typeface="微软雅黑" panose="020B0503020204020204" pitchFamily="34" charset="-122"/>
                    <a:ea typeface="微软雅黑" panose="020B0503020204020204" pitchFamily="34" charset="-122"/>
                  </a:rPr>
                  <a:t>如图</a:t>
                </a:r>
                <a:r>
                  <a:rPr lang="en-US" altLang="zh-CN" sz="2400" b="1" kern="100" dirty="0">
                    <a:effectLst/>
                    <a:latin typeface="微软雅黑" panose="020B0503020204020204" pitchFamily="34" charset="-122"/>
                    <a:ea typeface="微软雅黑" panose="020B0503020204020204" pitchFamily="34" charset="-122"/>
                  </a:rPr>
                  <a:t>6.14</a:t>
                </a:r>
                <a:r>
                  <a:rPr lang="zh-CN" altLang="zh-CN" sz="2400" b="1" kern="100" dirty="0">
                    <a:effectLst/>
                    <a:latin typeface="微软雅黑" panose="020B0503020204020204" pitchFamily="34" charset="-122"/>
                    <a:ea typeface="微软雅黑" panose="020B0503020204020204" pitchFamily="34" charset="-122"/>
                  </a:rPr>
                  <a:t>中的虚线所示，</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𝟏</m:t>
                        </m:r>
                      </m:sub>
                    </m:sSub>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𝟐</m:t>
                        </m:r>
                      </m:sub>
                    </m:sSub>
                  </m:oMath>
                </a14:m>
                <a:r>
                  <a:rPr lang="zh-CN" altLang="zh-CN" sz="2400" b="1" kern="100" dirty="0">
                    <a:effectLst/>
                    <a:latin typeface="微软雅黑" panose="020B0503020204020204" pitchFamily="34" charset="-122"/>
                    <a:ea typeface="微软雅黑" panose="020B0503020204020204" pitchFamily="34" charset="-122"/>
                  </a:rPr>
                  <a:t>分别是障碍物</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𝑶</m:t>
                        </m:r>
                      </m:e>
                      <m:sub>
                        <m:r>
                          <a:rPr lang="en-US" altLang="zh-CN" sz="2400" b="1" i="1" kern="100" smtClean="0">
                            <a:effectLst/>
                            <a:latin typeface="Cambria Math" panose="02040503050406030204" pitchFamily="18" charset="0"/>
                            <a:ea typeface="宋体" panose="02010600030101010101" pitchFamily="2" charset="-122"/>
                          </a:rPr>
                          <m:t>𝟏</m:t>
                        </m:r>
                      </m:sub>
                    </m:sSub>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𝑶</m:t>
                        </m:r>
                      </m:e>
                      <m:sub>
                        <m:r>
                          <a:rPr lang="en-US" altLang="zh-CN" sz="2400" b="1" i="1" kern="100" smtClean="0">
                            <a:effectLst/>
                            <a:latin typeface="Cambria Math" panose="02040503050406030204" pitchFamily="18" charset="0"/>
                            <a:ea typeface="宋体" panose="02010600030101010101" pitchFamily="2" charset="-122"/>
                          </a:rPr>
                          <m:t>𝟐</m:t>
                        </m:r>
                      </m:sub>
                    </m:sSub>
                  </m:oMath>
                </a14:m>
                <a:r>
                  <a:rPr lang="zh-CN" altLang="zh-CN" sz="2400" b="1" kern="100" dirty="0">
                    <a:effectLst/>
                    <a:latin typeface="微软雅黑" panose="020B0503020204020204" pitchFamily="34" charset="-122"/>
                    <a:ea typeface="微软雅黑" panose="020B0503020204020204" pitchFamily="34" charset="-122"/>
                  </a:rPr>
                  <a:t>的顶点，但</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𝟏</m:t>
                        </m:r>
                      </m:sub>
                    </m:sSub>
                  </m:oMath>
                </a14:m>
                <a:r>
                  <a:rPr lang="zh-CN" altLang="zh-CN" sz="2400" b="1" kern="100" dirty="0">
                    <a:effectLst/>
                    <a:latin typeface="微软雅黑" panose="020B0503020204020204" pitchFamily="34" charset="-122"/>
                    <a:ea typeface="微软雅黑" panose="020B0503020204020204" pitchFamily="34" charset="-122"/>
                  </a:rPr>
                  <a:t>与</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𝟐</m:t>
                        </m:r>
                      </m:sub>
                    </m:sSub>
                  </m:oMath>
                </a14:m>
                <a:r>
                  <a:rPr lang="zh-CN" altLang="zh-CN" sz="2400" b="1" kern="100" dirty="0">
                    <a:effectLst/>
                    <a:latin typeface="微软雅黑" panose="020B0503020204020204" pitchFamily="34" charset="-122"/>
                    <a:ea typeface="微软雅黑" panose="020B0503020204020204" pitchFamily="34" charset="-122"/>
                  </a:rPr>
                  <a:t>的连线与障碍物其他顶点的连线相交，故</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𝟏</m:t>
                        </m:r>
                      </m:sub>
                    </m:sSub>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𝟐</m:t>
                        </m:r>
                      </m:sub>
                    </m:sSub>
                  </m:oMath>
                </a14:m>
                <a:r>
                  <a:rPr lang="zh-CN" altLang="zh-CN" sz="2400" b="1" kern="100" dirty="0">
                    <a:effectLst/>
                    <a:latin typeface="微软雅黑" panose="020B0503020204020204" pitchFamily="34" charset="-122"/>
                    <a:ea typeface="微软雅黑" panose="020B0503020204020204" pitchFamily="34" charset="-122"/>
                  </a:rPr>
                  <a:t>之间不可见；而实线所示的</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𝟑</m:t>
                        </m:r>
                      </m:sub>
                    </m:sSub>
                  </m:oMath>
                </a14:m>
                <a:r>
                  <a:rPr lang="zh-CN" altLang="zh-CN" sz="2400" b="1" kern="100" dirty="0">
                    <a:effectLst/>
                    <a:latin typeface="微软雅黑" panose="020B0503020204020204" pitchFamily="34" charset="-122"/>
                    <a:ea typeface="微软雅黑" panose="020B0503020204020204" pitchFamily="34" charset="-122"/>
                  </a:rPr>
                  <a:t>与</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𝟒</m:t>
                        </m:r>
                      </m:sub>
                    </m:sSub>
                  </m:oMath>
                </a14:m>
                <a:r>
                  <a:rPr lang="zh-CN" altLang="zh-CN" sz="2400" b="1" kern="100" dirty="0">
                    <a:effectLst/>
                    <a:latin typeface="微软雅黑" panose="020B0503020204020204" pitchFamily="34" charset="-122"/>
                    <a:ea typeface="微软雅黑" panose="020B0503020204020204" pitchFamily="34" charset="-122"/>
                  </a:rPr>
                  <a:t>连线不与障碍物其他顶点的连线相交，故</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𝟑</m:t>
                        </m:r>
                      </m:sub>
                    </m:sSub>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𝑽</m:t>
                        </m:r>
                      </m:e>
                      <m:sub>
                        <m:r>
                          <a:rPr lang="en-US" altLang="zh-CN" sz="2400" b="1" i="1" kern="100" smtClean="0">
                            <a:effectLst/>
                            <a:latin typeface="Cambria Math" panose="02040503050406030204" pitchFamily="18" charset="0"/>
                            <a:ea typeface="宋体" panose="02010600030101010101" pitchFamily="2" charset="-122"/>
                          </a:rPr>
                          <m:t>𝟒</m:t>
                        </m:r>
                      </m:sub>
                    </m:sSub>
                  </m:oMath>
                </a14:m>
                <a:r>
                  <a:rPr lang="zh-CN" altLang="zh-CN" sz="2400" b="1" kern="100" dirty="0">
                    <a:effectLst/>
                    <a:latin typeface="微软雅黑" panose="020B0503020204020204" pitchFamily="34" charset="-122"/>
                    <a:ea typeface="微软雅黑" panose="020B0503020204020204" pitchFamily="34" charset="-122"/>
                  </a:rPr>
                  <a:t>之间可见。</a:t>
                </a:r>
                <a:endParaRPr lang="zh-CN" altLang="en-US" sz="2400" dirty="0"/>
              </a:p>
            </p:txBody>
          </p:sp>
        </mc:Choice>
        <mc:Fallback>
          <p:sp>
            <p:nvSpPr>
              <p:cNvPr id="8" name="文本框 7">
                <a:extLst>
                  <a:ext uri="{FF2B5EF4-FFF2-40B4-BE49-F238E27FC236}">
                    <a16:creationId xmlns:a16="http://schemas.microsoft.com/office/drawing/2014/main" id="{35F0ED76-11E5-CB48-7449-89EAF7D3BF66}"/>
                  </a:ext>
                </a:extLst>
              </p:cNvPr>
              <p:cNvSpPr txBox="1">
                <a:spLocks noRot="1" noChangeAspect="1" noMove="1" noResize="1" noEditPoints="1" noAdjustHandles="1" noChangeArrowheads="1" noChangeShapeType="1" noTextEdit="1"/>
              </p:cNvSpPr>
              <p:nvPr/>
            </p:nvSpPr>
            <p:spPr>
              <a:xfrm>
                <a:off x="822346" y="5215849"/>
                <a:ext cx="10547308" cy="1200329"/>
              </a:xfrm>
              <a:prstGeom prst="rect">
                <a:avLst/>
              </a:prstGeom>
              <a:blipFill>
                <a:blip r:embed="rId4"/>
                <a:stretch>
                  <a:fillRect l="-925" t="-4061" r="-867" b="-10152"/>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A58B7D94-B66B-5FA2-3D28-870FA417DAD8}"/>
              </a:ext>
            </a:extLst>
          </p:cNvPr>
          <p:cNvSpPr txBox="1"/>
          <p:nvPr/>
        </p:nvSpPr>
        <p:spPr>
          <a:xfrm>
            <a:off x="7635239" y="4015521"/>
            <a:ext cx="3501189" cy="369332"/>
          </a:xfrm>
          <a:prstGeom prst="rect">
            <a:avLst/>
          </a:prstGeom>
          <a:noFill/>
        </p:spPr>
        <p:txBody>
          <a:bodyPr wrap="square">
            <a:spAutoFit/>
          </a:bodyPr>
          <a:lstStyle/>
          <a:p>
            <a:r>
              <a:rPr lang="zh-CN" altLang="en-US" dirty="0"/>
              <a:t>图</a:t>
            </a:r>
            <a:r>
              <a:rPr lang="en-US" altLang="zh-CN" dirty="0"/>
              <a:t>6.14  </a:t>
            </a:r>
            <a:r>
              <a:rPr lang="zh-CN" altLang="en-US" dirty="0"/>
              <a:t>可见性判断示意图</a:t>
            </a:r>
          </a:p>
        </p:txBody>
      </p:sp>
      <p:sp>
        <p:nvSpPr>
          <p:cNvPr id="3" name="文本框 2">
            <a:extLst>
              <a:ext uri="{FF2B5EF4-FFF2-40B4-BE49-F238E27FC236}">
                <a16:creationId xmlns:a16="http://schemas.microsoft.com/office/drawing/2014/main" id="{3E21AF10-9CC7-3D3B-3B4E-7994887237AD}"/>
              </a:ext>
            </a:extLst>
          </p:cNvPr>
          <p:cNvSpPr txBox="1"/>
          <p:nvPr/>
        </p:nvSpPr>
        <p:spPr>
          <a:xfrm>
            <a:off x="890487" y="4015520"/>
            <a:ext cx="5438273" cy="1200329"/>
          </a:xfrm>
          <a:prstGeom prst="rect">
            <a:avLst/>
          </a:prstGeom>
          <a:noFill/>
        </p:spPr>
        <p:txBody>
          <a:bodyPr wrap="square" rtlCol="0">
            <a:spAutoFit/>
          </a:bodyPr>
          <a:lstStyle/>
          <a:p>
            <a:r>
              <a:rPr lang="en-US" altLang="zh-CN" sz="1800" b="1" kern="100" dirty="0">
                <a:effectLst/>
                <a:latin typeface="微软雅黑" panose="020B0503020204020204" pitchFamily="34" charset="-122"/>
                <a:ea typeface="微软雅黑" panose="020B0503020204020204" pitchFamily="34" charset="-122"/>
              </a:rPr>
              <a:t>         </a:t>
            </a:r>
            <a:r>
              <a:rPr lang="en-US" altLang="zh-CN" sz="2400" b="1" kern="100" dirty="0">
                <a:effectLst/>
                <a:latin typeface="微软雅黑" panose="020B0503020204020204" pitchFamily="34" charset="-122"/>
                <a:ea typeface="微软雅黑" panose="020B0503020204020204" pitchFamily="34" charset="-122"/>
              </a:rPr>
              <a:t>(2)</a:t>
            </a:r>
            <a:r>
              <a:rPr lang="zh-CN" altLang="zh-CN" sz="2400" b="1" kern="100" dirty="0">
                <a:effectLst/>
                <a:latin typeface="微软雅黑" panose="020B0503020204020204" pitchFamily="34" charset="-122"/>
                <a:ea typeface="微软雅黑" panose="020B0503020204020204" pitchFamily="34" charset="-122"/>
              </a:rPr>
              <a:t>不同障碍物之间顶点可见性的判断则转化为判断顶点连线是否会与其他顶点连线相交的几何问题。</a:t>
            </a:r>
            <a:endParaRPr lang="zh-CN" altLang="en-US" dirty="0"/>
          </a:p>
        </p:txBody>
      </p:sp>
    </p:spTree>
    <p:extLst>
      <p:ext uri="{BB962C8B-B14F-4D97-AF65-F5344CB8AC3E}">
        <p14:creationId xmlns:p14="http://schemas.microsoft.com/office/powerpoint/2010/main" val="4211126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FC067F-B072-873D-7D71-C715531C164A}"/>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58BBC56-64FF-C1D5-AC45-71FAA8762615}"/>
                  </a:ext>
                </a:extLst>
              </p:cNvPr>
              <p:cNvSpPr txBox="1"/>
              <p:nvPr/>
            </p:nvSpPr>
            <p:spPr>
              <a:xfrm>
                <a:off x="827773" y="1030307"/>
                <a:ext cx="10376034" cy="2399888"/>
              </a:xfrm>
              <a:prstGeom prst="rect">
                <a:avLst/>
              </a:prstGeom>
              <a:noFill/>
            </p:spPr>
            <p:txBody>
              <a:bodyPr wrap="square">
                <a:spAutoFit/>
              </a:bodyPr>
              <a:lstStyle/>
              <a:p>
                <a:pPr algn="just">
                  <a:lnSpc>
                    <a:spcPct val="200000"/>
                  </a:lnSpc>
                </a:pPr>
                <a:r>
                  <a:rPr lang="en-US"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6.2.3  A*</a:t>
                </a:r>
                <a:r>
                  <a:rPr lang="zh-CN"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算法</a:t>
                </a:r>
              </a:p>
              <a:p>
                <a:pPr algn="just"/>
                <a:r>
                  <a:rPr lang="en-US" altLang="zh-CN" sz="2400" b="1" kern="100" dirty="0">
                    <a:effectLst/>
                    <a:latin typeface="微软雅黑" panose="020B0503020204020204" pitchFamily="34" charset="-122"/>
                    <a:ea typeface="微软雅黑" panose="020B0503020204020204" pitchFamily="34" charset="-122"/>
                  </a:rPr>
                  <a:t>       A*</a:t>
                </a:r>
                <a:r>
                  <a:rPr lang="zh-CN" altLang="zh-CN" sz="2400" b="1" kern="100" dirty="0">
                    <a:effectLst/>
                    <a:latin typeface="微软雅黑" panose="020B0503020204020204" pitchFamily="34" charset="-122"/>
                    <a:ea typeface="微软雅黑" panose="020B0503020204020204" pitchFamily="34" charset="-122"/>
                  </a:rPr>
                  <a:t>算法是建立在</a:t>
                </a:r>
                <a:r>
                  <a:rPr lang="en-US" altLang="zh-CN" sz="2400" b="1" kern="100" dirty="0">
                    <a:effectLst/>
                    <a:latin typeface="微软雅黑" panose="020B0503020204020204" pitchFamily="34" charset="-122"/>
                    <a:ea typeface="微软雅黑" panose="020B0503020204020204" pitchFamily="34" charset="-122"/>
                  </a:rPr>
                  <a:t>Dijkstra</a:t>
                </a:r>
                <a:r>
                  <a:rPr lang="zh-CN" altLang="zh-CN" sz="2400" b="1" kern="100" dirty="0">
                    <a:effectLst/>
                    <a:latin typeface="微软雅黑" panose="020B0503020204020204" pitchFamily="34" charset="-122"/>
                    <a:ea typeface="微软雅黑" panose="020B0503020204020204" pitchFamily="34" charset="-122"/>
                  </a:rPr>
                  <a:t>算法基础上的一种启发式搜索算法，它可以规划从起始点</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0" kern="100" smtClean="0">
                            <a:effectLst/>
                            <a:latin typeface="Cambria Math" panose="02040503050406030204" pitchFamily="18" charset="0"/>
                            <a:ea typeface="宋体" panose="02010600030101010101" pitchFamily="2" charset="-122"/>
                          </a:rPr>
                          <m:t>𝐬</m:t>
                        </m:r>
                      </m:e>
                      <m:sub>
                        <m:r>
                          <a:rPr lang="en-US" altLang="zh-CN" sz="2400" b="1" i="0" kern="100" smtClean="0">
                            <a:effectLst/>
                            <a:latin typeface="Cambria Math" panose="02040503050406030204" pitchFamily="18" charset="0"/>
                            <a:ea typeface="宋体" panose="02010600030101010101" pitchFamily="2" charset="-122"/>
                          </a:rPr>
                          <m:t>𝐬𝐭𝐚𝐫𝐭</m:t>
                        </m:r>
                      </m:sub>
                    </m:sSub>
                    <m:r>
                      <a:rPr lang="zh-CN" altLang="zh-CN" sz="2400" b="1" i="1" kern="100" smtClean="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𝑺</m:t>
                    </m:r>
                  </m:oMath>
                </a14:m>
                <a:r>
                  <a:rPr lang="zh-CN" altLang="zh-CN" sz="2400" b="1" kern="100" dirty="0">
                    <a:effectLst/>
                    <a:latin typeface="微软雅黑" panose="020B0503020204020204" pitchFamily="34" charset="-122"/>
                    <a:ea typeface="微软雅黑" panose="020B0503020204020204" pitchFamily="34" charset="-122"/>
                  </a:rPr>
                  <a:t>到目标点</a:t>
                </a:r>
                <a14:m>
                  <m:oMath xmlns:m="http://schemas.openxmlformats.org/officeDocument/2006/math">
                    <m:sSub>
                      <m:sSubPr>
                        <m:ctrlPr>
                          <a:rPr lang="zh-CN" altLang="zh-CN" sz="2000" b="1" i="1" kern="100">
                            <a:effectLst/>
                            <a:latin typeface="Cambria Math" panose="02040503050406030204" pitchFamily="18" charset="0"/>
                            <a:ea typeface="Cambria Math" panose="02040503050406030204" pitchFamily="18" charset="0"/>
                          </a:rPr>
                        </m:ctrlPr>
                      </m:sSubPr>
                      <m:e>
                        <m:r>
                          <a:rPr lang="en-US" altLang="zh-CN" sz="2000" b="1" i="0" kern="100" smtClean="0">
                            <a:effectLst/>
                            <a:latin typeface="Cambria Math" panose="02040503050406030204" pitchFamily="18" charset="0"/>
                            <a:ea typeface="宋体" panose="02010600030101010101" pitchFamily="2" charset="-122"/>
                          </a:rPr>
                          <m:t>𝐬</m:t>
                        </m:r>
                      </m:e>
                      <m:sub>
                        <m:r>
                          <m:rPr>
                            <m:nor/>
                          </m:rPr>
                          <a:rPr lang="en-US" altLang="zh-CN" sz="2000" b="1" kern="100" smtClean="0">
                            <a:effectLst/>
                            <a:latin typeface="Cambria Math" panose="02040503050406030204" pitchFamily="18" charset="0"/>
                            <a:ea typeface="宋体" panose="02010600030101010101" pitchFamily="2" charset="-122"/>
                          </a:rPr>
                          <m:t>goal</m:t>
                        </m:r>
                      </m:sub>
                    </m:sSub>
                    <m:r>
                      <a:rPr lang="zh-CN" altLang="zh-CN" sz="2000" b="1" i="0" kern="100" smtClean="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b="1" i="0" kern="100" smtClean="0">
                        <a:effectLst/>
                        <a:latin typeface="Cambria Math" panose="02040503050406030204" pitchFamily="18" charset="0"/>
                        <a:ea typeface="宋体" panose="02010600030101010101" pitchFamily="2" charset="-122"/>
                      </a:rPr>
                      <m:t>𝐒</m:t>
                    </m:r>
                  </m:oMath>
                </a14:m>
                <a:r>
                  <a:rPr lang="zh-CN" altLang="zh-CN" sz="2400" b="1" kern="100" dirty="0">
                    <a:effectLst/>
                    <a:latin typeface="微软雅黑" panose="020B0503020204020204" pitchFamily="34" charset="-122"/>
                    <a:ea typeface="微软雅黑" panose="020B0503020204020204" pitchFamily="34" charset="-122"/>
                  </a:rPr>
                  <a:t>的最优路径，其中</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𝑺</m:t>
                    </m:r>
                  </m:oMath>
                </a14:m>
                <a:r>
                  <a:rPr lang="zh-CN" altLang="zh-CN" sz="2400" b="1" kern="100" dirty="0">
                    <a:effectLst/>
                    <a:latin typeface="微软雅黑" panose="020B0503020204020204" pitchFamily="34" charset="-122"/>
                    <a:ea typeface="微软雅黑" panose="020B0503020204020204" pitchFamily="34" charset="-122"/>
                  </a:rPr>
                  <a:t>是有限状态空间中一系列节点的集合。</a:t>
                </a:r>
              </a:p>
              <a:p>
                <a:pPr algn="just"/>
                <a:r>
                  <a:rPr lang="en-US" altLang="zh-CN" sz="2400" b="1" kern="1000" dirty="0">
                    <a:effectLst/>
                    <a:latin typeface="微软雅黑" panose="020B0503020204020204" pitchFamily="34" charset="-122"/>
                    <a:ea typeface="微软雅黑" panose="020B0503020204020204" pitchFamily="34" charset="-122"/>
                  </a:rPr>
                  <a:t>       A*</a:t>
                </a:r>
                <a:r>
                  <a:rPr lang="zh-CN" altLang="zh-CN" sz="2400" b="1" kern="1000" dirty="0">
                    <a:effectLst/>
                    <a:latin typeface="微软雅黑" panose="020B0503020204020204" pitchFamily="34" charset="-122"/>
                    <a:ea typeface="微软雅黑" panose="020B0503020204020204" pitchFamily="34" charset="-122"/>
                  </a:rPr>
                  <a:t>算法使用如下评估函数进行路径搜索：</a:t>
                </a:r>
              </a:p>
            </p:txBody>
          </p:sp>
        </mc:Choice>
        <mc:Fallback xmlns="">
          <p:sp>
            <p:nvSpPr>
              <p:cNvPr id="19" name="文本框 18">
                <a:extLst>
                  <a:ext uri="{FF2B5EF4-FFF2-40B4-BE49-F238E27FC236}">
                    <a16:creationId xmlns:a16="http://schemas.microsoft.com/office/drawing/2014/main" id="{058BBC56-64FF-C1D5-AC45-71FAA8762615}"/>
                  </a:ext>
                </a:extLst>
              </p:cNvPr>
              <p:cNvSpPr txBox="1">
                <a:spLocks noRot="1" noChangeAspect="1" noMove="1" noResize="1" noEditPoints="1" noAdjustHandles="1" noChangeArrowheads="1" noChangeShapeType="1" noTextEdit="1"/>
              </p:cNvSpPr>
              <p:nvPr/>
            </p:nvSpPr>
            <p:spPr>
              <a:xfrm>
                <a:off x="827773" y="1030307"/>
                <a:ext cx="10376034" cy="2399888"/>
              </a:xfrm>
              <a:prstGeom prst="rect">
                <a:avLst/>
              </a:prstGeom>
              <a:blipFill>
                <a:blip r:embed="rId2"/>
                <a:stretch>
                  <a:fillRect l="-940" r="-881" b="-1777"/>
                </a:stretch>
              </a:blipFill>
            </p:spPr>
            <p:txBody>
              <a:bodyPr/>
              <a:lstStyle/>
              <a:p>
                <a:r>
                  <a:rPr lang="zh-CN" altLang="en-US">
                    <a:noFill/>
                  </a:rPr>
                  <a:t> </a:t>
                </a:r>
              </a:p>
            </p:txBody>
          </p:sp>
        </mc:Fallback>
      </mc:AlternateContent>
      <p:graphicFrame>
        <p:nvGraphicFramePr>
          <p:cNvPr id="20" name="对象 19">
            <a:extLst>
              <a:ext uri="{FF2B5EF4-FFF2-40B4-BE49-F238E27FC236}">
                <a16:creationId xmlns:a16="http://schemas.microsoft.com/office/drawing/2014/main" id="{411B7F51-20EF-1B13-C4E2-D0986A264C7B}"/>
              </a:ext>
            </a:extLst>
          </p:cNvPr>
          <p:cNvGraphicFramePr>
            <a:graphicFrameLocks noChangeAspect="1"/>
          </p:cNvGraphicFramePr>
          <p:nvPr>
            <p:extLst>
              <p:ext uri="{D42A27DB-BD31-4B8C-83A1-F6EECF244321}">
                <p14:modId xmlns:p14="http://schemas.microsoft.com/office/powerpoint/2010/main" val="2799237427"/>
              </p:ext>
            </p:extLst>
          </p:nvPr>
        </p:nvGraphicFramePr>
        <p:xfrm>
          <a:off x="3922730" y="3429001"/>
          <a:ext cx="2718702" cy="519496"/>
        </p:xfrm>
        <a:graphic>
          <a:graphicData uri="http://schemas.openxmlformats.org/presentationml/2006/ole">
            <mc:AlternateContent xmlns:mc="http://schemas.openxmlformats.org/markup-compatibility/2006">
              <mc:Choice xmlns:v="urn:schemas-microsoft-com:vml" Requires="v">
                <p:oleObj name="Equation" r:id="rId3" imgW="997638" imgH="190688" progId="Equation.DSMT4">
                  <p:embed/>
                </p:oleObj>
              </mc:Choice>
              <mc:Fallback>
                <p:oleObj name="Equation" r:id="rId3" imgW="997638" imgH="190688" progId="Equation.DSMT4">
                  <p:embed/>
                  <p:pic>
                    <p:nvPicPr>
                      <p:cNvPr id="0" name=""/>
                      <p:cNvPicPr/>
                      <p:nvPr/>
                    </p:nvPicPr>
                    <p:blipFill>
                      <a:blip r:embed="rId4"/>
                      <a:stretch>
                        <a:fillRect/>
                      </a:stretch>
                    </p:blipFill>
                    <p:spPr>
                      <a:xfrm>
                        <a:off x="3922730" y="3429001"/>
                        <a:ext cx="2718702" cy="519496"/>
                      </a:xfrm>
                      <a:prstGeom prst="rect">
                        <a:avLst/>
                      </a:prstGeom>
                    </p:spPr>
                  </p:pic>
                </p:oleObj>
              </mc:Fallback>
            </mc:AlternateContent>
          </a:graphicData>
        </a:graphic>
      </p:graphicFrame>
      <p:sp>
        <p:nvSpPr>
          <p:cNvPr id="23" name="文本框 22">
            <a:extLst>
              <a:ext uri="{FF2B5EF4-FFF2-40B4-BE49-F238E27FC236}">
                <a16:creationId xmlns:a16="http://schemas.microsoft.com/office/drawing/2014/main" id="{E34CA6D7-5CD1-1A8A-62EF-F177C10F6606}"/>
              </a:ext>
            </a:extLst>
          </p:cNvPr>
          <p:cNvSpPr txBox="1"/>
          <p:nvPr/>
        </p:nvSpPr>
        <p:spPr>
          <a:xfrm>
            <a:off x="7854214" y="3488694"/>
            <a:ext cx="1297004" cy="400110"/>
          </a:xfrm>
          <a:prstGeom prst="rect">
            <a:avLst/>
          </a:prstGeom>
          <a:noFill/>
        </p:spPr>
        <p:txBody>
          <a:bodyPr wrap="square">
            <a:spAutoFit/>
          </a:bodyPr>
          <a:lstStyle/>
          <a:p>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6.9</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15F8F2C3-7DF4-8BB5-0F7C-63E6BB33625F}"/>
                  </a:ext>
                </a:extLst>
              </p:cNvPr>
              <p:cNvSpPr txBox="1"/>
              <p:nvPr/>
            </p:nvSpPr>
            <p:spPr>
              <a:xfrm>
                <a:off x="827773" y="4006996"/>
                <a:ext cx="10376034" cy="1569660"/>
              </a:xfrm>
              <a:prstGeom prst="rect">
                <a:avLst/>
              </a:prstGeom>
              <a:noFill/>
            </p:spPr>
            <p:txBody>
              <a:bodyPr wrap="square">
                <a:spAutoFit/>
              </a:bodyPr>
              <a:lstStyle/>
              <a:p>
                <a:pPr algn="just"/>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式中，</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𝒇</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表示所搜索到的栅格点</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𝒔</m:t>
                    </m:r>
                  </m:oMath>
                </a14:m>
                <a:r>
                  <a:rPr lang="zh-CN" altLang="zh-CN" sz="2400" b="1" kern="100" dirty="0">
                    <a:effectLst/>
                    <a:latin typeface="微软雅黑" panose="020B0503020204020204" pitchFamily="34" charset="-122"/>
                    <a:ea typeface="微软雅黑" panose="020B0503020204020204" pitchFamily="34" charset="-122"/>
                  </a:rPr>
                  <a:t>的代价值，</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反映了从起始点到栅格点</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𝒔</m:t>
                    </m:r>
                  </m:oMath>
                </a14:m>
                <a:r>
                  <a:rPr lang="zh-CN" altLang="zh-CN" sz="2400" b="1" kern="100" dirty="0">
                    <a:effectLst/>
                    <a:latin typeface="微软雅黑" panose="020B0503020204020204" pitchFamily="34" charset="-122"/>
                    <a:ea typeface="微软雅黑" panose="020B0503020204020204" pitchFamily="34" charset="-122"/>
                  </a:rPr>
                  <a:t>的路径长度，</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𝒉</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为栅格点</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𝒔</m:t>
                    </m:r>
                  </m:oMath>
                </a14:m>
                <a:r>
                  <a:rPr lang="zh-CN" altLang="zh-CN" sz="2400" b="1" kern="100" dirty="0">
                    <a:effectLst/>
                    <a:latin typeface="微软雅黑" panose="020B0503020204020204" pitchFamily="34" charset="-122"/>
                    <a:ea typeface="微软雅黑" panose="020B0503020204020204" pitchFamily="34" charset="-122"/>
                  </a:rPr>
                  <a:t>到目标点的路径长度，通常采用</a:t>
                </a:r>
                <a:r>
                  <a:rPr lang="en-US" altLang="zh-CN" sz="2400" b="1" kern="100" dirty="0">
                    <a:effectLst/>
                    <a:latin typeface="微软雅黑" panose="020B0503020204020204" pitchFamily="34" charset="-122"/>
                    <a:ea typeface="微软雅黑" panose="020B0503020204020204" pitchFamily="34" charset="-122"/>
                  </a:rPr>
                  <a:t>Manhattan</a:t>
                </a:r>
                <a:r>
                  <a:rPr lang="zh-CN" altLang="zh-CN" sz="2400" b="1" kern="100" dirty="0">
                    <a:effectLst/>
                    <a:latin typeface="微软雅黑" panose="020B0503020204020204" pitchFamily="34" charset="-122"/>
                    <a:ea typeface="微软雅黑" panose="020B0503020204020204" pitchFamily="34" charset="-122"/>
                  </a:rPr>
                  <a:t>函数进行计算，目标点的</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𝒇</m:t>
                    </m:r>
                  </m:oMath>
                </a14:m>
                <a:r>
                  <a:rPr lang="zh-CN" altLang="zh-CN" sz="2400" b="1" kern="100" dirty="0">
                    <a:effectLst/>
                    <a:latin typeface="微软雅黑" panose="020B0503020204020204" pitchFamily="34" charset="-122"/>
                    <a:ea typeface="微软雅黑" panose="020B0503020204020204" pitchFamily="34" charset="-122"/>
                  </a:rPr>
                  <a:t>值即最优路径的长度，其程序流程图如图</a:t>
                </a:r>
                <a:r>
                  <a:rPr lang="en-US" altLang="zh-CN" sz="2400" b="1" kern="100" dirty="0">
                    <a:effectLst/>
                    <a:latin typeface="微软雅黑" panose="020B0503020204020204" pitchFamily="34" charset="-122"/>
                    <a:ea typeface="微软雅黑" panose="020B0503020204020204" pitchFamily="34" charset="-122"/>
                  </a:rPr>
                  <a:t>6.15</a:t>
                </a:r>
                <a:r>
                  <a:rPr lang="zh-CN" altLang="zh-CN" sz="2400" b="1" kern="100" dirty="0">
                    <a:effectLst/>
                    <a:latin typeface="微软雅黑" panose="020B0503020204020204" pitchFamily="34" charset="-122"/>
                    <a:ea typeface="微软雅黑" panose="020B0503020204020204" pitchFamily="34" charset="-122"/>
                  </a:rPr>
                  <a:t>所示。</a:t>
                </a:r>
              </a:p>
            </p:txBody>
          </p:sp>
        </mc:Choice>
        <mc:Fallback xmlns="">
          <p:sp>
            <p:nvSpPr>
              <p:cNvPr id="26" name="文本框 25">
                <a:extLst>
                  <a:ext uri="{FF2B5EF4-FFF2-40B4-BE49-F238E27FC236}">
                    <a16:creationId xmlns:a16="http://schemas.microsoft.com/office/drawing/2014/main" id="{15F8F2C3-7DF4-8BB5-0F7C-63E6BB33625F}"/>
                  </a:ext>
                </a:extLst>
              </p:cNvPr>
              <p:cNvSpPr txBox="1">
                <a:spLocks noRot="1" noChangeAspect="1" noMove="1" noResize="1" noEditPoints="1" noAdjustHandles="1" noChangeArrowheads="1" noChangeShapeType="1" noTextEdit="1"/>
              </p:cNvSpPr>
              <p:nvPr/>
            </p:nvSpPr>
            <p:spPr>
              <a:xfrm>
                <a:off x="827773" y="4006996"/>
                <a:ext cx="10376034" cy="1569660"/>
              </a:xfrm>
              <a:prstGeom prst="rect">
                <a:avLst/>
              </a:prstGeom>
              <a:blipFill>
                <a:blip r:embed="rId5"/>
                <a:stretch>
                  <a:fillRect l="-940" t="-3101" r="-881" b="-77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1135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Rectangle 8">
            <a:extLst>
              <a:ext uri="{FF2B5EF4-FFF2-40B4-BE49-F238E27FC236}">
                <a16:creationId xmlns:a16="http://schemas.microsoft.com/office/drawing/2014/main" id="{65B28EAF-9D80-C7CC-4A53-577175CEDA78}"/>
              </a:ext>
            </a:extLst>
          </p:cNvPr>
          <p:cNvSpPr>
            <a:spLocks noChangeArrowheads="1"/>
          </p:cNvSpPr>
          <p:nvPr/>
        </p:nvSpPr>
        <p:spPr bwMode="auto">
          <a:xfrm>
            <a:off x="7295948" y="866677"/>
            <a:ext cx="1831563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4" name="对象 13">
            <a:extLst>
              <a:ext uri="{FF2B5EF4-FFF2-40B4-BE49-F238E27FC236}">
                <a16:creationId xmlns:a16="http://schemas.microsoft.com/office/drawing/2014/main" id="{136C6940-D063-C0BC-513C-DEFAF01A4C25}"/>
              </a:ext>
            </a:extLst>
          </p:cNvPr>
          <p:cNvGraphicFramePr>
            <a:graphicFrameLocks noChangeAspect="1"/>
          </p:cNvGraphicFramePr>
          <p:nvPr>
            <p:extLst>
              <p:ext uri="{D42A27DB-BD31-4B8C-83A1-F6EECF244321}">
                <p14:modId xmlns:p14="http://schemas.microsoft.com/office/powerpoint/2010/main" val="2694390617"/>
              </p:ext>
            </p:extLst>
          </p:nvPr>
        </p:nvGraphicFramePr>
        <p:xfrm>
          <a:off x="7210854" y="866678"/>
          <a:ext cx="4012203" cy="5512092"/>
        </p:xfrm>
        <a:graphic>
          <a:graphicData uri="http://schemas.openxmlformats.org/presentationml/2006/ole">
            <mc:AlternateContent xmlns:mc="http://schemas.openxmlformats.org/markup-compatibility/2006">
              <mc:Choice xmlns:v="urn:schemas-microsoft-com:vml" Requires="v">
                <p:oleObj r:id="rId2" imgW="6724463" imgH="9191434" progId="Visio.Drawing.11">
                  <p:embed/>
                </p:oleObj>
              </mc:Choice>
              <mc:Fallback>
                <p:oleObj r:id="rId2" imgW="6724463" imgH="9191434" progId="Visio.Drawing.11">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0854" y="866678"/>
                        <a:ext cx="4012203" cy="5512092"/>
                      </a:xfrm>
                      <a:prstGeom prst="rect">
                        <a:avLst/>
                      </a:prstGeom>
                      <a:noFill/>
                    </p:spPr>
                  </p:pic>
                </p:oleObj>
              </mc:Fallback>
            </mc:AlternateContent>
          </a:graphicData>
        </a:graphic>
      </p:graphicFrame>
      <p:sp>
        <p:nvSpPr>
          <p:cNvPr id="17" name="文本框 16">
            <a:extLst>
              <a:ext uri="{FF2B5EF4-FFF2-40B4-BE49-F238E27FC236}">
                <a16:creationId xmlns:a16="http://schemas.microsoft.com/office/drawing/2014/main" id="{56F0F9B8-E437-8212-3FCD-75C8EFC8B832}"/>
              </a:ext>
            </a:extLst>
          </p:cNvPr>
          <p:cNvSpPr txBox="1"/>
          <p:nvPr/>
        </p:nvSpPr>
        <p:spPr>
          <a:xfrm>
            <a:off x="6410425" y="6316073"/>
            <a:ext cx="5683717" cy="510717"/>
          </a:xfrm>
          <a:prstGeom prst="rect">
            <a:avLst/>
          </a:prstGeom>
          <a:noFill/>
        </p:spPr>
        <p:txBody>
          <a:bodyPr wrap="square">
            <a:spAutoFit/>
          </a:bodyPr>
          <a:lstStyle/>
          <a:p>
            <a:pPr indent="228600" algn="ctr">
              <a:lnSpc>
                <a:spcPct val="125000"/>
              </a:lnSpc>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6-15 A</a:t>
            </a:r>
            <a:r>
              <a:rPr lang="en-US" altLang="zh-CN" sz="2400" kern="1000" dirty="0">
                <a:effectLst/>
                <a:latin typeface="Times New Roman" panose="02020603050405020304" pitchFamily="18" charset="0"/>
                <a:ea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算法流程图</a:t>
            </a:r>
            <a:endParaRPr lang="zh-CN" altLang="zh-CN" sz="2400" kern="10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6564ACA-BF86-D8D1-18AC-41880E002855}"/>
                  </a:ext>
                </a:extLst>
              </p:cNvPr>
              <p:cNvSpPr txBox="1"/>
              <p:nvPr/>
            </p:nvSpPr>
            <p:spPr>
              <a:xfrm>
                <a:off x="557733" y="1268125"/>
                <a:ext cx="6442383" cy="4224875"/>
              </a:xfrm>
              <a:prstGeom prst="rect">
                <a:avLst/>
              </a:prstGeom>
              <a:noFill/>
            </p:spPr>
            <p:txBody>
              <a:bodyPr wrap="square">
                <a:spAutoFit/>
              </a:bodyPr>
              <a:lstStyle/>
              <a:p>
                <a:pPr algn="just"/>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为了寻找最优路径，</a:t>
                </a:r>
                <a:r>
                  <a:rPr lang="en-US" altLang="zh-CN" sz="2400" b="1" kern="100" dirty="0">
                    <a:effectLst/>
                    <a:latin typeface="微软雅黑" panose="020B0503020204020204" pitchFamily="34" charset="-122"/>
                    <a:ea typeface="微软雅黑" panose="020B0503020204020204" pitchFamily="34" charset="-122"/>
                  </a:rPr>
                  <a:t>A*</a:t>
                </a:r>
                <a:r>
                  <a:rPr lang="zh-CN" altLang="zh-CN" sz="2400" b="1" kern="100" dirty="0">
                    <a:effectLst/>
                    <a:latin typeface="微软雅黑" panose="020B0503020204020204" pitchFamily="34" charset="-122"/>
                    <a:ea typeface="微软雅黑" panose="020B0503020204020204" pitchFamily="34" charset="-122"/>
                  </a:rPr>
                  <a:t>算法将每个路径节点</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𝒔</m:t>
                    </m:r>
                  </m:oMath>
                </a14:m>
                <a:r>
                  <a:rPr lang="zh-CN" altLang="zh-CN" sz="2400" b="1" kern="100" dirty="0">
                    <a:effectLst/>
                    <a:latin typeface="微软雅黑" panose="020B0503020204020204" pitchFamily="34" charset="-122"/>
                    <a:ea typeface="微软雅黑" panose="020B0503020204020204" pitchFamily="34" charset="-122"/>
                  </a:rPr>
                  <a:t>与起始点</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𝒔</m:t>
                        </m:r>
                      </m:e>
                      <m:sub>
                        <m:r>
                          <a:rPr lang="en-US" altLang="zh-CN" sz="2400" b="1" i="1" kern="100" smtClean="0">
                            <a:effectLst/>
                            <a:latin typeface="Cambria Math" panose="02040503050406030204" pitchFamily="18" charset="0"/>
                            <a:ea typeface="宋体" panose="02010600030101010101" pitchFamily="2" charset="-122"/>
                          </a:rPr>
                          <m:t>𝒔𝒕𝒂𝒓𝒕</m:t>
                        </m:r>
                      </m:sub>
                    </m:sSub>
                  </m:oMath>
                </a14:m>
                <a:r>
                  <a:rPr lang="zh-CN" altLang="zh-CN" sz="2400" b="1" kern="100" dirty="0">
                    <a:effectLst/>
                    <a:latin typeface="微软雅黑" panose="020B0503020204020204" pitchFamily="34" charset="-122"/>
                    <a:ea typeface="微软雅黑" panose="020B0503020204020204" pitchFamily="34" charset="-122"/>
                  </a:rPr>
                  <a:t>的路径长度值存储为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，并且在初始时刻，所有路径点的</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。同时</a:t>
                </a:r>
                <a:r>
                  <a:rPr lang="en-US" altLang="zh-CN" sz="2400" b="1" kern="100" dirty="0">
                    <a:effectLst/>
                    <a:latin typeface="微软雅黑" panose="020B0503020204020204" pitchFamily="34" charset="-122"/>
                    <a:ea typeface="微软雅黑" panose="020B0503020204020204" pitchFamily="34" charset="-122"/>
                  </a:rPr>
                  <a:t>A*</a:t>
                </a:r>
                <a:r>
                  <a:rPr lang="zh-CN" altLang="zh-CN" sz="2400" b="1" kern="100" dirty="0">
                    <a:effectLst/>
                    <a:latin typeface="微软雅黑" panose="020B0503020204020204" pitchFamily="34" charset="-122"/>
                    <a:ea typeface="微软雅黑" panose="020B0503020204020204" pitchFamily="34" charset="-122"/>
                  </a:rPr>
                  <a:t>算法设置了两个列表，</a:t>
                </a:r>
                <a:r>
                  <a:rPr lang="en-US" altLang="zh-CN" sz="2400" b="1" i="1" kern="100" dirty="0">
                    <a:effectLst/>
                    <a:latin typeface="微软雅黑" panose="020B0503020204020204" pitchFamily="34" charset="-122"/>
                    <a:ea typeface="微软雅黑" panose="020B0503020204020204" pitchFamily="34" charset="-122"/>
                  </a:rPr>
                  <a:t>Open </a:t>
                </a:r>
                <a:r>
                  <a:rPr lang="zh-CN" altLang="zh-CN" sz="2400" b="1" kern="100" dirty="0">
                    <a:effectLst/>
                    <a:latin typeface="微软雅黑" panose="020B0503020204020204" pitchFamily="34" charset="-122"/>
                    <a:ea typeface="微软雅黑" panose="020B0503020204020204" pitchFamily="34" charset="-122"/>
                  </a:rPr>
                  <a:t>列表与</a:t>
                </a:r>
                <a:r>
                  <a:rPr lang="en-US" altLang="zh-CN" sz="2400" b="1" i="1" kern="100" dirty="0">
                    <a:effectLst/>
                    <a:latin typeface="微软雅黑" panose="020B0503020204020204" pitchFamily="34" charset="-122"/>
                    <a:ea typeface="微软雅黑" panose="020B0503020204020204" pitchFamily="34" charset="-122"/>
                  </a:rPr>
                  <a:t>Close </a:t>
                </a:r>
                <a:r>
                  <a:rPr lang="zh-CN" altLang="zh-CN" sz="2400" b="1" kern="100" dirty="0">
                    <a:effectLst/>
                    <a:latin typeface="微软雅黑" panose="020B0503020204020204" pitchFamily="34" charset="-122"/>
                    <a:ea typeface="微软雅黑" panose="020B0503020204020204" pitchFamily="34" charset="-122"/>
                  </a:rPr>
                  <a:t>列表，</a:t>
                </a:r>
                <a:r>
                  <a:rPr lang="en-US" altLang="zh-CN" sz="2400" b="1" i="1" kern="100" dirty="0">
                    <a:effectLst/>
                    <a:latin typeface="微软雅黑" panose="020B0503020204020204" pitchFamily="34" charset="-122"/>
                    <a:ea typeface="微软雅黑" panose="020B0503020204020204" pitchFamily="34" charset="-122"/>
                  </a:rPr>
                  <a:t>Open </a:t>
                </a:r>
                <a:r>
                  <a:rPr lang="zh-CN" altLang="zh-CN" sz="2400" b="1" kern="100" dirty="0">
                    <a:effectLst/>
                    <a:latin typeface="微软雅黑" panose="020B0503020204020204" pitchFamily="34" charset="-122"/>
                    <a:ea typeface="微软雅黑" panose="020B0503020204020204" pitchFamily="34" charset="-122"/>
                  </a:rPr>
                  <a:t>列表存储所有遍历到但未考察的节点，</a:t>
                </a:r>
                <a:r>
                  <a:rPr lang="en-US" altLang="zh-CN" sz="2400" b="1" i="1" kern="100" dirty="0">
                    <a:effectLst/>
                    <a:latin typeface="微软雅黑" panose="020B0503020204020204" pitchFamily="34" charset="-122"/>
                    <a:ea typeface="微软雅黑" panose="020B0503020204020204" pitchFamily="34" charset="-122"/>
                  </a:rPr>
                  <a:t>Close </a:t>
                </a:r>
                <a:r>
                  <a:rPr lang="zh-CN" altLang="zh-CN" sz="2400" b="1" kern="100" dirty="0">
                    <a:effectLst/>
                    <a:latin typeface="微软雅黑" panose="020B0503020204020204" pitchFamily="34" charset="-122"/>
                    <a:ea typeface="微软雅黑" panose="020B0503020204020204" pitchFamily="34" charset="-122"/>
                  </a:rPr>
                  <a:t>列表记录已考察过的节点。</a:t>
                </a:r>
                <a:r>
                  <a:rPr lang="en-US" altLang="zh-CN" sz="2400" b="1" kern="100" dirty="0">
                    <a:effectLst/>
                    <a:latin typeface="微软雅黑" panose="020B0503020204020204" pitchFamily="34" charset="-122"/>
                    <a:ea typeface="微软雅黑" panose="020B0503020204020204" pitchFamily="34" charset="-122"/>
                  </a:rPr>
                  <a:t>A*</a:t>
                </a:r>
                <a:r>
                  <a:rPr lang="zh-CN" altLang="zh-CN" sz="2400" b="1" kern="100" dirty="0">
                    <a:effectLst/>
                    <a:latin typeface="微软雅黑" panose="020B0503020204020204" pitchFamily="34" charset="-122"/>
                    <a:ea typeface="微软雅黑" panose="020B0503020204020204" pitchFamily="34" charset="-122"/>
                  </a:rPr>
                  <a:t>算法启动时，首先将起始点的</a:t>
                </a:r>
                <a:r>
                  <a:rPr lang="en-US" altLang="zh-CN" sz="2400" b="1" i="1" kern="100" dirty="0">
                    <a:effectLst/>
                    <a:latin typeface="微软雅黑" panose="020B0503020204020204" pitchFamily="34" charset="-122"/>
                    <a:ea typeface="微软雅黑" panose="020B0503020204020204" pitchFamily="34" charset="-122"/>
                  </a:rPr>
                  <a:t>g </a:t>
                </a:r>
                <a:r>
                  <a:rPr lang="zh-CN" altLang="zh-CN" sz="2400" b="1" kern="100" dirty="0">
                    <a:effectLst/>
                    <a:latin typeface="微软雅黑" panose="020B0503020204020204" pitchFamily="34" charset="-122"/>
                    <a:ea typeface="微软雅黑" panose="020B0503020204020204" pitchFamily="34" charset="-122"/>
                  </a:rPr>
                  <a:t>值置为零，即</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𝒔</m:t>
                        </m:r>
                      </m:e>
                      <m:sub>
                        <m:r>
                          <a:rPr lang="en-US" altLang="zh-CN" sz="2400" b="1" i="1" kern="100">
                            <a:latin typeface="Cambria Math" panose="02040503050406030204" pitchFamily="18" charset="0"/>
                            <a:ea typeface="宋体" panose="02010600030101010101" pitchFamily="2" charset="-122"/>
                          </a:rPr>
                          <m:t>𝒔𝒕𝒂𝒓𝒕</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𝟎</m:t>
                    </m:r>
                  </m:oMath>
                </a14:m>
                <a:r>
                  <a:rPr lang="zh-CN" altLang="zh-CN" sz="2400" b="1" kern="100" dirty="0">
                    <a:effectLst/>
                    <a:latin typeface="微软雅黑" panose="020B0503020204020204" pitchFamily="34" charset="-122"/>
                    <a:ea typeface="微软雅黑" panose="020B0503020204020204" pitchFamily="34" charset="-122"/>
                  </a:rPr>
                  <a:t>，然后将起始点存入</a:t>
                </a:r>
                <a:r>
                  <a:rPr lang="en-US" altLang="zh-CN" sz="2400" b="1" i="1" kern="100" dirty="0">
                    <a:effectLst/>
                    <a:latin typeface="微软雅黑" panose="020B0503020204020204" pitchFamily="34" charset="-122"/>
                    <a:ea typeface="微软雅黑" panose="020B0503020204020204" pitchFamily="34" charset="-122"/>
                  </a:rPr>
                  <a:t>Open </a:t>
                </a:r>
                <a:r>
                  <a:rPr lang="zh-CN" altLang="zh-CN" sz="2400" b="1" kern="100" dirty="0">
                    <a:effectLst/>
                    <a:latin typeface="微软雅黑" panose="020B0503020204020204" pitchFamily="34" charset="-122"/>
                    <a:ea typeface="微软雅黑" panose="020B0503020204020204" pitchFamily="34" charset="-122"/>
                  </a:rPr>
                  <a:t>列表中，其值为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𝒔</m:t>
                        </m:r>
                      </m:e>
                      <m:sub>
                        <m:r>
                          <a:rPr lang="en-US" altLang="zh-CN" sz="2400" b="1" i="1" kern="100">
                            <a:latin typeface="Cambria Math" panose="02040503050406030204" pitchFamily="18" charset="0"/>
                            <a:ea typeface="宋体" panose="02010600030101010101" pitchFamily="2" charset="-122"/>
                          </a:rPr>
                          <m:t>𝒔𝒕𝒂𝒓𝒕</m:t>
                        </m:r>
                      </m:sub>
                    </m:sSub>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𝒉</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𝒔</m:t>
                        </m:r>
                      </m:e>
                      <m:sub>
                        <m:r>
                          <a:rPr lang="en-US" altLang="zh-CN" sz="2400" b="1" i="1" kern="100" smtClean="0">
                            <a:effectLst/>
                            <a:latin typeface="Cambria Math" panose="02040503050406030204" pitchFamily="18" charset="0"/>
                            <a:ea typeface="宋体" panose="02010600030101010101" pitchFamily="2" charset="-122"/>
                          </a:rPr>
                          <m:t>𝒔𝒕𝒂𝒓𝒕</m:t>
                        </m:r>
                      </m:sub>
                    </m:sSub>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𝒔</m:t>
                        </m:r>
                      </m:e>
                      <m:sub>
                        <m:r>
                          <a:rPr lang="en-US" altLang="zh-CN" sz="2400" b="1" i="1" kern="100" smtClean="0">
                            <a:effectLst/>
                            <a:latin typeface="Cambria Math" panose="02040503050406030204" pitchFamily="18" charset="0"/>
                            <a:ea typeface="宋体" panose="02010600030101010101" pitchFamily="2" charset="-122"/>
                          </a:rPr>
                          <m:t>𝒈𝒐𝒂𝒍</m:t>
                        </m:r>
                      </m:sub>
                    </m:sSub>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𝒉</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为节点</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𝒔</m:t>
                    </m:r>
                  </m:oMath>
                </a14:m>
                <a:r>
                  <a:rPr lang="zh-CN" altLang="zh-CN" sz="2400" b="1" kern="100" dirty="0">
                    <a:effectLst/>
                    <a:latin typeface="微软雅黑" panose="020B0503020204020204" pitchFamily="34" charset="-122"/>
                    <a:ea typeface="微软雅黑" panose="020B0503020204020204" pitchFamily="34" charset="-122"/>
                  </a:rPr>
                  <a:t>与终止点</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𝒔</m:t>
                        </m:r>
                      </m:e>
                      <m:sub>
                        <m:r>
                          <a:rPr lang="en-US" altLang="zh-CN" sz="2400" b="1" i="1" kern="100">
                            <a:latin typeface="Cambria Math" panose="02040503050406030204" pitchFamily="18" charset="0"/>
                            <a:ea typeface="宋体" panose="02010600030101010101" pitchFamily="2" charset="-122"/>
                          </a:rPr>
                          <m:t>𝒈𝒐𝒂𝒍</m:t>
                        </m:r>
                      </m:sub>
                    </m:sSub>
                    <m:r>
                      <a:rPr lang="en-US" altLang="zh-CN" sz="2400" b="1" i="1" kern="100">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之间距离的启发式估计函数。</a:t>
                </a:r>
              </a:p>
            </p:txBody>
          </p:sp>
        </mc:Choice>
        <mc:Fallback xmlns="">
          <p:sp>
            <p:nvSpPr>
              <p:cNvPr id="22" name="文本框 21">
                <a:extLst>
                  <a:ext uri="{FF2B5EF4-FFF2-40B4-BE49-F238E27FC236}">
                    <a16:creationId xmlns:a16="http://schemas.microsoft.com/office/drawing/2014/main" id="{86564ACA-BF86-D8D1-18AC-41880E002855}"/>
                  </a:ext>
                </a:extLst>
              </p:cNvPr>
              <p:cNvSpPr txBox="1">
                <a:spLocks noRot="1" noChangeAspect="1" noMove="1" noResize="1" noEditPoints="1" noAdjustHandles="1" noChangeArrowheads="1" noChangeShapeType="1" noTextEdit="1"/>
              </p:cNvSpPr>
              <p:nvPr/>
            </p:nvSpPr>
            <p:spPr>
              <a:xfrm>
                <a:off x="557733" y="1268125"/>
                <a:ext cx="6442383" cy="4224875"/>
              </a:xfrm>
              <a:prstGeom prst="rect">
                <a:avLst/>
              </a:prstGeom>
              <a:blipFill>
                <a:blip r:embed="rId4"/>
                <a:stretch>
                  <a:fillRect l="-1419" t="-1154" r="-6244" b="-23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32946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D846E0E-DE23-19C2-2AAA-5DE79FEBA6CD}"/>
                  </a:ext>
                </a:extLst>
              </p:cNvPr>
              <p:cNvSpPr txBox="1"/>
              <p:nvPr/>
            </p:nvSpPr>
            <p:spPr>
              <a:xfrm>
                <a:off x="845419" y="1232034"/>
                <a:ext cx="10501161" cy="4154984"/>
              </a:xfrm>
              <a:prstGeom prst="rect">
                <a:avLst/>
              </a:prstGeom>
              <a:noFill/>
            </p:spPr>
            <p:txBody>
              <a:bodyPr wrap="square">
                <a:spAutoFit/>
              </a:bodyPr>
              <a:lstStyle/>
              <a:p>
                <a:pPr algn="just"/>
                <a:r>
                  <a:rPr lang="en-US" altLang="zh-CN" sz="2400" b="1" i="1" kern="100" dirty="0">
                    <a:effectLst/>
                    <a:latin typeface="微软雅黑" panose="020B0503020204020204" pitchFamily="34" charset="-122"/>
                    <a:ea typeface="微软雅黑" panose="020B0503020204020204" pitchFamily="34" charset="-122"/>
                  </a:rPr>
                  <a:t>      Open </a:t>
                </a:r>
                <a:r>
                  <a:rPr lang="zh-CN" altLang="zh-CN" sz="2400" b="1" kern="100" dirty="0">
                    <a:effectLst/>
                    <a:latin typeface="微软雅黑" panose="020B0503020204020204" pitchFamily="34" charset="-122"/>
                    <a:ea typeface="微软雅黑" panose="020B0503020204020204" pitchFamily="34" charset="-122"/>
                  </a:rPr>
                  <a:t>列表在存储时按照每个元素的大小进行从小到大排列，并在每次搜索时将第一个元素</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𝒔</m:t>
                    </m:r>
                  </m:oMath>
                </a14:m>
                <a:r>
                  <a:rPr lang="zh-CN" altLang="zh-CN" sz="2400" b="1" kern="100" dirty="0">
                    <a:effectLst/>
                    <a:latin typeface="微软雅黑" panose="020B0503020204020204" pitchFamily="34" charset="-122"/>
                    <a:ea typeface="微软雅黑" panose="020B0503020204020204" pitchFamily="34" charset="-122"/>
                  </a:rPr>
                  <a:t>取出队列，同时更新该元素所有可达节点的估计值，即如果该元素的</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加上与可达节点</a:t>
                </a:r>
                <a14:m>
                  <m:oMath xmlns:m="http://schemas.openxmlformats.org/officeDocument/2006/math">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𝒔</m:t>
                        </m:r>
                      </m:e>
                      <m:sup>
                        <m:r>
                          <a:rPr lang="en-US" altLang="zh-CN" sz="2400" b="1" i="1" kern="100">
                            <a:effectLst/>
                            <a:latin typeface="Cambria Math" panose="02040503050406030204" pitchFamily="18" charset="0"/>
                            <a:ea typeface="宋体" panose="02010600030101010101" pitchFamily="2" charset="-122"/>
                          </a:rPr>
                          <m:t>′</m:t>
                        </m:r>
                      </m:sup>
                    </m:sSup>
                  </m:oMath>
                </a14:m>
                <a:r>
                  <a:rPr lang="zh-CN" altLang="zh-CN" sz="2400" b="1" kern="100" dirty="0">
                    <a:effectLst/>
                    <a:latin typeface="微软雅黑" panose="020B0503020204020204" pitchFamily="34" charset="-122"/>
                    <a:ea typeface="微软雅黑" panose="020B0503020204020204" pitchFamily="34" charset="-122"/>
                  </a:rPr>
                  <a:t>的距离值</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𝒄</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𝒔</m:t>
                        </m:r>
                      </m:e>
                      <m:sup>
                        <m:r>
                          <a:rPr lang="en-US" altLang="zh-CN" sz="2400" b="1" i="1" kern="100">
                            <a:effectLst/>
                            <a:latin typeface="Cambria Math" panose="02040503050406030204" pitchFamily="18" charset="0"/>
                            <a:ea typeface="宋体" panose="02010600030101010101" pitchFamily="2" charset="-122"/>
                          </a:rPr>
                          <m:t>′</m:t>
                        </m:r>
                      </m:sup>
                    </m:sSup>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小于</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𝒔</m:t>
                        </m:r>
                      </m:e>
                      <m:sup>
                        <m:r>
                          <a:rPr lang="en-US" altLang="zh-CN" sz="2400" b="1" i="1" kern="100">
                            <a:effectLst/>
                            <a:latin typeface="Cambria Math" panose="02040503050406030204" pitchFamily="18" charset="0"/>
                            <a:ea typeface="宋体" panose="02010600030101010101" pitchFamily="2" charset="-122"/>
                          </a:rPr>
                          <m:t>′</m:t>
                        </m:r>
                      </m:sup>
                    </m:sSup>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，则</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𝒔</m:t>
                        </m:r>
                      </m:e>
                      <m:sup>
                        <m:r>
                          <a:rPr lang="en-US" altLang="zh-CN" sz="2400" b="1" i="1" kern="100">
                            <a:effectLst/>
                            <a:latin typeface="Cambria Math" panose="02040503050406030204" pitchFamily="18" charset="0"/>
                            <a:ea typeface="宋体" panose="02010600030101010101" pitchFamily="2" charset="-122"/>
                          </a:rPr>
                          <m:t>′</m:t>
                        </m:r>
                      </m:sup>
                    </m:sSup>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更新为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𝒈</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𝒄</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𝒔</m:t>
                    </m:r>
                    <m:r>
                      <a:rPr lang="en-US" altLang="zh-CN" sz="2400" b="1" i="1" kern="100">
                        <a:effectLst/>
                        <a:latin typeface="Cambria Math" panose="02040503050406030204" pitchFamily="18" charset="0"/>
                        <a:ea typeface="宋体" panose="02010600030101010101" pitchFamily="2" charset="-122"/>
                      </a:rPr>
                      <m:t>,</m:t>
                    </m:r>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𝒔</m:t>
                        </m:r>
                      </m:e>
                      <m:sup>
                        <m:r>
                          <a:rPr lang="en-US" altLang="zh-CN" sz="2400" b="1" i="1" kern="100">
                            <a:effectLst/>
                            <a:latin typeface="Cambria Math" panose="02040503050406030204" pitchFamily="18" charset="0"/>
                            <a:ea typeface="宋体" panose="02010600030101010101" pitchFamily="2" charset="-122"/>
                          </a:rPr>
                          <m:t>′</m:t>
                        </m:r>
                      </m:sup>
                    </m:sSup>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，同时将</a:t>
                </a:r>
                <a14:m>
                  <m:oMath xmlns:m="http://schemas.openxmlformats.org/officeDocument/2006/math">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𝒔</m:t>
                        </m:r>
                      </m:e>
                      <m:sup>
                        <m:r>
                          <a:rPr lang="en-US" altLang="zh-CN" sz="2400" b="1" i="1" kern="100">
                            <a:effectLst/>
                            <a:latin typeface="Cambria Math" panose="02040503050406030204" pitchFamily="18" charset="0"/>
                            <a:ea typeface="宋体" panose="02010600030101010101" pitchFamily="2" charset="-122"/>
                          </a:rPr>
                          <m:t>′</m:t>
                        </m:r>
                      </m:sup>
                    </m:sSup>
                  </m:oMath>
                </a14:m>
                <a:r>
                  <a:rPr lang="zh-CN" altLang="zh-CN" sz="2400" b="1" kern="100" dirty="0">
                    <a:effectLst/>
                    <a:latin typeface="微软雅黑" panose="020B0503020204020204" pitchFamily="34" charset="-122"/>
                    <a:ea typeface="微软雅黑" panose="020B0503020204020204" pitchFamily="34" charset="-122"/>
                  </a:rPr>
                  <a:t>置于</a:t>
                </a:r>
                <a:r>
                  <a:rPr lang="en-US" altLang="zh-CN" sz="2400" b="1" i="1" kern="100" dirty="0">
                    <a:effectLst/>
                    <a:latin typeface="微软雅黑" panose="020B0503020204020204" pitchFamily="34" charset="-122"/>
                    <a:ea typeface="微软雅黑" panose="020B0503020204020204" pitchFamily="34" charset="-122"/>
                  </a:rPr>
                  <a:t>Open </a:t>
                </a:r>
                <a:r>
                  <a:rPr lang="zh-CN" altLang="zh-CN" sz="2400" b="1" kern="100" dirty="0">
                    <a:effectLst/>
                    <a:latin typeface="微软雅黑" panose="020B0503020204020204" pitchFamily="34" charset="-122"/>
                    <a:ea typeface="微软雅黑" panose="020B0503020204020204" pitchFamily="34" charset="-122"/>
                  </a:rPr>
                  <a:t>列表中。</a:t>
                </a:r>
                <a:r>
                  <a:rPr lang="en-US" altLang="zh-CN" sz="2400" b="1" kern="100" dirty="0">
                    <a:effectLst/>
                    <a:latin typeface="微软雅黑" panose="020B0503020204020204" pitchFamily="34" charset="-122"/>
                    <a:ea typeface="微软雅黑" panose="020B0503020204020204" pitchFamily="34" charset="-122"/>
                  </a:rPr>
                  <a:t>A*</a:t>
                </a:r>
                <a:r>
                  <a:rPr lang="zh-CN" altLang="zh-CN" sz="2400" b="1" kern="100" dirty="0">
                    <a:effectLst/>
                    <a:latin typeface="微软雅黑" panose="020B0503020204020204" pitchFamily="34" charset="-122"/>
                    <a:ea typeface="微软雅黑" panose="020B0503020204020204" pitchFamily="34" charset="-122"/>
                  </a:rPr>
                  <a:t>算法依次取出</a:t>
                </a:r>
                <a:r>
                  <a:rPr lang="en-US" altLang="zh-CN" sz="2400" b="1" i="1" kern="100" dirty="0">
                    <a:effectLst/>
                    <a:latin typeface="微软雅黑" panose="020B0503020204020204" pitchFamily="34" charset="-122"/>
                    <a:ea typeface="微软雅黑" panose="020B0503020204020204" pitchFamily="34" charset="-122"/>
                  </a:rPr>
                  <a:t>Open </a:t>
                </a:r>
                <a:r>
                  <a:rPr lang="zh-CN" altLang="zh-CN" sz="2400" b="1" kern="100" dirty="0">
                    <a:effectLst/>
                    <a:latin typeface="微软雅黑" panose="020B0503020204020204" pitchFamily="34" charset="-122"/>
                    <a:ea typeface="微软雅黑" panose="020B0503020204020204" pitchFamily="34" charset="-122"/>
                  </a:rPr>
                  <a:t>列表中的元素，直到取到目标点为止，此时即寻找到了连接起始点与目标点的最优路径。</a:t>
                </a:r>
                <a:r>
                  <a:rPr lang="zh-CN" altLang="zh-CN" sz="2400" b="1" kern="100" dirty="0">
                    <a:latin typeface="微软雅黑" panose="020B0503020204020204" pitchFamily="34" charset="-122"/>
                    <a:ea typeface="微软雅黑" panose="020B0503020204020204" pitchFamily="34" charset="-122"/>
                  </a:rPr>
                  <a:t>一次完整的</a:t>
                </a:r>
                <a:r>
                  <a:rPr lang="en-US" altLang="zh-CN" sz="2400" b="1" kern="100" dirty="0">
                    <a:latin typeface="微软雅黑" panose="020B0503020204020204" pitchFamily="34" charset="-122"/>
                    <a:ea typeface="微软雅黑" panose="020B0503020204020204" pitchFamily="34" charset="-122"/>
                  </a:rPr>
                  <a:t>A*</a:t>
                </a:r>
                <a:r>
                  <a:rPr lang="zh-CN" altLang="zh-CN" sz="2400" b="1" kern="100" dirty="0">
                    <a:latin typeface="微软雅黑" panose="020B0503020204020204" pitchFamily="34" charset="-122"/>
                    <a:ea typeface="微软雅黑" panose="020B0503020204020204" pitchFamily="34" charset="-122"/>
                  </a:rPr>
                  <a:t>搜索过程如图</a:t>
                </a:r>
                <a:r>
                  <a:rPr lang="en-US" altLang="zh-CN" sz="2400" b="1" kern="100" dirty="0">
                    <a:latin typeface="微软雅黑" panose="020B0503020204020204" pitchFamily="34" charset="-122"/>
                    <a:ea typeface="微软雅黑" panose="020B0503020204020204" pitchFamily="34" charset="-122"/>
                  </a:rPr>
                  <a:t>6.16</a:t>
                </a:r>
                <a:r>
                  <a:rPr lang="zh-CN" altLang="zh-CN" sz="2400" b="1" kern="100" dirty="0">
                    <a:latin typeface="微软雅黑" panose="020B0503020204020204" pitchFamily="34" charset="-122"/>
                    <a:ea typeface="微软雅黑" panose="020B0503020204020204" pitchFamily="34" charset="-122"/>
                  </a:rPr>
                  <a:t>所示，图中每个栅格的尺寸为</a:t>
                </a:r>
                <a:r>
                  <a:rPr lang="en-US" altLang="zh-CN" sz="2400" b="1" kern="100" dirty="0">
                    <a:latin typeface="微软雅黑" panose="020B0503020204020204" pitchFamily="34" charset="-122"/>
                    <a:ea typeface="微软雅黑" panose="020B0503020204020204" pitchFamily="34" charset="-122"/>
                  </a:rPr>
                  <a:t>10×10</a:t>
                </a:r>
                <a:r>
                  <a:rPr lang="zh-CN" altLang="zh-CN" sz="2400" b="1" kern="100" dirty="0">
                    <a:latin typeface="微软雅黑" panose="020B0503020204020204" pitchFamily="34" charset="-122"/>
                    <a:ea typeface="微软雅黑" panose="020B0503020204020204" pitchFamily="34" charset="-122"/>
                  </a:rPr>
                  <a:t>，其中浅灰色栅格表示起始点位置（第</a:t>
                </a:r>
                <a:r>
                  <a:rPr lang="en-US" altLang="zh-CN" sz="2400" b="1" kern="100" dirty="0">
                    <a:latin typeface="微软雅黑" panose="020B0503020204020204" pitchFamily="34" charset="-122"/>
                    <a:ea typeface="微软雅黑" panose="020B0503020204020204" pitchFamily="34" charset="-122"/>
                  </a:rPr>
                  <a:t>9</a:t>
                </a:r>
                <a:r>
                  <a:rPr lang="zh-CN" altLang="zh-CN" sz="2400" b="1" kern="100" dirty="0">
                    <a:latin typeface="微软雅黑" panose="020B0503020204020204" pitchFamily="34" charset="-122"/>
                    <a:ea typeface="微软雅黑" panose="020B0503020204020204" pitchFamily="34" charset="-122"/>
                  </a:rPr>
                  <a:t>行</a:t>
                </a:r>
                <a:r>
                  <a:rPr lang="en-US" altLang="zh-CN" sz="2400" b="1" kern="100" dirty="0">
                    <a:latin typeface="微软雅黑" panose="020B0503020204020204" pitchFamily="34" charset="-122"/>
                    <a:ea typeface="微软雅黑" panose="020B0503020204020204" pitchFamily="34" charset="-122"/>
                  </a:rPr>
                  <a:t>5</a:t>
                </a:r>
                <a:r>
                  <a:rPr lang="zh-CN" altLang="zh-CN" sz="2400" b="1" kern="100" dirty="0">
                    <a:latin typeface="微软雅黑" panose="020B0503020204020204" pitchFamily="34" charset="-122"/>
                    <a:ea typeface="微软雅黑" panose="020B0503020204020204" pitchFamily="34" charset="-122"/>
                  </a:rPr>
                  <a:t>列），深灰色栅格表示目标点位置（第</a:t>
                </a:r>
                <a:r>
                  <a:rPr lang="en-US" altLang="zh-CN" sz="2400" b="1" kern="100" dirty="0">
                    <a:latin typeface="微软雅黑" panose="020B0503020204020204" pitchFamily="34" charset="-122"/>
                    <a:ea typeface="微软雅黑" panose="020B0503020204020204" pitchFamily="34" charset="-122"/>
                  </a:rPr>
                  <a:t>1</a:t>
                </a:r>
                <a:r>
                  <a:rPr lang="zh-CN" altLang="zh-CN" sz="2400" b="1" kern="100" dirty="0">
                    <a:latin typeface="微软雅黑" panose="020B0503020204020204" pitchFamily="34" charset="-122"/>
                    <a:ea typeface="微软雅黑" panose="020B0503020204020204" pitchFamily="34" charset="-122"/>
                  </a:rPr>
                  <a:t>行</a:t>
                </a:r>
                <a:r>
                  <a:rPr lang="en-US" altLang="zh-CN" sz="2400" b="1" kern="100" dirty="0">
                    <a:latin typeface="微软雅黑" panose="020B0503020204020204" pitchFamily="34" charset="-122"/>
                    <a:ea typeface="微软雅黑" panose="020B0503020204020204" pitchFamily="34" charset="-122"/>
                  </a:rPr>
                  <a:t>4</a:t>
                </a:r>
                <a:r>
                  <a:rPr lang="zh-CN" altLang="zh-CN" sz="2400" b="1" kern="100" dirty="0">
                    <a:latin typeface="微软雅黑" panose="020B0503020204020204" pitchFamily="34" charset="-122"/>
                    <a:ea typeface="微软雅黑" panose="020B0503020204020204" pitchFamily="34" charset="-122"/>
                  </a:rPr>
                  <a:t>列），黑色栅格表示障碍物位置。</a:t>
                </a:r>
                <a:r>
                  <a:rPr lang="en-US" altLang="zh-CN" sz="2400" b="1" kern="100" dirty="0">
                    <a:latin typeface="微软雅黑" panose="020B0503020204020204" pitchFamily="34" charset="-122"/>
                    <a:ea typeface="微软雅黑" panose="020B0503020204020204" pitchFamily="34" charset="-122"/>
                  </a:rPr>
                  <a:t>A*</a:t>
                </a:r>
                <a:r>
                  <a:rPr lang="zh-CN" altLang="zh-CN" sz="2400" b="1" kern="100" dirty="0">
                    <a:latin typeface="微软雅黑" panose="020B0503020204020204" pitchFamily="34" charset="-122"/>
                    <a:ea typeface="微软雅黑" panose="020B0503020204020204" pitchFamily="34" charset="-122"/>
                  </a:rPr>
                  <a:t>算法遍历栅格时所得出的</a:t>
                </a:r>
                <a:r>
                  <a:rPr lang="en-US" altLang="zh-CN" sz="2400" b="1" kern="100" dirty="0">
                    <a:latin typeface="微软雅黑" panose="020B0503020204020204" pitchFamily="34" charset="-122"/>
                    <a:ea typeface="微软雅黑" panose="020B0503020204020204" pitchFamily="34" charset="-122"/>
                  </a:rPr>
                  <a:t>g</a:t>
                </a:r>
                <a:r>
                  <a:rPr lang="zh-CN" altLang="zh-CN" sz="2400" b="1" kern="100" dirty="0">
                    <a:latin typeface="微软雅黑" panose="020B0503020204020204" pitchFamily="34" charset="-122"/>
                    <a:ea typeface="微软雅黑" panose="020B0503020204020204" pitchFamily="34" charset="-122"/>
                  </a:rPr>
                  <a:t>值、</a:t>
                </a:r>
                <a:r>
                  <a:rPr lang="en-US" altLang="zh-CN" sz="2400" b="1" kern="100" dirty="0">
                    <a:latin typeface="微软雅黑" panose="020B0503020204020204" pitchFamily="34" charset="-122"/>
                    <a:ea typeface="微软雅黑" panose="020B0503020204020204" pitchFamily="34" charset="-122"/>
                  </a:rPr>
                  <a:t>h</a:t>
                </a:r>
                <a:r>
                  <a:rPr lang="zh-CN" altLang="zh-CN" sz="2400" b="1" kern="100" dirty="0">
                    <a:latin typeface="微软雅黑" panose="020B0503020204020204" pitchFamily="34" charset="-122"/>
                    <a:ea typeface="微软雅黑" panose="020B0503020204020204" pitchFamily="34" charset="-122"/>
                  </a:rPr>
                  <a:t>值及</a:t>
                </a:r>
                <a:r>
                  <a:rPr lang="en-US" altLang="zh-CN" sz="2400" b="1" kern="100" dirty="0">
                    <a:latin typeface="微软雅黑" panose="020B0503020204020204" pitchFamily="34" charset="-122"/>
                    <a:ea typeface="微软雅黑" panose="020B0503020204020204" pitchFamily="34" charset="-122"/>
                  </a:rPr>
                  <a:t>f</a:t>
                </a:r>
                <a:r>
                  <a:rPr lang="zh-CN" altLang="zh-CN" sz="2400" b="1" kern="100" dirty="0">
                    <a:latin typeface="微软雅黑" panose="020B0503020204020204" pitchFamily="34" charset="-122"/>
                    <a:ea typeface="微软雅黑" panose="020B0503020204020204" pitchFamily="34" charset="-122"/>
                  </a:rPr>
                  <a:t>值分别标注在栅格的左下角、右下角及左上角。图中圆点所在路径即</a:t>
                </a:r>
                <a:r>
                  <a:rPr lang="en-US" altLang="zh-CN" sz="2400" b="1" kern="100" dirty="0">
                    <a:latin typeface="微软雅黑" panose="020B0503020204020204" pitchFamily="34" charset="-122"/>
                    <a:ea typeface="微软雅黑" panose="020B0503020204020204" pitchFamily="34" charset="-122"/>
                  </a:rPr>
                  <a:t>A*</a:t>
                </a:r>
                <a:r>
                  <a:rPr lang="zh-CN" altLang="zh-CN" sz="2400" b="1" kern="100" dirty="0">
                    <a:latin typeface="微软雅黑" panose="020B0503020204020204" pitchFamily="34" charset="-122"/>
                    <a:ea typeface="微软雅黑" panose="020B0503020204020204" pitchFamily="34" charset="-122"/>
                  </a:rPr>
                  <a:t>算法搜索到的最优路径。</a:t>
                </a:r>
              </a:p>
              <a:p>
                <a:pPr algn="just"/>
                <a:endParaRPr lang="zh-CN" altLang="zh-CN" sz="2400" b="1" kern="100" dirty="0">
                  <a:effectLst/>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ED846E0E-DE23-19C2-2AAA-5DE79FEBA6CD}"/>
                  </a:ext>
                </a:extLst>
              </p:cNvPr>
              <p:cNvSpPr txBox="1">
                <a:spLocks noRot="1" noChangeAspect="1" noMove="1" noResize="1" noEditPoints="1" noAdjustHandles="1" noChangeArrowheads="1" noChangeShapeType="1" noTextEdit="1"/>
              </p:cNvSpPr>
              <p:nvPr/>
            </p:nvSpPr>
            <p:spPr>
              <a:xfrm>
                <a:off x="845419" y="1232034"/>
                <a:ext cx="10501161" cy="4154984"/>
              </a:xfrm>
              <a:prstGeom prst="rect">
                <a:avLst/>
              </a:prstGeom>
              <a:blipFill>
                <a:blip r:embed="rId2"/>
                <a:stretch>
                  <a:fillRect l="-929" t="-1173" r="-38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0041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C9E4EFBD-192D-704E-88EB-21A6182080B0}"/>
              </a:ext>
            </a:extLst>
          </p:cNvPr>
          <p:cNvSpPr txBox="1"/>
          <p:nvPr/>
        </p:nvSpPr>
        <p:spPr>
          <a:xfrm>
            <a:off x="916805" y="1148186"/>
            <a:ext cx="6571649" cy="5361724"/>
          </a:xfrm>
          <a:prstGeom prst="rect">
            <a:avLst/>
          </a:prstGeom>
          <a:noFill/>
        </p:spPr>
        <p:txBody>
          <a:bodyPr wrap="square">
            <a:spAutoFit/>
          </a:bodyPr>
          <a:lstStyle/>
          <a:p>
            <a:pPr algn="just"/>
            <a:r>
              <a:rPr lang="en-US"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6.2.4  </a:t>
            </a:r>
            <a:r>
              <a:rPr lang="zh-CN"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快速扩展随机树算法</a:t>
            </a:r>
            <a:endParaRPr lang="en-US"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在快速扩展随机树算法</a:t>
            </a:r>
            <a:r>
              <a:rPr lang="en-US" altLang="zh-CN" sz="2400" b="1" kern="1000" dirty="0">
                <a:effectLst/>
                <a:latin typeface="微软雅黑" panose="020B0503020204020204" pitchFamily="34" charset="-122"/>
                <a:ea typeface="微软雅黑" panose="020B0503020204020204" pitchFamily="34" charset="-122"/>
              </a:rPr>
              <a:t>(RRT)</a:t>
            </a:r>
            <a:r>
              <a:rPr lang="zh-CN" altLang="zh-CN" sz="2400" b="1" kern="1000" dirty="0">
                <a:effectLst/>
                <a:latin typeface="微软雅黑" panose="020B0503020204020204" pitchFamily="34" charset="-122"/>
                <a:ea typeface="微软雅黑" panose="020B0503020204020204" pitchFamily="34" charset="-122"/>
              </a:rPr>
              <a:t>中，当随机树的某个节点扩展至目标点邻域范围内时，则将目标点作为树的一个节点加入该随机树，并形成一条从起始点到目标点之间的由树节点组成的可行无碰撞路径。</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快速扩展随机树算法通过碰撞检测进行扩展，无须对空间环境进行建模，因此在环境建模存在困难的高维空间，以及环境中存在复杂障碍物的情况下，该方法能够快速有效地找到可行路径。但是由于状态空间采样的随机性，使得快速扩展随机树算法得到的路径并不是最优的。</a:t>
            </a:r>
          </a:p>
          <a:p>
            <a:pPr algn="just">
              <a:lnSpc>
                <a:spcPct val="200000"/>
              </a:lnSpc>
            </a:pPr>
            <a:endParaRPr lang="zh-CN" altLang="zh-CN" sz="1800" b="1" kern="1050" dirty="0">
              <a:effectLst/>
              <a:latin typeface="Arial" panose="020B0604020202020204" pitchFamily="34" charset="0"/>
              <a:ea typeface="方正黑体简体"/>
              <a:cs typeface="Times New Roman" panose="02020603050405020304" pitchFamily="18" charset="0"/>
            </a:endParaRPr>
          </a:p>
        </p:txBody>
      </p:sp>
      <p:grpSp>
        <p:nvGrpSpPr>
          <p:cNvPr id="7" name="组合 9">
            <a:extLst>
              <a:ext uri="{FF2B5EF4-FFF2-40B4-BE49-F238E27FC236}">
                <a16:creationId xmlns:a16="http://schemas.microsoft.com/office/drawing/2014/main" id="{9313BA39-E88A-5D9D-0116-CB1698863577}"/>
              </a:ext>
            </a:extLst>
          </p:cNvPr>
          <p:cNvGrpSpPr>
            <a:grpSpLocks/>
          </p:cNvGrpSpPr>
          <p:nvPr/>
        </p:nvGrpSpPr>
        <p:grpSpPr bwMode="auto">
          <a:xfrm>
            <a:off x="8027469" y="1340692"/>
            <a:ext cx="3563169" cy="5040145"/>
            <a:chOff x="2969641" y="2276487"/>
            <a:chExt cx="3214490" cy="4743192"/>
          </a:xfrm>
        </p:grpSpPr>
        <p:pic>
          <p:nvPicPr>
            <p:cNvPr id="8" name="图片 5">
              <a:extLst>
                <a:ext uri="{FF2B5EF4-FFF2-40B4-BE49-F238E27FC236}">
                  <a16:creationId xmlns:a16="http://schemas.microsoft.com/office/drawing/2014/main" id="{27A15ABC-CF4D-8C30-3C83-C4F2149191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9641" y="2276487"/>
              <a:ext cx="3214490" cy="4120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DC719DC5-BE88-2C3A-6106-E37C91EF061D}"/>
                </a:ext>
              </a:extLst>
            </p:cNvPr>
            <p:cNvSpPr txBox="1">
              <a:spLocks noChangeArrowheads="1"/>
            </p:cNvSpPr>
            <p:nvPr/>
          </p:nvSpPr>
          <p:spPr bwMode="auto">
            <a:xfrm>
              <a:off x="3496765" y="6650290"/>
              <a:ext cx="2160240" cy="369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a:spcBef>
                  <a:spcPts val="700"/>
                </a:spcBef>
                <a:spcAft>
                  <a:spcPts val="800"/>
                </a:spcAft>
                <a:buNone/>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6.16  A*</a:t>
              </a:r>
              <a:r>
                <a:rPr lang="zh-CN" altLang="zh-CN" sz="1800" kern="1000" dirty="0">
                  <a:effectLst/>
                  <a:latin typeface="Times New Roman" panose="02020603050405020304" pitchFamily="18" charset="0"/>
                  <a:ea typeface="宋体" panose="02010600030101010101" pitchFamily="2" charset="-122"/>
                </a:rPr>
                <a:t>搜索过程</a:t>
              </a:r>
            </a:p>
          </p:txBody>
        </p:sp>
      </p:grpSp>
    </p:spTree>
    <p:extLst>
      <p:ext uri="{BB962C8B-B14F-4D97-AF65-F5344CB8AC3E}">
        <p14:creationId xmlns:p14="http://schemas.microsoft.com/office/powerpoint/2010/main" val="3612989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8F28E52-F425-775B-738F-85112A798833}"/>
                  </a:ext>
                </a:extLst>
              </p:cNvPr>
              <p:cNvSpPr txBox="1"/>
              <p:nvPr/>
            </p:nvSpPr>
            <p:spPr>
              <a:xfrm>
                <a:off x="874295" y="827773"/>
                <a:ext cx="10443410" cy="5809475"/>
              </a:xfrm>
              <a:prstGeom prst="rect">
                <a:avLst/>
              </a:prstGeom>
              <a:noFill/>
            </p:spPr>
            <p:txBody>
              <a:bodyPr wrap="square">
                <a:spAutoFit/>
              </a:bodyPr>
              <a:lstStyle/>
              <a:p>
                <a:pPr algn="just">
                  <a:lnSpc>
                    <a:spcPct val="200000"/>
                  </a:lnSpc>
                </a:pPr>
                <a:r>
                  <a:rPr lang="en-US"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6.2.5  Bi-Directional</a:t>
                </a:r>
                <a:r>
                  <a:rPr lang="zh-CN"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快速扩展随机树算法</a:t>
                </a:r>
                <a:endParaRPr lang="en-US"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该算法选取起始点和目标点为树的根节点，分别生成两棵随机扩展树，向对方生长。当两棵扩展树节点之间的距离小于连接阈值时，将两树相连并形成一条可行无碰撞路径。该算法加速了</a:t>
                </a:r>
                <a:r>
                  <a:rPr lang="en-US" altLang="zh-CN" sz="2400" b="1" kern="1000" dirty="0">
                    <a:effectLst/>
                    <a:latin typeface="微软雅黑" panose="020B0503020204020204" pitchFamily="34" charset="-122"/>
                    <a:ea typeface="微软雅黑" panose="020B0503020204020204" pitchFamily="34" charset="-122"/>
                  </a:rPr>
                  <a:t>RRT</a:t>
                </a:r>
                <a:r>
                  <a:rPr lang="zh-CN" altLang="zh-CN" sz="2400" b="1" kern="1000" dirty="0">
                    <a:effectLst/>
                    <a:latin typeface="微软雅黑" panose="020B0503020204020204" pitchFamily="34" charset="-122"/>
                    <a:ea typeface="微软雅黑" panose="020B0503020204020204" pitchFamily="34" charset="-122"/>
                  </a:rPr>
                  <a:t>算法的收敛，进一步加快了</a:t>
                </a:r>
                <a:r>
                  <a:rPr lang="en-US" altLang="zh-CN" sz="2400" b="1" kern="1000" dirty="0">
                    <a:effectLst/>
                    <a:latin typeface="微软雅黑" panose="020B0503020204020204" pitchFamily="34" charset="-122"/>
                    <a:ea typeface="微软雅黑" panose="020B0503020204020204" pitchFamily="34" charset="-122"/>
                  </a:rPr>
                  <a:t>RRT</a:t>
                </a:r>
                <a:r>
                  <a:rPr lang="zh-CN" altLang="zh-CN" sz="2400" b="1" kern="1000" dirty="0">
                    <a:effectLst/>
                    <a:latin typeface="微软雅黑" panose="020B0503020204020204" pitchFamily="34" charset="-122"/>
                    <a:ea typeface="微软雅黑" panose="020B0503020204020204" pitchFamily="34" charset="-122"/>
                  </a:rPr>
                  <a:t>算法的计算速度。</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根据机器人运动空间构建状态空间，根据机器人运动空间中的障碍物位置构建二值化地图矩阵。地图矩阵中障碍物区域的值为</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，非障碍物区域的值为</a:t>
                </a:r>
                <a:r>
                  <a:rPr lang="en-US" altLang="zh-CN" sz="2400" b="1" kern="1000" dirty="0">
                    <a:effectLst/>
                    <a:latin typeface="微软雅黑" panose="020B0503020204020204" pitchFamily="34" charset="-122"/>
                    <a:ea typeface="微软雅黑" panose="020B0503020204020204" pitchFamily="34" charset="-122"/>
                  </a:rPr>
                  <a:t>0</a:t>
                </a:r>
                <a:r>
                  <a:rPr lang="zh-CN" altLang="zh-CN" sz="2400" b="1" kern="1000" dirty="0">
                    <a:effectLst/>
                    <a:latin typeface="微软雅黑" panose="020B0503020204020204" pitchFamily="34" charset="-122"/>
                    <a:ea typeface="微软雅黑" panose="020B0503020204020204" pitchFamily="34" charset="-122"/>
                  </a:rPr>
                  <a:t>。设定路径规划的起始点与目标点坐标，确保起始点与目标点都位于非障碍物区域。</a:t>
                </a:r>
                <a:r>
                  <a:rPr lang="en-US" altLang="zh-CN" sz="2400" b="1" kern="1000" dirty="0">
                    <a:effectLst/>
                    <a:latin typeface="微软雅黑" panose="020B0503020204020204" pitchFamily="34" charset="-122"/>
                    <a:ea typeface="微软雅黑" panose="020B0503020204020204" pitchFamily="34" charset="-122"/>
                  </a:rPr>
                  <a:t>Bi-Directional RRT</a:t>
                </a:r>
                <a:r>
                  <a:rPr lang="zh-CN" altLang="zh-CN" sz="2400" b="1" kern="1000" dirty="0">
                    <a:effectLst/>
                    <a:latin typeface="微软雅黑" panose="020B0503020204020204" pitchFamily="34" charset="-122"/>
                    <a:ea typeface="微软雅黑" panose="020B0503020204020204" pitchFamily="34" charset="-122"/>
                  </a:rPr>
                  <a:t>算法流程图如图</a:t>
                </a:r>
                <a:r>
                  <a:rPr lang="en-US" altLang="zh-CN" sz="2400" b="1" kern="1000" dirty="0">
                    <a:effectLst/>
                    <a:latin typeface="微软雅黑" panose="020B0503020204020204" pitchFamily="34" charset="-122"/>
                    <a:ea typeface="微软雅黑" panose="020B0503020204020204" pitchFamily="34" charset="-122"/>
                  </a:rPr>
                  <a:t> 6.17</a:t>
                </a:r>
                <a:r>
                  <a:rPr lang="zh-CN" altLang="zh-CN" sz="2400" b="1" kern="1000" dirty="0">
                    <a:effectLst/>
                    <a:latin typeface="微软雅黑" panose="020B0503020204020204" pitchFamily="34" charset="-122"/>
                    <a:ea typeface="微软雅黑" panose="020B0503020204020204" pitchFamily="34" charset="-122"/>
                  </a:rPr>
                  <a:t>所示。</a:t>
                </a:r>
                <a:endParaRPr lang="en-US" altLang="zh-CN" sz="2400" b="1" kern="1000" dirty="0">
                  <a:effectLst/>
                  <a:latin typeface="微软雅黑" panose="020B0503020204020204" pitchFamily="34" charset="-122"/>
                  <a:ea typeface="微软雅黑" panose="020B0503020204020204" pitchFamily="34" charset="-122"/>
                </a:endParaRPr>
              </a:p>
              <a:p>
                <a:pPr algn="just"/>
                <a:r>
                  <a:rPr lang="zh-CN" altLang="zh-CN" sz="2400" b="1" kern="100" dirty="0">
                    <a:effectLst/>
                    <a:latin typeface="微软雅黑" panose="020B0503020204020204" pitchFamily="34" charset="-122"/>
                    <a:ea typeface="微软雅黑" panose="020B0503020204020204" pitchFamily="34" charset="-122"/>
                  </a:rPr>
                  <a:t>分别以起始点和目标点为扩展树的根节点，同时向对方扩展叶节点。在每次生长叶节点时，根据随机概率</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𝒑</m:t>
                        </m:r>
                      </m:e>
                      <m:sub>
                        <m:r>
                          <a:rPr lang="en-US" altLang="zh-CN" sz="2400" b="1" i="1" kern="100" smtClean="0">
                            <a:effectLst/>
                            <a:latin typeface="Cambria Math" panose="02040503050406030204" pitchFamily="18" charset="0"/>
                            <a:ea typeface="宋体" panose="02010600030101010101" pitchFamily="2" charset="-122"/>
                          </a:rPr>
                          <m:t>𝒓𝒂𝒏𝒅</m:t>
                        </m:r>
                      </m:sub>
                    </m:sSub>
                  </m:oMath>
                </a14:m>
                <a:r>
                  <a:rPr lang="zh-CN" altLang="zh-CN" sz="2400" b="1" kern="100" dirty="0">
                    <a:effectLst/>
                    <a:latin typeface="微软雅黑" panose="020B0503020204020204" pitchFamily="34" charset="-122"/>
                    <a:ea typeface="微软雅黑" panose="020B0503020204020204" pitchFamily="34" charset="-122"/>
                  </a:rPr>
                  <a:t>决定该采样点是由随机采样生成，还是直接选取目标点为采样点。随机生成</a:t>
                </a:r>
                <a:r>
                  <a:rPr lang="en-US" altLang="zh-CN" sz="2400" b="1" kern="100" dirty="0">
                    <a:effectLst/>
                    <a:latin typeface="微软雅黑" panose="020B0503020204020204" pitchFamily="34" charset="-122"/>
                    <a:ea typeface="微软雅黑" panose="020B0503020204020204" pitchFamily="34" charset="-122"/>
                  </a:rPr>
                  <a:t>0</a:t>
                </a:r>
                <a:r>
                  <a:rPr lang="zh-CN" altLang="zh-CN" sz="2400" b="1" kern="100" dirty="0">
                    <a:effectLst/>
                    <a:latin typeface="微软雅黑" panose="020B0503020204020204" pitchFamily="34" charset="-122"/>
                    <a:ea typeface="微软雅黑" panose="020B0503020204020204" pitchFamily="34" charset="-122"/>
                  </a:rPr>
                  <a:t>到</a:t>
                </a:r>
                <a:r>
                  <a:rPr lang="en-US" altLang="zh-CN" sz="2400" b="1" kern="100" dirty="0">
                    <a:effectLst/>
                    <a:latin typeface="微软雅黑" panose="020B0503020204020204" pitchFamily="34" charset="-122"/>
                    <a:ea typeface="微软雅黑" panose="020B0503020204020204" pitchFamily="34" charset="-122"/>
                  </a:rPr>
                  <a:t>1</a:t>
                </a:r>
                <a:r>
                  <a:rPr lang="zh-CN" altLang="zh-CN" sz="2400" b="1" kern="100" dirty="0">
                    <a:effectLst/>
                    <a:latin typeface="微软雅黑" panose="020B0503020204020204" pitchFamily="34" charset="-122"/>
                    <a:ea typeface="微软雅黑" panose="020B0503020204020204" pitchFamily="34" charset="-122"/>
                  </a:rPr>
                  <a:t>之间的随机数</a:t>
                </a:r>
                <a14:m>
                  <m:oMath xmlns:m="http://schemas.openxmlformats.org/officeDocument/2006/math">
                    <m:r>
                      <m:rPr>
                        <m:nor/>
                      </m:rPr>
                      <a:rPr lang="en-US" altLang="zh-CN" sz="2400" b="1" kern="100">
                        <a:effectLst/>
                        <a:latin typeface="微软雅黑" panose="020B0503020204020204" pitchFamily="34" charset="-122"/>
                        <a:ea typeface="微软雅黑" panose="020B0503020204020204" pitchFamily="34" charset="-122"/>
                      </a:rPr>
                      <m:t>rand</m:t>
                    </m:r>
                  </m:oMath>
                </a14:m>
                <a:r>
                  <a:rPr lang="zh-CN" altLang="zh-CN" sz="2400" b="1" kern="100" dirty="0">
                    <a:effectLst/>
                    <a:latin typeface="微软雅黑" panose="020B0503020204020204" pitchFamily="34" charset="-122"/>
                    <a:ea typeface="微软雅黑" panose="020B0503020204020204" pitchFamily="34" charset="-122"/>
                  </a:rPr>
                  <a:t>，设定概率</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𝒑</m:t>
                        </m:r>
                      </m:e>
                      <m:sub>
                        <m:r>
                          <a:rPr lang="en-US" altLang="zh-CN" sz="2400" b="1" i="1" kern="100" smtClean="0">
                            <a:effectLst/>
                            <a:latin typeface="Cambria Math" panose="02040503050406030204" pitchFamily="18" charset="0"/>
                            <a:ea typeface="宋体" panose="02010600030101010101" pitchFamily="2" charset="-122"/>
                          </a:rPr>
                          <m:t>𝒕𝒉</m:t>
                        </m:r>
                      </m:sub>
                    </m:sSub>
                  </m:oMath>
                </a14:m>
                <a:r>
                  <a:rPr lang="zh-CN" altLang="zh-CN" sz="2400" b="1" kern="100" dirty="0">
                    <a:effectLst/>
                    <a:latin typeface="微软雅黑" panose="020B0503020204020204" pitchFamily="34" charset="-122"/>
                    <a:ea typeface="微软雅黑" panose="020B0503020204020204" pitchFamily="34" charset="-122"/>
                  </a:rPr>
                  <a:t>值。当</a:t>
                </a:r>
                <a14:m>
                  <m:oMath xmlns:m="http://schemas.openxmlformats.org/officeDocument/2006/math">
                    <m:r>
                      <m:rPr>
                        <m:nor/>
                      </m:rPr>
                      <a:rPr lang="en-US" altLang="zh-CN" sz="2400" b="1" kern="100">
                        <a:effectLst/>
                        <a:latin typeface="微软雅黑" panose="020B0503020204020204" pitchFamily="34" charset="-122"/>
                        <a:ea typeface="微软雅黑" panose="020B0503020204020204" pitchFamily="34" charset="-122"/>
                      </a:rPr>
                      <m:t>rand</m:t>
                    </m:r>
                    <m:r>
                      <a:rPr lang="en-US" altLang="zh-CN" sz="2400" b="1" kern="100" smtClean="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𝒑</m:t>
                        </m:r>
                      </m:e>
                      <m:sub>
                        <m:r>
                          <a:rPr lang="en-US" altLang="zh-CN" sz="2400" b="1" i="1" kern="100" smtClean="0">
                            <a:effectLst/>
                            <a:latin typeface="Cambria Math" panose="02040503050406030204" pitchFamily="18" charset="0"/>
                            <a:ea typeface="宋体" panose="02010600030101010101" pitchFamily="2" charset="-122"/>
                          </a:rPr>
                          <m:t>𝒕𝒉</m:t>
                        </m:r>
                      </m:sub>
                    </m:sSub>
                  </m:oMath>
                </a14:m>
                <a:r>
                  <a:rPr lang="zh-CN" altLang="zh-CN" sz="2400" b="1" kern="100" dirty="0">
                    <a:effectLst/>
                    <a:latin typeface="微软雅黑" panose="020B0503020204020204" pitchFamily="34" charset="-122"/>
                    <a:ea typeface="微软雅黑" panose="020B0503020204020204" pitchFamily="34" charset="-122"/>
                  </a:rPr>
                  <a:t>时，采样点由随机采样生成；当</a:t>
                </a:r>
                <a14:m>
                  <m:oMath xmlns:m="http://schemas.openxmlformats.org/officeDocument/2006/math">
                    <m:r>
                      <m:rPr>
                        <m:nor/>
                      </m:rPr>
                      <a:rPr lang="en-US" altLang="zh-CN" sz="2400" b="1" i="0" kern="100" smtClean="0">
                        <a:effectLst/>
                        <a:latin typeface="微软雅黑" panose="020B0503020204020204" pitchFamily="34" charset="-122"/>
                        <a:ea typeface="微软雅黑" panose="020B0503020204020204" pitchFamily="34" charset="-122"/>
                      </a:rPr>
                      <m:t>rand</m:t>
                    </m:r>
                    <m:r>
                      <a:rPr lang="en-US" altLang="zh-CN" sz="2400" b="1" kern="100" smtClean="0">
                        <a:effectLst/>
                        <a:latin typeface="Cambria Math" panose="02040503050406030204" pitchFamily="18" charset="0"/>
                        <a:ea typeface="宋体" panose="02010600030101010101" pitchFamily="2" charset="-122"/>
                      </a:rPr>
                      <m:t>&gt;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𝒑</m:t>
                        </m:r>
                      </m:e>
                      <m:sub>
                        <m:r>
                          <a:rPr lang="en-US" altLang="zh-CN" sz="2400" b="1" i="1" kern="100" smtClean="0">
                            <a:effectLst/>
                            <a:latin typeface="Cambria Math" panose="02040503050406030204" pitchFamily="18" charset="0"/>
                            <a:ea typeface="宋体" panose="02010600030101010101" pitchFamily="2" charset="-122"/>
                          </a:rPr>
                          <m:t>𝒕𝒉</m:t>
                        </m:r>
                      </m:sub>
                    </m:sSub>
                  </m:oMath>
                </a14:m>
                <a:r>
                  <a:rPr lang="zh-CN" altLang="zh-CN" sz="2400" b="1" kern="100" dirty="0">
                    <a:effectLst/>
                    <a:latin typeface="微软雅黑" panose="020B0503020204020204" pitchFamily="34" charset="-122"/>
                    <a:ea typeface="微软雅黑" panose="020B0503020204020204" pitchFamily="34" charset="-122"/>
                  </a:rPr>
                  <a:t>时，选择目标点作为采样点。</a:t>
                </a:r>
                <a:endParaRPr lang="zh-CN" altLang="zh-CN" sz="1800" b="1" kern="105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58F28E52-F425-775B-738F-85112A798833}"/>
                  </a:ext>
                </a:extLst>
              </p:cNvPr>
              <p:cNvSpPr txBox="1">
                <a:spLocks noRot="1" noChangeAspect="1" noMove="1" noResize="1" noEditPoints="1" noAdjustHandles="1" noChangeArrowheads="1" noChangeShapeType="1" noTextEdit="1"/>
              </p:cNvSpPr>
              <p:nvPr/>
            </p:nvSpPr>
            <p:spPr>
              <a:xfrm>
                <a:off x="874295" y="827773"/>
                <a:ext cx="10443410" cy="5809475"/>
              </a:xfrm>
              <a:prstGeom prst="rect">
                <a:avLst/>
              </a:prstGeom>
              <a:blipFill>
                <a:blip r:embed="rId2"/>
                <a:stretch>
                  <a:fillRect l="-875" r="-37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63570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43F41AA-6BC5-7B12-A71C-4A3E9660ADCA}"/>
                  </a:ext>
                </a:extLst>
              </p:cNvPr>
              <p:cNvSpPr txBox="1"/>
              <p:nvPr/>
            </p:nvSpPr>
            <p:spPr>
              <a:xfrm>
                <a:off x="1110113" y="1120676"/>
                <a:ext cx="9971773" cy="5262979"/>
              </a:xfrm>
              <a:prstGeom prst="rect">
                <a:avLst/>
              </a:prstGeom>
              <a:noFill/>
            </p:spPr>
            <p:txBody>
              <a:bodyPr wrap="square">
                <a:spAutoFit/>
              </a:bodyPr>
              <a:lstStyle/>
              <a:p>
                <a:pPr algn="just"/>
                <a:r>
                  <a:rPr lang="en-US" altLang="zh-CN" sz="2400" b="1" kern="100" dirty="0">
                    <a:latin typeface="微软雅黑" panose="020B0503020204020204" pitchFamily="34" charset="-122"/>
                    <a:ea typeface="微软雅黑" panose="020B0503020204020204" pitchFamily="34" charset="-122"/>
                  </a:rPr>
                  <a:t>        </a:t>
                </a:r>
                <a:r>
                  <a:rPr lang="zh-CN" altLang="zh-CN" sz="2400" b="1" kern="100" dirty="0">
                    <a:latin typeface="微软雅黑" panose="020B0503020204020204" pitchFamily="34" charset="-122"/>
                    <a:ea typeface="微软雅黑" panose="020B0503020204020204" pitchFamily="34" charset="-122"/>
                  </a:rPr>
                  <a:t>当采样点选择随机点时，扩展树向状态空间随机方向扩展，当采样点选择目标点时，扩展树向目标点方向扩展。</a:t>
                </a:r>
                <a:endParaRPr lang="zh-CN" altLang="zh-CN" sz="2400" b="1" kern="1000" dirty="0">
                  <a:latin typeface="微软雅黑" panose="020B0503020204020204" pitchFamily="34" charset="-122"/>
                  <a:ea typeface="微软雅黑" panose="020B0503020204020204" pitchFamily="34" charset="-122"/>
                </a:endParaRPr>
              </a:p>
              <a:p>
                <a:pPr algn="just"/>
                <a:r>
                  <a:rPr lang="zh-CN" altLang="zh-CN" sz="2400" b="1" kern="100" dirty="0">
                    <a:effectLst/>
                    <a:latin typeface="微软雅黑" panose="020B0503020204020204" pitchFamily="34" charset="-122"/>
                    <a:ea typeface="微软雅黑" panose="020B0503020204020204" pitchFamily="34" charset="-122"/>
                  </a:rPr>
                  <a:t>通过调整</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𝒑</m:t>
                        </m:r>
                      </m:e>
                      <m:sub>
                        <m:r>
                          <a:rPr lang="en-US" altLang="zh-CN" sz="2400" b="1" i="1" kern="100" smtClean="0">
                            <a:effectLst/>
                            <a:latin typeface="Cambria Math" panose="02040503050406030204" pitchFamily="18" charset="0"/>
                            <a:ea typeface="宋体" panose="02010600030101010101" pitchFamily="2" charset="-122"/>
                          </a:rPr>
                          <m:t>𝒕𝒉</m:t>
                        </m:r>
                      </m:sub>
                    </m:sSub>
                  </m:oMath>
                </a14:m>
                <a:r>
                  <a:rPr lang="zh-CN" altLang="zh-CN" sz="2400" b="1" kern="100" dirty="0">
                    <a:effectLst/>
                    <a:latin typeface="微软雅黑" panose="020B0503020204020204" pitchFamily="34" charset="-122"/>
                    <a:ea typeface="微软雅黑" panose="020B0503020204020204" pitchFamily="34" charset="-122"/>
                  </a:rPr>
                  <a:t>值可以调整随机树扩展的随机性与指向性，当朝目标方向生长过程中遇到障碍物时，可以增大</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𝒑</m:t>
                        </m:r>
                      </m:e>
                      <m:sub>
                        <m:r>
                          <a:rPr lang="en-US" altLang="zh-CN" sz="2400" b="1" i="1" kern="100" smtClean="0">
                            <a:effectLst/>
                            <a:latin typeface="Cambria Math" panose="02040503050406030204" pitchFamily="18" charset="0"/>
                            <a:ea typeface="宋体" panose="02010600030101010101" pitchFamily="2" charset="-122"/>
                          </a:rPr>
                          <m:t>𝒕𝒉</m:t>
                        </m:r>
                      </m:sub>
                    </m:sSub>
                  </m:oMath>
                </a14:m>
                <a:r>
                  <a:rPr lang="zh-CN" altLang="zh-CN" sz="2400" b="1" kern="100" dirty="0">
                    <a:effectLst/>
                    <a:latin typeface="微软雅黑" panose="020B0503020204020204" pitchFamily="34" charset="-122"/>
                    <a:ea typeface="微软雅黑" panose="020B0503020204020204" pitchFamily="34" charset="-122"/>
                  </a:rPr>
                  <a:t>值以增加扩展树的随机性，使扩展树快速绕过障碍物；当朝目标方向生长过程中无障碍物时，可以减小</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𝒑</m:t>
                        </m:r>
                      </m:e>
                      <m:sub>
                        <m:r>
                          <a:rPr lang="en-US" altLang="zh-CN" sz="2400" b="1" i="1" kern="100" smtClean="0">
                            <a:effectLst/>
                            <a:latin typeface="Cambria Math" panose="02040503050406030204" pitchFamily="18" charset="0"/>
                            <a:ea typeface="宋体" panose="02010600030101010101" pitchFamily="2" charset="-122"/>
                          </a:rPr>
                          <m:t>𝒕𝒉</m:t>
                        </m:r>
                      </m:sub>
                    </m:sSub>
                  </m:oMath>
                </a14:m>
                <a:r>
                  <a:rPr lang="zh-CN" altLang="zh-CN" sz="2400" b="1" kern="100" dirty="0">
                    <a:effectLst/>
                    <a:latin typeface="微软雅黑" panose="020B0503020204020204" pitchFamily="34" charset="-122"/>
                    <a:ea typeface="微软雅黑" panose="020B0503020204020204" pitchFamily="34" charset="-122"/>
                  </a:rPr>
                  <a:t>值以增加扩展树的指向性，朝向目标点快速生长。</a:t>
                </a:r>
                <a:endParaRPr lang="en-US" altLang="zh-CN" sz="2400" b="1" kern="100" dirty="0">
                  <a:effectLst/>
                  <a:latin typeface="微软雅黑" panose="020B0503020204020204" pitchFamily="34" charset="-122"/>
                  <a:ea typeface="微软雅黑" panose="020B0503020204020204" pitchFamily="34" charset="-122"/>
                </a:endParaRPr>
              </a:p>
              <a:p>
                <a:pPr algn="just"/>
                <a:r>
                  <a:rPr lang="en-US" altLang="zh-CN" sz="2400" b="1" kern="100" dirty="0">
                    <a:latin typeface="微软雅黑" panose="020B0503020204020204" pitchFamily="34" charset="-122"/>
                    <a:ea typeface="微软雅黑" panose="020B0503020204020204" pitchFamily="34" charset="-122"/>
                  </a:rPr>
                  <a:t>        </a:t>
                </a:r>
                <a:r>
                  <a:rPr lang="zh-CN" altLang="zh-CN" sz="2400" b="1" kern="100" dirty="0">
                    <a:latin typeface="微软雅黑" panose="020B0503020204020204" pitchFamily="34" charset="-122"/>
                    <a:ea typeface="微软雅黑" panose="020B0503020204020204" pitchFamily="34" charset="-122"/>
                  </a:rPr>
                  <a:t>获得采样点之后，遍历扩展树寻找距离采样点最近的节点，以该节点为起始点，向采样点扩展</a:t>
                </a:r>
                <a14:m>
                  <m:oMath xmlns:m="http://schemas.openxmlformats.org/officeDocument/2006/math">
                    <m:r>
                      <a:rPr lang="en-US" altLang="zh-CN" sz="2400" b="1" kern="100">
                        <a:latin typeface="Cambria Math" panose="02040503050406030204" pitchFamily="18" charset="0"/>
                        <a:ea typeface="宋体" panose="02010600030101010101" pitchFamily="2" charset="-122"/>
                      </a:rPr>
                      <m:t>𝑠</m:t>
                    </m:r>
                  </m:oMath>
                </a14:m>
                <a:r>
                  <a:rPr lang="zh-CN" altLang="zh-CN" sz="2400" b="1" kern="100" dirty="0">
                    <a:latin typeface="微软雅黑" panose="020B0503020204020204" pitchFamily="34" charset="-122"/>
                    <a:ea typeface="微软雅黑" panose="020B0503020204020204" pitchFamily="34" charset="-122"/>
                  </a:rPr>
                  <a:t>距离。</a:t>
                </a:r>
                <a14:m>
                  <m:oMath xmlns:m="http://schemas.openxmlformats.org/officeDocument/2006/math">
                    <m:r>
                      <a:rPr lang="en-US" altLang="zh-CN" sz="2400" b="1" kern="100">
                        <a:latin typeface="Cambria Math" panose="02040503050406030204" pitchFamily="18" charset="0"/>
                        <a:ea typeface="宋体" panose="02010600030101010101" pitchFamily="2" charset="-122"/>
                      </a:rPr>
                      <m:t>𝑠</m:t>
                    </m:r>
                  </m:oMath>
                </a14:m>
                <a:r>
                  <a:rPr lang="zh-CN" altLang="zh-CN" sz="2400" b="1" kern="100" dirty="0">
                    <a:latin typeface="微软雅黑" panose="020B0503020204020204" pitchFamily="34" charset="-122"/>
                    <a:ea typeface="微软雅黑" panose="020B0503020204020204" pitchFamily="34" charset="-122"/>
                  </a:rPr>
                  <a:t>为步长，决定每一次生长扩展的距离。遍历</a:t>
                </a:r>
                <a14:m>
                  <m:oMath xmlns:m="http://schemas.openxmlformats.org/officeDocument/2006/math">
                    <m:r>
                      <a:rPr lang="en-US" altLang="zh-CN" sz="2400" b="1" kern="100">
                        <a:latin typeface="Cambria Math" panose="02040503050406030204" pitchFamily="18" charset="0"/>
                        <a:ea typeface="宋体" panose="02010600030101010101" pitchFamily="2" charset="-122"/>
                      </a:rPr>
                      <m:t>𝑠</m:t>
                    </m:r>
                  </m:oMath>
                </a14:m>
                <a:r>
                  <a:rPr lang="zh-CN" altLang="zh-CN" sz="2400" b="1" kern="100" dirty="0">
                    <a:latin typeface="微软雅黑" panose="020B0503020204020204" pitchFamily="34" charset="-122"/>
                    <a:ea typeface="微软雅黑" panose="020B0503020204020204" pitchFamily="34" charset="-122"/>
                  </a:rPr>
                  <a:t>上所有的点，检查是否在障碍物区域内。若生长距离内某点在障碍物区内，则该次生长无效，重新选择采样点；若生长距离内所有的点都在非障碍区内，则扩展树生长出一个有效的叶节点。之后遍历另一扩展树上的所有点，计算与新叶节点的距离是否小于连接距离阈值，若小于，则两扩展树汇合，形成一条可行路径。</a:t>
                </a:r>
              </a:p>
              <a:p>
                <a:pPr algn="just"/>
                <a:endParaRPr lang="zh-CN" altLang="zh-CN" sz="2400" b="1" kern="100" dirty="0">
                  <a:effectLst/>
                  <a:latin typeface="Times New Roman" panose="02020603050405020304" pitchFamily="18" charset="0"/>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643F41AA-6BC5-7B12-A71C-4A3E9660ADCA}"/>
                  </a:ext>
                </a:extLst>
              </p:cNvPr>
              <p:cNvSpPr txBox="1">
                <a:spLocks noRot="1" noChangeAspect="1" noMove="1" noResize="1" noEditPoints="1" noAdjustHandles="1" noChangeArrowheads="1" noChangeShapeType="1" noTextEdit="1"/>
              </p:cNvSpPr>
              <p:nvPr/>
            </p:nvSpPr>
            <p:spPr>
              <a:xfrm>
                <a:off x="1110113" y="1120676"/>
                <a:ext cx="9971773" cy="5262979"/>
              </a:xfrm>
              <a:prstGeom prst="rect">
                <a:avLst/>
              </a:prstGeom>
              <a:blipFill>
                <a:blip r:embed="rId2"/>
                <a:stretch>
                  <a:fillRect l="-917" t="-927" r="-40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7900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Rectangle 2">
            <a:extLst>
              <a:ext uri="{FF2B5EF4-FFF2-40B4-BE49-F238E27FC236}">
                <a16:creationId xmlns:a16="http://schemas.microsoft.com/office/drawing/2014/main" id="{7F236029-5B3F-91F2-BE3A-874BB272CDD4}"/>
              </a:ext>
            </a:extLst>
          </p:cNvPr>
          <p:cNvSpPr>
            <a:spLocks noChangeArrowheads="1"/>
          </p:cNvSpPr>
          <p:nvPr/>
        </p:nvSpPr>
        <p:spPr bwMode="auto">
          <a:xfrm>
            <a:off x="7873102" y="756919"/>
            <a:ext cx="1016799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72C5B5F5-4D7E-502E-DA71-B636CC28294A}"/>
              </a:ext>
            </a:extLst>
          </p:cNvPr>
          <p:cNvGraphicFramePr>
            <a:graphicFrameLocks noChangeAspect="1"/>
          </p:cNvGraphicFramePr>
          <p:nvPr>
            <p:extLst>
              <p:ext uri="{D42A27DB-BD31-4B8C-83A1-F6EECF244321}">
                <p14:modId xmlns:p14="http://schemas.microsoft.com/office/powerpoint/2010/main" val="1305639058"/>
              </p:ext>
            </p:extLst>
          </p:nvPr>
        </p:nvGraphicFramePr>
        <p:xfrm>
          <a:off x="4696765" y="756919"/>
          <a:ext cx="3104655" cy="5749757"/>
        </p:xfrm>
        <a:graphic>
          <a:graphicData uri="http://schemas.openxmlformats.org/presentationml/2006/ole">
            <mc:AlternateContent xmlns:mc="http://schemas.openxmlformats.org/markup-compatibility/2006">
              <mc:Choice xmlns:v="urn:schemas-microsoft-com:vml" Requires="v">
                <p:oleObj r:id="rId2" imgW="3686056" imgH="6829386" progId="Visio.Drawing.15">
                  <p:embed/>
                </p:oleObj>
              </mc:Choice>
              <mc:Fallback>
                <p:oleObj r:id="rId2" imgW="3686056" imgH="6829386"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6765" y="756919"/>
                        <a:ext cx="3104655" cy="5749757"/>
                      </a:xfrm>
                      <a:prstGeom prst="rect">
                        <a:avLst/>
                      </a:prstGeom>
                      <a:noFill/>
                    </p:spPr>
                  </p:pic>
                </p:oleObj>
              </mc:Fallback>
            </mc:AlternateContent>
          </a:graphicData>
        </a:graphic>
      </p:graphicFrame>
      <p:sp>
        <p:nvSpPr>
          <p:cNvPr id="8" name="文本框 7">
            <a:extLst>
              <a:ext uri="{FF2B5EF4-FFF2-40B4-BE49-F238E27FC236}">
                <a16:creationId xmlns:a16="http://schemas.microsoft.com/office/drawing/2014/main" id="{46D2426E-F585-BDBD-11EB-946C6B7FAF83}"/>
              </a:ext>
            </a:extLst>
          </p:cNvPr>
          <p:cNvSpPr txBox="1"/>
          <p:nvPr/>
        </p:nvSpPr>
        <p:spPr>
          <a:xfrm>
            <a:off x="1586565" y="6412468"/>
            <a:ext cx="901887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6.17  Bi-Directional RRT</a:t>
            </a:r>
            <a:r>
              <a:rPr lang="zh-CN" altLang="zh-CN" sz="1800" kern="1000" dirty="0">
                <a:effectLst/>
                <a:latin typeface="Times New Roman" panose="02020603050405020304" pitchFamily="18" charset="0"/>
                <a:ea typeface="宋体" panose="02010600030101010101" pitchFamily="2" charset="-122"/>
              </a:rPr>
              <a:t>算法流程图</a:t>
            </a:r>
          </a:p>
        </p:txBody>
      </p:sp>
    </p:spTree>
    <p:extLst>
      <p:ext uri="{BB962C8B-B14F-4D97-AF65-F5344CB8AC3E}">
        <p14:creationId xmlns:p14="http://schemas.microsoft.com/office/powerpoint/2010/main" val="611561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a:extLst>
              <a:ext uri="{FF2B5EF4-FFF2-40B4-BE49-F238E27FC236}">
                <a16:creationId xmlns:a16="http://schemas.microsoft.com/office/drawing/2014/main" id="{743E42BE-2A60-AFA1-D244-777B7450BECE}"/>
              </a:ext>
            </a:extLst>
          </p:cNvPr>
          <p:cNvSpPr txBox="1"/>
          <p:nvPr/>
        </p:nvSpPr>
        <p:spPr>
          <a:xfrm>
            <a:off x="848268" y="1030307"/>
            <a:ext cx="9778022" cy="156966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创建一张二值化地图，尺寸为</a:t>
            </a:r>
            <a:r>
              <a:rPr lang="en-US" altLang="zh-CN" sz="2400" b="1" kern="1000" dirty="0">
                <a:effectLst/>
                <a:latin typeface="微软雅黑" panose="020B0503020204020204" pitchFamily="34" charset="-122"/>
                <a:ea typeface="微软雅黑" panose="020B0503020204020204" pitchFamily="34" charset="-122"/>
              </a:rPr>
              <a:t>480×640</a:t>
            </a:r>
            <a:r>
              <a:rPr lang="zh-CN" altLang="zh-CN" sz="2400" b="1" kern="1000" dirty="0">
                <a:effectLst/>
                <a:latin typeface="微软雅黑" panose="020B0503020204020204" pitchFamily="34" charset="-122"/>
                <a:ea typeface="微软雅黑" panose="020B0503020204020204" pitchFamily="34" charset="-122"/>
              </a:rPr>
              <a:t>。设起始点坐标为</a:t>
            </a:r>
            <a:r>
              <a:rPr lang="en-US" altLang="zh-CN" sz="2400" b="1" kern="1000" dirty="0">
                <a:effectLst/>
                <a:latin typeface="微软雅黑" panose="020B0503020204020204" pitchFamily="34" charset="-122"/>
                <a:ea typeface="微软雅黑" panose="020B0503020204020204" pitchFamily="34" charset="-122"/>
              </a:rPr>
              <a:t>(10,10)</a:t>
            </a:r>
            <a:r>
              <a:rPr lang="zh-CN" altLang="zh-CN" sz="2400" b="1" kern="1000" dirty="0">
                <a:effectLst/>
                <a:latin typeface="微软雅黑" panose="020B0503020204020204" pitchFamily="34" charset="-122"/>
                <a:ea typeface="微软雅黑" panose="020B0503020204020204" pitchFamily="34" charset="-122"/>
              </a:rPr>
              <a:t>，目标点坐标为</a:t>
            </a:r>
            <a:r>
              <a:rPr lang="en-US" altLang="zh-CN" sz="2400" b="1" kern="1000" dirty="0">
                <a:effectLst/>
                <a:latin typeface="微软雅黑" panose="020B0503020204020204" pitchFamily="34" charset="-122"/>
                <a:ea typeface="微软雅黑" panose="020B0503020204020204" pitchFamily="34" charset="-122"/>
              </a:rPr>
              <a:t>(430, 600)</a:t>
            </a:r>
            <a:r>
              <a:rPr lang="zh-CN" altLang="zh-CN" sz="2400" b="1" kern="1000" dirty="0">
                <a:effectLst/>
                <a:latin typeface="微软雅黑" panose="020B0503020204020204" pitchFamily="34" charset="-122"/>
                <a:ea typeface="微软雅黑" panose="020B0503020204020204" pitchFamily="34" charset="-122"/>
              </a:rPr>
              <a:t>。分别使用</a:t>
            </a:r>
            <a:r>
              <a:rPr lang="en-US" altLang="zh-CN" sz="2400" b="1" kern="1000" dirty="0">
                <a:effectLst/>
                <a:latin typeface="微软雅黑" panose="020B0503020204020204" pitchFamily="34" charset="-122"/>
                <a:ea typeface="微软雅黑" panose="020B0503020204020204" pitchFamily="34" charset="-122"/>
              </a:rPr>
              <a:t>A*</a:t>
            </a:r>
            <a:r>
              <a:rPr lang="zh-CN" altLang="zh-CN" sz="2400" b="1" kern="1000" dirty="0">
                <a:effectLst/>
                <a:latin typeface="微软雅黑" panose="020B0503020204020204" pitchFamily="34" charset="-122"/>
                <a:ea typeface="微软雅黑" panose="020B0503020204020204" pitchFamily="34" charset="-122"/>
              </a:rPr>
              <a:t>算法、人工势场法</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将在</a:t>
            </a:r>
            <a:r>
              <a:rPr lang="en-US" altLang="zh-CN" sz="2400" b="1" kern="1000" dirty="0">
                <a:effectLst/>
                <a:latin typeface="微软雅黑" panose="020B0503020204020204" pitchFamily="34" charset="-122"/>
                <a:ea typeface="微软雅黑" panose="020B0503020204020204" pitchFamily="34" charset="-122"/>
              </a:rPr>
              <a:t>6.3.1</a:t>
            </a:r>
            <a:r>
              <a:rPr lang="zh-CN" altLang="zh-CN" sz="2400" b="1" kern="1000" dirty="0">
                <a:effectLst/>
                <a:latin typeface="微软雅黑" panose="020B0503020204020204" pitchFamily="34" charset="-122"/>
                <a:ea typeface="微软雅黑" panose="020B0503020204020204" pitchFamily="34" charset="-122"/>
              </a:rPr>
              <a:t>节介绍</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RRT</a:t>
            </a:r>
            <a:r>
              <a:rPr lang="zh-CN" altLang="zh-CN" sz="2400" b="1" kern="1000" dirty="0">
                <a:effectLst/>
                <a:latin typeface="微软雅黑" panose="020B0503020204020204" pitchFamily="34" charset="-122"/>
                <a:ea typeface="微软雅黑" panose="020B0503020204020204" pitchFamily="34" charset="-122"/>
              </a:rPr>
              <a:t>算法和</a:t>
            </a:r>
            <a:r>
              <a:rPr lang="en-US" altLang="zh-CN" sz="2400" b="1" kern="1000" dirty="0">
                <a:effectLst/>
                <a:latin typeface="微软雅黑" panose="020B0503020204020204" pitchFamily="34" charset="-122"/>
                <a:ea typeface="微软雅黑" panose="020B0503020204020204" pitchFamily="34" charset="-122"/>
              </a:rPr>
              <a:t>Bi-Directional RRT</a:t>
            </a:r>
            <a:r>
              <a:rPr lang="zh-CN" altLang="zh-CN" sz="2400" b="1" kern="1000" dirty="0">
                <a:effectLst/>
                <a:latin typeface="微软雅黑" panose="020B0503020204020204" pitchFamily="34" charset="-122"/>
                <a:ea typeface="微软雅黑" panose="020B0503020204020204" pitchFamily="34" charset="-122"/>
              </a:rPr>
              <a:t>算法进行路径规划对比实验，实验规划出的路径结果如图</a:t>
            </a:r>
            <a:r>
              <a:rPr lang="en-US" altLang="zh-CN" sz="2400" b="1" kern="1000" dirty="0">
                <a:effectLst/>
                <a:latin typeface="微软雅黑" panose="020B0503020204020204" pitchFamily="34" charset="-122"/>
                <a:ea typeface="微软雅黑" panose="020B0503020204020204" pitchFamily="34" charset="-122"/>
              </a:rPr>
              <a:t>6.18</a:t>
            </a:r>
            <a:r>
              <a:rPr lang="zh-CN" altLang="zh-CN" sz="2400" b="1" kern="1000" dirty="0">
                <a:effectLst/>
                <a:latin typeface="微软雅黑" panose="020B0503020204020204" pitchFamily="34" charset="-122"/>
                <a:ea typeface="微软雅黑" panose="020B0503020204020204" pitchFamily="34" charset="-122"/>
              </a:rPr>
              <a:t>所示。</a:t>
            </a:r>
          </a:p>
        </p:txBody>
      </p:sp>
    </p:spTree>
    <p:extLst>
      <p:ext uri="{BB962C8B-B14F-4D97-AF65-F5344CB8AC3E}">
        <p14:creationId xmlns:p14="http://schemas.microsoft.com/office/powerpoint/2010/main" val="3017557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24">
            <a:extLst>
              <a:ext uri="{FF2B5EF4-FFF2-40B4-BE49-F238E27FC236}">
                <a16:creationId xmlns:a16="http://schemas.microsoft.com/office/drawing/2014/main" id="{6595D1C3-9112-3DA5-B537-478396CCAF9C}"/>
              </a:ext>
            </a:extLst>
          </p:cNvPr>
          <p:cNvGrpSpPr>
            <a:grpSpLocks/>
          </p:cNvGrpSpPr>
          <p:nvPr/>
        </p:nvGrpSpPr>
        <p:grpSpPr bwMode="auto">
          <a:xfrm>
            <a:off x="2701210" y="1030307"/>
            <a:ext cx="6238290" cy="5625768"/>
            <a:chOff x="1172384" y="548680"/>
            <a:chExt cx="6423952" cy="6092684"/>
          </a:xfrm>
        </p:grpSpPr>
        <p:grpSp>
          <p:nvGrpSpPr>
            <p:cNvPr id="4" name="组合 8">
              <a:extLst>
                <a:ext uri="{FF2B5EF4-FFF2-40B4-BE49-F238E27FC236}">
                  <a16:creationId xmlns:a16="http://schemas.microsoft.com/office/drawing/2014/main" id="{4512944A-75DD-CB70-93F9-A9377C997964}"/>
                </a:ext>
              </a:extLst>
            </p:cNvPr>
            <p:cNvGrpSpPr>
              <a:grpSpLocks/>
            </p:cNvGrpSpPr>
            <p:nvPr/>
          </p:nvGrpSpPr>
          <p:grpSpPr bwMode="auto">
            <a:xfrm>
              <a:off x="1172384" y="620688"/>
              <a:ext cx="2653183" cy="2498214"/>
              <a:chOff x="1187624" y="476672"/>
              <a:chExt cx="2372995" cy="2242711"/>
            </a:xfrm>
          </p:grpSpPr>
          <p:pic>
            <p:nvPicPr>
              <p:cNvPr id="15" name="图片 1" descr="Astar">
                <a:extLst>
                  <a:ext uri="{FF2B5EF4-FFF2-40B4-BE49-F238E27FC236}">
                    <a16:creationId xmlns:a16="http://schemas.microsoft.com/office/drawing/2014/main" id="{20DCBBCA-5A31-463E-7744-E2269D7B8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81" t="4997" r="9801" b="9332"/>
              <a:stretch>
                <a:fillRect/>
              </a:stretch>
            </p:blipFill>
            <p:spPr bwMode="auto">
              <a:xfrm>
                <a:off x="1187624" y="476672"/>
                <a:ext cx="2372995" cy="179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7">
                <a:extLst>
                  <a:ext uri="{FF2B5EF4-FFF2-40B4-BE49-F238E27FC236}">
                    <a16:creationId xmlns:a16="http://schemas.microsoft.com/office/drawing/2014/main" id="{DF496B95-A230-6CC2-C51D-B3FAA8E4DB12}"/>
                  </a:ext>
                </a:extLst>
              </p:cNvPr>
              <p:cNvSpPr txBox="1">
                <a:spLocks noChangeArrowheads="1"/>
              </p:cNvSpPr>
              <p:nvPr/>
            </p:nvSpPr>
            <p:spPr bwMode="auto">
              <a:xfrm>
                <a:off x="1371565" y="2350051"/>
                <a:ext cx="20051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sz="2000"/>
                  <a:t>(a)A*</a:t>
                </a:r>
                <a:r>
                  <a:rPr lang="zh-CN" altLang="zh-CN" sz="2000">
                    <a:cs typeface="Times New Roman" panose="02020603050405020304" pitchFamily="18" charset="0"/>
                  </a:rPr>
                  <a:t>算法结果</a:t>
                </a:r>
                <a:endParaRPr lang="zh-CN" altLang="en-US" sz="2000">
                  <a:latin typeface="Tahoma" panose="020B0604030504040204" pitchFamily="34" charset="0"/>
                </a:endParaRPr>
              </a:p>
            </p:txBody>
          </p:sp>
        </p:grpSp>
        <p:grpSp>
          <p:nvGrpSpPr>
            <p:cNvPr id="5" name="组合 12">
              <a:extLst>
                <a:ext uri="{FF2B5EF4-FFF2-40B4-BE49-F238E27FC236}">
                  <a16:creationId xmlns:a16="http://schemas.microsoft.com/office/drawing/2014/main" id="{398FE887-085B-B865-D9CE-CBD81BCA3A60}"/>
                </a:ext>
              </a:extLst>
            </p:cNvPr>
            <p:cNvGrpSpPr>
              <a:grpSpLocks/>
            </p:cNvGrpSpPr>
            <p:nvPr/>
          </p:nvGrpSpPr>
          <p:grpSpPr bwMode="auto">
            <a:xfrm>
              <a:off x="4788024" y="548680"/>
              <a:ext cx="2808312" cy="2683096"/>
              <a:chOff x="5076056" y="548680"/>
              <a:chExt cx="2388235" cy="2200326"/>
            </a:xfrm>
          </p:grpSpPr>
          <p:pic>
            <p:nvPicPr>
              <p:cNvPr id="13" name="图片 2" descr="poential">
                <a:extLst>
                  <a:ext uri="{FF2B5EF4-FFF2-40B4-BE49-F238E27FC236}">
                    <a16:creationId xmlns:a16="http://schemas.microsoft.com/office/drawing/2014/main" id="{20590C6E-A2C2-D39A-3260-9CCB7A05E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393" t="5009" r="9789" b="9361"/>
              <a:stretch>
                <a:fillRect/>
              </a:stretch>
            </p:blipFill>
            <p:spPr bwMode="auto">
              <a:xfrm>
                <a:off x="5076056" y="548680"/>
                <a:ext cx="2388235" cy="179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1">
                <a:extLst>
                  <a:ext uri="{FF2B5EF4-FFF2-40B4-BE49-F238E27FC236}">
                    <a16:creationId xmlns:a16="http://schemas.microsoft.com/office/drawing/2014/main" id="{E6381F99-BDD0-8407-AB18-0814ECB7AE7F}"/>
                  </a:ext>
                </a:extLst>
              </p:cNvPr>
              <p:cNvSpPr txBox="1">
                <a:spLocks noChangeArrowheads="1"/>
              </p:cNvSpPr>
              <p:nvPr/>
            </p:nvSpPr>
            <p:spPr bwMode="auto">
              <a:xfrm>
                <a:off x="5261330" y="2420888"/>
                <a:ext cx="2077118" cy="328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sz="2000"/>
                  <a:t>(b)</a:t>
                </a:r>
                <a:r>
                  <a:rPr lang="zh-CN" altLang="zh-CN" sz="2000">
                    <a:cs typeface="Times New Roman" panose="02020603050405020304" pitchFamily="18" charset="0"/>
                  </a:rPr>
                  <a:t>人工势场法结果</a:t>
                </a:r>
                <a:endParaRPr lang="zh-CN" altLang="en-US" sz="2000">
                  <a:latin typeface="Tahoma" panose="020B0604030504040204" pitchFamily="34" charset="0"/>
                </a:endParaRPr>
              </a:p>
            </p:txBody>
          </p:sp>
        </p:grpSp>
        <p:grpSp>
          <p:nvGrpSpPr>
            <p:cNvPr id="6" name="组合 16">
              <a:extLst>
                <a:ext uri="{FF2B5EF4-FFF2-40B4-BE49-F238E27FC236}">
                  <a16:creationId xmlns:a16="http://schemas.microsoft.com/office/drawing/2014/main" id="{4C289423-A32B-DB2D-2321-FEBA89CC2191}"/>
                </a:ext>
              </a:extLst>
            </p:cNvPr>
            <p:cNvGrpSpPr>
              <a:grpSpLocks/>
            </p:cNvGrpSpPr>
            <p:nvPr/>
          </p:nvGrpSpPr>
          <p:grpSpPr bwMode="auto">
            <a:xfrm>
              <a:off x="1172384" y="3345174"/>
              <a:ext cx="2653183" cy="2399848"/>
              <a:chOff x="1172384" y="3486150"/>
              <a:chExt cx="2388235" cy="2264632"/>
            </a:xfrm>
          </p:grpSpPr>
          <p:pic>
            <p:nvPicPr>
              <p:cNvPr id="11" name="图片 3" descr="RRT">
                <a:extLst>
                  <a:ext uri="{FF2B5EF4-FFF2-40B4-BE49-F238E27FC236}">
                    <a16:creationId xmlns:a16="http://schemas.microsoft.com/office/drawing/2014/main" id="{47D194C8-FD3B-A961-DBC7-FAB21D30D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393" t="5009" r="9789" b="9361"/>
              <a:stretch>
                <a:fillRect/>
              </a:stretch>
            </p:blipFill>
            <p:spPr bwMode="auto">
              <a:xfrm>
                <a:off x="1172384" y="3486150"/>
                <a:ext cx="2388235" cy="179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5">
                <a:extLst>
                  <a:ext uri="{FF2B5EF4-FFF2-40B4-BE49-F238E27FC236}">
                    <a16:creationId xmlns:a16="http://schemas.microsoft.com/office/drawing/2014/main" id="{E8E57D2C-A88C-A772-BEFA-BE9626AE3B85}"/>
                  </a:ext>
                </a:extLst>
              </p:cNvPr>
              <p:cNvSpPr txBox="1">
                <a:spLocks noChangeArrowheads="1"/>
              </p:cNvSpPr>
              <p:nvPr/>
            </p:nvSpPr>
            <p:spPr bwMode="auto">
              <a:xfrm>
                <a:off x="1299556" y="5373216"/>
                <a:ext cx="2149127" cy="37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sz="2000"/>
                  <a:t>(c) RRT</a:t>
                </a:r>
                <a:r>
                  <a:rPr lang="zh-CN" altLang="zh-CN" sz="2000">
                    <a:cs typeface="Times New Roman" panose="02020603050405020304" pitchFamily="18" charset="0"/>
                  </a:rPr>
                  <a:t>算法结果</a:t>
                </a:r>
                <a:endParaRPr lang="zh-CN" altLang="en-US" sz="2000">
                  <a:latin typeface="Tahoma" panose="020B0604030504040204" pitchFamily="34" charset="0"/>
                </a:endParaRPr>
              </a:p>
            </p:txBody>
          </p:sp>
        </p:grpSp>
        <p:grpSp>
          <p:nvGrpSpPr>
            <p:cNvPr id="7" name="组合 20">
              <a:extLst>
                <a:ext uri="{FF2B5EF4-FFF2-40B4-BE49-F238E27FC236}">
                  <a16:creationId xmlns:a16="http://schemas.microsoft.com/office/drawing/2014/main" id="{814020D1-2040-03E3-0C17-003A1E721CEA}"/>
                </a:ext>
              </a:extLst>
            </p:cNvPr>
            <p:cNvGrpSpPr>
              <a:grpSpLocks/>
            </p:cNvGrpSpPr>
            <p:nvPr/>
          </p:nvGrpSpPr>
          <p:grpSpPr bwMode="auto">
            <a:xfrm>
              <a:off x="4840824" y="3429000"/>
              <a:ext cx="2653183" cy="2457724"/>
              <a:chOff x="5105772" y="3429000"/>
              <a:chExt cx="2388235" cy="2323555"/>
            </a:xfrm>
          </p:grpSpPr>
          <p:pic>
            <p:nvPicPr>
              <p:cNvPr id="9" name="图片 4" descr="bi-rrt">
                <a:extLst>
                  <a:ext uri="{FF2B5EF4-FFF2-40B4-BE49-F238E27FC236}">
                    <a16:creationId xmlns:a16="http://schemas.microsoft.com/office/drawing/2014/main" id="{3CE3AD99-1311-720E-B42F-D0C1B8170E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0393" t="5009" r="9789" b="9361"/>
              <a:stretch>
                <a:fillRect/>
              </a:stretch>
            </p:blipFill>
            <p:spPr bwMode="auto">
              <a:xfrm>
                <a:off x="5105772" y="3429000"/>
                <a:ext cx="2388235" cy="179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19">
                <a:extLst>
                  <a:ext uri="{FF2B5EF4-FFF2-40B4-BE49-F238E27FC236}">
                    <a16:creationId xmlns:a16="http://schemas.microsoft.com/office/drawing/2014/main" id="{D0512FB3-27CD-8F75-FFEE-081BB20DB858}"/>
                  </a:ext>
                </a:extLst>
              </p:cNvPr>
              <p:cNvSpPr txBox="1">
                <a:spLocks noChangeArrowheads="1"/>
              </p:cNvSpPr>
              <p:nvPr/>
            </p:nvSpPr>
            <p:spPr bwMode="auto">
              <a:xfrm>
                <a:off x="5171149" y="5374287"/>
                <a:ext cx="2293142" cy="378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sz="2000"/>
                  <a:t>(d)</a:t>
                </a:r>
                <a:r>
                  <a:rPr lang="zh-CN" altLang="zh-CN" sz="2000">
                    <a:cs typeface="Times New Roman" panose="02020603050405020304" pitchFamily="18" charset="0"/>
                  </a:rPr>
                  <a:t>双树</a:t>
                </a:r>
                <a:r>
                  <a:rPr lang="en-US" altLang="zh-CN" sz="2000"/>
                  <a:t>RRT</a:t>
                </a:r>
                <a:r>
                  <a:rPr lang="zh-CN" altLang="zh-CN" sz="2000">
                    <a:cs typeface="Times New Roman" panose="02020603050405020304" pitchFamily="18" charset="0"/>
                  </a:rPr>
                  <a:t>算法结果</a:t>
                </a:r>
                <a:endParaRPr lang="zh-CN" altLang="en-US" sz="2000">
                  <a:latin typeface="Tahoma" panose="020B0604030504040204" pitchFamily="34" charset="0"/>
                </a:endParaRPr>
              </a:p>
            </p:txBody>
          </p:sp>
        </p:grpSp>
        <p:sp>
          <p:nvSpPr>
            <p:cNvPr id="8" name="文本框 23">
              <a:extLst>
                <a:ext uri="{FF2B5EF4-FFF2-40B4-BE49-F238E27FC236}">
                  <a16:creationId xmlns:a16="http://schemas.microsoft.com/office/drawing/2014/main" id="{9824FE17-4BFD-34CB-812C-2E9BD97C3A3E}"/>
                </a:ext>
              </a:extLst>
            </p:cNvPr>
            <p:cNvSpPr txBox="1">
              <a:spLocks noChangeArrowheads="1"/>
            </p:cNvSpPr>
            <p:nvPr/>
          </p:nvSpPr>
          <p:spPr bwMode="auto">
            <a:xfrm>
              <a:off x="2184030" y="6208047"/>
              <a:ext cx="4400659" cy="433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cs typeface="Times New Roman" panose="02020603050405020304" pitchFamily="18" charset="0"/>
                </a:rPr>
                <a:t>图</a:t>
              </a:r>
              <a:r>
                <a:rPr lang="en-US" altLang="zh-CN" sz="2000" dirty="0">
                  <a:cs typeface="Times New Roman" panose="02020603050405020304" pitchFamily="18" charset="0"/>
                </a:rPr>
                <a:t>6-17 </a:t>
              </a:r>
              <a:r>
                <a:rPr lang="zh-CN" altLang="zh-CN" sz="2000" dirty="0">
                  <a:cs typeface="Times New Roman" panose="02020603050405020304" pitchFamily="18" charset="0"/>
                </a:rPr>
                <a:t>四种路径规划方法对比</a:t>
              </a:r>
              <a:endParaRPr lang="zh-CN" altLang="en-US" sz="2000" dirty="0">
                <a:latin typeface="Tahoma" panose="020B0604030504040204" pitchFamily="34" charset="0"/>
              </a:endParaRPr>
            </a:p>
          </p:txBody>
        </p:sp>
      </p:grpSp>
    </p:spTree>
    <p:extLst>
      <p:ext uri="{BB962C8B-B14F-4D97-AF65-F5344CB8AC3E}">
        <p14:creationId xmlns:p14="http://schemas.microsoft.com/office/powerpoint/2010/main" val="1828839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954107"/>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6.2  </a:t>
            </a:r>
            <a:r>
              <a:rPr lang="zh-CN"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全局路径规划算法</a:t>
            </a:r>
          </a:p>
          <a:p>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a:extLst>
              <a:ext uri="{FF2B5EF4-FFF2-40B4-BE49-F238E27FC236}">
                <a16:creationId xmlns:a16="http://schemas.microsoft.com/office/drawing/2014/main" id="{26210FE4-618B-1ADC-FCE9-941CD7B68632}"/>
              </a:ext>
            </a:extLst>
          </p:cNvPr>
          <p:cNvSpPr txBox="1"/>
          <p:nvPr/>
        </p:nvSpPr>
        <p:spPr>
          <a:xfrm>
            <a:off x="1195939" y="1030307"/>
            <a:ext cx="8121315" cy="461665"/>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种路径规划方法得到的路径长度及用时如表</a:t>
            </a:r>
            <a:r>
              <a:rPr lang="en-US" altLang="zh-CN" sz="2400" b="1" kern="1000" dirty="0">
                <a:effectLst/>
                <a:latin typeface="微软雅黑" panose="020B0503020204020204" pitchFamily="34" charset="-122"/>
                <a:ea typeface="微软雅黑" panose="020B0503020204020204" pitchFamily="34" charset="-122"/>
              </a:rPr>
              <a:t>6.1</a:t>
            </a:r>
            <a:r>
              <a:rPr lang="zh-CN" altLang="zh-CN" sz="2400" b="1" kern="1000" dirty="0">
                <a:effectLst/>
                <a:latin typeface="微软雅黑" panose="020B0503020204020204" pitchFamily="34" charset="-122"/>
                <a:ea typeface="微软雅黑" panose="020B0503020204020204" pitchFamily="34" charset="-122"/>
              </a:rPr>
              <a:t>所示。</a:t>
            </a:r>
          </a:p>
        </p:txBody>
      </p:sp>
      <p:sp>
        <p:nvSpPr>
          <p:cNvPr id="22" name="文本框 21">
            <a:extLst>
              <a:ext uri="{FF2B5EF4-FFF2-40B4-BE49-F238E27FC236}">
                <a16:creationId xmlns:a16="http://schemas.microsoft.com/office/drawing/2014/main" id="{30947A7C-C741-6CCE-108B-9B75A3EB63F2}"/>
              </a:ext>
            </a:extLst>
          </p:cNvPr>
          <p:cNvSpPr txBox="1"/>
          <p:nvPr/>
        </p:nvSpPr>
        <p:spPr>
          <a:xfrm>
            <a:off x="3032760" y="1491972"/>
            <a:ext cx="6126480" cy="454035"/>
          </a:xfrm>
          <a:prstGeom prst="rect">
            <a:avLst/>
          </a:prstGeom>
          <a:noFill/>
        </p:spPr>
        <p:txBody>
          <a:bodyPr wrap="square">
            <a:spAutoFit/>
          </a:bodyPr>
          <a:lstStyle/>
          <a:p>
            <a:pPr algn="ctr">
              <a:lnSpc>
                <a:spcPct val="150000"/>
              </a:lnSpc>
              <a:spcBef>
                <a:spcPts val="300"/>
              </a:spcBef>
            </a:pPr>
            <a:r>
              <a:rPr lang="zh-CN" altLang="zh-CN" sz="1800" kern="1000" dirty="0">
                <a:effectLst/>
                <a:latin typeface="Arial" panose="020B0604020202020204" pitchFamily="34" charset="0"/>
                <a:ea typeface="黑体" panose="02010609060101010101" pitchFamily="49" charset="-122"/>
                <a:cs typeface="Times New Roman" panose="02020603050405020304" pitchFamily="18" charset="0"/>
              </a:rPr>
              <a:t>表</a:t>
            </a:r>
            <a:r>
              <a:rPr lang="en-US" altLang="zh-CN" sz="1800" kern="1000" dirty="0">
                <a:effectLst/>
                <a:latin typeface="Arial" panose="020B0604020202020204" pitchFamily="34" charset="0"/>
                <a:ea typeface="黑体" panose="02010609060101010101" pitchFamily="49" charset="-122"/>
                <a:cs typeface="Times New Roman" panose="02020603050405020304" pitchFamily="18" charset="0"/>
              </a:rPr>
              <a:t>6.1  4</a:t>
            </a:r>
            <a:r>
              <a:rPr lang="zh-CN" altLang="zh-CN" sz="1800" kern="1000" dirty="0">
                <a:effectLst/>
                <a:latin typeface="Arial" panose="020B0604020202020204" pitchFamily="34" charset="0"/>
                <a:ea typeface="黑体" panose="02010609060101010101" pitchFamily="49" charset="-122"/>
                <a:cs typeface="Times New Roman" panose="02020603050405020304" pitchFamily="18" charset="0"/>
              </a:rPr>
              <a:t>种路径规划方法的路径长度及用时表</a:t>
            </a:r>
          </a:p>
        </p:txBody>
      </p:sp>
      <p:graphicFrame>
        <p:nvGraphicFramePr>
          <p:cNvPr id="25" name="表格 25">
            <a:extLst>
              <a:ext uri="{FF2B5EF4-FFF2-40B4-BE49-F238E27FC236}">
                <a16:creationId xmlns:a16="http://schemas.microsoft.com/office/drawing/2014/main" id="{2FF087EE-C528-E22B-CF45-AB69A87AD8EE}"/>
              </a:ext>
            </a:extLst>
          </p:cNvPr>
          <p:cNvGraphicFramePr>
            <a:graphicFrameLocks noGrp="1"/>
          </p:cNvGraphicFramePr>
          <p:nvPr>
            <p:extLst>
              <p:ext uri="{D42A27DB-BD31-4B8C-83A1-F6EECF244321}">
                <p14:modId xmlns:p14="http://schemas.microsoft.com/office/powerpoint/2010/main" val="2945489748"/>
              </p:ext>
            </p:extLst>
          </p:nvPr>
        </p:nvGraphicFramePr>
        <p:xfrm>
          <a:off x="2414070" y="1999803"/>
          <a:ext cx="7557705" cy="2502568"/>
        </p:xfrm>
        <a:graphic>
          <a:graphicData uri="http://schemas.openxmlformats.org/drawingml/2006/table">
            <a:tbl>
              <a:tblPr firstRow="1" bandRow="1">
                <a:tableStyleId>{5C22544A-7EE6-4342-B048-85BDC9FD1C3A}</a:tableStyleId>
              </a:tblPr>
              <a:tblGrid>
                <a:gridCol w="2519235">
                  <a:extLst>
                    <a:ext uri="{9D8B030D-6E8A-4147-A177-3AD203B41FA5}">
                      <a16:colId xmlns:a16="http://schemas.microsoft.com/office/drawing/2014/main" val="1996379389"/>
                    </a:ext>
                  </a:extLst>
                </a:gridCol>
                <a:gridCol w="2519235">
                  <a:extLst>
                    <a:ext uri="{9D8B030D-6E8A-4147-A177-3AD203B41FA5}">
                      <a16:colId xmlns:a16="http://schemas.microsoft.com/office/drawing/2014/main" val="3186263207"/>
                    </a:ext>
                  </a:extLst>
                </a:gridCol>
                <a:gridCol w="2519235">
                  <a:extLst>
                    <a:ext uri="{9D8B030D-6E8A-4147-A177-3AD203B41FA5}">
                      <a16:colId xmlns:a16="http://schemas.microsoft.com/office/drawing/2014/main" val="3810076730"/>
                    </a:ext>
                  </a:extLst>
                </a:gridCol>
              </a:tblGrid>
              <a:tr h="577700">
                <a:tc>
                  <a:txBody>
                    <a:bodyPr/>
                    <a:lstStyle/>
                    <a:p>
                      <a:pPr indent="269875" algn="ctr" fontAlgn="ctr">
                        <a:lnSpc>
                          <a:spcPts val="1595"/>
                        </a:lnSpc>
                      </a:pPr>
                      <a:r>
                        <a:rPr lang="zh-CN" sz="1800" b="1" kern="1000" dirty="0">
                          <a:solidFill>
                            <a:schemeClr val="tx1"/>
                          </a:solidFill>
                          <a:effectLst/>
                        </a:rPr>
                        <a:t>路径规划方法</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60000"/>
                        <a:lumOff val="40000"/>
                      </a:schemeClr>
                    </a:solidFill>
                  </a:tcPr>
                </a:tc>
                <a:tc>
                  <a:txBody>
                    <a:bodyPr/>
                    <a:lstStyle/>
                    <a:p>
                      <a:pPr indent="269875" algn="ctr" fontAlgn="ctr">
                        <a:lnSpc>
                          <a:spcPts val="1595"/>
                        </a:lnSpc>
                      </a:pPr>
                      <a:r>
                        <a:rPr lang="zh-CN" sz="1800" b="1" kern="1000" dirty="0">
                          <a:solidFill>
                            <a:schemeClr val="tx1"/>
                          </a:solidFill>
                          <a:effectLst/>
                        </a:rPr>
                        <a:t>路径长度</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60000"/>
                        <a:lumOff val="40000"/>
                      </a:schemeClr>
                    </a:solidFill>
                  </a:tcPr>
                </a:tc>
                <a:tc>
                  <a:txBody>
                    <a:bodyPr/>
                    <a:lstStyle/>
                    <a:p>
                      <a:pPr indent="269875" algn="ctr" fontAlgn="ctr">
                        <a:lnSpc>
                          <a:spcPts val="1595"/>
                        </a:lnSpc>
                      </a:pPr>
                      <a:r>
                        <a:rPr lang="zh-CN" sz="1800" b="1" kern="1000" dirty="0">
                          <a:solidFill>
                            <a:schemeClr val="tx1"/>
                          </a:solidFill>
                          <a:effectLst/>
                        </a:rPr>
                        <a:t>用时</a:t>
                      </a:r>
                      <a:r>
                        <a:rPr lang="en-US" sz="1800" b="1" kern="1000" dirty="0">
                          <a:solidFill>
                            <a:schemeClr val="tx1"/>
                          </a:solidFill>
                          <a:effectLst/>
                        </a:rPr>
                        <a:t>(s)</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1108215457"/>
                  </a:ext>
                </a:extLst>
              </a:tr>
              <a:tr h="481217">
                <a:tc>
                  <a:txBody>
                    <a:bodyPr/>
                    <a:lstStyle/>
                    <a:p>
                      <a:pPr indent="269875" algn="ctr" fontAlgn="ctr">
                        <a:lnSpc>
                          <a:spcPts val="1595"/>
                        </a:lnSpc>
                      </a:pPr>
                      <a:r>
                        <a:rPr lang="en-US" sz="1800" b="1" kern="1000" dirty="0">
                          <a:solidFill>
                            <a:schemeClr val="tx1"/>
                          </a:solidFill>
                          <a:effectLst/>
                        </a:rPr>
                        <a:t>A*</a:t>
                      </a:r>
                      <a:r>
                        <a:rPr lang="zh-CN" sz="1800" b="1" kern="1000" dirty="0">
                          <a:solidFill>
                            <a:schemeClr val="tx1"/>
                          </a:solidFill>
                          <a:effectLst/>
                        </a:rPr>
                        <a:t>算法</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60000"/>
                        <a:lumOff val="40000"/>
                      </a:schemeClr>
                    </a:solidFill>
                  </a:tcPr>
                </a:tc>
                <a:tc>
                  <a:txBody>
                    <a:bodyPr/>
                    <a:lstStyle/>
                    <a:p>
                      <a:pPr indent="269875" algn="ctr" fontAlgn="ctr">
                        <a:lnSpc>
                          <a:spcPts val="1595"/>
                        </a:lnSpc>
                      </a:pPr>
                      <a:r>
                        <a:rPr lang="en-US" sz="1800" b="1" kern="1000" dirty="0">
                          <a:solidFill>
                            <a:schemeClr val="tx1"/>
                          </a:solidFill>
                          <a:effectLst/>
                        </a:rPr>
                        <a:t>790.4000</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tc>
                  <a:txBody>
                    <a:bodyPr/>
                    <a:lstStyle/>
                    <a:p>
                      <a:pPr indent="269875" algn="ctr" fontAlgn="ctr">
                        <a:lnSpc>
                          <a:spcPts val="1595"/>
                        </a:lnSpc>
                      </a:pPr>
                      <a:r>
                        <a:rPr lang="en-US" sz="1800" b="1" kern="1000" dirty="0">
                          <a:solidFill>
                            <a:schemeClr val="tx1"/>
                          </a:solidFill>
                          <a:effectLst/>
                        </a:rPr>
                        <a:t>0.6684275</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2411460911"/>
                  </a:ext>
                </a:extLst>
              </a:tr>
              <a:tr h="481217">
                <a:tc>
                  <a:txBody>
                    <a:bodyPr/>
                    <a:lstStyle/>
                    <a:p>
                      <a:pPr indent="269875" algn="ctr" fontAlgn="ctr">
                        <a:lnSpc>
                          <a:spcPts val="1595"/>
                        </a:lnSpc>
                      </a:pPr>
                      <a:r>
                        <a:rPr lang="zh-CN" sz="1800" b="1" kern="1000" dirty="0">
                          <a:solidFill>
                            <a:schemeClr val="tx1"/>
                          </a:solidFill>
                          <a:effectLst/>
                        </a:rPr>
                        <a:t>人工势场法</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60000"/>
                        <a:lumOff val="40000"/>
                      </a:schemeClr>
                    </a:solidFill>
                  </a:tcPr>
                </a:tc>
                <a:tc>
                  <a:txBody>
                    <a:bodyPr/>
                    <a:lstStyle/>
                    <a:p>
                      <a:pPr indent="269875" algn="ctr" fontAlgn="ctr">
                        <a:lnSpc>
                          <a:spcPts val="1595"/>
                        </a:lnSpc>
                      </a:pPr>
                      <a:r>
                        <a:rPr lang="zh-CN" sz="1800" b="1" kern="1000" dirty="0">
                          <a:solidFill>
                            <a:schemeClr val="tx1"/>
                          </a:solidFill>
                          <a:effectLst/>
                        </a:rPr>
                        <a:t>—</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tc>
                  <a:txBody>
                    <a:bodyPr/>
                    <a:lstStyle/>
                    <a:p>
                      <a:pPr indent="269875" algn="ctr" fontAlgn="ctr">
                        <a:lnSpc>
                          <a:spcPts val="1595"/>
                        </a:lnSpc>
                      </a:pPr>
                      <a:r>
                        <a:rPr lang="zh-CN" sz="1800" b="1" kern="1000">
                          <a:solidFill>
                            <a:schemeClr val="tx1"/>
                          </a:solidFill>
                          <a:effectLst/>
                        </a:rPr>
                        <a:t>—</a:t>
                      </a:r>
                      <a:endParaRPr lang="zh-CN" sz="3200" b="1" kern="10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3090001473"/>
                  </a:ext>
                </a:extLst>
              </a:tr>
              <a:tr h="481217">
                <a:tc>
                  <a:txBody>
                    <a:bodyPr/>
                    <a:lstStyle/>
                    <a:p>
                      <a:pPr indent="269875" algn="ctr" fontAlgn="ctr">
                        <a:lnSpc>
                          <a:spcPts val="1595"/>
                        </a:lnSpc>
                      </a:pPr>
                      <a:r>
                        <a:rPr lang="en-US" sz="1800" b="1" kern="1000" dirty="0">
                          <a:solidFill>
                            <a:schemeClr val="tx1"/>
                          </a:solidFill>
                          <a:effectLst/>
                        </a:rPr>
                        <a:t>RRT</a:t>
                      </a:r>
                      <a:r>
                        <a:rPr lang="zh-CN" sz="1800" b="1" kern="1000" dirty="0">
                          <a:solidFill>
                            <a:schemeClr val="tx1"/>
                          </a:solidFill>
                          <a:effectLst/>
                        </a:rPr>
                        <a:t>算法</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60000"/>
                        <a:lumOff val="40000"/>
                      </a:schemeClr>
                    </a:solidFill>
                  </a:tcPr>
                </a:tc>
                <a:tc>
                  <a:txBody>
                    <a:bodyPr/>
                    <a:lstStyle/>
                    <a:p>
                      <a:pPr indent="269875" algn="ctr" fontAlgn="ctr">
                        <a:lnSpc>
                          <a:spcPts val="1595"/>
                        </a:lnSpc>
                      </a:pPr>
                      <a:r>
                        <a:rPr lang="en-US" sz="1800" b="1" kern="1000" dirty="0">
                          <a:solidFill>
                            <a:schemeClr val="tx1"/>
                          </a:solidFill>
                          <a:effectLst/>
                        </a:rPr>
                        <a:t>901.7852</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tc>
                  <a:txBody>
                    <a:bodyPr/>
                    <a:lstStyle/>
                    <a:p>
                      <a:pPr indent="269875" algn="ctr" fontAlgn="ctr">
                        <a:lnSpc>
                          <a:spcPts val="1595"/>
                        </a:lnSpc>
                      </a:pPr>
                      <a:r>
                        <a:rPr lang="en-US" sz="1800" b="1" kern="1000" dirty="0">
                          <a:solidFill>
                            <a:schemeClr val="tx1"/>
                          </a:solidFill>
                          <a:effectLst/>
                        </a:rPr>
                        <a:t>0.07239985</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4288471260"/>
                  </a:ext>
                </a:extLst>
              </a:tr>
              <a:tr h="481217">
                <a:tc>
                  <a:txBody>
                    <a:bodyPr/>
                    <a:lstStyle/>
                    <a:p>
                      <a:pPr indent="269875" algn="ctr" fontAlgn="ctr">
                        <a:lnSpc>
                          <a:spcPts val="1595"/>
                        </a:lnSpc>
                      </a:pPr>
                      <a:r>
                        <a:rPr lang="zh-CN" sz="1800" b="1" kern="1000" dirty="0">
                          <a:solidFill>
                            <a:schemeClr val="tx1"/>
                          </a:solidFill>
                          <a:effectLst/>
                        </a:rPr>
                        <a:t>双树</a:t>
                      </a:r>
                      <a:r>
                        <a:rPr lang="en-US" sz="1800" b="1" kern="1000" dirty="0">
                          <a:solidFill>
                            <a:schemeClr val="tx1"/>
                          </a:solidFill>
                          <a:effectLst/>
                        </a:rPr>
                        <a:t>RRT</a:t>
                      </a:r>
                      <a:r>
                        <a:rPr lang="zh-CN" sz="1800" b="1" kern="1000" dirty="0">
                          <a:solidFill>
                            <a:schemeClr val="tx1"/>
                          </a:solidFill>
                          <a:effectLst/>
                        </a:rPr>
                        <a:t>算法</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60000"/>
                        <a:lumOff val="40000"/>
                      </a:schemeClr>
                    </a:solidFill>
                  </a:tcPr>
                </a:tc>
                <a:tc>
                  <a:txBody>
                    <a:bodyPr/>
                    <a:lstStyle/>
                    <a:p>
                      <a:pPr indent="269875" algn="ctr" fontAlgn="ctr">
                        <a:lnSpc>
                          <a:spcPts val="1595"/>
                        </a:lnSpc>
                      </a:pPr>
                      <a:r>
                        <a:rPr lang="en-US" sz="1800" b="1" kern="1000" dirty="0">
                          <a:solidFill>
                            <a:schemeClr val="tx1"/>
                          </a:solidFill>
                          <a:effectLst/>
                        </a:rPr>
                        <a:t>999.2681</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tc>
                  <a:txBody>
                    <a:bodyPr/>
                    <a:lstStyle/>
                    <a:p>
                      <a:pPr indent="269875" algn="ctr" fontAlgn="ctr">
                        <a:lnSpc>
                          <a:spcPts val="1595"/>
                        </a:lnSpc>
                      </a:pPr>
                      <a:r>
                        <a:rPr lang="en-US" sz="1800" b="1" kern="1000" dirty="0">
                          <a:solidFill>
                            <a:schemeClr val="tx1"/>
                          </a:solidFill>
                          <a:effectLst/>
                        </a:rPr>
                        <a:t>0.06955933</a:t>
                      </a:r>
                      <a:endParaRPr lang="zh-CN" sz="3200" b="1" kern="10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5">
                        <a:lumMod val="40000"/>
                        <a:lumOff val="60000"/>
                      </a:schemeClr>
                    </a:solidFill>
                  </a:tcPr>
                </a:tc>
                <a:extLst>
                  <a:ext uri="{0D108BD9-81ED-4DB2-BD59-A6C34878D82A}">
                    <a16:rowId xmlns:a16="http://schemas.microsoft.com/office/drawing/2014/main" val="2570617495"/>
                  </a:ext>
                </a:extLst>
              </a:tr>
            </a:tbl>
          </a:graphicData>
        </a:graphic>
      </p:graphicFrame>
      <p:sp>
        <p:nvSpPr>
          <p:cNvPr id="28" name="文本框 27">
            <a:extLst>
              <a:ext uri="{FF2B5EF4-FFF2-40B4-BE49-F238E27FC236}">
                <a16:creationId xmlns:a16="http://schemas.microsoft.com/office/drawing/2014/main" id="{043E8ECB-30F3-3CC2-AA8B-0ABEB77DDF02}"/>
              </a:ext>
            </a:extLst>
          </p:cNvPr>
          <p:cNvSpPr txBox="1"/>
          <p:nvPr/>
        </p:nvSpPr>
        <p:spPr>
          <a:xfrm>
            <a:off x="1195939" y="4690921"/>
            <a:ext cx="10250905" cy="1938992"/>
          </a:xfrm>
          <a:prstGeom prst="rect">
            <a:avLst/>
          </a:prstGeom>
          <a:noFill/>
        </p:spPr>
        <p:txBody>
          <a:bodyPr wrap="square">
            <a:spAutoFit/>
          </a:bodyPr>
          <a:lstStyle/>
          <a:p>
            <a:pPr algn="just">
              <a:spcBef>
                <a:spcPts val="600"/>
              </a:spcBef>
            </a:pPr>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对比实验中，</a:t>
            </a:r>
            <a:r>
              <a:rPr lang="en-US" altLang="zh-CN" sz="2400" b="1" kern="1000" dirty="0">
                <a:effectLst/>
                <a:latin typeface="微软雅黑" panose="020B0503020204020204" pitchFamily="34" charset="-122"/>
                <a:ea typeface="微软雅黑" panose="020B0503020204020204" pitchFamily="34" charset="-122"/>
              </a:rPr>
              <a:t>A*</a:t>
            </a:r>
            <a:r>
              <a:rPr lang="zh-CN" altLang="zh-CN" sz="2400" b="1" kern="1000" dirty="0">
                <a:effectLst/>
                <a:latin typeface="微软雅黑" panose="020B0503020204020204" pitchFamily="34" charset="-122"/>
                <a:ea typeface="微软雅黑" panose="020B0503020204020204" pitchFamily="34" charset="-122"/>
              </a:rPr>
              <a:t>算法用时较长，但获得的路径最短；人工势场法在地图左下角位置陷入了合力为零的局部极小值，未能成功进行路径规划；</a:t>
            </a:r>
            <a:r>
              <a:rPr lang="en-US" altLang="zh-CN" sz="2400" b="1" kern="1000" dirty="0">
                <a:effectLst/>
                <a:latin typeface="微软雅黑" panose="020B0503020204020204" pitchFamily="34" charset="-122"/>
                <a:ea typeface="微软雅黑" panose="020B0503020204020204" pitchFamily="34" charset="-122"/>
              </a:rPr>
              <a:t>RRT</a:t>
            </a:r>
            <a:r>
              <a:rPr lang="zh-CN" altLang="zh-CN" sz="2400" b="1" kern="1000" dirty="0">
                <a:effectLst/>
                <a:latin typeface="微软雅黑" panose="020B0503020204020204" pitchFamily="34" charset="-122"/>
                <a:ea typeface="微软雅黑" panose="020B0503020204020204" pitchFamily="34" charset="-122"/>
              </a:rPr>
              <a:t>算法和</a:t>
            </a:r>
            <a:r>
              <a:rPr lang="en-US" altLang="zh-CN" sz="2400" b="1" kern="1000" dirty="0">
                <a:effectLst/>
                <a:latin typeface="微软雅黑" panose="020B0503020204020204" pitchFamily="34" charset="-122"/>
                <a:ea typeface="微软雅黑" panose="020B0503020204020204" pitchFamily="34" charset="-122"/>
              </a:rPr>
              <a:t>Bi-Directional RRT</a:t>
            </a:r>
            <a:r>
              <a:rPr lang="zh-CN" altLang="zh-CN" sz="2400" b="1" kern="1000" dirty="0">
                <a:effectLst/>
                <a:latin typeface="微软雅黑" panose="020B0503020204020204" pitchFamily="34" charset="-122"/>
                <a:ea typeface="微软雅黑" panose="020B0503020204020204" pitchFamily="34" charset="-122"/>
              </a:rPr>
              <a:t>算法运行快，但是获得的路径并非最优路径，且每次运行结果都不同。由于地图较为简单，因此两种</a:t>
            </a:r>
            <a:r>
              <a:rPr lang="en-US" altLang="zh-CN" sz="2400" b="1" kern="1000" dirty="0">
                <a:effectLst/>
                <a:latin typeface="微软雅黑" panose="020B0503020204020204" pitchFamily="34" charset="-122"/>
                <a:ea typeface="微软雅黑" panose="020B0503020204020204" pitchFamily="34" charset="-122"/>
              </a:rPr>
              <a:t>RRT</a:t>
            </a:r>
            <a:r>
              <a:rPr lang="zh-CN" altLang="zh-CN" sz="2400" b="1" kern="1000" dirty="0">
                <a:effectLst/>
                <a:latin typeface="微软雅黑" panose="020B0503020204020204" pitchFamily="34" charset="-122"/>
                <a:ea typeface="微软雅黑" panose="020B0503020204020204" pitchFamily="34" charset="-122"/>
              </a:rPr>
              <a:t>算法耗时相近。在复杂地图情况下，</a:t>
            </a:r>
            <a:r>
              <a:rPr lang="en-US" altLang="zh-CN" sz="2400" b="1" kern="1000" dirty="0">
                <a:effectLst/>
                <a:latin typeface="微软雅黑" panose="020B0503020204020204" pitchFamily="34" charset="-122"/>
                <a:ea typeface="微软雅黑" panose="020B0503020204020204" pitchFamily="34" charset="-122"/>
              </a:rPr>
              <a:t>Bi-Directional RRT</a:t>
            </a:r>
            <a:r>
              <a:rPr lang="zh-CN" altLang="zh-CN" sz="2400" b="1" kern="1000" dirty="0">
                <a:effectLst/>
                <a:latin typeface="微软雅黑" panose="020B0503020204020204" pitchFamily="34" charset="-122"/>
                <a:ea typeface="微软雅黑" panose="020B0503020204020204" pitchFamily="34" charset="-122"/>
              </a:rPr>
              <a:t>算法用时接近</a:t>
            </a:r>
            <a:r>
              <a:rPr lang="en-US" altLang="zh-CN" sz="2400" b="1" kern="1000" dirty="0">
                <a:effectLst/>
                <a:latin typeface="微软雅黑" panose="020B0503020204020204" pitchFamily="34" charset="-122"/>
                <a:ea typeface="微软雅黑" panose="020B0503020204020204" pitchFamily="34" charset="-122"/>
              </a:rPr>
              <a:t>RRT</a:t>
            </a:r>
            <a:r>
              <a:rPr lang="zh-CN" altLang="zh-CN" sz="2400" b="1" kern="1000" dirty="0">
                <a:effectLst/>
                <a:latin typeface="微软雅黑" panose="020B0503020204020204" pitchFamily="34" charset="-122"/>
                <a:ea typeface="微软雅黑" panose="020B0503020204020204" pitchFamily="34" charset="-122"/>
              </a:rPr>
              <a:t>算法的一半。</a:t>
            </a:r>
          </a:p>
        </p:txBody>
      </p:sp>
    </p:spTree>
    <p:extLst>
      <p:ext uri="{BB962C8B-B14F-4D97-AF65-F5344CB8AC3E}">
        <p14:creationId xmlns:p14="http://schemas.microsoft.com/office/powerpoint/2010/main" val="3907168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E66FDB-0964-9BBC-9C8C-1D0FF999CC21}"/>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F531672-3769-74A1-6D57-B51A69030CBC}"/>
                  </a:ext>
                </a:extLst>
              </p:cNvPr>
              <p:cNvSpPr txBox="1"/>
              <p:nvPr/>
            </p:nvSpPr>
            <p:spPr>
              <a:xfrm>
                <a:off x="1328287" y="1145406"/>
                <a:ext cx="9952522" cy="5632311"/>
              </a:xfrm>
              <a:prstGeom prst="rect">
                <a:avLst/>
              </a:prstGeom>
              <a:noFill/>
            </p:spPr>
            <p:txBody>
              <a:bodyPr wrap="square">
                <a:spAutoFit/>
              </a:bodyPr>
              <a:lstStyle/>
              <a:p>
                <a:pPr algn="just"/>
                <a:r>
                  <a:rPr lang="en-US" altLang="zh-CN" sz="2400" b="1" kern="1000" spc="30" dirty="0">
                    <a:effectLst/>
                    <a:latin typeface="微软雅黑" panose="020B0503020204020204" pitchFamily="34" charset="-122"/>
                    <a:ea typeface="微软雅黑" panose="020B0503020204020204" pitchFamily="34" charset="-122"/>
                  </a:rPr>
                  <a:t>       </a:t>
                </a:r>
                <a:r>
                  <a:rPr lang="zh-CN" altLang="zh-CN" sz="2400" b="1" kern="1000" spc="30" dirty="0">
                    <a:effectLst/>
                    <a:latin typeface="微软雅黑" panose="020B0503020204020204" pitchFamily="34" charset="-122"/>
                    <a:ea typeface="微软雅黑" panose="020B0503020204020204" pitchFamily="34" charset="-122"/>
                  </a:rPr>
                  <a:t>局部路径规划算法不依赖于全局环境信息，依靠机器人自身携带的传感器对周围环境进行感知，并实时进行路径规划。局部路径规划无法一次生成从起始点到目标点的完整路径，而是通过局部优化组合成全局优化的结果。局部路径规划常用的算法有人工势场法、动态窗口法、神经网络法、强化学习法等，下面详细介绍人工势场法和神经网络法。</a:t>
                </a:r>
                <a:endParaRPr lang="en-US" altLang="zh-CN" sz="2400" b="1" kern="1000" spc="30" dirty="0">
                  <a:effectLst/>
                  <a:latin typeface="微软雅黑" panose="020B0503020204020204" pitchFamily="34" charset="-122"/>
                  <a:ea typeface="微软雅黑" panose="020B0503020204020204" pitchFamily="34" charset="-122"/>
                </a:endParaRPr>
              </a:p>
              <a:p>
                <a:pPr algn="just">
                  <a:lnSpc>
                    <a:spcPct val="200000"/>
                  </a:lnSpc>
                </a:pPr>
                <a:r>
                  <a:rPr lang="en-US" altLang="zh-CN" sz="2400" b="1" kern="1050" dirty="0">
                    <a:effectLst/>
                    <a:latin typeface="Arial" panose="020B0604020202020204" pitchFamily="34" charset="0"/>
                    <a:ea typeface="方正黑体简体"/>
                    <a:cs typeface="Times New Roman" panose="02020603050405020304" pitchFamily="18" charset="0"/>
                  </a:rPr>
                  <a:t>6.3.1  </a:t>
                </a:r>
                <a:r>
                  <a:rPr lang="zh-CN" altLang="zh-CN" sz="2400" b="1" kern="1050" dirty="0">
                    <a:effectLst/>
                    <a:latin typeface="Arial" panose="020B0604020202020204" pitchFamily="34" charset="0"/>
                    <a:ea typeface="方正黑体简体"/>
                    <a:cs typeface="Times New Roman" panose="02020603050405020304" pitchFamily="18" charset="0"/>
                  </a:rPr>
                  <a:t>人工势场法</a:t>
                </a:r>
              </a:p>
              <a:p>
                <a:pPr algn="just"/>
                <a:r>
                  <a:rPr lang="en-US" altLang="zh-CN" sz="2400" kern="1000" dirty="0">
                    <a:effectLst/>
                    <a:latin typeface="Times New Roman" panose="02020603050405020304" pitchFamily="18" charset="0"/>
                    <a:ea typeface="宋体" panose="02010600030101010101" pitchFamily="2" charset="-122"/>
                  </a:rPr>
                  <a:t>        </a:t>
                </a:r>
                <a:r>
                  <a:rPr lang="zh-CN" altLang="zh-CN" sz="2400" b="1" kern="1000" dirty="0">
                    <a:effectLst/>
                    <a:latin typeface="微软雅黑" panose="020B0503020204020204" pitchFamily="34" charset="-122"/>
                    <a:ea typeface="微软雅黑" panose="020B0503020204020204" pitchFamily="34" charset="-122"/>
                  </a:rPr>
                  <a:t>人工势场法将势能引入状态空间，目标点对机器人形成引力，障碍物对机器人形成斥力，通过环境对机器人产生的合力引导机器人从高势能起始点向低势能目标点运动。人工势场法的实质是通过定义机器人运动区域的虚拟势场，将环境中目标的引力场和障碍物的斥力场进行叠加。传统的人工势场定义如下。</a:t>
                </a:r>
              </a:p>
              <a:p>
                <a:pPr algn="just"/>
                <a:r>
                  <a:rPr lang="zh-CN" altLang="zh-CN" sz="2400" b="1" kern="100" dirty="0">
                    <a:effectLst/>
                    <a:latin typeface="微软雅黑" panose="020B0503020204020204" pitchFamily="34" charset="-122"/>
                    <a:ea typeface="微软雅黑" panose="020B0503020204020204" pitchFamily="34" charset="-122"/>
                  </a:rPr>
                  <a:t>假设机器人的当前位置为</a:t>
                </a:r>
                <a14:m>
                  <m:oMath xmlns:m="http://schemas.openxmlformats.org/officeDocument/2006/math">
                    <m:r>
                      <a:rPr lang="en-US" altLang="zh-CN" sz="2400" b="1" i="1" kern="100" smtClean="0">
                        <a:effectLst/>
                        <a:latin typeface="Cambria Math" panose="02040503050406030204" pitchFamily="18" charset="0"/>
                        <a:ea typeface="宋体" panose="02010600030101010101" pitchFamily="2" charset="-122"/>
                      </a:rPr>
                      <m:t>𝑿</m:t>
                    </m:r>
                    <m:r>
                      <a:rPr lang="en-US" altLang="zh-CN" sz="2400" b="1" i="1" kern="100" smtClean="0">
                        <a:effectLst/>
                        <a:latin typeface="Cambria Math" panose="02040503050406030204" pitchFamily="18" charset="0"/>
                        <a:ea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𝒙</m:t>
                    </m:r>
                    <m:r>
                      <a:rPr lang="en-US" altLang="zh-CN" sz="2400" b="1" i="1" kern="100" smtClean="0">
                        <a:effectLst/>
                        <a:latin typeface="Cambria Math" panose="02040503050406030204" pitchFamily="18" charset="0"/>
                        <a:ea typeface="宋体" panose="02010600030101010101" pitchFamily="2" charset="-122"/>
                      </a:rPr>
                      <m:t>,</m:t>
                    </m:r>
                    <m:r>
                      <a:rPr lang="en-US" altLang="zh-CN" sz="2400" b="1" i="1" kern="100" smtClean="0">
                        <a:effectLst/>
                        <a:latin typeface="Cambria Math" panose="02040503050406030204" pitchFamily="18" charset="0"/>
                        <a:ea typeface="宋体" panose="02010600030101010101" pitchFamily="2" charset="-122"/>
                      </a:rPr>
                      <m:t>𝒚</m:t>
                    </m:r>
                    <m:r>
                      <a:rPr lang="en-US" altLang="zh-CN" sz="2400" b="1" i="1" kern="100" smtClean="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，目标位置为</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𝑿</m:t>
                        </m:r>
                      </m:e>
                      <m:sub>
                        <m:r>
                          <a:rPr lang="en-US" altLang="zh-CN" sz="2400" b="1" i="1" kern="100" smtClean="0">
                            <a:effectLst/>
                            <a:latin typeface="Cambria Math" panose="02040503050406030204" pitchFamily="18" charset="0"/>
                            <a:ea typeface="宋体" panose="02010600030101010101" pitchFamily="2" charset="-122"/>
                          </a:rPr>
                          <m:t>𝒕</m:t>
                        </m:r>
                      </m:sub>
                    </m:sSub>
                    <m:r>
                      <a:rPr lang="en-US" altLang="zh-CN" sz="2400" b="1" i="1" kern="100" smtClean="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𝒙</m:t>
                        </m:r>
                      </m:e>
                      <m:sub>
                        <m:r>
                          <a:rPr lang="en-US" altLang="zh-CN" sz="2400" b="1" i="1" kern="100" smtClean="0">
                            <a:effectLst/>
                            <a:latin typeface="Cambria Math" panose="02040503050406030204" pitchFamily="18" charset="0"/>
                            <a:ea typeface="宋体" panose="02010600030101010101" pitchFamily="2" charset="-122"/>
                          </a:rPr>
                          <m:t>𝒕</m:t>
                        </m:r>
                      </m:sub>
                    </m:sSub>
                    <m:r>
                      <a:rPr lang="en-US" altLang="zh-CN" sz="2400" b="1" i="1" kern="100" smtClean="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宋体" panose="02010600030101010101" pitchFamily="2" charset="-122"/>
                          </a:rPr>
                          <m:t>𝒚</m:t>
                        </m:r>
                      </m:e>
                      <m:sub>
                        <m:r>
                          <a:rPr lang="en-US" altLang="zh-CN" sz="2400" b="1" i="1" kern="100" smtClean="0">
                            <a:effectLst/>
                            <a:latin typeface="Cambria Math" panose="02040503050406030204" pitchFamily="18" charset="0"/>
                            <a:ea typeface="宋体" panose="02010600030101010101" pitchFamily="2" charset="-122"/>
                          </a:rPr>
                          <m:t>𝒕</m:t>
                        </m:r>
                      </m:sub>
                    </m:sSub>
                    <m:r>
                      <a:rPr lang="en-US" altLang="zh-CN" sz="2400" b="1" i="1" kern="100" smtClean="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，目标位置与机器人之间的引力势场函数为</a:t>
                </a:r>
              </a:p>
              <a:p>
                <a:pPr algn="just"/>
                <a:endParaRPr lang="zh-CN" altLang="zh-CN" sz="2400" b="1" kern="1000" dirty="0">
                  <a:effectLst/>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3F531672-3769-74A1-6D57-B51A69030CBC}"/>
                  </a:ext>
                </a:extLst>
              </p:cNvPr>
              <p:cNvSpPr txBox="1">
                <a:spLocks noRot="1" noChangeAspect="1" noMove="1" noResize="1" noEditPoints="1" noAdjustHandles="1" noChangeArrowheads="1" noChangeShapeType="1" noTextEdit="1"/>
              </p:cNvSpPr>
              <p:nvPr/>
            </p:nvSpPr>
            <p:spPr>
              <a:xfrm>
                <a:off x="1328287" y="1145406"/>
                <a:ext cx="9952522" cy="5632311"/>
              </a:xfrm>
              <a:prstGeom prst="rect">
                <a:avLst/>
              </a:prstGeom>
              <a:blipFill>
                <a:blip r:embed="rId2"/>
                <a:stretch>
                  <a:fillRect l="-980" t="-866" r="-9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93959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F511C0B9-8C4A-C530-33F4-666491B6ECC1}"/>
              </a:ext>
            </a:extLst>
          </p:cNvPr>
          <p:cNvGraphicFramePr>
            <a:graphicFrameLocks noChangeAspect="1"/>
          </p:cNvGraphicFramePr>
          <p:nvPr>
            <p:extLst>
              <p:ext uri="{D42A27DB-BD31-4B8C-83A1-F6EECF244321}">
                <p14:modId xmlns:p14="http://schemas.microsoft.com/office/powerpoint/2010/main" val="214599220"/>
              </p:ext>
            </p:extLst>
          </p:nvPr>
        </p:nvGraphicFramePr>
        <p:xfrm>
          <a:off x="4224464" y="1058655"/>
          <a:ext cx="2487120" cy="771083"/>
        </p:xfrm>
        <a:graphic>
          <a:graphicData uri="http://schemas.openxmlformats.org/presentationml/2006/ole">
            <mc:AlternateContent xmlns:mc="http://schemas.openxmlformats.org/markup-compatibility/2006">
              <mc:Choice xmlns:v="urn:schemas-microsoft-com:vml" Requires="v">
                <p:oleObj name="Equation" r:id="rId2" imgW="1045042" imgH="324422" progId="Equation.DSMT4">
                  <p:embed/>
                </p:oleObj>
              </mc:Choice>
              <mc:Fallback>
                <p:oleObj name="Equation" r:id="rId2" imgW="1045042" imgH="324422" progId="Equation.DSMT4">
                  <p:embed/>
                  <p:pic>
                    <p:nvPicPr>
                      <p:cNvPr id="0" name=""/>
                      <p:cNvPicPr/>
                      <p:nvPr/>
                    </p:nvPicPr>
                    <p:blipFill>
                      <a:blip r:embed="rId3"/>
                      <a:stretch>
                        <a:fillRect/>
                      </a:stretch>
                    </p:blipFill>
                    <p:spPr>
                      <a:xfrm>
                        <a:off x="4224464" y="1058655"/>
                        <a:ext cx="2487120" cy="771083"/>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42544090-9D94-9111-DD9A-474D11F8068B}"/>
              </a:ext>
            </a:extLst>
          </p:cNvPr>
          <p:cNvSpPr txBox="1"/>
          <p:nvPr/>
        </p:nvSpPr>
        <p:spPr>
          <a:xfrm>
            <a:off x="7431216" y="1290564"/>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(6.10)</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60F76EB-7117-19B2-C632-688F93C40939}"/>
                  </a:ext>
                </a:extLst>
              </p:cNvPr>
              <p:cNvSpPr txBox="1"/>
              <p:nvPr/>
            </p:nvSpPr>
            <p:spPr>
              <a:xfrm>
                <a:off x="1222408" y="1751461"/>
                <a:ext cx="9567512" cy="830997"/>
              </a:xfrm>
              <a:prstGeom prst="rect">
                <a:avLst/>
              </a:prstGeom>
              <a:noFill/>
            </p:spPr>
            <p:txBody>
              <a:bodyPr wrap="square">
                <a:spAutoFit/>
              </a:bodyPr>
              <a:lstStyle/>
              <a:p>
                <a:pPr algn="just"/>
                <a:r>
                  <a:rPr lang="zh-CN" altLang="zh-CN" sz="2400" b="1" kern="1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𝝀</m:t>
                    </m:r>
                  </m:oMath>
                </a14:m>
                <a:r>
                  <a:rPr lang="zh-CN" altLang="zh-CN" sz="2400" b="1" kern="100" dirty="0">
                    <a:effectLst/>
                    <a:latin typeface="微软雅黑" panose="020B0503020204020204" pitchFamily="34" charset="-122"/>
                    <a:ea typeface="微软雅黑" panose="020B0503020204020204" pitchFamily="34" charset="-122"/>
                  </a:rPr>
                  <a:t>为引力势场常量，</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𝑿</m:t>
                    </m:r>
                    <m:r>
                      <a:rPr lang="en-US" altLang="zh-CN" sz="2400" b="1" i="1" kern="100">
                        <a:effectLst/>
                        <a:latin typeface="Cambria Math" panose="02040503050406030204" pitchFamily="18" charset="0"/>
                        <a:ea typeface="宋体" panose="02010600030101010101" pitchFamily="2"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𝑿</m:t>
                        </m:r>
                      </m:e>
                      <m:sub>
                        <m:r>
                          <a:rPr lang="en-US" altLang="zh-CN" sz="2400" b="1" i="1" kern="100">
                            <a:effectLst/>
                            <a:latin typeface="Cambria Math" panose="02040503050406030204" pitchFamily="18" charset="0"/>
                            <a:ea typeface="宋体" panose="02010600030101010101" pitchFamily="2" charset="-122"/>
                          </a:rPr>
                          <m:t>𝒕</m:t>
                        </m:r>
                      </m:sub>
                    </m:sSub>
                    <m:r>
                      <a:rPr lang="en-US" altLang="zh-CN" sz="2400" b="1" i="1" kern="100">
                        <a:effectLst/>
                        <a:latin typeface="Cambria Math" panose="02040503050406030204" pitchFamily="18" charset="0"/>
                        <a:ea typeface="宋体" panose="02010600030101010101" pitchFamily="2" charset="-122"/>
                      </a:rPr>
                      <m:t>)</m:t>
                    </m:r>
                  </m:oMath>
                </a14:m>
                <a:r>
                  <a:rPr lang="zh-CN" altLang="zh-CN" sz="2400" b="1" kern="100" dirty="0">
                    <a:effectLst/>
                    <a:latin typeface="微软雅黑" panose="020B0503020204020204" pitchFamily="34" charset="-122"/>
                    <a:ea typeface="微软雅黑" panose="020B0503020204020204" pitchFamily="34" charset="-122"/>
                  </a:rPr>
                  <a:t>为机器人与目标的距离。 </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障碍物的斥力势场函数定义为</a:t>
                </a:r>
                <a:r>
                  <a:rPr lang="en-US" altLang="zh-CN" sz="2400" b="1" kern="1000" dirty="0">
                    <a:effectLst/>
                    <a:latin typeface="微软雅黑" panose="020B0503020204020204" pitchFamily="34" charset="-122"/>
                    <a:ea typeface="微软雅黑" panose="020B0503020204020204" pitchFamily="34" charset="-122"/>
                  </a:rPr>
                  <a:t> </a:t>
                </a:r>
                <a:endParaRPr lang="zh-CN" altLang="zh-CN" sz="2400" b="1" kern="1000" dirty="0">
                  <a:effectLst/>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860F76EB-7117-19B2-C632-688F93C40939}"/>
                  </a:ext>
                </a:extLst>
              </p:cNvPr>
              <p:cNvSpPr txBox="1">
                <a:spLocks noRot="1" noChangeAspect="1" noMove="1" noResize="1" noEditPoints="1" noAdjustHandles="1" noChangeArrowheads="1" noChangeShapeType="1" noTextEdit="1"/>
              </p:cNvSpPr>
              <p:nvPr/>
            </p:nvSpPr>
            <p:spPr>
              <a:xfrm>
                <a:off x="1222408" y="1751461"/>
                <a:ext cx="9567512" cy="830997"/>
              </a:xfrm>
              <a:prstGeom prst="rect">
                <a:avLst/>
              </a:prstGeom>
              <a:blipFill>
                <a:blip r:embed="rId4"/>
                <a:stretch>
                  <a:fillRect l="-1020" t="-5839" b="-15328"/>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17528704-9DE0-4762-A906-A7EFD3220103}"/>
              </a:ext>
            </a:extLst>
          </p:cNvPr>
          <p:cNvGraphicFramePr>
            <a:graphicFrameLocks noChangeAspect="1"/>
          </p:cNvGraphicFramePr>
          <p:nvPr>
            <p:extLst>
              <p:ext uri="{D42A27DB-BD31-4B8C-83A1-F6EECF244321}">
                <p14:modId xmlns:p14="http://schemas.microsoft.com/office/powerpoint/2010/main" val="941298025"/>
              </p:ext>
            </p:extLst>
          </p:nvPr>
        </p:nvGraphicFramePr>
        <p:xfrm>
          <a:off x="3416983" y="2582458"/>
          <a:ext cx="3294601" cy="1390241"/>
        </p:xfrm>
        <a:graphic>
          <a:graphicData uri="http://schemas.openxmlformats.org/presentationml/2006/ole">
            <mc:AlternateContent xmlns:mc="http://schemas.openxmlformats.org/markup-compatibility/2006">
              <mc:Choice xmlns:v="urn:schemas-microsoft-com:vml" Requires="v">
                <p:oleObj name="Equation" r:id="rId5" imgW="1719829" imgH="724902" progId="Equation.DSMT4">
                  <p:embed/>
                </p:oleObj>
              </mc:Choice>
              <mc:Fallback>
                <p:oleObj name="Equation" r:id="rId5" imgW="1719829" imgH="724902" progId="Equation.DSMT4">
                  <p:embed/>
                  <p:pic>
                    <p:nvPicPr>
                      <p:cNvPr id="0" name=""/>
                      <p:cNvPicPr/>
                      <p:nvPr/>
                    </p:nvPicPr>
                    <p:blipFill>
                      <a:blip r:embed="rId6"/>
                      <a:stretch>
                        <a:fillRect/>
                      </a:stretch>
                    </p:blipFill>
                    <p:spPr>
                      <a:xfrm>
                        <a:off x="3416983" y="2582458"/>
                        <a:ext cx="3294601" cy="1390241"/>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63819550-F718-DD25-5CFB-48B59D297105}"/>
              </a:ext>
            </a:extLst>
          </p:cNvPr>
          <p:cNvSpPr txBox="1"/>
          <p:nvPr/>
        </p:nvSpPr>
        <p:spPr>
          <a:xfrm>
            <a:off x="7431216" y="3303612"/>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(6.11)</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2521042-5DC7-00F2-C1AC-4A7ACD36C041}"/>
                  </a:ext>
                </a:extLst>
              </p:cNvPr>
              <p:cNvSpPr txBox="1"/>
              <p:nvPr/>
            </p:nvSpPr>
            <p:spPr>
              <a:xfrm>
                <a:off x="1222408" y="4082426"/>
                <a:ext cx="9827394" cy="1569660"/>
              </a:xfrm>
              <a:prstGeom prst="rect">
                <a:avLst/>
              </a:prstGeom>
              <a:noFill/>
            </p:spPr>
            <p:txBody>
              <a:bodyPr wrap="square">
                <a:spAutoFit/>
              </a:bodyPr>
              <a:lstStyle/>
              <a:p>
                <a:pPr algn="just"/>
                <a:r>
                  <a:rPr lang="zh-CN" altLang="zh-CN" sz="2400" b="1" kern="1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𝝁</m:t>
                    </m:r>
                  </m:oMath>
                </a14:m>
                <a:r>
                  <a:rPr lang="zh-CN" altLang="zh-CN" sz="2400" b="1" kern="100" dirty="0">
                    <a:effectLst/>
                    <a:latin typeface="微软雅黑" panose="020B0503020204020204" pitchFamily="34" charset="-122"/>
                    <a:ea typeface="微软雅黑" panose="020B0503020204020204" pitchFamily="34" charset="-122"/>
                  </a:rPr>
                  <a:t>为斥力势场常量，</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𝝆</m:t>
                        </m:r>
                      </m:e>
                      <m:sub>
                        <m:r>
                          <a:rPr lang="en-US" altLang="zh-CN" sz="2400" b="1" i="1" kern="100">
                            <a:effectLst/>
                            <a:latin typeface="Cambria Math" panose="02040503050406030204" pitchFamily="18" charset="0"/>
                            <a:ea typeface="宋体" panose="02010600030101010101" pitchFamily="2" charset="-122"/>
                          </a:rPr>
                          <m:t>𝟎</m:t>
                        </m:r>
                      </m:sub>
                    </m:sSub>
                  </m:oMath>
                </a14:m>
                <a:r>
                  <a:rPr lang="zh-CN" altLang="zh-CN" sz="2400" b="1" kern="100" dirty="0">
                    <a:effectLst/>
                    <a:latin typeface="微软雅黑" panose="020B0503020204020204" pitchFamily="34" charset="-122"/>
                    <a:ea typeface="微软雅黑" panose="020B0503020204020204" pitchFamily="34" charset="-122"/>
                  </a:rPr>
                  <a:t>为斥力势场的最大影响距离，</a:t>
                </a:r>
                <a14:m>
                  <m:oMath xmlns:m="http://schemas.openxmlformats.org/officeDocument/2006/math">
                    <m:r>
                      <a:rPr lang="zh-CN" altLang="zh-CN" sz="2400" b="1" i="1" kern="100">
                        <a:latin typeface="Cambria Math" panose="02040503050406030204" pitchFamily="18" charset="0"/>
                      </a:rPr>
                      <m:t>𝝆</m:t>
                    </m:r>
                  </m:oMath>
                </a14:m>
                <a:r>
                  <a:rPr lang="zh-CN" altLang="zh-CN" sz="2400" b="1" kern="100" dirty="0">
                    <a:effectLst/>
                    <a:latin typeface="微软雅黑" panose="020B0503020204020204" pitchFamily="34" charset="-122"/>
                    <a:ea typeface="微软雅黑" panose="020B0503020204020204" pitchFamily="34" charset="-122"/>
                  </a:rPr>
                  <a:t>为障碍物与机器人之间的直线距离，当</a:t>
                </a:r>
                <a14:m>
                  <m:oMath xmlns:m="http://schemas.openxmlformats.org/officeDocument/2006/math">
                    <m:r>
                      <a:rPr lang="zh-CN" altLang="zh-CN" sz="2400" b="1" i="1" kern="100" smtClean="0">
                        <a:effectLst/>
                        <a:latin typeface="Cambria Math" panose="02040503050406030204" pitchFamily="18" charset="0"/>
                      </a:rPr>
                      <m:t>𝝆</m:t>
                    </m:r>
                  </m:oMath>
                </a14:m>
                <a:r>
                  <a:rPr lang="zh-CN" altLang="zh-CN" sz="2400" b="1" kern="100" dirty="0">
                    <a:effectLst/>
                    <a:latin typeface="微软雅黑" panose="020B0503020204020204" pitchFamily="34" charset="-122"/>
                    <a:ea typeface="微软雅黑" panose="020B0503020204020204" pitchFamily="34" charset="-122"/>
                  </a:rPr>
                  <a:t>大于</a:t>
                </a:r>
                <a14:m>
                  <m:oMath xmlns:m="http://schemas.openxmlformats.org/officeDocument/2006/math">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𝝆</m:t>
                        </m:r>
                      </m:e>
                      <m:sub>
                        <m:r>
                          <a:rPr lang="en-US" altLang="zh-CN" sz="2400" b="1" i="1" kern="100">
                            <a:effectLst/>
                            <a:latin typeface="Cambria Math" panose="02040503050406030204" pitchFamily="18" charset="0"/>
                            <a:ea typeface="宋体" panose="02010600030101010101" pitchFamily="2" charset="-122"/>
                          </a:rPr>
                          <m:t>𝟎</m:t>
                        </m:r>
                      </m:sub>
                    </m:sSub>
                  </m:oMath>
                </a14:m>
                <a:r>
                  <a:rPr lang="zh-CN" altLang="zh-CN" sz="2400" b="1" kern="100" dirty="0">
                    <a:effectLst/>
                    <a:latin typeface="微软雅黑" panose="020B0503020204020204" pitchFamily="34" charset="-122"/>
                    <a:ea typeface="微软雅黑" panose="020B0503020204020204" pitchFamily="34" charset="-122"/>
                  </a:rPr>
                  <a:t>时，该障碍物对机器人所产生的斥力为</a:t>
                </a:r>
                <a:r>
                  <a:rPr lang="en-US" altLang="zh-CN" sz="2400" b="1" kern="100" dirty="0">
                    <a:effectLst/>
                    <a:latin typeface="微软雅黑" panose="020B0503020204020204" pitchFamily="34" charset="-122"/>
                    <a:ea typeface="微软雅黑" panose="020B0503020204020204" pitchFamily="34" charset="-122"/>
                  </a:rPr>
                  <a:t> 0</a:t>
                </a:r>
                <a:r>
                  <a:rPr lang="zh-CN" altLang="zh-CN" sz="2400" b="1" kern="100" dirty="0">
                    <a:effectLst/>
                    <a:latin typeface="微软雅黑" panose="020B0503020204020204" pitchFamily="34" charset="-122"/>
                    <a:ea typeface="微软雅黑" panose="020B0503020204020204" pitchFamily="34" charset="-122"/>
                  </a:rPr>
                  <a:t>。</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合势场函数为</a:t>
                </a:r>
              </a:p>
            </p:txBody>
          </p:sp>
        </mc:Choice>
        <mc:Fallback xmlns="">
          <p:sp>
            <p:nvSpPr>
              <p:cNvPr id="18" name="文本框 17">
                <a:extLst>
                  <a:ext uri="{FF2B5EF4-FFF2-40B4-BE49-F238E27FC236}">
                    <a16:creationId xmlns:a16="http://schemas.microsoft.com/office/drawing/2014/main" id="{D2521042-5DC7-00F2-C1AC-4A7ACD36C041}"/>
                  </a:ext>
                </a:extLst>
              </p:cNvPr>
              <p:cNvSpPr txBox="1">
                <a:spLocks noRot="1" noChangeAspect="1" noMove="1" noResize="1" noEditPoints="1" noAdjustHandles="1" noChangeArrowheads="1" noChangeShapeType="1" noTextEdit="1"/>
              </p:cNvSpPr>
              <p:nvPr/>
            </p:nvSpPr>
            <p:spPr>
              <a:xfrm>
                <a:off x="1222408" y="4082426"/>
                <a:ext cx="9827394" cy="1569660"/>
              </a:xfrm>
              <a:prstGeom prst="rect">
                <a:avLst/>
              </a:prstGeom>
              <a:blipFill>
                <a:blip r:embed="rId7"/>
                <a:stretch>
                  <a:fillRect l="-993" t="-3113" r="-931" b="-8171"/>
                </a:stretch>
              </a:blipFill>
            </p:spPr>
            <p:txBody>
              <a:bodyPr/>
              <a:lstStyle/>
              <a:p>
                <a:r>
                  <a:rPr lang="zh-CN" altLang="en-US">
                    <a:noFill/>
                  </a:rPr>
                  <a:t> </a:t>
                </a:r>
              </a:p>
            </p:txBody>
          </p:sp>
        </mc:Fallback>
      </mc:AlternateContent>
      <p:graphicFrame>
        <p:nvGraphicFramePr>
          <p:cNvPr id="19" name="对象 18">
            <a:extLst>
              <a:ext uri="{FF2B5EF4-FFF2-40B4-BE49-F238E27FC236}">
                <a16:creationId xmlns:a16="http://schemas.microsoft.com/office/drawing/2014/main" id="{887474D2-BD19-897C-1C01-28F397209228}"/>
              </a:ext>
            </a:extLst>
          </p:cNvPr>
          <p:cNvGraphicFramePr>
            <a:graphicFrameLocks noChangeAspect="1"/>
          </p:cNvGraphicFramePr>
          <p:nvPr>
            <p:extLst>
              <p:ext uri="{D42A27DB-BD31-4B8C-83A1-F6EECF244321}">
                <p14:modId xmlns:p14="http://schemas.microsoft.com/office/powerpoint/2010/main" val="1720584698"/>
              </p:ext>
            </p:extLst>
          </p:nvPr>
        </p:nvGraphicFramePr>
        <p:xfrm>
          <a:off x="4828516" y="5457304"/>
          <a:ext cx="2010940" cy="953121"/>
        </p:xfrm>
        <a:graphic>
          <a:graphicData uri="http://schemas.openxmlformats.org/presentationml/2006/ole">
            <mc:AlternateContent xmlns:mc="http://schemas.openxmlformats.org/markup-compatibility/2006">
              <mc:Choice xmlns:v="urn:schemas-microsoft-com:vml" Requires="v">
                <p:oleObj name="Equation" r:id="rId8" imgW="883796" imgH="419585" progId="Equation.DSMT4">
                  <p:embed/>
                </p:oleObj>
              </mc:Choice>
              <mc:Fallback>
                <p:oleObj name="Equation" r:id="rId8" imgW="883796" imgH="419585" progId="Equation.DSMT4">
                  <p:embed/>
                  <p:pic>
                    <p:nvPicPr>
                      <p:cNvPr id="0" name=""/>
                      <p:cNvPicPr/>
                      <p:nvPr/>
                    </p:nvPicPr>
                    <p:blipFill>
                      <a:blip r:embed="rId9"/>
                      <a:stretch>
                        <a:fillRect/>
                      </a:stretch>
                    </p:blipFill>
                    <p:spPr>
                      <a:xfrm>
                        <a:off x="4828516" y="5457304"/>
                        <a:ext cx="2010940" cy="953121"/>
                      </a:xfrm>
                      <a:prstGeom prst="rect">
                        <a:avLst/>
                      </a:prstGeom>
                    </p:spPr>
                  </p:pic>
                </p:oleObj>
              </mc:Fallback>
            </mc:AlternateContent>
          </a:graphicData>
        </a:graphic>
      </p:graphicFrame>
      <p:sp>
        <p:nvSpPr>
          <p:cNvPr id="20" name="文本框 19">
            <a:extLst>
              <a:ext uri="{FF2B5EF4-FFF2-40B4-BE49-F238E27FC236}">
                <a16:creationId xmlns:a16="http://schemas.microsoft.com/office/drawing/2014/main" id="{0C877EFF-884A-FFF5-6DA9-A3AE75B39311}"/>
              </a:ext>
            </a:extLst>
          </p:cNvPr>
          <p:cNvSpPr txBox="1"/>
          <p:nvPr/>
        </p:nvSpPr>
        <p:spPr>
          <a:xfrm>
            <a:off x="7431216" y="5863564"/>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(6.12)</a:t>
            </a:r>
            <a:endParaRPr lang="zh-CN" altLang="zh-CN" sz="2000" b="1" kern="1050" dirty="0">
              <a:effectLst/>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008CB825-EDCA-7AB4-E770-2316C1410C8A}"/>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Tree>
    <p:extLst>
      <p:ext uri="{BB962C8B-B14F-4D97-AF65-F5344CB8AC3E}">
        <p14:creationId xmlns:p14="http://schemas.microsoft.com/office/powerpoint/2010/main" val="288424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2DFC193-BF30-72C6-B47A-58CE6A73AB84}"/>
                  </a:ext>
                </a:extLst>
              </p:cNvPr>
              <p:cNvSpPr txBox="1"/>
              <p:nvPr/>
            </p:nvSpPr>
            <p:spPr>
              <a:xfrm>
                <a:off x="1110113" y="1116531"/>
                <a:ext cx="9971773" cy="1200329"/>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𝒏</m:t>
                    </m:r>
                  </m:oMath>
                </a14:m>
                <a:r>
                  <a:rPr lang="zh-CN" altLang="zh-CN" sz="2400" b="1" kern="1000" dirty="0">
                    <a:effectLst/>
                    <a:latin typeface="微软雅黑" panose="020B0503020204020204" pitchFamily="34" charset="-122"/>
                    <a:ea typeface="微软雅黑" panose="020B0503020204020204" pitchFamily="34" charset="-122"/>
                  </a:rPr>
                  <a:t>为障碍物的个数。</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势能函数负梯度就是机器人所受的作用力，引力函数是引力势场的负梯度，依据式</a:t>
                </a:r>
                <a:r>
                  <a:rPr lang="en-US" altLang="zh-CN" sz="2400" b="1" kern="1000" dirty="0">
                    <a:effectLst/>
                    <a:latin typeface="微软雅黑" panose="020B0503020204020204" pitchFamily="34" charset="-122"/>
                    <a:ea typeface="微软雅黑" panose="020B0503020204020204" pitchFamily="34" charset="-122"/>
                  </a:rPr>
                  <a:t>(6.10)</a:t>
                </a:r>
                <a:r>
                  <a:rPr lang="zh-CN" altLang="zh-CN" sz="2400" b="1" kern="1000" dirty="0">
                    <a:effectLst/>
                    <a:latin typeface="微软雅黑" panose="020B0503020204020204" pitchFamily="34" charset="-122"/>
                    <a:ea typeface="微软雅黑" panose="020B0503020204020204" pitchFamily="34" charset="-122"/>
                  </a:rPr>
                  <a:t>可得引力函数为</a:t>
                </a:r>
              </a:p>
            </p:txBody>
          </p:sp>
        </mc:Choice>
        <mc:Fallback xmlns="">
          <p:sp>
            <p:nvSpPr>
              <p:cNvPr id="12" name="文本框 11">
                <a:extLst>
                  <a:ext uri="{FF2B5EF4-FFF2-40B4-BE49-F238E27FC236}">
                    <a16:creationId xmlns:a16="http://schemas.microsoft.com/office/drawing/2014/main" id="{E2DFC193-BF30-72C6-B47A-58CE6A73AB84}"/>
                  </a:ext>
                </a:extLst>
              </p:cNvPr>
              <p:cNvSpPr txBox="1">
                <a:spLocks noRot="1" noChangeAspect="1" noMove="1" noResize="1" noEditPoints="1" noAdjustHandles="1" noChangeArrowheads="1" noChangeShapeType="1" noTextEdit="1"/>
              </p:cNvSpPr>
              <p:nvPr/>
            </p:nvSpPr>
            <p:spPr>
              <a:xfrm>
                <a:off x="1110113" y="1116531"/>
                <a:ext cx="9971773" cy="1200329"/>
              </a:xfrm>
              <a:prstGeom prst="rect">
                <a:avLst/>
              </a:prstGeom>
              <a:blipFill>
                <a:blip r:embed="rId2"/>
                <a:stretch>
                  <a:fillRect l="-917" t="-4061" r="-978" b="-10660"/>
                </a:stretch>
              </a:blipFill>
            </p:spPr>
            <p:txBody>
              <a:bodyPr/>
              <a:lstStyle/>
              <a:p>
                <a:r>
                  <a:rPr lang="zh-CN" altLang="en-US">
                    <a:noFill/>
                  </a:rPr>
                  <a:t> </a:t>
                </a:r>
              </a:p>
            </p:txBody>
          </p:sp>
        </mc:Fallback>
      </mc:AlternateContent>
      <p:graphicFrame>
        <p:nvGraphicFramePr>
          <p:cNvPr id="13" name="对象 12">
            <a:extLst>
              <a:ext uri="{FF2B5EF4-FFF2-40B4-BE49-F238E27FC236}">
                <a16:creationId xmlns:a16="http://schemas.microsoft.com/office/drawing/2014/main" id="{4D06D4E3-BD54-395B-C5C7-20A5256916E1}"/>
              </a:ext>
            </a:extLst>
          </p:cNvPr>
          <p:cNvGraphicFramePr>
            <a:graphicFrameLocks noChangeAspect="1"/>
          </p:cNvGraphicFramePr>
          <p:nvPr>
            <p:extLst>
              <p:ext uri="{D42A27DB-BD31-4B8C-83A1-F6EECF244321}">
                <p14:modId xmlns:p14="http://schemas.microsoft.com/office/powerpoint/2010/main" val="3952079071"/>
              </p:ext>
            </p:extLst>
          </p:nvPr>
        </p:nvGraphicFramePr>
        <p:xfrm>
          <a:off x="2884703" y="2403084"/>
          <a:ext cx="4682844" cy="399214"/>
        </p:xfrm>
        <a:graphic>
          <a:graphicData uri="http://schemas.openxmlformats.org/presentationml/2006/ole">
            <mc:AlternateContent xmlns:mc="http://schemas.openxmlformats.org/markup-compatibility/2006">
              <mc:Choice xmlns:v="urn:schemas-microsoft-com:vml" Requires="v">
                <p:oleObj name="Equation" r:id="rId3" imgW="2346854" imgH="200420" progId="Equation.DSMT4">
                  <p:embed/>
                </p:oleObj>
              </mc:Choice>
              <mc:Fallback>
                <p:oleObj name="Equation" r:id="rId3" imgW="2346854" imgH="200420" progId="Equation.DSMT4">
                  <p:embed/>
                  <p:pic>
                    <p:nvPicPr>
                      <p:cNvPr id="0" name=""/>
                      <p:cNvPicPr/>
                      <p:nvPr/>
                    </p:nvPicPr>
                    <p:blipFill>
                      <a:blip r:embed="rId4"/>
                      <a:stretch>
                        <a:fillRect/>
                      </a:stretch>
                    </p:blipFill>
                    <p:spPr>
                      <a:xfrm>
                        <a:off x="2884703" y="2403084"/>
                        <a:ext cx="4682844" cy="399214"/>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F4F7BF26-8942-AC1D-F573-FF7A31AABC28}"/>
              </a:ext>
            </a:extLst>
          </p:cNvPr>
          <p:cNvSpPr txBox="1"/>
          <p:nvPr/>
        </p:nvSpPr>
        <p:spPr>
          <a:xfrm>
            <a:off x="8546143" y="2495034"/>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(6.13)</a:t>
            </a:r>
            <a:endParaRPr lang="zh-CN" altLang="zh-CN" sz="2000" b="1" kern="1050" dirty="0">
              <a:effectLst/>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FD1CB08D-D078-8D51-6986-FF0CB7F9D0AE}"/>
              </a:ext>
            </a:extLst>
          </p:cNvPr>
          <p:cNvSpPr txBox="1"/>
          <p:nvPr/>
        </p:nvSpPr>
        <p:spPr>
          <a:xfrm>
            <a:off x="1110113" y="3177649"/>
            <a:ext cx="9971773" cy="830997"/>
          </a:xfrm>
          <a:prstGeom prst="rect">
            <a:avLst/>
          </a:prstGeom>
          <a:noFill/>
        </p:spPr>
        <p:txBody>
          <a:bodyPr wrap="square">
            <a:spAutoFit/>
          </a:bodyPr>
          <a:lstStyle/>
          <a:p>
            <a:pPr algn="just"/>
            <a:r>
              <a:rPr lang="zh-CN" altLang="zh-CN" sz="2400" b="1" kern="1000" dirty="0">
                <a:latin typeface="微软雅黑" panose="020B0503020204020204" pitchFamily="34" charset="-122"/>
                <a:ea typeface="微软雅黑" panose="020B0503020204020204" pitchFamily="34" charset="-122"/>
              </a:rPr>
              <a:t>同样，斥力函数是斥力势场函数的负梯度，依据式</a:t>
            </a:r>
            <a:r>
              <a:rPr lang="en-US" altLang="zh-CN" sz="2400" b="1" kern="1000" dirty="0">
                <a:latin typeface="微软雅黑" panose="020B0503020204020204" pitchFamily="34" charset="-122"/>
                <a:ea typeface="微软雅黑" panose="020B0503020204020204" pitchFamily="34" charset="-122"/>
              </a:rPr>
              <a:t>(6.11)</a:t>
            </a:r>
            <a:r>
              <a:rPr lang="zh-CN" altLang="zh-CN" sz="2400" b="1" kern="1000" dirty="0">
                <a:latin typeface="微软雅黑" panose="020B0503020204020204" pitchFamily="34" charset="-122"/>
                <a:ea typeface="微软雅黑" panose="020B0503020204020204" pitchFamily="34" charset="-122"/>
              </a:rPr>
              <a:t>可得，障碍物斥力函数为</a:t>
            </a:r>
          </a:p>
        </p:txBody>
      </p:sp>
      <p:graphicFrame>
        <p:nvGraphicFramePr>
          <p:cNvPr id="19" name="对象 18">
            <a:extLst>
              <a:ext uri="{FF2B5EF4-FFF2-40B4-BE49-F238E27FC236}">
                <a16:creationId xmlns:a16="http://schemas.microsoft.com/office/drawing/2014/main" id="{E0EED6AA-7334-23D9-80C1-4A6F2CED9283}"/>
              </a:ext>
            </a:extLst>
          </p:cNvPr>
          <p:cNvGraphicFramePr>
            <a:graphicFrameLocks noChangeAspect="1"/>
          </p:cNvGraphicFramePr>
          <p:nvPr>
            <p:extLst>
              <p:ext uri="{D42A27DB-BD31-4B8C-83A1-F6EECF244321}">
                <p14:modId xmlns:p14="http://schemas.microsoft.com/office/powerpoint/2010/main" val="1253836727"/>
              </p:ext>
            </p:extLst>
          </p:nvPr>
        </p:nvGraphicFramePr>
        <p:xfrm>
          <a:off x="2884702" y="4239618"/>
          <a:ext cx="4902427" cy="1304534"/>
        </p:xfrm>
        <a:graphic>
          <a:graphicData uri="http://schemas.openxmlformats.org/presentationml/2006/ole">
            <mc:AlternateContent xmlns:mc="http://schemas.openxmlformats.org/markup-compatibility/2006">
              <mc:Choice xmlns:v="urn:schemas-microsoft-com:vml" Requires="v">
                <p:oleObj name="Equation" r:id="rId5" imgW="2612963" imgH="696064" progId="Equation.DSMT4">
                  <p:embed/>
                </p:oleObj>
              </mc:Choice>
              <mc:Fallback>
                <p:oleObj name="Equation" r:id="rId5" imgW="2612963" imgH="696064" progId="Equation.DSMT4">
                  <p:embed/>
                  <p:pic>
                    <p:nvPicPr>
                      <p:cNvPr id="0" name=""/>
                      <p:cNvPicPr/>
                      <p:nvPr/>
                    </p:nvPicPr>
                    <p:blipFill>
                      <a:blip r:embed="rId6"/>
                      <a:stretch>
                        <a:fillRect/>
                      </a:stretch>
                    </p:blipFill>
                    <p:spPr>
                      <a:xfrm>
                        <a:off x="2884702" y="4239618"/>
                        <a:ext cx="4902427" cy="1304534"/>
                      </a:xfrm>
                      <a:prstGeom prst="rect">
                        <a:avLst/>
                      </a:prstGeom>
                    </p:spPr>
                  </p:pic>
                </p:oleObj>
              </mc:Fallback>
            </mc:AlternateContent>
          </a:graphicData>
        </a:graphic>
      </p:graphicFrame>
      <p:sp>
        <p:nvSpPr>
          <p:cNvPr id="22" name="文本框 21">
            <a:extLst>
              <a:ext uri="{FF2B5EF4-FFF2-40B4-BE49-F238E27FC236}">
                <a16:creationId xmlns:a16="http://schemas.microsoft.com/office/drawing/2014/main" id="{C3A0239C-D9EC-E71F-834A-CC44C47A173B}"/>
              </a:ext>
            </a:extLst>
          </p:cNvPr>
          <p:cNvSpPr txBox="1"/>
          <p:nvPr/>
        </p:nvSpPr>
        <p:spPr>
          <a:xfrm>
            <a:off x="1110113" y="5659621"/>
            <a:ext cx="6126480" cy="46166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机器人所受到的合力为</a:t>
            </a:r>
          </a:p>
        </p:txBody>
      </p:sp>
      <p:graphicFrame>
        <p:nvGraphicFramePr>
          <p:cNvPr id="23" name="对象 22">
            <a:extLst>
              <a:ext uri="{FF2B5EF4-FFF2-40B4-BE49-F238E27FC236}">
                <a16:creationId xmlns:a16="http://schemas.microsoft.com/office/drawing/2014/main" id="{95A92A68-377C-0C9B-F781-AADD92D19808}"/>
              </a:ext>
            </a:extLst>
          </p:cNvPr>
          <p:cNvGraphicFramePr>
            <a:graphicFrameLocks noChangeAspect="1"/>
          </p:cNvGraphicFramePr>
          <p:nvPr>
            <p:extLst>
              <p:ext uri="{D42A27DB-BD31-4B8C-83A1-F6EECF244321}">
                <p14:modId xmlns:p14="http://schemas.microsoft.com/office/powerpoint/2010/main" val="2853215146"/>
              </p:ext>
            </p:extLst>
          </p:nvPr>
        </p:nvGraphicFramePr>
        <p:xfrm>
          <a:off x="5335915" y="5741469"/>
          <a:ext cx="1766485" cy="855692"/>
        </p:xfrm>
        <a:graphic>
          <a:graphicData uri="http://schemas.openxmlformats.org/presentationml/2006/ole">
            <mc:AlternateContent xmlns:mc="http://schemas.openxmlformats.org/markup-compatibility/2006">
              <mc:Choice xmlns:v="urn:schemas-microsoft-com:vml" Requires="v">
                <p:oleObj name="Equation" r:id="rId7" imgW="864763" imgH="419585" progId="Equation.DSMT4">
                  <p:embed/>
                </p:oleObj>
              </mc:Choice>
              <mc:Fallback>
                <p:oleObj name="Equation" r:id="rId7" imgW="864763" imgH="419585" progId="Equation.DSMT4">
                  <p:embed/>
                  <p:pic>
                    <p:nvPicPr>
                      <p:cNvPr id="0" name=""/>
                      <p:cNvPicPr/>
                      <p:nvPr/>
                    </p:nvPicPr>
                    <p:blipFill>
                      <a:blip r:embed="rId8"/>
                      <a:stretch>
                        <a:fillRect/>
                      </a:stretch>
                    </p:blipFill>
                    <p:spPr>
                      <a:xfrm>
                        <a:off x="5335915" y="5741469"/>
                        <a:ext cx="1766485" cy="855692"/>
                      </a:xfrm>
                      <a:prstGeom prst="rect">
                        <a:avLst/>
                      </a:prstGeom>
                    </p:spPr>
                  </p:pic>
                </p:oleObj>
              </mc:Fallback>
            </mc:AlternateContent>
          </a:graphicData>
        </a:graphic>
      </p:graphicFrame>
      <p:sp>
        <p:nvSpPr>
          <p:cNvPr id="25" name="文本框 24">
            <a:extLst>
              <a:ext uri="{FF2B5EF4-FFF2-40B4-BE49-F238E27FC236}">
                <a16:creationId xmlns:a16="http://schemas.microsoft.com/office/drawing/2014/main" id="{57502023-F6A7-3DFF-A06B-497D137E43FB}"/>
              </a:ext>
            </a:extLst>
          </p:cNvPr>
          <p:cNvSpPr txBox="1"/>
          <p:nvPr/>
        </p:nvSpPr>
        <p:spPr>
          <a:xfrm>
            <a:off x="8546143" y="4857501"/>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(6.14)</a:t>
            </a:r>
            <a:endParaRPr lang="zh-CN" altLang="zh-CN" sz="2000" b="1" kern="1050" dirty="0">
              <a:effectLst/>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79D8E63F-ACEF-F034-9B54-C83FD35C8062}"/>
              </a:ext>
            </a:extLst>
          </p:cNvPr>
          <p:cNvSpPr txBox="1"/>
          <p:nvPr/>
        </p:nvSpPr>
        <p:spPr>
          <a:xfrm>
            <a:off x="8546143" y="6015683"/>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(6.15)</a:t>
            </a:r>
            <a:endParaRPr lang="zh-CN" altLang="zh-CN" sz="2000" b="1" kern="1050" dirty="0">
              <a:effectLst/>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667ABEEE-F208-F475-0123-26A50DE3475E}"/>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Tree>
    <p:extLst>
      <p:ext uri="{BB962C8B-B14F-4D97-AF65-F5344CB8AC3E}">
        <p14:creationId xmlns:p14="http://schemas.microsoft.com/office/powerpoint/2010/main" val="2401953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9" name="文本框 8">
            <a:extLst>
              <a:ext uri="{FF2B5EF4-FFF2-40B4-BE49-F238E27FC236}">
                <a16:creationId xmlns:a16="http://schemas.microsoft.com/office/drawing/2014/main" id="{D939E4D6-4477-C106-E3E1-2FBFB2291A00}"/>
              </a:ext>
            </a:extLst>
          </p:cNvPr>
          <p:cNvSpPr txBox="1"/>
          <p:nvPr/>
        </p:nvSpPr>
        <p:spPr>
          <a:xfrm>
            <a:off x="952900" y="1212270"/>
            <a:ext cx="6716027" cy="46166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人工势场法的基本原理如图</a:t>
            </a:r>
            <a:r>
              <a:rPr lang="en-US" altLang="zh-CN" sz="2400" b="1" kern="1000" dirty="0">
                <a:effectLst/>
                <a:latin typeface="微软雅黑" panose="020B0503020204020204" pitchFamily="34" charset="-122"/>
                <a:ea typeface="微软雅黑" panose="020B0503020204020204" pitchFamily="34" charset="-122"/>
              </a:rPr>
              <a:t>6.19</a:t>
            </a:r>
            <a:r>
              <a:rPr lang="zh-CN" altLang="zh-CN" sz="2400" b="1" kern="1000" dirty="0">
                <a:effectLst/>
                <a:latin typeface="微软雅黑" panose="020B0503020204020204" pitchFamily="34" charset="-122"/>
                <a:ea typeface="微软雅黑" panose="020B0503020204020204" pitchFamily="34" charset="-122"/>
              </a:rPr>
              <a:t>所示。</a:t>
            </a:r>
          </a:p>
        </p:txBody>
      </p:sp>
      <p:pic>
        <p:nvPicPr>
          <p:cNvPr id="33793" name="Picture 1">
            <a:extLst>
              <a:ext uri="{FF2B5EF4-FFF2-40B4-BE49-F238E27FC236}">
                <a16:creationId xmlns:a16="http://schemas.microsoft.com/office/drawing/2014/main" id="{7D135F7F-D61C-CAD5-DADE-5768E1FC3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8925" y="1765753"/>
            <a:ext cx="3587263" cy="2247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a:extLst>
              <a:ext uri="{FF2B5EF4-FFF2-40B4-BE49-F238E27FC236}">
                <a16:creationId xmlns:a16="http://schemas.microsoft.com/office/drawing/2014/main" id="{F6F5FD0A-70CE-BA62-2D35-678B16FCE7FD}"/>
              </a:ext>
            </a:extLst>
          </p:cNvPr>
          <p:cNvSpPr txBox="1"/>
          <p:nvPr/>
        </p:nvSpPr>
        <p:spPr>
          <a:xfrm>
            <a:off x="2757115" y="4110311"/>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6.19 </a:t>
            </a:r>
            <a:r>
              <a:rPr lang="zh-CN" altLang="zh-CN" sz="1800" kern="1000" dirty="0">
                <a:effectLst/>
                <a:latin typeface="Times New Roman" panose="02020603050405020304" pitchFamily="18" charset="0"/>
                <a:ea typeface="宋体" panose="02010600030101010101" pitchFamily="2" charset="-122"/>
              </a:rPr>
              <a:t>传统的人工势场法</a:t>
            </a:r>
          </a:p>
        </p:txBody>
      </p:sp>
      <p:sp>
        <p:nvSpPr>
          <p:cNvPr id="16" name="文本框 15">
            <a:extLst>
              <a:ext uri="{FF2B5EF4-FFF2-40B4-BE49-F238E27FC236}">
                <a16:creationId xmlns:a16="http://schemas.microsoft.com/office/drawing/2014/main" id="{F5BD2A54-1F49-CCE6-F845-E1B31F332DF6}"/>
              </a:ext>
            </a:extLst>
          </p:cNvPr>
          <p:cNvSpPr txBox="1"/>
          <p:nvPr/>
        </p:nvSpPr>
        <p:spPr>
          <a:xfrm>
            <a:off x="952900" y="4294977"/>
            <a:ext cx="10250906" cy="2308324"/>
          </a:xfrm>
          <a:prstGeom prst="rect">
            <a:avLst/>
          </a:prstGeom>
          <a:noFill/>
        </p:spPr>
        <p:txBody>
          <a:bodyPr wrap="square">
            <a:spAutoFit/>
          </a:bodyPr>
          <a:lstStyle/>
          <a:p>
            <a:pPr algn="just">
              <a:lnSpc>
                <a:spcPct val="200000"/>
              </a:lnSpc>
            </a:pPr>
            <a:r>
              <a:rPr lang="en-US"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6.3.2  </a:t>
            </a:r>
            <a:r>
              <a:rPr lang="zh-CN" altLang="zh-CN" sz="2400" b="1" kern="1050" dirty="0">
                <a:effectLst/>
                <a:latin typeface="微软雅黑" panose="020B0503020204020204" pitchFamily="34" charset="-122"/>
                <a:ea typeface="微软雅黑" panose="020B0503020204020204" pitchFamily="34" charset="-122"/>
                <a:cs typeface="Times New Roman" panose="02020603050405020304" pitchFamily="18" charset="0"/>
              </a:rPr>
              <a:t>神经网络法</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近年来，随着神经网络、遗传算法等智能方法的广泛应用，路径规划方法也有了长足的进展，许多研究者把目光放在了基于智能方法的路径规划研究上。基于神经网络的路径规划，一般利用神经网络结构定义其能量函数，根据路径点位于障碍物内外的不同位置选取不同的动态运动方程。</a:t>
            </a:r>
          </a:p>
        </p:txBody>
      </p:sp>
    </p:spTree>
    <p:extLst>
      <p:ext uri="{BB962C8B-B14F-4D97-AF65-F5344CB8AC3E}">
        <p14:creationId xmlns:p14="http://schemas.microsoft.com/office/powerpoint/2010/main" val="2037121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4" name="文本框 3">
            <a:extLst>
              <a:ext uri="{FF2B5EF4-FFF2-40B4-BE49-F238E27FC236}">
                <a16:creationId xmlns:a16="http://schemas.microsoft.com/office/drawing/2014/main" id="{4AD74267-4640-72D8-64AF-6AD88F67C63C}"/>
              </a:ext>
            </a:extLst>
          </p:cNvPr>
          <p:cNvSpPr txBox="1"/>
          <p:nvPr/>
        </p:nvSpPr>
        <p:spPr>
          <a:xfrm>
            <a:off x="1049153" y="1376414"/>
            <a:ext cx="10039150" cy="1200329"/>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rPr>
              <a:t>下面给出一种基于径向基函数神经网络的动态实时的路径规划算法，主要包括路径规划原理、环境映射方法、路径规划算法（基于递归神经网络的实时路径规划方法）和计算机仿真与分析。</a:t>
            </a:r>
            <a:endParaRPr lang="zh-CN" altLang="en-US" sz="2400" b="1"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F0D6409-FF35-E02D-E6B3-356D464280B1}"/>
              </a:ext>
            </a:extLst>
          </p:cNvPr>
          <p:cNvSpPr txBox="1"/>
          <p:nvPr/>
        </p:nvSpPr>
        <p:spPr>
          <a:xfrm>
            <a:off x="1049153" y="2692248"/>
            <a:ext cx="10039150" cy="1646605"/>
          </a:xfrm>
          <a:prstGeom prst="rect">
            <a:avLst/>
          </a:prstGeom>
          <a:noFill/>
        </p:spPr>
        <p:txBody>
          <a:bodyPr wrap="square">
            <a:spAutoFit/>
          </a:bodyPr>
          <a:lstStyle/>
          <a:p>
            <a:pPr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．路径规划原理</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在基于神经网络的路径规划方法中，机器人的运动空间是由神经网络组成的拓扑状态空间，所有神经元的活性值被初始化为</a:t>
            </a:r>
            <a:r>
              <a:rPr lang="en-US" altLang="zh-CN" sz="2400" b="1" kern="1000" dirty="0">
                <a:effectLst/>
                <a:latin typeface="微软雅黑" panose="020B0503020204020204" pitchFamily="34" charset="-122"/>
                <a:ea typeface="微软雅黑" panose="020B0503020204020204" pitchFamily="34" charset="-122"/>
              </a:rPr>
              <a:t>0</a:t>
            </a:r>
            <a:r>
              <a:rPr lang="zh-CN" altLang="zh-CN" sz="2400" b="1" kern="1000" dirty="0">
                <a:effectLst/>
                <a:latin typeface="微软雅黑" panose="020B0503020204020204" pitchFamily="34" charset="-122"/>
                <a:ea typeface="微软雅黑" panose="020B0503020204020204" pitchFamily="34" charset="-122"/>
              </a:rPr>
              <a:t>，其中每个神经元活性值的变化由下式表示：</a:t>
            </a:r>
          </a:p>
        </p:txBody>
      </p:sp>
      <p:graphicFrame>
        <p:nvGraphicFramePr>
          <p:cNvPr id="8" name="对象 7">
            <a:extLst>
              <a:ext uri="{FF2B5EF4-FFF2-40B4-BE49-F238E27FC236}">
                <a16:creationId xmlns:a16="http://schemas.microsoft.com/office/drawing/2014/main" id="{3F3772ED-0774-3DE8-C40A-4B4AEF604189}"/>
              </a:ext>
            </a:extLst>
          </p:cNvPr>
          <p:cNvGraphicFramePr>
            <a:graphicFrameLocks noChangeAspect="1"/>
          </p:cNvGraphicFramePr>
          <p:nvPr>
            <p:extLst>
              <p:ext uri="{D42A27DB-BD31-4B8C-83A1-F6EECF244321}">
                <p14:modId xmlns:p14="http://schemas.microsoft.com/office/powerpoint/2010/main" val="3516203963"/>
              </p:ext>
            </p:extLst>
          </p:nvPr>
        </p:nvGraphicFramePr>
        <p:xfrm>
          <a:off x="3340144" y="4316554"/>
          <a:ext cx="5457167" cy="818149"/>
        </p:xfrm>
        <a:graphic>
          <a:graphicData uri="http://schemas.openxmlformats.org/presentationml/2006/ole">
            <mc:AlternateContent xmlns:mc="http://schemas.openxmlformats.org/markup-compatibility/2006">
              <mc:Choice xmlns:v="urn:schemas-microsoft-com:vml" Requires="v">
                <p:oleObj name="Equation" r:id="rId2" imgW="3050013" imgH="457795" progId="Equation.DSMT4">
                  <p:embed/>
                </p:oleObj>
              </mc:Choice>
              <mc:Fallback>
                <p:oleObj name="Equation" r:id="rId2" imgW="3050013" imgH="457795" progId="Equation.DSMT4">
                  <p:embed/>
                  <p:pic>
                    <p:nvPicPr>
                      <p:cNvPr id="0" name=""/>
                      <p:cNvPicPr/>
                      <p:nvPr/>
                    </p:nvPicPr>
                    <p:blipFill>
                      <a:blip r:embed="rId3"/>
                      <a:stretch>
                        <a:fillRect/>
                      </a:stretch>
                    </p:blipFill>
                    <p:spPr>
                      <a:xfrm>
                        <a:off x="3340144" y="4316554"/>
                        <a:ext cx="5457167" cy="818149"/>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592D84F4-31C8-81A9-939B-ED576E25392B}"/>
              </a:ext>
            </a:extLst>
          </p:cNvPr>
          <p:cNvSpPr txBox="1"/>
          <p:nvPr/>
        </p:nvSpPr>
        <p:spPr>
          <a:xfrm>
            <a:off x="9283039" y="4614988"/>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(6.16)</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7764B4A-D7A6-791C-B142-4CC27988BBC9}"/>
                  </a:ext>
                </a:extLst>
              </p:cNvPr>
              <p:cNvSpPr txBox="1"/>
              <p:nvPr/>
            </p:nvSpPr>
            <p:spPr>
              <a:xfrm>
                <a:off x="1049151" y="5053264"/>
                <a:ext cx="10039149" cy="1569660"/>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式中，变量</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个神经元的活性值；</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𝑨</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为正常数，代表衰减率；</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𝑩</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为神经元活性值的上界；</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𝑫</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为神经元活性值的下界；</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个神经元的外部输入，如果</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处为目标点，则</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sub>
                    </m:sSub>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𝑬</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，如果</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处为障碍物，则</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sub>
                    </m:sSub>
                  </m:oMath>
                </a14:m>
                <a:r>
                  <a:rPr lang="en-US"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𝑬</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，否则</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2400" b="1" kern="1000" dirty="0">
                    <a:effectLst/>
                    <a:latin typeface="微软雅黑" panose="020B0503020204020204" pitchFamily="34" charset="-122"/>
                    <a:ea typeface="微软雅黑" panose="020B0503020204020204" pitchFamily="34" charset="-122"/>
                  </a:rPr>
                  <a:t>0</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𝑬</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是一个远远大于</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𝑩</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的常数；</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12" name="文本框 11">
                <a:extLst>
                  <a:ext uri="{FF2B5EF4-FFF2-40B4-BE49-F238E27FC236}">
                    <a16:creationId xmlns:a16="http://schemas.microsoft.com/office/drawing/2014/main" id="{D7764B4A-D7A6-791C-B142-4CC27988BBC9}"/>
                  </a:ext>
                </a:extLst>
              </p:cNvPr>
              <p:cNvSpPr txBox="1">
                <a:spLocks noRot="1" noChangeAspect="1" noMove="1" noResize="1" noEditPoints="1" noAdjustHandles="1" noChangeArrowheads="1" noChangeShapeType="1" noTextEdit="1"/>
              </p:cNvSpPr>
              <p:nvPr/>
            </p:nvSpPr>
            <p:spPr>
              <a:xfrm>
                <a:off x="1049151" y="5053264"/>
                <a:ext cx="10039149" cy="1569660"/>
              </a:xfrm>
              <a:prstGeom prst="rect">
                <a:avLst/>
              </a:prstGeom>
              <a:blipFill>
                <a:blip r:embed="rId4"/>
                <a:stretch>
                  <a:fillRect l="-911" t="-3113" b="-81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784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graphicFrame>
        <p:nvGraphicFramePr>
          <p:cNvPr id="3" name="对象 2">
            <a:extLst>
              <a:ext uri="{FF2B5EF4-FFF2-40B4-BE49-F238E27FC236}">
                <a16:creationId xmlns:a16="http://schemas.microsoft.com/office/drawing/2014/main" id="{4AC4FAB5-A399-1406-8049-8361D2EDE91A}"/>
              </a:ext>
            </a:extLst>
          </p:cNvPr>
          <p:cNvGraphicFramePr>
            <a:graphicFrameLocks noChangeAspect="1"/>
          </p:cNvGraphicFramePr>
          <p:nvPr>
            <p:extLst>
              <p:ext uri="{D42A27DB-BD31-4B8C-83A1-F6EECF244321}">
                <p14:modId xmlns:p14="http://schemas.microsoft.com/office/powerpoint/2010/main" val="967714273"/>
              </p:ext>
            </p:extLst>
          </p:nvPr>
        </p:nvGraphicFramePr>
        <p:xfrm>
          <a:off x="930442" y="1142182"/>
          <a:ext cx="1937885" cy="777314"/>
        </p:xfrm>
        <a:graphic>
          <a:graphicData uri="http://schemas.openxmlformats.org/presentationml/2006/ole">
            <mc:AlternateContent xmlns:mc="http://schemas.openxmlformats.org/markup-compatibility/2006">
              <mc:Choice xmlns:v="urn:schemas-microsoft-com:vml" Requires="v">
                <p:oleObj name="Equation" r:id="rId2" imgW="1140209" imgH="457795" progId="Equation.DSMT4">
                  <p:embed/>
                </p:oleObj>
              </mc:Choice>
              <mc:Fallback>
                <p:oleObj name="Equation" r:id="rId2" imgW="1140209" imgH="457795" progId="Equation.DSMT4">
                  <p:embed/>
                  <p:pic>
                    <p:nvPicPr>
                      <p:cNvPr id="0" name=""/>
                      <p:cNvPicPr/>
                      <p:nvPr/>
                    </p:nvPicPr>
                    <p:blipFill>
                      <a:blip r:embed="rId3"/>
                      <a:stretch>
                        <a:fillRect/>
                      </a:stretch>
                    </p:blipFill>
                    <p:spPr>
                      <a:xfrm>
                        <a:off x="930442" y="1142182"/>
                        <a:ext cx="1937885" cy="77731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F4A35E9-3286-0286-CE1E-DA6D9C716CF8}"/>
                  </a:ext>
                </a:extLst>
              </p:cNvPr>
              <p:cNvSpPr txBox="1"/>
              <p:nvPr/>
            </p:nvSpPr>
            <p:spPr>
              <a:xfrm>
                <a:off x="2772076" y="1306749"/>
                <a:ext cx="8489481" cy="461665"/>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sub>
                    </m:sSub>
                    <m:sSup>
                      <m:sSupPr>
                        <m:ctrlPr>
                          <a:rPr lang="zh-CN" altLang="zh-CN" sz="2400" b="1" i="1">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b="1" i="1" kern="1000">
                            <a:effectLst/>
                            <a:latin typeface="Cambria Math" panose="02040503050406030204" pitchFamily="18" charset="0"/>
                            <a:ea typeface="宋体" panose="02010600030101010101" pitchFamily="2" charset="-122"/>
                          </a:rPr>
                          <m:t>−</m:t>
                        </m:r>
                      </m:sup>
                    </m:sSup>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分别表示兴奋输入和抑制输入，</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𝒂</m:t>
                    </m:r>
                    <m:sSup>
                      <m:sSupPr>
                        <m:ctrlPr>
                          <a:rPr lang="zh-CN" altLang="zh-CN" sz="2400" b="1" i="1">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2400" b="1" i="1">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𝒎𝒂𝒙</m:t>
                        </m:r>
                      </m:fName>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fun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𝒂</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8F4A35E9-3286-0286-CE1E-DA6D9C716CF8}"/>
                  </a:ext>
                </a:extLst>
              </p:cNvPr>
              <p:cNvSpPr txBox="1">
                <a:spLocks noRot="1" noChangeAspect="1" noMove="1" noResize="1" noEditPoints="1" noAdjustHandles="1" noChangeArrowheads="1" noChangeShapeType="1" noTextEdit="1"/>
              </p:cNvSpPr>
              <p:nvPr/>
            </p:nvSpPr>
            <p:spPr>
              <a:xfrm>
                <a:off x="2772076" y="1306749"/>
                <a:ext cx="8489481" cy="461665"/>
              </a:xfrm>
              <a:prstGeom prst="rect">
                <a:avLst/>
              </a:prstGeom>
              <a:blipFill>
                <a:blip r:embed="rId4"/>
                <a:stretch>
                  <a:fillRect l="-1149"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124A246-9A52-3917-24AF-B9FC7146CCF7}"/>
                  </a:ext>
                </a:extLst>
              </p:cNvPr>
              <p:cNvSpPr txBox="1"/>
              <p:nvPr/>
            </p:nvSpPr>
            <p:spPr>
              <a:xfrm>
                <a:off x="930442" y="1853230"/>
                <a:ext cx="8733322" cy="461665"/>
              </a:xfrm>
              <a:prstGeom prst="rect">
                <a:avLst/>
              </a:prstGeom>
              <a:noFill/>
            </p:spPr>
            <p:txBody>
              <a:bodyPr wrap="square" rtlCol="0">
                <a:spAutoFit/>
              </a:bodyPr>
              <a:lstStyle/>
              <a:p>
                <a14:m>
                  <m:oMath xmlns:m="http://schemas.openxmlformats.org/officeDocument/2006/math">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𝒂</m:t>
                    </m:r>
                    <m:sSup>
                      <m:sSupPr>
                        <m:ctrlPr>
                          <a:rPr lang="zh-CN" altLang="zh-CN" sz="2400" b="1" i="1">
                            <a:latin typeface="Cambria Math" panose="02040503050406030204" pitchFamily="18" charset="0"/>
                            <a:ea typeface="Cambria Math" panose="02040503050406030204" pitchFamily="18" charset="0"/>
                          </a:rPr>
                        </m:ctrlPr>
                      </m:sSupPr>
                      <m:e>
                        <m:r>
                          <a:rPr lang="en-US" altLang="zh-CN" sz="2400" b="1" i="1">
                            <a:latin typeface="Cambria Math" panose="02040503050406030204" pitchFamily="18" charset="0"/>
                            <a:ea typeface="Cambria Math" panose="02040503050406030204" pitchFamily="18" charset="0"/>
                          </a:rPr>
                          <m:t>]</m:t>
                        </m:r>
                      </m:e>
                      <m:sup>
                        <m:r>
                          <a:rPr lang="en-US" altLang="zh-CN" sz="2400" b="1" i="1">
                            <a:latin typeface="Cambria Math" panose="02040503050406030204" pitchFamily="18" charset="0"/>
                            <a:ea typeface="Cambria Math" panose="02040503050406030204" pitchFamily="18" charset="0"/>
                          </a:rPr>
                          <m:t>−</m:t>
                        </m:r>
                      </m:sup>
                    </m:sSup>
                    <m:r>
                      <a:rPr lang="en-US" altLang="zh-CN" sz="2400" b="1" i="1">
                        <a:latin typeface="Cambria Math" panose="02040503050406030204" pitchFamily="18" charset="0"/>
                        <a:ea typeface="Cambria Math" panose="02040503050406030204" pitchFamily="18" charset="0"/>
                      </a:rPr>
                      <m:t>=</m:t>
                    </m:r>
                    <m:func>
                      <m:funcPr>
                        <m:ctrlPr>
                          <a:rPr lang="zh-CN" altLang="zh-CN" sz="2400" b="1" i="1">
                            <a:latin typeface="Cambria Math" panose="02040503050406030204" pitchFamily="18" charset="0"/>
                            <a:ea typeface="Cambria Math" panose="02040503050406030204" pitchFamily="18" charset="0"/>
                          </a:rPr>
                        </m:ctrlPr>
                      </m:funcPr>
                      <m:fName>
                        <m:r>
                          <a:rPr lang="en-US" altLang="zh-CN" sz="2400" b="1" i="1">
                            <a:latin typeface="Cambria Math" panose="02040503050406030204" pitchFamily="18" charset="0"/>
                            <a:ea typeface="Cambria Math" panose="02040503050406030204" pitchFamily="18" charset="0"/>
                          </a:rPr>
                          <m:t>𝒎𝒊𝒏</m:t>
                        </m:r>
                      </m:fName>
                      <m:e>
                        <m:r>
                          <a:rPr lang="en-US" altLang="zh-CN" sz="2400" b="1" i="1">
                            <a:latin typeface="Cambria Math" panose="02040503050406030204" pitchFamily="18" charset="0"/>
                            <a:ea typeface="Cambria Math" panose="02040503050406030204" pitchFamily="18" charset="0"/>
                          </a:rPr>
                          <m:t>{</m:t>
                        </m:r>
                      </m:e>
                    </m:func>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𝒂</m:t>
                    </m:r>
                    <m:r>
                      <a:rPr lang="en-US" altLang="zh-CN" sz="2400" b="1" i="1">
                        <a:latin typeface="Cambria Math" panose="02040503050406030204" pitchFamily="18" charset="0"/>
                        <a:ea typeface="Cambria Math" panose="02040503050406030204" pitchFamily="18" charset="0"/>
                      </a:rPr>
                      <m:t>,</m:t>
                    </m:r>
                  </m:oMath>
                </a14:m>
                <a:r>
                  <a:rPr lang="en-US" altLang="zh-CN" sz="2400" b="1" i="1"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a:latin typeface="Cambria Math" panose="02040503050406030204" pitchFamily="18" charset="0"/>
                        <a:ea typeface="Cambria Math" panose="02040503050406030204" pitchFamily="18" charset="0"/>
                      </a:rPr>
                      <m:t>𝟎</m:t>
                    </m:r>
                    <m:r>
                      <a:rPr lang="en-US" altLang="zh-CN" sz="2400" b="1" i="1">
                        <a:latin typeface="Cambria Math" panose="02040503050406030204" pitchFamily="18" charset="0"/>
                        <a:ea typeface="Cambria Math" panose="02040503050406030204" pitchFamily="18" charset="0"/>
                      </a:rPr>
                      <m:t>}</m:t>
                    </m:r>
                  </m:oMath>
                </a14:m>
                <a:r>
                  <a:rPr lang="zh-CN" altLang="zh-CN" sz="2400" b="1" i="1" dirty="0">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a:latin typeface="Cambria Math" panose="02040503050406030204" pitchFamily="18" charset="0"/>
                        <a:ea typeface="Cambria Math" panose="02040503050406030204" pitchFamily="18" charset="0"/>
                      </a:rPr>
                      <m:t>𝒌</m:t>
                    </m:r>
                  </m:oMath>
                </a14:m>
                <a:r>
                  <a:rPr lang="zh-CN" altLang="zh-CN" sz="2400" b="1" i="1" dirty="0">
                    <a:latin typeface="微软雅黑" panose="020B0503020204020204" pitchFamily="34" charset="-122"/>
                    <a:ea typeface="微软雅黑" panose="020B0503020204020204" pitchFamily="34" charset="-122"/>
                  </a:rPr>
                  <a:t>代表邻近神经元的个数。</a:t>
                </a:r>
                <a:endParaRPr lang="zh-CN" altLang="en-US" sz="2400" b="1" i="1"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D124A246-9A52-3917-24AF-B9FC7146CCF7}"/>
                  </a:ext>
                </a:extLst>
              </p:cNvPr>
              <p:cNvSpPr txBox="1">
                <a:spLocks noRot="1" noChangeAspect="1" noMove="1" noResize="1" noEditPoints="1" noAdjustHandles="1" noChangeArrowheads="1" noChangeShapeType="1" noTextEdit="1"/>
              </p:cNvSpPr>
              <p:nvPr/>
            </p:nvSpPr>
            <p:spPr>
              <a:xfrm>
                <a:off x="930442" y="1853230"/>
                <a:ext cx="8733322" cy="461665"/>
              </a:xfrm>
              <a:prstGeom prst="rect">
                <a:avLst/>
              </a:prstGeom>
              <a:blipFill>
                <a:blip r:embed="rId5"/>
                <a:stretch>
                  <a:fillRect l="-628"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E32C642-3101-03FA-E37C-5709142637F0}"/>
                  </a:ext>
                </a:extLst>
              </p:cNvPr>
              <p:cNvSpPr txBox="1"/>
              <p:nvPr/>
            </p:nvSpPr>
            <p:spPr>
              <a:xfrm>
                <a:off x="930442" y="2314895"/>
                <a:ext cx="9965356" cy="496674"/>
              </a:xfrm>
              <a:prstGeom prst="rect">
                <a:avLst/>
              </a:prstGeom>
              <a:noFill/>
            </p:spPr>
            <p:txBody>
              <a:bodyPr wrap="square">
                <a:spAutoFit/>
              </a:bodyPr>
              <a:lstStyle/>
              <a:p>
                <a:pPr indent="612000" algn="just"/>
                <a:r>
                  <a:rPr lang="zh-CN" altLang="zh-CN" sz="2400" b="1" kern="1000" dirty="0">
                    <a:solidFill>
                      <a:schemeClr val="tx1"/>
                    </a:solidFill>
                    <a:effectLst/>
                    <a:latin typeface="微软雅黑" panose="020B0503020204020204" pitchFamily="34" charset="-122"/>
                    <a:ea typeface="微软雅黑" panose="020B0503020204020204" pitchFamily="34" charset="-122"/>
                  </a:rPr>
                  <a:t>神经网络中第</a:t>
                </a:r>
                <a14:m>
                  <m:oMath xmlns:m="http://schemas.openxmlformats.org/officeDocument/2006/math">
                    <m:r>
                      <a:rPr lang="en-US" altLang="zh-CN" sz="2400" b="1" i="1" kern="1000">
                        <a:solidFill>
                          <a:schemeClr val="tx1"/>
                        </a:solidFill>
                        <a:effectLst/>
                        <a:latin typeface="Cambria Math" panose="02040503050406030204" pitchFamily="18" charset="0"/>
                        <a:ea typeface="宋体" panose="02010600030101010101" pitchFamily="2" charset="-122"/>
                      </a:rPr>
                      <m:t>𝒊</m:t>
                    </m:r>
                  </m:oMath>
                </a14:m>
                <a:r>
                  <a:rPr lang="zh-CN" altLang="zh-CN" sz="2400" b="1" kern="1000" dirty="0">
                    <a:solidFill>
                      <a:schemeClr val="tx1"/>
                    </a:solidFill>
                    <a:effectLst/>
                    <a:latin typeface="微软雅黑" panose="020B0503020204020204" pitchFamily="34" charset="-122"/>
                    <a:ea typeface="微软雅黑" panose="020B0503020204020204" pitchFamily="34" charset="-122"/>
                  </a:rPr>
                  <a:t>个神经元与第</a:t>
                </a:r>
                <a14:m>
                  <m:oMath xmlns:m="http://schemas.openxmlformats.org/officeDocument/2006/math">
                    <m:r>
                      <a:rPr lang="en-US" altLang="zh-CN" sz="2400" b="1" i="1" kern="1000">
                        <a:solidFill>
                          <a:schemeClr val="tx1"/>
                        </a:solidFill>
                        <a:effectLst/>
                        <a:latin typeface="Cambria Math" panose="02040503050406030204" pitchFamily="18" charset="0"/>
                        <a:ea typeface="宋体" panose="02010600030101010101" pitchFamily="2" charset="-122"/>
                      </a:rPr>
                      <m:t>𝒋</m:t>
                    </m:r>
                  </m:oMath>
                </a14:m>
                <a:r>
                  <a:rPr lang="zh-CN" altLang="zh-CN" sz="2400" b="1" kern="1000" dirty="0">
                    <a:solidFill>
                      <a:schemeClr val="tx1"/>
                    </a:solidFill>
                    <a:effectLst/>
                    <a:latin typeface="微软雅黑" panose="020B0503020204020204" pitchFamily="34" charset="-122"/>
                    <a:ea typeface="微软雅黑" panose="020B0503020204020204" pitchFamily="34" charset="-122"/>
                  </a:rPr>
                  <a:t>个神经元之间的连接权值</a:t>
                </a:r>
                <a14:m>
                  <m:oMath xmlns:m="http://schemas.openxmlformats.org/officeDocument/2006/math">
                    <m:sSub>
                      <m:sSubPr>
                        <m:ctrlPr>
                          <a:rPr lang="zh-CN" altLang="zh-CN" sz="2400" b="1" i="1" kern="1000">
                            <a:solidFill>
                              <a:schemeClr val="tx1"/>
                            </a:solidFill>
                            <a:effectLst/>
                            <a:latin typeface="Cambria Math" panose="02040503050406030204" pitchFamily="18" charset="0"/>
                            <a:ea typeface="Cambria Math" panose="02040503050406030204" pitchFamily="18" charset="0"/>
                          </a:rPr>
                        </m:ctrlPr>
                      </m:sSubPr>
                      <m:e>
                        <m:r>
                          <a:rPr lang="en-US" altLang="zh-CN" sz="2400" b="1" i="1" kern="1000">
                            <a:solidFill>
                              <a:schemeClr val="tx1"/>
                            </a:solidFill>
                            <a:effectLst/>
                            <a:latin typeface="Cambria Math" panose="02040503050406030204" pitchFamily="18" charset="0"/>
                            <a:ea typeface="宋体" panose="02010600030101010101" pitchFamily="2" charset="-122"/>
                          </a:rPr>
                          <m:t>𝒘</m:t>
                        </m:r>
                      </m:e>
                      <m:sub>
                        <m:r>
                          <a:rPr lang="en-US" altLang="zh-CN" sz="2400" b="1" i="1" kern="1000">
                            <a:solidFill>
                              <a:schemeClr val="tx1"/>
                            </a:solidFill>
                            <a:effectLst/>
                            <a:latin typeface="Cambria Math" panose="02040503050406030204" pitchFamily="18" charset="0"/>
                            <a:ea typeface="宋体" panose="02010600030101010101" pitchFamily="2" charset="-122"/>
                          </a:rPr>
                          <m:t>𝒊𝒋</m:t>
                        </m:r>
                      </m:sub>
                    </m:sSub>
                  </m:oMath>
                </a14:m>
                <a:r>
                  <a:rPr lang="zh-CN" altLang="zh-CN" sz="2400" b="1" kern="1000" dirty="0">
                    <a:solidFill>
                      <a:schemeClr val="tx1"/>
                    </a:solidFill>
                    <a:effectLst/>
                    <a:latin typeface="微软雅黑" panose="020B0503020204020204" pitchFamily="34" charset="-122"/>
                    <a:ea typeface="微软雅黑" panose="020B0503020204020204" pitchFamily="34" charset="-122"/>
                  </a:rPr>
                  <a:t>表示为</a:t>
                </a:r>
              </a:p>
            </p:txBody>
          </p:sp>
        </mc:Choice>
        <mc:Fallback xmlns="">
          <p:sp>
            <p:nvSpPr>
              <p:cNvPr id="19" name="文本框 18">
                <a:extLst>
                  <a:ext uri="{FF2B5EF4-FFF2-40B4-BE49-F238E27FC236}">
                    <a16:creationId xmlns:a16="http://schemas.microsoft.com/office/drawing/2014/main" id="{4E32C642-3101-03FA-E37C-5709142637F0}"/>
                  </a:ext>
                </a:extLst>
              </p:cNvPr>
              <p:cNvSpPr txBox="1">
                <a:spLocks noRot="1" noChangeAspect="1" noMove="1" noResize="1" noEditPoints="1" noAdjustHandles="1" noChangeArrowheads="1" noChangeShapeType="1" noTextEdit="1"/>
              </p:cNvSpPr>
              <p:nvPr/>
            </p:nvSpPr>
            <p:spPr>
              <a:xfrm>
                <a:off x="930442" y="2314895"/>
                <a:ext cx="9965356" cy="496674"/>
              </a:xfrm>
              <a:prstGeom prst="rect">
                <a:avLst/>
              </a:prstGeom>
              <a:blipFill>
                <a:blip r:embed="rId6"/>
                <a:stretch>
                  <a:fillRect t="-9877" b="-20988"/>
                </a:stretch>
              </a:blipFill>
            </p:spPr>
            <p:txBody>
              <a:bodyPr/>
              <a:lstStyle/>
              <a:p>
                <a:r>
                  <a:rPr lang="zh-CN" altLang="en-US">
                    <a:noFill/>
                  </a:rPr>
                  <a:t> </a:t>
                </a:r>
              </a:p>
            </p:txBody>
          </p:sp>
        </mc:Fallback>
      </mc:AlternateContent>
      <p:graphicFrame>
        <p:nvGraphicFramePr>
          <p:cNvPr id="20" name="对象 19">
            <a:extLst>
              <a:ext uri="{FF2B5EF4-FFF2-40B4-BE49-F238E27FC236}">
                <a16:creationId xmlns:a16="http://schemas.microsoft.com/office/drawing/2014/main" id="{6B20C3F9-5206-6F00-F5D4-0D786F4155C3}"/>
              </a:ext>
            </a:extLst>
          </p:cNvPr>
          <p:cNvGraphicFramePr>
            <a:graphicFrameLocks noChangeAspect="1"/>
          </p:cNvGraphicFramePr>
          <p:nvPr>
            <p:extLst>
              <p:ext uri="{D42A27DB-BD31-4B8C-83A1-F6EECF244321}">
                <p14:modId xmlns:p14="http://schemas.microsoft.com/office/powerpoint/2010/main" val="1969767655"/>
              </p:ext>
            </p:extLst>
          </p:nvPr>
        </p:nvGraphicFramePr>
        <p:xfrm>
          <a:off x="4461700" y="2785100"/>
          <a:ext cx="2717310" cy="669003"/>
        </p:xfrm>
        <a:graphic>
          <a:graphicData uri="http://schemas.openxmlformats.org/presentationml/2006/ole">
            <mc:AlternateContent xmlns:mc="http://schemas.openxmlformats.org/markup-compatibility/2006">
              <mc:Choice xmlns:v="urn:schemas-microsoft-com:vml" Requires="v">
                <p:oleObj name="Equation" r:id="rId7" imgW="1045042" imgH="257374" progId="Equation.DSMT4">
                  <p:embed/>
                </p:oleObj>
              </mc:Choice>
              <mc:Fallback>
                <p:oleObj name="Equation" r:id="rId7" imgW="1045042" imgH="257374" progId="Equation.DSMT4">
                  <p:embed/>
                  <p:pic>
                    <p:nvPicPr>
                      <p:cNvPr id="0" name=""/>
                      <p:cNvPicPr/>
                      <p:nvPr/>
                    </p:nvPicPr>
                    <p:blipFill>
                      <a:blip r:embed="rId8"/>
                      <a:stretch>
                        <a:fillRect/>
                      </a:stretch>
                    </p:blipFill>
                    <p:spPr>
                      <a:xfrm>
                        <a:off x="4461700" y="2785100"/>
                        <a:ext cx="2717310" cy="669003"/>
                      </a:xfrm>
                      <a:prstGeom prst="rect">
                        <a:avLst/>
                      </a:prstGeom>
                    </p:spPr>
                  </p:pic>
                </p:oleObj>
              </mc:Fallback>
            </mc:AlternateContent>
          </a:graphicData>
        </a:graphic>
      </p:graphicFrame>
      <p:sp>
        <p:nvSpPr>
          <p:cNvPr id="21" name="文本框 20">
            <a:extLst>
              <a:ext uri="{FF2B5EF4-FFF2-40B4-BE49-F238E27FC236}">
                <a16:creationId xmlns:a16="http://schemas.microsoft.com/office/drawing/2014/main" id="{34BAD1C2-076B-2EA3-D6D9-2A95B2847844}"/>
              </a:ext>
            </a:extLst>
          </p:cNvPr>
          <p:cNvSpPr txBox="1"/>
          <p:nvPr/>
        </p:nvSpPr>
        <p:spPr>
          <a:xfrm>
            <a:off x="8869153" y="3119602"/>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(6.17)</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B8CA0ED-A2F4-6F3E-E048-CFB5058A6543}"/>
                  </a:ext>
                </a:extLst>
              </p:cNvPr>
              <p:cNvSpPr txBox="1"/>
              <p:nvPr/>
            </p:nvSpPr>
            <p:spPr>
              <a:xfrm>
                <a:off x="930442" y="3550230"/>
                <a:ext cx="10042359" cy="1261756"/>
              </a:xfrm>
              <a:prstGeom prst="rect">
                <a:avLst/>
              </a:prstGeom>
              <a:noFill/>
            </p:spPr>
            <p:txBody>
              <a:bodyPr wrap="square">
                <a:spAutoFit/>
              </a:bodyPr>
              <a:lstStyle/>
              <a:p>
                <a:pPr indent="612000" algn="just"/>
                <a14:m>
                  <m:oMath xmlns:m="http://schemas.openxmlformats.org/officeDocument/2006/math">
                    <m:d>
                      <m:dPr>
                        <m:begChr m:val="|"/>
                        <m:endChr m:val="|"/>
                        <m:ctrlPr>
                          <a:rPr lang="zh-CN" altLang="zh-CN" sz="2400" b="1" i="1" kern="1000" smtClean="0">
                            <a:solidFill>
                              <a:schemeClr val="tx1"/>
                            </a:solidFill>
                            <a:effectLst/>
                            <a:latin typeface="Cambria Math" panose="02040503050406030204" pitchFamily="18" charset="0"/>
                            <a:ea typeface="Cambria Math" panose="02040503050406030204" pitchFamily="18" charset="0"/>
                          </a:rPr>
                        </m:ctrlPr>
                      </m:dPr>
                      <m:e>
                        <m:sSub>
                          <m:sSubPr>
                            <m:ctrlPr>
                              <a:rPr lang="zh-CN" altLang="zh-CN" sz="2400" b="1" i="1" kern="1000">
                                <a:solidFill>
                                  <a:schemeClr val="tx1"/>
                                </a:solidFill>
                                <a:effectLst/>
                                <a:latin typeface="Cambria Math" panose="02040503050406030204" pitchFamily="18" charset="0"/>
                                <a:ea typeface="Cambria Math" panose="02040503050406030204" pitchFamily="18" charset="0"/>
                              </a:rPr>
                            </m:ctrlPr>
                          </m:sSubPr>
                          <m:e>
                            <m:r>
                              <a:rPr lang="en-US" altLang="zh-CN" sz="2400" b="1" i="1" kern="1000">
                                <a:solidFill>
                                  <a:schemeClr val="tx1"/>
                                </a:solidFill>
                                <a:effectLst/>
                                <a:latin typeface="Cambria Math" panose="02040503050406030204" pitchFamily="18" charset="0"/>
                                <a:ea typeface="宋体" panose="02010600030101010101" pitchFamily="2" charset="-122"/>
                              </a:rPr>
                              <m:t>𝒒</m:t>
                            </m:r>
                          </m:e>
                          <m:sub>
                            <m:r>
                              <a:rPr lang="en-US" altLang="zh-CN" sz="2400" b="1" i="1" kern="1000">
                                <a:solidFill>
                                  <a:schemeClr val="tx1"/>
                                </a:solidFill>
                                <a:effectLst/>
                                <a:latin typeface="Cambria Math" panose="02040503050406030204" pitchFamily="18" charset="0"/>
                                <a:ea typeface="宋体" panose="02010600030101010101" pitchFamily="2" charset="-122"/>
                              </a:rPr>
                              <m:t>𝒊</m:t>
                            </m:r>
                          </m:sub>
                        </m:sSub>
                        <m:r>
                          <a:rPr lang="en-US" altLang="zh-CN" sz="2400" b="1" i="1" kern="1000">
                            <a:solidFill>
                              <a:schemeClr val="tx1"/>
                            </a:solidFill>
                            <a:effectLst/>
                            <a:latin typeface="Cambria Math" panose="02040503050406030204" pitchFamily="18" charset="0"/>
                            <a:ea typeface="宋体" panose="02010600030101010101" pitchFamily="2" charset="-122"/>
                          </a:rPr>
                          <m:t>−</m:t>
                        </m:r>
                        <m:sSub>
                          <m:sSubPr>
                            <m:ctrlPr>
                              <a:rPr lang="zh-CN" altLang="zh-CN" sz="2400" b="1" i="1" kern="1000">
                                <a:solidFill>
                                  <a:schemeClr val="tx1"/>
                                </a:solidFill>
                                <a:effectLst/>
                                <a:latin typeface="Cambria Math" panose="02040503050406030204" pitchFamily="18" charset="0"/>
                                <a:ea typeface="Cambria Math" panose="02040503050406030204" pitchFamily="18" charset="0"/>
                              </a:rPr>
                            </m:ctrlPr>
                          </m:sSubPr>
                          <m:e>
                            <m:r>
                              <a:rPr lang="en-US" altLang="zh-CN" sz="2400" b="1" i="1" kern="1000">
                                <a:solidFill>
                                  <a:schemeClr val="tx1"/>
                                </a:solidFill>
                                <a:effectLst/>
                                <a:latin typeface="Cambria Math" panose="02040503050406030204" pitchFamily="18" charset="0"/>
                                <a:ea typeface="宋体" panose="02010600030101010101" pitchFamily="2" charset="-122"/>
                              </a:rPr>
                              <m:t>𝒒</m:t>
                            </m:r>
                          </m:e>
                          <m:sub>
                            <m:r>
                              <a:rPr lang="en-US" altLang="zh-CN" sz="2400" b="1" i="1" kern="1000">
                                <a:solidFill>
                                  <a:schemeClr val="tx1"/>
                                </a:solidFill>
                                <a:effectLst/>
                                <a:latin typeface="Cambria Math" panose="02040503050406030204" pitchFamily="18" charset="0"/>
                                <a:ea typeface="宋体" panose="02010600030101010101" pitchFamily="2" charset="-122"/>
                              </a:rPr>
                              <m:t>𝒋</m:t>
                            </m:r>
                          </m:sub>
                        </m:sSub>
                      </m:e>
                    </m:d>
                  </m:oMath>
                </a14:m>
                <a:r>
                  <a:rPr lang="zh-CN" altLang="zh-CN" sz="2400" b="1" kern="1000" dirty="0">
                    <a:solidFill>
                      <a:schemeClr val="tx1"/>
                    </a:solidFill>
                    <a:effectLst/>
                    <a:latin typeface="微软雅黑" panose="020B0503020204020204" pitchFamily="34" charset="-122"/>
                    <a:ea typeface="微软雅黑" panose="020B0503020204020204" pitchFamily="34" charset="-122"/>
                  </a:rPr>
                  <a:t>表示两个向量</a:t>
                </a:r>
                <a14:m>
                  <m:oMath xmlns:m="http://schemas.openxmlformats.org/officeDocument/2006/math">
                    <m:sSub>
                      <m:sSubPr>
                        <m:ctrlPr>
                          <a:rPr lang="zh-CN" altLang="zh-CN" sz="2400" b="1" i="1" kern="1000">
                            <a:solidFill>
                              <a:schemeClr val="tx1"/>
                            </a:solidFill>
                            <a:effectLst/>
                            <a:latin typeface="Cambria Math" panose="02040503050406030204" pitchFamily="18" charset="0"/>
                            <a:ea typeface="Cambria Math" panose="02040503050406030204" pitchFamily="18" charset="0"/>
                          </a:rPr>
                        </m:ctrlPr>
                      </m:sSubPr>
                      <m:e>
                        <m:r>
                          <a:rPr lang="en-US" altLang="zh-CN" sz="2400" b="1" i="1" kern="1000">
                            <a:solidFill>
                              <a:schemeClr val="tx1"/>
                            </a:solidFill>
                            <a:effectLst/>
                            <a:latin typeface="Cambria Math" panose="02040503050406030204" pitchFamily="18" charset="0"/>
                            <a:ea typeface="宋体" panose="02010600030101010101" pitchFamily="2" charset="-122"/>
                          </a:rPr>
                          <m:t>𝒒</m:t>
                        </m:r>
                      </m:e>
                      <m:sub>
                        <m:r>
                          <a:rPr lang="en-US" altLang="zh-CN" sz="2400" b="1" i="1" kern="1000">
                            <a:solidFill>
                              <a:schemeClr val="tx1"/>
                            </a:solidFill>
                            <a:effectLst/>
                            <a:latin typeface="Cambria Math" panose="02040503050406030204" pitchFamily="18" charset="0"/>
                            <a:ea typeface="宋体" panose="02010600030101010101" pitchFamily="2" charset="-122"/>
                          </a:rPr>
                          <m:t>𝒊</m:t>
                        </m:r>
                      </m:sub>
                    </m:sSub>
                  </m:oMath>
                </a14:m>
                <a:r>
                  <a:rPr lang="zh-CN" altLang="zh-CN" sz="2400" b="1" kern="1000" dirty="0">
                    <a:solidFill>
                      <a:schemeClr val="tx1"/>
                    </a:solidFill>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solidFill>
                              <a:schemeClr val="tx1"/>
                            </a:solidFill>
                            <a:effectLst/>
                            <a:latin typeface="Cambria Math" panose="02040503050406030204" pitchFamily="18" charset="0"/>
                            <a:ea typeface="Cambria Math" panose="02040503050406030204" pitchFamily="18" charset="0"/>
                          </a:rPr>
                        </m:ctrlPr>
                      </m:sSubPr>
                      <m:e>
                        <m:r>
                          <a:rPr lang="en-US" altLang="zh-CN" sz="2400" b="1" i="1" kern="1000">
                            <a:solidFill>
                              <a:schemeClr val="tx1"/>
                            </a:solidFill>
                            <a:effectLst/>
                            <a:latin typeface="Cambria Math" panose="02040503050406030204" pitchFamily="18" charset="0"/>
                            <a:ea typeface="宋体" panose="02010600030101010101" pitchFamily="2" charset="-122"/>
                          </a:rPr>
                          <m:t>𝒒</m:t>
                        </m:r>
                      </m:e>
                      <m:sub>
                        <m:r>
                          <a:rPr lang="en-US" altLang="zh-CN" sz="2400" b="1" i="1" kern="1000">
                            <a:solidFill>
                              <a:schemeClr val="tx1"/>
                            </a:solidFill>
                            <a:effectLst/>
                            <a:latin typeface="Cambria Math" panose="02040503050406030204" pitchFamily="18" charset="0"/>
                            <a:ea typeface="宋体" panose="02010600030101010101" pitchFamily="2" charset="-122"/>
                          </a:rPr>
                          <m:t>𝒋</m:t>
                        </m:r>
                      </m:sub>
                    </m:sSub>
                  </m:oMath>
                </a14:m>
                <a:r>
                  <a:rPr lang="zh-CN" altLang="zh-CN" sz="2400" b="1" kern="1000" dirty="0">
                    <a:solidFill>
                      <a:schemeClr val="tx1"/>
                    </a:solidFill>
                    <a:effectLst/>
                    <a:latin typeface="微软雅黑" panose="020B0503020204020204" pitchFamily="34" charset="-122"/>
                    <a:ea typeface="微软雅黑" panose="020B0503020204020204" pitchFamily="34" charset="-122"/>
                  </a:rPr>
                  <a:t>之间的欧几里德距离。</a:t>
                </a:r>
                <a:r>
                  <a:rPr lang="zh-CN" altLang="zh-CN" sz="2400" b="1" kern="1000" dirty="0">
                    <a:solidFill>
                      <a:schemeClr val="tx1"/>
                    </a:solidFill>
                    <a:effectLst/>
                    <a:latin typeface="微软雅黑" panose="020B0503020204020204" pitchFamily="34" charset="-122"/>
                    <a:ea typeface="微软雅黑" panose="020B0503020204020204" pitchFamily="34" charset="-122"/>
                    <a:cs typeface="宋体-18030"/>
                  </a:rPr>
                  <a:t>连接权值函数的</a:t>
                </a:r>
                <a14:m>
                  <m:oMath xmlns:m="http://schemas.openxmlformats.org/officeDocument/2006/math">
                    <m:r>
                      <a:rPr lang="en-US" altLang="zh-CN" sz="2400" b="1" i="1" kern="1000">
                        <a:solidFill>
                          <a:schemeClr val="tx1"/>
                        </a:solidFill>
                        <a:effectLst/>
                        <a:latin typeface="Cambria Math" panose="02040503050406030204" pitchFamily="18" charset="0"/>
                        <a:ea typeface="宋体" panose="02010600030101010101" pitchFamily="2" charset="-122"/>
                      </a:rPr>
                      <m:t>𝒇</m:t>
                    </m:r>
                    <m:r>
                      <a:rPr lang="en-US" altLang="zh-CN" sz="2400" b="1" i="1" kern="1000">
                        <a:solidFill>
                          <a:schemeClr val="tx1"/>
                        </a:solidFill>
                        <a:effectLst/>
                        <a:latin typeface="Cambria Math" panose="02040503050406030204" pitchFamily="18" charset="0"/>
                        <a:ea typeface="宋体" panose="02010600030101010101" pitchFamily="2" charset="-122"/>
                      </a:rPr>
                      <m:t>(</m:t>
                    </m:r>
                    <m:r>
                      <a:rPr lang="en-US" altLang="zh-CN" sz="2400" b="1" i="1" kern="1000">
                        <a:solidFill>
                          <a:schemeClr val="tx1"/>
                        </a:solidFill>
                        <a:effectLst/>
                        <a:latin typeface="Cambria Math" panose="02040503050406030204" pitchFamily="18" charset="0"/>
                        <a:ea typeface="宋体" panose="02010600030101010101" pitchFamily="2" charset="-122"/>
                      </a:rPr>
                      <m:t>𝒙</m:t>
                    </m:r>
                    <m:r>
                      <a:rPr lang="en-US" altLang="zh-CN" sz="2400" b="1" i="1" kern="1000">
                        <a:solidFill>
                          <a:schemeClr val="tx1"/>
                        </a:solidFill>
                        <a:effectLst/>
                        <a:latin typeface="Cambria Math" panose="02040503050406030204" pitchFamily="18" charset="0"/>
                        <a:ea typeface="宋体" panose="02010600030101010101" pitchFamily="2" charset="-122"/>
                      </a:rPr>
                      <m:t>)</m:t>
                    </m:r>
                  </m:oMath>
                </a14:m>
                <a:r>
                  <a:rPr lang="zh-CN" altLang="zh-CN" sz="2400" b="1" kern="1000" dirty="0">
                    <a:solidFill>
                      <a:schemeClr val="tx1"/>
                    </a:solidFill>
                    <a:effectLst/>
                    <a:latin typeface="微软雅黑" panose="020B0503020204020204" pitchFamily="34" charset="-122"/>
                    <a:ea typeface="微软雅黑" panose="020B0503020204020204" pitchFamily="34" charset="-122"/>
                    <a:cs typeface="宋体-18030"/>
                  </a:rPr>
                  <a:t>采用单调递减函数，表示环境对机器人的影响与距离成反比，用公式表示为： </a:t>
                </a:r>
                <a:endParaRPr lang="zh-CN" altLang="zh-CN" sz="1800" b="1" kern="1000" dirty="0">
                  <a:effectLst/>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5B8CA0ED-A2F4-6F3E-E048-CFB5058A6543}"/>
                  </a:ext>
                </a:extLst>
              </p:cNvPr>
              <p:cNvSpPr txBox="1">
                <a:spLocks noRot="1" noChangeAspect="1" noMove="1" noResize="1" noEditPoints="1" noAdjustHandles="1" noChangeArrowheads="1" noChangeShapeType="1" noTextEdit="1"/>
              </p:cNvSpPr>
              <p:nvPr/>
            </p:nvSpPr>
            <p:spPr>
              <a:xfrm>
                <a:off x="930442" y="3550230"/>
                <a:ext cx="10042359" cy="1261756"/>
              </a:xfrm>
              <a:prstGeom prst="rect">
                <a:avLst/>
              </a:prstGeom>
              <a:blipFill>
                <a:blip r:embed="rId9"/>
                <a:stretch>
                  <a:fillRect l="-971" t="-1932" r="-911" b="-10145"/>
                </a:stretch>
              </a:blipFill>
            </p:spPr>
            <p:txBody>
              <a:bodyPr/>
              <a:lstStyle/>
              <a:p>
                <a:r>
                  <a:rPr lang="zh-CN" altLang="en-US">
                    <a:noFill/>
                  </a:rPr>
                  <a:t> </a:t>
                </a:r>
              </a:p>
            </p:txBody>
          </p:sp>
        </mc:Fallback>
      </mc:AlternateContent>
      <p:graphicFrame>
        <p:nvGraphicFramePr>
          <p:cNvPr id="25" name="对象 24">
            <a:extLst>
              <a:ext uri="{FF2B5EF4-FFF2-40B4-BE49-F238E27FC236}">
                <a16:creationId xmlns:a16="http://schemas.microsoft.com/office/drawing/2014/main" id="{5ADCB97B-FB0C-6C99-001F-8CCF62C30C79}"/>
              </a:ext>
            </a:extLst>
          </p:cNvPr>
          <p:cNvGraphicFramePr>
            <a:graphicFrameLocks noChangeAspect="1"/>
          </p:cNvGraphicFramePr>
          <p:nvPr>
            <p:extLst>
              <p:ext uri="{D42A27DB-BD31-4B8C-83A1-F6EECF244321}">
                <p14:modId xmlns:p14="http://schemas.microsoft.com/office/powerpoint/2010/main" val="620788963"/>
              </p:ext>
            </p:extLst>
          </p:nvPr>
        </p:nvGraphicFramePr>
        <p:xfrm>
          <a:off x="4551363" y="4391025"/>
          <a:ext cx="2800350" cy="1325563"/>
        </p:xfrm>
        <a:graphic>
          <a:graphicData uri="http://schemas.openxmlformats.org/presentationml/2006/ole">
            <mc:AlternateContent xmlns:mc="http://schemas.openxmlformats.org/markup-compatibility/2006">
              <mc:Choice xmlns:v="urn:schemas-microsoft-com:vml" Requires="v">
                <p:oleObj name="Equation" r:id="rId10" imgW="1396800" imgH="660240" progId="Equation.DSMT4">
                  <p:embed/>
                </p:oleObj>
              </mc:Choice>
              <mc:Fallback>
                <p:oleObj name="Equation" r:id="rId10" imgW="1396800" imgH="660240" progId="Equation.DSMT4">
                  <p:embed/>
                  <p:pic>
                    <p:nvPicPr>
                      <p:cNvPr id="0" name=""/>
                      <p:cNvPicPr/>
                      <p:nvPr/>
                    </p:nvPicPr>
                    <p:blipFill>
                      <a:blip r:embed="rId11"/>
                      <a:stretch>
                        <a:fillRect/>
                      </a:stretch>
                    </p:blipFill>
                    <p:spPr>
                      <a:xfrm>
                        <a:off x="4551363" y="4391025"/>
                        <a:ext cx="2800350" cy="1325563"/>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1ACC1C21-3741-45D3-0B15-52D3BD84D846}"/>
              </a:ext>
            </a:extLst>
          </p:cNvPr>
          <p:cNvSpPr txBox="1"/>
          <p:nvPr/>
        </p:nvSpPr>
        <p:spPr>
          <a:xfrm>
            <a:off x="8869153" y="5055050"/>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(6.18)</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9" name="文本框 28">
                <a:extLst>
                  <a:ext uri="{FF2B5EF4-FFF2-40B4-BE49-F238E27FC236}">
                    <a16:creationId xmlns:a16="http://schemas.microsoft.com/office/drawing/2014/main" id="{A18DB880-0674-795B-1049-87F8B86E4564}"/>
                  </a:ext>
                </a:extLst>
              </p:cNvPr>
              <p:cNvSpPr txBox="1"/>
              <p:nvPr/>
            </p:nvSpPr>
            <p:spPr>
              <a:xfrm>
                <a:off x="930442" y="5715818"/>
                <a:ext cx="10157863" cy="952505"/>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上式表明，神经元间只在一个小区域</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𝒓</m:t>
                        </m:r>
                      </m:e>
                      <m:sub>
                        <m:r>
                          <a:rPr lang="en-US" altLang="zh-CN" sz="2400" b="1" i="1" kern="1000">
                            <a:effectLst/>
                            <a:latin typeface="Cambria Math" panose="02040503050406030204" pitchFamily="18" charset="0"/>
                            <a:ea typeface="宋体" panose="02010600030101010101" pitchFamily="2" charset="-122"/>
                          </a:rPr>
                          <m:t>𝟎</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内有局部连接；若</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𝒂</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𝒓</m:t>
                        </m: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，则</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𝒂</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，若</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&lt;</m:t>
                    </m:r>
                    <m:r>
                      <a:rPr lang="en-US" altLang="zh-CN" sz="2400" b="1" i="1" kern="1000">
                        <a:effectLst/>
                        <a:latin typeface="Cambria Math" panose="02040503050406030204" pitchFamily="18" charset="0"/>
                        <a:ea typeface="宋体" panose="02010600030101010101" pitchFamily="2" charset="-122"/>
                      </a:rPr>
                      <m:t>𝒂</m:t>
                    </m:r>
                    <m:r>
                      <a:rPr lang="en-US" altLang="zh-CN" sz="2400" b="1" i="1" kern="1000">
                        <a:effectLst/>
                        <a:latin typeface="Cambria Math" panose="02040503050406030204" pitchFamily="18" charset="0"/>
                        <a:ea typeface="宋体" panose="02010600030101010101" pitchFamily="2" charset="-122"/>
                      </a:rPr>
                      <m:t>&lt;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𝒓</m:t>
                        </m: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，则</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𝒂</m:t>
                    </m:r>
                    <m:r>
                      <a:rPr lang="en-US" altLang="zh-CN" sz="2400" b="1" i="1" kern="1000">
                        <a:effectLst/>
                        <a:latin typeface="Cambria Math" panose="02040503050406030204" pitchFamily="18" charset="0"/>
                        <a:ea typeface="宋体" panose="02010600030101010101" pitchFamily="2" charset="-122"/>
                      </a:rPr>
                      <m:t>)=</m:t>
                    </m:r>
                    <m:f>
                      <m:fPr>
                        <m:ctrlPr>
                          <a:rPr lang="en-US" altLang="zh-CN" sz="2400" b="1" i="1" kern="1000" smtClean="0">
                            <a:effectLst/>
                            <a:latin typeface="Cambria Math" panose="02040503050406030204" pitchFamily="18" charset="0"/>
                            <a:ea typeface="宋体" panose="02010600030101010101" pitchFamily="2" charset="-122"/>
                          </a:rPr>
                        </m:ctrlPr>
                      </m:fPr>
                      <m:num>
                        <m:r>
                          <a:rPr lang="en-US" altLang="zh-CN" sz="2400" b="1" i="1" kern="1000">
                            <a:latin typeface="Cambria Math" panose="02040503050406030204" pitchFamily="18" charset="0"/>
                            <a:ea typeface="宋体" panose="02010600030101010101" pitchFamily="2" charset="-122"/>
                          </a:rPr>
                          <m:t>𝒖</m:t>
                        </m:r>
                      </m:num>
                      <m:den>
                        <m:r>
                          <a:rPr lang="en-US" altLang="zh-CN" sz="2400" b="1" i="1" kern="1000">
                            <a:latin typeface="Cambria Math" panose="02040503050406030204" pitchFamily="18" charset="0"/>
                            <a:ea typeface="宋体" panose="02010600030101010101" pitchFamily="2" charset="-122"/>
                          </a:rPr>
                          <m:t>𝒂</m:t>
                        </m:r>
                      </m:den>
                    </m:f>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𝒖</m:t>
                    </m:r>
                  </m:oMath>
                </a14:m>
                <a:r>
                  <a:rPr lang="zh-CN" altLang="zh-CN" sz="2400" b="1" kern="1000" dirty="0">
                    <a:effectLst/>
                    <a:latin typeface="微软雅黑" panose="020B0503020204020204" pitchFamily="34" charset="-122"/>
                    <a:ea typeface="微软雅黑" panose="020B0503020204020204" pitchFamily="34" charset="-122"/>
                  </a:rPr>
                  <a:t>是一个常数。</a:t>
                </a:r>
              </a:p>
            </p:txBody>
          </p:sp>
        </mc:Choice>
        <mc:Fallback>
          <p:sp>
            <p:nvSpPr>
              <p:cNvPr id="29" name="文本框 28">
                <a:extLst>
                  <a:ext uri="{FF2B5EF4-FFF2-40B4-BE49-F238E27FC236}">
                    <a16:creationId xmlns:a16="http://schemas.microsoft.com/office/drawing/2014/main" id="{A18DB880-0674-795B-1049-87F8B86E4564}"/>
                  </a:ext>
                </a:extLst>
              </p:cNvPr>
              <p:cNvSpPr txBox="1">
                <a:spLocks noRot="1" noChangeAspect="1" noMove="1" noResize="1" noEditPoints="1" noAdjustHandles="1" noChangeArrowheads="1" noChangeShapeType="1" noTextEdit="1"/>
              </p:cNvSpPr>
              <p:nvPr/>
            </p:nvSpPr>
            <p:spPr>
              <a:xfrm>
                <a:off x="930442" y="5715818"/>
                <a:ext cx="10157863" cy="952505"/>
              </a:xfrm>
              <a:prstGeom prst="rect">
                <a:avLst/>
              </a:prstGeom>
              <a:blipFill>
                <a:blip r:embed="rId12"/>
                <a:stretch>
                  <a:fillRect l="-960" t="-5128" r="-3902" b="-57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26783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9" name="文本框 8">
            <a:extLst>
              <a:ext uri="{FF2B5EF4-FFF2-40B4-BE49-F238E27FC236}">
                <a16:creationId xmlns:a16="http://schemas.microsoft.com/office/drawing/2014/main" id="{F0A0F7F3-E9A3-0BC1-4937-35E2AF529321}"/>
              </a:ext>
            </a:extLst>
          </p:cNvPr>
          <p:cNvSpPr txBox="1"/>
          <p:nvPr/>
        </p:nvSpPr>
        <p:spPr>
          <a:xfrm>
            <a:off x="970546" y="1155032"/>
            <a:ext cx="10250907" cy="1938992"/>
          </a:xfrm>
          <a:prstGeom prst="rect">
            <a:avLst/>
          </a:prstGeom>
          <a:noFill/>
        </p:spPr>
        <p:txBody>
          <a:bodyPr wrap="square">
            <a:spAutoFit/>
          </a:bodyPr>
          <a:lstStyle/>
          <a:p>
            <a:pPr algn="just"/>
            <a:r>
              <a:rPr lang="en-US" altLang="zh-CN" sz="2400" b="1" kern="100" dirty="0">
                <a:effectLst/>
                <a:latin typeface="微软雅黑" panose="020B0503020204020204" pitchFamily="34" charset="-122"/>
                <a:ea typeface="微软雅黑" panose="020B0503020204020204" pitchFamily="34" charset="-122"/>
              </a:rPr>
              <a:t>       </a:t>
            </a:r>
            <a:r>
              <a:rPr lang="zh-CN" altLang="zh-CN" sz="2400" b="1" kern="100" dirty="0">
                <a:effectLst/>
                <a:latin typeface="微软雅黑" panose="020B0503020204020204" pitchFamily="34" charset="-122"/>
                <a:ea typeface="微软雅黑" panose="020B0503020204020204" pitchFamily="34" charset="-122"/>
              </a:rPr>
              <a:t>机器人的路径生成过程是：机器人从起始点出发，判断当前邻近处各神经元的活性值大小，如果都不大于当前神经元的活性值，则机器人呆在原处不动，否则下一个位置为邻近神经元中具有最大活性值的神经元所在处。机器人由当前位置到达下一位置后，下一位置成为新的当前位置，再由同样的方法到达下一位置，依此循环，直到到达终止点。</a:t>
            </a:r>
          </a:p>
        </p:txBody>
      </p:sp>
      <p:sp>
        <p:nvSpPr>
          <p:cNvPr id="12" name="文本框 11">
            <a:extLst>
              <a:ext uri="{FF2B5EF4-FFF2-40B4-BE49-F238E27FC236}">
                <a16:creationId xmlns:a16="http://schemas.microsoft.com/office/drawing/2014/main" id="{308188C7-A39E-82FD-F9EB-552F248D58D6}"/>
              </a:ext>
            </a:extLst>
          </p:cNvPr>
          <p:cNvSpPr txBox="1"/>
          <p:nvPr/>
        </p:nvSpPr>
        <p:spPr>
          <a:xfrm>
            <a:off x="970546" y="3094024"/>
            <a:ext cx="6126480" cy="461665"/>
          </a:xfrm>
          <a:prstGeom prst="rect">
            <a:avLst/>
          </a:prstGeom>
          <a:noFill/>
        </p:spPr>
        <p:txBody>
          <a:bodyPr wrap="square">
            <a:spAutoFit/>
          </a:bodyPr>
          <a:lstStyle/>
          <a:p>
            <a:pPr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．环境映射方法</a:t>
            </a:r>
          </a:p>
        </p:txBody>
      </p:sp>
      <p:sp>
        <p:nvSpPr>
          <p:cNvPr id="15" name="文本框 14">
            <a:extLst>
              <a:ext uri="{FF2B5EF4-FFF2-40B4-BE49-F238E27FC236}">
                <a16:creationId xmlns:a16="http://schemas.microsoft.com/office/drawing/2014/main" id="{3C16BBB7-7B21-42E1-660D-2F6565CC32D0}"/>
              </a:ext>
            </a:extLst>
          </p:cNvPr>
          <p:cNvSpPr txBox="1"/>
          <p:nvPr/>
        </p:nvSpPr>
        <p:spPr>
          <a:xfrm>
            <a:off x="970546" y="3555689"/>
            <a:ext cx="10250906" cy="3046988"/>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采用神经网络的路径规划算法需要先将环境地图映射入神经网络，并设置神经元的值来表征不同的地图状况，再通过对神经网络的训练来获取最优的神经元集合，以组成路径。</a:t>
            </a:r>
          </a:p>
          <a:p>
            <a:pPr indent="612000" algn="just"/>
            <a:r>
              <a:rPr lang="zh-CN" altLang="zh-CN" sz="2400" b="1" kern="1000" dirty="0">
                <a:effectLst/>
                <a:latin typeface="微软雅黑" panose="020B0503020204020204" pitchFamily="34" charset="-122"/>
                <a:ea typeface="微软雅黑" panose="020B0503020204020204" pitchFamily="34" charset="-122"/>
              </a:rPr>
              <a:t>对于现有的神经网络路径规划算法，是在地图映射入神经网络后，对所有的神经元都进行若干次全局训练，最后再得到一条最优路径，这样的算法在静态已知的地图下能取得较好的效果，但在环境事先未知的，甚至是动态环境的情况下，由于无法了解全部地图信息，在训练后得到的效果非常不理想，搜索的随机性很大，经常会出现错误和冗余路径的问题。</a:t>
            </a:r>
          </a:p>
        </p:txBody>
      </p:sp>
    </p:spTree>
    <p:extLst>
      <p:ext uri="{BB962C8B-B14F-4D97-AF65-F5344CB8AC3E}">
        <p14:creationId xmlns:p14="http://schemas.microsoft.com/office/powerpoint/2010/main" val="1126286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5" name="文本框 4">
            <a:extLst>
              <a:ext uri="{FF2B5EF4-FFF2-40B4-BE49-F238E27FC236}">
                <a16:creationId xmlns:a16="http://schemas.microsoft.com/office/drawing/2014/main" id="{DD578B55-9B91-835D-368C-0CDED83DE646}"/>
              </a:ext>
            </a:extLst>
          </p:cNvPr>
          <p:cNvSpPr txBox="1"/>
          <p:nvPr/>
        </p:nvSpPr>
        <p:spPr>
          <a:xfrm>
            <a:off x="999423" y="1126156"/>
            <a:ext cx="10193154" cy="3416320"/>
          </a:xfrm>
          <a:prstGeom prst="rect">
            <a:avLst/>
          </a:prstGeom>
          <a:noFill/>
        </p:spPr>
        <p:txBody>
          <a:bodyPr wrap="square">
            <a:spAutoFit/>
          </a:bodyPr>
          <a:lstStyle/>
          <a:p>
            <a:pPr indent="612000" algn="just">
              <a:spcAft>
                <a:spcPts val="800"/>
              </a:spcAft>
            </a:pPr>
            <a:r>
              <a:rPr lang="zh-CN" altLang="zh-CN" sz="2400" b="1" kern="1000" dirty="0">
                <a:effectLst/>
                <a:latin typeface="微软雅黑" panose="020B0503020204020204" pitchFamily="34" charset="-122"/>
                <a:ea typeface="微软雅黑" panose="020B0503020204020204" pitchFamily="34" charset="-122"/>
              </a:rPr>
              <a:t>一般，神经网络的学习样本确定如下：学习样本表示障碍物的位置信息及机器人相对于障碍物的位置信息，只有对机器人的工作空间进行划分，才能通过这个样本集训练出一个好的神经网络来完成交给它的路径规划任务。用栅格对机器人的工作空间进行划分，机器人在</a:t>
            </a:r>
            <a:r>
              <a:rPr lang="en-US" altLang="zh-CN" sz="2400" b="1" kern="1000" dirty="0">
                <a:effectLst/>
                <a:latin typeface="微软雅黑" panose="020B0503020204020204" pitchFamily="34" charset="-122"/>
                <a:ea typeface="微软雅黑" panose="020B0503020204020204" pitchFamily="34" charset="-122"/>
              </a:rPr>
              <a:t>2</a:t>
            </a:r>
            <a:r>
              <a:rPr lang="zh-CN" altLang="zh-CN" sz="2400" b="1" kern="1000" dirty="0">
                <a:effectLst/>
                <a:latin typeface="微软雅黑" panose="020B0503020204020204" pitchFamily="34" charset="-122"/>
                <a:ea typeface="微软雅黑" panose="020B0503020204020204" pitchFamily="34" charset="-122"/>
              </a:rPr>
              <a:t>个长度单位的距离处开始检测，且检测距离机器人最近的障碍物，栅格内含有障碍物用</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表示，不含障碍物用</a:t>
            </a:r>
            <a:r>
              <a:rPr lang="en-US" altLang="zh-CN" sz="2400" b="1" kern="1000" dirty="0">
                <a:effectLst/>
                <a:latin typeface="微软雅黑" panose="020B0503020204020204" pitchFamily="34" charset="-122"/>
                <a:ea typeface="微软雅黑" panose="020B0503020204020204" pitchFamily="34" charset="-122"/>
              </a:rPr>
              <a:t>0</a:t>
            </a:r>
            <a:r>
              <a:rPr lang="zh-CN" altLang="zh-CN" sz="2400" b="1" kern="1000" dirty="0">
                <a:effectLst/>
                <a:latin typeface="微软雅黑" panose="020B0503020204020204" pitchFamily="34" charset="-122"/>
                <a:ea typeface="微软雅黑" panose="020B0503020204020204" pitchFamily="34" charset="-122"/>
              </a:rPr>
              <a:t>表示。寻路搜索方向为从机器人上方开始顺时针一圈的</a:t>
            </a:r>
            <a:r>
              <a:rPr lang="en-US" altLang="zh-CN" sz="2400" b="1" kern="1000" dirty="0">
                <a:effectLst/>
                <a:latin typeface="微软雅黑" panose="020B0503020204020204" pitchFamily="34" charset="-122"/>
                <a:ea typeface="微软雅黑" panose="020B0503020204020204" pitchFamily="34" charset="-122"/>
              </a:rPr>
              <a:t>8</a:t>
            </a:r>
            <a:r>
              <a:rPr lang="zh-CN" altLang="zh-CN" sz="2400" b="1" kern="1000" dirty="0">
                <a:effectLst/>
                <a:latin typeface="微软雅黑" panose="020B0503020204020204" pitchFamily="34" charset="-122"/>
                <a:ea typeface="微软雅黑" panose="020B0503020204020204" pitchFamily="34" charset="-122"/>
              </a:rPr>
              <a:t>个方向，如图</a:t>
            </a:r>
            <a:r>
              <a:rPr lang="en-US" altLang="zh-CN" sz="2400" b="1" kern="1000" dirty="0">
                <a:effectLst/>
                <a:latin typeface="微软雅黑" panose="020B0503020204020204" pitchFamily="34" charset="-122"/>
                <a:ea typeface="微软雅黑" panose="020B0503020204020204" pitchFamily="34" charset="-122"/>
              </a:rPr>
              <a:t>6.20</a:t>
            </a:r>
            <a:r>
              <a:rPr lang="zh-CN" altLang="zh-CN" sz="2400" b="1" kern="1000" dirty="0">
                <a:effectLst/>
                <a:latin typeface="微软雅黑" panose="020B0503020204020204" pitchFamily="34" charset="-122"/>
                <a:ea typeface="微软雅黑" panose="020B0503020204020204" pitchFamily="34" charset="-122"/>
              </a:rPr>
              <a:t>所示，其中</a:t>
            </a:r>
            <a:r>
              <a:rPr lang="en-US" altLang="zh-CN" sz="2400" b="1" kern="1000" dirty="0">
                <a:effectLst/>
                <a:latin typeface="微软雅黑" panose="020B0503020204020204" pitchFamily="34" charset="-122"/>
                <a:ea typeface="微软雅黑" panose="020B0503020204020204" pitchFamily="34" charset="-122"/>
              </a:rPr>
              <a:t>R</a:t>
            </a:r>
            <a:r>
              <a:rPr lang="zh-CN" altLang="zh-CN" sz="2400" b="1" kern="1000" dirty="0">
                <a:effectLst/>
                <a:latin typeface="微软雅黑" panose="020B0503020204020204" pitchFamily="34" charset="-122"/>
                <a:ea typeface="微软雅黑" panose="020B0503020204020204" pitchFamily="34" charset="-122"/>
              </a:rPr>
              <a:t>表示机器人</a:t>
            </a:r>
            <a:r>
              <a:rPr lang="en-US" altLang="zh-CN" sz="2400" b="1" kern="1000" dirty="0">
                <a:effectLst/>
                <a:latin typeface="微软雅黑" panose="020B0503020204020204" pitchFamily="34" charset="-122"/>
                <a:ea typeface="微软雅黑" panose="020B0503020204020204" pitchFamily="34" charset="-122"/>
              </a:rPr>
              <a:t>(Robot)</a:t>
            </a:r>
            <a:r>
              <a:rPr lang="zh-CN" altLang="zh-CN" sz="2400" b="1" kern="1000" dirty="0">
                <a:effectLst/>
                <a:latin typeface="微软雅黑" panose="020B0503020204020204" pitchFamily="34" charset="-122"/>
                <a:ea typeface="微软雅黑" panose="020B0503020204020204" pitchFamily="34" charset="-122"/>
              </a:rPr>
              <a:t>。图中，每个方向用一个维数表示，这里设置目标点始终在起始点的右上方，并且允许机器人有后退的动作，故需检测所有的</a:t>
            </a:r>
            <a:r>
              <a:rPr lang="en-US" altLang="zh-CN" sz="2400" b="1" kern="1000" dirty="0">
                <a:effectLst/>
                <a:latin typeface="微软雅黑" panose="020B0503020204020204" pitchFamily="34" charset="-122"/>
                <a:ea typeface="微软雅黑" panose="020B0503020204020204" pitchFamily="34" charset="-122"/>
              </a:rPr>
              <a:t>8</a:t>
            </a:r>
            <a:r>
              <a:rPr lang="zh-CN" altLang="zh-CN" sz="2400" b="1" kern="1000" dirty="0">
                <a:effectLst/>
                <a:latin typeface="微软雅黑" panose="020B0503020204020204" pitchFamily="34" charset="-122"/>
                <a:ea typeface="微软雅黑" panose="020B0503020204020204" pitchFamily="34" charset="-122"/>
              </a:rPr>
              <a:t>个方向，即学习样本需要用</a:t>
            </a:r>
            <a:r>
              <a:rPr lang="en-US" altLang="zh-CN" sz="2400" b="1" kern="1000" dirty="0">
                <a:effectLst/>
                <a:latin typeface="微软雅黑" panose="020B0503020204020204" pitchFamily="34" charset="-122"/>
                <a:ea typeface="微软雅黑" panose="020B0503020204020204" pitchFamily="34" charset="-122"/>
              </a:rPr>
              <a:t>8</a:t>
            </a:r>
            <a:r>
              <a:rPr lang="zh-CN" altLang="zh-CN" sz="2400" b="1" kern="1000" dirty="0">
                <a:effectLst/>
                <a:latin typeface="微软雅黑" panose="020B0503020204020204" pitchFamily="34" charset="-122"/>
                <a:ea typeface="微软雅黑" panose="020B0503020204020204" pitchFamily="34" charset="-122"/>
              </a:rPr>
              <a:t>维的向量表示。</a:t>
            </a:r>
          </a:p>
        </p:txBody>
      </p:sp>
      <p:graphicFrame>
        <p:nvGraphicFramePr>
          <p:cNvPr id="8" name="表格 7">
            <a:extLst>
              <a:ext uri="{FF2B5EF4-FFF2-40B4-BE49-F238E27FC236}">
                <a16:creationId xmlns:a16="http://schemas.microsoft.com/office/drawing/2014/main" id="{7185A9B7-2715-40A6-194D-B876ADBE04CF}"/>
              </a:ext>
            </a:extLst>
          </p:cNvPr>
          <p:cNvGraphicFramePr>
            <a:graphicFrameLocks noGrp="1"/>
          </p:cNvGraphicFramePr>
          <p:nvPr>
            <p:extLst>
              <p:ext uri="{D42A27DB-BD31-4B8C-83A1-F6EECF244321}">
                <p14:modId xmlns:p14="http://schemas.microsoft.com/office/powerpoint/2010/main" val="130915585"/>
              </p:ext>
            </p:extLst>
          </p:nvPr>
        </p:nvGraphicFramePr>
        <p:xfrm>
          <a:off x="4947032" y="4548800"/>
          <a:ext cx="2297936" cy="1199286"/>
        </p:xfrm>
        <a:graphic>
          <a:graphicData uri="http://schemas.openxmlformats.org/drawingml/2006/table">
            <a:tbl>
              <a:tblPr firstRow="1" firstCol="1" bandRow="1">
                <a:tableStyleId>{5C22544A-7EE6-4342-B048-85BDC9FD1C3A}</a:tableStyleId>
              </a:tblPr>
              <a:tblGrid>
                <a:gridCol w="760468">
                  <a:extLst>
                    <a:ext uri="{9D8B030D-6E8A-4147-A177-3AD203B41FA5}">
                      <a16:colId xmlns:a16="http://schemas.microsoft.com/office/drawing/2014/main" val="824486009"/>
                    </a:ext>
                  </a:extLst>
                </a:gridCol>
                <a:gridCol w="758965">
                  <a:extLst>
                    <a:ext uri="{9D8B030D-6E8A-4147-A177-3AD203B41FA5}">
                      <a16:colId xmlns:a16="http://schemas.microsoft.com/office/drawing/2014/main" val="663688615"/>
                    </a:ext>
                  </a:extLst>
                </a:gridCol>
                <a:gridCol w="778503">
                  <a:extLst>
                    <a:ext uri="{9D8B030D-6E8A-4147-A177-3AD203B41FA5}">
                      <a16:colId xmlns:a16="http://schemas.microsoft.com/office/drawing/2014/main" val="879714437"/>
                    </a:ext>
                  </a:extLst>
                </a:gridCol>
              </a:tblGrid>
              <a:tr h="0">
                <a:tc>
                  <a:txBody>
                    <a:bodyPr/>
                    <a:lstStyle/>
                    <a:p>
                      <a:pPr algn="ctr"/>
                      <a:r>
                        <a:rPr lang="en-US" sz="2000" b="1" kern="0" dirty="0">
                          <a:solidFill>
                            <a:schemeClr val="tx1"/>
                          </a:solidFill>
                          <a:effectLst/>
                        </a:rPr>
                        <a:t>8</a:t>
                      </a:r>
                      <a:endParaRPr lang="zh-CN" sz="2000" b="1" kern="75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tc>
                  <a:txBody>
                    <a:bodyPr/>
                    <a:lstStyle/>
                    <a:p>
                      <a:pPr algn="ctr"/>
                      <a:r>
                        <a:rPr lang="en-US" sz="2000" b="1" kern="0">
                          <a:solidFill>
                            <a:schemeClr val="tx1"/>
                          </a:solidFill>
                          <a:effectLst/>
                        </a:rPr>
                        <a:t>1</a:t>
                      </a:r>
                      <a:endParaRPr lang="zh-CN" sz="2000" b="1" kern="75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tc>
                  <a:txBody>
                    <a:bodyPr/>
                    <a:lstStyle/>
                    <a:p>
                      <a:pPr algn="ctr"/>
                      <a:r>
                        <a:rPr lang="en-US" sz="2000" b="1" kern="0">
                          <a:solidFill>
                            <a:schemeClr val="tx1"/>
                          </a:solidFill>
                          <a:effectLst/>
                        </a:rPr>
                        <a:t>2</a:t>
                      </a:r>
                      <a:endParaRPr lang="zh-CN" sz="2000" b="1" kern="75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2629781188"/>
                  </a:ext>
                </a:extLst>
              </a:tr>
              <a:tr h="447243">
                <a:tc>
                  <a:txBody>
                    <a:bodyPr/>
                    <a:lstStyle/>
                    <a:p>
                      <a:pPr algn="ctr"/>
                      <a:r>
                        <a:rPr lang="en-US" sz="2000" b="1" kern="0" dirty="0">
                          <a:solidFill>
                            <a:schemeClr val="tx1"/>
                          </a:solidFill>
                          <a:effectLst/>
                        </a:rPr>
                        <a:t>7</a:t>
                      </a:r>
                      <a:endParaRPr lang="zh-CN" sz="2000" b="1" kern="75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tc>
                  <a:txBody>
                    <a:bodyPr/>
                    <a:lstStyle/>
                    <a:p>
                      <a:pPr algn="ctr"/>
                      <a:r>
                        <a:rPr lang="en-US" sz="2000" b="1" kern="0" dirty="0">
                          <a:solidFill>
                            <a:schemeClr val="tx1"/>
                          </a:solidFill>
                          <a:effectLst/>
                        </a:rPr>
                        <a:t>R</a:t>
                      </a:r>
                      <a:endParaRPr lang="zh-CN" sz="2000" b="1" kern="75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tc>
                  <a:txBody>
                    <a:bodyPr/>
                    <a:lstStyle/>
                    <a:p>
                      <a:pPr algn="ctr"/>
                      <a:r>
                        <a:rPr lang="en-US" sz="2000" b="1" kern="0" dirty="0">
                          <a:solidFill>
                            <a:schemeClr val="tx1"/>
                          </a:solidFill>
                          <a:effectLst/>
                        </a:rPr>
                        <a:t>3</a:t>
                      </a:r>
                      <a:endParaRPr lang="zh-CN" sz="2000" b="1" kern="75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228761453"/>
                  </a:ext>
                </a:extLst>
              </a:tr>
              <a:tr h="447243">
                <a:tc>
                  <a:txBody>
                    <a:bodyPr/>
                    <a:lstStyle/>
                    <a:p>
                      <a:pPr algn="ctr"/>
                      <a:r>
                        <a:rPr lang="en-US" sz="2000" b="1" kern="0">
                          <a:solidFill>
                            <a:schemeClr val="tx1"/>
                          </a:solidFill>
                          <a:effectLst/>
                        </a:rPr>
                        <a:t>6</a:t>
                      </a:r>
                      <a:endParaRPr lang="zh-CN" sz="2000" b="1" kern="75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tc>
                  <a:txBody>
                    <a:bodyPr/>
                    <a:lstStyle/>
                    <a:p>
                      <a:pPr algn="ctr"/>
                      <a:r>
                        <a:rPr lang="en-US" sz="2000" b="1" kern="0" dirty="0">
                          <a:solidFill>
                            <a:schemeClr val="tx1"/>
                          </a:solidFill>
                          <a:effectLst/>
                        </a:rPr>
                        <a:t>5</a:t>
                      </a:r>
                      <a:endParaRPr lang="zh-CN" sz="2000" b="1" kern="75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tc>
                  <a:txBody>
                    <a:bodyPr/>
                    <a:lstStyle/>
                    <a:p>
                      <a:pPr algn="ctr"/>
                      <a:r>
                        <a:rPr lang="en-US" sz="2000" b="1" kern="0" dirty="0">
                          <a:solidFill>
                            <a:schemeClr val="tx1"/>
                          </a:solidFill>
                          <a:effectLst/>
                        </a:rPr>
                        <a:t>4</a:t>
                      </a:r>
                      <a:endParaRPr lang="zh-CN" sz="2000" b="1" kern="75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3749171359"/>
                  </a:ext>
                </a:extLst>
              </a:tr>
            </a:tbl>
          </a:graphicData>
        </a:graphic>
      </p:graphicFrame>
      <p:sp>
        <p:nvSpPr>
          <p:cNvPr id="11" name="文本框 10">
            <a:extLst>
              <a:ext uri="{FF2B5EF4-FFF2-40B4-BE49-F238E27FC236}">
                <a16:creationId xmlns:a16="http://schemas.microsoft.com/office/drawing/2014/main" id="{738B2E61-92B5-6092-ED1C-261C08DF9955}"/>
              </a:ext>
            </a:extLst>
          </p:cNvPr>
          <p:cNvSpPr txBox="1"/>
          <p:nvPr/>
        </p:nvSpPr>
        <p:spPr>
          <a:xfrm>
            <a:off x="3032760" y="5893687"/>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6.20  </a:t>
            </a:r>
            <a:r>
              <a:rPr lang="zh-CN" altLang="zh-CN" sz="1800" kern="1000" dirty="0">
                <a:effectLst/>
                <a:latin typeface="Times New Roman" panose="02020603050405020304" pitchFamily="18" charset="0"/>
                <a:ea typeface="宋体" panose="02010600030101010101" pitchFamily="2" charset="-122"/>
              </a:rPr>
              <a:t>机器人工作空间划分</a:t>
            </a:r>
          </a:p>
        </p:txBody>
      </p:sp>
    </p:spTree>
    <p:extLst>
      <p:ext uri="{BB962C8B-B14F-4D97-AF65-F5344CB8AC3E}">
        <p14:creationId xmlns:p14="http://schemas.microsoft.com/office/powerpoint/2010/main" val="3401485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2C4FD44-8061-237E-671F-2D64EEB3C412}"/>
                  </a:ext>
                </a:extLst>
              </p:cNvPr>
              <p:cNvSpPr txBox="1"/>
              <p:nvPr/>
            </p:nvSpPr>
            <p:spPr>
              <a:xfrm>
                <a:off x="1009048" y="1116531"/>
                <a:ext cx="10173903" cy="5339923"/>
              </a:xfrm>
              <a:prstGeom prst="rect">
                <a:avLst/>
              </a:prstGeom>
              <a:noFill/>
            </p:spPr>
            <p:txBody>
              <a:bodyPr wrap="square">
                <a:spAutoFit/>
              </a:bodyPr>
              <a:lstStyle/>
              <a:p>
                <a:pPr indent="612000"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．基于递归神经网络的实时路径规划方法</a:t>
                </a:r>
              </a:p>
              <a:p>
                <a:pPr indent="612000" algn="just"/>
                <a:r>
                  <a:rPr lang="zh-CN" altLang="zh-CN" sz="2400" b="1" kern="100" dirty="0">
                    <a:effectLst/>
                    <a:latin typeface="微软雅黑" panose="020B0503020204020204" pitchFamily="34" charset="-122"/>
                    <a:ea typeface="微软雅黑" panose="020B0503020204020204" pitchFamily="34" charset="-122"/>
                  </a:rPr>
                  <a:t>为了在动态环境中实时地生成避障路径，</a:t>
                </a:r>
                <a:r>
                  <a:rPr lang="zh-CN" altLang="zh-CN" sz="2400" b="1" kern="100" dirty="0">
                    <a:effectLst/>
                    <a:latin typeface="微软雅黑" panose="020B0503020204020204" pitchFamily="34" charset="-122"/>
                    <a:ea typeface="微软雅黑" panose="020B0503020204020204" pitchFamily="34" charset="-122"/>
                    <a:cs typeface="宋体" panose="02010600030101010101" pitchFamily="2" charset="-122"/>
                  </a:rPr>
                  <a:t>并且可以对移动的目标点进行有效地</a:t>
                </a:r>
                <a:r>
                  <a:rPr lang="zh-CN" altLang="zh-CN" sz="2400" b="1" kern="100" dirty="0">
                    <a:effectLst/>
                    <a:latin typeface="微软雅黑" panose="020B0503020204020204" pitchFamily="34" charset="-122"/>
                    <a:ea typeface="微软雅黑" panose="020B0503020204020204" pitchFamily="34" charset="-122"/>
                  </a:rPr>
                  <a:t>跟踪。本节中，移动机器人的结构空间用神经网络组成的拓扑结构来表示，</a:t>
                </a:r>
                <a:r>
                  <a:rPr lang="zh-CN" altLang="zh-CN" sz="2400" b="1" kern="100" dirty="0">
                    <a:effectLst/>
                    <a:latin typeface="微软雅黑" panose="020B0503020204020204" pitchFamily="34" charset="-122"/>
                    <a:ea typeface="微软雅黑" panose="020B0503020204020204" pitchFamily="34" charset="-122"/>
                    <a:cs typeface="宋体" panose="02010600030101010101" pitchFamily="2" charset="-122"/>
                  </a:rPr>
                  <a:t>神经网络中所有神经元之间只存在</a:t>
                </a:r>
                <a:r>
                  <a:rPr lang="zh-CN" altLang="zh-CN" sz="2400" b="1" kern="100" dirty="0">
                    <a:effectLst/>
                    <a:latin typeface="微软雅黑" panose="020B0503020204020204" pitchFamily="34" charset="-122"/>
                    <a:ea typeface="微软雅黑" panose="020B0503020204020204" pitchFamily="34" charset="-122"/>
                  </a:rPr>
                  <a:t>局部的侧连接，</a:t>
                </a:r>
                <a:r>
                  <a:rPr lang="zh-CN" altLang="zh-CN" sz="2400" b="1" kern="100" dirty="0">
                    <a:effectLst/>
                    <a:latin typeface="微软雅黑" panose="020B0503020204020204" pitchFamily="34" charset="-122"/>
                    <a:ea typeface="微软雅黑" panose="020B0503020204020204" pitchFamily="34" charset="-122"/>
                    <a:cs typeface="宋体" panose="02010600030101010101" pitchFamily="2" charset="-122"/>
                  </a:rPr>
                  <a:t>每个神经元的活性值表示其相应位置的势场</a:t>
                </a:r>
                <a:r>
                  <a:rPr lang="zh-CN" altLang="zh-CN" sz="2400" b="1" kern="100" dirty="0">
                    <a:effectLst/>
                    <a:latin typeface="微软雅黑" panose="020B0503020204020204" pitchFamily="34" charset="-122"/>
                    <a:ea typeface="微软雅黑" panose="020B0503020204020204" pitchFamily="34" charset="-122"/>
                  </a:rPr>
                  <a:t>值。目标节点具有全局最大的正外部输入</a:t>
                </a:r>
                <a:r>
                  <a:rPr lang="zh-CN" altLang="zh-CN" sz="2400" b="1" kern="100" dirty="0">
                    <a:effectLst/>
                    <a:latin typeface="微软雅黑" panose="020B0503020204020204" pitchFamily="34" charset="-122"/>
                    <a:ea typeface="微软雅黑" panose="020B0503020204020204" pitchFamily="34" charset="-122"/>
                    <a:cs typeface="Calibri" panose="020F0502020204030204" pitchFamily="34" charset="0"/>
                  </a:rPr>
                  <a:t>，</a:t>
                </a:r>
                <a:r>
                  <a:rPr lang="zh-CN" altLang="zh-CN" sz="2400" b="1" kern="100" dirty="0">
                    <a:effectLst/>
                    <a:latin typeface="微软雅黑" panose="020B0503020204020204" pitchFamily="34" charset="-122"/>
                    <a:ea typeface="微软雅黑" panose="020B0503020204020204" pitchFamily="34" charset="-122"/>
                  </a:rPr>
                  <a:t>从而使目标点神经元产生全局最大的正活性值，</a:t>
                </a:r>
                <a:r>
                  <a:rPr lang="zh-CN" altLang="zh-CN" sz="2400" b="1" kern="100" dirty="0">
                    <a:effectLst/>
                    <a:latin typeface="微软雅黑" panose="020B0503020204020204" pitchFamily="34" charset="-122"/>
                    <a:ea typeface="微软雅黑" panose="020B0503020204020204" pitchFamily="34" charset="-122"/>
                    <a:cs typeface="宋体" panose="02010600030101010101" pitchFamily="2" charset="-122"/>
                  </a:rPr>
                  <a:t>该活性值在全局范围内</a:t>
                </a:r>
                <a:r>
                  <a:rPr lang="zh-CN" altLang="zh-CN" sz="2400" b="1" kern="100" dirty="0">
                    <a:effectLst/>
                    <a:latin typeface="微软雅黑" panose="020B0503020204020204" pitchFamily="34" charset="-122"/>
                    <a:ea typeface="微软雅黑" panose="020B0503020204020204" pitchFamily="34" charset="-122"/>
                  </a:rPr>
                  <a:t>逐渐衰减地向整个工作空间其他节点传播，</a:t>
                </a:r>
                <a:r>
                  <a:rPr lang="zh-CN" altLang="zh-CN" sz="2400" b="1" kern="100" dirty="0">
                    <a:effectLst/>
                    <a:latin typeface="微软雅黑" panose="020B0503020204020204" pitchFamily="34" charset="-122"/>
                    <a:ea typeface="微软雅黑" panose="020B0503020204020204" pitchFamily="34" charset="-122"/>
                    <a:cs typeface="宋体" panose="02010600030101010101" pitchFamily="2" charset="-122"/>
                  </a:rPr>
                  <a:t>在所有和目标</a:t>
                </a:r>
                <a:r>
                  <a:rPr lang="zh-CN" altLang="zh-CN" sz="2400" b="1" kern="100" dirty="0">
                    <a:effectLst/>
                    <a:latin typeface="微软雅黑" panose="020B0503020204020204" pitchFamily="34" charset="-122"/>
                    <a:ea typeface="微软雅黑" panose="020B0503020204020204" pitchFamily="34" charset="-122"/>
                  </a:rPr>
                  <a:t>节点存在连通路径的节点上产生正的输出；障碍物及其周围局部区域节点的输出被抑制为零。这样可以保证每个和目标点存在连通路径的节点，</a:t>
                </a:r>
                <a:r>
                  <a:rPr lang="zh-CN" altLang="zh-CN" sz="2400" b="1" kern="100" dirty="0">
                    <a:effectLst/>
                    <a:latin typeface="微软雅黑" panose="020B0503020204020204" pitchFamily="34" charset="-122"/>
                    <a:ea typeface="微软雅黑" panose="020B0503020204020204" pitchFamily="34" charset="-122"/>
                    <a:cs typeface="宋体" panose="02010600030101010101" pitchFamily="2" charset="-122"/>
                  </a:rPr>
                  <a:t>都可以沿着最快梯度上升</a:t>
                </a:r>
                <a:r>
                  <a:rPr lang="zh-CN" altLang="zh-CN" sz="2400" b="1" kern="100" dirty="0">
                    <a:effectLst/>
                    <a:latin typeface="微软雅黑" panose="020B0503020204020204" pitchFamily="34" charset="-122"/>
                    <a:ea typeface="微软雅黑" panose="020B0503020204020204" pitchFamily="34" charset="-122"/>
                  </a:rPr>
                  <a:t>方向到达目标节点。</a:t>
                </a:r>
                <a:endParaRPr lang="zh-CN" altLang="zh-CN" sz="2400" b="1" kern="1000" dirty="0">
                  <a:effectLst/>
                  <a:latin typeface="微软雅黑" panose="020B0503020204020204" pitchFamily="34" charset="-122"/>
                  <a:ea typeface="微软雅黑" panose="020B0503020204020204" pitchFamily="34" charset="-122"/>
                </a:endParaRPr>
              </a:p>
              <a:p>
                <a:pPr indent="612000" algn="just"/>
                <a:r>
                  <a:rPr lang="zh-CN" altLang="zh-CN" sz="2400" b="1" kern="1000" dirty="0">
                    <a:effectLst/>
                    <a:latin typeface="微软雅黑" panose="020B0503020204020204" pitchFamily="34" charset="-122"/>
                    <a:ea typeface="微软雅黑" panose="020B0503020204020204" pitchFamily="34" charset="-122"/>
                  </a:rPr>
                  <a:t>机器人工作空间为二维有界环境，</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允许对环境的障碍</a:t>
                </a:r>
                <a:r>
                  <a:rPr lang="zh-CN" altLang="zh-CN" sz="2400" b="1" kern="1000" dirty="0">
                    <a:effectLst/>
                    <a:latin typeface="微软雅黑" panose="020B0503020204020204" pitchFamily="34" charset="-122"/>
                    <a:ea typeface="微软雅黑" panose="020B0503020204020204" pitchFamily="34" charset="-122"/>
                  </a:rPr>
                  <a:t>物信息完全未知，</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对障碍物形状不做凸假设。利用局部连</a:t>
                </a:r>
                <a:r>
                  <a:rPr lang="zh-CN" altLang="zh-CN" sz="2400" b="1" kern="1000" dirty="0">
                    <a:effectLst/>
                    <a:latin typeface="微软雅黑" panose="020B0503020204020204" pitchFamily="34" charset="-122"/>
                    <a:ea typeface="微软雅黑" panose="020B0503020204020204" pitchFamily="34" charset="-122"/>
                  </a:rPr>
                  <a:t>接的递归神经网络来表示机器人工作的结构空间，</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神经网</a:t>
                </a:r>
                <a:r>
                  <a:rPr lang="zh-CN" altLang="zh-CN" sz="2400" b="1" kern="1000" dirty="0">
                    <a:effectLst/>
                    <a:latin typeface="微软雅黑" panose="020B0503020204020204" pitchFamily="34" charset="-122"/>
                    <a:ea typeface="微软雅黑" panose="020B0503020204020204" pitchFamily="34" charset="-122"/>
                  </a:rPr>
                  <a:t>络中每个神经元与其邻域内神经元的连接形式都相同，</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其</a:t>
                </a:r>
                <a:r>
                  <a:rPr lang="zh-CN" altLang="zh-CN" sz="2400" b="1" kern="1000" dirty="0">
                    <a:effectLst/>
                    <a:latin typeface="微软雅黑" panose="020B0503020204020204" pitchFamily="34" charset="-122"/>
                    <a:ea typeface="微软雅黑" panose="020B0503020204020204" pitchFamily="34" charset="-122"/>
                  </a:rPr>
                  <a:t>中第</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个神经元与其邻域内神经元的连接形式如图</a:t>
                </a:r>
                <a:r>
                  <a:rPr lang="en-US" altLang="zh-CN" sz="2400" b="1" kern="1000" dirty="0">
                    <a:effectLst/>
                    <a:latin typeface="微软雅黑" panose="020B0503020204020204" pitchFamily="34" charset="-122"/>
                    <a:ea typeface="微软雅黑" panose="020B0503020204020204" pitchFamily="34" charset="-122"/>
                  </a:rPr>
                  <a:t>6.21</a:t>
                </a:r>
                <a:r>
                  <a:rPr lang="zh-CN" altLang="zh-CN" sz="2400" b="1" kern="1000" dirty="0">
                    <a:effectLst/>
                    <a:latin typeface="微软雅黑" panose="020B0503020204020204" pitchFamily="34" charset="-122"/>
                    <a:ea typeface="微软雅黑" panose="020B0503020204020204" pitchFamily="34" charset="-122"/>
                  </a:rPr>
                  <a:t>所示。</a:t>
                </a:r>
              </a:p>
            </p:txBody>
          </p:sp>
        </mc:Choice>
        <mc:Fallback xmlns="">
          <p:sp>
            <p:nvSpPr>
              <p:cNvPr id="9" name="文本框 8">
                <a:extLst>
                  <a:ext uri="{FF2B5EF4-FFF2-40B4-BE49-F238E27FC236}">
                    <a16:creationId xmlns:a16="http://schemas.microsoft.com/office/drawing/2014/main" id="{E2C4FD44-8061-237E-671F-2D64EEB3C412}"/>
                  </a:ext>
                </a:extLst>
              </p:cNvPr>
              <p:cNvSpPr txBox="1">
                <a:spLocks noRot="1" noChangeAspect="1" noMove="1" noResize="1" noEditPoints="1" noAdjustHandles="1" noChangeArrowheads="1" noChangeShapeType="1" noTextEdit="1"/>
              </p:cNvSpPr>
              <p:nvPr/>
            </p:nvSpPr>
            <p:spPr>
              <a:xfrm>
                <a:off x="1009048" y="1116531"/>
                <a:ext cx="10173903" cy="5339923"/>
              </a:xfrm>
              <a:prstGeom prst="rect">
                <a:avLst/>
              </a:prstGeom>
              <a:blipFill>
                <a:blip r:embed="rId2"/>
                <a:stretch>
                  <a:fillRect l="-959" t="-913" r="-4017" b="-17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01308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4" name="文本框 3">
            <a:extLst>
              <a:ext uri="{FF2B5EF4-FFF2-40B4-BE49-F238E27FC236}">
                <a16:creationId xmlns:a16="http://schemas.microsoft.com/office/drawing/2014/main" id="{B524CFAA-F631-34D7-BD05-F3FC3316B946}"/>
              </a:ext>
            </a:extLst>
          </p:cNvPr>
          <p:cNvSpPr txBox="1"/>
          <p:nvPr/>
        </p:nvSpPr>
        <p:spPr>
          <a:xfrm>
            <a:off x="1105301" y="1203157"/>
            <a:ext cx="9981398" cy="830997"/>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rPr>
              <a:t>神经网络具有高度并行的体系结构，</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神经元之间信息</a:t>
            </a:r>
            <a:r>
              <a:rPr lang="zh-CN" altLang="zh-CN" sz="2400" b="1" kern="1000" dirty="0">
                <a:effectLst/>
                <a:latin typeface="微软雅黑" panose="020B0503020204020204" pitchFamily="34" charset="-122"/>
                <a:ea typeface="微软雅黑" panose="020B0503020204020204" pitchFamily="34" charset="-122"/>
              </a:rPr>
              <a:t>的传播是双向的，</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每个神经元节点对应于离散化结构空间</a:t>
            </a:r>
            <a:r>
              <a:rPr lang="zh-CN" altLang="zh-CN" sz="2400" b="1" kern="1000" dirty="0">
                <a:effectLst/>
                <a:latin typeface="微软雅黑" panose="020B0503020204020204" pitchFamily="34" charset="-122"/>
                <a:ea typeface="微软雅黑" panose="020B0503020204020204" pitchFamily="34" charset="-122"/>
              </a:rPr>
              <a:t>中的一个位置。</a:t>
            </a:r>
            <a:endParaRPr lang="zh-CN" altLang="en-US" sz="2400" b="1" dirty="0"/>
          </a:p>
        </p:txBody>
      </p:sp>
      <p:grpSp>
        <p:nvGrpSpPr>
          <p:cNvPr id="8" name="组合 7">
            <a:extLst>
              <a:ext uri="{FF2B5EF4-FFF2-40B4-BE49-F238E27FC236}">
                <a16:creationId xmlns:a16="http://schemas.microsoft.com/office/drawing/2014/main" id="{0D2CD7EF-1075-2D89-5522-0F282A133A41}"/>
              </a:ext>
            </a:extLst>
          </p:cNvPr>
          <p:cNvGrpSpPr/>
          <p:nvPr/>
        </p:nvGrpSpPr>
        <p:grpSpPr>
          <a:xfrm>
            <a:off x="4293535" y="2138161"/>
            <a:ext cx="4380431" cy="3232736"/>
            <a:chOff x="-2092466" y="-1457278"/>
            <a:chExt cx="18846841" cy="9286468"/>
          </a:xfrm>
        </p:grpSpPr>
        <p:sp>
          <p:nvSpPr>
            <p:cNvPr id="6" name="Rectangle 2">
              <a:extLst>
                <a:ext uri="{FF2B5EF4-FFF2-40B4-BE49-F238E27FC236}">
                  <a16:creationId xmlns:a16="http://schemas.microsoft.com/office/drawing/2014/main" id="{8EAC73F7-8DE0-2476-0C32-97D6728F18D0}"/>
                </a:ext>
              </a:extLst>
            </p:cNvPr>
            <p:cNvSpPr>
              <a:spLocks noChangeArrowheads="1"/>
            </p:cNvSpPr>
            <p:nvPr/>
          </p:nvSpPr>
          <p:spPr bwMode="auto">
            <a:xfrm>
              <a:off x="4562375" y="263789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476A597B-3D11-CAE8-E69D-DA4FBD755B50}"/>
                </a:ext>
              </a:extLst>
            </p:cNvPr>
            <p:cNvGraphicFramePr>
              <a:graphicFrameLocks noChangeAspect="1"/>
            </p:cNvGraphicFramePr>
            <p:nvPr>
              <p:extLst>
                <p:ext uri="{D42A27DB-BD31-4B8C-83A1-F6EECF244321}">
                  <p14:modId xmlns:p14="http://schemas.microsoft.com/office/powerpoint/2010/main" val="2035545826"/>
                </p:ext>
              </p:extLst>
            </p:nvPr>
          </p:nvGraphicFramePr>
          <p:xfrm>
            <a:off x="-2092466" y="-1457278"/>
            <a:ext cx="15510242" cy="9286468"/>
          </p:xfrm>
          <a:graphic>
            <a:graphicData uri="http://schemas.openxmlformats.org/presentationml/2006/ole">
              <mc:AlternateContent xmlns:mc="http://schemas.openxmlformats.org/markup-compatibility/2006">
                <mc:Choice xmlns:v="urn:schemas-microsoft-com:vml" Requires="v">
                  <p:oleObj r:id="rId2" imgW="5829257" imgH="5228993" progId="Visio.Drawing.15">
                    <p:embed/>
                  </p:oleObj>
                </mc:Choice>
                <mc:Fallback>
                  <p:oleObj r:id="rId2" imgW="5829257" imgH="5228993"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2466" y="-1457278"/>
                          <a:ext cx="15510242" cy="9286468"/>
                        </a:xfrm>
                        <a:prstGeom prst="rect">
                          <a:avLst/>
                        </a:prstGeom>
                        <a:noFill/>
                      </p:spPr>
                    </p:pic>
                  </p:oleObj>
                </mc:Fallback>
              </mc:AlternateContent>
            </a:graphicData>
          </a:graphic>
        </p:graphicFrame>
      </p:grpSp>
      <p:sp>
        <p:nvSpPr>
          <p:cNvPr id="11" name="文本框 10">
            <a:extLst>
              <a:ext uri="{FF2B5EF4-FFF2-40B4-BE49-F238E27FC236}">
                <a16:creationId xmlns:a16="http://schemas.microsoft.com/office/drawing/2014/main" id="{56C47657-8BC6-64D5-28ED-F10C315A1DFF}"/>
              </a:ext>
            </a:extLst>
          </p:cNvPr>
          <p:cNvSpPr txBox="1"/>
          <p:nvPr/>
        </p:nvSpPr>
        <p:spPr>
          <a:xfrm>
            <a:off x="3032760" y="5474904"/>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6.21  </a:t>
            </a:r>
            <a:r>
              <a:rPr lang="zh-CN" altLang="zh-CN" sz="1800" kern="1000" dirty="0">
                <a:effectLst/>
                <a:latin typeface="Times New Roman" panose="02020603050405020304" pitchFamily="18" charset="0"/>
                <a:ea typeface="宋体" panose="02010600030101010101" pitchFamily="2" charset="-122"/>
              </a:rPr>
              <a:t>机器人工作空间划分</a:t>
            </a:r>
          </a:p>
        </p:txBody>
      </p:sp>
    </p:spTree>
    <p:extLst>
      <p:ext uri="{BB962C8B-B14F-4D97-AF65-F5344CB8AC3E}">
        <p14:creationId xmlns:p14="http://schemas.microsoft.com/office/powerpoint/2010/main" val="2783868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AA2BCD3-1B48-1E97-FAFA-374B43F922C4}"/>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29FE36A-5EF1-2D57-4574-83DF4DC67ED9}"/>
                  </a:ext>
                </a:extLst>
              </p:cNvPr>
              <p:cNvSpPr txBox="1"/>
              <p:nvPr/>
            </p:nvSpPr>
            <p:spPr>
              <a:xfrm>
                <a:off x="969222" y="1193532"/>
                <a:ext cx="10205709" cy="2723949"/>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神经网络中神经元某一时刻的活性值只与其邻域内的神经元状态和它自身前一时刻的状态有关。设第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个神经元邻域内神经元的活性值状态用向量</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表示</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d>
                      <m:dPr>
                        <m:ctrlPr>
                          <a:rPr lang="zh-CN" altLang="zh-CN" sz="2400" b="1" i="1" kern="1000">
                            <a:effectLst/>
                            <a:latin typeface="Cambria Math" panose="02040503050406030204" pitchFamily="18" charset="0"/>
                            <a:ea typeface="Cambria Math" panose="02040503050406030204" pitchFamily="18" charset="0"/>
                          </a:rPr>
                        </m:ctrlPr>
                      </m:d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𝒊</m:t>
                            </m:r>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r>
                          <a:rPr lang="zh-CN" altLang="zh-CN" sz="2400" b="1" i="1" kern="100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𝒊𝒏</m:t>
                            </m:r>
                          </m:sub>
                        </m:sSub>
                      </m:e>
                    </m:d>
                  </m:oMath>
                </a14:m>
                <a:r>
                  <a:rPr lang="zh-CN" altLang="zh-CN" sz="2400" b="1" kern="1000" dirty="0">
                    <a:effectLst/>
                    <a:latin typeface="微软雅黑" panose="020B0503020204020204" pitchFamily="34" charset="-122"/>
                    <a:ea typeface="微软雅黑" panose="020B0503020204020204" pitchFamily="34" charset="-122"/>
                  </a:rPr>
                  <a:t>；第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个神经元与其邻域内神经元之间的连接权用向量</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表示</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d>
                      <m:dPr>
                        <m:ctrlPr>
                          <a:rPr lang="zh-CN" altLang="zh-CN" sz="2400" b="1" i="1" kern="1000">
                            <a:effectLst/>
                            <a:latin typeface="Cambria Math" panose="02040503050406030204" pitchFamily="18" charset="0"/>
                            <a:ea typeface="Cambria Math" panose="02040503050406030204" pitchFamily="18" charset="0"/>
                          </a:rPr>
                        </m:ctrlPr>
                      </m:d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𝒊</m:t>
                            </m:r>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r>
                          <a:rPr lang="zh-CN" altLang="zh-CN" sz="2400" b="1" i="1" kern="100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𝒊𝒏</m:t>
                            </m:r>
                          </m:sub>
                        </m:sSub>
                      </m:e>
                    </m:d>
                  </m:oMath>
                </a14:m>
                <a:r>
                  <a:rPr lang="zh-CN" altLang="zh-CN" sz="2400" b="1" kern="1000" dirty="0">
                    <a:effectLst/>
                    <a:latin typeface="微软雅黑" panose="020B0503020204020204" pitchFamily="34" charset="-122"/>
                    <a:ea typeface="微软雅黑" panose="020B0503020204020204" pitchFamily="34" charset="-122"/>
                  </a:rPr>
                  <a:t>；则可以将神经网络看作是一个由一系列神经元状态向量组成的离散时间动力学系统。</a:t>
                </a:r>
              </a:p>
              <a:p>
                <a:pPr indent="612000" algn="just"/>
                <a:r>
                  <a:rPr lang="zh-CN" altLang="zh-CN" sz="2400" b="1" kern="1000" dirty="0">
                    <a:effectLst/>
                    <a:latin typeface="微软雅黑" panose="020B0503020204020204" pitchFamily="34" charset="-122"/>
                    <a:ea typeface="微软雅黑" panose="020B0503020204020204" pitchFamily="34" charset="-122"/>
                  </a:rPr>
                  <a:t>神经网络的第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个神经元代表结构空间的第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个位置状态，</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用向量</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𝒒</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表示，</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𝒒</m:t>
                        </m:r>
                      </m:e>
                      <m:sub>
                        <m:r>
                          <a:rPr lang="en-US" altLang="zh-CN" sz="2400" b="1" i="1" kern="1000">
                            <a:effectLst/>
                            <a:latin typeface="Cambria Math" panose="02040503050406030204" pitchFamily="18" charset="0"/>
                            <a:ea typeface="宋体" panose="02010600030101010101" pitchFamily="2" charset="-122"/>
                          </a:rPr>
                          <m:t>𝒊</m:t>
                        </m:r>
                      </m:sub>
                    </m:sSub>
                    <m:r>
                      <a:rPr lang="zh-CN" altLang="zh-CN" sz="2400" b="1" i="1" kern="10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𝟐</m:t>
                        </m:r>
                      </m:sup>
                    </m:sSup>
                  </m:oMath>
                </a14:m>
                <a:r>
                  <a:rPr lang="zh-CN" altLang="zh-CN" sz="2400" b="1" kern="1000" dirty="0">
                    <a:effectLst/>
                    <a:latin typeface="微软雅黑" panose="020B0503020204020204" pitchFamily="34" charset="-122"/>
                    <a:ea typeface="微软雅黑" panose="020B0503020204020204" pitchFamily="34" charset="-122"/>
                  </a:rPr>
                  <a:t>，则第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个神经元离散时间动态方程为</a:t>
                </a:r>
              </a:p>
            </p:txBody>
          </p:sp>
        </mc:Choice>
        <mc:Fallback xmlns="">
          <p:sp>
            <p:nvSpPr>
              <p:cNvPr id="9" name="文本框 8">
                <a:extLst>
                  <a:ext uri="{FF2B5EF4-FFF2-40B4-BE49-F238E27FC236}">
                    <a16:creationId xmlns:a16="http://schemas.microsoft.com/office/drawing/2014/main" id="{629FE36A-5EF1-2D57-4574-83DF4DC67ED9}"/>
                  </a:ext>
                </a:extLst>
              </p:cNvPr>
              <p:cNvSpPr txBox="1">
                <a:spLocks noRot="1" noChangeAspect="1" noMove="1" noResize="1" noEditPoints="1" noAdjustHandles="1" noChangeArrowheads="1" noChangeShapeType="1" noTextEdit="1"/>
              </p:cNvSpPr>
              <p:nvPr/>
            </p:nvSpPr>
            <p:spPr>
              <a:xfrm>
                <a:off x="969222" y="1193532"/>
                <a:ext cx="10205709" cy="2723949"/>
              </a:xfrm>
              <a:prstGeom prst="rect">
                <a:avLst/>
              </a:prstGeom>
              <a:blipFill>
                <a:blip r:embed="rId2"/>
                <a:stretch>
                  <a:fillRect l="-956" t="-1790" r="-3943" b="-2908"/>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B240C6C7-A327-3B80-40E4-1B9A9F7E9B0F}"/>
              </a:ext>
            </a:extLst>
          </p:cNvPr>
          <p:cNvGraphicFramePr>
            <a:graphicFrameLocks noChangeAspect="1"/>
          </p:cNvGraphicFramePr>
          <p:nvPr>
            <p:extLst>
              <p:ext uri="{D42A27DB-BD31-4B8C-83A1-F6EECF244321}">
                <p14:modId xmlns:p14="http://schemas.microsoft.com/office/powerpoint/2010/main" val="2683641745"/>
              </p:ext>
            </p:extLst>
          </p:nvPr>
        </p:nvGraphicFramePr>
        <p:xfrm>
          <a:off x="3710723" y="3827975"/>
          <a:ext cx="3769610" cy="944813"/>
        </p:xfrm>
        <a:graphic>
          <a:graphicData uri="http://schemas.openxmlformats.org/presentationml/2006/ole">
            <mc:AlternateContent xmlns:mc="http://schemas.openxmlformats.org/markup-compatibility/2006">
              <mc:Choice xmlns:v="urn:schemas-microsoft-com:vml" Requires="v">
                <p:oleObj name="Equation" r:id="rId3" imgW="1862400" imgH="467167" progId="Equation.DSMT4">
                  <p:embed/>
                </p:oleObj>
              </mc:Choice>
              <mc:Fallback>
                <p:oleObj name="Equation" r:id="rId3" imgW="1862400" imgH="467167" progId="Equation.DSMT4">
                  <p:embed/>
                  <p:pic>
                    <p:nvPicPr>
                      <p:cNvPr id="0" name=""/>
                      <p:cNvPicPr/>
                      <p:nvPr/>
                    </p:nvPicPr>
                    <p:blipFill>
                      <a:blip r:embed="rId4"/>
                      <a:stretch>
                        <a:fillRect/>
                      </a:stretch>
                    </p:blipFill>
                    <p:spPr>
                      <a:xfrm>
                        <a:off x="3710723" y="3827975"/>
                        <a:ext cx="3769610" cy="944813"/>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F518D6DD-7029-2E99-7C26-31385BFDADA8}"/>
              </a:ext>
            </a:extLst>
          </p:cNvPr>
          <p:cNvSpPr txBox="1"/>
          <p:nvPr/>
        </p:nvSpPr>
        <p:spPr>
          <a:xfrm>
            <a:off x="8834831" y="4236255"/>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(6.19)</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C671D1E-A173-56FE-21B5-4BED4492071A}"/>
                  </a:ext>
                </a:extLst>
              </p:cNvPr>
              <p:cNvSpPr txBox="1"/>
              <p:nvPr/>
            </p:nvSpPr>
            <p:spPr>
              <a:xfrm>
                <a:off x="969221" y="4659962"/>
                <a:ext cx="10205709" cy="2009012"/>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𝒊</m:t>
                        </m:r>
                      </m:sub>
                    </m:sSub>
                    <m:d>
                      <m:dPr>
                        <m:ctrlPr>
                          <a:rPr lang="zh-CN" altLang="zh-CN" sz="2400" b="1" i="1" kern="1000">
                            <a:effectLst/>
                            <a:latin typeface="Cambria Math" panose="02040503050406030204" pitchFamily="18" charset="0"/>
                            <a:ea typeface="Cambria Math" panose="02040503050406030204" pitchFamily="18" charset="0"/>
                          </a:rPr>
                        </m:ctrlPr>
                      </m:dPr>
                      <m:e>
                        <m:r>
                          <a:rPr lang="en-US" altLang="zh-CN" sz="2400" b="1" i="1" kern="1000">
                            <a:effectLst/>
                            <a:latin typeface="Cambria Math" panose="02040503050406030204" pitchFamily="18" charset="0"/>
                            <a:ea typeface="宋体" panose="02010600030101010101" pitchFamily="2" charset="-122"/>
                          </a:rPr>
                          <m:t>𝒕</m:t>
                        </m:r>
                      </m:e>
                    </m:d>
                  </m:oMath>
                </a14:m>
                <a:r>
                  <a:rPr lang="zh-CN" altLang="zh-CN" sz="2400" b="1" kern="1000" dirty="0">
                    <a:effectLst/>
                    <a:latin typeface="微软雅黑" panose="020B0503020204020204" pitchFamily="34" charset="-122"/>
                    <a:ea typeface="微软雅黑" panose="020B0503020204020204" pitchFamily="34" charset="-122"/>
                  </a:rPr>
                  <a:t>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个神经元在</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𝒕</m:t>
                    </m:r>
                  </m:oMath>
                </a14:m>
                <a:r>
                  <a:rPr lang="zh-CN" altLang="zh-CN" sz="2400" b="1" kern="1000" dirty="0">
                    <a:effectLst/>
                    <a:latin typeface="微软雅黑" panose="020B0503020204020204" pitchFamily="34" charset="-122"/>
                    <a:ea typeface="微软雅黑" panose="020B0503020204020204" pitchFamily="34" charset="-122"/>
                  </a:rPr>
                  <a:t>时刻的活性值，</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𝑵</m:t>
                    </m:r>
                  </m:oMath>
                </a14:m>
                <a:r>
                  <a:rPr lang="zh-CN" altLang="zh-CN" sz="2400" b="1" kern="1000" dirty="0">
                    <a:effectLst/>
                    <a:latin typeface="微软雅黑" panose="020B0503020204020204" pitchFamily="34" charset="-122"/>
                    <a:ea typeface="微软雅黑" panose="020B0503020204020204" pitchFamily="34" charset="-122"/>
                  </a:rPr>
                  <a:t>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个神经元邻域内的神经元个数。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𝒘</m:t>
                    </m:r>
                  </m:oMath>
                </a14:m>
                <a:r>
                  <a:rPr lang="zh-CN" altLang="zh-CN" sz="2400" b="1" kern="1000" dirty="0">
                    <a:effectLst/>
                    <a:latin typeface="微软雅黑" panose="020B0503020204020204" pitchFamily="34" charset="-122"/>
                    <a:ea typeface="微软雅黑" panose="020B0503020204020204" pitchFamily="34" charset="-122"/>
                  </a:rPr>
                  <a:t>为较小的正数，</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表示第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个神经元当前时刻的活性值受其前一时刻状态的影响程度。</a:t>
                </a:r>
                <a14:m>
                  <m:oMath xmlns:m="http://schemas.openxmlformats.org/officeDocument/2006/math">
                    <m:nary>
                      <m:naryPr>
                        <m:chr m:val="∑"/>
                        <m:subHide m:val="on"/>
                        <m:supHide m:val="on"/>
                        <m:ctrlPr>
                          <a:rPr lang="zh-CN" altLang="zh-CN" sz="2400" b="1" i="1" kern="1000">
                            <a:effectLst/>
                            <a:latin typeface="Cambria Math" panose="02040503050406030204" pitchFamily="18" charset="0"/>
                            <a:ea typeface="Cambria Math" panose="02040503050406030204" pitchFamily="18" charset="0"/>
                          </a:rPr>
                        </m:ctrlPr>
                      </m:naryPr>
                      <m:sub/>
                      <m:sup/>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𝒊𝒋</m:t>
                            </m:r>
                          </m:sub>
                        </m:sSub>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𝒊</m:t>
                            </m:r>
                          </m:sub>
                        </m:sSub>
                        <m:d>
                          <m:dPr>
                            <m:ctrlPr>
                              <a:rPr lang="zh-CN" altLang="zh-CN" sz="2400" b="1" i="1" kern="1000">
                                <a:effectLst/>
                                <a:latin typeface="Cambria Math" panose="02040503050406030204" pitchFamily="18" charset="0"/>
                                <a:ea typeface="Cambria Math" panose="02040503050406030204" pitchFamily="18" charset="0"/>
                              </a:rPr>
                            </m:ctrlPr>
                          </m:dPr>
                          <m:e>
                            <m:r>
                              <a:rPr lang="en-US" altLang="zh-CN" sz="2400" b="1" i="1" kern="1000">
                                <a:effectLst/>
                                <a:latin typeface="Cambria Math" panose="02040503050406030204" pitchFamily="18" charset="0"/>
                                <a:ea typeface="宋体" panose="02010600030101010101" pitchFamily="2" charset="-122"/>
                              </a:rPr>
                              <m:t>𝒕</m:t>
                            </m:r>
                          </m:e>
                        </m:d>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𝒘</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𝒊</m:t>
                            </m:r>
                          </m:sub>
                        </m:sSub>
                        <m:d>
                          <m:dPr>
                            <m:ctrlPr>
                              <a:rPr lang="zh-CN" altLang="zh-CN" sz="2400" b="1" i="1" kern="1000">
                                <a:effectLst/>
                                <a:latin typeface="Cambria Math" panose="02040503050406030204" pitchFamily="18" charset="0"/>
                                <a:ea typeface="Cambria Math" panose="02040503050406030204" pitchFamily="18" charset="0"/>
                              </a:rPr>
                            </m:ctrlPr>
                          </m:dPr>
                          <m:e>
                            <m:r>
                              <a:rPr lang="en-US" altLang="zh-CN" sz="2400" b="1" i="1" kern="1000">
                                <a:effectLst/>
                                <a:latin typeface="Cambria Math" panose="02040503050406030204" pitchFamily="18" charset="0"/>
                                <a:ea typeface="宋体" panose="02010600030101010101" pitchFamily="2" charset="-122"/>
                              </a:rPr>
                              <m:t>𝒕</m:t>
                            </m:r>
                          </m:e>
                        </m:d>
                      </m:e>
                    </m:nary>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𝑰</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分别表示第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个神经元在</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𝒕</m:t>
                    </m:r>
                  </m:oMath>
                </a14:m>
                <a:r>
                  <a:rPr lang="zh-CN" altLang="zh-CN" sz="2400" b="1" kern="1000" dirty="0">
                    <a:effectLst/>
                    <a:latin typeface="微软雅黑" panose="020B0503020204020204" pitchFamily="34" charset="-122"/>
                    <a:ea typeface="微软雅黑" panose="020B0503020204020204" pitchFamily="34" charset="-122"/>
                  </a:rPr>
                  <a:t>时刻的激励输入和抑制输入。</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𝒊𝒋</m:t>
                        </m:r>
                      </m:sub>
                    </m:sSub>
                  </m:oMath>
                </a14:m>
                <a:r>
                  <a:rPr lang="zh-CN" altLang="zh-CN" sz="2400" b="1" kern="1000" dirty="0">
                    <a:effectLst/>
                    <a:latin typeface="微软雅黑" panose="020B0503020204020204" pitchFamily="34" charset="-122"/>
                    <a:ea typeface="微软雅黑" panose="020B0503020204020204" pitchFamily="34" charset="-122"/>
                  </a:rPr>
                  <a:t>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𝒋</m:t>
                    </m:r>
                  </m:oMath>
                </a14:m>
                <a:r>
                  <a:rPr lang="zh-CN" altLang="zh-CN" sz="2400" b="1" kern="1000" dirty="0">
                    <a:effectLst/>
                    <a:latin typeface="微软雅黑" panose="020B0503020204020204" pitchFamily="34" charset="-122"/>
                    <a:ea typeface="微软雅黑" panose="020B0503020204020204" pitchFamily="34" charset="-122"/>
                  </a:rPr>
                  <a:t>个神经元到第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个神经元的连接权，</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计算公式如式（</a:t>
                </a:r>
                <a:r>
                  <a:rPr lang="en-US" altLang="zh-CN" sz="2400" b="1" kern="1000" dirty="0">
                    <a:effectLst/>
                    <a:latin typeface="微软雅黑" panose="020B0503020204020204" pitchFamily="34" charset="-122"/>
                    <a:ea typeface="微软雅黑" panose="020B0503020204020204" pitchFamily="34" charset="-122"/>
                  </a:rPr>
                  <a:t>6.20</a:t>
                </a:r>
                <a:r>
                  <a:rPr lang="zh-CN" altLang="zh-CN" sz="2400" b="1" kern="1000" dirty="0">
                    <a:effectLst/>
                    <a:latin typeface="微软雅黑" panose="020B0503020204020204" pitchFamily="34" charset="-122"/>
                    <a:ea typeface="微软雅黑" panose="020B0503020204020204" pitchFamily="34" charset="-122"/>
                  </a:rPr>
                  <a:t>）所示。</a:t>
                </a:r>
              </a:p>
            </p:txBody>
          </p:sp>
        </mc:Choice>
        <mc:Fallback xmlns="">
          <p:sp>
            <p:nvSpPr>
              <p:cNvPr id="14" name="文本框 13">
                <a:extLst>
                  <a:ext uri="{FF2B5EF4-FFF2-40B4-BE49-F238E27FC236}">
                    <a16:creationId xmlns:a16="http://schemas.microsoft.com/office/drawing/2014/main" id="{0C671D1E-A173-56FE-21B5-4BED4492071A}"/>
                  </a:ext>
                </a:extLst>
              </p:cNvPr>
              <p:cNvSpPr txBox="1">
                <a:spLocks noRot="1" noChangeAspect="1" noMove="1" noResize="1" noEditPoints="1" noAdjustHandles="1" noChangeArrowheads="1" noChangeShapeType="1" noTextEdit="1"/>
              </p:cNvSpPr>
              <p:nvPr/>
            </p:nvSpPr>
            <p:spPr>
              <a:xfrm>
                <a:off x="969221" y="4659962"/>
                <a:ext cx="10205709" cy="2009012"/>
              </a:xfrm>
              <a:prstGeom prst="rect">
                <a:avLst/>
              </a:prstGeom>
              <a:blipFill>
                <a:blip r:embed="rId5"/>
                <a:stretch>
                  <a:fillRect l="-956" t="-2424" r="-896" b="-57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0979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graphicFrame>
        <p:nvGraphicFramePr>
          <p:cNvPr id="5" name="对象 4">
            <a:extLst>
              <a:ext uri="{FF2B5EF4-FFF2-40B4-BE49-F238E27FC236}">
                <a16:creationId xmlns:a16="http://schemas.microsoft.com/office/drawing/2014/main" id="{D4FB3531-558D-91B7-094F-7C461122BF93}"/>
              </a:ext>
            </a:extLst>
          </p:cNvPr>
          <p:cNvGraphicFramePr>
            <a:graphicFrameLocks noChangeAspect="1"/>
          </p:cNvGraphicFramePr>
          <p:nvPr>
            <p:extLst>
              <p:ext uri="{D42A27DB-BD31-4B8C-83A1-F6EECF244321}">
                <p14:modId xmlns:p14="http://schemas.microsoft.com/office/powerpoint/2010/main" val="1886253782"/>
              </p:ext>
            </p:extLst>
          </p:nvPr>
        </p:nvGraphicFramePr>
        <p:xfrm>
          <a:off x="3400425" y="1131888"/>
          <a:ext cx="3435350" cy="1335087"/>
        </p:xfrm>
        <a:graphic>
          <a:graphicData uri="http://schemas.openxmlformats.org/presentationml/2006/ole">
            <mc:AlternateContent xmlns:mc="http://schemas.openxmlformats.org/markup-compatibility/2006">
              <mc:Choice xmlns:v="urn:schemas-microsoft-com:vml" Requires="v">
                <p:oleObj name="Equation" r:id="rId2" imgW="1600200" imgH="622080" progId="Equation.DSMT4">
                  <p:embed/>
                </p:oleObj>
              </mc:Choice>
              <mc:Fallback>
                <p:oleObj name="Equation" r:id="rId2" imgW="1600200" imgH="622080" progId="Equation.DSMT4">
                  <p:embed/>
                  <p:pic>
                    <p:nvPicPr>
                      <p:cNvPr id="0" name=""/>
                      <p:cNvPicPr/>
                      <p:nvPr/>
                    </p:nvPicPr>
                    <p:blipFill>
                      <a:blip r:embed="rId3"/>
                      <a:stretch>
                        <a:fillRect/>
                      </a:stretch>
                    </p:blipFill>
                    <p:spPr>
                      <a:xfrm>
                        <a:off x="3400425" y="1131888"/>
                        <a:ext cx="3435350" cy="133508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0F4958C-434C-6AD0-D4DA-9619FBC705BD}"/>
                  </a:ext>
                </a:extLst>
              </p:cNvPr>
              <p:cNvSpPr txBox="1"/>
              <p:nvPr/>
            </p:nvSpPr>
            <p:spPr>
              <a:xfrm>
                <a:off x="1110113" y="2575111"/>
                <a:ext cx="9971773" cy="927433"/>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d>
                      <m:dPr>
                        <m:begChr m:val="|"/>
                        <m:endChr m:val="|"/>
                        <m:ctrlPr>
                          <a:rPr lang="zh-CN" altLang="zh-CN" sz="2400" b="1" i="1" kern="1000">
                            <a:effectLst/>
                            <a:latin typeface="Cambria Math" panose="02040503050406030204" pitchFamily="18" charset="0"/>
                            <a:ea typeface="Cambria Math" panose="02040503050406030204" pitchFamily="18" charset="0"/>
                          </a:rPr>
                        </m:ctrlPr>
                      </m:d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𝒒</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𝒒</m:t>
                            </m:r>
                          </m:e>
                          <m:sub>
                            <m:r>
                              <a:rPr lang="en-US" altLang="zh-CN" sz="2400" b="1" i="1" kern="1000">
                                <a:effectLst/>
                                <a:latin typeface="Cambria Math" panose="02040503050406030204" pitchFamily="18" charset="0"/>
                                <a:ea typeface="宋体" panose="02010600030101010101" pitchFamily="2" charset="-122"/>
                              </a:rPr>
                              <m:t>𝒋</m:t>
                            </m:r>
                          </m:sub>
                        </m:sSub>
                      </m:e>
                    </m:d>
                  </m:oMath>
                </a14:m>
                <a:r>
                  <a:rPr lang="zh-CN" altLang="zh-CN" sz="2400" b="1" kern="1000" dirty="0">
                    <a:effectLst/>
                    <a:latin typeface="微软雅黑" panose="020B0503020204020204" pitchFamily="34" charset="-122"/>
                    <a:ea typeface="微软雅黑" panose="020B0503020204020204" pitchFamily="34" charset="-122"/>
                  </a:rPr>
                  <a:t>为结构空间中向量</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𝒒</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𝒒</m:t>
                        </m:r>
                      </m:e>
                      <m:sub>
                        <m:r>
                          <a:rPr lang="en-US" altLang="zh-CN" sz="2400" b="1" i="1" kern="1000">
                            <a:effectLst/>
                            <a:latin typeface="Cambria Math" panose="02040503050406030204" pitchFamily="18" charset="0"/>
                            <a:ea typeface="宋体" panose="02010600030101010101" pitchFamily="2" charset="-122"/>
                          </a:rPr>
                          <m:t>𝒋</m:t>
                        </m:r>
                      </m:sub>
                    </m:sSub>
                  </m:oMath>
                </a14:m>
                <a:r>
                  <a:rPr lang="zh-CN" altLang="zh-CN" sz="2400" b="1" kern="1000" dirty="0">
                    <a:effectLst/>
                    <a:latin typeface="微软雅黑" panose="020B0503020204020204" pitchFamily="34" charset="-122"/>
                    <a:ea typeface="微软雅黑" panose="020B0503020204020204" pitchFamily="34" charset="-122"/>
                  </a:rPr>
                  <a:t>之间的欧式距离，</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𝜼</m:t>
                    </m:r>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𝒓</m:t>
                    </m:r>
                  </m:oMath>
                </a14:m>
                <a:r>
                  <a:rPr lang="zh-CN" altLang="zh-CN" sz="2400" b="1" kern="1000" dirty="0">
                    <a:effectLst/>
                    <a:latin typeface="微软雅黑" panose="020B0503020204020204" pitchFamily="34" charset="-122"/>
                    <a:ea typeface="微软雅黑" panose="020B0503020204020204" pitchFamily="34" charset="-122"/>
                  </a:rPr>
                  <a:t>为正的常数，</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显然</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𝒊𝒋</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𝒘</m:t>
                        </m:r>
                      </m:e>
                      <m:sub>
                        <m:r>
                          <a:rPr lang="en-US" altLang="zh-CN" sz="2400" b="1" i="1" kern="1000">
                            <a:effectLst/>
                            <a:latin typeface="Cambria Math" panose="02040503050406030204" pitchFamily="18" charset="0"/>
                            <a:ea typeface="宋体" panose="02010600030101010101" pitchFamily="2" charset="-122"/>
                          </a:rPr>
                          <m:t>𝒋𝒊</m:t>
                        </m:r>
                      </m:sub>
                    </m:sSub>
                  </m:oMath>
                </a14:m>
                <a:r>
                  <a:rPr lang="zh-CN" altLang="zh-CN" sz="2400" b="1" kern="1000" dirty="0">
                    <a:effectLst/>
                    <a:latin typeface="微软雅黑" panose="020B0503020204020204" pitchFamily="34" charset="-122"/>
                    <a:ea typeface="微软雅黑" panose="020B0503020204020204" pitchFamily="34" charset="-122"/>
                  </a:rPr>
                  <a:t>。</a:t>
                </a:r>
              </a:p>
            </p:txBody>
          </p:sp>
        </mc:Choice>
        <mc:Fallback xmlns="">
          <p:sp>
            <p:nvSpPr>
              <p:cNvPr id="12" name="文本框 11">
                <a:extLst>
                  <a:ext uri="{FF2B5EF4-FFF2-40B4-BE49-F238E27FC236}">
                    <a16:creationId xmlns:a16="http://schemas.microsoft.com/office/drawing/2014/main" id="{70F4958C-434C-6AD0-D4DA-9619FBC705BD}"/>
                  </a:ext>
                </a:extLst>
              </p:cNvPr>
              <p:cNvSpPr txBox="1">
                <a:spLocks noRot="1" noChangeAspect="1" noMove="1" noResize="1" noEditPoints="1" noAdjustHandles="1" noChangeArrowheads="1" noChangeShapeType="1" noTextEdit="1"/>
              </p:cNvSpPr>
              <p:nvPr/>
            </p:nvSpPr>
            <p:spPr>
              <a:xfrm>
                <a:off x="1110113" y="2575111"/>
                <a:ext cx="9971773" cy="927433"/>
              </a:xfrm>
              <a:prstGeom prst="rect">
                <a:avLst/>
              </a:prstGeom>
              <a:blipFill>
                <a:blip r:embed="rId4"/>
                <a:stretch>
                  <a:fillRect l="-917" t="-2614" r="-978" b="-9804"/>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FBD437FB-2B13-58CE-6792-3A0C06E0A386}"/>
              </a:ext>
            </a:extLst>
          </p:cNvPr>
          <p:cNvSpPr txBox="1"/>
          <p:nvPr/>
        </p:nvSpPr>
        <p:spPr>
          <a:xfrm>
            <a:off x="8016684" y="1770102"/>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(6.20)</a:t>
            </a:r>
            <a:endParaRPr lang="zh-CN" altLang="zh-CN" sz="2000" b="1" kern="1050" dirty="0">
              <a:effectLst/>
              <a:latin typeface="微软雅黑" panose="020B0503020204020204" pitchFamily="34" charset="-122"/>
              <a:ea typeface="微软雅黑" panose="020B0503020204020204" pitchFamily="34" charset="-122"/>
            </a:endParaRPr>
          </a:p>
        </p:txBody>
      </p:sp>
      <p:graphicFrame>
        <p:nvGraphicFramePr>
          <p:cNvPr id="14" name="对象 13">
            <a:extLst>
              <a:ext uri="{FF2B5EF4-FFF2-40B4-BE49-F238E27FC236}">
                <a16:creationId xmlns:a16="http://schemas.microsoft.com/office/drawing/2014/main" id="{87E79D43-0D9F-E020-0407-208384643568}"/>
              </a:ext>
            </a:extLst>
          </p:cNvPr>
          <p:cNvGraphicFramePr>
            <a:graphicFrameLocks noChangeAspect="1"/>
          </p:cNvGraphicFramePr>
          <p:nvPr>
            <p:extLst>
              <p:ext uri="{D42A27DB-BD31-4B8C-83A1-F6EECF244321}">
                <p14:modId xmlns:p14="http://schemas.microsoft.com/office/powerpoint/2010/main" val="909397798"/>
              </p:ext>
            </p:extLst>
          </p:nvPr>
        </p:nvGraphicFramePr>
        <p:xfrm>
          <a:off x="4106150" y="3502544"/>
          <a:ext cx="2519240" cy="1420496"/>
        </p:xfrm>
        <a:graphic>
          <a:graphicData uri="http://schemas.openxmlformats.org/presentationml/2006/ole">
            <mc:AlternateContent xmlns:mc="http://schemas.openxmlformats.org/markup-compatibility/2006">
              <mc:Choice xmlns:v="urn:schemas-microsoft-com:vml" Requires="v">
                <p:oleObj name="Equation" r:id="rId5" imgW="1168579" imgH="658215" progId="Equation.DSMT4">
                  <p:embed/>
                </p:oleObj>
              </mc:Choice>
              <mc:Fallback>
                <p:oleObj name="Equation" r:id="rId5" imgW="1168579" imgH="658215" progId="Equation.DSMT4">
                  <p:embed/>
                  <p:pic>
                    <p:nvPicPr>
                      <p:cNvPr id="0" name=""/>
                      <p:cNvPicPr/>
                      <p:nvPr/>
                    </p:nvPicPr>
                    <p:blipFill>
                      <a:blip r:embed="rId6"/>
                      <a:stretch>
                        <a:fillRect/>
                      </a:stretch>
                    </p:blipFill>
                    <p:spPr>
                      <a:xfrm>
                        <a:off x="4106150" y="3502544"/>
                        <a:ext cx="2519240" cy="1420496"/>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C18DADE7-9D6D-ADFA-B4D1-D26706497A9C}"/>
              </a:ext>
            </a:extLst>
          </p:cNvPr>
          <p:cNvSpPr txBox="1"/>
          <p:nvPr/>
        </p:nvSpPr>
        <p:spPr>
          <a:xfrm>
            <a:off x="8016684" y="4059160"/>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(6.21)</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54F11C5-5455-2A6D-6A89-C27F5BC6F117}"/>
                  </a:ext>
                </a:extLst>
              </p:cNvPr>
              <p:cNvSpPr txBox="1"/>
              <p:nvPr/>
            </p:nvSpPr>
            <p:spPr>
              <a:xfrm>
                <a:off x="1029902" y="5062059"/>
                <a:ext cx="10132194" cy="1200329"/>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其中，</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函数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d>
                      <m:dPr>
                        <m:ctrlPr>
                          <a:rPr lang="zh-CN" altLang="zh-CN" sz="2400" b="1" i="1" kern="1000">
                            <a:effectLst/>
                            <a:latin typeface="Cambria Math" panose="02040503050406030204" pitchFamily="18" charset="0"/>
                            <a:ea typeface="Cambria Math" panose="02040503050406030204" pitchFamily="18" charset="0"/>
                          </a:rPr>
                        </m:ctrlPr>
                      </m:dPr>
                      <m:e>
                        <m:r>
                          <a:rPr lang="en-US" altLang="zh-CN" sz="2400" b="1" i="1" kern="1000">
                            <a:effectLst/>
                            <a:latin typeface="Cambria Math" panose="02040503050406030204" pitchFamily="18" charset="0"/>
                            <a:ea typeface="宋体" panose="02010600030101010101" pitchFamily="2" charset="-122"/>
                          </a:rPr>
                          <m:t>𝒙</m:t>
                        </m:r>
                      </m:e>
                    </m:d>
                  </m:oMath>
                </a14:m>
                <a:r>
                  <a:rPr lang="zh-CN" altLang="zh-CN" sz="2400" b="1" kern="1000" dirty="0">
                    <a:effectLst/>
                    <a:latin typeface="微软雅黑" panose="020B0503020204020204" pitchFamily="34" charset="-122"/>
                    <a:ea typeface="微软雅黑" panose="020B0503020204020204" pitchFamily="34" charset="-122"/>
                  </a:rPr>
                  <a:t>为传递函数，</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它是一个单调递增的函数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𝒌</m:t>
                    </m:r>
                    <m:r>
                      <a:rPr lang="zh-CN" altLang="zh-CN" sz="2400" b="1" i="1" kern="1000">
                        <a:effectLst/>
                        <a:latin typeface="Cambria Math" panose="02040503050406030204" pitchFamily="18" charset="0"/>
                        <a:ea typeface="宋体" panose="02010600030101010101" pitchFamily="2" charset="-122"/>
                        <a:cs typeface="宋体" panose="02010600030101010101" pitchFamily="2" charset="-122"/>
                      </a:rPr>
                      <m:t>∈</m:t>
                    </m:r>
                    <m:d>
                      <m:dPr>
                        <m:ctrlPr>
                          <a:rPr lang="zh-CN" altLang="zh-CN" sz="2400" b="1" i="1" kern="1000">
                            <a:effectLst/>
                            <a:latin typeface="Cambria Math" panose="02040503050406030204" pitchFamily="18" charset="0"/>
                            <a:ea typeface="Cambria Math" panose="02040503050406030204" pitchFamily="18" charset="0"/>
                          </a:rPr>
                        </m:ctrlPr>
                      </m:dPr>
                      <m:e>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e>
                    </m:d>
                  </m:oMath>
                </a14:m>
                <a:r>
                  <a:rPr lang="zh-CN" altLang="zh-CN" sz="2400" b="1" kern="1000" dirty="0">
                    <a:effectLst/>
                    <a:latin typeface="微软雅黑" panose="020B0503020204020204" pitchFamily="34" charset="-122"/>
                    <a:ea typeface="微软雅黑" panose="020B0503020204020204" pitchFamily="34" charset="-122"/>
                  </a:rPr>
                  <a:t>。根据神经元的外部输入，</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d>
                      <m:dPr>
                        <m:ctrlPr>
                          <a:rPr lang="zh-CN" altLang="zh-CN" sz="2400" b="1" i="1" kern="1000">
                            <a:effectLst/>
                            <a:latin typeface="Cambria Math" panose="02040503050406030204" pitchFamily="18" charset="0"/>
                            <a:ea typeface="Cambria Math" panose="02040503050406030204" pitchFamily="18" charset="0"/>
                          </a:rPr>
                        </m:ctrlPr>
                      </m:dPr>
                      <m:e>
                        <m:r>
                          <a:rPr lang="en-US" altLang="zh-CN" sz="2400" b="1" i="1" kern="1000">
                            <a:effectLst/>
                            <a:latin typeface="Cambria Math" panose="02040503050406030204" pitchFamily="18" charset="0"/>
                            <a:ea typeface="宋体" panose="02010600030101010101" pitchFamily="2" charset="-122"/>
                          </a:rPr>
                          <m:t>𝒙</m:t>
                        </m:r>
                      </m:e>
                    </m:d>
                  </m:oMath>
                </a14:m>
                <a:r>
                  <a:rPr lang="zh-CN" altLang="zh-CN" sz="2400" b="1" kern="1000" dirty="0">
                    <a:effectLst/>
                    <a:latin typeface="微软雅黑" panose="020B0503020204020204" pitchFamily="34" charset="-122"/>
                    <a:ea typeface="微软雅黑" panose="020B0503020204020204" pitchFamily="34" charset="-122"/>
                  </a:rPr>
                  <a:t>保证了目标点位置神经元具有全局最大的正神经元活性值，</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障碍物区域神</a:t>
                </a:r>
                <a:r>
                  <a:rPr lang="zh-CN" altLang="zh-CN" sz="2400" b="1" kern="1000" dirty="0">
                    <a:effectLst/>
                    <a:latin typeface="微软雅黑" panose="020B0503020204020204" pitchFamily="34" charset="-122"/>
                    <a:ea typeface="微软雅黑" panose="020B0503020204020204" pitchFamily="34" charset="-122"/>
                  </a:rPr>
                  <a:t>经元的活性值则被抑制为零。</a:t>
                </a:r>
              </a:p>
            </p:txBody>
          </p:sp>
        </mc:Choice>
        <mc:Fallback xmlns="">
          <p:sp>
            <p:nvSpPr>
              <p:cNvPr id="18" name="文本框 17">
                <a:extLst>
                  <a:ext uri="{FF2B5EF4-FFF2-40B4-BE49-F238E27FC236}">
                    <a16:creationId xmlns:a16="http://schemas.microsoft.com/office/drawing/2014/main" id="{154F11C5-5455-2A6D-6A89-C27F5BC6F117}"/>
                  </a:ext>
                </a:extLst>
              </p:cNvPr>
              <p:cNvSpPr txBox="1">
                <a:spLocks noRot="1" noChangeAspect="1" noMove="1" noResize="1" noEditPoints="1" noAdjustHandles="1" noChangeArrowheads="1" noChangeShapeType="1" noTextEdit="1"/>
              </p:cNvSpPr>
              <p:nvPr/>
            </p:nvSpPr>
            <p:spPr>
              <a:xfrm>
                <a:off x="1029902" y="5062059"/>
                <a:ext cx="10132194" cy="1200329"/>
              </a:xfrm>
              <a:prstGeom prst="rect">
                <a:avLst/>
              </a:prstGeom>
              <a:blipFill>
                <a:blip r:embed="rId7"/>
                <a:stretch>
                  <a:fillRect l="-963" t="-4061" r="-903" b="-106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28647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4" name="文本框 3">
            <a:extLst>
              <a:ext uri="{FF2B5EF4-FFF2-40B4-BE49-F238E27FC236}">
                <a16:creationId xmlns:a16="http://schemas.microsoft.com/office/drawing/2014/main" id="{1B13B042-00E9-04BC-AF13-D0A67DC109FE}"/>
              </a:ext>
            </a:extLst>
          </p:cNvPr>
          <p:cNvSpPr txBox="1"/>
          <p:nvPr/>
        </p:nvSpPr>
        <p:spPr>
          <a:xfrm>
            <a:off x="1106906" y="969598"/>
            <a:ext cx="9740766" cy="1569660"/>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rPr>
              <a:t>利用式（</a:t>
            </a:r>
            <a:r>
              <a:rPr lang="en-US" altLang="zh-CN" sz="2400" b="1" kern="1000" dirty="0">
                <a:effectLst/>
                <a:latin typeface="微软雅黑" panose="020B0503020204020204" pitchFamily="34" charset="-122"/>
                <a:ea typeface="微软雅黑" panose="020B0503020204020204" pitchFamily="34" charset="-122"/>
              </a:rPr>
              <a:t>6.19</a:t>
            </a:r>
            <a:r>
              <a:rPr lang="zh-CN" altLang="zh-CN" sz="2400" b="1" kern="1000" dirty="0">
                <a:effectLst/>
                <a:latin typeface="微软雅黑" panose="020B0503020204020204" pitchFamily="34" charset="-122"/>
                <a:ea typeface="微软雅黑" panose="020B0503020204020204" pitchFamily="34" charset="-122"/>
              </a:rPr>
              <a:t>）和式（</a:t>
            </a:r>
            <a:r>
              <a:rPr lang="en-US" altLang="zh-CN" sz="2400" b="1" kern="1000" dirty="0">
                <a:effectLst/>
                <a:latin typeface="微软雅黑" panose="020B0503020204020204" pitchFamily="34" charset="-122"/>
                <a:ea typeface="微软雅黑" panose="020B0503020204020204" pitchFamily="34" charset="-122"/>
              </a:rPr>
              <a:t>6.21</a:t>
            </a:r>
            <a:r>
              <a:rPr lang="zh-CN"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目标</a:t>
            </a:r>
            <a:r>
              <a:rPr lang="zh-CN" altLang="zh-CN" sz="2400" b="1" kern="1000" dirty="0">
                <a:effectLst/>
                <a:latin typeface="微软雅黑" panose="020B0503020204020204" pitchFamily="34" charset="-122"/>
                <a:ea typeface="微软雅黑" panose="020B0503020204020204" pitchFamily="34" charset="-122"/>
              </a:rPr>
              <a:t>点位置正的神经元活性值能够通过神经元的局部侧连接逐渐衰减地传播到整个状态空间，</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并且目标点神经元活性值在</a:t>
            </a:r>
            <a:r>
              <a:rPr lang="zh-CN" altLang="zh-CN" sz="2400" b="1" kern="1000" dirty="0">
                <a:effectLst/>
                <a:latin typeface="微软雅黑" panose="020B0503020204020204" pitchFamily="34" charset="-122"/>
                <a:ea typeface="微软雅黑" panose="020B0503020204020204" pitchFamily="34" charset="-122"/>
              </a:rPr>
              <a:t>传播过程中如果遇到障碍物就会被阻断，</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从而保证目标</a:t>
            </a:r>
            <a:r>
              <a:rPr lang="zh-CN" altLang="zh-CN" sz="2400" b="1" kern="1000" dirty="0">
                <a:effectLst/>
                <a:latin typeface="微软雅黑" panose="020B0503020204020204" pitchFamily="34" charset="-122"/>
                <a:ea typeface="微软雅黑" panose="020B0503020204020204" pitchFamily="34" charset="-122"/>
              </a:rPr>
              <a:t>点全局地吸引机器人，</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而障碍物只是在局部将机器人推开</a:t>
            </a:r>
            <a:r>
              <a:rPr lang="zh-CN" altLang="zh-CN" sz="2400" b="1" kern="1000" dirty="0">
                <a:effectLst/>
                <a:latin typeface="微软雅黑" panose="020B0503020204020204" pitchFamily="34" charset="-122"/>
                <a:ea typeface="微软雅黑" panose="020B0503020204020204" pitchFamily="34" charset="-122"/>
              </a:rPr>
              <a:t>实现避障。</a:t>
            </a:r>
            <a:endParaRPr lang="zh-CN" altLang="en-US" sz="2400" dirty="0"/>
          </a:p>
        </p:txBody>
      </p:sp>
      <p:graphicFrame>
        <p:nvGraphicFramePr>
          <p:cNvPr id="5" name="对象 4">
            <a:extLst>
              <a:ext uri="{FF2B5EF4-FFF2-40B4-BE49-F238E27FC236}">
                <a16:creationId xmlns:a16="http://schemas.microsoft.com/office/drawing/2014/main" id="{8ABB8AFA-97D7-0AD4-3684-C7EB61C890F3}"/>
              </a:ext>
            </a:extLst>
          </p:cNvPr>
          <p:cNvGraphicFramePr>
            <a:graphicFrameLocks noChangeAspect="1"/>
          </p:cNvGraphicFramePr>
          <p:nvPr>
            <p:extLst>
              <p:ext uri="{D42A27DB-BD31-4B8C-83A1-F6EECF244321}">
                <p14:modId xmlns:p14="http://schemas.microsoft.com/office/powerpoint/2010/main" val="2429715015"/>
              </p:ext>
            </p:extLst>
          </p:nvPr>
        </p:nvGraphicFramePr>
        <p:xfrm>
          <a:off x="3850713" y="2539258"/>
          <a:ext cx="3082612" cy="1415138"/>
        </p:xfrm>
        <a:graphic>
          <a:graphicData uri="http://schemas.openxmlformats.org/presentationml/2006/ole">
            <mc:AlternateContent xmlns:mc="http://schemas.openxmlformats.org/markup-compatibility/2006">
              <mc:Choice xmlns:v="urn:schemas-microsoft-com:vml" Requires="v">
                <p:oleObj name="Equation" r:id="rId2" imgW="1434688" imgH="658215" progId="Equation.DSMT4">
                  <p:embed/>
                </p:oleObj>
              </mc:Choice>
              <mc:Fallback>
                <p:oleObj name="Equation" r:id="rId2" imgW="1434688" imgH="658215" progId="Equation.DSMT4">
                  <p:embed/>
                  <p:pic>
                    <p:nvPicPr>
                      <p:cNvPr id="0" name=""/>
                      <p:cNvPicPr/>
                      <p:nvPr/>
                    </p:nvPicPr>
                    <p:blipFill>
                      <a:blip r:embed="rId3"/>
                      <a:stretch>
                        <a:fillRect/>
                      </a:stretch>
                    </p:blipFill>
                    <p:spPr>
                      <a:xfrm>
                        <a:off x="3850713" y="2539258"/>
                        <a:ext cx="3082612" cy="1415138"/>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3ACBC51F-5696-26E5-60D8-26FB607D7D74}"/>
              </a:ext>
            </a:extLst>
          </p:cNvPr>
          <p:cNvSpPr txBox="1"/>
          <p:nvPr/>
        </p:nvSpPr>
        <p:spPr>
          <a:xfrm>
            <a:off x="7893160" y="3246827"/>
            <a:ext cx="1319536" cy="307264"/>
          </a:xfrm>
          <a:prstGeom prst="rect">
            <a:avLst/>
          </a:prstGeom>
          <a:noFill/>
        </p:spPr>
        <p:txBody>
          <a:bodyPr wrap="square">
            <a:spAutoFit/>
          </a:bodyPr>
          <a:lstStyle/>
          <a:p>
            <a:pPr algn="just">
              <a:lnSpc>
                <a:spcPts val="1595"/>
              </a:lnSpc>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(6.22)</a:t>
            </a:r>
            <a:endParaRPr lang="zh-CN" altLang="zh-CN" sz="2000" b="1" kern="105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B8730CFD-DD9B-B3A0-4A96-F5DB9191A301}"/>
                  </a:ext>
                </a:extLst>
              </p:cNvPr>
              <p:cNvSpPr txBox="1"/>
              <p:nvPr/>
            </p:nvSpPr>
            <p:spPr>
              <a:xfrm>
                <a:off x="1106906" y="3954396"/>
                <a:ext cx="9740765" cy="2677656"/>
              </a:xfrm>
              <a:prstGeom prst="rect">
                <a:avLst/>
              </a:prstGeom>
              <a:noFill/>
            </p:spPr>
            <p:txBody>
              <a:bodyPr wrap="square">
                <a:spAutoFit/>
              </a:bodyPr>
              <a:lstStyle/>
              <a:p>
                <a:pPr indent="612000"/>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𝑰</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为第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个神经元的外部输入，</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是由目标点和障碍物</a:t>
                </a:r>
                <a:r>
                  <a:rPr lang="zh-CN" altLang="zh-CN" sz="2400" b="1" kern="1000" dirty="0">
                    <a:effectLst/>
                    <a:latin typeface="微软雅黑" panose="020B0503020204020204" pitchFamily="34" charset="-122"/>
                    <a:ea typeface="微软雅黑" panose="020B0503020204020204" pitchFamily="34" charset="-122"/>
                  </a:rPr>
                  <a:t>的位置信息在神经网络拓扑结构中映射产生的。障碍物区域对应的神经元具有负的外部输入，</a:t>
                </a:r>
                <a:r>
                  <a:rPr lang="zh-CN" altLang="zh-CN" sz="2400" b="1" kern="1000" dirty="0">
                    <a:effectLst/>
                    <a:latin typeface="微软雅黑" panose="020B0503020204020204" pitchFamily="34" charset="-122"/>
                    <a:ea typeface="微软雅黑" panose="020B0503020204020204" pitchFamily="34" charset="-122"/>
                    <a:cs typeface="宋体" panose="02010600030101010101" pitchFamily="2" charset="-122"/>
                  </a:rPr>
                  <a:t>目标点神经元具有正</a:t>
                </a:r>
                <a:r>
                  <a:rPr lang="zh-CN" altLang="zh-CN" sz="2400" b="1" kern="1000" dirty="0">
                    <a:effectLst/>
                    <a:latin typeface="微软雅黑" panose="020B0503020204020204" pitchFamily="34" charset="-122"/>
                    <a:ea typeface="微软雅黑" panose="020B0503020204020204" pitchFamily="34" charset="-122"/>
                  </a:rPr>
                  <a:t>的外部输入。参数</a:t>
                </a:r>
                <a14:m>
                  <m:oMath xmlns:m="http://schemas.openxmlformats.org/officeDocument/2006/math">
                    <m:r>
                      <a:rPr lang="en-US" altLang="zh-CN" sz="2400" b="1" i="1" smtClean="0">
                        <a:solidFill>
                          <a:schemeClr val="tx1"/>
                        </a:solidFill>
                      </a:rPr>
                      <m:t>𝑬</m:t>
                    </m:r>
                  </m:oMath>
                </a14:m>
                <a:r>
                  <a:rPr lang="zh-CN" altLang="zh-CN" sz="2400" b="1" dirty="0">
                    <a:solidFill>
                      <a:schemeClr val="tx1"/>
                    </a:solidFill>
                    <a:latin typeface="微软雅黑" panose="020B0503020204020204" pitchFamily="34" charset="-122"/>
                    <a:ea typeface="微软雅黑" panose="020B0503020204020204" pitchFamily="34" charset="-122"/>
                  </a:rPr>
                  <a:t>决定了障碍物区域和目标点对应的神经元的外部输入值，为了保证目标点神经元具有全局最大的神经元活性值，而障碍物区域神经元具有全局最小的神经元活性值，</a:t>
                </a:r>
                <a14:m>
                  <m:oMath xmlns:m="http://schemas.openxmlformats.org/officeDocument/2006/math">
                    <m:r>
                      <a:rPr lang="en-US" altLang="zh-CN" sz="2400" b="1" i="1">
                        <a:solidFill>
                          <a:schemeClr val="tx1"/>
                        </a:solidFill>
                      </a:rPr>
                      <m:t>𝑬</m:t>
                    </m:r>
                  </m:oMath>
                </a14:m>
                <a:r>
                  <a:rPr lang="zh-CN" altLang="zh-CN" sz="2400" b="1" dirty="0">
                    <a:solidFill>
                      <a:schemeClr val="tx1"/>
                    </a:solidFill>
                    <a:latin typeface="微软雅黑" panose="020B0503020204020204" pitchFamily="34" charset="-122"/>
                    <a:ea typeface="微软雅黑" panose="020B0503020204020204" pitchFamily="34" charset="-122"/>
                  </a:rPr>
                  <a:t>的值应该远远大于神经元的输入总和。由于神经元侧连接输入与自反馈输入总和最大可能值为</a:t>
                </a:r>
                <a:r>
                  <a:rPr lang="en-US" altLang="zh-CN" sz="2400" b="1" dirty="0">
                    <a:solidFill>
                      <a:schemeClr val="tx1"/>
                    </a:solidFill>
                    <a:latin typeface="微软雅黑" panose="020B0503020204020204" pitchFamily="34" charset="-122"/>
                    <a:ea typeface="微软雅黑" panose="020B0503020204020204" pitchFamily="34" charset="-122"/>
                  </a:rPr>
                  <a:t>9</a:t>
                </a:r>
                <a:r>
                  <a:rPr lang="zh-CN" altLang="zh-CN" sz="2400" b="1" dirty="0">
                    <a:solidFill>
                      <a:schemeClr val="tx1"/>
                    </a:solidFill>
                    <a:latin typeface="微软雅黑" panose="020B0503020204020204" pitchFamily="34" charset="-122"/>
                    <a:ea typeface="微软雅黑" panose="020B0503020204020204" pitchFamily="34" charset="-122"/>
                  </a:rPr>
                  <a:t>，所以</a:t>
                </a:r>
                <a14:m>
                  <m:oMath xmlns:m="http://schemas.openxmlformats.org/officeDocument/2006/math">
                    <m:r>
                      <a:rPr lang="en-US" altLang="zh-CN" sz="2400" b="1" i="1">
                        <a:solidFill>
                          <a:schemeClr val="tx1"/>
                        </a:solidFill>
                      </a:rPr>
                      <m:t>𝑬</m:t>
                    </m:r>
                  </m:oMath>
                </a14:m>
                <a:r>
                  <a:rPr lang="zh-CN" altLang="zh-CN" sz="2400" b="1" dirty="0">
                    <a:solidFill>
                      <a:schemeClr val="tx1"/>
                    </a:solidFill>
                    <a:latin typeface="微软雅黑" panose="020B0503020204020204" pitchFamily="34" charset="-122"/>
                    <a:ea typeface="微软雅黑" panose="020B0503020204020204" pitchFamily="34" charset="-122"/>
                  </a:rPr>
                  <a:t>的取值应为远大于</a:t>
                </a:r>
                <a:r>
                  <a:rPr lang="en-US" altLang="zh-CN" sz="2400" b="1" dirty="0">
                    <a:solidFill>
                      <a:schemeClr val="tx1"/>
                    </a:solidFill>
                    <a:latin typeface="微软雅黑" panose="020B0503020204020204" pitchFamily="34" charset="-122"/>
                    <a:ea typeface="微软雅黑" panose="020B0503020204020204" pitchFamily="34" charset="-122"/>
                  </a:rPr>
                  <a:t>9</a:t>
                </a:r>
                <a:r>
                  <a:rPr lang="zh-CN" altLang="zh-CN" sz="2400" b="1" dirty="0">
                    <a:solidFill>
                      <a:schemeClr val="tx1"/>
                    </a:solidFill>
                    <a:latin typeface="微软雅黑" panose="020B0503020204020204" pitchFamily="34" charset="-122"/>
                    <a:ea typeface="微软雅黑" panose="020B0503020204020204" pitchFamily="34" charset="-122"/>
                  </a:rPr>
                  <a:t>的常数。</a:t>
                </a:r>
                <a:endParaRPr lang="zh-CN" altLang="zh-CN" sz="2400" b="1" kern="1000" dirty="0">
                  <a:effectLst/>
                  <a:latin typeface="微软雅黑" panose="020B0503020204020204" pitchFamily="34" charset="-122"/>
                  <a:ea typeface="微软雅黑" panose="020B0503020204020204" pitchFamily="34" charset="-122"/>
                </a:endParaRPr>
              </a:p>
            </p:txBody>
          </p:sp>
        </mc:Choice>
        <mc:Fallback>
          <p:sp>
            <p:nvSpPr>
              <p:cNvPr id="9" name="文本框 8">
                <a:extLst>
                  <a:ext uri="{FF2B5EF4-FFF2-40B4-BE49-F238E27FC236}">
                    <a16:creationId xmlns:a16="http://schemas.microsoft.com/office/drawing/2014/main" id="{B8730CFD-DD9B-B3A0-4A96-F5DB9191A301}"/>
                  </a:ext>
                </a:extLst>
              </p:cNvPr>
              <p:cNvSpPr txBox="1">
                <a:spLocks noRot="1" noChangeAspect="1" noMove="1" noResize="1" noEditPoints="1" noAdjustHandles="1" noChangeArrowheads="1" noChangeShapeType="1" noTextEdit="1"/>
              </p:cNvSpPr>
              <p:nvPr/>
            </p:nvSpPr>
            <p:spPr>
              <a:xfrm>
                <a:off x="1106906" y="3954396"/>
                <a:ext cx="9740765" cy="2677656"/>
              </a:xfrm>
              <a:prstGeom prst="rect">
                <a:avLst/>
              </a:prstGeom>
              <a:blipFill>
                <a:blip r:embed="rId4"/>
                <a:stretch>
                  <a:fillRect l="-1002" t="-1822" r="-188" b="-43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356309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5" name="文本框 4">
            <a:extLst>
              <a:ext uri="{FF2B5EF4-FFF2-40B4-BE49-F238E27FC236}">
                <a16:creationId xmlns:a16="http://schemas.microsoft.com/office/drawing/2014/main" id="{7C5D5624-0DC1-89E8-786F-1EA639E2ADF3}"/>
              </a:ext>
            </a:extLst>
          </p:cNvPr>
          <p:cNvSpPr txBox="1"/>
          <p:nvPr/>
        </p:nvSpPr>
        <p:spPr>
          <a:xfrm>
            <a:off x="1098884" y="1328287"/>
            <a:ext cx="9994231" cy="4524315"/>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整个路径规划的实时算法流程表示如下。</a:t>
            </a:r>
          </a:p>
          <a:p>
            <a:pPr indent="612000" algn="just"/>
            <a:r>
              <a:rPr lang="zh-CN" altLang="zh-CN" sz="2400" b="1" kern="1000" dirty="0">
                <a:effectLst/>
                <a:latin typeface="微软雅黑" panose="020B0503020204020204" pitchFamily="34" charset="-122"/>
                <a:ea typeface="微软雅黑" panose="020B0503020204020204" pitchFamily="34" charset="-122"/>
              </a:rPr>
              <a:t>步骤</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：将神经网络所有神经元活性值初始化为零，并利用式</a:t>
            </a:r>
            <a:r>
              <a:rPr lang="en-US" altLang="zh-CN" sz="2400" b="1" kern="1000" dirty="0">
                <a:effectLst/>
                <a:latin typeface="微软雅黑" panose="020B0503020204020204" pitchFamily="34" charset="-122"/>
                <a:ea typeface="微软雅黑" panose="020B0503020204020204" pitchFamily="34" charset="-122"/>
              </a:rPr>
              <a:t>(6.19)</a:t>
            </a:r>
            <a:r>
              <a:rPr lang="zh-CN" altLang="zh-CN" sz="2400" b="1" kern="1000" dirty="0">
                <a:effectLst/>
                <a:latin typeface="微软雅黑" panose="020B0503020204020204" pitchFamily="34" charset="-122"/>
                <a:ea typeface="微软雅黑" panose="020B0503020204020204" pitchFamily="34" charset="-122"/>
              </a:rPr>
              <a:t>和式</a:t>
            </a:r>
            <a:r>
              <a:rPr lang="en-US" altLang="zh-CN" sz="2400" b="1" kern="1000" dirty="0">
                <a:effectLst/>
                <a:latin typeface="微软雅黑" panose="020B0503020204020204" pitchFamily="34" charset="-122"/>
                <a:ea typeface="微软雅黑" panose="020B0503020204020204" pitchFamily="34" charset="-122"/>
              </a:rPr>
              <a:t>(6.21)</a:t>
            </a:r>
            <a:r>
              <a:rPr lang="zh-CN" altLang="zh-CN" sz="2400" b="1" kern="1000" dirty="0">
                <a:effectLst/>
                <a:latin typeface="微软雅黑" panose="020B0503020204020204" pitchFamily="34" charset="-122"/>
                <a:ea typeface="微软雅黑" panose="020B0503020204020204" pitchFamily="34" charset="-122"/>
              </a:rPr>
              <a:t>使目标点位置正的神经元活性值通过神经元之间的局部侧连接传播到出发点。</a:t>
            </a:r>
          </a:p>
          <a:p>
            <a:pPr indent="612000" algn="just"/>
            <a:r>
              <a:rPr lang="zh-CN" altLang="zh-CN" sz="2400" b="1" kern="100" dirty="0">
                <a:effectLst/>
                <a:latin typeface="微软雅黑" panose="020B0503020204020204" pitchFamily="34" charset="-122"/>
                <a:ea typeface="微软雅黑" panose="020B0503020204020204" pitchFamily="34" charset="-122"/>
              </a:rPr>
              <a:t>步骤</a:t>
            </a:r>
            <a:r>
              <a:rPr lang="en-US" altLang="zh-CN" sz="2400" b="1" kern="100" dirty="0">
                <a:effectLst/>
                <a:latin typeface="微软雅黑" panose="020B0503020204020204" pitchFamily="34" charset="-122"/>
                <a:ea typeface="微软雅黑" panose="020B0503020204020204" pitchFamily="34" charset="-122"/>
              </a:rPr>
              <a:t>2</a:t>
            </a:r>
            <a:r>
              <a:rPr lang="zh-CN" altLang="zh-CN" sz="2400" b="1" kern="100" dirty="0">
                <a:effectLst/>
                <a:latin typeface="微软雅黑" panose="020B0503020204020204" pitchFamily="34" charset="-122"/>
                <a:ea typeface="微软雅黑" panose="020B0503020204020204" pitchFamily="34" charset="-122"/>
              </a:rPr>
              <a:t>：在动态环境中，根据目标点和障碍物的位置信息在神经网络拓扑结构中的映射产生神经元的外部输入。</a:t>
            </a:r>
          </a:p>
          <a:p>
            <a:pPr indent="612000" algn="just"/>
            <a:r>
              <a:rPr lang="zh-CN" altLang="zh-CN" sz="2400" b="1" kern="1000" dirty="0">
                <a:effectLst/>
                <a:latin typeface="微软雅黑" panose="020B0503020204020204" pitchFamily="34" charset="-122"/>
                <a:ea typeface="微软雅黑" panose="020B0503020204020204" pitchFamily="34" charset="-122"/>
              </a:rPr>
              <a:t>步骤</a:t>
            </a:r>
            <a:r>
              <a:rPr lang="en-US" altLang="zh-CN" sz="2400" b="1" kern="1000" dirty="0">
                <a:effectLst/>
                <a:latin typeface="微软雅黑" panose="020B0503020204020204" pitchFamily="34" charset="-122"/>
                <a:ea typeface="微软雅黑" panose="020B0503020204020204" pitchFamily="34" charset="-122"/>
              </a:rPr>
              <a:t>3</a:t>
            </a:r>
            <a:r>
              <a:rPr lang="zh-CN" altLang="zh-CN" sz="2400" b="1" kern="1000" dirty="0">
                <a:effectLst/>
                <a:latin typeface="微软雅黑" panose="020B0503020204020204" pitchFamily="34" charset="-122"/>
                <a:ea typeface="微软雅黑" panose="020B0503020204020204" pitchFamily="34" charset="-122"/>
              </a:rPr>
              <a:t>：利用式</a:t>
            </a:r>
            <a:r>
              <a:rPr lang="en-US" altLang="zh-CN" sz="2400" b="1" kern="1000" dirty="0">
                <a:effectLst/>
                <a:latin typeface="微软雅黑" panose="020B0503020204020204" pitchFamily="34" charset="-122"/>
                <a:ea typeface="微软雅黑" panose="020B0503020204020204" pitchFamily="34" charset="-122"/>
              </a:rPr>
              <a:t>(6.19)</a:t>
            </a:r>
            <a:r>
              <a:rPr lang="zh-CN" altLang="zh-CN" sz="2400" b="1" kern="1000" dirty="0">
                <a:effectLst/>
                <a:latin typeface="微软雅黑" panose="020B0503020204020204" pitchFamily="34" charset="-122"/>
                <a:ea typeface="微软雅黑" panose="020B0503020204020204" pitchFamily="34" charset="-122"/>
              </a:rPr>
              <a:t>和式</a:t>
            </a:r>
            <a:r>
              <a:rPr lang="en-US" altLang="zh-CN" sz="2400" b="1" kern="1000" dirty="0">
                <a:effectLst/>
                <a:latin typeface="微软雅黑" panose="020B0503020204020204" pitchFamily="34" charset="-122"/>
                <a:ea typeface="微软雅黑" panose="020B0503020204020204" pitchFamily="34" charset="-122"/>
              </a:rPr>
              <a:t>(6.21)</a:t>
            </a:r>
            <a:r>
              <a:rPr lang="zh-CN" altLang="zh-CN" sz="2400" b="1" kern="1000" dirty="0">
                <a:effectLst/>
                <a:latin typeface="微软雅黑" panose="020B0503020204020204" pitchFamily="34" charset="-122"/>
                <a:ea typeface="微软雅黑" panose="020B0503020204020204" pitchFamily="34" charset="-122"/>
              </a:rPr>
              <a:t>使目标点位置正的神经元活性值通过神经元之间的局部侧连接在整个工作空间进行传播。</a:t>
            </a:r>
          </a:p>
          <a:p>
            <a:pPr indent="612000" algn="just"/>
            <a:r>
              <a:rPr lang="zh-CN" altLang="zh-CN" sz="2400" b="1" kern="100" dirty="0">
                <a:effectLst/>
                <a:latin typeface="微软雅黑" panose="020B0503020204020204" pitchFamily="34" charset="-122"/>
                <a:ea typeface="微软雅黑" panose="020B0503020204020204" pitchFamily="34" charset="-122"/>
              </a:rPr>
              <a:t>步骤</a:t>
            </a:r>
            <a:r>
              <a:rPr lang="en-US" altLang="zh-CN" sz="2400" b="1" kern="100" dirty="0">
                <a:effectLst/>
                <a:latin typeface="微软雅黑" panose="020B0503020204020204" pitchFamily="34" charset="-122"/>
                <a:ea typeface="微软雅黑" panose="020B0503020204020204" pitchFamily="34" charset="-122"/>
              </a:rPr>
              <a:t>4</a:t>
            </a:r>
            <a:r>
              <a:rPr lang="zh-CN" altLang="zh-CN" sz="2400" b="1" kern="100" dirty="0">
                <a:effectLst/>
                <a:latin typeface="微软雅黑" panose="020B0503020204020204" pitchFamily="34" charset="-122"/>
                <a:ea typeface="微软雅黑" panose="020B0503020204020204" pitchFamily="34" charset="-122"/>
              </a:rPr>
              <a:t>：利用爬山法搜索当前位置邻域内活性值最大的神经元，如果邻域内神经元活性值都不大于当前神经元的活性值，则机器人保持在原处不动；否则下一个位置的神经元为邻域内具有最大活性值的神经元。</a:t>
            </a:r>
          </a:p>
          <a:p>
            <a:pPr indent="612000" algn="just"/>
            <a:r>
              <a:rPr lang="zh-CN" altLang="zh-CN" sz="2400" b="1" kern="100" dirty="0">
                <a:effectLst/>
                <a:latin typeface="微软雅黑" panose="020B0503020204020204" pitchFamily="34" charset="-122"/>
                <a:ea typeface="微软雅黑" panose="020B0503020204020204" pitchFamily="34" charset="-122"/>
              </a:rPr>
              <a:t>步骤</a:t>
            </a:r>
            <a:r>
              <a:rPr lang="en-US" altLang="zh-CN" sz="2400" b="1" kern="100" dirty="0">
                <a:effectLst/>
                <a:latin typeface="微软雅黑" panose="020B0503020204020204" pitchFamily="34" charset="-122"/>
                <a:ea typeface="微软雅黑" panose="020B0503020204020204" pitchFamily="34" charset="-122"/>
              </a:rPr>
              <a:t>5</a:t>
            </a:r>
            <a:r>
              <a:rPr lang="zh-CN" altLang="zh-CN" sz="2400" b="1" kern="100" dirty="0">
                <a:effectLst/>
                <a:latin typeface="微软雅黑" panose="020B0503020204020204" pitchFamily="34" charset="-122"/>
                <a:ea typeface="微软雅黑" panose="020B0503020204020204" pitchFamily="34" charset="-122"/>
              </a:rPr>
              <a:t>：如果机器人到达目标点则路径规划过程结束，否则转步骤</a:t>
            </a:r>
            <a:r>
              <a:rPr lang="en-US" altLang="zh-CN" sz="2400" b="1" kern="100" dirty="0">
                <a:effectLst/>
                <a:latin typeface="微软雅黑" panose="020B0503020204020204" pitchFamily="34" charset="-122"/>
                <a:ea typeface="微软雅黑" panose="020B0503020204020204" pitchFamily="34" charset="-122"/>
              </a:rPr>
              <a:t>2</a:t>
            </a:r>
            <a:r>
              <a:rPr lang="zh-CN" altLang="zh-CN" sz="2400" b="1" kern="100" dirty="0">
                <a:effectLst/>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726107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5" name="文本框 4">
            <a:extLst>
              <a:ext uri="{FF2B5EF4-FFF2-40B4-BE49-F238E27FC236}">
                <a16:creationId xmlns:a16="http://schemas.microsoft.com/office/drawing/2014/main" id="{3F9546CC-75A7-A019-3E27-D26692EABA0B}"/>
              </a:ext>
            </a:extLst>
          </p:cNvPr>
          <p:cNvSpPr txBox="1"/>
          <p:nvPr/>
        </p:nvSpPr>
        <p:spPr>
          <a:xfrm>
            <a:off x="1042737" y="1145406"/>
            <a:ext cx="10106526" cy="5339923"/>
          </a:xfrm>
          <a:prstGeom prst="rect">
            <a:avLst/>
          </a:prstGeom>
          <a:noFill/>
        </p:spPr>
        <p:txBody>
          <a:bodyPr wrap="square">
            <a:spAutoFit/>
          </a:bodyPr>
          <a:lstStyle/>
          <a:p>
            <a:pPr indent="612000"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．计算机仿真与分析</a:t>
            </a:r>
          </a:p>
          <a:p>
            <a:pPr indent="612000" algn="just"/>
            <a:r>
              <a:rPr lang="zh-CN" altLang="zh-CN" sz="2400" b="1" kern="1000" dirty="0">
                <a:effectLst/>
                <a:latin typeface="微软雅黑" panose="020B0503020204020204" pitchFamily="34" charset="-122"/>
                <a:ea typeface="微软雅黑" panose="020B0503020204020204" pitchFamily="34" charset="-122"/>
              </a:rPr>
              <a:t>为了验证算法的有效性，给出针对算法在动态及静态环境下的模拟仿真结果。考虑到便于实现，仅选择</a:t>
            </a:r>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个矩形障碍物和</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个运动的多圆点障碍物，在</a:t>
            </a:r>
            <a:r>
              <a:rPr lang="en-US" altLang="zh-CN" sz="2400" b="1" kern="1000" dirty="0">
                <a:effectLst/>
                <a:latin typeface="微软雅黑" panose="020B0503020204020204" pitchFamily="34" charset="-122"/>
                <a:ea typeface="微软雅黑" panose="020B0503020204020204" pitchFamily="34" charset="-122"/>
              </a:rPr>
              <a:t>MATLAB</a:t>
            </a:r>
            <a:r>
              <a:rPr lang="zh-CN" altLang="zh-CN" sz="2400" b="1" kern="1000" dirty="0">
                <a:effectLst/>
                <a:latin typeface="微软雅黑" panose="020B0503020204020204" pitchFamily="34" charset="-122"/>
                <a:ea typeface="微软雅黑" panose="020B0503020204020204" pitchFamily="34" charset="-122"/>
              </a:rPr>
              <a:t>中，障碍物分别如下。</a:t>
            </a:r>
          </a:p>
          <a:p>
            <a:pPr indent="612000" algn="just"/>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号障碍物，</a:t>
            </a:r>
            <a:r>
              <a:rPr lang="en-US" altLang="zh-CN" sz="2400" b="1" kern="1000" dirty="0">
                <a:effectLst/>
                <a:latin typeface="微软雅黑" panose="020B0503020204020204" pitchFamily="34" charset="-122"/>
                <a:ea typeface="微软雅黑" panose="020B0503020204020204" pitchFamily="34" charset="-122"/>
              </a:rPr>
              <a:t>X</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[0.15 0.2]</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Y</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[0.3 0.8]</a:t>
            </a:r>
            <a:r>
              <a:rPr lang="zh-CN" altLang="zh-CN" sz="2400" b="1" kern="1000" dirty="0">
                <a:effectLst/>
                <a:latin typeface="微软雅黑" panose="020B0503020204020204" pitchFamily="34" charset="-122"/>
                <a:ea typeface="微软雅黑" panose="020B0503020204020204" pitchFamily="34" charset="-122"/>
              </a:rPr>
              <a:t>；</a:t>
            </a:r>
          </a:p>
          <a:p>
            <a:pPr indent="612000" algn="just"/>
            <a:r>
              <a:rPr lang="en-US" altLang="zh-CN" sz="2400" b="1" kern="1000" dirty="0">
                <a:effectLst/>
                <a:latin typeface="微软雅黑" panose="020B0503020204020204" pitchFamily="34" charset="-122"/>
                <a:ea typeface="微软雅黑" panose="020B0503020204020204" pitchFamily="34" charset="-122"/>
              </a:rPr>
              <a:t>2</a:t>
            </a:r>
            <a:r>
              <a:rPr lang="zh-CN" altLang="zh-CN" sz="2400" b="1" kern="1000" dirty="0">
                <a:effectLst/>
                <a:latin typeface="微软雅黑" panose="020B0503020204020204" pitchFamily="34" charset="-122"/>
                <a:ea typeface="微软雅黑" panose="020B0503020204020204" pitchFamily="34" charset="-122"/>
              </a:rPr>
              <a:t>号障碍物，</a:t>
            </a:r>
            <a:r>
              <a:rPr lang="en-US" altLang="zh-CN" sz="2400" b="1" kern="1000" dirty="0">
                <a:effectLst/>
                <a:latin typeface="微软雅黑" panose="020B0503020204020204" pitchFamily="34" charset="-122"/>
                <a:ea typeface="微软雅黑" panose="020B0503020204020204" pitchFamily="34" charset="-122"/>
              </a:rPr>
              <a:t>X</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[0.4 0.6]</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Y</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[0.65 0.7]</a:t>
            </a:r>
            <a:r>
              <a:rPr lang="zh-CN" altLang="zh-CN" sz="2400" b="1" kern="1000" dirty="0">
                <a:effectLst/>
                <a:latin typeface="微软雅黑" panose="020B0503020204020204" pitchFamily="34" charset="-122"/>
                <a:ea typeface="微软雅黑" panose="020B0503020204020204" pitchFamily="34" charset="-122"/>
              </a:rPr>
              <a:t>；</a:t>
            </a:r>
          </a:p>
          <a:p>
            <a:pPr indent="612000" algn="just"/>
            <a:r>
              <a:rPr lang="en-US" altLang="zh-CN" sz="2400" b="1" kern="1000" dirty="0">
                <a:effectLst/>
                <a:latin typeface="微软雅黑" panose="020B0503020204020204" pitchFamily="34" charset="-122"/>
                <a:ea typeface="微软雅黑" panose="020B0503020204020204" pitchFamily="34" charset="-122"/>
              </a:rPr>
              <a:t>3</a:t>
            </a:r>
            <a:r>
              <a:rPr lang="zh-CN" altLang="zh-CN" sz="2400" b="1" kern="1000" dirty="0">
                <a:effectLst/>
                <a:latin typeface="微软雅黑" panose="020B0503020204020204" pitchFamily="34" charset="-122"/>
                <a:ea typeface="微软雅黑" panose="020B0503020204020204" pitchFamily="34" charset="-122"/>
              </a:rPr>
              <a:t>号障碍物，</a:t>
            </a:r>
            <a:r>
              <a:rPr lang="en-US" altLang="zh-CN" sz="2400" b="1" kern="1000" dirty="0">
                <a:effectLst/>
                <a:latin typeface="微软雅黑" panose="020B0503020204020204" pitchFamily="34" charset="-122"/>
                <a:ea typeface="微软雅黑" panose="020B0503020204020204" pitchFamily="34" charset="-122"/>
              </a:rPr>
              <a:t>X</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[0.55 0.6]</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Y</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[0.4 0.65]</a:t>
            </a:r>
            <a:r>
              <a:rPr lang="zh-CN" altLang="zh-CN" sz="2400" b="1" kern="1000" dirty="0">
                <a:effectLst/>
                <a:latin typeface="微软雅黑" panose="020B0503020204020204" pitchFamily="34" charset="-122"/>
                <a:ea typeface="微软雅黑" panose="020B0503020204020204" pitchFamily="34" charset="-122"/>
              </a:rPr>
              <a:t>；</a:t>
            </a:r>
          </a:p>
          <a:p>
            <a:pPr indent="612000" algn="just"/>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号障碍物，</a:t>
            </a:r>
            <a:r>
              <a:rPr lang="en-US" altLang="zh-CN" sz="2400" b="1" kern="1000" dirty="0">
                <a:effectLst/>
                <a:latin typeface="微软雅黑" panose="020B0503020204020204" pitchFamily="34" charset="-122"/>
                <a:ea typeface="微软雅黑" panose="020B0503020204020204" pitchFamily="34" charset="-122"/>
              </a:rPr>
              <a:t>X</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[0.8 0.9]</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Y</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[0.2 0.8]</a:t>
            </a:r>
            <a:r>
              <a:rPr lang="zh-CN" altLang="zh-CN" sz="2400" b="1" kern="1000" dirty="0">
                <a:effectLst/>
                <a:latin typeface="微软雅黑" panose="020B0503020204020204" pitchFamily="34" charset="-122"/>
                <a:ea typeface="微软雅黑" panose="020B0503020204020204" pitchFamily="34" charset="-122"/>
              </a:rPr>
              <a:t>；</a:t>
            </a:r>
          </a:p>
          <a:p>
            <a:pPr indent="612000" algn="just"/>
            <a:r>
              <a:rPr lang="zh-CN" altLang="zh-CN" sz="2400" b="1" kern="1000" dirty="0">
                <a:effectLst/>
                <a:latin typeface="微软雅黑" panose="020B0503020204020204" pitchFamily="34" charset="-122"/>
                <a:ea typeface="微软雅黑" panose="020B0503020204020204" pitchFamily="34" charset="-122"/>
              </a:rPr>
              <a:t>其中，</a:t>
            </a:r>
            <a:r>
              <a:rPr lang="en-US" altLang="zh-CN" sz="2400" b="1" kern="1000" dirty="0">
                <a:effectLst/>
                <a:latin typeface="微软雅黑" panose="020B0503020204020204" pitchFamily="34" charset="-122"/>
                <a:ea typeface="微软雅黑" panose="020B0503020204020204" pitchFamily="34" charset="-122"/>
              </a:rPr>
              <a:t>X</a:t>
            </a:r>
            <a:r>
              <a:rPr lang="zh-CN" altLang="zh-CN" sz="2400" b="1" kern="1000" dirty="0">
                <a:effectLst/>
                <a:latin typeface="微软雅黑" panose="020B0503020204020204" pitchFamily="34" charset="-122"/>
                <a:ea typeface="微软雅黑" panose="020B0503020204020204" pitchFamily="34" charset="-122"/>
              </a:rPr>
              <a:t>值区间表示地图中</a:t>
            </a:r>
            <a:r>
              <a:rPr lang="en-US" altLang="zh-CN" sz="2400" b="1" kern="1000" dirty="0">
                <a:effectLst/>
                <a:latin typeface="微软雅黑" panose="020B0503020204020204" pitchFamily="34" charset="-122"/>
                <a:ea typeface="微软雅黑" panose="020B0503020204020204" pitchFamily="34" charset="-122"/>
              </a:rPr>
              <a:t>X</a:t>
            </a:r>
            <a:r>
              <a:rPr lang="zh-CN" altLang="zh-CN" sz="2400" b="1" kern="1000" dirty="0">
                <a:effectLst/>
                <a:latin typeface="微软雅黑" panose="020B0503020204020204" pitchFamily="34" charset="-122"/>
                <a:ea typeface="微软雅黑" panose="020B0503020204020204" pitchFamily="34" charset="-122"/>
              </a:rPr>
              <a:t>的范围区间取值，</a:t>
            </a:r>
            <a:r>
              <a:rPr lang="en-US" altLang="zh-CN" sz="2400" b="1" kern="1000" dirty="0">
                <a:effectLst/>
                <a:latin typeface="微软雅黑" panose="020B0503020204020204" pitchFamily="34" charset="-122"/>
                <a:ea typeface="微软雅黑" panose="020B0503020204020204" pitchFamily="34" charset="-122"/>
              </a:rPr>
              <a:t>Y</a:t>
            </a:r>
            <a:r>
              <a:rPr lang="zh-CN" altLang="zh-CN" sz="2400" b="1" kern="1000" dirty="0">
                <a:effectLst/>
                <a:latin typeface="微软雅黑" panose="020B0503020204020204" pitchFamily="34" charset="-122"/>
                <a:ea typeface="微软雅黑" panose="020B0503020204020204" pitchFamily="34" charset="-122"/>
              </a:rPr>
              <a:t>值区间表示地图中</a:t>
            </a:r>
            <a:r>
              <a:rPr lang="en-US" altLang="zh-CN" sz="2400" b="1" kern="1000" dirty="0">
                <a:effectLst/>
                <a:latin typeface="微软雅黑" panose="020B0503020204020204" pitchFamily="34" charset="-122"/>
                <a:ea typeface="微软雅黑" panose="020B0503020204020204" pitchFamily="34" charset="-122"/>
              </a:rPr>
              <a:t>Y</a:t>
            </a:r>
            <a:r>
              <a:rPr lang="zh-CN" altLang="zh-CN" sz="2400" b="1" kern="1000" dirty="0">
                <a:effectLst/>
                <a:latin typeface="微软雅黑" panose="020B0503020204020204" pitchFamily="34" charset="-122"/>
                <a:ea typeface="微软雅黑" panose="020B0503020204020204" pitchFamily="34" charset="-122"/>
              </a:rPr>
              <a:t>的范围区间取值，</a:t>
            </a:r>
            <a:r>
              <a:rPr lang="en-US" altLang="zh-CN" sz="2400" b="1" kern="1000" dirty="0">
                <a:effectLst/>
                <a:latin typeface="微软雅黑" panose="020B0503020204020204" pitchFamily="34" charset="-122"/>
                <a:ea typeface="微软雅黑" panose="020B0503020204020204" pitchFamily="34" charset="-122"/>
              </a:rPr>
              <a:t>[X  Y]</a:t>
            </a:r>
            <a:r>
              <a:rPr lang="zh-CN" altLang="zh-CN" sz="2400" b="1" kern="1000" dirty="0">
                <a:effectLst/>
                <a:latin typeface="微软雅黑" panose="020B0503020204020204" pitchFamily="34" charset="-122"/>
                <a:ea typeface="微软雅黑" panose="020B0503020204020204" pitchFamily="34" charset="-122"/>
              </a:rPr>
              <a:t>表示由</a:t>
            </a:r>
            <a:r>
              <a:rPr lang="en-US" altLang="zh-CN" sz="2400" b="1" kern="1000" dirty="0">
                <a:effectLst/>
                <a:latin typeface="微软雅黑" panose="020B0503020204020204" pitchFamily="34" charset="-122"/>
                <a:ea typeface="微软雅黑" panose="020B0503020204020204" pitchFamily="34" charset="-122"/>
              </a:rPr>
              <a:t>X</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Y</a:t>
            </a:r>
            <a:r>
              <a:rPr lang="zh-CN" altLang="zh-CN" sz="2400" b="1" kern="1000" dirty="0">
                <a:effectLst/>
                <a:latin typeface="微软雅黑" panose="020B0503020204020204" pitchFamily="34" charset="-122"/>
                <a:ea typeface="微软雅黑" panose="020B0503020204020204" pitchFamily="34" charset="-122"/>
              </a:rPr>
              <a:t>域组成的矩形障碍物区域。</a:t>
            </a:r>
          </a:p>
          <a:p>
            <a:pPr indent="612000" algn="just"/>
            <a:r>
              <a:rPr lang="en-US" altLang="zh-CN" sz="2400" b="1" kern="1000" spc="20" dirty="0">
                <a:effectLst/>
                <a:latin typeface="微软雅黑" panose="020B0503020204020204" pitchFamily="34" charset="-122"/>
                <a:ea typeface="微软雅黑" panose="020B0503020204020204" pitchFamily="34" charset="-122"/>
              </a:rPr>
              <a:t>5</a:t>
            </a:r>
            <a:r>
              <a:rPr lang="zh-CN" altLang="zh-CN" sz="2400" b="1" kern="1000" spc="20" dirty="0">
                <a:effectLst/>
                <a:latin typeface="微软雅黑" panose="020B0503020204020204" pitchFamily="34" charset="-122"/>
                <a:ea typeface="微软雅黑" panose="020B0503020204020204" pitchFamily="34" charset="-122"/>
              </a:rPr>
              <a:t>号运动障碍物，即在</a:t>
            </a:r>
            <a:r>
              <a:rPr lang="en-US" altLang="zh-CN" sz="2400" b="1" kern="1000" spc="20" dirty="0">
                <a:effectLst/>
                <a:latin typeface="微软雅黑" panose="020B0503020204020204" pitchFamily="34" charset="-122"/>
                <a:ea typeface="微软雅黑" panose="020B0503020204020204" pitchFamily="34" charset="-122"/>
              </a:rPr>
              <a:t>2</a:t>
            </a:r>
            <a:r>
              <a:rPr lang="zh-CN" altLang="zh-CN" sz="2400" b="1" kern="1000" spc="20" dirty="0">
                <a:effectLst/>
                <a:latin typeface="微软雅黑" panose="020B0503020204020204" pitchFamily="34" charset="-122"/>
                <a:ea typeface="微软雅黑" panose="020B0503020204020204" pitchFamily="34" charset="-122"/>
              </a:rPr>
              <a:t>号障碍物上的多圆点物体。同时起始点为</a:t>
            </a:r>
            <a:r>
              <a:rPr lang="en-US" altLang="zh-CN" sz="2400" b="1" kern="1000" spc="20" dirty="0">
                <a:effectLst/>
                <a:latin typeface="微软雅黑" panose="020B0503020204020204" pitchFamily="34" charset="-122"/>
                <a:ea typeface="微软雅黑" panose="020B0503020204020204" pitchFamily="34" charset="-122"/>
              </a:rPr>
              <a:t>[0.1 0.2]</a:t>
            </a:r>
            <a:r>
              <a:rPr lang="zh-CN" altLang="zh-CN" sz="2400" b="1" kern="1000" spc="20" dirty="0">
                <a:effectLst/>
                <a:latin typeface="微软雅黑" panose="020B0503020204020204" pitchFamily="34" charset="-122"/>
                <a:ea typeface="微软雅黑" panose="020B0503020204020204" pitchFamily="34" charset="-122"/>
              </a:rPr>
              <a:t>，路径规划终止点为</a:t>
            </a:r>
            <a:r>
              <a:rPr lang="en-US" altLang="zh-CN" sz="2400" b="1" kern="1000" spc="20" dirty="0">
                <a:effectLst/>
                <a:latin typeface="微软雅黑" panose="020B0503020204020204" pitchFamily="34" charset="-122"/>
                <a:ea typeface="微软雅黑" panose="020B0503020204020204" pitchFamily="34" charset="-122"/>
              </a:rPr>
              <a:t>[0.9 0.9]</a:t>
            </a:r>
            <a:r>
              <a:rPr lang="zh-CN" altLang="zh-CN" sz="2400" b="1" kern="1000" spc="20" dirty="0">
                <a:effectLst/>
                <a:latin typeface="微软雅黑" panose="020B0503020204020204" pitchFamily="34" charset="-122"/>
                <a:ea typeface="微软雅黑" panose="020B0503020204020204" pitchFamily="34" charset="-122"/>
              </a:rPr>
              <a:t>。设定栅格数为</a:t>
            </a:r>
            <a:r>
              <a:rPr lang="en-US" altLang="zh-CN" sz="2400" b="1" kern="1000" spc="20" dirty="0">
                <a:effectLst/>
                <a:latin typeface="微软雅黑" panose="020B0503020204020204" pitchFamily="34" charset="-122"/>
                <a:ea typeface="微软雅黑" panose="020B0503020204020204" pitchFamily="34" charset="-122"/>
              </a:rPr>
              <a:t>50</a:t>
            </a:r>
            <a:r>
              <a:rPr lang="zh-CN" altLang="zh-CN" sz="2400" b="1" kern="1000" spc="20" dirty="0">
                <a:effectLst/>
                <a:latin typeface="微软雅黑" panose="020B0503020204020204" pitchFamily="34" charset="-122"/>
                <a:ea typeface="微软雅黑" panose="020B0503020204020204" pitchFamily="34" charset="-122"/>
              </a:rPr>
              <a:t>，神经元外部输入为</a:t>
            </a:r>
            <a:r>
              <a:rPr lang="en-US" altLang="zh-CN" sz="2400" b="1" kern="1000" spc="20" dirty="0">
                <a:effectLst/>
                <a:latin typeface="微软雅黑" panose="020B0503020204020204" pitchFamily="34" charset="-122"/>
                <a:ea typeface="微软雅黑" panose="020B0503020204020204" pitchFamily="34" charset="-122"/>
              </a:rPr>
              <a:t>100</a:t>
            </a:r>
            <a:r>
              <a:rPr lang="zh-CN" altLang="zh-CN" sz="2400" b="1" kern="1000" spc="20" dirty="0">
                <a:effectLst/>
                <a:latin typeface="微软雅黑" panose="020B0503020204020204" pitchFamily="34" charset="-122"/>
                <a:ea typeface="微软雅黑" panose="020B0503020204020204" pitchFamily="34" charset="-122"/>
              </a:rPr>
              <a:t>，为了便于计算，设定终止点的开始值为最大值</a:t>
            </a:r>
            <a:r>
              <a:rPr lang="en-US" altLang="zh-CN" sz="2400" b="1" kern="1000" spc="20" dirty="0">
                <a:effectLst/>
                <a:latin typeface="微软雅黑" panose="020B0503020204020204" pitchFamily="34" charset="-122"/>
                <a:ea typeface="微软雅黑" panose="020B0503020204020204" pitchFamily="34" charset="-122"/>
              </a:rPr>
              <a:t>100</a:t>
            </a:r>
            <a:r>
              <a:rPr lang="zh-CN" altLang="zh-CN" sz="2400" b="1" kern="1000" spc="20" dirty="0">
                <a:effectLst/>
                <a:latin typeface="微软雅黑" panose="020B0503020204020204" pitchFamily="34" charset="-122"/>
                <a:ea typeface="微软雅黑" panose="020B0503020204020204" pitchFamily="34" charset="-122"/>
              </a:rPr>
              <a:t>，障碍物区域中初始值为最小值</a:t>
            </a:r>
            <a:r>
              <a:rPr lang="en-US" altLang="zh-CN" sz="2400" b="1" kern="1000" spc="20" dirty="0">
                <a:effectLst/>
                <a:latin typeface="微软雅黑" panose="020B0503020204020204" pitchFamily="34" charset="-122"/>
                <a:ea typeface="微软雅黑" panose="020B0503020204020204" pitchFamily="34" charset="-122"/>
              </a:rPr>
              <a:t>-100</a:t>
            </a:r>
            <a:r>
              <a:rPr lang="zh-CN" altLang="zh-CN" sz="2400" b="1" kern="1000" spc="20" dirty="0">
                <a:effectLst/>
                <a:latin typeface="微软雅黑" panose="020B0503020204020204" pitchFamily="34" charset="-122"/>
                <a:ea typeface="微软雅黑" panose="020B0503020204020204" pitchFamily="34" charset="-122"/>
              </a:rPr>
              <a:t>，无障碍物区域初始值为</a:t>
            </a:r>
            <a:r>
              <a:rPr lang="en-US" altLang="zh-CN" sz="2400" b="1" kern="1000" spc="20" dirty="0">
                <a:effectLst/>
                <a:latin typeface="微软雅黑" panose="020B0503020204020204" pitchFamily="34" charset="-122"/>
                <a:ea typeface="微软雅黑" panose="020B0503020204020204" pitchFamily="34" charset="-122"/>
              </a:rPr>
              <a:t>0</a:t>
            </a:r>
            <a:r>
              <a:rPr lang="zh-CN" altLang="zh-CN" sz="2400" b="1" kern="1000" spc="20" dirty="0">
                <a:effectLst/>
                <a:latin typeface="微软雅黑" panose="020B0503020204020204" pitchFamily="34" charset="-122"/>
                <a:ea typeface="微软雅黑" panose="020B0503020204020204" pitchFamily="34" charset="-122"/>
              </a:rPr>
              <a:t>。</a:t>
            </a:r>
            <a:endParaRPr lang="zh-CN" altLang="zh-CN" sz="2400" b="1" kern="1000" dirty="0">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2553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7B14C71-BEC1-0AC5-7115-7BFAA287C0CE}"/>
                  </a:ext>
                </a:extLst>
              </p:cNvPr>
              <p:cNvSpPr txBox="1"/>
              <p:nvPr/>
            </p:nvSpPr>
            <p:spPr>
              <a:xfrm>
                <a:off x="1215991" y="1434164"/>
                <a:ext cx="9760017" cy="3416320"/>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神经网络进行路径规划时，学习样本的选取除注意样本数目要合理之外，学习样本还应进行归一化处理，在网络训练时，将原始数据规范到</a:t>
                </a:r>
                <a:r>
                  <a:rPr lang="en-US" altLang="zh-CN" sz="2400" b="1" kern="1000" dirty="0">
                    <a:effectLst/>
                    <a:latin typeface="微软雅黑" panose="020B0503020204020204" pitchFamily="34" charset="-122"/>
                    <a:ea typeface="微软雅黑" panose="020B0503020204020204" pitchFamily="34" charset="-122"/>
                  </a:rPr>
                  <a:t>[0, 1]</a:t>
                </a:r>
                <a:r>
                  <a:rPr lang="zh-CN" altLang="zh-CN" sz="2400" b="1" kern="1000" dirty="0">
                    <a:effectLst/>
                    <a:latin typeface="微软雅黑" panose="020B0503020204020204" pitchFamily="34" charset="-122"/>
                    <a:ea typeface="微软雅黑" panose="020B0503020204020204" pitchFamily="34" charset="-122"/>
                  </a:rPr>
                  <a:t>。首先，设定机器人车身四周从</a:t>
                </a:r>
                <a:r>
                  <a:rPr lang="en-US" altLang="zh-CN" sz="2400" b="1" kern="1000" dirty="0">
                    <a:effectLst/>
                    <a:latin typeface="微软雅黑" panose="020B0503020204020204" pitchFamily="34" charset="-122"/>
                    <a:ea typeface="微软雅黑" panose="020B0503020204020204" pitchFamily="34" charset="-122"/>
                  </a:rPr>
                  <a:t>0°</a:t>
                </a:r>
                <a:r>
                  <a:rPr lang="zh-CN" altLang="zh-CN" sz="2400" b="1" kern="1000" dirty="0">
                    <a:effectLst/>
                    <a:latin typeface="微软雅黑" panose="020B0503020204020204" pitchFamily="34" charset="-122"/>
                    <a:ea typeface="微软雅黑" panose="020B0503020204020204" pitchFamily="34" charset="-122"/>
                  </a:rPr>
                  <a:t>到</a:t>
                </a:r>
                <a:r>
                  <a:rPr lang="en-US" altLang="zh-CN" sz="2400" b="1" kern="1000" dirty="0">
                    <a:effectLst/>
                    <a:latin typeface="微软雅黑" panose="020B0503020204020204" pitchFamily="34" charset="-122"/>
                    <a:ea typeface="微软雅黑" panose="020B0503020204020204" pitchFamily="34" charset="-122"/>
                  </a:rPr>
                  <a:t>360°</a:t>
                </a:r>
                <a:r>
                  <a:rPr lang="zh-CN" altLang="zh-CN" sz="2400" b="1" kern="1000" dirty="0">
                    <a:effectLst/>
                    <a:latin typeface="微软雅黑" panose="020B0503020204020204" pitchFamily="34" charset="-122"/>
                    <a:ea typeface="微软雅黑" panose="020B0503020204020204" pitchFamily="34" charset="-122"/>
                  </a:rPr>
                  <a:t>均匀安装有</a:t>
                </a:r>
                <a:r>
                  <a:rPr lang="en-US" altLang="zh-CN" sz="2400" b="1" kern="1000" dirty="0">
                    <a:effectLst/>
                    <a:latin typeface="微软雅黑" panose="020B0503020204020204" pitchFamily="34" charset="-122"/>
                    <a:ea typeface="微软雅黑" panose="020B0503020204020204" pitchFamily="34" charset="-122"/>
                  </a:rPr>
                  <a:t>8</a:t>
                </a:r>
                <a:r>
                  <a:rPr lang="zh-CN" altLang="zh-CN" sz="2400" b="1" kern="1000" dirty="0">
                    <a:effectLst/>
                    <a:latin typeface="微软雅黑" panose="020B0503020204020204" pitchFamily="34" charset="-122"/>
                    <a:ea typeface="微软雅黑" panose="020B0503020204020204" pitchFamily="34" charset="-122"/>
                  </a:rPr>
                  <a:t>个距离传感器，探测范围为</a:t>
                </a:r>
                <a:r>
                  <a:rPr lang="en-US" altLang="zh-CN" sz="2400" b="1" kern="1000" dirty="0">
                    <a:effectLst/>
                    <a:latin typeface="微软雅黑" panose="020B0503020204020204" pitchFamily="34" charset="-122"/>
                    <a:ea typeface="微软雅黑" panose="020B0503020204020204" pitchFamily="34" charset="-122"/>
                  </a:rPr>
                  <a:t>2</a:t>
                </a:r>
                <a:r>
                  <a:rPr lang="zh-CN" altLang="zh-CN" sz="2400" b="1" kern="1000" dirty="0">
                    <a:effectLst/>
                    <a:latin typeface="微软雅黑" panose="020B0503020204020204" pitchFamily="34" charset="-122"/>
                    <a:ea typeface="微软雅黑" panose="020B0503020204020204" pitchFamily="34" charset="-122"/>
                  </a:rPr>
                  <a:t>个长度单位，机器人可以同时采集四周</a:t>
                </a:r>
                <a:r>
                  <a:rPr lang="en-US" altLang="zh-CN" sz="2400" b="1" kern="1000" dirty="0">
                    <a:effectLst/>
                    <a:latin typeface="微软雅黑" panose="020B0503020204020204" pitchFamily="34" charset="-122"/>
                    <a:ea typeface="微软雅黑" panose="020B0503020204020204" pitchFamily="34" charset="-122"/>
                  </a:rPr>
                  <a:t>8</a:t>
                </a:r>
                <a:r>
                  <a:rPr lang="zh-CN" altLang="zh-CN" sz="2400" b="1" kern="1000" dirty="0">
                    <a:effectLst/>
                    <a:latin typeface="微软雅黑" panose="020B0503020204020204" pitchFamily="34" charset="-122"/>
                    <a:ea typeface="微软雅黑" panose="020B0503020204020204" pitchFamily="34" charset="-122"/>
                  </a:rPr>
                  <a:t>个方位的障碍物情况。同时，把数据放入输入数据库中，映射入输入层。然后按照神经网络学习算法，应用高斯函数训练神经网络，其中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𝒍</m:t>
                    </m:r>
                  </m:oMath>
                </a14:m>
                <a:r>
                  <a:rPr lang="zh-CN" altLang="zh-CN" sz="2400" b="1" kern="1000" dirty="0">
                    <a:effectLst/>
                    <a:latin typeface="微软雅黑" panose="020B0503020204020204" pitchFamily="34" charset="-122"/>
                    <a:ea typeface="微软雅黑" panose="020B0503020204020204" pitchFamily="34" charset="-122"/>
                  </a:rPr>
                  <a:t>为</a:t>
                </a:r>
                <a:r>
                  <a:rPr lang="en-US" altLang="zh-CN" sz="2400" b="1" kern="1000" dirty="0">
                    <a:effectLst/>
                    <a:latin typeface="微软雅黑" panose="020B0503020204020204" pitchFamily="34" charset="-122"/>
                    <a:ea typeface="微软雅黑" panose="020B0503020204020204" pitchFamily="34" charset="-122"/>
                  </a:rPr>
                  <a:t>8</a:t>
                </a:r>
                <a:r>
                  <a:rPr lang="zh-CN" altLang="zh-CN" sz="2400" b="1" kern="1000" dirty="0">
                    <a:effectLst/>
                    <a:latin typeface="微软雅黑" panose="020B0503020204020204" pitchFamily="34" charset="-122"/>
                    <a:ea typeface="微软雅黑" panose="020B0503020204020204" pitchFamily="34" charset="-122"/>
                  </a:rPr>
                  <a:t>，即输入向量为</a:t>
                </a:r>
                <a:r>
                  <a:rPr lang="en-US" altLang="zh-CN" sz="2400" b="1" kern="1000" dirty="0">
                    <a:effectLst/>
                    <a:latin typeface="微软雅黑" panose="020B0503020204020204" pitchFamily="34" charset="-122"/>
                    <a:ea typeface="微软雅黑" panose="020B0503020204020204" pitchFamily="34" charset="-122"/>
                  </a:rPr>
                  <a:t>8</a:t>
                </a:r>
                <a:r>
                  <a:rPr lang="zh-CN" altLang="zh-CN" sz="2400" b="1" kern="1000" dirty="0">
                    <a:effectLst/>
                    <a:latin typeface="微软雅黑" panose="020B0503020204020204" pitchFamily="34" charset="-122"/>
                    <a:ea typeface="微软雅黑" panose="020B0503020204020204" pitchFamily="34" charset="-122"/>
                  </a:rPr>
                  <a:t>维的。最后，计算路径下一位置输出，直到规划结束。</a:t>
                </a:r>
              </a:p>
              <a:p>
                <a:pPr indent="612000" algn="just"/>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6.22</a:t>
                </a:r>
                <a:r>
                  <a:rPr lang="zh-CN" altLang="zh-CN" sz="2400" b="1" kern="1000" dirty="0">
                    <a:effectLst/>
                    <a:latin typeface="微软雅黑" panose="020B0503020204020204" pitchFamily="34" charset="-122"/>
                    <a:ea typeface="微软雅黑" panose="020B0503020204020204" pitchFamily="34" charset="-122"/>
                  </a:rPr>
                  <a:t>所示为本算法开始时的起始点和终止点，其中左下角的点为起始点</a:t>
                </a:r>
                <a:r>
                  <a:rPr lang="en-US" altLang="zh-CN" sz="2400" b="1" kern="1000" dirty="0">
                    <a:effectLst/>
                    <a:latin typeface="微软雅黑" panose="020B0503020204020204" pitchFamily="34" charset="-122"/>
                    <a:ea typeface="微软雅黑" panose="020B0503020204020204" pitchFamily="34" charset="-122"/>
                  </a:rPr>
                  <a:t>[0.1 0.2]</a:t>
                </a:r>
                <a:r>
                  <a:rPr lang="zh-CN" altLang="zh-CN" sz="2400" b="1" kern="1000" dirty="0">
                    <a:effectLst/>
                    <a:latin typeface="微软雅黑" panose="020B0503020204020204" pitchFamily="34" charset="-122"/>
                    <a:ea typeface="微软雅黑" panose="020B0503020204020204" pitchFamily="34" charset="-122"/>
                  </a:rPr>
                  <a:t>，右上角的点为路径规划的终止点</a:t>
                </a:r>
                <a:r>
                  <a:rPr lang="en-US" altLang="zh-CN" sz="2400" b="1" kern="1000" dirty="0">
                    <a:effectLst/>
                    <a:latin typeface="微软雅黑" panose="020B0503020204020204" pitchFamily="34" charset="-122"/>
                    <a:ea typeface="微软雅黑" panose="020B0503020204020204" pitchFamily="34" charset="-122"/>
                  </a:rPr>
                  <a:t>[0.9 0.9]</a:t>
                </a:r>
                <a:r>
                  <a:rPr lang="zh-CN" altLang="zh-CN" sz="2400" b="1" kern="1000" dirty="0">
                    <a:effectLst/>
                    <a:latin typeface="微软雅黑" panose="020B0503020204020204" pitchFamily="34" charset="-122"/>
                    <a:ea typeface="微软雅黑" panose="020B0503020204020204" pitchFamily="34" charset="-122"/>
                  </a:rPr>
                  <a:t>。</a:t>
                </a:r>
              </a:p>
            </p:txBody>
          </p:sp>
        </mc:Choice>
        <mc:Fallback xmlns="">
          <p:sp>
            <p:nvSpPr>
              <p:cNvPr id="9" name="文本框 8">
                <a:extLst>
                  <a:ext uri="{FF2B5EF4-FFF2-40B4-BE49-F238E27FC236}">
                    <a16:creationId xmlns:a16="http://schemas.microsoft.com/office/drawing/2014/main" id="{17B14C71-BEC1-0AC5-7115-7BFAA287C0CE}"/>
                  </a:ext>
                </a:extLst>
              </p:cNvPr>
              <p:cNvSpPr txBox="1">
                <a:spLocks noRot="1" noChangeAspect="1" noMove="1" noResize="1" noEditPoints="1" noAdjustHandles="1" noChangeArrowheads="1" noChangeShapeType="1" noTextEdit="1"/>
              </p:cNvSpPr>
              <p:nvPr/>
            </p:nvSpPr>
            <p:spPr>
              <a:xfrm>
                <a:off x="1215991" y="1434164"/>
                <a:ext cx="9760017" cy="3416320"/>
              </a:xfrm>
              <a:prstGeom prst="rect">
                <a:avLst/>
              </a:prstGeom>
              <a:blipFill>
                <a:blip r:embed="rId2"/>
                <a:stretch>
                  <a:fillRect l="-936" t="-1426" r="-936" b="-30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27430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pic>
        <p:nvPicPr>
          <p:cNvPr id="47105" name="Picture 1">
            <a:extLst>
              <a:ext uri="{FF2B5EF4-FFF2-40B4-BE49-F238E27FC236}">
                <a16:creationId xmlns:a16="http://schemas.microsoft.com/office/drawing/2014/main" id="{B4FB9569-303E-363C-0018-D4B8B34CF5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7333" y="1302585"/>
            <a:ext cx="5217334" cy="410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F6AE000D-D799-9F5A-1CBE-EC2784E6F328}"/>
              </a:ext>
            </a:extLst>
          </p:cNvPr>
          <p:cNvSpPr txBox="1"/>
          <p:nvPr/>
        </p:nvSpPr>
        <p:spPr>
          <a:xfrm>
            <a:off x="3032757" y="5516913"/>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6.22  </a:t>
            </a:r>
            <a:r>
              <a:rPr lang="zh-CN" altLang="zh-CN" sz="1800" kern="1000" dirty="0">
                <a:effectLst/>
                <a:latin typeface="Times New Roman" panose="02020603050405020304" pitchFamily="18" charset="0"/>
                <a:ea typeface="宋体" panose="02010600030101010101" pitchFamily="2" charset="-122"/>
              </a:rPr>
              <a:t>起始点与终止点</a:t>
            </a:r>
          </a:p>
        </p:txBody>
      </p:sp>
    </p:spTree>
    <p:extLst>
      <p:ext uri="{BB962C8B-B14F-4D97-AF65-F5344CB8AC3E}">
        <p14:creationId xmlns:p14="http://schemas.microsoft.com/office/powerpoint/2010/main" val="14752975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5" name="文本框 4">
            <a:extLst>
              <a:ext uri="{FF2B5EF4-FFF2-40B4-BE49-F238E27FC236}">
                <a16:creationId xmlns:a16="http://schemas.microsoft.com/office/drawing/2014/main" id="{26F8A944-CC24-FAE6-5AB2-58CA55FEBD98}"/>
              </a:ext>
            </a:extLst>
          </p:cNvPr>
          <p:cNvSpPr txBox="1"/>
          <p:nvPr/>
        </p:nvSpPr>
        <p:spPr>
          <a:xfrm>
            <a:off x="694902" y="1222408"/>
            <a:ext cx="10250906" cy="830997"/>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6.23</a:t>
            </a:r>
            <a:r>
              <a:rPr lang="zh-CN" altLang="zh-CN" sz="2400" b="1" kern="1000" dirty="0">
                <a:effectLst/>
                <a:latin typeface="微软雅黑" panose="020B0503020204020204" pitchFamily="34" charset="-122"/>
                <a:ea typeface="微软雅黑" panose="020B0503020204020204" pitchFamily="34" charset="-122"/>
              </a:rPr>
              <a:t>为无障碍物时路径规划图。从仿真图中可以看出，机器人可以选择最短路径，从起始点运动到终止点，验证了方法的可行性和有效性。</a:t>
            </a:r>
          </a:p>
        </p:txBody>
      </p:sp>
      <p:pic>
        <p:nvPicPr>
          <p:cNvPr id="46081" name="Picture 1">
            <a:extLst>
              <a:ext uri="{FF2B5EF4-FFF2-40B4-BE49-F238E27FC236}">
                <a16:creationId xmlns:a16="http://schemas.microsoft.com/office/drawing/2014/main" id="{CAF4174E-58BB-EA27-6E65-5FCC2EC8CB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8900" y="2272497"/>
            <a:ext cx="4577416" cy="3627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0059D19D-9D94-A7E4-950F-E3710CB07C18}"/>
              </a:ext>
            </a:extLst>
          </p:cNvPr>
          <p:cNvSpPr txBox="1"/>
          <p:nvPr/>
        </p:nvSpPr>
        <p:spPr>
          <a:xfrm>
            <a:off x="3344368" y="6119378"/>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6.23 </a:t>
            </a:r>
            <a:r>
              <a:rPr lang="zh-CN" altLang="zh-CN" sz="1800" kern="1000" dirty="0">
                <a:effectLst/>
                <a:latin typeface="Times New Roman" panose="02020603050405020304" pitchFamily="18" charset="0"/>
                <a:ea typeface="宋体" panose="02010600030101010101" pitchFamily="2" charset="-122"/>
              </a:rPr>
              <a:t>无障碍物时路径规划</a:t>
            </a:r>
          </a:p>
        </p:txBody>
      </p:sp>
    </p:spTree>
    <p:extLst>
      <p:ext uri="{BB962C8B-B14F-4D97-AF65-F5344CB8AC3E}">
        <p14:creationId xmlns:p14="http://schemas.microsoft.com/office/powerpoint/2010/main" val="696704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5" name="文本框 4">
            <a:extLst>
              <a:ext uri="{FF2B5EF4-FFF2-40B4-BE49-F238E27FC236}">
                <a16:creationId xmlns:a16="http://schemas.microsoft.com/office/drawing/2014/main" id="{6A927C79-B873-50D3-6FF4-B6E1F17CF48D}"/>
              </a:ext>
            </a:extLst>
          </p:cNvPr>
          <p:cNvSpPr txBox="1"/>
          <p:nvPr/>
        </p:nvSpPr>
        <p:spPr>
          <a:xfrm>
            <a:off x="1164657" y="1120676"/>
            <a:ext cx="9663764" cy="2308324"/>
          </a:xfrm>
          <a:prstGeom prst="rect">
            <a:avLst/>
          </a:prstGeom>
          <a:noFill/>
        </p:spPr>
        <p:txBody>
          <a:bodyPr wrap="square">
            <a:spAutoFit/>
          </a:bodyPr>
          <a:lstStyle/>
          <a:p>
            <a:pPr algn="just"/>
            <a:r>
              <a:rPr lang="zh-CN" altLang="zh-CN" sz="2400" b="1" kern="1000" spc="10" dirty="0">
                <a:effectLst/>
                <a:latin typeface="微软雅黑" panose="020B0503020204020204" pitchFamily="34" charset="-122"/>
                <a:ea typeface="微软雅黑" panose="020B0503020204020204" pitchFamily="34" charset="-122"/>
              </a:rPr>
              <a:t>图</a:t>
            </a:r>
            <a:r>
              <a:rPr lang="en-US" altLang="zh-CN" sz="2400" b="1" kern="1000" spc="10" dirty="0">
                <a:effectLst/>
                <a:latin typeface="微软雅黑" panose="020B0503020204020204" pitchFamily="34" charset="-122"/>
                <a:ea typeface="微软雅黑" panose="020B0503020204020204" pitchFamily="34" charset="-122"/>
              </a:rPr>
              <a:t>6.24</a:t>
            </a:r>
            <a:r>
              <a:rPr lang="zh-CN" altLang="zh-CN" sz="2400" b="1" kern="1000" spc="10" dirty="0">
                <a:effectLst/>
                <a:latin typeface="微软雅黑" panose="020B0503020204020204" pitchFamily="34" charset="-122"/>
                <a:ea typeface="微软雅黑" panose="020B0503020204020204" pitchFamily="34" charset="-122"/>
              </a:rPr>
              <a:t>为具有</a:t>
            </a:r>
            <a:r>
              <a:rPr lang="en-US" altLang="zh-CN" sz="2400" b="1" kern="1000" spc="10" dirty="0">
                <a:effectLst/>
                <a:latin typeface="微软雅黑" panose="020B0503020204020204" pitchFamily="34" charset="-122"/>
                <a:ea typeface="微软雅黑" panose="020B0503020204020204" pitchFamily="34" charset="-122"/>
              </a:rPr>
              <a:t>1</a:t>
            </a:r>
            <a:r>
              <a:rPr lang="zh-CN" altLang="zh-CN" sz="2400" b="1" kern="1000" spc="10" dirty="0">
                <a:effectLst/>
                <a:latin typeface="微软雅黑" panose="020B0503020204020204" pitchFamily="34" charset="-122"/>
                <a:ea typeface="微软雅黑" panose="020B0503020204020204" pitchFamily="34" charset="-122"/>
              </a:rPr>
              <a:t>号、</a:t>
            </a:r>
            <a:r>
              <a:rPr lang="en-US" altLang="zh-CN" sz="2400" b="1" kern="1000" spc="10" dirty="0">
                <a:effectLst/>
                <a:latin typeface="微软雅黑" panose="020B0503020204020204" pitchFamily="34" charset="-122"/>
                <a:ea typeface="微软雅黑" panose="020B0503020204020204" pitchFamily="34" charset="-122"/>
              </a:rPr>
              <a:t>2</a:t>
            </a:r>
            <a:r>
              <a:rPr lang="zh-CN" altLang="zh-CN" sz="2400" b="1" kern="1000" spc="10" dirty="0">
                <a:effectLst/>
                <a:latin typeface="微软雅黑" panose="020B0503020204020204" pitchFamily="34" charset="-122"/>
                <a:ea typeface="微软雅黑" panose="020B0503020204020204" pitchFamily="34" charset="-122"/>
              </a:rPr>
              <a:t>号和</a:t>
            </a:r>
            <a:r>
              <a:rPr lang="en-US" altLang="zh-CN" sz="2400" b="1" kern="1000" spc="10" dirty="0">
                <a:effectLst/>
                <a:latin typeface="微软雅黑" panose="020B0503020204020204" pitchFamily="34" charset="-122"/>
                <a:ea typeface="微软雅黑" panose="020B0503020204020204" pitchFamily="34" charset="-122"/>
              </a:rPr>
              <a:t>4</a:t>
            </a:r>
            <a:r>
              <a:rPr lang="zh-CN" altLang="zh-CN" sz="2400" b="1" kern="1000" spc="10" dirty="0">
                <a:effectLst/>
                <a:latin typeface="微软雅黑" panose="020B0503020204020204" pitchFamily="34" charset="-122"/>
                <a:ea typeface="微软雅黑" panose="020B0503020204020204" pitchFamily="34" charset="-122"/>
              </a:rPr>
              <a:t>号障碍物时的路径规划；图</a:t>
            </a:r>
            <a:r>
              <a:rPr lang="en-US" altLang="zh-CN" sz="2400" b="1" kern="1000" spc="10" dirty="0">
                <a:effectLst/>
                <a:latin typeface="微软雅黑" panose="020B0503020204020204" pitchFamily="34" charset="-122"/>
                <a:ea typeface="微软雅黑" panose="020B0503020204020204" pitchFamily="34" charset="-122"/>
              </a:rPr>
              <a:t>6.25</a:t>
            </a:r>
            <a:r>
              <a:rPr lang="zh-CN" altLang="zh-CN" sz="2400" b="1" kern="1000" spc="10" dirty="0">
                <a:effectLst/>
                <a:latin typeface="微软雅黑" panose="020B0503020204020204" pitchFamily="34" charset="-122"/>
                <a:ea typeface="微软雅黑" panose="020B0503020204020204" pitchFamily="34" charset="-122"/>
              </a:rPr>
              <a:t>为具有</a:t>
            </a:r>
            <a:r>
              <a:rPr lang="en-US" altLang="zh-CN" sz="2400" b="1" kern="1000" spc="10" dirty="0">
                <a:effectLst/>
                <a:latin typeface="微软雅黑" panose="020B0503020204020204" pitchFamily="34" charset="-122"/>
                <a:ea typeface="微软雅黑" panose="020B0503020204020204" pitchFamily="34" charset="-122"/>
              </a:rPr>
              <a:t>1</a:t>
            </a:r>
            <a:r>
              <a:rPr lang="zh-CN" altLang="zh-CN" sz="2400" b="1" kern="1000" spc="10" dirty="0">
                <a:effectLst/>
                <a:latin typeface="微软雅黑" panose="020B0503020204020204" pitchFamily="34" charset="-122"/>
                <a:ea typeface="微软雅黑" panose="020B0503020204020204" pitchFamily="34" charset="-122"/>
              </a:rPr>
              <a:t>号、</a:t>
            </a:r>
            <a:r>
              <a:rPr lang="en-US" altLang="zh-CN" sz="2400" b="1" kern="1000" spc="10" dirty="0">
                <a:effectLst/>
                <a:latin typeface="微软雅黑" panose="020B0503020204020204" pitchFamily="34" charset="-122"/>
                <a:ea typeface="微软雅黑" panose="020B0503020204020204" pitchFamily="34" charset="-122"/>
              </a:rPr>
              <a:t>3</a:t>
            </a:r>
            <a:r>
              <a:rPr lang="zh-CN" altLang="zh-CN" sz="2400" b="1" kern="1000" spc="10" dirty="0">
                <a:effectLst/>
                <a:latin typeface="微软雅黑" panose="020B0503020204020204" pitchFamily="34" charset="-122"/>
                <a:ea typeface="微软雅黑" panose="020B0503020204020204" pitchFamily="34" charset="-122"/>
              </a:rPr>
              <a:t>号和</a:t>
            </a:r>
            <a:r>
              <a:rPr lang="en-US" altLang="zh-CN" sz="2400" b="1" kern="1000" spc="10" dirty="0">
                <a:effectLst/>
                <a:latin typeface="微软雅黑" panose="020B0503020204020204" pitchFamily="34" charset="-122"/>
                <a:ea typeface="微软雅黑" panose="020B0503020204020204" pitchFamily="34" charset="-122"/>
              </a:rPr>
              <a:t>4</a:t>
            </a:r>
            <a:r>
              <a:rPr lang="zh-CN" altLang="zh-CN" sz="2400" b="1" kern="1000" spc="10" dirty="0">
                <a:effectLst/>
                <a:latin typeface="微软雅黑" panose="020B0503020204020204" pitchFamily="34" charset="-122"/>
                <a:ea typeface="微软雅黑" panose="020B0503020204020204" pitchFamily="34" charset="-122"/>
              </a:rPr>
              <a:t>号障碍物时的路径规划。从图中可以看出，当机器人遇到障碍时，可以较好地实现避障运动。</a:t>
            </a:r>
            <a:endParaRPr lang="zh-CN" altLang="zh-CN" sz="2400" b="1" kern="100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6.26</a:t>
            </a:r>
            <a:r>
              <a:rPr lang="zh-CN" altLang="zh-CN" sz="2400" b="1" kern="1000" dirty="0">
                <a:effectLst/>
                <a:latin typeface="微软雅黑" panose="020B0503020204020204" pitchFamily="34" charset="-122"/>
                <a:ea typeface="微软雅黑" panose="020B0503020204020204" pitchFamily="34" charset="-122"/>
              </a:rPr>
              <a:t>为具有起始点、终止点和</a:t>
            </a:r>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个矩形障碍物时的路径规划算法开始时的图像；图</a:t>
            </a:r>
            <a:r>
              <a:rPr lang="en-US" altLang="zh-CN" sz="2400" b="1" kern="1000" dirty="0">
                <a:effectLst/>
                <a:latin typeface="微软雅黑" panose="020B0503020204020204" pitchFamily="34" charset="-122"/>
                <a:ea typeface="微软雅黑" panose="020B0503020204020204" pitchFamily="34" charset="-122"/>
              </a:rPr>
              <a:t> 6.27</a:t>
            </a:r>
            <a:r>
              <a:rPr lang="zh-CN" altLang="zh-CN" sz="2400" b="1" kern="1000" dirty="0">
                <a:effectLst/>
                <a:latin typeface="微软雅黑" panose="020B0503020204020204" pitchFamily="34" charset="-122"/>
                <a:ea typeface="微软雅黑" panose="020B0503020204020204" pitchFamily="34" charset="-122"/>
              </a:rPr>
              <a:t>为机器人的仿真路径规划结果，从图中可以看出，当机器人在较为复杂的环境中时，也可实现较好的路径规划和避障。</a:t>
            </a:r>
          </a:p>
        </p:txBody>
      </p:sp>
    </p:spTree>
    <p:extLst>
      <p:ext uri="{BB962C8B-B14F-4D97-AF65-F5344CB8AC3E}">
        <p14:creationId xmlns:p14="http://schemas.microsoft.com/office/powerpoint/2010/main" val="21726877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pic>
        <p:nvPicPr>
          <p:cNvPr id="54274" name="Picture 2">
            <a:extLst>
              <a:ext uri="{FF2B5EF4-FFF2-40B4-BE49-F238E27FC236}">
                <a16:creationId xmlns:a16="http://schemas.microsoft.com/office/drawing/2014/main" id="{9B0FF549-9A97-12FE-76EC-9D11937325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0477" y="1321835"/>
            <a:ext cx="4539878" cy="356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5" name="Picture 3">
            <a:extLst>
              <a:ext uri="{FF2B5EF4-FFF2-40B4-BE49-F238E27FC236}">
                <a16:creationId xmlns:a16="http://schemas.microsoft.com/office/drawing/2014/main" id="{CA5AC8C5-E9FD-C4FF-0092-2DD5B9C17D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1645" y="1304991"/>
            <a:ext cx="4539876" cy="360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B6DB3F60-59A4-9E9B-8ECC-8734AB6FAC3F}"/>
              </a:ext>
            </a:extLst>
          </p:cNvPr>
          <p:cNvSpPr txBox="1"/>
          <p:nvPr/>
        </p:nvSpPr>
        <p:spPr>
          <a:xfrm>
            <a:off x="715685" y="5242716"/>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6.24  </a:t>
            </a:r>
            <a:r>
              <a:rPr lang="zh-CN" altLang="zh-CN" sz="1800" kern="1000" dirty="0">
                <a:effectLst/>
                <a:latin typeface="Times New Roman" panose="02020603050405020304" pitchFamily="18" charset="0"/>
                <a:ea typeface="宋体" panose="02010600030101010101" pitchFamily="2" charset="-122"/>
              </a:rPr>
              <a:t>基于固定障碍物的路径规划</a:t>
            </a:r>
            <a:r>
              <a:rPr lang="en-US" altLang="zh-CN" sz="1800" kern="1000" dirty="0">
                <a:effectLst/>
                <a:latin typeface="Times New Roman" panose="02020603050405020304" pitchFamily="18" charset="0"/>
                <a:ea typeface="宋体" panose="02010600030101010101" pitchFamily="2" charset="-122"/>
              </a:rPr>
              <a:t>1</a:t>
            </a:r>
            <a:endParaRPr lang="zh-CN" altLang="zh-CN" sz="1800" kern="1000" dirty="0">
              <a:effectLst/>
              <a:latin typeface="Times New Roman" panose="020206030504050203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C8449093-FCD5-4FDB-EE36-6D29C10807D4}"/>
              </a:ext>
            </a:extLst>
          </p:cNvPr>
          <p:cNvSpPr txBox="1"/>
          <p:nvPr/>
        </p:nvSpPr>
        <p:spPr>
          <a:xfrm>
            <a:off x="5578343" y="5242716"/>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6.25  </a:t>
            </a:r>
            <a:r>
              <a:rPr lang="zh-CN" altLang="zh-CN" sz="1800" kern="1000" dirty="0">
                <a:effectLst/>
                <a:latin typeface="Times New Roman" panose="02020603050405020304" pitchFamily="18" charset="0"/>
                <a:ea typeface="宋体" panose="02010600030101010101" pitchFamily="2" charset="-122"/>
              </a:rPr>
              <a:t>基于固定障碍物的路径规划</a:t>
            </a:r>
            <a:r>
              <a:rPr lang="en-US" altLang="zh-CN" sz="1800" kern="1000" dirty="0">
                <a:effectLst/>
                <a:latin typeface="Times New Roman" panose="02020603050405020304" pitchFamily="18" charset="0"/>
                <a:ea typeface="宋体" panose="02010600030101010101" pitchFamily="2" charset="-122"/>
              </a:rPr>
              <a:t>2</a:t>
            </a:r>
            <a:endParaRPr lang="zh-CN" altLang="zh-CN" sz="1800" kern="10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49343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pic>
        <p:nvPicPr>
          <p:cNvPr id="55298" name="Picture 2">
            <a:extLst>
              <a:ext uri="{FF2B5EF4-FFF2-40B4-BE49-F238E27FC236}">
                <a16:creationId xmlns:a16="http://schemas.microsoft.com/office/drawing/2014/main" id="{4DB8449D-F366-9ACD-5D24-CFFC538AFC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2520" y="1080670"/>
            <a:ext cx="3903674" cy="3067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F52913AA-4157-8305-D05E-B2C62A47A436}"/>
              </a:ext>
            </a:extLst>
          </p:cNvPr>
          <p:cNvSpPr txBox="1"/>
          <p:nvPr/>
        </p:nvSpPr>
        <p:spPr>
          <a:xfrm>
            <a:off x="3211117" y="4260406"/>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6.26</a:t>
            </a:r>
            <a:r>
              <a:rPr lang="zh-CN" altLang="zh-CN" sz="1800" kern="1000" dirty="0">
                <a:effectLst/>
                <a:latin typeface="Times New Roman" panose="02020603050405020304" pitchFamily="18" charset="0"/>
                <a:ea typeface="宋体" panose="02010600030101010101" pitchFamily="2" charset="-122"/>
              </a:rPr>
              <a:t>起始点、终止点与障碍物</a:t>
            </a:r>
          </a:p>
        </p:txBody>
      </p:sp>
      <p:sp>
        <p:nvSpPr>
          <p:cNvPr id="9" name="文本框 8">
            <a:extLst>
              <a:ext uri="{FF2B5EF4-FFF2-40B4-BE49-F238E27FC236}">
                <a16:creationId xmlns:a16="http://schemas.microsoft.com/office/drawing/2014/main" id="{C3C901AD-D3B9-EB03-FA46-EB668CD60995}"/>
              </a:ext>
            </a:extLst>
          </p:cNvPr>
          <p:cNvSpPr txBox="1"/>
          <p:nvPr/>
        </p:nvSpPr>
        <p:spPr>
          <a:xfrm>
            <a:off x="1323362" y="4741656"/>
            <a:ext cx="9901989" cy="1200329"/>
          </a:xfrm>
          <a:prstGeom prst="rect">
            <a:avLst/>
          </a:prstGeom>
          <a:noFill/>
        </p:spPr>
        <p:txBody>
          <a:bodyPr wrap="square">
            <a:spAutoFit/>
          </a:bodyPr>
          <a:lstStyle/>
          <a:p>
            <a:pPr indent="612000" algn="just"/>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6.28</a:t>
            </a:r>
            <a:r>
              <a:rPr lang="zh-CN" altLang="zh-CN" sz="2400" b="1" kern="1000" dirty="0">
                <a:effectLst/>
                <a:latin typeface="微软雅黑" panose="020B0503020204020204" pitchFamily="34" charset="-122"/>
                <a:ea typeface="微软雅黑" panose="020B0503020204020204" pitchFamily="34" charset="-122"/>
              </a:rPr>
              <a:t>为具有</a:t>
            </a:r>
            <a:r>
              <a:rPr lang="en-US" altLang="zh-CN" sz="2400" b="1" kern="1000" dirty="0">
                <a:effectLst/>
                <a:latin typeface="微软雅黑" panose="020B0503020204020204" pitchFamily="34" charset="-122"/>
                <a:ea typeface="微软雅黑" panose="020B0503020204020204" pitchFamily="34" charset="-122"/>
              </a:rPr>
              <a:t>5</a:t>
            </a:r>
            <a:r>
              <a:rPr lang="zh-CN" altLang="zh-CN" sz="2400" b="1" kern="1000" dirty="0">
                <a:effectLst/>
                <a:latin typeface="微软雅黑" panose="020B0503020204020204" pitchFamily="34" charset="-122"/>
                <a:ea typeface="微软雅黑" panose="020B0503020204020204" pitchFamily="34" charset="-122"/>
              </a:rPr>
              <a:t>号运动障碍物和</a:t>
            </a:r>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个矩形障碍物开始时的情况。图</a:t>
            </a:r>
            <a:r>
              <a:rPr lang="en-US" altLang="zh-CN" sz="2400" b="1" kern="1000" dirty="0">
                <a:effectLst/>
                <a:latin typeface="微软雅黑" panose="020B0503020204020204" pitchFamily="34" charset="-122"/>
                <a:ea typeface="微软雅黑" panose="020B0503020204020204" pitchFamily="34" charset="-122"/>
              </a:rPr>
              <a:t>6.29</a:t>
            </a:r>
            <a:r>
              <a:rPr lang="zh-CN" altLang="zh-CN" sz="2400" b="1" kern="1000" dirty="0">
                <a:effectLst/>
                <a:latin typeface="微软雅黑" panose="020B0503020204020204" pitchFamily="34" charset="-122"/>
                <a:ea typeface="微软雅黑" panose="020B0503020204020204" pitchFamily="34" charset="-122"/>
              </a:rPr>
              <a:t>为机器人完整路径规划示意图，从图中可以看出，在具有动态障碍物时，机器人也能实现较好的路径规划和避障。</a:t>
            </a:r>
          </a:p>
        </p:txBody>
      </p:sp>
    </p:spTree>
    <p:extLst>
      <p:ext uri="{BB962C8B-B14F-4D97-AF65-F5344CB8AC3E}">
        <p14:creationId xmlns:p14="http://schemas.microsoft.com/office/powerpoint/2010/main" val="8887535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pic>
        <p:nvPicPr>
          <p:cNvPr id="56322" name="Picture 2">
            <a:extLst>
              <a:ext uri="{FF2B5EF4-FFF2-40B4-BE49-F238E27FC236}">
                <a16:creationId xmlns:a16="http://schemas.microsoft.com/office/drawing/2014/main" id="{11F05CF7-24E9-9FED-DA62-26795F991B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7579" y="1672773"/>
            <a:ext cx="4422692" cy="351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972A9973-0FFC-406F-61DA-055E77CBF3D6}"/>
              </a:ext>
            </a:extLst>
          </p:cNvPr>
          <p:cNvSpPr txBox="1"/>
          <p:nvPr/>
        </p:nvSpPr>
        <p:spPr>
          <a:xfrm>
            <a:off x="560671" y="5378637"/>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6.27  </a:t>
            </a:r>
            <a:r>
              <a:rPr lang="zh-CN" altLang="zh-CN" sz="1800" kern="1000" dirty="0">
                <a:effectLst/>
                <a:latin typeface="Times New Roman" panose="02020603050405020304" pitchFamily="18" charset="0"/>
                <a:ea typeface="宋体" panose="02010600030101010101" pitchFamily="2" charset="-122"/>
              </a:rPr>
              <a:t>基于固定障碍物的路径规划</a:t>
            </a:r>
            <a:r>
              <a:rPr lang="en-US" altLang="zh-CN" sz="1800" kern="1000" dirty="0">
                <a:effectLst/>
                <a:latin typeface="Times New Roman" panose="02020603050405020304" pitchFamily="18" charset="0"/>
                <a:ea typeface="宋体" panose="02010600030101010101" pitchFamily="2" charset="-122"/>
              </a:rPr>
              <a:t>3</a:t>
            </a:r>
            <a:endParaRPr lang="zh-CN" altLang="zh-CN" sz="1800" kern="1000" dirty="0">
              <a:effectLst/>
              <a:latin typeface="Times New Roman" panose="02020603050405020304" pitchFamily="18" charset="0"/>
              <a:ea typeface="宋体" panose="02010600030101010101" pitchFamily="2" charset="-122"/>
            </a:endParaRPr>
          </a:p>
        </p:txBody>
      </p:sp>
      <p:pic>
        <p:nvPicPr>
          <p:cNvPr id="56323" name="Picture 3">
            <a:extLst>
              <a:ext uri="{FF2B5EF4-FFF2-40B4-BE49-F238E27FC236}">
                <a16:creationId xmlns:a16="http://schemas.microsoft.com/office/drawing/2014/main" id="{D18C7304-16E8-FF90-4DCB-D31E14E3B5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5075" y="1680062"/>
            <a:ext cx="4422692" cy="3505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EF98DB66-D73F-5612-8CD2-D8D46C57F6C2}"/>
              </a:ext>
            </a:extLst>
          </p:cNvPr>
          <p:cNvSpPr txBox="1"/>
          <p:nvPr/>
        </p:nvSpPr>
        <p:spPr>
          <a:xfrm>
            <a:off x="5773181" y="5378637"/>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6.28  </a:t>
            </a:r>
            <a:r>
              <a:rPr lang="zh-CN" altLang="zh-CN" sz="1800" kern="1000" dirty="0">
                <a:effectLst/>
                <a:latin typeface="Times New Roman" panose="02020603050405020304" pitchFamily="18" charset="0"/>
                <a:ea typeface="宋体" panose="02010600030101010101" pitchFamily="2" charset="-122"/>
              </a:rPr>
              <a:t>起始点、终止点与障碍物</a:t>
            </a:r>
          </a:p>
        </p:txBody>
      </p:sp>
    </p:spTree>
    <p:extLst>
      <p:ext uri="{BB962C8B-B14F-4D97-AF65-F5344CB8AC3E}">
        <p14:creationId xmlns:p14="http://schemas.microsoft.com/office/powerpoint/2010/main" val="39391969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pic>
        <p:nvPicPr>
          <p:cNvPr id="57346" name="Picture 2">
            <a:extLst>
              <a:ext uri="{FF2B5EF4-FFF2-40B4-BE49-F238E27FC236}">
                <a16:creationId xmlns:a16="http://schemas.microsoft.com/office/drawing/2014/main" id="{672B13CA-4C47-722F-8AE4-80B1709665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4871" y="1604872"/>
            <a:ext cx="4642258" cy="364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BFBDA4D9-CD36-D828-B858-107B4BA325D5}"/>
              </a:ext>
            </a:extLst>
          </p:cNvPr>
          <p:cNvSpPr txBox="1"/>
          <p:nvPr/>
        </p:nvSpPr>
        <p:spPr>
          <a:xfrm>
            <a:off x="3032760" y="5622405"/>
            <a:ext cx="6126480"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6.29  </a:t>
            </a:r>
            <a:r>
              <a:rPr lang="zh-CN" altLang="zh-CN" sz="1800" kern="1000" dirty="0">
                <a:effectLst/>
                <a:latin typeface="Times New Roman" panose="02020603050405020304" pitchFamily="18" charset="0"/>
                <a:ea typeface="宋体" panose="02010600030101010101" pitchFamily="2" charset="-122"/>
              </a:rPr>
              <a:t>完整路径规划</a:t>
            </a:r>
          </a:p>
        </p:txBody>
      </p:sp>
    </p:spTree>
    <p:extLst>
      <p:ext uri="{BB962C8B-B14F-4D97-AF65-F5344CB8AC3E}">
        <p14:creationId xmlns:p14="http://schemas.microsoft.com/office/powerpoint/2010/main" val="3738933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B85914-29DA-8E7B-8831-A4CCD10FF71D}"/>
              </a:ext>
            </a:extLst>
          </p:cNvPr>
          <p:cNvSpPr txBox="1"/>
          <p:nvPr/>
        </p:nvSpPr>
        <p:spPr>
          <a:xfrm>
            <a:off x="1737495" y="76200"/>
            <a:ext cx="4082860" cy="523220"/>
          </a:xfrm>
          <a:prstGeom prst="rect">
            <a:avLst/>
          </a:prstGeom>
          <a:noFill/>
        </p:spPr>
        <p:txBody>
          <a:bodyPr wrap="square" rtlCol="0">
            <a:spAutoFit/>
          </a:bodyPr>
          <a:lstStyle/>
          <a:p>
            <a:r>
              <a:rPr lang="en-US" altLang="zh-CN"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6.3  </a:t>
            </a:r>
            <a:r>
              <a:rPr lang="zh-CN" altLang="en-US" sz="2800" b="1" kern="1400" dirty="0">
                <a:effectLst/>
                <a:latin typeface="微软雅黑" panose="020B0503020204020204" pitchFamily="34" charset="-122"/>
                <a:ea typeface="微软雅黑" panose="020B0503020204020204" pitchFamily="34" charset="-122"/>
                <a:cs typeface="Times New Roman" panose="02020603050405020304" pitchFamily="18" charset="0"/>
              </a:rPr>
              <a:t>局部路径规划算法</a:t>
            </a:r>
          </a:p>
        </p:txBody>
      </p:sp>
      <p:sp>
        <p:nvSpPr>
          <p:cNvPr id="5" name="文本框 4">
            <a:extLst>
              <a:ext uri="{FF2B5EF4-FFF2-40B4-BE49-F238E27FC236}">
                <a16:creationId xmlns:a16="http://schemas.microsoft.com/office/drawing/2014/main" id="{26517F0D-031B-881B-23C1-3A3DEB31E89A}"/>
              </a:ext>
            </a:extLst>
          </p:cNvPr>
          <p:cNvSpPr txBox="1"/>
          <p:nvPr/>
        </p:nvSpPr>
        <p:spPr>
          <a:xfrm>
            <a:off x="1964355" y="599420"/>
            <a:ext cx="8661935" cy="4247317"/>
          </a:xfrm>
          <a:prstGeom prst="rect">
            <a:avLst/>
          </a:prstGeom>
          <a:noFill/>
        </p:spPr>
        <p:txBody>
          <a:bodyPr wrap="square">
            <a:spAutoFit/>
          </a:bodyPr>
          <a:lstStyle/>
          <a:p>
            <a:pPr algn="ctr">
              <a:lnSpc>
                <a:spcPct val="350000"/>
              </a:lnSpc>
            </a:pPr>
            <a:r>
              <a:rPr lang="zh-CN" altLang="zh-CN" sz="3600" b="1" kern="1400" dirty="0">
                <a:effectLst/>
                <a:latin typeface="Arial" panose="020B0604020202020204" pitchFamily="34" charset="0"/>
                <a:ea typeface="方正小标宋_GBK"/>
                <a:cs typeface="Times New Roman" panose="02020603050405020304" pitchFamily="18" charset="0"/>
              </a:rPr>
              <a:t>习</a:t>
            </a:r>
            <a:r>
              <a:rPr lang="en-US" altLang="zh-CN" sz="3600" b="1" kern="1400" dirty="0">
                <a:effectLst/>
                <a:latin typeface="Arial" panose="020B0604020202020204" pitchFamily="34" charset="0"/>
                <a:ea typeface="方正小标宋_GBK"/>
                <a:cs typeface="Times New Roman" panose="02020603050405020304" pitchFamily="18" charset="0"/>
              </a:rPr>
              <a:t>    </a:t>
            </a:r>
            <a:r>
              <a:rPr lang="zh-CN" altLang="zh-CN" sz="3600" b="1" kern="1400" dirty="0">
                <a:effectLst/>
                <a:latin typeface="Arial" panose="020B0604020202020204" pitchFamily="34" charset="0"/>
                <a:ea typeface="方正小标宋_GBK"/>
                <a:cs typeface="Times New Roman" panose="02020603050405020304" pitchFamily="18" charset="0"/>
              </a:rPr>
              <a:t>题</a:t>
            </a:r>
          </a:p>
          <a:p>
            <a:pPr algn="just"/>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．简要叙述机器人常用的地形识别方法。</a:t>
            </a:r>
          </a:p>
          <a:p>
            <a:pPr algn="just"/>
            <a:r>
              <a:rPr lang="en-US" altLang="zh-CN" sz="2400" b="1" kern="1000" dirty="0">
                <a:effectLst/>
                <a:latin typeface="微软雅黑" panose="020B0503020204020204" pitchFamily="34" charset="-122"/>
                <a:ea typeface="微软雅黑" panose="020B0503020204020204" pitchFamily="34" charset="-122"/>
              </a:rPr>
              <a:t>2</a:t>
            </a:r>
            <a:r>
              <a:rPr lang="zh-CN" altLang="zh-CN" sz="2400" b="1" kern="1000" dirty="0">
                <a:effectLst/>
                <a:latin typeface="微软雅黑" panose="020B0503020204020204" pitchFamily="34" charset="-122"/>
                <a:ea typeface="微软雅黑" panose="020B0503020204020204" pitchFamily="34" charset="-122"/>
              </a:rPr>
              <a:t>．什么是机器人的路径规划方法？</a:t>
            </a:r>
          </a:p>
          <a:p>
            <a:pPr algn="just"/>
            <a:r>
              <a:rPr lang="en-US" altLang="zh-CN" sz="2400" b="1" kern="1000" dirty="0">
                <a:effectLst/>
                <a:latin typeface="微软雅黑" panose="020B0503020204020204" pitchFamily="34" charset="-122"/>
                <a:ea typeface="微软雅黑" panose="020B0503020204020204" pitchFamily="34" charset="-122"/>
              </a:rPr>
              <a:t>3</a:t>
            </a:r>
            <a:r>
              <a:rPr lang="zh-CN" altLang="zh-CN" sz="2400" b="1" kern="1000" dirty="0">
                <a:effectLst/>
                <a:latin typeface="微软雅黑" panose="020B0503020204020204" pitchFamily="34" charset="-122"/>
                <a:ea typeface="微软雅黑" panose="020B0503020204020204" pitchFamily="34" charset="-122"/>
              </a:rPr>
              <a:t>．简要叙述机器人路径规划方法的分类。</a:t>
            </a:r>
          </a:p>
          <a:p>
            <a:pPr algn="just"/>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．机器人的全局路径规划方法的定义是什么，简要叙述常见的全局路径规划方法。</a:t>
            </a:r>
          </a:p>
          <a:p>
            <a:pPr algn="just"/>
            <a:r>
              <a:rPr lang="en-US" altLang="zh-CN" sz="2400" b="1" kern="1000" dirty="0">
                <a:effectLst/>
                <a:latin typeface="微软雅黑" panose="020B0503020204020204" pitchFamily="34" charset="-122"/>
                <a:ea typeface="微软雅黑" panose="020B0503020204020204" pitchFamily="34" charset="-122"/>
              </a:rPr>
              <a:t>5</a:t>
            </a:r>
            <a:r>
              <a:rPr lang="zh-CN" altLang="zh-CN" sz="2400" b="1" kern="1000" dirty="0">
                <a:effectLst/>
                <a:latin typeface="微软雅黑" panose="020B0503020204020204" pitchFamily="34" charset="-122"/>
                <a:ea typeface="微软雅黑" panose="020B0503020204020204" pitchFamily="34" charset="-122"/>
              </a:rPr>
              <a:t>．简要描述机器人神经网络路径规划方法的基本思想和步骤。</a:t>
            </a:r>
          </a:p>
        </p:txBody>
      </p:sp>
    </p:spTree>
    <p:extLst>
      <p:ext uri="{BB962C8B-B14F-4D97-AF65-F5344CB8AC3E}">
        <p14:creationId xmlns:p14="http://schemas.microsoft.com/office/powerpoint/2010/main" val="1243414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4">
            <a:extLst>
              <a:ext uri="{FF2B5EF4-FFF2-40B4-BE49-F238E27FC236}">
                <a16:creationId xmlns:a16="http://schemas.microsoft.com/office/drawing/2014/main" id="{6FD23B7C-E33E-C766-1E42-A6D028C81F05}"/>
              </a:ext>
            </a:extLst>
          </p:cNvPr>
          <p:cNvSpPr>
            <a:spLocks noChangeArrowheads="1"/>
          </p:cNvSpPr>
          <p:nvPr/>
        </p:nvSpPr>
        <p:spPr bwMode="auto">
          <a:xfrm>
            <a:off x="3124200" y="838200"/>
            <a:ext cx="3200400" cy="2895600"/>
          </a:xfrm>
          <a:prstGeom prst="cloudCallout">
            <a:avLst>
              <a:gd name="adj1" fmla="val 70833"/>
              <a:gd name="adj2" fmla="val 63213"/>
            </a:avLst>
          </a:prstGeom>
          <a:solidFill>
            <a:schemeClr val="accent1"/>
          </a:solidFill>
          <a:ln w="2857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1" lang="en-US" altLang="zh-CN" sz="4400" b="1">
                <a:solidFill>
                  <a:srgbClr val="FF3300"/>
                </a:solidFill>
                <a:latin typeface="Monotype Corsiva" panose="03010101010201010101" pitchFamily="66" charset="0"/>
              </a:rPr>
              <a:t>Class is over.</a:t>
            </a:r>
            <a:br>
              <a:rPr kumimoji="1" lang="en-US" altLang="zh-CN" sz="4400" b="1">
                <a:solidFill>
                  <a:srgbClr val="FF3300"/>
                </a:solidFill>
                <a:latin typeface="Monotype Corsiva" panose="03010101010201010101" pitchFamily="66" charset="0"/>
              </a:rPr>
            </a:br>
            <a:r>
              <a:rPr kumimoji="1" lang="en-US" altLang="zh-CN" sz="4400" b="1">
                <a:solidFill>
                  <a:srgbClr val="FF3300"/>
                </a:solidFill>
                <a:latin typeface="Monotype Corsiva" panose="03010101010201010101" pitchFamily="66" charset="0"/>
              </a:rPr>
              <a:t>Bye-bye!</a:t>
            </a:r>
          </a:p>
        </p:txBody>
      </p:sp>
      <p:pic>
        <p:nvPicPr>
          <p:cNvPr id="46083" name="Picture 5" descr="PE01832_">
            <a:extLst>
              <a:ext uri="{FF2B5EF4-FFF2-40B4-BE49-F238E27FC236}">
                <a16:creationId xmlns:a16="http://schemas.microsoft.com/office/drawing/2014/main" id="{CFD07595-6900-0E46-8DF5-9DF1D6EE8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3581401"/>
            <a:ext cx="3049588" cy="2786063"/>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M3ZWI0MTQ0Y2E3ODlhYzE4NTUzNDI4YjE3OTFmMG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21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60F5D1A-49E7-4AB0-879A-3D1AE6DC426E}">
  <we:reference id="wa104381909" version="3.9.1.0" store="zh-CN" storeType="OMEX"/>
  <we:alternateReferences>
    <we:reference id="WA104381909" version="3.9.1.0" store="WA10438190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5719</TotalTime>
  <Words>7269</Words>
  <Application>Microsoft Office PowerPoint</Application>
  <PresentationFormat>宽屏</PresentationFormat>
  <Paragraphs>285</Paragraphs>
  <Slides>56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56</vt:i4>
      </vt:variant>
    </vt:vector>
  </HeadingPairs>
  <TitlesOfParts>
    <vt:vector size="71" baseType="lpstr">
      <vt:lpstr>等线</vt:lpstr>
      <vt:lpstr>等线 Light</vt:lpstr>
      <vt:lpstr>宋体</vt:lpstr>
      <vt:lpstr>微软雅黑</vt:lpstr>
      <vt:lpstr>Arial</vt:lpstr>
      <vt:lpstr>Calibri</vt:lpstr>
      <vt:lpstr>Cambria Math</vt:lpstr>
      <vt:lpstr>Monotype Corsiva</vt:lpstr>
      <vt:lpstr>Tahoma</vt:lpstr>
      <vt:lpstr>Times New Roman</vt:lpstr>
      <vt:lpstr>Office 主题​​</vt:lpstr>
      <vt:lpstr>Equation</vt:lpstr>
      <vt:lpstr>Visio.Drawing.11</vt:lpstr>
      <vt:lpstr>Visio.Drawing.15</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郝 子鑫1</cp:lastModifiedBy>
  <cp:revision>19</cp:revision>
  <dcterms:created xsi:type="dcterms:W3CDTF">2023-05-09T06:35:00Z</dcterms:created>
  <dcterms:modified xsi:type="dcterms:W3CDTF">2023-05-22T00:13:44Z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1238AA68CF4746A6913CACC12A22C1F3_12</vt:lpwstr>
  </property>
  <property fmtid="{D5CDD505-2E9C-101B-9397-08002B2CF9AE}" pid="3" name="KSOProductBuildVer">
    <vt:lpwstr>2052-11.1.0.14036</vt:lpwstr>
  </property>
</Properties>
</file>