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8"/>
  </p:notesMasterIdLst>
  <p:sldIdLst>
    <p:sldId id="258" r:id="rId2"/>
    <p:sldId id="344" r:id="rId3"/>
    <p:sldId id="343" r:id="rId4"/>
    <p:sldId id="345" r:id="rId5"/>
    <p:sldId id="262" r:id="rId6"/>
    <p:sldId id="263" r:id="rId7"/>
    <p:sldId id="264" r:id="rId8"/>
    <p:sldId id="260" r:id="rId9"/>
    <p:sldId id="265" r:id="rId10"/>
    <p:sldId id="346" r:id="rId11"/>
    <p:sldId id="267" r:id="rId12"/>
    <p:sldId id="268" r:id="rId13"/>
    <p:sldId id="270" r:id="rId14"/>
    <p:sldId id="347" r:id="rId15"/>
    <p:sldId id="273" r:id="rId16"/>
    <p:sldId id="348" r:id="rId17"/>
    <p:sldId id="274" r:id="rId18"/>
    <p:sldId id="349" r:id="rId19"/>
    <p:sldId id="350" r:id="rId20"/>
    <p:sldId id="351" r:id="rId21"/>
    <p:sldId id="275" r:id="rId22"/>
    <p:sldId id="276" r:id="rId23"/>
    <p:sldId id="277" r:id="rId24"/>
    <p:sldId id="278" r:id="rId25"/>
    <p:sldId id="279" r:id="rId26"/>
    <p:sldId id="280" r:id="rId27"/>
    <p:sldId id="281" r:id="rId28"/>
    <p:sldId id="352" r:id="rId29"/>
    <p:sldId id="353" r:id="rId30"/>
    <p:sldId id="354" r:id="rId31"/>
    <p:sldId id="355" r:id="rId32"/>
    <p:sldId id="356" r:id="rId33"/>
    <p:sldId id="357" r:id="rId34"/>
    <p:sldId id="358" r:id="rId35"/>
    <p:sldId id="284" r:id="rId36"/>
    <p:sldId id="285" r:id="rId37"/>
    <p:sldId id="286" r:id="rId38"/>
    <p:sldId id="287" r:id="rId39"/>
    <p:sldId id="289" r:id="rId40"/>
    <p:sldId id="359" r:id="rId41"/>
    <p:sldId id="291" r:id="rId42"/>
    <p:sldId id="292" r:id="rId43"/>
    <p:sldId id="293" r:id="rId44"/>
    <p:sldId id="294" r:id="rId45"/>
    <p:sldId id="295" r:id="rId46"/>
    <p:sldId id="296" r:id="rId47"/>
    <p:sldId id="297" r:id="rId48"/>
    <p:sldId id="298" r:id="rId49"/>
    <p:sldId id="299" r:id="rId50"/>
    <p:sldId id="301" r:id="rId51"/>
    <p:sldId id="360"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61" r:id="rId69"/>
    <p:sldId id="362" r:id="rId70"/>
    <p:sldId id="363" r:id="rId71"/>
    <p:sldId id="364" r:id="rId72"/>
    <p:sldId id="365" r:id="rId73"/>
    <p:sldId id="366" r:id="rId74"/>
    <p:sldId id="367" r:id="rId75"/>
    <p:sldId id="368" r:id="rId76"/>
    <p:sldId id="369" r:id="rId77"/>
    <p:sldId id="370" r:id="rId78"/>
    <p:sldId id="371" r:id="rId79"/>
    <p:sldId id="372" r:id="rId80"/>
    <p:sldId id="373" r:id="rId81"/>
    <p:sldId id="374" r:id="rId82"/>
    <p:sldId id="375" r:id="rId83"/>
    <p:sldId id="376" r:id="rId84"/>
    <p:sldId id="377" r:id="rId85"/>
    <p:sldId id="378" r:id="rId86"/>
    <p:sldId id="379" r:id="rId87"/>
    <p:sldId id="380" r:id="rId88"/>
    <p:sldId id="381" r:id="rId89"/>
    <p:sldId id="382" r:id="rId90"/>
    <p:sldId id="383" r:id="rId91"/>
    <p:sldId id="384" r:id="rId92"/>
    <p:sldId id="385" r:id="rId93"/>
    <p:sldId id="386" r:id="rId94"/>
    <p:sldId id="387" r:id="rId95"/>
    <p:sldId id="388" r:id="rId96"/>
    <p:sldId id="389" r:id="rId97"/>
    <p:sldId id="390" r:id="rId98"/>
    <p:sldId id="391" r:id="rId99"/>
    <p:sldId id="318" r:id="rId100"/>
    <p:sldId id="319" r:id="rId101"/>
    <p:sldId id="320" r:id="rId102"/>
    <p:sldId id="321" r:id="rId103"/>
    <p:sldId id="322" r:id="rId104"/>
    <p:sldId id="323" r:id="rId105"/>
    <p:sldId id="324" r:id="rId106"/>
    <p:sldId id="325" r:id="rId107"/>
    <p:sldId id="326" r:id="rId108"/>
    <p:sldId id="327" r:id="rId109"/>
    <p:sldId id="328" r:id="rId110"/>
    <p:sldId id="329" r:id="rId111"/>
    <p:sldId id="330" r:id="rId112"/>
    <p:sldId id="331" r:id="rId113"/>
    <p:sldId id="332" r:id="rId114"/>
    <p:sldId id="333" r:id="rId115"/>
    <p:sldId id="393" r:id="rId116"/>
    <p:sldId id="392" r:id="rId117"/>
  </p:sldIdLst>
  <p:sldSz cx="12192000" cy="6858000"/>
  <p:notesSz cx="6858000" cy="9144000"/>
  <p:custDataLst>
    <p:tags r:id="rId1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31" autoAdjust="0"/>
    <p:restoredTop sz="94660"/>
  </p:normalViewPr>
  <p:slideViewPr>
    <p:cSldViewPr snapToGrid="0">
      <p:cViewPr>
        <p:scale>
          <a:sx n="50" d="100"/>
          <a:sy n="50" d="100"/>
        </p:scale>
        <p:origin x="-8" y="3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tags" Target="tags/tag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2023/5/15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2023/5/15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2023/5/15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2023/5/15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2023/5/15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2023/5/15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2023/5/15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2023/5/15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2023/5/15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2023/5/15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2023/5/15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2023/5/15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8"/>
            <a:ext cx="10972800" cy="58515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2023/5/15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
        <p:nvSpPr>
          <p:cNvPr id="7" name="Line 7"/>
          <p:cNvSpPr/>
          <p:nvPr/>
        </p:nvSpPr>
        <p:spPr>
          <a:xfrm>
            <a:off x="0" y="684213"/>
            <a:ext cx="12192000" cy="0"/>
          </a:xfrm>
          <a:prstGeom prst="line">
            <a:avLst/>
          </a:prstGeom>
          <a:ln w="114300" cap="flat" cmpd="thickThin">
            <a:solidFill>
              <a:srgbClr val="660033"/>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image" Target="../media/image1.png"/><Relationship Id="rId4"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2.png"/><Relationship Id="rId4"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3.png"/><Relationship Id="rId4"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4.png"/><Relationship Id="rId4"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5.png"/><Relationship Id="rId5" Type="http://schemas.openxmlformats.org/officeDocument/2006/relationships/tags" Target="../tags/tag16.xml"/><Relationship Id="rId4"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7.png"/><Relationship Id="rId4" Type="http://schemas.openxmlformats.org/officeDocument/2006/relationships/tags" Target="../tags/tag18.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8.png"/><Relationship Id="rId4" Type="http://schemas.openxmlformats.org/officeDocument/2006/relationships/tags" Target="../tags/tag19.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2.xml"/><Relationship Id="rId1" Type="http://schemas.openxmlformats.org/officeDocument/2006/relationships/tags" Target="../tags/tag2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ags" Target="../tags/tag23.xml"/><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4.xml"/></Relationships>
</file>

<file path=ppt/slides/_rels/slide16.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tags" Target="../tags/tag27.xml"/><Relationship Id="rId7" Type="http://schemas.openxmlformats.org/officeDocument/2006/relationships/oleObject" Target="../embeddings/oleObject1.bin"/><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2.png"/><Relationship Id="rId5" Type="http://schemas.openxmlformats.org/officeDocument/2006/relationships/slideLayout" Target="../slideLayouts/slideLayout2.xml"/><Relationship Id="rId4" Type="http://schemas.openxmlformats.org/officeDocument/2006/relationships/tags" Target="../tags/tag28.xml"/></Relationships>
</file>

<file path=ppt/slides/_rels/slide17.xml.rels><?xml version="1.0" encoding="UTF-8" standalone="yes"?>
<Relationships xmlns="http://schemas.openxmlformats.org/package/2006/relationships"><Relationship Id="rId8" Type="http://schemas.openxmlformats.org/officeDocument/2006/relationships/tags" Target="../tags/tag36.xml"/><Relationship Id="rId13" Type="http://schemas.openxmlformats.org/officeDocument/2006/relationships/oleObject" Target="../embeddings/oleObject2.bin"/><Relationship Id="rId18" Type="http://schemas.openxmlformats.org/officeDocument/2006/relationships/image" Target="../media/image21.png"/><Relationship Id="rId3" Type="http://schemas.openxmlformats.org/officeDocument/2006/relationships/tags" Target="../tags/tag31.xml"/><Relationship Id="rId7" Type="http://schemas.openxmlformats.org/officeDocument/2006/relationships/tags" Target="../tags/tag35.xml"/><Relationship Id="rId12" Type="http://schemas.openxmlformats.org/officeDocument/2006/relationships/image" Target="../media/image16.png"/><Relationship Id="rId17" Type="http://schemas.openxmlformats.org/officeDocument/2006/relationships/image" Target="../media/image20.png"/><Relationship Id="rId2" Type="http://schemas.openxmlformats.org/officeDocument/2006/relationships/tags" Target="../tags/tag30.xml"/><Relationship Id="rId16" Type="http://schemas.openxmlformats.org/officeDocument/2006/relationships/image" Target="../media/image17.png"/><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image" Target="../media/image15.png"/><Relationship Id="rId5" Type="http://schemas.openxmlformats.org/officeDocument/2006/relationships/tags" Target="../tags/tag33.xml"/><Relationship Id="rId15" Type="http://schemas.openxmlformats.org/officeDocument/2006/relationships/image" Target="../media/image18.png"/><Relationship Id="rId10" Type="http://schemas.openxmlformats.org/officeDocument/2006/relationships/slideLayout" Target="../slideLayouts/slideLayout1.xml"/><Relationship Id="rId19" Type="http://schemas.openxmlformats.org/officeDocument/2006/relationships/image" Target="../media/image19.png"/><Relationship Id="rId4" Type="http://schemas.openxmlformats.org/officeDocument/2006/relationships/tags" Target="../tags/tag32.xml"/><Relationship Id="rId9" Type="http://schemas.openxmlformats.org/officeDocument/2006/relationships/tags" Target="../tags/tag37.xml"/><Relationship Id="rId14" Type="http://schemas.openxmlformats.org/officeDocument/2006/relationships/image" Target="../media/image14.wmf"/></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ags" Target="../tags/tag38.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ags" Target="../tags/tag40.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1.xml"/><Relationship Id="rId1" Type="http://schemas.openxmlformats.org/officeDocument/2006/relationships/tags" Target="../tags/tag41.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7.png"/><Relationship Id="rId7" Type="http://schemas.openxmlformats.org/officeDocument/2006/relationships/image" Target="../media/image32.png"/><Relationship Id="rId2" Type="http://schemas.openxmlformats.org/officeDocument/2006/relationships/slideLayout" Target="../slideLayouts/slideLayout1.xml"/><Relationship Id="rId1" Type="http://schemas.openxmlformats.org/officeDocument/2006/relationships/tags" Target="../tags/tag42.xml"/><Relationship Id="rId6" Type="http://schemas.openxmlformats.org/officeDocument/2006/relationships/image" Target="../media/image31.png"/><Relationship Id="rId5" Type="http://schemas.openxmlformats.org/officeDocument/2006/relationships/image" Target="../media/image30.png"/><Relationship Id="rId10" Type="http://schemas.openxmlformats.org/officeDocument/2006/relationships/image" Target="../media/image35.png"/><Relationship Id="rId4" Type="http://schemas.openxmlformats.org/officeDocument/2006/relationships/image" Target="../media/image29.png"/><Relationship Id="rId9"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Layout" Target="../slideLayouts/slideLayout1.xml"/><Relationship Id="rId1" Type="http://schemas.openxmlformats.org/officeDocument/2006/relationships/tags" Target="../tags/tag43.xml"/><Relationship Id="rId6" Type="http://schemas.openxmlformats.org/officeDocument/2006/relationships/image" Target="../media/image37.png"/><Relationship Id="rId5" Type="http://schemas.openxmlformats.org/officeDocument/2006/relationships/image" Target="../media/image39.pn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slideLayout" Target="../slideLayouts/slideLayout1.xml"/><Relationship Id="rId1" Type="http://schemas.openxmlformats.org/officeDocument/2006/relationships/tags" Target="../tags/tag44.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9"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slideLayout" Target="../slideLayouts/slideLayout1.xml"/><Relationship Id="rId1" Type="http://schemas.openxmlformats.org/officeDocument/2006/relationships/tags" Target="../tags/tag45.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slideLayout" Target="../slideLayouts/slideLayout1.xml"/><Relationship Id="rId1" Type="http://schemas.openxmlformats.org/officeDocument/2006/relationships/tags" Target="../tags/tag46.xml"/><Relationship Id="rId5" Type="http://schemas.openxmlformats.org/officeDocument/2006/relationships/image" Target="../media/image53.png"/><Relationship Id="rId4" Type="http://schemas.openxmlformats.org/officeDocument/2006/relationships/image" Target="../media/image47.png"/></Relationships>
</file>

<file path=ppt/slides/_rels/slide2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slideLayout" Target="../slideLayouts/slideLayout1.xml"/><Relationship Id="rId1" Type="http://schemas.openxmlformats.org/officeDocument/2006/relationships/tags" Target="../tags/tag47.xml"/><Relationship Id="rId4" Type="http://schemas.openxmlformats.org/officeDocument/2006/relationships/image" Target="../media/image54.png"/></Relationships>
</file>

<file path=ppt/slides/_rels/slide28.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slideLayout" Target="../slideLayouts/slideLayout1.xml"/><Relationship Id="rId1" Type="http://schemas.openxmlformats.org/officeDocument/2006/relationships/tags" Target="../tags/tag48.xml"/></Relationships>
</file>

<file path=ppt/slides/_rels/slide29.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slideLayout" Target="../slideLayouts/slideLayout1.xml"/><Relationship Id="rId1" Type="http://schemas.openxmlformats.org/officeDocument/2006/relationships/tags" Target="../tags/tag49.xml"/></Relationships>
</file>

<file path=ppt/slides/_rels/slide30.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slideLayout" Target="../slideLayouts/slideLayout1.xml"/><Relationship Id="rId1" Type="http://schemas.openxmlformats.org/officeDocument/2006/relationships/tags" Target="../tags/tag50.xml"/></Relationships>
</file>

<file path=ppt/slides/_rels/slide31.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slideLayout" Target="../slideLayouts/slideLayout1.xml"/><Relationship Id="rId1" Type="http://schemas.openxmlformats.org/officeDocument/2006/relationships/tags" Target="../tags/tag51.xml"/></Relationships>
</file>

<file path=ppt/slides/_rels/slide32.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slideLayout" Target="../slideLayouts/slideLayout1.xml"/><Relationship Id="rId1" Type="http://schemas.openxmlformats.org/officeDocument/2006/relationships/tags" Target="../tags/tag52.xml"/></Relationships>
</file>

<file path=ppt/slides/_rels/slide33.xml.rels><?xml version="1.0" encoding="UTF-8" standalone="yes"?>
<Relationships xmlns="http://schemas.openxmlformats.org/package/2006/relationships"><Relationship Id="rId3" Type="http://schemas.openxmlformats.org/officeDocument/2006/relationships/image" Target="../media/image60.emf"/><Relationship Id="rId2" Type="http://schemas.openxmlformats.org/officeDocument/2006/relationships/slideLayout" Target="../slideLayouts/slideLayout1.xml"/><Relationship Id="rId1" Type="http://schemas.openxmlformats.org/officeDocument/2006/relationships/tags" Target="../tags/tag53.xml"/></Relationships>
</file>

<file path=ppt/slides/_rels/slide34.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slideLayout" Target="../slideLayouts/slideLayout1.xml"/><Relationship Id="rId1" Type="http://schemas.openxmlformats.org/officeDocument/2006/relationships/tags" Target="../tags/tag54.xml"/></Relationships>
</file>

<file path=ppt/slides/_rels/slide3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slideLayout" Target="../slideLayouts/slideLayout1.xml"/><Relationship Id="rId1" Type="http://schemas.openxmlformats.org/officeDocument/2006/relationships/tags" Target="../tags/tag55.xml"/><Relationship Id="rId4" Type="http://schemas.openxmlformats.org/officeDocument/2006/relationships/image" Target="../media/image62.png"/></Relationships>
</file>

<file path=ppt/slides/_rels/slide3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slideLayout" Target="../slideLayouts/slideLayout1.xml"/><Relationship Id="rId1" Type="http://schemas.openxmlformats.org/officeDocument/2006/relationships/tags" Target="../tags/tag56.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37.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slideLayout" Target="../slideLayouts/slideLayout1.xml"/><Relationship Id="rId1" Type="http://schemas.openxmlformats.org/officeDocument/2006/relationships/tags" Target="../tags/tag57.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38.xml.rels><?xml version="1.0" encoding="UTF-8" standalone="yes"?>
<Relationships xmlns="http://schemas.openxmlformats.org/package/2006/relationships"><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slideLayout" Target="../slideLayouts/slideLayout1.xml"/><Relationship Id="rId1" Type="http://schemas.openxmlformats.org/officeDocument/2006/relationships/tags" Target="../tags/tag58.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3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slideLayout" Target="../slideLayouts/slideLayout1.xml"/><Relationship Id="rId1" Type="http://schemas.openxmlformats.org/officeDocument/2006/relationships/tags" Target="../tags/tag59.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4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slideLayout" Target="../slideLayouts/slideLayout1.xml"/><Relationship Id="rId1" Type="http://schemas.openxmlformats.org/officeDocument/2006/relationships/tags" Target="../tags/tag60.xml"/></Relationships>
</file>

<file path=ppt/slides/_rels/slide4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slideLayout" Target="../slideLayouts/slideLayout1.xml"/><Relationship Id="rId1" Type="http://schemas.openxmlformats.org/officeDocument/2006/relationships/tags" Target="../tags/tag61.xml"/><Relationship Id="rId4" Type="http://schemas.openxmlformats.org/officeDocument/2006/relationships/image" Target="../media/image63.png"/></Relationships>
</file>

<file path=ppt/slides/_rels/slide4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slideLayout" Target="../slideLayouts/slideLayout1.xml"/><Relationship Id="rId1" Type="http://schemas.openxmlformats.org/officeDocument/2006/relationships/tags" Target="../tags/tag62.xml"/><Relationship Id="rId5" Type="http://schemas.openxmlformats.org/officeDocument/2006/relationships/image" Target="../media/image90.png"/><Relationship Id="rId4" Type="http://schemas.openxmlformats.org/officeDocument/2006/relationships/image" Target="../media/image89.png"/></Relationships>
</file>

<file path=ppt/slides/_rels/slide43.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slideLayout" Target="../slideLayouts/slideLayout1.xml"/><Relationship Id="rId1" Type="http://schemas.openxmlformats.org/officeDocument/2006/relationships/tags" Target="../tags/tag63.xml"/></Relationships>
</file>

<file path=ppt/slides/_rels/slide44.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slideLayout" Target="../slideLayouts/slideLayout1.xml"/><Relationship Id="rId1" Type="http://schemas.openxmlformats.org/officeDocument/2006/relationships/tags" Target="../tags/tag64.xml"/></Relationships>
</file>

<file path=ppt/slides/_rels/slide45.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slideLayout" Target="../slideLayouts/slideLayout1.xml"/><Relationship Id="rId1" Type="http://schemas.openxmlformats.org/officeDocument/2006/relationships/tags" Target="../tags/tag65.xml"/></Relationships>
</file>

<file path=ppt/slides/_rels/slide46.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slideLayout" Target="../slideLayouts/slideLayout1.xml"/><Relationship Id="rId1" Type="http://schemas.openxmlformats.org/officeDocument/2006/relationships/tags" Target="../tags/tag66.xml"/></Relationships>
</file>

<file path=ppt/slides/_rels/slide47.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slideLayout" Target="../slideLayouts/slideLayout1.xml"/><Relationship Id="rId1" Type="http://schemas.openxmlformats.org/officeDocument/2006/relationships/tags" Target="../tags/tag67.xml"/></Relationships>
</file>

<file path=ppt/slides/_rels/slide48.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slideLayout" Target="../slideLayouts/slideLayout1.xml"/><Relationship Id="rId1" Type="http://schemas.openxmlformats.org/officeDocument/2006/relationships/tags" Target="../tags/tag68.xml"/></Relationships>
</file>

<file path=ppt/slides/_rels/slide49.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slideLayout" Target="../slideLayouts/slideLayout1.xml"/><Relationship Id="rId1" Type="http://schemas.openxmlformats.org/officeDocument/2006/relationships/tags" Target="../tags/tag69.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0.xml"/></Relationships>
</file>

<file path=ppt/slides/_rels/slide5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52.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slideLayout" Target="../slideLayouts/slideLayout1.xml"/><Relationship Id="rId1" Type="http://schemas.openxmlformats.org/officeDocument/2006/relationships/tags" Target="../tags/tag72.xml"/></Relationships>
</file>

<file path=ppt/slides/_rels/slide53.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slideLayout" Target="../slideLayouts/slideLayout1.xml"/><Relationship Id="rId1" Type="http://schemas.openxmlformats.org/officeDocument/2006/relationships/tags" Target="../tags/tag73.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png"/></Relationships>
</file>

<file path=ppt/slides/_rels/slide54.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slideLayout" Target="../slideLayouts/slideLayout1.xml"/><Relationship Id="rId1" Type="http://schemas.openxmlformats.org/officeDocument/2006/relationships/tags" Target="../tags/tag74.xml"/><Relationship Id="rId4" Type="http://schemas.openxmlformats.org/officeDocument/2006/relationships/image" Target="../media/image106.png"/></Relationships>
</file>

<file path=ppt/slides/_rels/slide55.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slideLayout" Target="../slideLayouts/slideLayout1.xml"/><Relationship Id="rId1" Type="http://schemas.openxmlformats.org/officeDocument/2006/relationships/tags" Target="../tags/tag75.xml"/><Relationship Id="rId4" Type="http://schemas.openxmlformats.org/officeDocument/2006/relationships/image" Target="../media/image108.png"/></Relationships>
</file>

<file path=ppt/slides/_rels/slide56.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slideLayout" Target="../slideLayouts/slideLayout1.xml"/><Relationship Id="rId1" Type="http://schemas.openxmlformats.org/officeDocument/2006/relationships/tags" Target="../tags/tag76.xml"/><Relationship Id="rId4" Type="http://schemas.openxmlformats.org/officeDocument/2006/relationships/image" Target="../media/image110.png"/></Relationships>
</file>

<file path=ppt/slides/_rels/slide57.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slideLayout" Target="../slideLayouts/slideLayout1.xml"/><Relationship Id="rId1" Type="http://schemas.openxmlformats.org/officeDocument/2006/relationships/tags" Target="../tags/tag77.xml"/><Relationship Id="rId4" Type="http://schemas.openxmlformats.org/officeDocument/2006/relationships/image" Target="../media/image112.png"/></Relationships>
</file>

<file path=ppt/slides/_rels/slide5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slideLayout" Target="../slideLayouts/slideLayout1.xml"/><Relationship Id="rId1" Type="http://schemas.openxmlformats.org/officeDocument/2006/relationships/tags" Target="../tags/tag78.xml"/></Relationships>
</file>

<file path=ppt/slides/_rels/slide59.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slideLayout" Target="../slideLayouts/slideLayout1.xml"/><Relationship Id="rId1" Type="http://schemas.openxmlformats.org/officeDocument/2006/relationships/tags" Target="../tags/tag79.xml"/></Relationships>
</file>

<file path=ppt/slides/_rels/slide60.xml.rels><?xml version="1.0" encoding="UTF-8" standalone="yes"?>
<Relationships xmlns="http://schemas.openxmlformats.org/package/2006/relationships"><Relationship Id="rId3" Type="http://schemas.openxmlformats.org/officeDocument/2006/relationships/image" Target="../media/image88.emf"/><Relationship Id="rId2" Type="http://schemas.openxmlformats.org/officeDocument/2006/relationships/slideLayout" Target="../slideLayouts/slideLayout1.xml"/><Relationship Id="rId1" Type="http://schemas.openxmlformats.org/officeDocument/2006/relationships/tags" Target="../tags/tag80.xml"/></Relationships>
</file>

<file path=ppt/slides/_rels/slide61.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slideLayout" Target="../slideLayouts/slideLayout1.xml"/><Relationship Id="rId1" Type="http://schemas.openxmlformats.org/officeDocument/2006/relationships/tags" Target="../tags/tag81.xml"/></Relationships>
</file>

<file path=ppt/slides/_rels/slide62.xml.rels><?xml version="1.0" encoding="UTF-8" standalone="yes"?>
<Relationships xmlns="http://schemas.openxmlformats.org/package/2006/relationships"><Relationship Id="rId3" Type="http://schemas.openxmlformats.org/officeDocument/2006/relationships/image" Target="../media/image90.emf"/><Relationship Id="rId2" Type="http://schemas.openxmlformats.org/officeDocument/2006/relationships/slideLayout" Target="../slideLayouts/slideLayout1.xml"/><Relationship Id="rId1" Type="http://schemas.openxmlformats.org/officeDocument/2006/relationships/tags" Target="../tags/tag82.xml"/></Relationships>
</file>

<file path=ppt/slides/_rels/slide63.xml.rels><?xml version="1.0" encoding="UTF-8" standalone="yes"?>
<Relationships xmlns="http://schemas.openxmlformats.org/package/2006/relationships"><Relationship Id="rId3" Type="http://schemas.openxmlformats.org/officeDocument/2006/relationships/image" Target="../media/image91.emf"/><Relationship Id="rId2" Type="http://schemas.openxmlformats.org/officeDocument/2006/relationships/slideLayout" Target="../slideLayouts/slideLayout1.xml"/><Relationship Id="rId1" Type="http://schemas.openxmlformats.org/officeDocument/2006/relationships/tags" Target="../tags/tag83.xml"/></Relationships>
</file>

<file path=ppt/slides/_rels/slide64.xml.rels><?xml version="1.0" encoding="UTF-8" standalone="yes"?>
<Relationships xmlns="http://schemas.openxmlformats.org/package/2006/relationships"><Relationship Id="rId3" Type="http://schemas.openxmlformats.org/officeDocument/2006/relationships/image" Target="../media/image92.emf"/><Relationship Id="rId2" Type="http://schemas.openxmlformats.org/officeDocument/2006/relationships/slideLayout" Target="../slideLayouts/slideLayout1.xml"/><Relationship Id="rId1" Type="http://schemas.openxmlformats.org/officeDocument/2006/relationships/tags" Target="../tags/tag84.xml"/></Relationships>
</file>

<file path=ppt/slides/_rels/slide65.xml.rels><?xml version="1.0" encoding="UTF-8" standalone="yes"?>
<Relationships xmlns="http://schemas.openxmlformats.org/package/2006/relationships"><Relationship Id="rId3" Type="http://schemas.openxmlformats.org/officeDocument/2006/relationships/image" Target="../media/image93.emf"/><Relationship Id="rId2" Type="http://schemas.openxmlformats.org/officeDocument/2006/relationships/slideLayout" Target="../slideLayouts/slideLayout1.xml"/><Relationship Id="rId1" Type="http://schemas.openxmlformats.org/officeDocument/2006/relationships/tags" Target="../tags/tag85.xml"/></Relationships>
</file>

<file path=ppt/slides/_rels/slide66.xml.rels><?xml version="1.0" encoding="UTF-8" standalone="yes"?>
<Relationships xmlns="http://schemas.openxmlformats.org/package/2006/relationships"><Relationship Id="rId3" Type="http://schemas.openxmlformats.org/officeDocument/2006/relationships/image" Target="../media/image94.emf"/><Relationship Id="rId2" Type="http://schemas.openxmlformats.org/officeDocument/2006/relationships/slideLayout" Target="../slideLayouts/slideLayout1.xml"/><Relationship Id="rId1" Type="http://schemas.openxmlformats.org/officeDocument/2006/relationships/tags" Target="../tags/tag86.xml"/></Relationships>
</file>

<file path=ppt/slides/_rels/slide67.xml.rels><?xml version="1.0" encoding="UTF-8" standalone="yes"?>
<Relationships xmlns="http://schemas.openxmlformats.org/package/2006/relationships"><Relationship Id="rId3" Type="http://schemas.openxmlformats.org/officeDocument/2006/relationships/image" Target="../media/image95.emf"/><Relationship Id="rId2" Type="http://schemas.openxmlformats.org/officeDocument/2006/relationships/slideLayout" Target="../slideLayouts/slideLayout1.xml"/><Relationship Id="rId1" Type="http://schemas.openxmlformats.org/officeDocument/2006/relationships/tags" Target="../tags/tag87.xml"/></Relationships>
</file>

<file path=ppt/slides/_rels/slide68.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slideLayout" Target="../slideLayouts/slideLayout1.xml"/><Relationship Id="rId1" Type="http://schemas.openxmlformats.org/officeDocument/2006/relationships/tags" Target="../tags/tag88.xml"/><Relationship Id="rId4" Type="http://schemas.openxmlformats.org/officeDocument/2006/relationships/image" Target="../media/image124.png"/></Relationships>
</file>

<file path=ppt/slides/_rels/slide69.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slideLayout" Target="../slideLayouts/slideLayout1.xml"/><Relationship Id="rId1" Type="http://schemas.openxmlformats.org/officeDocument/2006/relationships/tags" Target="../tags/tag89.xml"/><Relationship Id="rId4" Type="http://schemas.openxmlformats.org/officeDocument/2006/relationships/image" Target="../media/image126.png"/></Relationships>
</file>

<file path=ppt/slides/_rels/slide7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slideLayout" Target="../slideLayouts/slideLayout1.xml"/><Relationship Id="rId1" Type="http://schemas.openxmlformats.org/officeDocument/2006/relationships/tags" Target="../tags/tag90.xml"/></Relationships>
</file>

<file path=ppt/slides/_rels/slide71.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slideLayout" Target="../slideLayouts/slideLayout1.xml"/><Relationship Id="rId1" Type="http://schemas.openxmlformats.org/officeDocument/2006/relationships/tags" Target="../tags/tag91.xml"/></Relationships>
</file>

<file path=ppt/slides/_rels/slide7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slideLayout" Target="../slideLayouts/slideLayout1.xml"/><Relationship Id="rId1" Type="http://schemas.openxmlformats.org/officeDocument/2006/relationships/tags" Target="../tags/tag92.xml"/></Relationships>
</file>

<file path=ppt/slides/_rels/slide7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slideLayout" Target="../slideLayouts/slideLayout1.xml"/><Relationship Id="rId1" Type="http://schemas.openxmlformats.org/officeDocument/2006/relationships/tags" Target="../tags/tag93.xml"/></Relationships>
</file>

<file path=ppt/slides/_rels/slide74.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slideLayout" Target="../slideLayouts/slideLayout1.xml"/><Relationship Id="rId1" Type="http://schemas.openxmlformats.org/officeDocument/2006/relationships/tags" Target="../tags/tag94.xml"/><Relationship Id="rId4" Type="http://schemas.openxmlformats.org/officeDocument/2006/relationships/image" Target="../media/image116.png"/></Relationships>
</file>

<file path=ppt/slides/_rels/slide75.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slideLayout" Target="../slideLayouts/slideLayout1.xml"/><Relationship Id="rId1" Type="http://schemas.openxmlformats.org/officeDocument/2006/relationships/tags" Target="../tags/tag95.xml"/><Relationship Id="rId5" Type="http://schemas.openxmlformats.org/officeDocument/2006/relationships/image" Target="../media/image119.png"/><Relationship Id="rId4" Type="http://schemas.openxmlformats.org/officeDocument/2006/relationships/image" Target="../media/image118.png"/></Relationships>
</file>

<file path=ppt/slides/_rels/slide76.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slideLayout" Target="../slideLayouts/slideLayout1.xml"/><Relationship Id="rId1" Type="http://schemas.openxmlformats.org/officeDocument/2006/relationships/tags" Target="../tags/tag96.xml"/></Relationships>
</file>

<file path=ppt/slides/_rels/slide77.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slideLayout" Target="../slideLayouts/slideLayout1.xml"/><Relationship Id="rId1" Type="http://schemas.openxmlformats.org/officeDocument/2006/relationships/tags" Target="../tags/tag97.xml"/><Relationship Id="rId4" Type="http://schemas.openxmlformats.org/officeDocument/2006/relationships/image" Target="../media/image138.png"/></Relationships>
</file>

<file path=ppt/slides/_rels/slide78.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slideLayout" Target="../slideLayouts/slideLayout1.xml"/><Relationship Id="rId1" Type="http://schemas.openxmlformats.org/officeDocument/2006/relationships/tags" Target="../tags/tag98.xml"/><Relationship Id="rId5" Type="http://schemas.openxmlformats.org/officeDocument/2006/relationships/image" Target="../media/image121.png"/><Relationship Id="rId4" Type="http://schemas.openxmlformats.org/officeDocument/2006/relationships/image" Target="../media/image120.png"/></Relationships>
</file>

<file path=ppt/slides/_rels/slide79.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slideLayout" Target="../slideLayouts/slideLayout1.xml"/><Relationship Id="rId1" Type="http://schemas.openxmlformats.org/officeDocument/2006/relationships/tags" Target="../tags/tag99.xml"/><Relationship Id="rId4" Type="http://schemas.openxmlformats.org/officeDocument/2006/relationships/image" Target="../media/image143.png"/></Relationships>
</file>

<file path=ppt/slides/_rels/slide80.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slideLayout" Target="../slideLayouts/slideLayout1.xml"/><Relationship Id="rId1" Type="http://schemas.openxmlformats.org/officeDocument/2006/relationships/tags" Target="../tags/tag100.xml"/></Relationships>
</file>

<file path=ppt/slides/_rels/slide81.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slideLayout" Target="../slideLayouts/slideLayout1.xml"/><Relationship Id="rId1" Type="http://schemas.openxmlformats.org/officeDocument/2006/relationships/tags" Target="../tags/tag101.xml"/><Relationship Id="rId4" Type="http://schemas.openxmlformats.org/officeDocument/2006/relationships/image" Target="../media/image146.png"/></Relationships>
</file>

<file path=ppt/slides/_rels/slide82.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slideLayout" Target="../slideLayouts/slideLayout1.xml"/><Relationship Id="rId1" Type="http://schemas.openxmlformats.org/officeDocument/2006/relationships/tags" Target="../tags/tag102.xml"/></Relationships>
</file>

<file path=ppt/slides/_rels/slide83.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slideLayout" Target="../slideLayouts/slideLayout1.xml"/><Relationship Id="rId1" Type="http://schemas.openxmlformats.org/officeDocument/2006/relationships/tags" Target="../tags/tag103.xml"/></Relationships>
</file>

<file path=ppt/slides/_rels/slide84.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slideLayout" Target="../slideLayouts/slideLayout1.xml"/><Relationship Id="rId1" Type="http://schemas.openxmlformats.org/officeDocument/2006/relationships/tags" Target="../tags/tag104.xml"/></Relationships>
</file>

<file path=ppt/slides/_rels/slide85.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slideLayout" Target="../slideLayouts/slideLayout1.xml"/><Relationship Id="rId1" Type="http://schemas.openxmlformats.org/officeDocument/2006/relationships/tags" Target="../tags/tag105.xml"/><Relationship Id="rId4" Type="http://schemas.openxmlformats.org/officeDocument/2006/relationships/image" Target="../media/image151.png"/></Relationships>
</file>

<file path=ppt/slides/_rels/slide86.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slideLayout" Target="../slideLayouts/slideLayout1.xml"/><Relationship Id="rId1" Type="http://schemas.openxmlformats.org/officeDocument/2006/relationships/tags" Target="../tags/tag106.xml"/><Relationship Id="rId5" Type="http://schemas.openxmlformats.org/officeDocument/2006/relationships/image" Target="../media/image154.png"/><Relationship Id="rId4" Type="http://schemas.openxmlformats.org/officeDocument/2006/relationships/image" Target="../media/image153.png"/></Relationships>
</file>

<file path=ppt/slides/_rels/slide87.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slideLayout" Target="../slideLayouts/slideLayout1.xml"/><Relationship Id="rId1" Type="http://schemas.openxmlformats.org/officeDocument/2006/relationships/tags" Target="../tags/tag107.xml"/></Relationships>
</file>

<file path=ppt/slides/_rels/slide88.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slideLayout" Target="../slideLayouts/slideLayout1.xml"/><Relationship Id="rId1" Type="http://schemas.openxmlformats.org/officeDocument/2006/relationships/tags" Target="../tags/tag108.xml"/></Relationships>
</file>

<file path=ppt/slides/_rels/slide89.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slideLayout" Target="../slideLayouts/slideLayout1.xml"/><Relationship Id="rId1" Type="http://schemas.openxmlformats.org/officeDocument/2006/relationships/tags" Target="../tags/tag109.xml"/></Relationships>
</file>

<file path=ppt/slides/_rels/slide90.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slideLayout" Target="../slideLayouts/slideLayout1.xml"/><Relationship Id="rId1" Type="http://schemas.openxmlformats.org/officeDocument/2006/relationships/tags" Target="../tags/tag110.xml"/></Relationships>
</file>

<file path=ppt/slides/_rels/slide91.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slideLayout" Target="../slideLayouts/slideLayout1.xml"/><Relationship Id="rId1" Type="http://schemas.openxmlformats.org/officeDocument/2006/relationships/tags" Target="../tags/tag111.xml"/></Relationships>
</file>

<file path=ppt/slides/_rels/slide92.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slideLayout" Target="../slideLayouts/slideLayout1.xml"/><Relationship Id="rId1" Type="http://schemas.openxmlformats.org/officeDocument/2006/relationships/tags" Target="../tags/tag112.xml"/></Relationships>
</file>

<file path=ppt/slides/_rels/slide93.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slideLayout" Target="../slideLayouts/slideLayout1.xml"/><Relationship Id="rId1" Type="http://schemas.openxmlformats.org/officeDocument/2006/relationships/tags" Target="../tags/tag113.xml"/></Relationships>
</file>

<file path=ppt/slides/_rels/slide94.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slideLayout" Target="../slideLayouts/slideLayout1.xml"/><Relationship Id="rId1" Type="http://schemas.openxmlformats.org/officeDocument/2006/relationships/tags" Target="../tags/tag114.xml"/></Relationships>
</file>

<file path=ppt/slides/_rels/slide95.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slideLayout" Target="../slideLayouts/slideLayout1.xml"/><Relationship Id="rId1" Type="http://schemas.openxmlformats.org/officeDocument/2006/relationships/tags" Target="../tags/tag115.xml"/><Relationship Id="rId4" Type="http://schemas.openxmlformats.org/officeDocument/2006/relationships/image" Target="../media/image140.png"/></Relationships>
</file>

<file path=ppt/slides/_rels/slide96.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slideLayout" Target="../slideLayouts/slideLayout1.xml"/><Relationship Id="rId1" Type="http://schemas.openxmlformats.org/officeDocument/2006/relationships/tags" Target="../tags/tag116.xml"/><Relationship Id="rId4" Type="http://schemas.openxmlformats.org/officeDocument/2006/relationships/image" Target="../media/image142.png"/></Relationships>
</file>

<file path=ppt/slides/_rels/slide97.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slideLayout" Target="../slideLayouts/slideLayout1.xml"/><Relationship Id="rId1" Type="http://schemas.openxmlformats.org/officeDocument/2006/relationships/tags" Target="../tags/tag117.xml"/><Relationship Id="rId4" Type="http://schemas.openxmlformats.org/officeDocument/2006/relationships/image" Target="../media/image168.png"/></Relationships>
</file>

<file path=ppt/slides/_rels/slide98.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slideLayout" Target="../slideLayouts/slideLayout1.xml"/><Relationship Id="rId1" Type="http://schemas.openxmlformats.org/officeDocument/2006/relationships/tags" Target="../tags/tag118.xml"/><Relationship Id="rId5" Type="http://schemas.openxmlformats.org/officeDocument/2006/relationships/image" Target="../media/image171.png"/><Relationship Id="rId4" Type="http://schemas.openxmlformats.org/officeDocument/2006/relationships/image" Target="../media/image156.png"/></Relationships>
</file>

<file path=ppt/slides/_rels/slide99.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slideLayout" Target="../slideLayouts/slideLayout1.xml"/><Relationship Id="rId1" Type="http://schemas.openxmlformats.org/officeDocument/2006/relationships/tags" Target="../tags/tag119.xml"/></Relationships>
</file>

<file path=ppt/slides/_rels/slide100.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slideLayout" Target="../slideLayouts/slideLayout1.xml"/><Relationship Id="rId1" Type="http://schemas.openxmlformats.org/officeDocument/2006/relationships/tags" Target="../tags/tag120.xml"/></Relationships>
</file>

<file path=ppt/slides/_rels/slide101.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slideLayout" Target="../slideLayouts/slideLayout1.xml"/><Relationship Id="rId1" Type="http://schemas.openxmlformats.org/officeDocument/2006/relationships/tags" Target="../tags/tag121.xml"/></Relationships>
</file>

<file path=ppt/slides/_rels/slide102.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slideLayout" Target="../slideLayouts/slideLayout1.xml"/><Relationship Id="rId1" Type="http://schemas.openxmlformats.org/officeDocument/2006/relationships/tags" Target="../tags/tag122.xml"/><Relationship Id="rId4" Type="http://schemas.openxmlformats.org/officeDocument/2006/relationships/image" Target="../media/image158.png"/></Relationships>
</file>

<file path=ppt/slides/_rels/slide103.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slideLayout" Target="../slideLayouts/slideLayout1.xml"/><Relationship Id="rId1" Type="http://schemas.openxmlformats.org/officeDocument/2006/relationships/tags" Target="../tags/tag123.xml"/></Relationships>
</file>

<file path=ppt/slides/_rels/slide104.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slideLayout" Target="../slideLayouts/slideLayout1.xml"/><Relationship Id="rId1" Type="http://schemas.openxmlformats.org/officeDocument/2006/relationships/tags" Target="../tags/tag124.xml"/><Relationship Id="rId4" Type="http://schemas.openxmlformats.org/officeDocument/2006/relationships/image" Target="../media/image179.png"/></Relationships>
</file>

<file path=ppt/slides/_rels/slide105.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slideLayout" Target="../slideLayouts/slideLayout1.xml"/><Relationship Id="rId1" Type="http://schemas.openxmlformats.org/officeDocument/2006/relationships/tags" Target="../tags/tag125.xml"/><Relationship Id="rId4" Type="http://schemas.openxmlformats.org/officeDocument/2006/relationships/image" Target="../media/image181.png"/></Relationships>
</file>

<file path=ppt/slides/_rels/slide106.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slideLayout" Target="../slideLayouts/slideLayout1.xml"/><Relationship Id="rId1" Type="http://schemas.openxmlformats.org/officeDocument/2006/relationships/tags" Target="../tags/tag126.xml"/></Relationships>
</file>

<file path=ppt/slides/_rels/slide107.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slideLayout" Target="../slideLayouts/slideLayout1.xml"/><Relationship Id="rId1" Type="http://schemas.openxmlformats.org/officeDocument/2006/relationships/tags" Target="../tags/tag127.xml"/></Relationships>
</file>

<file path=ppt/slides/_rels/slide108.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slideLayout" Target="../slideLayouts/slideLayout1.xml"/><Relationship Id="rId1" Type="http://schemas.openxmlformats.org/officeDocument/2006/relationships/tags" Target="../tags/tag128.xml"/><Relationship Id="rId4" Type="http://schemas.openxmlformats.org/officeDocument/2006/relationships/image" Target="../media/image185.png"/></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29.xml"/></Relationships>
</file>

<file path=ppt/slides/_rels/slide110.xml.rels><?xml version="1.0" encoding="UTF-8" standalone="yes"?>
<Relationships xmlns="http://schemas.openxmlformats.org/package/2006/relationships"><Relationship Id="rId3" Type="http://schemas.openxmlformats.org/officeDocument/2006/relationships/image" Target="../media/image160.emf"/><Relationship Id="rId2" Type="http://schemas.openxmlformats.org/officeDocument/2006/relationships/slideLayout" Target="../slideLayouts/slideLayout1.xml"/><Relationship Id="rId1" Type="http://schemas.openxmlformats.org/officeDocument/2006/relationships/tags" Target="../tags/tag130.xml"/></Relationships>
</file>

<file path=ppt/slides/_rels/slide111.xml.rels><?xml version="1.0" encoding="UTF-8" standalone="yes"?>
<Relationships xmlns="http://schemas.openxmlformats.org/package/2006/relationships"><Relationship Id="rId3" Type="http://schemas.openxmlformats.org/officeDocument/2006/relationships/image" Target="../media/image161.emf"/><Relationship Id="rId2" Type="http://schemas.openxmlformats.org/officeDocument/2006/relationships/slideLayout" Target="../slideLayouts/slideLayout1.xml"/><Relationship Id="rId1" Type="http://schemas.openxmlformats.org/officeDocument/2006/relationships/tags" Target="../tags/tag131.xml"/></Relationships>
</file>

<file path=ppt/slides/_rels/slide112.xml.rels><?xml version="1.0" encoding="UTF-8" standalone="yes"?>
<Relationships xmlns="http://schemas.openxmlformats.org/package/2006/relationships"><Relationship Id="rId3" Type="http://schemas.openxmlformats.org/officeDocument/2006/relationships/image" Target="../media/image162.emf"/><Relationship Id="rId2" Type="http://schemas.openxmlformats.org/officeDocument/2006/relationships/slideLayout" Target="../slideLayouts/slideLayout1.xml"/><Relationship Id="rId1" Type="http://schemas.openxmlformats.org/officeDocument/2006/relationships/tags" Target="../tags/tag132.xml"/></Relationships>
</file>

<file path=ppt/slides/_rels/slide113.xml.rels><?xml version="1.0" encoding="UTF-8" standalone="yes"?>
<Relationships xmlns="http://schemas.openxmlformats.org/package/2006/relationships"><Relationship Id="rId3" Type="http://schemas.openxmlformats.org/officeDocument/2006/relationships/image" Target="../media/image163.emf"/><Relationship Id="rId2" Type="http://schemas.openxmlformats.org/officeDocument/2006/relationships/slideLayout" Target="../slideLayouts/slideLayout1.xml"/><Relationship Id="rId1" Type="http://schemas.openxmlformats.org/officeDocument/2006/relationships/tags" Target="../tags/tag133.xml"/></Relationships>
</file>

<file path=ppt/slides/_rels/slide114.xml.rels><?xml version="1.0" encoding="UTF-8" standalone="yes"?>
<Relationships xmlns="http://schemas.openxmlformats.org/package/2006/relationships"><Relationship Id="rId3" Type="http://schemas.openxmlformats.org/officeDocument/2006/relationships/image" Target="../media/image164.emf"/><Relationship Id="rId2" Type="http://schemas.openxmlformats.org/officeDocument/2006/relationships/slideLayout" Target="../slideLayouts/slideLayout1.xml"/><Relationship Id="rId1" Type="http://schemas.openxmlformats.org/officeDocument/2006/relationships/tags" Target="../tags/tag13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65.w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5">
            <a:extLst>
              <a:ext uri="{FF2B5EF4-FFF2-40B4-BE49-F238E27FC236}">
                <a16:creationId xmlns:a16="http://schemas.microsoft.com/office/drawing/2014/main" id="{9E162AEE-0247-C9AB-6A19-A94E6D5F7BAD}"/>
              </a:ext>
            </a:extLst>
          </p:cNvPr>
          <p:cNvSpPr/>
          <p:nvPr/>
        </p:nvSpPr>
        <p:spPr>
          <a:xfrm>
            <a:off x="1169669" y="1584960"/>
            <a:ext cx="9498330" cy="1844040"/>
          </a:xfrm>
          <a:prstGeom prst="rect">
            <a:avLst/>
          </a:prstGeom>
          <a:noFill/>
          <a:ln w="9525">
            <a:noFill/>
          </a:ln>
        </p:spPr>
        <p:txBody>
          <a:bodyPr/>
          <a:lstStyle/>
          <a:p>
            <a:pPr algn="ctr">
              <a:spcBef>
                <a:spcPct val="20000"/>
              </a:spcBef>
            </a:pP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机器人运动学</a:t>
            </a:r>
            <a:b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b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第七章  四足机器人运动控制方法</a:t>
            </a:r>
          </a:p>
          <a:p>
            <a:pPr algn="ctr">
              <a:spcBef>
                <a:spcPct val="20000"/>
              </a:spcBef>
            </a:pP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Rectangle 30">
            <a:extLst>
              <a:ext uri="{FF2B5EF4-FFF2-40B4-BE49-F238E27FC236}">
                <a16:creationId xmlns:a16="http://schemas.microsoft.com/office/drawing/2014/main" id="{59F05569-F360-12F4-972E-37E66FB6089F}"/>
              </a:ext>
            </a:extLst>
          </p:cNvPr>
          <p:cNvSpPr/>
          <p:nvPr/>
        </p:nvSpPr>
        <p:spPr>
          <a:xfrm>
            <a:off x="3510596" y="3429000"/>
            <a:ext cx="4816475" cy="2609850"/>
          </a:xfrm>
          <a:prstGeom prst="rect">
            <a:avLst/>
          </a:prstGeom>
          <a:noFill/>
          <a:ln w="9525">
            <a:noFill/>
          </a:ln>
        </p:spPr>
        <p:txBody>
          <a:bodyPr/>
          <a:lstStyle/>
          <a:p>
            <a:pPr algn="ctr">
              <a:lnSpc>
                <a:spcPct val="200000"/>
              </a:lnSpc>
            </a:pPr>
            <a:r>
              <a:rPr lang="zh-CN" altLang="en-US" sz="2400" b="1" dirty="0">
                <a:latin typeface="Times New Roman" panose="02020603050405020304" pitchFamily="18" charset="0"/>
                <a:ea typeface="微软雅黑" panose="020B0503020204020204" pitchFamily="34" charset="-122"/>
              </a:rPr>
              <a:t>李彬</a:t>
            </a:r>
          </a:p>
          <a:p>
            <a:pPr algn="ctr">
              <a:lnSpc>
                <a:spcPct val="200000"/>
              </a:lnSpc>
            </a:pPr>
            <a:r>
              <a:rPr lang="zh-CN" altLang="en-US" sz="2400" b="1" dirty="0">
                <a:latin typeface="Times New Roman" panose="02020603050405020304" pitchFamily="18" charset="0"/>
                <a:ea typeface="微软雅黑" panose="020B0503020204020204" pitchFamily="34" charset="-122"/>
              </a:rPr>
              <a:t>智能人机交互创新团队</a:t>
            </a:r>
            <a:endParaRPr lang="en-US" altLang="zh-CN" sz="2400" b="1" dirty="0">
              <a:latin typeface="Times New Roman" panose="02020603050405020304" pitchFamily="18" charset="0"/>
              <a:ea typeface="微软雅黑" panose="020B0503020204020204" pitchFamily="34" charset="-122"/>
            </a:endParaRPr>
          </a:p>
          <a:p>
            <a:pPr>
              <a:lnSpc>
                <a:spcPct val="200000"/>
              </a:lnSpc>
            </a:pPr>
            <a:endParaRPr lang="en-US" altLang="zh-CN" sz="2400" b="1" dirty="0">
              <a:latin typeface="Times New Roman" panose="02020603050405020304" pitchFamily="18" charset="0"/>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EC428F7-F252-9CF4-A1F5-52DDC564942B}"/>
              </a:ext>
            </a:extLst>
          </p:cNvPr>
          <p:cNvSpPr>
            <a:spLocks noGrp="1"/>
          </p:cNvSpPr>
          <p:nvPr>
            <p:ph idx="1"/>
          </p:nvPr>
        </p:nvSpPr>
        <p:spPr>
          <a:xfrm>
            <a:off x="838200" y="1253331"/>
            <a:ext cx="10515600" cy="4351338"/>
          </a:xfrm>
        </p:spPr>
        <p:txBody>
          <a:bodyPr/>
          <a:lstStyle/>
          <a:p>
            <a:pPr marL="0" indent="0">
              <a:buNone/>
            </a:pPr>
            <a:r>
              <a:rPr lang="en-US" altLang="zh-CN" sz="2800" b="1" kern="100" noProof="0"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zh-CN" sz="2800" b="1" kern="100" noProof="0" dirty="0">
                <a:latin typeface="微软雅黑" panose="020B0503020204020204" pitchFamily="34" charset="-122"/>
                <a:ea typeface="微软雅黑" panose="020B0503020204020204" pitchFamily="34" charset="-122"/>
                <a:cs typeface="微软雅黑" panose="020B0503020204020204" pitchFamily="34" charset="-122"/>
                <a:sym typeface="+mn-ea"/>
              </a:rPr>
              <a:t>大多数情况下，在机器人的控制中，</a:t>
            </a:r>
            <a:r>
              <a:rPr lang="en-US" altLang="zh-CN" sz="2800" b="1" kern="100" noProof="0" dirty="0">
                <a:latin typeface="微软雅黑" panose="020B0503020204020204" pitchFamily="34" charset="-122"/>
                <a:ea typeface="微软雅黑" panose="020B0503020204020204" pitchFamily="34" charset="-122"/>
                <a:cs typeface="微软雅黑" panose="020B0503020204020204" pitchFamily="34" charset="-122"/>
                <a:sym typeface="+mn-ea"/>
              </a:rPr>
              <a:t>PID</a:t>
            </a:r>
            <a:r>
              <a:rPr lang="zh-CN" altLang="zh-CN" sz="2800" b="1" kern="100" noProof="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800" b="1" kern="100" noProof="0" dirty="0">
                <a:latin typeface="微软雅黑" panose="020B0503020204020204" pitchFamily="34" charset="-122"/>
                <a:ea typeface="微软雅黑" panose="020B0503020204020204" pitchFamily="34" charset="-122"/>
                <a:cs typeface="微软雅黑" panose="020B0503020204020204" pitchFamily="34" charset="-122"/>
                <a:sym typeface="+mn-ea"/>
              </a:rPr>
              <a:t>proportion integration differentiation</a:t>
            </a:r>
            <a:r>
              <a:rPr lang="zh-CN" altLang="zh-CN" sz="2800" b="1" kern="100" noProof="0" dirty="0">
                <a:latin typeface="微软雅黑" panose="020B0503020204020204" pitchFamily="34" charset="-122"/>
                <a:ea typeface="微软雅黑" panose="020B0503020204020204" pitchFamily="34" charset="-122"/>
                <a:cs typeface="微软雅黑" panose="020B0503020204020204" pitchFamily="34" charset="-122"/>
                <a:sym typeface="+mn-ea"/>
              </a:rPr>
              <a:t>）控制（比例，积分，微分控制）是使用较多的一种控制方法，但是，当机器人与复杂环境进行交互时，需要实现机器人的高速、高精度运动，另外，复杂的机器人腿部结构设计也增加了机器人参数估计的难度，简单的</a:t>
            </a:r>
            <a:r>
              <a:rPr lang="en-US" altLang="zh-CN" sz="2800" b="1" kern="100" noProof="0" dirty="0">
                <a:latin typeface="微软雅黑" panose="020B0503020204020204" pitchFamily="34" charset="-122"/>
                <a:ea typeface="微软雅黑" panose="020B0503020204020204" pitchFamily="34" charset="-122"/>
                <a:cs typeface="微软雅黑" panose="020B0503020204020204" pitchFamily="34" charset="-122"/>
                <a:sym typeface="+mn-ea"/>
              </a:rPr>
              <a:t>PID</a:t>
            </a:r>
            <a:r>
              <a:rPr lang="zh-CN" altLang="zh-CN" sz="2800" b="1" kern="100" noProof="0" dirty="0">
                <a:latin typeface="微软雅黑" panose="020B0503020204020204" pitchFamily="34" charset="-122"/>
                <a:ea typeface="微软雅黑" panose="020B0503020204020204" pitchFamily="34" charset="-122"/>
                <a:cs typeface="微软雅黑" panose="020B0503020204020204" pitchFamily="34" charset="-122"/>
                <a:sym typeface="+mn-ea"/>
              </a:rPr>
              <a:t>控制对于上述问题难以胜任。本章在讨论基本的</a:t>
            </a:r>
            <a:r>
              <a:rPr lang="en-US" altLang="zh-CN" sz="2800" b="1" kern="100" noProof="0" dirty="0">
                <a:latin typeface="微软雅黑" panose="020B0503020204020204" pitchFamily="34" charset="-122"/>
                <a:ea typeface="微软雅黑" panose="020B0503020204020204" pitchFamily="34" charset="-122"/>
                <a:cs typeface="微软雅黑" panose="020B0503020204020204" pitchFamily="34" charset="-122"/>
                <a:sym typeface="+mn-ea"/>
              </a:rPr>
              <a:t>PID</a:t>
            </a:r>
            <a:r>
              <a:rPr lang="zh-CN" altLang="zh-CN" sz="2800" b="1" kern="100" noProof="0" dirty="0">
                <a:latin typeface="微软雅黑" panose="020B0503020204020204" pitchFamily="34" charset="-122"/>
                <a:ea typeface="微软雅黑" panose="020B0503020204020204" pitchFamily="34" charset="-122"/>
                <a:cs typeface="微软雅黑" panose="020B0503020204020204" pitchFamily="34" charset="-122"/>
                <a:sym typeface="+mn-ea"/>
              </a:rPr>
              <a:t>控制方法的基础上，主要介绍了机器人的轨迹跟踪控制，重点讲解了近年来机器人领域广泛关注的滑模控制、自适应控制、神经网络补偿控制、阻抗控制等策略。</a:t>
            </a:r>
            <a:endParaRPr kumimoji="0" lang="zh-CN" altLang="zh-CN" sz="28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dirty="0"/>
          </a:p>
        </p:txBody>
      </p:sp>
    </p:spTree>
    <p:extLst>
      <p:ext uri="{BB962C8B-B14F-4D97-AF65-F5344CB8AC3E}">
        <p14:creationId xmlns:p14="http://schemas.microsoft.com/office/powerpoint/2010/main" val="2759094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a:extLst>
              <a:ext uri="{FF2B5EF4-FFF2-40B4-BE49-F238E27FC236}">
                <a16:creationId xmlns:a16="http://schemas.microsoft.com/office/drawing/2014/main" id="{8960D9CB-13B1-4ACC-4D55-E96ABEF44A51}"/>
              </a:ext>
            </a:extLst>
          </p:cNvPr>
          <p:cNvSpPr>
            <a:spLocks noGrp="1"/>
          </p:cNvSpPr>
          <p:nvPr>
            <p:ph idx="1"/>
          </p:nvPr>
        </p:nvSpPr>
        <p:spPr>
          <a:xfrm>
            <a:off x="838200" y="2244070"/>
            <a:ext cx="10515600" cy="1603375"/>
          </a:xfrm>
        </p:spPr>
        <p:txBody>
          <a:bodyPr>
            <a:normAutofit/>
          </a:bodyPr>
          <a:lstStyle/>
          <a:p>
            <a:pPr marL="0" indent="0" algn="l">
              <a:buNone/>
            </a:pP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7.1 </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控制预备知识介绍</a:t>
            </a:r>
          </a:p>
          <a:p>
            <a:pPr marL="0" indent="0" algn="l">
              <a:buNone/>
            </a:pP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7.2 </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机器人控制方法及仿真分析</a:t>
            </a:r>
          </a:p>
        </p:txBody>
      </p:sp>
      <p:sp>
        <p:nvSpPr>
          <p:cNvPr id="5" name="文本框 4">
            <a:extLst>
              <a:ext uri="{FF2B5EF4-FFF2-40B4-BE49-F238E27FC236}">
                <a16:creationId xmlns:a16="http://schemas.microsoft.com/office/drawing/2014/main" id="{16F2A866-4701-EE72-523D-D6E8EDCD63CB}"/>
              </a:ext>
            </a:extLst>
          </p:cNvPr>
          <p:cNvSpPr txBox="1"/>
          <p:nvPr/>
        </p:nvSpPr>
        <p:spPr>
          <a:xfrm>
            <a:off x="1838325" y="0"/>
            <a:ext cx="8229600" cy="523220"/>
          </a:xfrm>
          <a:prstGeom prst="rect">
            <a:avLst/>
          </a:prstGeom>
          <a:noFill/>
        </p:spPr>
        <p:txBody>
          <a:bodyPr wrap="square" rtlCol="0">
            <a:spAutoFit/>
          </a:bodyPr>
          <a:lstStyle/>
          <a:p>
            <a:r>
              <a:rPr lang="zh-CN" altLang="en-US" sz="2800" b="1" dirty="0">
                <a:latin typeface="Times New Roman" pitchFamily="18" charset="0"/>
                <a:ea typeface="华文中宋" pitchFamily="2" charset="-122"/>
              </a:rPr>
              <a:t>本章提纲</a:t>
            </a:r>
            <a:endParaRPr lang="zh-CN" altLang="en-US" sz="2800" dirty="0"/>
          </a:p>
        </p:txBody>
      </p:sp>
    </p:spTree>
    <p:extLst>
      <p:ext uri="{BB962C8B-B14F-4D97-AF65-F5344CB8AC3E}">
        <p14:creationId xmlns:p14="http://schemas.microsoft.com/office/powerpoint/2010/main" val="40753965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1A804F2-A0BB-055F-CC38-41AB5746397E}"/>
              </a:ext>
            </a:extLst>
          </p:cNvPr>
          <p:cNvSpPr>
            <a:spLocks noGrp="1"/>
          </p:cNvSpPr>
          <p:nvPr>
            <p:ph idx="1"/>
          </p:nvPr>
        </p:nvSpPr>
        <p:spPr>
          <a:xfrm>
            <a:off x="1543050" y="1787525"/>
            <a:ext cx="8753475" cy="4351338"/>
          </a:xfrm>
        </p:spPr>
        <p:txBody>
          <a:bodyPr/>
          <a:lstStyle/>
          <a:p>
            <a:pPr>
              <a:buFont typeface="Wingdings" panose="05000000000000000000" pitchFamily="2" charset="2"/>
              <a:buChar char="p"/>
            </a:pPr>
            <a:r>
              <a:rPr lang="zh-CN" altLang="en-US" sz="2400" b="1" dirty="0">
                <a:latin typeface="微软雅黑" panose="020B0503020204020204" pitchFamily="34" charset="-122"/>
                <a:ea typeface="微软雅黑" panose="020B0503020204020204" pitchFamily="34" charset="-122"/>
              </a:rPr>
              <a:t> 自动控制是构成机器人智能的基础，机器人的自动控制程序越高级，机器人的“智商”越高，本节首先介绍自动控制的基本内容。</a:t>
            </a:r>
          </a:p>
          <a:p>
            <a:pPr>
              <a:buFont typeface="Wingdings" panose="05000000000000000000" pitchFamily="2" charset="2"/>
              <a:buChar char="p"/>
            </a:pPr>
            <a:r>
              <a:rPr lang="zh-CN" altLang="en-US" sz="2400" b="1" dirty="0">
                <a:latin typeface="微软雅黑" panose="020B0503020204020204" pitchFamily="34" charset="-122"/>
                <a:ea typeface="微软雅黑" panose="020B0503020204020204" pitchFamily="34" charset="-122"/>
              </a:rPr>
              <a:t> 自动控制是指在没有人直接参与的情况下，利用外加的设备或装置，通过自动地采集运动信息，使系统的某个工作状态或参数自动地按照预定的规律运行的控制方法。</a:t>
            </a:r>
          </a:p>
          <a:p>
            <a:endParaRPr lang="zh-CN" altLang="en-US" dirty="0"/>
          </a:p>
        </p:txBody>
      </p:sp>
      <p:sp>
        <p:nvSpPr>
          <p:cNvPr id="4" name="文本框 3">
            <a:extLst>
              <a:ext uri="{FF2B5EF4-FFF2-40B4-BE49-F238E27FC236}">
                <a16:creationId xmlns:a16="http://schemas.microsoft.com/office/drawing/2014/main" id="{D6C9E63A-7047-4A5B-DB15-31A9192DBEDB}"/>
              </a:ext>
            </a:extLst>
          </p:cNvPr>
          <p:cNvSpPr txBox="1"/>
          <p:nvPr/>
        </p:nvSpPr>
        <p:spPr>
          <a:xfrm>
            <a:off x="1737495" y="76200"/>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7.1</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控制预备知识介绍</a:t>
            </a:r>
          </a:p>
        </p:txBody>
      </p:sp>
    </p:spTree>
    <p:extLst>
      <p:ext uri="{BB962C8B-B14F-4D97-AF65-F5344CB8AC3E}">
        <p14:creationId xmlns:p14="http://schemas.microsoft.com/office/powerpoint/2010/main" val="2177051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737495" y="76200"/>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7.1</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控制预备知识介绍</a:t>
            </a:r>
          </a:p>
        </p:txBody>
      </p:sp>
      <p:sp>
        <p:nvSpPr>
          <p:cNvPr id="9" name="文本框 8"/>
          <p:cNvSpPr txBox="1"/>
          <p:nvPr>
            <p:custDataLst>
              <p:tags r:id="rId1"/>
            </p:custDataLst>
          </p:nvPr>
        </p:nvSpPr>
        <p:spPr>
          <a:xfrm>
            <a:off x="1298551" y="1241425"/>
            <a:ext cx="9005887" cy="3046988"/>
          </a:xfrm>
          <a:prstGeom prst="rect">
            <a:avLst/>
          </a:prstGeom>
          <a:noFill/>
        </p:spPr>
        <p:txBody>
          <a:bodyPr wrap="square">
            <a:spAutoFit/>
          </a:bodyPr>
          <a:lstStyle/>
          <a:p>
            <a:pPr marL="342900" indent="-342900" algn="just">
              <a:buFont typeface="Wingdings" panose="05000000000000000000" pitchFamily="2" charset="2"/>
              <a:buChar char="p"/>
              <a:defRPr/>
            </a:pPr>
            <a:r>
              <a:rPr kumimoji="0" lang="en-US"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图</a:t>
            </a:r>
            <a:r>
              <a:rPr kumimoji="0" lang="en-US"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7-1</a:t>
            </a:r>
            <a:r>
              <a:rPr kumimoji="0"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所示的是一个简单的水箱水位自动控制系统</a:t>
            </a:r>
            <a:r>
              <a:rPr kumimoji="0" lang="zh-CN" altLang="en-US"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希望液面高度维持恒定</a:t>
            </a:r>
            <a:r>
              <a:rPr kumimoji="0" lang="zh-CN" altLang="en-US"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a:t>
            </a:r>
            <a:endParaRPr kumimoji="0" lang="en-US"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gn="just">
              <a:buFont typeface="Wingdings" panose="05000000000000000000" pitchFamily="2" charset="2"/>
              <a:buChar char="p"/>
              <a:defRPr/>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 当水的流入量与流出量平衡时，水箱液面高度维持在预定高度上。当水的流出量增大或流入量减小时，平衡则被破坏，液面高度不能自然地维持恒定。所谓控制，就是强制性地改变某些物理量</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如图</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7.1</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中的进水量</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，而使另外某些特定的物理量</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如液面高度 </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维持在某种特定的标准上。</a:t>
            </a:r>
          </a:p>
          <a:p>
            <a:pPr marR="0" indent="720090" algn="just" defTabSz="914400">
              <a:buClrTx/>
              <a:buSzTx/>
              <a:buFontTx/>
              <a:buNone/>
              <a:defRPr/>
            </a:pPr>
            <a:endParaRPr kumimoji="0" lang="zh-CN" altLang="en-US" sz="2400" b="1"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4100" name="组合 21"/>
          <p:cNvGrpSpPr/>
          <p:nvPr/>
        </p:nvGrpSpPr>
        <p:grpSpPr>
          <a:xfrm>
            <a:off x="3668529" y="3947694"/>
            <a:ext cx="4265930" cy="2579334"/>
            <a:chOff x="2333001" y="3140968"/>
            <a:chExt cx="4183215" cy="2811738"/>
          </a:xfrm>
        </p:grpSpPr>
        <p:pic>
          <p:nvPicPr>
            <p:cNvPr id="4101" name="图片 19" descr="1589852277(1)"/>
            <p:cNvPicPr>
              <a:picLocks noChangeAspect="1"/>
            </p:cNvPicPr>
            <p:nvPr>
              <p:custDataLst>
                <p:tags r:id="rId2"/>
              </p:custDataLst>
            </p:nvPr>
          </p:nvPicPr>
          <p:blipFill>
            <a:blip r:embed="rId5"/>
            <a:stretch>
              <a:fillRect/>
            </a:stretch>
          </p:blipFill>
          <p:spPr>
            <a:xfrm>
              <a:off x="2333001" y="3140968"/>
              <a:ext cx="4183215" cy="2145774"/>
            </a:xfrm>
            <a:prstGeom prst="rect">
              <a:avLst/>
            </a:prstGeom>
            <a:noFill/>
            <a:ln w="9525">
              <a:noFill/>
            </a:ln>
          </p:spPr>
        </p:pic>
        <p:sp>
          <p:nvSpPr>
            <p:cNvPr id="23" name="文本框 22"/>
            <p:cNvSpPr txBox="1"/>
            <p:nvPr>
              <p:custDataLst>
                <p:tags r:id="rId3"/>
              </p:custDataLst>
            </p:nvPr>
          </p:nvSpPr>
          <p:spPr>
            <a:xfrm>
              <a:off x="2733065" y="5517995"/>
              <a:ext cx="3383086" cy="434711"/>
            </a:xfrm>
            <a:prstGeom prst="rect">
              <a:avLst/>
            </a:prstGeom>
            <a:noFill/>
          </p:spPr>
          <p:txBody>
            <a:bodyPr>
              <a:spAutoFit/>
            </a:bodyPr>
            <a:lstStyle/>
            <a:p>
              <a:pPr marR="0" algn="ctr" defTabSz="914400">
                <a:buClrTx/>
                <a:buSzTx/>
                <a:buFontTx/>
                <a:buNone/>
                <a:defRPr/>
              </a:pPr>
              <a:r>
                <a:rPr kumimoji="0" lang="zh-CN" altLang="zh-CN" sz="2000" kern="1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图</a:t>
              </a:r>
              <a:r>
                <a:rPr kumimoji="0" lang="en-US" altLang="zh-CN" sz="2000" kern="1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7-1</a:t>
              </a:r>
              <a:r>
                <a:rPr kumimoji="0" lang="zh-CN" altLang="zh-CN" sz="2000" kern="1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水箱水位自动控制系统</a:t>
              </a:r>
              <a:endParaRPr kumimoji="0" lang="zh-CN" altLang="zh-CN" sz="2000" kern="100" cap="none" spc="0" normalizeH="0" baseline="0" noProof="0" dirty="0">
                <a:latin typeface="Calibri" panose="020F0502020204030204" charset="0"/>
                <a:ea typeface="宋体" panose="02010600030101010101" pitchFamily="2" charset="-122"/>
                <a:cs typeface="Times New Roman" panose="02020603050405020304" pitchFamily="18" charset="0"/>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4" name="组合 11"/>
          <p:cNvGrpSpPr/>
          <p:nvPr/>
        </p:nvGrpSpPr>
        <p:grpSpPr>
          <a:xfrm>
            <a:off x="2279650" y="2683095"/>
            <a:ext cx="6924675" cy="1955800"/>
            <a:chOff x="1110456" y="2665164"/>
            <a:chExt cx="6923088" cy="1956034"/>
          </a:xfrm>
        </p:grpSpPr>
        <p:pic>
          <p:nvPicPr>
            <p:cNvPr id="5125" name="图片 7"/>
            <p:cNvPicPr>
              <a:picLocks noChangeAspect="1"/>
            </p:cNvPicPr>
            <p:nvPr>
              <p:custDataLst>
                <p:tags r:id="rId2"/>
              </p:custDataLst>
            </p:nvPr>
          </p:nvPicPr>
          <p:blipFill>
            <a:blip r:embed="rId5"/>
            <a:stretch>
              <a:fillRect/>
            </a:stretch>
          </p:blipFill>
          <p:spPr>
            <a:xfrm>
              <a:off x="1110456" y="2665164"/>
              <a:ext cx="6923088" cy="1273211"/>
            </a:xfrm>
            <a:prstGeom prst="rect">
              <a:avLst/>
            </a:prstGeom>
            <a:noFill/>
            <a:ln w="9525">
              <a:noFill/>
            </a:ln>
          </p:spPr>
        </p:pic>
        <p:sp>
          <p:nvSpPr>
            <p:cNvPr id="11" name="文本框 10"/>
            <p:cNvSpPr txBox="1"/>
            <p:nvPr>
              <p:custDataLst>
                <p:tags r:id="rId3"/>
              </p:custDataLst>
            </p:nvPr>
          </p:nvSpPr>
          <p:spPr>
            <a:xfrm>
              <a:off x="2123049" y="4221100"/>
              <a:ext cx="4577301" cy="400098"/>
            </a:xfrm>
            <a:prstGeom prst="rect">
              <a:avLst/>
            </a:prstGeom>
            <a:noFill/>
          </p:spPr>
          <p:txBody>
            <a:bodyPr>
              <a:spAutoFit/>
            </a:bodyPr>
            <a:lstStyle/>
            <a:p>
              <a:pPr marR="0" algn="ctr" defTabSz="914400">
                <a:buClrTx/>
                <a:buSzTx/>
                <a:buFontTx/>
                <a:buNone/>
                <a:defRPr/>
              </a:pPr>
              <a:r>
                <a:rPr kumimoji="0" lang="zh-CN" altLang="zh-CN" sz="2000" kern="1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图</a:t>
              </a:r>
              <a:r>
                <a:rPr kumimoji="0" lang="en-US" altLang="zh-CN" sz="2000" kern="1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7-2 </a:t>
              </a:r>
              <a:r>
                <a:rPr kumimoji="0" lang="zh-CN" altLang="zh-CN" sz="2000" kern="1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开环控制系统的典型方框图</a:t>
              </a:r>
              <a:endParaRPr kumimoji="0" lang="zh-CN" altLang="zh-CN" sz="2000" kern="100" cap="none" spc="0" normalizeH="0" baseline="0" noProof="0" dirty="0">
                <a:latin typeface="Calibri" panose="020F0502020204030204" charset="0"/>
                <a:ea typeface="宋体" panose="02010600030101010101" pitchFamily="2" charset="-122"/>
                <a:cs typeface="Times New Roman" panose="02020603050405020304" pitchFamily="18" charset="0"/>
              </a:endParaRPr>
            </a:p>
          </p:txBody>
        </p:sp>
      </p:grpSp>
      <p:sp>
        <p:nvSpPr>
          <p:cNvPr id="2" name="文本框 1"/>
          <p:cNvSpPr txBox="1"/>
          <p:nvPr>
            <p:custDataLst>
              <p:tags r:id="rId1"/>
            </p:custDataLst>
          </p:nvPr>
        </p:nvSpPr>
        <p:spPr>
          <a:xfrm>
            <a:off x="1694180" y="4638895"/>
            <a:ext cx="8383270" cy="1200329"/>
          </a:xfrm>
          <a:prstGeom prst="rect">
            <a:avLst/>
          </a:prstGeom>
          <a:noFill/>
        </p:spPr>
        <p:txBody>
          <a:bodyPr wrap="square" rtlCol="0">
            <a:spAutoFit/>
          </a:bodyPr>
          <a:lstStyle/>
          <a:p>
            <a:pPr marL="342900" indent="-342900" eaLnBrk="0">
              <a:buFont typeface="Wingdings" panose="05000000000000000000" pitchFamily="2" charset="2"/>
              <a:buChar char="p"/>
            </a:pPr>
            <a:r>
              <a:rPr lang="zh-CN" altLang="en-US" sz="2400" b="1" dirty="0">
                <a:latin typeface="微软雅黑" panose="020B0503020204020204" pitchFamily="34" charset="-122"/>
                <a:ea typeface="微软雅黑" panose="020B0503020204020204" pitchFamily="34" charset="-122"/>
              </a:rPr>
              <a:t>在开环控制系统中，系统的输出量对系统的控制作用没有影响，故称为开环控制系统。其控制量与被控制量之间只有前向通道而没有反向通道，信息的传递路径不是闭合的。</a:t>
            </a:r>
          </a:p>
        </p:txBody>
      </p:sp>
      <p:sp>
        <p:nvSpPr>
          <p:cNvPr id="3" name="文本框 2">
            <a:extLst>
              <a:ext uri="{FF2B5EF4-FFF2-40B4-BE49-F238E27FC236}">
                <a16:creationId xmlns:a16="http://schemas.microsoft.com/office/drawing/2014/main" id="{D9CF72FD-D0DA-1EAC-3680-8DFD0A2D1FC9}"/>
              </a:ext>
            </a:extLst>
          </p:cNvPr>
          <p:cNvSpPr txBox="1"/>
          <p:nvPr/>
        </p:nvSpPr>
        <p:spPr>
          <a:xfrm>
            <a:off x="1737495" y="76200"/>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7.1</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控制预备知识介绍</a:t>
            </a:r>
          </a:p>
        </p:txBody>
      </p:sp>
      <p:sp>
        <p:nvSpPr>
          <p:cNvPr id="7" name="文本框 6">
            <a:extLst>
              <a:ext uri="{FF2B5EF4-FFF2-40B4-BE49-F238E27FC236}">
                <a16:creationId xmlns:a16="http://schemas.microsoft.com/office/drawing/2014/main" id="{7D4EA65E-F518-EFDF-6959-3320508C0BF2}"/>
              </a:ext>
            </a:extLst>
          </p:cNvPr>
          <p:cNvSpPr txBox="1"/>
          <p:nvPr/>
        </p:nvSpPr>
        <p:spPr>
          <a:xfrm>
            <a:off x="1694180" y="1123950"/>
            <a:ext cx="8107045" cy="1569660"/>
          </a:xfrm>
          <a:prstGeom prst="rect">
            <a:avLst/>
          </a:prstGeom>
          <a:noFill/>
        </p:spPr>
        <p:txBody>
          <a:bodyPr wrap="square" rtlCol="0">
            <a:spAutoFit/>
          </a:bodyPr>
          <a:lstStyle/>
          <a:p>
            <a:pPr marL="342900" indent="-342900" algn="just">
              <a:buFont typeface="Wingdings" panose="05000000000000000000" pitchFamily="2" charset="2"/>
              <a:buChar char="p"/>
            </a:pPr>
            <a:r>
              <a:rPr lang="zh-CN" altLang="zh-CN" sz="2400" b="1" kern="1000" dirty="0">
                <a:effectLst/>
                <a:latin typeface="微软雅黑" panose="020B0503020204020204" pitchFamily="34" charset="-122"/>
                <a:ea typeface="微软雅黑" panose="020B0503020204020204" pitchFamily="34" charset="-122"/>
              </a:rPr>
              <a:t>控制系统按照是否有反馈控制分为开环控制系统和闭环控制系统，图</a:t>
            </a:r>
            <a:r>
              <a:rPr lang="en-US" altLang="zh-CN" sz="2400" b="1" kern="1000" dirty="0">
                <a:effectLst/>
                <a:latin typeface="微软雅黑" panose="020B0503020204020204" pitchFamily="34" charset="-122"/>
                <a:ea typeface="微软雅黑" panose="020B0503020204020204" pitchFamily="34" charset="-122"/>
              </a:rPr>
              <a:t>7.2</a:t>
            </a:r>
            <a:r>
              <a:rPr lang="zh-CN" altLang="zh-CN" sz="2400" b="1" kern="1000" dirty="0">
                <a:effectLst/>
                <a:latin typeface="微软雅黑" panose="020B0503020204020204" pitchFamily="34" charset="-122"/>
                <a:ea typeface="微软雅黑" panose="020B0503020204020204" pitchFamily="34" charset="-122"/>
              </a:rPr>
              <a:t>是开环控制系统典型方框图，如图</a:t>
            </a:r>
            <a:r>
              <a:rPr lang="en-US" altLang="zh-CN" sz="2400" b="1" kern="1000" dirty="0">
                <a:effectLst/>
                <a:latin typeface="微软雅黑" panose="020B0503020204020204" pitchFamily="34" charset="-122"/>
                <a:ea typeface="微软雅黑" panose="020B0503020204020204" pitchFamily="34" charset="-122"/>
              </a:rPr>
              <a:t>7-2</a:t>
            </a:r>
            <a:r>
              <a:rPr lang="zh-CN" altLang="zh-CN" sz="2400" b="1" kern="1000" dirty="0">
                <a:effectLst/>
                <a:latin typeface="微软雅黑" panose="020B0503020204020204" pitchFamily="34" charset="-122"/>
                <a:ea typeface="微软雅黑" panose="020B0503020204020204" pitchFamily="34" charset="-122"/>
              </a:rPr>
              <a:t>所示，主要包括输入量、输出量，控制器和被控对象</a:t>
            </a:r>
            <a:r>
              <a:rPr lang="en-US" altLang="zh-CN" sz="2400" b="1" kern="1000" dirty="0">
                <a:effectLst/>
                <a:latin typeface="微软雅黑" panose="020B0503020204020204" pitchFamily="34" charset="-122"/>
                <a:ea typeface="微软雅黑" panose="020B0503020204020204" pitchFamily="34" charset="-122"/>
              </a:rPr>
              <a:t>4</a:t>
            </a:r>
            <a:r>
              <a:rPr lang="zh-CN" altLang="zh-CN" sz="2400" b="1" kern="1000" dirty="0">
                <a:effectLst/>
                <a:latin typeface="微软雅黑" panose="020B0503020204020204" pitchFamily="34" charset="-122"/>
                <a:ea typeface="微软雅黑" panose="020B0503020204020204" pitchFamily="34" charset="-122"/>
              </a:rPr>
              <a:t>部分。</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1447935" y="1120676"/>
            <a:ext cx="8707120" cy="2308324"/>
          </a:xfrm>
          <a:prstGeom prst="rect">
            <a:avLst/>
          </a:prstGeom>
          <a:noFill/>
        </p:spPr>
        <p:txBody>
          <a:bodyPr wrap="square">
            <a:spAutoFit/>
          </a:bodyPr>
          <a:lstStyle/>
          <a:p>
            <a:pPr marL="342900" indent="-342900" algn="just">
              <a:buFont typeface="Wingdings" panose="05000000000000000000" pitchFamily="2" charset="2"/>
              <a:buChar char="p"/>
            </a:pPr>
            <a:r>
              <a:rPr lang="zh-CN" altLang="zh-CN" sz="2400" b="1" kern="1000" dirty="0">
                <a:latin typeface="微软雅黑" panose="020B0503020204020204" pitchFamily="34" charset="-122"/>
                <a:ea typeface="微软雅黑" panose="020B0503020204020204" pitchFamily="34" charset="-122"/>
              </a:rPr>
              <a:t>与开环控制系统相比，</a:t>
            </a:r>
            <a:r>
              <a:rPr lang="zh-CN" altLang="zh-CN" sz="2400" b="1" kern="1000" dirty="0">
                <a:effectLst/>
                <a:latin typeface="微软雅黑" panose="020B0503020204020204" pitchFamily="34" charset="-122"/>
                <a:ea typeface="微软雅黑" panose="020B0503020204020204" pitchFamily="34" charset="-122"/>
              </a:rPr>
              <a:t>在闭环控制系统中，如图</a:t>
            </a:r>
            <a:r>
              <a:rPr lang="en-US" altLang="zh-CN" sz="2400" b="1" kern="1000" dirty="0">
                <a:effectLst/>
                <a:latin typeface="微软雅黑" panose="020B0503020204020204" pitchFamily="34" charset="-122"/>
                <a:ea typeface="微软雅黑" panose="020B0503020204020204" pitchFamily="34" charset="-122"/>
              </a:rPr>
              <a:t>7.3</a:t>
            </a:r>
            <a:r>
              <a:rPr lang="zh-CN" altLang="zh-CN" sz="2400" b="1" kern="1000" dirty="0">
                <a:effectLst/>
                <a:latin typeface="微软雅黑" panose="020B0503020204020204" pitchFamily="34" charset="-122"/>
                <a:ea typeface="微软雅黑" panose="020B0503020204020204" pitchFamily="34" charset="-122"/>
              </a:rPr>
              <a:t>所示，系统的输出信号对控制作用有直接的影响。</a:t>
            </a:r>
            <a:endParaRPr lang="en-US" altLang="zh-CN" sz="2400" b="1" kern="1000" dirty="0">
              <a:effectLst/>
              <a:latin typeface="微软雅黑" panose="020B0503020204020204" pitchFamily="34" charset="-122"/>
              <a:ea typeface="微软雅黑" panose="020B0503020204020204" pitchFamily="34" charset="-122"/>
            </a:endParaRPr>
          </a:p>
          <a:p>
            <a:pPr marL="342900" indent="-342900" algn="just">
              <a:buFont typeface="Wingdings" panose="05000000000000000000" pitchFamily="2" charset="2"/>
              <a:buChar char="p"/>
            </a:pPr>
            <a:r>
              <a:rPr lang="zh-CN" altLang="zh-CN" sz="2400" b="1" kern="1000" dirty="0">
                <a:effectLst/>
                <a:latin typeface="微软雅黑" panose="020B0503020204020204" pitchFamily="34" charset="-122"/>
                <a:ea typeface="微软雅黑" panose="020B0503020204020204" pitchFamily="34" charset="-122"/>
              </a:rPr>
              <a:t>在闭环控制系统中，控制装置对被控对象所施加的控制作用</a:t>
            </a:r>
            <a:r>
              <a:rPr lang="en-US" altLang="zh-CN" sz="2400" b="1" kern="1000" dirty="0">
                <a:effectLst/>
                <a:latin typeface="微软雅黑" panose="020B0503020204020204" pitchFamily="34" charset="-122"/>
                <a:ea typeface="微软雅黑" panose="020B0503020204020204" pitchFamily="34" charset="-122"/>
              </a:rPr>
              <a:t>(</a:t>
            </a:r>
            <a:r>
              <a:rPr lang="zh-CN" altLang="zh-CN" sz="2400" b="1" kern="1000" dirty="0">
                <a:effectLst/>
                <a:latin typeface="微软雅黑" panose="020B0503020204020204" pitchFamily="34" charset="-122"/>
                <a:ea typeface="微软雅黑" panose="020B0503020204020204" pitchFamily="34" charset="-122"/>
              </a:rPr>
              <a:t>控制器输出</a:t>
            </a:r>
            <a:r>
              <a:rPr lang="en-US" altLang="zh-CN" sz="2400" b="1" kern="1000" dirty="0">
                <a:effectLst/>
                <a:latin typeface="微软雅黑" panose="020B0503020204020204" pitchFamily="34" charset="-122"/>
                <a:ea typeface="微软雅黑" panose="020B0503020204020204" pitchFamily="34" charset="-122"/>
              </a:rPr>
              <a:t>)</a:t>
            </a:r>
            <a:r>
              <a:rPr lang="zh-CN" altLang="zh-CN" sz="2400" b="1" kern="1000" dirty="0">
                <a:effectLst/>
                <a:latin typeface="微软雅黑" panose="020B0503020204020204" pitchFamily="34" charset="-122"/>
                <a:ea typeface="微软雅黑" panose="020B0503020204020204" pitchFamily="34" charset="-122"/>
              </a:rPr>
              <a:t>若部分或全部取自被控量的反馈信息，则这种控制原理称为反馈控制原理。正是由于引入了反馈信息，因此整个控制过程是闭合的。</a:t>
            </a:r>
          </a:p>
        </p:txBody>
      </p:sp>
      <p:grpSp>
        <p:nvGrpSpPr>
          <p:cNvPr id="6147" name="组合 8"/>
          <p:cNvGrpSpPr/>
          <p:nvPr/>
        </p:nvGrpSpPr>
        <p:grpSpPr>
          <a:xfrm>
            <a:off x="2514576" y="3563303"/>
            <a:ext cx="6573838" cy="2549525"/>
            <a:chOff x="1403648" y="2795195"/>
            <a:chExt cx="6573946" cy="2549209"/>
          </a:xfrm>
        </p:grpSpPr>
        <p:pic>
          <p:nvPicPr>
            <p:cNvPr id="6148" name="图片 4"/>
            <p:cNvPicPr>
              <a:picLocks noChangeAspect="1"/>
            </p:cNvPicPr>
            <p:nvPr>
              <p:custDataLst>
                <p:tags r:id="rId2"/>
              </p:custDataLst>
            </p:nvPr>
          </p:nvPicPr>
          <p:blipFill>
            <a:blip r:embed="rId5"/>
            <a:stretch>
              <a:fillRect/>
            </a:stretch>
          </p:blipFill>
          <p:spPr>
            <a:xfrm>
              <a:off x="1403648" y="2795195"/>
              <a:ext cx="6573946" cy="1793529"/>
            </a:xfrm>
            <a:prstGeom prst="rect">
              <a:avLst/>
            </a:prstGeom>
            <a:noFill/>
            <a:ln w="9525">
              <a:noFill/>
            </a:ln>
          </p:spPr>
        </p:pic>
        <p:sp>
          <p:nvSpPr>
            <p:cNvPr id="8" name="文本框 7"/>
            <p:cNvSpPr txBox="1"/>
            <p:nvPr>
              <p:custDataLst>
                <p:tags r:id="rId3"/>
              </p:custDataLst>
            </p:nvPr>
          </p:nvSpPr>
          <p:spPr>
            <a:xfrm>
              <a:off x="2284725" y="4944404"/>
              <a:ext cx="4575250" cy="400000"/>
            </a:xfrm>
            <a:prstGeom prst="rect">
              <a:avLst/>
            </a:prstGeom>
            <a:noFill/>
          </p:spPr>
          <p:txBody>
            <a:bodyPr>
              <a:spAutoFit/>
            </a:bodyPr>
            <a:lstStyle/>
            <a:p>
              <a:pPr marR="0" algn="ctr" defTabSz="914400">
                <a:buClrTx/>
                <a:buSzTx/>
                <a:buFontTx/>
                <a:buNone/>
                <a:defRPr/>
              </a:pPr>
              <a:r>
                <a:rPr kumimoji="0" lang="zh-CN" altLang="zh-CN" sz="2000" kern="1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图</a:t>
              </a:r>
              <a:r>
                <a:rPr kumimoji="0" lang="en-US" altLang="zh-CN" sz="2000" kern="1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7-3</a:t>
              </a:r>
              <a:r>
                <a:rPr kumimoji="0" lang="zh-CN" altLang="zh-CN" sz="2000" kern="1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典型闭环控制系统方框图</a:t>
              </a:r>
              <a:endParaRPr kumimoji="0" lang="zh-CN" altLang="zh-CN" sz="2000" kern="100" cap="none" spc="0" normalizeH="0" baseline="0" noProof="0" dirty="0">
                <a:latin typeface="Calibri" panose="020F0502020204030204" charset="0"/>
                <a:ea typeface="宋体" panose="02010600030101010101" pitchFamily="2" charset="-122"/>
                <a:cs typeface="Times New Roman" panose="02020603050405020304" pitchFamily="18" charset="0"/>
              </a:endParaRPr>
            </a:p>
          </p:txBody>
        </p:sp>
      </p:grpSp>
      <p:sp>
        <p:nvSpPr>
          <p:cNvPr id="3" name="文本框 2">
            <a:extLst>
              <a:ext uri="{FF2B5EF4-FFF2-40B4-BE49-F238E27FC236}">
                <a16:creationId xmlns:a16="http://schemas.microsoft.com/office/drawing/2014/main" id="{B927DEAB-42CF-FB1E-77CF-4179D637E03A}"/>
              </a:ext>
            </a:extLst>
          </p:cNvPr>
          <p:cNvSpPr txBox="1"/>
          <p:nvPr/>
        </p:nvSpPr>
        <p:spPr>
          <a:xfrm>
            <a:off x="1737495" y="76200"/>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7.1</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控制预备知识介绍</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1400175" y="1136953"/>
            <a:ext cx="9191625" cy="2308324"/>
          </a:xfrm>
          <a:prstGeom prst="rect">
            <a:avLst/>
          </a:prstGeom>
          <a:noFill/>
        </p:spPr>
        <p:txBody>
          <a:bodyPr wrap="square">
            <a:spAutoFit/>
          </a:bodyPr>
          <a:lstStyle/>
          <a:p>
            <a:pPr marR="0" algn="just" defTabSz="914400">
              <a:buClrTx/>
              <a:buSzTx/>
              <a:defRPr/>
            </a:pPr>
            <a:r>
              <a:rPr kumimoji="0" lang="en-US"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在机器人控制系统中，使用最多的、最典型的控制器是</a:t>
            </a:r>
            <a:r>
              <a:rPr kumimoji="0" lang="en-US"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PID</a:t>
            </a:r>
            <a:r>
              <a:rPr kumimoji="0"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控制器（如图</a:t>
            </a:r>
            <a:r>
              <a:rPr kumimoji="0" lang="en-US"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7.4</a:t>
            </a:r>
            <a:r>
              <a:rPr kumimoji="0"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所示）。</a:t>
            </a:r>
            <a:endParaRPr kumimoji="0" lang="en-US"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marR="0" algn="just" defTabSz="914400">
              <a:buClrTx/>
              <a:buSzTx/>
              <a:defRPr/>
            </a:pPr>
            <a:r>
              <a:rPr kumimoji="0" lang="en-US"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由比例单元</a:t>
            </a:r>
            <a:r>
              <a:rPr kumimoji="0" lang="en-US"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P</a:t>
            </a:r>
            <a:r>
              <a:rPr kumimoji="0"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、积分单元</a:t>
            </a:r>
            <a:r>
              <a:rPr kumimoji="0" lang="en-US"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I</a:t>
            </a:r>
            <a:r>
              <a:rPr kumimoji="0"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和微分单元</a:t>
            </a:r>
            <a:r>
              <a:rPr kumimoji="0" lang="en-US"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D</a:t>
            </a:r>
            <a:r>
              <a:rPr kumimoji="0"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组成。比例控制单元P</a:t>
            </a:r>
            <a:r>
              <a:rPr kumimoji="0" lang="en-US"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为PID控制基础，但单纯采用比例单元有可能会出现稳态误差；加入积分控制项后可消除稳态误差，但可能会出现超调，导致调试花费时间过长；加入微分控制项可以加快系统响应速度并且降低超调。</a:t>
            </a:r>
          </a:p>
        </p:txBody>
      </p:sp>
      <p:grpSp>
        <p:nvGrpSpPr>
          <p:cNvPr id="7171" name="组合 9"/>
          <p:cNvGrpSpPr/>
          <p:nvPr/>
        </p:nvGrpSpPr>
        <p:grpSpPr>
          <a:xfrm>
            <a:off x="2806382" y="3896996"/>
            <a:ext cx="6329680" cy="2563883"/>
            <a:chOff x="1152128" y="2636912"/>
            <a:chExt cx="6839744" cy="3240435"/>
          </a:xfrm>
        </p:grpSpPr>
        <p:pic>
          <p:nvPicPr>
            <p:cNvPr id="7172" name="图片 5"/>
            <p:cNvPicPr>
              <a:picLocks noChangeAspect="1"/>
            </p:cNvPicPr>
            <p:nvPr>
              <p:custDataLst>
                <p:tags r:id="rId2"/>
              </p:custDataLst>
            </p:nvPr>
          </p:nvPicPr>
          <p:blipFill>
            <a:blip r:embed="rId5"/>
            <a:stretch>
              <a:fillRect/>
            </a:stretch>
          </p:blipFill>
          <p:spPr>
            <a:xfrm>
              <a:off x="1152128" y="2636912"/>
              <a:ext cx="6839744" cy="2416585"/>
            </a:xfrm>
            <a:prstGeom prst="rect">
              <a:avLst/>
            </a:prstGeom>
            <a:noFill/>
            <a:ln w="9525">
              <a:noFill/>
            </a:ln>
          </p:spPr>
        </p:pic>
        <p:sp>
          <p:nvSpPr>
            <p:cNvPr id="9" name="文本框 8"/>
            <p:cNvSpPr txBox="1"/>
            <p:nvPr>
              <p:custDataLst>
                <p:tags r:id="rId3"/>
              </p:custDataLst>
            </p:nvPr>
          </p:nvSpPr>
          <p:spPr>
            <a:xfrm>
              <a:off x="2195237" y="5373338"/>
              <a:ext cx="4577293" cy="504009"/>
            </a:xfrm>
            <a:prstGeom prst="rect">
              <a:avLst/>
            </a:prstGeom>
            <a:noFill/>
          </p:spPr>
          <p:txBody>
            <a:bodyPr>
              <a:spAutoFit/>
            </a:bodyPr>
            <a:lstStyle/>
            <a:p>
              <a:pPr marR="0" algn="ctr" defTabSz="914400">
                <a:buClrTx/>
                <a:buSzTx/>
                <a:buFontTx/>
                <a:buNone/>
                <a:defRPr/>
              </a:pPr>
              <a:r>
                <a:rPr kumimoji="0" lang="zh-CN" altLang="zh-CN" sz="2000" kern="1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图</a:t>
              </a:r>
              <a:r>
                <a:rPr kumimoji="0" lang="en-US" altLang="zh-CN" sz="2000" kern="1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7-4</a:t>
              </a:r>
              <a:r>
                <a:rPr kumimoji="0" lang="zh-CN" altLang="zh-CN" sz="2000" kern="1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典型</a:t>
              </a:r>
              <a:r>
                <a:rPr kumimoji="0" lang="en-US" altLang="zh-CN" sz="2000" kern="1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PID</a:t>
              </a:r>
              <a:r>
                <a:rPr kumimoji="0" lang="zh-CN" altLang="zh-CN" sz="2000" kern="1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控制系统方框图</a:t>
              </a:r>
              <a:endParaRPr kumimoji="0" lang="zh-CN" altLang="zh-CN" sz="2000" kern="100" cap="none" spc="0" normalizeH="0" baseline="0" noProof="0" dirty="0">
                <a:latin typeface="Calibri" panose="020F0502020204030204" charset="0"/>
                <a:ea typeface="宋体" panose="02010600030101010101" pitchFamily="2" charset="-122"/>
                <a:cs typeface="Times New Roman" panose="02020603050405020304" pitchFamily="18" charset="0"/>
              </a:endParaRPr>
            </a:p>
          </p:txBody>
        </p:sp>
      </p:grpSp>
      <p:sp>
        <p:nvSpPr>
          <p:cNvPr id="3" name="文本框 2">
            <a:extLst>
              <a:ext uri="{FF2B5EF4-FFF2-40B4-BE49-F238E27FC236}">
                <a16:creationId xmlns:a16="http://schemas.microsoft.com/office/drawing/2014/main" id="{99990860-6CDE-C5A0-6400-8A69740156C1}"/>
              </a:ext>
            </a:extLst>
          </p:cNvPr>
          <p:cNvSpPr txBox="1"/>
          <p:nvPr/>
        </p:nvSpPr>
        <p:spPr>
          <a:xfrm>
            <a:off x="1737495" y="76200"/>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7.1</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控制预备知识介绍</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1129665" y="1174731"/>
            <a:ext cx="8496299" cy="461665"/>
          </a:xfrm>
          <a:prstGeom prst="rect">
            <a:avLst/>
          </a:prstGeom>
          <a:noFill/>
        </p:spPr>
        <p:txBody>
          <a:bodyPr wrap="square">
            <a:spAutoFit/>
          </a:bodyPr>
          <a:lstStyle/>
          <a:p>
            <a:pPr marL="342900" marR="0" indent="-342900" algn="just" defTabSz="914400">
              <a:buClrTx/>
              <a:buSzTx/>
              <a:buFont typeface="Wingdings" panose="05000000000000000000" pitchFamily="2" charset="2"/>
              <a:buChar char="p"/>
              <a:defRPr/>
            </a:pPr>
            <a:r>
              <a:rPr kumimoji="0"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下面以图</a:t>
            </a:r>
            <a:r>
              <a:rPr kumimoji="0" lang="en-US"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7.1</a:t>
            </a:r>
            <a:r>
              <a:rPr kumimoji="0"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所示的经典的水箱水位自动控制系统进行详述：</a:t>
            </a:r>
          </a:p>
        </p:txBody>
      </p:sp>
      <p:sp>
        <p:nvSpPr>
          <p:cNvPr id="7" name="文本框 6"/>
          <p:cNvSpPr txBox="1"/>
          <p:nvPr>
            <p:custDataLst>
              <p:tags r:id="rId2"/>
            </p:custDataLst>
          </p:nvPr>
        </p:nvSpPr>
        <p:spPr>
          <a:xfrm>
            <a:off x="863918" y="1810703"/>
            <a:ext cx="2663825" cy="460375"/>
          </a:xfrm>
          <a:prstGeom prst="rect">
            <a:avLst/>
          </a:prstGeom>
          <a:noFill/>
        </p:spPr>
        <p:txBody>
          <a:bodyPr>
            <a:spAutoFit/>
          </a:bodyPr>
          <a:lstStyle/>
          <a:p>
            <a:pPr marR="0" algn="just" defTabSz="914400">
              <a:buClrTx/>
              <a:buSzTx/>
              <a:buFontTx/>
              <a:buNone/>
              <a:defRPr/>
            </a:pPr>
            <a:r>
              <a:rPr kumimoji="0"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1</a:t>
            </a:r>
            <a:r>
              <a:rPr kumimoji="0"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）比例环节</a:t>
            </a:r>
          </a:p>
        </p:txBody>
      </p:sp>
      <mc:AlternateContent xmlns:mc="http://schemas.openxmlformats.org/markup-compatibility/2006" xmlns:a14="http://schemas.microsoft.com/office/drawing/2010/main">
        <mc:Choice Requires="a14">
          <p:sp>
            <p:nvSpPr>
              <p:cNvPr id="18" name="文本框 17"/>
              <p:cNvSpPr txBox="1"/>
              <p:nvPr>
                <p:custDataLst>
                  <p:tags r:id="rId3"/>
                </p:custDataLst>
              </p:nvPr>
            </p:nvSpPr>
            <p:spPr>
              <a:xfrm>
                <a:off x="1129665" y="2445385"/>
                <a:ext cx="10024110" cy="3046988"/>
              </a:xfrm>
              <a:prstGeom prst="rect">
                <a:avLst/>
              </a:prstGeom>
              <a:noFill/>
            </p:spPr>
            <p:txBody>
              <a:bodyPr wrap="square">
                <a:spAutoFit/>
              </a:bodyPr>
              <a:lstStyle/>
              <a:p>
                <a:pPr indent="720090" algn="just">
                  <a:defRPr/>
                </a:pPr>
                <a:r>
                  <a:rPr kumimoji="0" lang="zh-CN" altLang="en-US" sz="2400" b="1" kern="100" cap="none" spc="0" normalizeH="0" baseline="0" noProof="0" dirty="0">
                    <a:latin typeface="Times New Roman" panose="02020603050405020304" pitchFamily="18" charset="0"/>
                    <a:ea typeface="微软雅黑" panose="020B0503020204020204" pitchFamily="34" charset="-122"/>
                    <a:cs typeface="微软雅黑" panose="020B0503020204020204" pitchFamily="34" charset="-122"/>
                  </a:rPr>
                  <a:t>假设面对的是一个水箱水位自动控制系统，要从空水箱开始加水直到达到指定高度</a:t>
                </a:r>
                <a:r>
                  <a:rPr lang="zh-CN" altLang="en-US" sz="2400" b="1" kern="100" dirty="0">
                    <a:latin typeface="Times New Roman" panose="02020603050405020304" pitchFamily="18" charset="0"/>
                    <a:ea typeface="微软雅黑" panose="020B0503020204020204" pitchFamily="34" charset="-122"/>
                    <a:cs typeface="微软雅黑" panose="020B0503020204020204" pitchFamily="34" charset="-122"/>
                  </a:rPr>
                  <a:t>，</a:t>
                </a:r>
                <a:r>
                  <a:rPr kumimoji="0" lang="zh-CN" altLang="en-US" sz="2400" b="1" kern="100" cap="none" spc="0" normalizeH="0" baseline="0" noProof="0" dirty="0">
                    <a:latin typeface="Times New Roman" panose="02020603050405020304" pitchFamily="18" charset="0"/>
                    <a:ea typeface="微软雅黑" panose="020B0503020204020204" pitchFamily="34" charset="-122"/>
                    <a:cs typeface="微软雅黑" panose="020B0503020204020204" pitchFamily="34" charset="-122"/>
                  </a:rPr>
                  <a:t>而能控制的变量是一次加水的多少</a:t>
                </a:r>
                <a:r>
                  <a:rPr lang="zh-CN" altLang="en-US" sz="2400" b="1" kern="100" dirty="0">
                    <a:latin typeface="Times New Roman" panose="02020603050405020304" pitchFamily="18" charset="0"/>
                    <a:ea typeface="微软雅黑" panose="020B0503020204020204" pitchFamily="34" charset="-122"/>
                    <a:cs typeface="微软雅黑" panose="020B0503020204020204" pitchFamily="34" charset="-122"/>
                  </a:rPr>
                  <a:t>。</a:t>
                </a:r>
                <a:r>
                  <a:rPr kumimoji="0" lang="zh-CN" altLang="en-US" sz="2400" b="1" kern="100" cap="none" spc="0" normalizeH="0" baseline="0" noProof="0" dirty="0">
                    <a:latin typeface="Times New Roman" panose="02020603050405020304" pitchFamily="18" charset="0"/>
                    <a:ea typeface="微软雅黑" panose="020B0503020204020204" pitchFamily="34" charset="-122"/>
                    <a:cs typeface="微软雅黑" panose="020B0503020204020204" pitchFamily="34" charset="-122"/>
                  </a:rPr>
                  <a:t>如果只用比例控制项，那么加水量 和当前液面与目标液面的高度距离差</a:t>
                </a:r>
                <a14:m>
                  <m:oMath xmlns:m="http://schemas.openxmlformats.org/officeDocument/2006/math">
                    <m:r>
                      <a:rPr kumimoji="0" lang="zh-CN" altLang="en-US" sz="2400" b="1" i="0" kern="100" cap="none" spc="0" normalizeH="0" baseline="0" noProof="0" smtClean="0">
                        <a:latin typeface="Cambria Math" panose="02040503050406030204" pitchFamily="18" charset="0"/>
                      </a:rPr>
                      <m:t>ⅇ</m:t>
                    </m:r>
                  </m:oMath>
                </a14:m>
                <a:r>
                  <a:rPr kumimoji="0" lang="zh-CN" altLang="en-US" sz="2400" b="1" kern="100" cap="none" spc="0" normalizeH="0" baseline="0" noProof="0" dirty="0">
                    <a:latin typeface="Times New Roman" panose="02020603050405020304" pitchFamily="18" charset="0"/>
                    <a:ea typeface="微软雅黑" panose="020B0503020204020204" pitchFamily="34" charset="-122"/>
                    <a:cs typeface="微软雅黑" panose="020B0503020204020204" pitchFamily="34" charset="-122"/>
                  </a:rPr>
                  <a:t>是成正比的</a:t>
                </a:r>
                <a:r>
                  <a:rPr lang="zh-CN" altLang="en-US" sz="2400" b="1" kern="100" dirty="0">
                    <a:latin typeface="Times New Roman" panose="02020603050405020304" pitchFamily="18" charset="0"/>
                    <a:ea typeface="微软雅黑" panose="020B0503020204020204" pitchFamily="34" charset="-122"/>
                    <a:cs typeface="微软雅黑" panose="020B0503020204020204" pitchFamily="34" charset="-122"/>
                  </a:rPr>
                  <a:t>，</a:t>
                </a:r>
                <a:r>
                  <a:rPr kumimoji="0" lang="zh-CN" altLang="en-US" sz="2400" b="1" kern="100" cap="none" spc="0" normalizeH="0" baseline="0" noProof="0" dirty="0">
                    <a:latin typeface="Times New Roman" panose="02020603050405020304" pitchFamily="18" charset="0"/>
                    <a:ea typeface="微软雅黑" panose="020B0503020204020204" pitchFamily="34" charset="-122"/>
                    <a:cs typeface="微软雅黑" panose="020B0503020204020204" pitchFamily="34" charset="-122"/>
                  </a:rPr>
                  <a:t>即 </a:t>
                </a:r>
                <a14:m>
                  <m:oMath xmlns:m="http://schemas.openxmlformats.org/officeDocument/2006/math">
                    <m:r>
                      <a:rPr kumimoji="0" lang="zh-CN" altLang="en-US" sz="2400" b="1" i="0" kern="100" cap="none" spc="0" normalizeH="0" baseline="0" noProof="0" smtClean="0">
                        <a:latin typeface="Cambria Math" panose="02040503050406030204" pitchFamily="18" charset="0"/>
                      </a:rPr>
                      <m:t>𝐮</m:t>
                    </m:r>
                    <m:r>
                      <a:rPr kumimoji="0" lang="en-US" altLang="zh-CN" sz="2400" b="1" i="0" kern="100" cap="none" spc="0" normalizeH="0" baseline="0" noProof="0" smtClean="0">
                        <a:latin typeface="Cambria Math" panose="02040503050406030204" pitchFamily="18" charset="0"/>
                        <a:ea typeface="Cambria Math" panose="02040503050406030204" pitchFamily="18" charset="0"/>
                      </a:rPr>
                      <m:t>=</m:t>
                    </m:r>
                    <m:sSub>
                      <m:sSubPr>
                        <m:ctrlPr>
                          <a:rPr kumimoji="0" lang="en-US" altLang="zh-CN" sz="2400" b="1" i="1" kern="100" cap="none" spc="0" normalizeH="0" baseline="0" noProof="0" smtClean="0">
                            <a:latin typeface="Cambria Math" panose="02040503050406030204" pitchFamily="18" charset="0"/>
                            <a:ea typeface="Cambria Math" panose="02040503050406030204" pitchFamily="18" charset="0"/>
                          </a:rPr>
                        </m:ctrlPr>
                      </m:sSubPr>
                      <m:e>
                        <m:r>
                          <a:rPr kumimoji="0" lang="en-US" altLang="zh-CN" sz="2400" b="1" i="0" kern="100" cap="none" spc="0" normalizeH="0" baseline="0" noProof="0" smtClean="0">
                            <a:latin typeface="Cambria Math" panose="02040503050406030204" pitchFamily="18" charset="0"/>
                            <a:ea typeface="Cambria Math" panose="02040503050406030204" pitchFamily="18" charset="0"/>
                          </a:rPr>
                          <m:t>𝐤</m:t>
                        </m:r>
                      </m:e>
                      <m:sub>
                        <m:r>
                          <a:rPr kumimoji="0" lang="en-US" altLang="zh-CN" sz="2400" b="1" i="0" kern="100" cap="none" spc="0" normalizeH="0" baseline="0" noProof="0" smtClean="0">
                            <a:latin typeface="Cambria Math" panose="02040503050406030204" pitchFamily="18" charset="0"/>
                            <a:ea typeface="Cambria Math" panose="02040503050406030204" pitchFamily="18" charset="0"/>
                          </a:rPr>
                          <m:t>𝐏</m:t>
                        </m:r>
                      </m:sub>
                    </m:sSub>
                    <m:r>
                      <a:rPr lang="zh-CN" altLang="en-US" sz="2400" b="1" i="0" kern="100">
                        <a:latin typeface="Cambria Math" panose="02040503050406030204" pitchFamily="18" charset="0"/>
                      </a:rPr>
                      <m:t>ⅇ</m:t>
                    </m:r>
                  </m:oMath>
                </a14:m>
                <a:r>
                  <a:rPr lang="zh-CN" altLang="en-US" sz="2400" b="1" kern="100" dirty="0">
                    <a:latin typeface="Times New Roman" panose="02020603050405020304" pitchFamily="18" charset="0"/>
                    <a:ea typeface="微软雅黑" panose="020B0503020204020204" pitchFamily="34" charset="-122"/>
                    <a:cs typeface="微软雅黑" panose="020B0503020204020204" pitchFamily="34" charset="-122"/>
                  </a:rPr>
                  <a:t>。</a:t>
                </a:r>
              </a:p>
              <a:p>
                <a:pPr marR="0" indent="720090" algn="just" defTabSz="914400">
                  <a:buClrTx/>
                  <a:buSzTx/>
                  <a:buFontTx/>
                  <a:buNone/>
                  <a:defRPr/>
                </a:pPr>
                <a:r>
                  <a:rPr kumimoji="0" lang="zh-CN" altLang="en-US" sz="2400" b="1" kern="100" cap="none" spc="0" normalizeH="0" baseline="0" noProof="0" dirty="0">
                    <a:latin typeface="Times New Roman" panose="02020603050405020304" pitchFamily="18" charset="0"/>
                    <a:ea typeface="微软雅黑" panose="020B0503020204020204" pitchFamily="34" charset="-122"/>
                    <a:cs typeface="微软雅黑" panose="020B0503020204020204" pitchFamily="34" charset="-122"/>
                  </a:rPr>
                  <a:t>简单地说</a:t>
                </a:r>
                <a:r>
                  <a:rPr lang="zh-CN" altLang="en-US" sz="2400" b="1" kern="100" dirty="0">
                    <a:latin typeface="Times New Roman" panose="02020603050405020304" pitchFamily="18" charset="0"/>
                    <a:ea typeface="微软雅黑" panose="020B0503020204020204" pitchFamily="34" charset="-122"/>
                    <a:cs typeface="微软雅黑" panose="020B0503020204020204" pitchFamily="34" charset="-122"/>
                  </a:rPr>
                  <a:t>，</a:t>
                </a:r>
                <a:r>
                  <a:rPr kumimoji="0" lang="zh-CN" altLang="en-US" sz="2400" b="1" kern="100" cap="none" spc="0" normalizeH="0" baseline="0" noProof="0" dirty="0">
                    <a:latin typeface="Times New Roman" panose="02020603050405020304" pitchFamily="18" charset="0"/>
                    <a:ea typeface="微软雅黑" panose="020B0503020204020204" pitchFamily="34" charset="-122"/>
                    <a:cs typeface="微软雅黑" panose="020B0503020204020204" pitchFamily="34" charset="-122"/>
                  </a:rPr>
                  <a:t>也就是在水箱当前液面高度距离目标高度大的时候多加点水，小的时候少加点水</a:t>
                </a:r>
                <a:r>
                  <a:rPr lang="zh-CN" altLang="en-US" sz="2400" b="1" kern="100" dirty="0">
                    <a:latin typeface="Times New Roman" panose="02020603050405020304" pitchFamily="18" charset="0"/>
                    <a:ea typeface="微软雅黑" panose="020B0503020204020204" pitchFamily="34" charset="-122"/>
                    <a:cs typeface="微软雅黑" panose="020B0503020204020204" pitchFamily="34" charset="-122"/>
                  </a:rPr>
                  <a:t>，</a:t>
                </a:r>
                <a:r>
                  <a:rPr kumimoji="0" lang="zh-CN" altLang="en-US" sz="2400" b="1" kern="100" cap="none" spc="0" normalizeH="0" baseline="0" noProof="0" dirty="0">
                    <a:latin typeface="Times New Roman" panose="02020603050405020304" pitchFamily="18" charset="0"/>
                    <a:ea typeface="微软雅黑" panose="020B0503020204020204" pitchFamily="34" charset="-122"/>
                    <a:cs typeface="微软雅黑" panose="020B0503020204020204" pitchFamily="34" charset="-122"/>
                  </a:rPr>
                  <a:t>随着逐步接近目标高度</a:t>
                </a:r>
                <a:r>
                  <a:rPr lang="zh-CN" altLang="en-US" sz="2400" b="1" kern="100" dirty="0">
                    <a:latin typeface="Times New Roman" panose="02020603050405020304" pitchFamily="18" charset="0"/>
                    <a:ea typeface="微软雅黑" panose="020B0503020204020204" pitchFamily="34" charset="-122"/>
                    <a:cs typeface="微软雅黑" panose="020B0503020204020204" pitchFamily="34" charset="-122"/>
                  </a:rPr>
                  <a:t>，</a:t>
                </a:r>
                <a:r>
                  <a:rPr kumimoji="0" lang="zh-CN" altLang="en-US" sz="2400" b="1" kern="100" cap="none" spc="0" normalizeH="0" baseline="0" noProof="0" dirty="0">
                    <a:latin typeface="Times New Roman" panose="02020603050405020304" pitchFamily="18" charset="0"/>
                    <a:ea typeface="微软雅黑" panose="020B0503020204020204" pitchFamily="34" charset="-122"/>
                    <a:cs typeface="微软雅黑" panose="020B0503020204020204" pitchFamily="34" charset="-122"/>
                  </a:rPr>
                  <a:t>慢慢停止加水</a:t>
                </a:r>
                <a:r>
                  <a:rPr lang="zh-CN" altLang="en-US" sz="2400" b="1" kern="100" dirty="0">
                    <a:latin typeface="Times New Roman" panose="02020603050405020304" pitchFamily="18" charset="0"/>
                    <a:ea typeface="微软雅黑" panose="020B0503020204020204" pitchFamily="34" charset="-122"/>
                    <a:cs typeface="微软雅黑" panose="020B0503020204020204" pitchFamily="34" charset="-122"/>
                  </a:rPr>
                  <a:t>。</a:t>
                </a:r>
                <a:r>
                  <a:rPr kumimoji="0" lang="zh-CN" altLang="en-US" sz="2400" b="1" kern="100" cap="none" spc="0" normalizeH="0" baseline="0" noProof="0" dirty="0">
                    <a:latin typeface="Times New Roman" panose="02020603050405020304" pitchFamily="18" charset="0"/>
                    <a:ea typeface="微软雅黑" panose="020B0503020204020204" pitchFamily="34" charset="-122"/>
                    <a:cs typeface="微软雅黑" panose="020B0503020204020204" pitchFamily="34" charset="-122"/>
                  </a:rPr>
                  <a:t>此时</a:t>
                </a:r>
                <a:r>
                  <a:rPr lang="zh-CN" altLang="en-US" sz="2400" b="1" kern="100" dirty="0">
                    <a:latin typeface="Times New Roman" panose="02020603050405020304" pitchFamily="18" charset="0"/>
                    <a:ea typeface="微软雅黑" panose="020B0503020204020204" pitchFamily="34" charset="-122"/>
                    <a:cs typeface="微软雅黑" panose="020B0503020204020204" pitchFamily="34" charset="-122"/>
                  </a:rPr>
                  <a:t>，</a:t>
                </a:r>
                <a14:m>
                  <m:oMath xmlns:m="http://schemas.openxmlformats.org/officeDocument/2006/math">
                    <m:sSub>
                      <m:sSubPr>
                        <m:ctrlPr>
                          <a:rPr kumimoji="0" lang="en-US" altLang="zh-CN" sz="2400" b="1" i="1" kern="100" cap="none" spc="0" normalizeH="0" baseline="0" noProof="0" smtClean="0">
                            <a:latin typeface="Cambria Math" panose="02040503050406030204" pitchFamily="18" charset="0"/>
                            <a:ea typeface="Cambria Math" panose="02040503050406030204" pitchFamily="18" charset="0"/>
                          </a:rPr>
                        </m:ctrlPr>
                      </m:sSubPr>
                      <m:e>
                        <m:r>
                          <a:rPr kumimoji="0" lang="en-US" altLang="zh-CN" sz="2400" b="1" i="0" kern="100" cap="none" spc="0" normalizeH="0" baseline="0" noProof="0" smtClean="0">
                            <a:latin typeface="Cambria Math" panose="02040503050406030204" pitchFamily="18" charset="0"/>
                            <a:ea typeface="Cambria Math" panose="02040503050406030204" pitchFamily="18" charset="0"/>
                          </a:rPr>
                          <m:t>𝐤</m:t>
                        </m:r>
                      </m:e>
                      <m:sub>
                        <m:r>
                          <a:rPr kumimoji="0" lang="en-US" altLang="zh-CN" sz="2400" b="1" i="0" kern="100" cap="none" spc="0" normalizeH="0" baseline="0" noProof="0" smtClean="0">
                            <a:latin typeface="Cambria Math" panose="02040503050406030204" pitchFamily="18" charset="0"/>
                            <a:ea typeface="Cambria Math" panose="02040503050406030204" pitchFamily="18" charset="0"/>
                          </a:rPr>
                          <m:t>𝐏</m:t>
                        </m:r>
                      </m:sub>
                    </m:sSub>
                  </m:oMath>
                </a14:m>
                <a:r>
                  <a:rPr kumimoji="0" lang="zh-CN" altLang="en-US" sz="2400" b="1" kern="100" cap="none" spc="0" normalizeH="0" baseline="0" noProof="0" dirty="0">
                    <a:latin typeface="Times New Roman" panose="02020603050405020304" pitchFamily="18" charset="0"/>
                    <a:ea typeface="微软雅黑" panose="020B0503020204020204" pitchFamily="34" charset="-122"/>
                    <a:cs typeface="微软雅黑" panose="020B0503020204020204" pitchFamily="34" charset="-122"/>
                  </a:rPr>
                  <a:t>的大小代表了加水的幅度</a:t>
                </a:r>
                <a:r>
                  <a:rPr lang="zh-CN" altLang="en-US" sz="2400" b="1" kern="100" dirty="0">
                    <a:latin typeface="Times New Roman" panose="02020603050405020304" pitchFamily="18" charset="0"/>
                    <a:ea typeface="微软雅黑" panose="020B0503020204020204" pitchFamily="34" charset="-122"/>
                    <a:cs typeface="微软雅黑" panose="020B0503020204020204" pitchFamily="34" charset="-122"/>
                  </a:rPr>
                  <a:t>，</a:t>
                </a:r>
                <a:r>
                  <a:rPr kumimoji="0" lang="zh-CN" altLang="en-US" sz="2400" b="1" kern="100" cap="none" spc="0" normalizeH="0" baseline="0" noProof="0" dirty="0">
                    <a:latin typeface="Times New Roman" panose="02020603050405020304" pitchFamily="18" charset="0"/>
                    <a:ea typeface="微软雅黑" panose="020B0503020204020204" pitchFamily="34" charset="-122"/>
                    <a:cs typeface="微软雅黑" panose="020B0503020204020204" pitchFamily="34" charset="-122"/>
                  </a:rPr>
                  <a:t>幅度越大</a:t>
                </a:r>
                <a:r>
                  <a:rPr lang="zh-CN" altLang="en-US" sz="2400" b="1" kern="100" dirty="0">
                    <a:latin typeface="Times New Roman" panose="02020603050405020304" pitchFamily="18" charset="0"/>
                    <a:ea typeface="微软雅黑" panose="020B0503020204020204" pitchFamily="34" charset="-122"/>
                    <a:cs typeface="微软雅黑" panose="020B0503020204020204" pitchFamily="34" charset="-122"/>
                  </a:rPr>
                  <a:t>，</a:t>
                </a:r>
                <a:r>
                  <a:rPr kumimoji="0" lang="zh-CN" altLang="en-US" sz="2400" b="1" kern="100" cap="none" spc="0" normalizeH="0" baseline="0" noProof="0" dirty="0">
                    <a:latin typeface="Times New Roman" panose="02020603050405020304" pitchFamily="18" charset="0"/>
                    <a:ea typeface="微软雅黑" panose="020B0503020204020204" pitchFamily="34" charset="-122"/>
                    <a:cs typeface="微软雅黑" panose="020B0503020204020204" pitchFamily="34" charset="-122"/>
                  </a:rPr>
                  <a:t>调得越快</a:t>
                </a:r>
                <a:r>
                  <a:rPr lang="zh-CN" altLang="en-US" sz="2400" b="1" kern="100" dirty="0">
                    <a:latin typeface="Times New Roman" panose="02020603050405020304" pitchFamily="18" charset="0"/>
                    <a:ea typeface="微软雅黑" panose="020B0503020204020204" pitchFamily="34" charset="-122"/>
                    <a:cs typeface="微软雅黑" panose="020B0503020204020204" pitchFamily="34" charset="-122"/>
                  </a:rPr>
                  <a:t>，</a:t>
                </a:r>
                <a:r>
                  <a:rPr kumimoji="0" lang="zh-CN" altLang="en-US" sz="2400" b="1" kern="100" cap="none" spc="0" normalizeH="0" baseline="0" noProof="0" dirty="0">
                    <a:latin typeface="Times New Roman" panose="02020603050405020304" pitchFamily="18" charset="0"/>
                    <a:ea typeface="微软雅黑" panose="020B0503020204020204" pitchFamily="34" charset="-122"/>
                    <a:cs typeface="微软雅黑" panose="020B0503020204020204" pitchFamily="34" charset="-122"/>
                  </a:rPr>
                  <a:t>因此增大比例系数一般会加快系统响应</a:t>
                </a:r>
                <a:r>
                  <a:rPr lang="zh-CN" altLang="en-US" sz="2400" b="1" kern="100" dirty="0">
                    <a:latin typeface="Times New Roman" panose="02020603050405020304" pitchFamily="18" charset="0"/>
                    <a:ea typeface="微软雅黑" panose="020B0503020204020204" pitchFamily="34" charset="-122"/>
                    <a:cs typeface="微软雅黑" panose="020B0503020204020204" pitchFamily="34" charset="-122"/>
                  </a:rPr>
                  <a:t>。</a:t>
                </a:r>
              </a:p>
            </p:txBody>
          </p:sp>
        </mc:Choice>
        <mc:Fallback xmlns="">
          <p:sp>
            <p:nvSpPr>
              <p:cNvPr id="18" name="文本框 17"/>
              <p:cNvSpPr txBox="1">
                <a:spLocks noRot="1" noChangeAspect="1" noMove="1" noResize="1" noEditPoints="1" noAdjustHandles="1" noChangeArrowheads="1" noChangeShapeType="1" noTextEdit="1"/>
              </p:cNvSpPr>
              <p:nvPr>
                <p:custDataLst>
                  <p:tags r:id="rId5"/>
                </p:custDataLst>
              </p:nvPr>
            </p:nvSpPr>
            <p:spPr>
              <a:xfrm>
                <a:off x="1129665" y="2445385"/>
                <a:ext cx="10024110" cy="3046988"/>
              </a:xfrm>
              <a:prstGeom prst="rect">
                <a:avLst/>
              </a:prstGeom>
              <a:blipFill>
                <a:blip r:embed="rId6"/>
                <a:stretch>
                  <a:fillRect l="-912" t="-1600" r="-4012" b="-3600"/>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EAAE330C-582C-06E9-E882-202A0D525C53}"/>
              </a:ext>
            </a:extLst>
          </p:cNvPr>
          <p:cNvSpPr txBox="1"/>
          <p:nvPr/>
        </p:nvSpPr>
        <p:spPr>
          <a:xfrm>
            <a:off x="1737495" y="76200"/>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7.1</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控制预备知识介绍</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75B8C47-FF47-2E62-102C-E359EA5DDE55}"/>
                  </a:ext>
                </a:extLst>
              </p:cNvPr>
              <p:cNvSpPr>
                <a:spLocks noGrp="1"/>
              </p:cNvSpPr>
              <p:nvPr>
                <p:ph idx="1"/>
              </p:nvPr>
            </p:nvSpPr>
            <p:spPr/>
            <p:txBody>
              <a:bodyPr>
                <a:normAutofit fontScale="85000" lnSpcReduction="10000"/>
              </a:bodyPr>
              <a:lstStyle/>
              <a:p>
                <a:pPr marL="0" indent="612000">
                  <a:lnSpc>
                    <a:spcPct val="110000"/>
                  </a:lnSpc>
                  <a:buNone/>
                </a:pPr>
                <a:r>
                  <a:rPr lang="zh-CN" altLang="en-US" sz="2800" b="1" dirty="0">
                    <a:latin typeface="Times New Roman" panose="02020603050405020304" pitchFamily="18" charset="0"/>
                    <a:ea typeface="微软雅黑" panose="020B0503020204020204" pitchFamily="34" charset="-122"/>
                    <a:cs typeface="微软雅黑" panose="020B0503020204020204" pitchFamily="34" charset="-122"/>
                  </a:rPr>
                  <a:t>假设这个水箱存在持续漏水的情况，漏水量为</a:t>
                </a:r>
                <a14:m>
                  <m:oMath xmlns:m="http://schemas.openxmlformats.org/officeDocument/2006/math">
                    <m:r>
                      <a:rPr lang="en-US" altLang="zh-CN" sz="2800" b="1" i="0" baseline="0">
                        <a:latin typeface="Cambria Math" panose="02040503050406030204" charset="0"/>
                        <a:ea typeface="微软雅黑" panose="020B0503020204020204" pitchFamily="34" charset="-122"/>
                        <a:cs typeface="Cambria Math" panose="02040503050406030204" charset="0"/>
                      </a:rPr>
                      <m:t>𝐜</m:t>
                    </m:r>
                  </m:oMath>
                </a14:m>
                <a:r>
                  <a:rPr lang="zh-CN" altLang="en-US" sz="2800" b="1" dirty="0">
                    <a:latin typeface="Times New Roman" panose="02020603050405020304" pitchFamily="18" charset="0"/>
                    <a:ea typeface="微软雅黑" panose="020B0503020204020204" pitchFamily="34" charset="-122"/>
                    <a:cs typeface="微软雅黑" panose="020B0503020204020204" pitchFamily="34" charset="-122"/>
                  </a:rPr>
                  <a:t>，液面变化为</a:t>
                </a:r>
                <a14:m>
                  <m:oMath xmlns:m="http://schemas.openxmlformats.org/officeDocument/2006/math">
                    <m:r>
                      <a:rPr lang="en-US" altLang="zh-CN" sz="2800" b="1" i="0" baseline="0">
                        <a:latin typeface="Cambria Math" panose="02040503050406030204" charset="0"/>
                        <a:ea typeface="微软雅黑" panose="020B0503020204020204" pitchFamily="34" charset="-122"/>
                        <a:cs typeface="Cambria Math" panose="02040503050406030204" charset="0"/>
                      </a:rPr>
                      <m:t>𝐝𝐱</m:t>
                    </m:r>
                  </m:oMath>
                </a14:m>
                <a:r>
                  <a:rPr lang="zh-CN" altLang="en-US" sz="2800" b="1" dirty="0">
                    <a:latin typeface="Times New Roman" panose="02020603050405020304" pitchFamily="18" charset="0"/>
                    <a:ea typeface="微软雅黑" panose="020B0503020204020204" pitchFamily="34" charset="-122"/>
                    <a:cs typeface="微软雅黑" panose="020B0503020204020204" pitchFamily="34" charset="-122"/>
                  </a:rPr>
                  <a:t>，则该系统数学模型为</a:t>
                </a:r>
                <a14:m>
                  <m:oMath xmlns:m="http://schemas.openxmlformats.org/officeDocument/2006/math">
                    <m:r>
                      <a:rPr lang="en-US" altLang="zh-CN" sz="2800" b="1" i="0" baseline="0">
                        <a:latin typeface="Cambria Math" panose="02040503050406030204" charset="0"/>
                        <a:ea typeface="微软雅黑" panose="020B0503020204020204" pitchFamily="34" charset="-122"/>
                        <a:cs typeface="Cambria Math" panose="02040503050406030204" charset="0"/>
                      </a:rPr>
                      <m:t>𝐝𝐱</m:t>
                    </m:r>
                    <m:r>
                      <a:rPr lang="en-US" altLang="zh-CN" sz="2800" b="1" i="0" baseline="0">
                        <a:latin typeface="Cambria Math" panose="02040503050406030204" charset="0"/>
                        <a:ea typeface="MS Mincho" charset="0"/>
                        <a:cs typeface="Cambria Math" panose="02040503050406030204" charset="0"/>
                      </a:rPr>
                      <m:t>=</m:t>
                    </m:r>
                    <m:r>
                      <a:rPr lang="en-US" altLang="zh-CN" sz="2800" b="1" i="0" baseline="0">
                        <a:latin typeface="Cambria Math" panose="02040503050406030204" charset="0"/>
                        <a:ea typeface="微软雅黑" panose="020B0503020204020204" pitchFamily="34" charset="-122"/>
                        <a:cs typeface="Cambria Math" panose="02040503050406030204" charset="0"/>
                      </a:rPr>
                      <m:t>𝐮</m:t>
                    </m:r>
                    <m:r>
                      <a:rPr lang="en-US" altLang="zh-CN" sz="2800" b="1" i="0" baseline="0">
                        <a:latin typeface="Cambria Math" panose="02040503050406030204" charset="0"/>
                        <a:ea typeface="MS Mincho" charset="0"/>
                        <a:cs typeface="Cambria Math" panose="02040503050406030204" charset="0"/>
                      </a:rPr>
                      <m:t>−</m:t>
                    </m:r>
                    <m:r>
                      <a:rPr lang="en-US" altLang="zh-CN" sz="2800" b="1" i="0" baseline="0">
                        <a:latin typeface="Cambria Math" panose="02040503050406030204" charset="0"/>
                        <a:ea typeface="微软雅黑" panose="020B0503020204020204" pitchFamily="34" charset="-122"/>
                        <a:cs typeface="Cambria Math" panose="02040503050406030204" charset="0"/>
                      </a:rPr>
                      <m:t>𝐜</m:t>
                    </m:r>
                  </m:oMath>
                </a14:m>
                <a:r>
                  <a:rPr lang="zh-CN" altLang="en-US" sz="2800" b="1" dirty="0">
                    <a:latin typeface="Times New Roman" panose="02020603050405020304" pitchFamily="18" charset="0"/>
                    <a:ea typeface="微软雅黑" panose="020B0503020204020204" pitchFamily="34" charset="-122"/>
                    <a:cs typeface="微软雅黑" panose="020B0503020204020204" pitchFamily="34" charset="-122"/>
                  </a:rPr>
                  <a:t>。这时如果控制器只有一个比例控制项，当系统稳定时，也就是当</a:t>
                </a:r>
                <a14:m>
                  <m:oMath xmlns:m="http://schemas.openxmlformats.org/officeDocument/2006/math">
                    <m:r>
                      <a:rPr lang="en-US" altLang="zh-CN" sz="2800" b="1" i="0" baseline="0">
                        <a:latin typeface="Cambria Math" panose="02040503050406030204" charset="0"/>
                        <a:ea typeface="微软雅黑" panose="020B0503020204020204" pitchFamily="34" charset="-122"/>
                        <a:cs typeface="Cambria Math" panose="02040503050406030204" charset="0"/>
                      </a:rPr>
                      <m:t>𝐝𝐱</m:t>
                    </m:r>
                    <m:r>
                      <a:rPr lang="en-US" altLang="zh-CN" sz="2800" b="1" i="0" baseline="0">
                        <a:latin typeface="Cambria Math" panose="02040503050406030204" charset="0"/>
                        <a:ea typeface="MS Mincho" charset="0"/>
                        <a:cs typeface="Cambria Math" panose="02040503050406030204" charset="0"/>
                      </a:rPr>
                      <m:t>=</m:t>
                    </m:r>
                    <m:r>
                      <a:rPr lang="en-US" altLang="zh-CN" sz="2800" b="1" i="0" baseline="0">
                        <a:latin typeface="Cambria Math" panose="02040503050406030204" charset="0"/>
                        <a:ea typeface="MS Mincho" charset="0"/>
                        <a:cs typeface="Cambria Math" panose="02040503050406030204" charset="0"/>
                      </a:rPr>
                      <m:t>𝟎</m:t>
                    </m:r>
                  </m:oMath>
                </a14:m>
                <a:r>
                  <a:rPr lang="zh-CN" altLang="en-US" sz="2800" b="1" dirty="0">
                    <a:latin typeface="Times New Roman" panose="02020603050405020304" pitchFamily="18" charset="0"/>
                    <a:ea typeface="微软雅黑" panose="020B0503020204020204" pitchFamily="34" charset="-122"/>
                    <a:cs typeface="微软雅黑" panose="020B0503020204020204" pitchFamily="34" charset="-122"/>
                  </a:rPr>
                  <a:t>时，</a:t>
                </a:r>
                <a14:m>
                  <m:oMath xmlns:m="http://schemas.openxmlformats.org/officeDocument/2006/math">
                    <m:r>
                      <a:rPr lang="en-US" altLang="zh-CN" sz="2800" b="1" i="0" baseline="0">
                        <a:latin typeface="Cambria Math" panose="02040503050406030204" charset="0"/>
                        <a:ea typeface="微软雅黑" panose="020B0503020204020204" pitchFamily="34" charset="-122"/>
                        <a:cs typeface="Cambria Math" panose="02040503050406030204" charset="0"/>
                      </a:rPr>
                      <m:t>𝐞</m:t>
                    </m:r>
                    <m:r>
                      <a:rPr lang="en-US" altLang="zh-CN" sz="2800" b="1" i="0" baseline="0">
                        <a:latin typeface="Cambria Math" panose="02040503050406030204" charset="0"/>
                        <a:ea typeface="MS Mincho" charset="0"/>
                        <a:cs typeface="Cambria Math" panose="02040503050406030204" charset="0"/>
                      </a:rPr>
                      <m:t>=</m:t>
                    </m:r>
                    <m:f>
                      <m:fPr>
                        <m:ctrlPr>
                          <a:rPr lang="en-US" altLang="zh-CN" sz="2800" b="1" i="1">
                            <a:latin typeface="Cambria Math" panose="02040503050406030204" pitchFamily="18" charset="0"/>
                            <a:ea typeface="微软雅黑" panose="020B0503020204020204" pitchFamily="34" charset="-122"/>
                            <a:cs typeface="Cambria Math" panose="02040503050406030204" charset="0"/>
                          </a:rPr>
                        </m:ctrlPr>
                      </m:fPr>
                      <m:num>
                        <m:r>
                          <a:rPr lang="en-US" altLang="zh-CN" sz="2800" b="1" i="0" baseline="0">
                            <a:latin typeface="Cambria Math" panose="02040503050406030204" charset="0"/>
                            <a:ea typeface="微软雅黑" panose="020B0503020204020204" pitchFamily="34" charset="-122"/>
                            <a:cs typeface="Cambria Math" panose="02040503050406030204" charset="0"/>
                          </a:rPr>
                          <m:t>𝐜</m:t>
                        </m:r>
                      </m:num>
                      <m:den>
                        <m:sSub>
                          <m:sSubPr>
                            <m:ctrlPr>
                              <a:rPr lang="en-US" altLang="zh-CN" sz="2800" b="1" i="1">
                                <a:latin typeface="Cambria Math" panose="02040503050406030204" pitchFamily="18" charset="0"/>
                                <a:ea typeface="微软雅黑" panose="020B0503020204020204" pitchFamily="34" charset="-122"/>
                                <a:cs typeface="Cambria Math" panose="02040503050406030204" charset="0"/>
                              </a:rPr>
                            </m:ctrlPr>
                          </m:sSubPr>
                          <m:e>
                            <m:r>
                              <a:rPr lang="en-US" altLang="zh-CN" sz="2800" b="1" i="0" baseline="0">
                                <a:latin typeface="Cambria Math" panose="02040503050406030204" charset="0"/>
                                <a:ea typeface="微软雅黑" panose="020B0503020204020204" pitchFamily="34" charset="-122"/>
                                <a:cs typeface="Cambria Math" panose="02040503050406030204" charset="0"/>
                              </a:rPr>
                              <m:t>𝐤</m:t>
                            </m:r>
                          </m:e>
                          <m:sub>
                            <m:r>
                              <a:rPr lang="en-US" altLang="zh-CN" sz="2800" b="1" i="0" baseline="0">
                                <a:latin typeface="Cambria Math" panose="02040503050406030204" charset="0"/>
                                <a:ea typeface="微软雅黑" panose="020B0503020204020204" pitchFamily="34" charset="-122"/>
                                <a:cs typeface="Cambria Math" panose="02040503050406030204" charset="0"/>
                              </a:rPr>
                              <m:t>𝐩</m:t>
                            </m:r>
                          </m:sub>
                        </m:sSub>
                      </m:den>
                    </m:f>
                  </m:oMath>
                </a14:m>
                <a:r>
                  <a:rPr lang="zh-CN" altLang="en-US" sz="2800" b="1" dirty="0">
                    <a:latin typeface="Times New Roman" panose="02020603050405020304" pitchFamily="18" charset="0"/>
                    <a:ea typeface="微软雅黑" panose="020B0503020204020204" pitchFamily="34" charset="-122"/>
                    <a:cs typeface="微软雅黑" panose="020B0503020204020204" pitchFamily="34" charset="-122"/>
                  </a:rPr>
                  <a:t>。</a:t>
                </a:r>
                <a14:m>
                  <m:oMath xmlns:m="http://schemas.openxmlformats.org/officeDocument/2006/math">
                    <m:r>
                      <a:rPr lang="en-US" altLang="zh-CN" sz="2800" b="1" i="0" baseline="0">
                        <a:latin typeface="Cambria Math" panose="02040503050406030204" charset="0"/>
                        <a:ea typeface="微软雅黑" panose="020B0503020204020204" pitchFamily="34" charset="-122"/>
                        <a:cs typeface="Cambria Math" panose="02040503050406030204" charset="0"/>
                      </a:rPr>
                      <m:t>𝐞</m:t>
                    </m:r>
                  </m:oMath>
                </a14:m>
                <a:r>
                  <a:rPr lang="zh-CN" altLang="en-US" sz="2800" b="1" dirty="0">
                    <a:latin typeface="Times New Roman" panose="02020603050405020304" pitchFamily="18" charset="0"/>
                    <a:ea typeface="微软雅黑" panose="020B0503020204020204" pitchFamily="34" charset="-122"/>
                    <a:cs typeface="微软雅黑" panose="020B0503020204020204" pitchFamily="34" charset="-122"/>
                  </a:rPr>
                  <a:t>在系统稳定时不为0，液面高度离目标高度总为</a:t>
                </a:r>
                <a14:m>
                  <m:oMath xmlns:m="http://schemas.openxmlformats.org/officeDocument/2006/math">
                    <m:r>
                      <a:rPr lang="en-US" altLang="zh-CN" sz="2800" b="1" i="0" baseline="0">
                        <a:latin typeface="Cambria Math" panose="02040503050406030204" charset="0"/>
                        <a:ea typeface="微软雅黑" panose="020B0503020204020204" pitchFamily="34" charset="-122"/>
                        <a:cs typeface="Cambria Math" panose="02040503050406030204" charset="0"/>
                      </a:rPr>
                      <m:t>𝐞</m:t>
                    </m:r>
                  </m:oMath>
                </a14:m>
                <a:r>
                  <a:rPr lang="zh-CN" altLang="en-US" sz="2800" b="1" dirty="0">
                    <a:latin typeface="Times New Roman" panose="02020603050405020304" pitchFamily="18" charset="0"/>
                    <a:ea typeface="微软雅黑" panose="020B0503020204020204" pitchFamily="34" charset="-122"/>
                    <a:cs typeface="微软雅黑" panose="020B0503020204020204" pitchFamily="34" charset="-122"/>
                  </a:rPr>
                  <a:t>，产生了稳态误差(又叫静差)。这时漏水量</a:t>
                </a:r>
                <a14:m>
                  <m:oMath xmlns:m="http://schemas.openxmlformats.org/officeDocument/2006/math">
                    <m:r>
                      <a:rPr lang="en-US" altLang="zh-CN" sz="2800" b="1" i="0" baseline="0">
                        <a:latin typeface="Cambria Math" panose="02040503050406030204" charset="0"/>
                        <a:ea typeface="微软雅黑" panose="020B0503020204020204" pitchFamily="34" charset="-122"/>
                        <a:cs typeface="Cambria Math" panose="02040503050406030204" charset="0"/>
                      </a:rPr>
                      <m:t>𝐜</m:t>
                    </m:r>
                  </m:oMath>
                </a14:m>
                <a:r>
                  <a:rPr lang="zh-CN" altLang="en-US" sz="2800" b="1" dirty="0">
                    <a:latin typeface="Times New Roman" panose="02020603050405020304" pitchFamily="18" charset="0"/>
                    <a:ea typeface="微软雅黑" panose="020B0503020204020204" pitchFamily="34" charset="-122"/>
                    <a:cs typeface="微软雅黑" panose="020B0503020204020204" pitchFamily="34" charset="-122"/>
                  </a:rPr>
                  <a:t>是固定的，</a:t>
                </a:r>
                <a14:m>
                  <m:oMath xmlns:m="http://schemas.openxmlformats.org/officeDocument/2006/math">
                    <m:sSub>
                      <m:sSubPr>
                        <m:ctrlPr>
                          <a:rPr lang="en-US" altLang="zh-CN" sz="2800" b="1" i="1">
                            <a:latin typeface="Cambria Math" panose="02040503050406030204" pitchFamily="18" charset="0"/>
                            <a:ea typeface="微软雅黑" panose="020B0503020204020204" pitchFamily="34" charset="-122"/>
                            <a:cs typeface="Cambria Math" panose="02040503050406030204" charset="0"/>
                          </a:rPr>
                        </m:ctrlPr>
                      </m:sSubPr>
                      <m:e>
                        <m:r>
                          <a:rPr lang="en-US" altLang="zh-CN" sz="2800" b="1" i="0" baseline="0">
                            <a:latin typeface="Cambria Math" panose="02040503050406030204" charset="0"/>
                            <a:ea typeface="微软雅黑" panose="020B0503020204020204" pitchFamily="34" charset="-122"/>
                            <a:cs typeface="Cambria Math" panose="02040503050406030204" charset="0"/>
                          </a:rPr>
                          <m:t>𝐤</m:t>
                        </m:r>
                      </m:e>
                      <m:sub>
                        <m:r>
                          <a:rPr lang="en-US" altLang="zh-CN" sz="2800" b="1" i="0" baseline="0">
                            <a:latin typeface="Cambria Math" panose="02040503050406030204" charset="0"/>
                            <a:ea typeface="微软雅黑" panose="020B0503020204020204" pitchFamily="34" charset="-122"/>
                            <a:cs typeface="Cambria Math" panose="02040503050406030204" charset="0"/>
                          </a:rPr>
                          <m:t>𝐩</m:t>
                        </m:r>
                      </m:sub>
                    </m:sSub>
                  </m:oMath>
                </a14:m>
                <a:r>
                  <a:rPr lang="zh-CN" altLang="en-US" sz="2800" b="1" dirty="0">
                    <a:latin typeface="Times New Roman" panose="02020603050405020304" pitchFamily="18" charset="0"/>
                    <a:ea typeface="微软雅黑" panose="020B0503020204020204" pitchFamily="34" charset="-122"/>
                    <a:cs typeface="微软雅黑" panose="020B0503020204020204" pitchFamily="34" charset="-122"/>
                  </a:rPr>
                  <a:t>增大，则</a:t>
                </a:r>
                <a14:m>
                  <m:oMath xmlns:m="http://schemas.openxmlformats.org/officeDocument/2006/math">
                    <m:r>
                      <a:rPr lang="en-US" altLang="zh-CN" sz="2800" b="1" i="0" baseline="0">
                        <a:latin typeface="Cambria Math" panose="02040503050406030204" charset="0"/>
                        <a:ea typeface="微软雅黑" panose="020B0503020204020204" pitchFamily="34" charset="-122"/>
                        <a:cs typeface="Cambria Math" panose="02040503050406030204" charset="0"/>
                      </a:rPr>
                      <m:t>𝐞</m:t>
                    </m:r>
                  </m:oMath>
                </a14:m>
                <a:r>
                  <a:rPr lang="zh-CN" altLang="en-US" sz="2800" b="1" dirty="0">
                    <a:latin typeface="Times New Roman" panose="02020603050405020304" pitchFamily="18" charset="0"/>
                    <a:ea typeface="微软雅黑" panose="020B0503020204020204" pitchFamily="34" charset="-122"/>
                    <a:cs typeface="微软雅黑" panose="020B0503020204020204" pitchFamily="34" charset="-122"/>
                  </a:rPr>
                  <a:t>减小。因此增大比例系数</a:t>
                </a:r>
                <a14:m>
                  <m:oMath xmlns:m="http://schemas.openxmlformats.org/officeDocument/2006/math">
                    <m:sSub>
                      <m:sSubPr>
                        <m:ctrlPr>
                          <a:rPr lang="en-US" altLang="zh-CN" sz="2800" b="1" i="1">
                            <a:latin typeface="Cambria Math" panose="02040503050406030204" pitchFamily="18" charset="0"/>
                            <a:ea typeface="微软雅黑" panose="020B0503020204020204" pitchFamily="34" charset="-122"/>
                            <a:cs typeface="Cambria Math" panose="02040503050406030204" charset="0"/>
                          </a:rPr>
                        </m:ctrlPr>
                      </m:sSubPr>
                      <m:e>
                        <m:r>
                          <a:rPr lang="en-US" altLang="zh-CN" sz="2800" b="1" i="0" baseline="0">
                            <a:latin typeface="Cambria Math" panose="02040503050406030204" charset="0"/>
                            <a:ea typeface="微软雅黑" panose="020B0503020204020204" pitchFamily="34" charset="-122"/>
                            <a:cs typeface="Cambria Math" panose="02040503050406030204" charset="0"/>
                          </a:rPr>
                          <m:t>𝐤</m:t>
                        </m:r>
                      </m:e>
                      <m:sub>
                        <m:r>
                          <a:rPr lang="en-US" altLang="zh-CN" sz="2800" b="1" i="0" baseline="0">
                            <a:latin typeface="Cambria Math" panose="02040503050406030204" charset="0"/>
                            <a:ea typeface="微软雅黑" panose="020B0503020204020204" pitchFamily="34" charset="-122"/>
                            <a:cs typeface="Cambria Math" panose="02040503050406030204" charset="0"/>
                          </a:rPr>
                          <m:t>𝐩</m:t>
                        </m:r>
                      </m:sub>
                    </m:sSub>
                  </m:oMath>
                </a14:m>
                <a:r>
                  <a:rPr lang="zh-CN" altLang="en-US" sz="2800" b="1" dirty="0">
                    <a:latin typeface="Times New Roman" panose="02020603050405020304" pitchFamily="18" charset="0"/>
                    <a:ea typeface="微软雅黑" panose="020B0503020204020204" pitchFamily="34" charset="-122"/>
                    <a:cs typeface="微软雅黑" panose="020B0503020204020204" pitchFamily="34" charset="-122"/>
                  </a:rPr>
                  <a:t>可以减小稳态误差。</a:t>
                </a:r>
              </a:p>
              <a:p>
                <a:endParaRPr lang="zh-CN" altLang="en-US" dirty="0"/>
              </a:p>
            </p:txBody>
          </p:sp>
        </mc:Choice>
        <mc:Fallback xmlns="">
          <p:sp>
            <p:nvSpPr>
              <p:cNvPr id="3" name="内容占位符 2">
                <a:extLst>
                  <a:ext uri="{FF2B5EF4-FFF2-40B4-BE49-F238E27FC236}">
                    <a16:creationId xmlns:a16="http://schemas.microsoft.com/office/drawing/2014/main" id="{575B8C47-FF47-2E62-102C-E359EA5DDE55}"/>
                  </a:ext>
                </a:extLst>
              </p:cNvPr>
              <p:cNvSpPr>
                <a:spLocks noGrp="1" noRot="1" noChangeAspect="1" noMove="1" noResize="1" noEditPoints="1" noAdjustHandles="1" noChangeArrowheads="1" noChangeShapeType="1" noTextEdit="1"/>
              </p:cNvSpPr>
              <p:nvPr>
                <p:ph idx="1"/>
              </p:nvPr>
            </p:nvSpPr>
            <p:spPr>
              <a:blipFill>
                <a:blip r:embed="rId2"/>
                <a:stretch>
                  <a:fillRect l="-928" t="-1120" r="-580"/>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1F04F09B-0D4F-8656-3AAA-61DBB466A4C3}"/>
              </a:ext>
            </a:extLst>
          </p:cNvPr>
          <p:cNvSpPr txBox="1"/>
          <p:nvPr/>
        </p:nvSpPr>
        <p:spPr>
          <a:xfrm>
            <a:off x="1737495" y="76200"/>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7.1</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控制预备知识介绍</a:t>
            </a:r>
          </a:p>
        </p:txBody>
      </p:sp>
    </p:spTree>
    <p:extLst>
      <p:ext uri="{BB962C8B-B14F-4D97-AF65-F5344CB8AC3E}">
        <p14:creationId xmlns:p14="http://schemas.microsoft.com/office/powerpoint/2010/main" val="1407806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custDataLst>
              <p:tags r:id="rId1"/>
            </p:custDataLst>
          </p:nvPr>
        </p:nvSpPr>
        <p:spPr>
          <a:xfrm>
            <a:off x="730568" y="1238250"/>
            <a:ext cx="3960813" cy="460375"/>
          </a:xfrm>
          <a:prstGeom prst="rect">
            <a:avLst/>
          </a:prstGeom>
          <a:noFill/>
        </p:spPr>
        <p:txBody>
          <a:bodyPr>
            <a:spAutoFit/>
          </a:bodyPr>
          <a:lstStyle/>
          <a:p>
            <a:pPr marR="0" defTabSz="914400">
              <a:buClrTx/>
              <a:buSzTx/>
              <a:buFontTx/>
              <a:buNone/>
              <a:defRPr/>
            </a:pPr>
            <a:r>
              <a:rPr kumimoji="0"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2</a:t>
            </a:r>
            <a:r>
              <a:rPr kumimoji="0"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）比例环节</a:t>
            </a:r>
            <a:r>
              <a:rPr kumimoji="0" lang="en-US"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积分环节</a:t>
            </a:r>
            <a:endParaRPr kumimoji="0" lang="zh-CN" altLang="en-US" sz="2400"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xmlns:a14="http://schemas.microsoft.com/office/drawing/2010/main">
        <mc:Choice Requires="a14">
          <p:sp>
            <p:nvSpPr>
              <p:cNvPr id="9" name="文本框 8"/>
              <p:cNvSpPr txBox="1"/>
              <p:nvPr>
                <p:custDataLst>
                  <p:tags r:id="rId2"/>
                </p:custDataLst>
              </p:nvPr>
            </p:nvSpPr>
            <p:spPr>
              <a:xfrm>
                <a:off x="1623695" y="1909445"/>
                <a:ext cx="9244330" cy="4518738"/>
              </a:xfrm>
              <a:prstGeom prst="rect">
                <a:avLst/>
              </a:prstGeom>
              <a:noFill/>
            </p:spPr>
            <p:txBody>
              <a:bodyPr wrap="square">
                <a:spAutoFit/>
              </a:bodyPr>
              <a:lstStyle/>
              <a:p>
                <a:pPr indent="720090" algn="just">
                  <a:defRPr/>
                </a:pPr>
                <a:r>
                  <a:rPr kumimoji="0" lang="zh-CN" altLang="en-US"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从 </a:t>
                </a:r>
                <a14:m>
                  <m:oMath xmlns:m="http://schemas.openxmlformats.org/officeDocument/2006/math">
                    <m:r>
                      <a:rPr kumimoji="0" lang="zh-CN" altLang="en-US" sz="2400" b="0" i="1" kern="100" cap="none" spc="0" normalizeH="0" baseline="0" noProof="0" smtClean="0">
                        <a:latin typeface="Cambria Math" panose="02040503050406030204" pitchFamily="18" charset="0"/>
                      </a:rPr>
                      <m:t>ⅇ</m:t>
                    </m:r>
                    <m:r>
                      <a:rPr kumimoji="0" lang="en-US" altLang="zh-CN" sz="2400" b="0" i="1" kern="100" cap="none" spc="0" normalizeH="0" baseline="0" noProof="0" smtClean="0">
                        <a:latin typeface="Cambria Math" panose="02040503050406030204" pitchFamily="18" charset="0"/>
                        <a:ea typeface="Cambria Math" panose="02040503050406030204" pitchFamily="18" charset="0"/>
                      </a:rPr>
                      <m:t>=</m:t>
                    </m:r>
                    <m:f>
                      <m:fPr>
                        <m:ctrlPr>
                          <a:rPr kumimoji="0" lang="en-US" altLang="zh-CN" sz="2400" i="1" kern="100" cap="none" spc="0" normalizeH="0" baseline="0" noProof="0" smtClean="0">
                            <a:latin typeface="Cambria Math" panose="02040503050406030204" pitchFamily="18" charset="0"/>
                            <a:ea typeface="Cambria Math" panose="02040503050406030204" pitchFamily="18" charset="0"/>
                          </a:rPr>
                        </m:ctrlPr>
                      </m:fPr>
                      <m:num>
                        <m:r>
                          <a:rPr kumimoji="0" lang="en-US" altLang="zh-CN" sz="2400" b="0" i="1" kern="100" cap="none" spc="0" normalizeH="0" baseline="0" noProof="0" smtClean="0">
                            <a:latin typeface="Cambria Math" panose="02040503050406030204" pitchFamily="18" charset="0"/>
                            <a:ea typeface="Cambria Math" panose="02040503050406030204" pitchFamily="18" charset="0"/>
                          </a:rPr>
                          <m:t>𝐶</m:t>
                        </m:r>
                      </m:num>
                      <m:den>
                        <m:sSub>
                          <m:sSubPr>
                            <m:ctrlPr>
                              <a:rPr kumimoji="0" lang="en-US" altLang="zh-CN" sz="2400" i="1" kern="100" cap="none" spc="0" normalizeH="0" baseline="0" noProof="0" smtClean="0">
                                <a:latin typeface="Cambria Math" panose="02040503050406030204" pitchFamily="18" charset="0"/>
                                <a:ea typeface="Cambria Math" panose="02040503050406030204" pitchFamily="18" charset="0"/>
                              </a:rPr>
                            </m:ctrlPr>
                          </m:sSubPr>
                          <m:e>
                            <m:r>
                              <a:rPr kumimoji="0" lang="en-US" altLang="zh-CN" sz="2400" b="0" i="1" kern="100" cap="none" spc="0" normalizeH="0" baseline="0" noProof="0" smtClean="0">
                                <a:latin typeface="Cambria Math" panose="02040503050406030204" pitchFamily="18" charset="0"/>
                                <a:ea typeface="Cambria Math" panose="02040503050406030204" pitchFamily="18" charset="0"/>
                              </a:rPr>
                              <m:t>𝑘</m:t>
                            </m:r>
                          </m:e>
                          <m:sub>
                            <m:r>
                              <a:rPr kumimoji="0" lang="en-US" altLang="zh-CN" sz="2400" b="0" i="1" kern="100" cap="none" spc="0" normalizeH="0" baseline="0" noProof="0" smtClean="0">
                                <a:latin typeface="Cambria Math" panose="02040503050406030204" pitchFamily="18" charset="0"/>
                                <a:ea typeface="Cambria Math" panose="02040503050406030204" pitchFamily="18" charset="0"/>
                              </a:rPr>
                              <m:t>𝑃</m:t>
                            </m:r>
                          </m:sub>
                        </m:sSub>
                      </m:den>
                    </m:f>
                  </m:oMath>
                </a14:m>
                <a:r>
                  <a:rPr kumimoji="0" lang="zh-CN" altLang="en-US"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 可知，系统恒存在误差，若要消除误差到达目标液面高度，此时引入一个分量，该分量和误差的积分成正比，此时的控制方式为比例环节</a:t>
                </a:r>
                <a:r>
                  <a:rPr kumimoji="0" lang="en-US"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a:t>
                </a:r>
                <a:r>
                  <a:rPr kumimoji="0" lang="zh-CN" altLang="en-US"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积分环节：</a:t>
                </a:r>
                <a14:m>
                  <m:oMath xmlns:m="http://schemas.openxmlformats.org/officeDocument/2006/math">
                    <m:r>
                      <a:rPr kumimoji="0" lang="zh-CN" altLang="en-US" sz="2400" b="1" i="1" kern="100" cap="none" spc="0" normalizeH="0" baseline="0" noProof="0" smtClean="0">
                        <a:latin typeface="Cambria Math" panose="02040503050406030204" pitchFamily="18" charset="0"/>
                      </a:rPr>
                      <m:t>𝑢</m:t>
                    </m:r>
                    <m:r>
                      <a:rPr kumimoji="0" lang="en-US" altLang="zh-CN" sz="2400" b="1" i="1" kern="100" cap="none" spc="0" normalizeH="0" baseline="0" noProof="0" smtClean="0">
                        <a:latin typeface="Cambria Math" panose="02040503050406030204" pitchFamily="18" charset="0"/>
                        <a:ea typeface="Cambria Math" panose="02040503050406030204" pitchFamily="18" charset="0"/>
                      </a:rPr>
                      <m:t>=</m:t>
                    </m:r>
                    <m:sSub>
                      <m:sSubPr>
                        <m:ctrlPr>
                          <a:rPr lang="en-US"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Cambria Math" panose="02040503050406030204" pitchFamily="18" charset="0"/>
                          </a:rPr>
                          <m:t>𝑘</m:t>
                        </m:r>
                      </m:e>
                      <m:sub>
                        <m:r>
                          <a:rPr lang="en-US" altLang="zh-CN" sz="2400" i="1" kern="100">
                            <a:latin typeface="Cambria Math" panose="02040503050406030204" pitchFamily="18" charset="0"/>
                            <a:ea typeface="Cambria Math" panose="02040503050406030204" pitchFamily="18" charset="0"/>
                          </a:rPr>
                          <m:t>𝑃</m:t>
                        </m:r>
                      </m:sub>
                    </m:sSub>
                    <m:r>
                      <a:rPr lang="zh-CN" altLang="en-US" sz="2400" i="1" kern="100">
                        <a:latin typeface="Cambria Math" panose="02040503050406030204" pitchFamily="18" charset="0"/>
                      </a:rPr>
                      <m:t>ⅇ </m:t>
                    </m:r>
                    <m:r>
                      <a:rPr lang="en-US" altLang="zh-CN" sz="2400" i="1" kern="100" smtClean="0">
                        <a:latin typeface="Cambria Math" panose="02040503050406030204" pitchFamily="18" charset="0"/>
                        <a:ea typeface="Cambria Math" panose="02040503050406030204" pitchFamily="18" charset="0"/>
                      </a:rPr>
                      <m:t>+</m:t>
                    </m:r>
                    <m:sSub>
                      <m:sSubPr>
                        <m:ctrlPr>
                          <a:rPr lang="en-US" altLang="zh-CN" sz="2400" i="1" kern="100" smtClean="0">
                            <a:latin typeface="Cambria Math" panose="02040503050406030204" pitchFamily="18" charset="0"/>
                            <a:ea typeface="Cambria Math" panose="02040503050406030204" pitchFamily="18" charset="0"/>
                          </a:rPr>
                        </m:ctrlPr>
                      </m:sSubPr>
                      <m:e>
                        <m:r>
                          <a:rPr lang="en-US" altLang="zh-CN" sz="2400" i="1" kern="100" smtClean="0">
                            <a:latin typeface="Cambria Math" panose="02040503050406030204" pitchFamily="18" charset="0"/>
                            <a:ea typeface="Cambria Math" panose="02040503050406030204" pitchFamily="18" charset="0"/>
                          </a:rPr>
                          <m:t>𝑘</m:t>
                        </m:r>
                      </m:e>
                      <m:sub>
                        <m:r>
                          <a:rPr lang="en-US" altLang="zh-CN" sz="2400" i="1" kern="100" smtClean="0">
                            <a:latin typeface="Cambria Math" panose="02040503050406030204" pitchFamily="18" charset="0"/>
                            <a:ea typeface="Cambria Math" panose="02040503050406030204" pitchFamily="18" charset="0"/>
                          </a:rPr>
                          <m:t>ⅈ</m:t>
                        </m:r>
                      </m:sub>
                    </m:sSub>
                    <m:nary>
                      <m:naryPr>
                        <m:ctrlPr>
                          <a:rPr lang="en-US" altLang="zh-CN" sz="2400" i="1" kern="100" smtClean="0">
                            <a:latin typeface="Cambria Math" panose="02040503050406030204" pitchFamily="18" charset="0"/>
                            <a:ea typeface="Cambria Math" panose="02040503050406030204" pitchFamily="18" charset="0"/>
                          </a:rPr>
                        </m:ctrlPr>
                      </m:naryPr>
                      <m:sub>
                        <m:r>
                          <m:rPr>
                            <m:brk m:alnAt="23"/>
                          </m:rPr>
                          <a:rPr lang="en-US" altLang="zh-CN" sz="2400" b="0" i="1" kern="100" smtClean="0">
                            <a:latin typeface="Cambria Math" panose="02040503050406030204" pitchFamily="18" charset="0"/>
                            <a:ea typeface="Cambria Math" panose="02040503050406030204" pitchFamily="18" charset="0"/>
                          </a:rPr>
                          <m:t>0</m:t>
                        </m:r>
                      </m:sub>
                      <m:sup>
                        <m:r>
                          <m:rPr>
                            <m:sty m:val="p"/>
                          </m:rPr>
                          <a:rPr lang="en-US" altLang="zh-CN" sz="2400" i="1" kern="100">
                            <a:latin typeface="Cambria Math" panose="02040503050406030204" pitchFamily="18" charset="0"/>
                            <a:ea typeface="Cambria Math" panose="02040503050406030204" pitchFamily="18" charset="0"/>
                          </a:rPr>
                          <m:t>t</m:t>
                        </m:r>
                      </m:sup>
                      <m:e>
                        <m:r>
                          <a:rPr lang="en-US" altLang="zh-CN" sz="2400" b="0" i="1" kern="100" smtClean="0">
                            <a:latin typeface="Cambria Math" panose="02040503050406030204" pitchFamily="18" charset="0"/>
                            <a:ea typeface="Cambria Math" panose="02040503050406030204" pitchFamily="18" charset="0"/>
                          </a:rPr>
                          <m:t>𝑒</m:t>
                        </m:r>
                        <m:r>
                          <a:rPr lang="en-US" altLang="zh-CN" sz="2400" b="0" i="1" kern="100" smtClean="0">
                            <a:latin typeface="Cambria Math" panose="02040503050406030204" pitchFamily="18" charset="0"/>
                            <a:ea typeface="Cambria Math" panose="02040503050406030204" pitchFamily="18" charset="0"/>
                          </a:rPr>
                          <m:t>ⅆ</m:t>
                        </m:r>
                        <m:r>
                          <a:rPr lang="en-US" altLang="zh-CN" sz="2400" b="0" i="1" kern="100" smtClean="0">
                            <a:latin typeface="Cambria Math" panose="02040503050406030204" pitchFamily="18" charset="0"/>
                            <a:ea typeface="Cambria Math" panose="02040503050406030204" pitchFamily="18" charset="0"/>
                          </a:rPr>
                          <m:t>𝑡</m:t>
                        </m:r>
                      </m:e>
                    </m:nary>
                  </m:oMath>
                </a14:m>
                <a:r>
                  <a:rPr kumimoji="0" lang="zh-CN" altLang="en-US"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a:t>
                </a:r>
                <a:endParaRPr kumimoji="0" lang="en-US"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indent="720090" algn="just">
                  <a:defRPr/>
                </a:pPr>
                <a:r>
                  <a:rPr kumimoji="0" lang="zh-CN" altLang="en-US"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相当于多了一个人来加水，这个人加水的规则是：水位比目标高度低就不停地增加加水量；比目标高度高，就不停地减少加水量。如果漏水速度不变，那么早晚新来的人加水速度会与水箱漏水速度相同，此时系统就与一开始的系统相同，即处于没有稳态误差的状态。因此，积分环节可以消除系统稳态误差。在这个系统中，在当前液面高度到达目标高度前，随着液面高度逐渐接近目标高度，比例控制部分加水量逐渐减小，而积分控制部分加水量逐渐增多。当到达目标高度时，积分控制部分加水量达到最大，因此会产生超调。</a:t>
                </a:r>
                <a:endParaRPr kumimoji="0" lang="zh-CN" altLang="en-US" sz="2400" b="1"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xmlns="">
          <p:sp>
            <p:nvSpPr>
              <p:cNvPr id="9" name="文本框 8"/>
              <p:cNvSpPr txBox="1">
                <a:spLocks noRot="1" noChangeAspect="1" noMove="1" noResize="1" noEditPoints="1" noAdjustHandles="1" noChangeArrowheads="1" noChangeShapeType="1" noTextEdit="1"/>
              </p:cNvSpPr>
              <p:nvPr>
                <p:custDataLst>
                  <p:tags r:id="rId4"/>
                </p:custDataLst>
              </p:nvPr>
            </p:nvSpPr>
            <p:spPr>
              <a:xfrm>
                <a:off x="1623695" y="1909445"/>
                <a:ext cx="9244330" cy="4518738"/>
              </a:xfrm>
              <a:prstGeom prst="rect">
                <a:avLst/>
              </a:prstGeom>
              <a:blipFill>
                <a:blip r:embed="rId5"/>
                <a:stretch>
                  <a:fillRect l="-989" r="-4351" b="-1484"/>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04A888CD-E428-7FB2-B6D1-8290152CE17C}"/>
              </a:ext>
            </a:extLst>
          </p:cNvPr>
          <p:cNvSpPr txBox="1"/>
          <p:nvPr/>
        </p:nvSpPr>
        <p:spPr>
          <a:xfrm>
            <a:off x="1737495" y="76200"/>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7.1</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控制预备知识介绍</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p:cNvSpPr txBox="1"/>
              <p:nvPr>
                <p:custDataLst>
                  <p:tags r:id="rId1"/>
                </p:custDataLst>
              </p:nvPr>
            </p:nvSpPr>
            <p:spPr>
              <a:xfrm>
                <a:off x="829310" y="1412875"/>
                <a:ext cx="9617075" cy="4439805"/>
              </a:xfrm>
              <a:prstGeom prst="rect">
                <a:avLst/>
              </a:prstGeom>
              <a:noFill/>
            </p:spPr>
            <p:txBody>
              <a:bodyPr wrap="square" rtlCol="0">
                <a:spAutoFit/>
              </a:bodyPr>
              <a:lstStyle/>
              <a:p>
                <a:pPr indent="457200"/>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  由上述“比例环节+积分环节”的公式可知，</a:t>
                </a:r>
                <a14:m>
                  <m:oMath xmlns:m="http://schemas.openxmlformats.org/officeDocument/2006/math">
                    <m:sSub>
                      <m:sSubPr>
                        <m:ctrlPr>
                          <a:rPr lang="en-US" altLang="zh-CN" sz="2400" b="1" i="1" smtClean="0">
                            <a:latin typeface="Cambria Math" panose="02040503050406030204" pitchFamily="18" charset="0"/>
                            <a:ea typeface="微软雅黑" panose="020B0503020204020204" pitchFamily="34" charset="-122"/>
                            <a:cs typeface="Cambria Math" panose="02040503050406030204" charset="0"/>
                          </a:rPr>
                        </m:ctrlPr>
                      </m:sSubPr>
                      <m:e>
                        <m:r>
                          <a:rPr lang="en-US" altLang="zh-CN" sz="2400" b="1" i="1" smtClean="0">
                            <a:latin typeface="Cambria Math" panose="02040503050406030204" charset="0"/>
                            <a:ea typeface="微软雅黑" panose="020B0503020204020204" pitchFamily="34" charset="-122"/>
                            <a:cs typeface="Cambria Math" panose="02040503050406030204" charset="0"/>
                          </a:rPr>
                          <m:t>𝒌</m:t>
                        </m:r>
                      </m:e>
                      <m:sub>
                        <m:r>
                          <a:rPr lang="en-US" altLang="zh-CN" sz="2400" b="1" i="1" smtClean="0">
                            <a:latin typeface="Cambria Math" panose="02040503050406030204" charset="0"/>
                            <a:ea typeface="微软雅黑" panose="020B0503020204020204" pitchFamily="34" charset="-122"/>
                            <a:cs typeface="Cambria Math" panose="02040503050406030204" charset="0"/>
                          </a:rPr>
                          <m:t>𝒊</m:t>
                        </m:r>
                      </m:sub>
                    </m:sSub>
                    <m:r>
                      <a:rPr lang="en-US" altLang="zh-CN" sz="2400" b="1" i="1" smtClean="0">
                        <a:latin typeface="Cambria Math" panose="02040503050406030204" charset="0"/>
                        <a:ea typeface="MS Mincho" charset="0"/>
                        <a:cs typeface="Cambria Math" panose="02040503050406030204" charset="0"/>
                      </a:rPr>
                      <m:t>=</m:t>
                    </m:r>
                    <m:f>
                      <m:fPr>
                        <m:ctrlPr>
                          <a:rPr lang="en-US" altLang="zh-CN" sz="2400" b="1" i="1" smtClean="0">
                            <a:latin typeface="Cambria Math" panose="02040503050406030204" pitchFamily="18" charset="0"/>
                            <a:ea typeface="微软雅黑" panose="020B0503020204020204" pitchFamily="34" charset="-122"/>
                            <a:cs typeface="Cambria Math" panose="02040503050406030204" charset="0"/>
                          </a:rPr>
                        </m:ctrlPr>
                      </m:fPr>
                      <m:num>
                        <m:sSub>
                          <m:sSubPr>
                            <m:ctrlPr>
                              <a:rPr lang="en-US" altLang="zh-CN" sz="2400" b="1" i="1" smtClean="0">
                                <a:latin typeface="Cambria Math" panose="02040503050406030204" pitchFamily="18" charset="0"/>
                                <a:ea typeface="微软雅黑" panose="020B0503020204020204" pitchFamily="34" charset="-122"/>
                                <a:cs typeface="Cambria Math" panose="02040503050406030204" charset="0"/>
                              </a:rPr>
                            </m:ctrlPr>
                          </m:sSubPr>
                          <m:e>
                            <m:r>
                              <a:rPr lang="en-US" altLang="zh-CN" sz="2400" b="1" i="1" smtClean="0">
                                <a:latin typeface="Cambria Math" panose="02040503050406030204" charset="0"/>
                                <a:ea typeface="微软雅黑" panose="020B0503020204020204" pitchFamily="34" charset="-122"/>
                                <a:cs typeface="Cambria Math" panose="02040503050406030204" charset="0"/>
                              </a:rPr>
                              <m:t>𝒌</m:t>
                            </m:r>
                          </m:e>
                          <m:sub>
                            <m:r>
                              <a:rPr lang="en-US" altLang="zh-CN" sz="2400" b="1" i="1" smtClean="0">
                                <a:latin typeface="Cambria Math" panose="02040503050406030204" charset="0"/>
                                <a:ea typeface="微软雅黑" panose="020B0503020204020204" pitchFamily="34" charset="-122"/>
                                <a:cs typeface="Cambria Math" panose="02040503050406030204" charset="0"/>
                              </a:rPr>
                              <m:t>𝒑</m:t>
                            </m:r>
                          </m:sub>
                        </m:sSub>
                      </m:num>
                      <m:den>
                        <m:sSub>
                          <m:sSubPr>
                            <m:ctrlPr>
                              <a:rPr lang="en-US" altLang="zh-CN" sz="2400" b="1" i="1" smtClean="0">
                                <a:latin typeface="Cambria Math" panose="02040503050406030204" pitchFamily="18" charset="0"/>
                                <a:ea typeface="微软雅黑" panose="020B0503020204020204" pitchFamily="34" charset="-122"/>
                                <a:cs typeface="Cambria Math" panose="02040503050406030204" charset="0"/>
                              </a:rPr>
                            </m:ctrlPr>
                          </m:sSubPr>
                          <m:e>
                            <m:r>
                              <a:rPr lang="en-US" altLang="zh-CN" sz="2400" b="1" i="1" smtClean="0">
                                <a:latin typeface="Cambria Math" panose="02040503050406030204" charset="0"/>
                                <a:ea typeface="微软雅黑" panose="020B0503020204020204" pitchFamily="34" charset="-122"/>
                                <a:cs typeface="Cambria Math" panose="02040503050406030204" charset="0"/>
                              </a:rPr>
                              <m:t>𝑻</m:t>
                            </m:r>
                          </m:e>
                          <m:sub>
                            <m:r>
                              <a:rPr lang="en-US" altLang="zh-CN" sz="2400" b="1" i="1" smtClean="0">
                                <a:latin typeface="Cambria Math" panose="02040503050406030204" charset="0"/>
                                <a:ea typeface="微软雅黑" panose="020B0503020204020204" pitchFamily="34" charset="-122"/>
                                <a:cs typeface="Cambria Math" panose="02040503050406030204" charset="0"/>
                              </a:rPr>
                              <m:t>𝒊</m:t>
                            </m:r>
                          </m:sub>
                        </m:sSub>
                      </m:den>
                    </m:f>
                  </m:oMath>
                </a14:m>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a:t>
                </a:r>
                <a14:m>
                  <m:oMath xmlns:m="http://schemas.openxmlformats.org/officeDocument/2006/math">
                    <m:sSub>
                      <m:sSubPr>
                        <m:ctrlPr>
                          <a:rPr lang="en-US" altLang="zh-CN" sz="2400" b="1" i="1" smtClean="0">
                            <a:latin typeface="Cambria Math" panose="02040503050406030204" pitchFamily="18" charset="0"/>
                            <a:ea typeface="微软雅黑" panose="020B0503020204020204" pitchFamily="34" charset="-122"/>
                            <a:cs typeface="Cambria Math" panose="02040503050406030204" charset="0"/>
                          </a:rPr>
                        </m:ctrlPr>
                      </m:sSubPr>
                      <m:e>
                        <m:r>
                          <a:rPr lang="en-US" altLang="zh-CN" sz="2400" b="1" i="1" smtClean="0">
                            <a:latin typeface="Cambria Math" panose="02040503050406030204" charset="0"/>
                            <a:ea typeface="微软雅黑" panose="020B0503020204020204" pitchFamily="34" charset="-122"/>
                            <a:cs typeface="Cambria Math" panose="02040503050406030204" charset="0"/>
                          </a:rPr>
                          <m:t>𝑻</m:t>
                        </m:r>
                      </m:e>
                      <m:sub>
                        <m:r>
                          <a:rPr lang="en-US" altLang="zh-CN" sz="2400" b="1" i="1" smtClean="0">
                            <a:latin typeface="Cambria Math" panose="02040503050406030204" charset="0"/>
                            <a:ea typeface="微软雅黑" panose="020B0503020204020204" pitchFamily="34" charset="-122"/>
                            <a:cs typeface="Cambria Math" panose="02040503050406030204" charset="0"/>
                          </a:rPr>
                          <m:t>𝒊</m:t>
                        </m:r>
                      </m:sub>
                    </m:sSub>
                  </m:oMath>
                </a14:m>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为时间积分。</a:t>
                </a:r>
                <a14:m>
                  <m:oMath xmlns:m="http://schemas.openxmlformats.org/officeDocument/2006/math">
                    <m:sSub>
                      <m:sSubPr>
                        <m:ctrlPr>
                          <a:rPr lang="en-US" altLang="zh-CN" sz="2400" b="1" i="1" smtClean="0">
                            <a:latin typeface="Cambria Math" panose="02040503050406030204" pitchFamily="18" charset="0"/>
                            <a:ea typeface="微软雅黑" panose="020B0503020204020204" pitchFamily="34" charset="-122"/>
                            <a:cs typeface="Cambria Math" panose="02040503050406030204" charset="0"/>
                          </a:rPr>
                        </m:ctrlPr>
                      </m:sSubPr>
                      <m:e>
                        <m:r>
                          <a:rPr lang="en-US" altLang="zh-CN" sz="2400" b="1" i="1" smtClean="0">
                            <a:latin typeface="Cambria Math" panose="02040503050406030204" charset="0"/>
                            <a:ea typeface="微软雅黑" panose="020B0503020204020204" pitchFamily="34" charset="-122"/>
                            <a:cs typeface="Cambria Math" panose="02040503050406030204" charset="0"/>
                          </a:rPr>
                          <m:t>𝒌</m:t>
                        </m:r>
                      </m:e>
                      <m:sub>
                        <m:r>
                          <a:rPr lang="en-US" altLang="zh-CN" sz="2400" b="1" i="1" smtClean="0">
                            <a:latin typeface="Cambria Math" panose="02040503050406030204" charset="0"/>
                            <a:ea typeface="微软雅黑" panose="020B0503020204020204" pitchFamily="34" charset="-122"/>
                            <a:cs typeface="Cambria Math" panose="02040503050406030204" charset="0"/>
                          </a:rPr>
                          <m:t>𝒊</m:t>
                        </m:r>
                      </m:sub>
                    </m:sSub>
                  </m:oMath>
                </a14:m>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值越大，系统振荡越大，调整时间变短；</a:t>
                </a:r>
                <a14:m>
                  <m:oMath xmlns:m="http://schemas.openxmlformats.org/officeDocument/2006/math">
                    <m:sSub>
                      <m:sSubPr>
                        <m:ctrlPr>
                          <a:rPr lang="en-US" altLang="zh-CN" sz="2400" b="1" i="1" smtClean="0">
                            <a:latin typeface="Cambria Math" panose="02040503050406030204" pitchFamily="18" charset="0"/>
                            <a:ea typeface="微软雅黑" panose="020B0503020204020204" pitchFamily="34" charset="-122"/>
                            <a:cs typeface="Cambria Math" panose="02040503050406030204" charset="0"/>
                          </a:rPr>
                        </m:ctrlPr>
                      </m:sSubPr>
                      <m:e>
                        <m:r>
                          <a:rPr lang="en-US" altLang="zh-CN" sz="2400" b="1" i="1" smtClean="0">
                            <a:latin typeface="Cambria Math" panose="02040503050406030204" charset="0"/>
                            <a:ea typeface="微软雅黑" panose="020B0503020204020204" pitchFamily="34" charset="-122"/>
                            <a:cs typeface="Cambria Math" panose="02040503050406030204" charset="0"/>
                          </a:rPr>
                          <m:t>𝒌</m:t>
                        </m:r>
                      </m:e>
                      <m:sub>
                        <m:r>
                          <a:rPr lang="en-US" altLang="zh-CN" sz="2400" b="1" i="1" smtClean="0">
                            <a:latin typeface="Cambria Math" panose="02040503050406030204" charset="0"/>
                            <a:ea typeface="微软雅黑" panose="020B0503020204020204" pitchFamily="34" charset="-122"/>
                            <a:cs typeface="Cambria Math" panose="02040503050406030204" charset="0"/>
                          </a:rPr>
                          <m:t>𝒊</m:t>
                        </m:r>
                      </m:sub>
                    </m:sSub>
                  </m:oMath>
                </a14:m>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值越小，系统振荡小，但调整的时间也会变得较长。</a:t>
                </a:r>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indent="457200"/>
                <a:endParaRPr lang="en-US" altLang="zh-CN" sz="2400" b="1" dirty="0">
                  <a:latin typeface="微软雅黑" panose="020B0503020204020204" pitchFamily="34" charset="-122"/>
                  <a:ea typeface="微软雅黑" panose="020B0503020204020204" pitchFamily="34" charset="-122"/>
                  <a:cs typeface="微软雅黑" panose="020B0503020204020204" pitchFamily="34" charset="-122"/>
                </a:endParaRPr>
              </a:p>
              <a:p>
                <a:pPr indent="457200"/>
                <a:endPar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endParaRPr>
              </a:p>
              <a:p>
                <a:pPr indent="457200"/>
                <a:r>
                  <a:rPr lang="en-US" altLang="zh-CN" sz="2400" b="1" kern="100" dirty="0">
                    <a:latin typeface="微软雅黑" panose="020B0503020204020204" pitchFamily="34" charset="-122"/>
                    <a:ea typeface="微软雅黑" panose="020B0503020204020204" pitchFamily="34" charset="-122"/>
                  </a:rPr>
                  <a:t> </a:t>
                </a:r>
                <a:r>
                  <a:rPr lang="zh-CN" altLang="zh-CN" sz="2400" b="1" kern="100" dirty="0">
                    <a:latin typeface="微软雅黑" panose="020B0503020204020204" pitchFamily="34" charset="-122"/>
                    <a:ea typeface="微软雅黑" panose="020B0503020204020204" pitchFamily="34" charset="-122"/>
                  </a:rPr>
                  <a:t>微分环节控制的就是</a:t>
                </a:r>
                <a:r>
                  <a:rPr lang="en-US" altLang="zh-CN" sz="2400" b="1" kern="100" dirty="0">
                    <a:latin typeface="微软雅黑" panose="020B0503020204020204" pitchFamily="34" charset="-122"/>
                    <a:ea typeface="微软雅黑" panose="020B0503020204020204" pitchFamily="34" charset="-122"/>
                  </a:rPr>
                  <a:t> </a:t>
                </a:r>
                <a:r>
                  <a:rPr kumimoji="0" lang="en-US"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e </a:t>
                </a:r>
                <a:r>
                  <a:rPr kumimoji="0"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的差值，即</a:t>
                </a:r>
                <a:r>
                  <a:rPr kumimoji="0" lang="en-US"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 t  </a:t>
                </a:r>
                <a:r>
                  <a:rPr kumimoji="0"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时刻和</a:t>
                </a:r>
                <a:r>
                  <a:rPr kumimoji="0" lang="en-US"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 t-1 </a:t>
                </a:r>
                <a:r>
                  <a:rPr kumimoji="0"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时刻</a:t>
                </a:r>
                <a:r>
                  <a:rPr kumimoji="0" lang="en-US"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 e </a:t>
                </a:r>
                <a:r>
                  <a:rPr kumimoji="0"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的差</a:t>
                </a:r>
                <a:r>
                  <a:rPr lang="zh-CN" altLang="en-US" sz="2400" b="1" kern="100" dirty="0">
                    <a:latin typeface="微软雅黑" panose="020B0503020204020204" pitchFamily="34" charset="-122"/>
                    <a:ea typeface="微软雅黑" panose="020B0503020204020204" pitchFamily="34" charset="-122"/>
                    <a:cs typeface="微软雅黑" panose="020B0503020204020204" pitchFamily="34" charset="-122"/>
                  </a:rPr>
                  <a:t>值</a:t>
                </a:r>
                <a:r>
                  <a:rPr lang="en-US" altLang="zh-CN" sz="2400" b="1" kern="100" dirty="0">
                    <a:latin typeface="微软雅黑" panose="020B0503020204020204" pitchFamily="34" charset="-122"/>
                    <a:ea typeface="微软雅黑" panose="020B0503020204020204" pitchFamily="34" charset="-122"/>
                    <a:cs typeface="微软雅黑" panose="020B0503020204020204" pitchFamily="34" charset="-122"/>
                  </a:rPr>
                  <a:t>,</a:t>
                </a:r>
                <a14:m>
                  <m:oMath xmlns:m="http://schemas.openxmlformats.org/officeDocument/2006/math">
                    <m:r>
                      <m:rPr>
                        <m:sty m:val="p"/>
                      </m:rPr>
                      <a:rPr lang="en-US" altLang="zh-CN" sz="2400" b="1" i="1" kern="100" dirty="0">
                        <a:latin typeface="Cambria Math" panose="02040503050406030204" pitchFamily="18" charset="0"/>
                        <a:ea typeface="微软雅黑" panose="020B0503020204020204" pitchFamily="34" charset="-122"/>
                        <a:cs typeface="微软雅黑" panose="020B0503020204020204" pitchFamily="34" charset="-122"/>
                      </a:rPr>
                      <m:t>u</m:t>
                    </m:r>
                  </m:oMath>
                </a14:m>
                <a:r>
                  <a:rPr lang="en-US" altLang="zh-CN" sz="2400" b="1" kern="100" dirty="0">
                    <a:latin typeface="微软雅黑" panose="020B0503020204020204" pitchFamily="34" charset="-122"/>
                    <a:ea typeface="微软雅黑" panose="020B0503020204020204" pitchFamily="34" charset="-122"/>
                    <a:cs typeface="微软雅黑" panose="020B0503020204020204" pitchFamily="34" charset="-122"/>
                  </a:rPr>
                  <a:t>=</a:t>
                </a:r>
                <a14:m>
                  <m:oMath xmlns:m="http://schemas.openxmlformats.org/officeDocument/2006/math">
                    <m:sSub>
                      <m:sSubPr>
                        <m:ctrlPr>
                          <a:rPr lang="en-US" altLang="zh-CN" sz="2400" b="1" i="1" kern="100" dirty="0" smtClean="0">
                            <a:latin typeface="Cambria Math" panose="02040503050406030204" pitchFamily="18" charset="0"/>
                            <a:ea typeface="微软雅黑" panose="020B0503020204020204" pitchFamily="34" charset="-122"/>
                          </a:rPr>
                        </m:ctrlPr>
                      </m:sSubPr>
                      <m:e>
                        <m:r>
                          <a:rPr lang="en-US" altLang="zh-CN" sz="2400" b="1" i="1" kern="100" dirty="0" smtClean="0">
                            <a:latin typeface="Cambria Math" panose="02040503050406030204" pitchFamily="18" charset="0"/>
                            <a:ea typeface="微软雅黑" panose="020B0503020204020204" pitchFamily="34" charset="-122"/>
                          </a:rPr>
                          <m:t>𝒌</m:t>
                        </m:r>
                      </m:e>
                      <m:sub>
                        <m:r>
                          <a:rPr lang="en-US" altLang="zh-CN" sz="2400" b="1" i="1" kern="100" dirty="0" smtClean="0">
                            <a:latin typeface="Cambria Math" panose="02040503050406030204" pitchFamily="18" charset="0"/>
                            <a:ea typeface="微软雅黑" panose="020B0503020204020204" pitchFamily="34" charset="-122"/>
                          </a:rPr>
                          <m:t>𝒅</m:t>
                        </m:r>
                      </m:sub>
                    </m:sSub>
                    <m:d>
                      <m:dPr>
                        <m:ctrlPr>
                          <a:rPr lang="en-US" altLang="zh-CN" sz="2400" b="1" i="1" kern="100" dirty="0" smtClean="0">
                            <a:latin typeface="Cambria Math" panose="02040503050406030204" pitchFamily="18" charset="0"/>
                            <a:ea typeface="微软雅黑" panose="020B0503020204020204" pitchFamily="34" charset="-122"/>
                          </a:rPr>
                        </m:ctrlPr>
                      </m:dPr>
                      <m:e>
                        <m:r>
                          <a:rPr lang="en-US" altLang="zh-CN" sz="2400" b="1" i="1" kern="100" dirty="0" smtClean="0">
                            <a:latin typeface="Cambria Math" panose="02040503050406030204" pitchFamily="18" charset="0"/>
                            <a:ea typeface="微软雅黑" panose="020B0503020204020204" pitchFamily="34" charset="-122"/>
                          </a:rPr>
                          <m:t>𝒆</m:t>
                        </m:r>
                        <m:d>
                          <m:dPr>
                            <m:ctrlPr>
                              <a:rPr lang="en-US" altLang="zh-CN" sz="2400" b="1" i="1" kern="100" dirty="0" smtClean="0">
                                <a:latin typeface="Cambria Math" panose="02040503050406030204" pitchFamily="18" charset="0"/>
                                <a:ea typeface="微软雅黑" panose="020B0503020204020204" pitchFamily="34" charset="-122"/>
                              </a:rPr>
                            </m:ctrlPr>
                          </m:dPr>
                          <m:e>
                            <m:r>
                              <a:rPr lang="en-US" altLang="zh-CN" sz="2400" b="1" i="1" kern="100" dirty="0" smtClean="0">
                                <a:latin typeface="Cambria Math" panose="02040503050406030204" pitchFamily="18" charset="0"/>
                                <a:ea typeface="微软雅黑" panose="020B0503020204020204" pitchFamily="34" charset="-122"/>
                              </a:rPr>
                              <m:t>𝒕</m:t>
                            </m:r>
                          </m:e>
                        </m:d>
                        <m:r>
                          <a:rPr lang="en-US" altLang="zh-CN" sz="2400" b="1" i="1" kern="100" dirty="0" smtClean="0">
                            <a:latin typeface="Cambria Math" panose="02040503050406030204" pitchFamily="18" charset="0"/>
                            <a:ea typeface="微软雅黑" panose="020B0503020204020204" pitchFamily="34" charset="-122"/>
                          </a:rPr>
                          <m:t>−</m:t>
                        </m:r>
                        <m:r>
                          <a:rPr lang="en-US" altLang="zh-CN" sz="2400" b="1" i="1" kern="100" dirty="0" smtClean="0">
                            <a:latin typeface="Cambria Math" panose="02040503050406030204" pitchFamily="18" charset="0"/>
                            <a:ea typeface="微软雅黑" panose="020B0503020204020204" pitchFamily="34" charset="-122"/>
                          </a:rPr>
                          <m:t>𝒆</m:t>
                        </m:r>
                        <m:r>
                          <a:rPr lang="en-US" altLang="zh-CN" sz="2400" b="1" i="1" kern="100" dirty="0" smtClean="0">
                            <a:latin typeface="Cambria Math" panose="02040503050406030204" pitchFamily="18" charset="0"/>
                            <a:ea typeface="微软雅黑" panose="020B0503020204020204" pitchFamily="34" charset="-122"/>
                          </a:rPr>
                          <m:t>(</m:t>
                        </m:r>
                        <m:r>
                          <a:rPr lang="en-US" altLang="zh-CN" sz="2400" b="1" i="1" kern="100" dirty="0" smtClean="0">
                            <a:latin typeface="Cambria Math" panose="02040503050406030204" pitchFamily="18" charset="0"/>
                            <a:ea typeface="微软雅黑" panose="020B0503020204020204" pitchFamily="34" charset="-122"/>
                          </a:rPr>
                          <m:t>𝒕</m:t>
                        </m:r>
                        <m:r>
                          <a:rPr lang="en-US" altLang="zh-CN" sz="2400" b="1" i="1" kern="100" dirty="0" smtClean="0">
                            <a:latin typeface="Cambria Math" panose="02040503050406030204" pitchFamily="18" charset="0"/>
                            <a:ea typeface="微软雅黑" panose="020B0503020204020204" pitchFamily="34" charset="-122"/>
                          </a:rPr>
                          <m:t>−</m:t>
                        </m:r>
                        <m:r>
                          <a:rPr lang="en-US" altLang="zh-CN" sz="2400" b="1" i="1" kern="100" dirty="0" smtClean="0">
                            <a:latin typeface="Cambria Math" panose="02040503050406030204" pitchFamily="18" charset="0"/>
                            <a:ea typeface="微软雅黑" panose="020B0503020204020204" pitchFamily="34" charset="-122"/>
                          </a:rPr>
                          <m:t>𝟏</m:t>
                        </m:r>
                        <m:r>
                          <a:rPr lang="en-US" altLang="zh-CN" sz="2400" b="1" i="1" kern="100" dirty="0" smtClean="0">
                            <a:latin typeface="Cambria Math" panose="02040503050406030204" pitchFamily="18" charset="0"/>
                            <a:ea typeface="微软雅黑" panose="020B0503020204020204" pitchFamily="34" charset="-122"/>
                          </a:rPr>
                          <m:t>)</m:t>
                        </m:r>
                      </m:e>
                    </m:d>
                  </m:oMath>
                </a14:m>
                <a:r>
                  <a:rPr lang="zh-CN" altLang="en-US" sz="2400" b="1" kern="100" dirty="0">
                    <a:latin typeface="微软雅黑" panose="020B0503020204020204" pitchFamily="34" charset="-122"/>
                    <a:ea typeface="微软雅黑" panose="020B0503020204020204" pitchFamily="34" charset="-122"/>
                    <a:cs typeface="微软雅黑" panose="020B0503020204020204" pitchFamily="34" charset="-122"/>
                  </a:rPr>
                  <a:t>，微分控制项是负数，即在系统中加入一个负数项，用来抑制控制量超过目标。在水箱水位控制的例子当中，加入微分项，可以防止液面高度超过目标高度，因此微分环节可以减少系统控制过程中的振荡。</a:t>
                </a:r>
                <a:endParaRPr kumimoji="0"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a:p>
                <a:pPr indent="457200"/>
                <a:endParaRPr lang="zh-CN" altLang="en-US" sz="2400" b="1" dirty="0">
                  <a:latin typeface="微软雅黑" panose="020B0503020204020204" pitchFamily="34" charset="-122"/>
                  <a:ea typeface="微软雅黑" panose="020B0503020204020204" pitchFamily="34" charset="-122"/>
                  <a:cs typeface="微软雅黑" panose="020B0503020204020204" pitchFamily="34" charset="-122"/>
                </a:endParaRPr>
              </a:p>
            </p:txBody>
          </p:sp>
        </mc:Choice>
        <mc:Fallback xmlns="">
          <p:sp>
            <p:nvSpPr>
              <p:cNvPr id="2" name="文本框 1"/>
              <p:cNvSpPr txBox="1">
                <a:spLocks noRot="1" noChangeAspect="1" noMove="1" noResize="1" noEditPoints="1" noAdjustHandles="1" noChangeArrowheads="1" noChangeShapeType="1" noTextEdit="1"/>
              </p:cNvSpPr>
              <p:nvPr>
                <p:custDataLst>
                  <p:tags r:id="rId4"/>
                </p:custDataLst>
              </p:nvPr>
            </p:nvSpPr>
            <p:spPr>
              <a:xfrm>
                <a:off x="829310" y="1412875"/>
                <a:ext cx="9617075" cy="4439805"/>
              </a:xfrm>
              <a:prstGeom prst="rect">
                <a:avLst/>
              </a:prstGeom>
              <a:blipFill>
                <a:blip r:embed="rId5"/>
                <a:stretch>
                  <a:fillRect l="-951" r="-4119"/>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19673B46-4468-7186-52CE-872D43657C17}"/>
              </a:ext>
            </a:extLst>
          </p:cNvPr>
          <p:cNvSpPr txBox="1"/>
          <p:nvPr/>
        </p:nvSpPr>
        <p:spPr>
          <a:xfrm>
            <a:off x="1737495" y="76200"/>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Times New Roman" panose="02020603050405020304" pitchFamily="18" charset="0"/>
              </a:rPr>
              <a:t>7.1</a:t>
            </a:r>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控制预备知识介绍</a:t>
            </a:r>
          </a:p>
        </p:txBody>
      </p:sp>
      <p:sp>
        <p:nvSpPr>
          <p:cNvPr id="5" name="文本框 4">
            <a:extLst>
              <a:ext uri="{FF2B5EF4-FFF2-40B4-BE49-F238E27FC236}">
                <a16:creationId xmlns:a16="http://schemas.microsoft.com/office/drawing/2014/main" id="{959BEED8-9321-5A71-E2F7-CBDB490003D5}"/>
              </a:ext>
            </a:extLst>
          </p:cNvPr>
          <p:cNvSpPr txBox="1"/>
          <p:nvPr>
            <p:custDataLst>
              <p:tags r:id="rId2"/>
            </p:custDataLst>
          </p:nvPr>
        </p:nvSpPr>
        <p:spPr>
          <a:xfrm>
            <a:off x="73343" y="2968625"/>
            <a:ext cx="3960813" cy="460375"/>
          </a:xfrm>
          <a:prstGeom prst="rect">
            <a:avLst/>
          </a:prstGeom>
          <a:noFill/>
        </p:spPr>
        <p:txBody>
          <a:bodyPr>
            <a:spAutoFit/>
          </a:bodyPr>
          <a:lstStyle/>
          <a:p>
            <a:pPr marR="0" defTabSz="914400">
              <a:buClrTx/>
              <a:buSzTx/>
              <a:buFontTx/>
              <a:buNone/>
              <a:defRPr/>
            </a:pPr>
            <a:r>
              <a:rPr kumimoji="0"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kern="100" dirty="0">
                <a:latin typeface="微软雅黑" panose="020B0503020204020204" pitchFamily="34" charset="-122"/>
                <a:ea typeface="微软雅黑" panose="020B0503020204020204" pitchFamily="34" charset="-122"/>
                <a:cs typeface="微软雅黑" panose="020B0503020204020204" pitchFamily="34" charset="-122"/>
              </a:rPr>
              <a:t>3</a:t>
            </a:r>
            <a:r>
              <a:rPr kumimoji="0" lang="zh-CN" altLang="zh-CN" sz="2400" b="1" kern="1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kern="100" dirty="0">
                <a:latin typeface="微软雅黑" panose="020B0503020204020204" pitchFamily="34" charset="-122"/>
                <a:ea typeface="微软雅黑" panose="020B0503020204020204" pitchFamily="34" charset="-122"/>
                <a:cs typeface="微软雅黑" panose="020B0503020204020204" pitchFamily="34" charset="-122"/>
              </a:rPr>
              <a:t>微分环节</a:t>
            </a:r>
            <a:endParaRPr kumimoji="0" lang="zh-CN" altLang="en-US" sz="2400" kern="1200" cap="none" spc="0" normalizeH="0" baseline="0" noProof="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2567305" y="1472565"/>
            <a:ext cx="6605905" cy="583565"/>
          </a:xfrm>
          <a:prstGeom prst="rect">
            <a:avLst/>
          </a:prstGeom>
          <a:noFill/>
        </p:spPr>
        <p:txBody>
          <a:bodyPr wrap="square">
            <a:spAutoFit/>
          </a:bodyPr>
          <a:lstStyle/>
          <a:p>
            <a:pPr marR="0" algn="ctr" defTabSz="914400">
              <a:spcBef>
                <a:spcPts val="0"/>
              </a:spcBef>
              <a:spcAft>
                <a:spcPts val="0"/>
              </a:spcAft>
              <a:buClrTx/>
              <a:buSzTx/>
              <a:buFontTx/>
              <a:buNone/>
              <a:defRPr/>
            </a:pPr>
            <a:r>
              <a:rPr kumimoji="0" lang="en-US" altLang="zh-CN" sz="3200" b="1" kern="100" cap="none" spc="0" normalizeH="0" baseline="0" noProof="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7.2 </a:t>
            </a:r>
            <a:r>
              <a:rPr kumimoji="0" lang="zh-CN" altLang="zh-CN" sz="3200" b="1" kern="100" cap="none" spc="0" normalizeH="0" baseline="0" noProof="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机器人的控制方法及仿真分析</a:t>
            </a:r>
          </a:p>
        </p:txBody>
      </p:sp>
      <p:sp>
        <p:nvSpPr>
          <p:cNvPr id="7" name="文本框 6"/>
          <p:cNvSpPr txBox="1"/>
          <p:nvPr>
            <p:custDataLst>
              <p:tags r:id="rId2"/>
            </p:custDataLst>
          </p:nvPr>
        </p:nvSpPr>
        <p:spPr>
          <a:xfrm>
            <a:off x="1658302" y="2600960"/>
            <a:ext cx="8423910" cy="3046988"/>
          </a:xfrm>
          <a:prstGeom prst="rect">
            <a:avLst/>
          </a:prstGeom>
          <a:noFill/>
        </p:spPr>
        <p:txBody>
          <a:bodyPr wrap="square">
            <a:spAutoFit/>
          </a:bodyPr>
          <a:lstStyle/>
          <a:p>
            <a:pPr indent="719455" algn="just">
              <a:buNone/>
            </a:pPr>
            <a:r>
              <a:rPr lang="zh-CN" altLang="en-US" sz="2400" b="1" dirty="0">
                <a:latin typeface="微软雅黑" panose="020B0503020204020204" pitchFamily="34" charset="-122"/>
                <a:ea typeface="微软雅黑" panose="020B0503020204020204" pitchFamily="34" charset="-122"/>
                <a:cs typeface="Arial" panose="020B0604020202020204" pitchFamily="34" charset="0"/>
              </a:rPr>
              <a:t>机器人的控制方法可根据控制量处于空间的不同、控制量的不同分为多种类型。按照控制量处于空间的不同，机器人控制可分为关节空间控制和笛卡儿空间控制。对于串联式多关节机器人，关节空间控制是针对机器人各个关节变量进行的控制，笛卡儿空间控制是针对机器人末端变量进行的控制。按照控制量的不同进行分类，机器人控制可以分为位置控制、速度控制、力控制、力位混合控制等。下面对几种常用的控制方法进行简要介绍。</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26730C7-DDCB-4239-F012-98BB4389D17F}"/>
                  </a:ext>
                </a:extLst>
              </p:cNvPr>
              <p:cNvSpPr>
                <a:spLocks noGrp="1"/>
              </p:cNvSpPr>
              <p:nvPr>
                <p:ph idx="1"/>
              </p:nvPr>
            </p:nvSpPr>
            <p:spPr/>
            <p:txBody>
              <a:bodyPr/>
              <a:lstStyle/>
              <a:p>
                <a:pPr marL="0" indent="0">
                  <a:buNone/>
                </a:pPr>
                <a:r>
                  <a:rPr lang="en-US" altLang="zh-CN" sz="2400" b="1" kern="1000" dirty="0">
                    <a:latin typeface="微软雅黑" panose="020B0503020204020204" pitchFamily="34" charset="-122"/>
                    <a:ea typeface="微软雅黑" panose="020B0503020204020204" pitchFamily="34" charset="-122"/>
                  </a:rPr>
                  <a:t>       </a:t>
                </a:r>
                <a:r>
                  <a:rPr lang="zh-CN" altLang="zh-CN" sz="2400" b="1" kern="1000" dirty="0">
                    <a:latin typeface="微软雅黑" panose="020B0503020204020204" pitchFamily="34" charset="-122"/>
                    <a:ea typeface="微软雅黑" panose="020B0503020204020204" pitchFamily="34" charset="-122"/>
                  </a:rPr>
                  <a:t>四足机器人在实际构造中，在单腿关节中，髋关节外摆自由度一般和髋关节横滚自由度在同一个轴上，因此外摆自由度的长度可以简化为</a:t>
                </a:r>
                <a:r>
                  <a:rPr lang="en-US" altLang="zh-CN" sz="2400" b="1" kern="1000" dirty="0">
                    <a:latin typeface="微软雅黑" panose="020B0503020204020204" pitchFamily="34" charset="-122"/>
                    <a:ea typeface="微软雅黑" panose="020B0503020204020204" pitchFamily="34" charset="-122"/>
                  </a:rPr>
                  <a:t>0</a:t>
                </a:r>
                <a:r>
                  <a:rPr lang="zh-CN" altLang="zh-CN" sz="2400" b="1" kern="1000" dirty="0">
                    <a:latin typeface="微软雅黑" panose="020B0503020204020204" pitchFamily="34" charset="-122"/>
                    <a:ea typeface="微软雅黑" panose="020B0503020204020204" pitchFamily="34" charset="-122"/>
                  </a:rPr>
                  <a:t>，从而机器人单腿可以用如下的</a:t>
                </a:r>
                <a:r>
                  <a:rPr lang="en-US" altLang="zh-CN" sz="2400" b="1" kern="1000" dirty="0">
                    <a:latin typeface="微软雅黑" panose="020B0503020204020204" pitchFamily="34" charset="-122"/>
                    <a:ea typeface="微软雅黑" panose="020B0503020204020204" pitchFamily="34" charset="-122"/>
                  </a:rPr>
                  <a:t>3</a:t>
                </a:r>
                <a:r>
                  <a:rPr lang="zh-CN" altLang="zh-CN" sz="2400" b="1" kern="1000" dirty="0">
                    <a:latin typeface="微软雅黑" panose="020B0503020204020204" pitchFamily="34" charset="-122"/>
                    <a:ea typeface="微软雅黑" panose="020B0503020204020204" pitchFamily="34" charset="-122"/>
                  </a:rPr>
                  <a:t>自由度机械手表示。</a:t>
                </a:r>
                <a:endParaRPr lang="en-US" altLang="zh-CN" sz="2400" b="1" kern="1000" dirty="0">
                  <a:latin typeface="微软雅黑" panose="020B0503020204020204" pitchFamily="34" charset="-122"/>
                  <a:ea typeface="微软雅黑" panose="020B0503020204020204" pitchFamily="34" charset="-122"/>
                </a:endParaRPr>
              </a:p>
              <a:p>
                <a:pPr marL="0" indent="0">
                  <a:buNone/>
                </a:pPr>
                <a:r>
                  <a:rPr lang="zh-CN" altLang="en-US" sz="2400" b="1" kern="1000" dirty="0">
                    <a:latin typeface="微软雅黑" panose="020B0503020204020204" pitchFamily="34" charset="-122"/>
                    <a:ea typeface="微软雅黑" panose="020B0503020204020204" pitchFamily="34" charset="-122"/>
                  </a:rPr>
                  <a:t>       机器人关节参数如表</a:t>
                </a:r>
                <a:r>
                  <a:rPr lang="en-US" altLang="zh-CN" sz="2400" b="1" kern="1000" dirty="0">
                    <a:latin typeface="微软雅黑" panose="020B0503020204020204" pitchFamily="34" charset="-122"/>
                    <a:ea typeface="微软雅黑" panose="020B0503020204020204" pitchFamily="34" charset="-122"/>
                  </a:rPr>
                  <a:t>7.1</a:t>
                </a:r>
                <a:r>
                  <a:rPr lang="zh-CN" altLang="en-US" sz="2400" b="1" kern="1000" dirty="0">
                    <a:latin typeface="微软雅黑" panose="020B0503020204020204" pitchFamily="34" charset="-122"/>
                    <a:ea typeface="微软雅黑" panose="020B0503020204020204" pitchFamily="34" charset="-122"/>
                  </a:rPr>
                  <a:t>所示，由相关参数定义和图 </a:t>
                </a:r>
                <a:r>
                  <a:rPr lang="en-US" altLang="zh-CN" sz="2400" b="1" kern="1000" dirty="0">
                    <a:latin typeface="微软雅黑" panose="020B0503020204020204" pitchFamily="34" charset="-122"/>
                    <a:ea typeface="微软雅黑" panose="020B0503020204020204" pitchFamily="34" charset="-122"/>
                  </a:rPr>
                  <a:t>7.4</a:t>
                </a:r>
                <a:r>
                  <a:rPr lang="zh-CN" altLang="en-US" sz="2400" b="1" kern="1000" dirty="0">
                    <a:latin typeface="微软雅黑" panose="020B0503020204020204" pitchFamily="34" charset="-122"/>
                    <a:ea typeface="微软雅黑" panose="020B0503020204020204" pitchFamily="34" charset="-122"/>
                  </a:rPr>
                  <a:t>所示坐标系的定义可知，机械手末端位置坐标位置</a:t>
                </a:r>
                <a14:m>
                  <m:oMath xmlns:m="http://schemas.openxmlformats.org/officeDocument/2006/math">
                    <m:r>
                      <a:rPr lang="en-US" altLang="zh-CN" sz="2400" b="1" i="1" kern="1000" smtClean="0">
                        <a:latin typeface="Cambria Math" panose="02040503050406030204" pitchFamily="18" charset="0"/>
                        <a:ea typeface="微软雅黑" panose="020B0503020204020204" pitchFamily="34" charset="-122"/>
                      </a:rPr>
                      <m:t>𝒑</m:t>
                    </m:r>
                  </m:oMath>
                </a14:m>
                <a:r>
                  <a:rPr lang="zh-CN" altLang="en-US" sz="2400" b="1" kern="1000" dirty="0">
                    <a:latin typeface="微软雅黑" panose="020B0503020204020204" pitchFamily="34" charset="-122"/>
                    <a:ea typeface="微软雅黑" panose="020B0503020204020204" pitchFamily="34" charset="-122"/>
                  </a:rPr>
                  <a:t> 可表示为</a:t>
                </a:r>
                <a:endParaRPr lang="en-US" altLang="zh-CN" sz="2400" b="1" kern="1000" dirty="0">
                  <a:latin typeface="微软雅黑" panose="020B0503020204020204" pitchFamily="34" charset="-122"/>
                  <a:ea typeface="微软雅黑" panose="020B0503020204020204" pitchFamily="34" charset="-122"/>
                </a:endParaRPr>
              </a:p>
              <a:p>
                <a:pPr marL="0" indent="0">
                  <a:buNone/>
                </a:pPr>
                <a:endParaRPr lang="zh-CN" altLang="en-US" sz="2400" b="1" kern="1000" dirty="0">
                  <a:latin typeface="微软雅黑" panose="020B0503020204020204" pitchFamily="34" charset="-122"/>
                  <a:ea typeface="微软雅黑" panose="020B0503020204020204" pitchFamily="34" charset="-122"/>
                </a:endParaRPr>
              </a:p>
            </p:txBody>
          </p:sp>
        </mc:Choice>
        <mc:Fallback xmlns="">
          <p:sp>
            <p:nvSpPr>
              <p:cNvPr id="3" name="内容占位符 2">
                <a:extLst>
                  <a:ext uri="{FF2B5EF4-FFF2-40B4-BE49-F238E27FC236}">
                    <a16:creationId xmlns:a16="http://schemas.microsoft.com/office/drawing/2014/main" id="{F26730C7-DDCB-4239-F012-98BB4389D17F}"/>
                  </a:ext>
                </a:extLst>
              </p:cNvPr>
              <p:cNvSpPr>
                <a:spLocks noGrp="1" noRot="1" noChangeAspect="1" noMove="1" noResize="1" noEditPoints="1" noAdjustHandles="1" noChangeArrowheads="1" noChangeShapeType="1" noTextEdit="1"/>
              </p:cNvSpPr>
              <p:nvPr>
                <p:ph idx="1"/>
              </p:nvPr>
            </p:nvSpPr>
            <p:spPr>
              <a:blipFill>
                <a:blip r:embed="rId3"/>
                <a:stretch>
                  <a:fillRect l="-928" t="-1961" r="-58"/>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E6A7F8B4-D84F-2732-FB9C-B7ABAFB08EFF}"/>
              </a:ext>
            </a:extLst>
          </p:cNvPr>
          <p:cNvSpPr txBox="1"/>
          <p:nvPr>
            <p:custDataLst>
              <p:tags r:id="rId1"/>
            </p:custDataLst>
          </p:nvPr>
        </p:nvSpPr>
        <p:spPr>
          <a:xfrm>
            <a:off x="1395413" y="109635"/>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7.2.1</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机器人动力学模型</a:t>
            </a:r>
          </a:p>
        </p:txBody>
      </p:sp>
      <p:sp>
        <p:nvSpPr>
          <p:cNvPr id="6" name="文本框 5">
            <a:extLst>
              <a:ext uri="{FF2B5EF4-FFF2-40B4-BE49-F238E27FC236}">
                <a16:creationId xmlns:a16="http://schemas.microsoft.com/office/drawing/2014/main" id="{9CA7803D-2214-8ADB-04D7-3A009E9148BA}"/>
              </a:ext>
            </a:extLst>
          </p:cNvPr>
          <p:cNvSpPr txBox="1"/>
          <p:nvPr/>
        </p:nvSpPr>
        <p:spPr>
          <a:xfrm>
            <a:off x="714375" y="923925"/>
            <a:ext cx="10706100" cy="830997"/>
          </a:xfrm>
          <a:prstGeom prst="rect">
            <a:avLst/>
          </a:prstGeom>
          <a:noFill/>
        </p:spPr>
        <p:txBody>
          <a:bodyPr wrap="square" rtlCol="0">
            <a:spAutoFit/>
          </a:bodyPr>
          <a:lstStyle/>
          <a:p>
            <a:pPr indent="269875"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在介绍机器人的控制方法之前，首先给出机器人单腿动力学模型的简化形式、相关性质和回归方程描述，以便为后续的控制提供相应的模型和理论基础。</a:t>
            </a:r>
          </a:p>
        </p:txBody>
      </p:sp>
      <mc:AlternateContent xmlns:mc="http://schemas.openxmlformats.org/markup-compatibility/2006" xmlns:a14="http://schemas.microsoft.com/office/drawing/2010/main">
        <mc:Choice Requires="a14">
          <p:sp>
            <p:nvSpPr>
              <p:cNvPr id="10" name="对象 9">
                <a:extLst>
                  <a:ext uri="{FF2B5EF4-FFF2-40B4-BE49-F238E27FC236}">
                    <a16:creationId xmlns:a16="http://schemas.microsoft.com/office/drawing/2014/main" id="{F7CEF506-99B7-C759-49AC-FDF8B89D5D44}"/>
                  </a:ext>
                </a:extLst>
              </p:cNvPr>
              <p:cNvSpPr txBox="1"/>
              <p:nvPr/>
            </p:nvSpPr>
            <p:spPr>
              <a:xfrm>
                <a:off x="836613" y="4140994"/>
                <a:ext cx="4622800" cy="2206625"/>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lang="zh-CN" altLang="en-US" sz="2400" b="1" i="1">
                          <a:solidFill>
                            <a:srgbClr val="000000"/>
                          </a:solidFill>
                          <a:latin typeface="Cambria Math" panose="02040503050406030204" pitchFamily="18" charset="0"/>
                        </a:rPr>
                        <m:t>𝑷</m:t>
                      </m:r>
                      <m:r>
                        <a:rPr lang="zh-CN" altLang="en-US" sz="2400" b="1" i="1">
                          <a:solidFill>
                            <a:srgbClr val="000000"/>
                          </a:solidFill>
                          <a:latin typeface="Cambria Math" panose="02040503050406030204" pitchFamily="18" charset="0"/>
                        </a:rPr>
                        <m:t>=</m:t>
                      </m:r>
                      <m:d>
                        <m:dPr>
                          <m:begChr m:val="["/>
                          <m:endChr m:val="]"/>
                          <m:ctrlPr>
                            <a:rPr lang="zh-CN" altLang="zh-CN" sz="2400" b="1" i="1">
                              <a:latin typeface="Cambria Math" panose="02040503050406030204" pitchFamily="18" charset="0"/>
                            </a:rPr>
                          </m:ctrlPr>
                        </m:dPr>
                        <m:e>
                          <m:m>
                            <m:mPr>
                              <m:mcs>
                                <m:mc>
                                  <m:mcPr>
                                    <m:count m:val="1"/>
                                    <m:mcJc m:val="center"/>
                                  </m:mcPr>
                                </m:mc>
                              </m:mcs>
                              <m:ctrlPr>
                                <a:rPr lang="zh-CN" altLang="zh-CN" sz="2400" b="1" i="1">
                                  <a:latin typeface="Cambria Math" panose="02040503050406030204" pitchFamily="18" charset="0"/>
                                </a:rPr>
                              </m:ctrlPr>
                            </m:mPr>
                            <m:mr>
                              <m:e>
                                <m:sSub>
                                  <m:sSubPr>
                                    <m:ctrlPr>
                                      <a:rPr lang="zh-CN" altLang="zh-CN" sz="2400" b="1" i="1">
                                        <a:latin typeface="Cambria Math" panose="02040503050406030204" pitchFamily="18" charset="0"/>
                                      </a:rPr>
                                    </m:ctrlPr>
                                  </m:sSubPr>
                                  <m:e>
                                    <m:r>
                                      <a:rPr lang="en-US" altLang="zh-CN" sz="2400" b="1" i="1">
                                        <a:latin typeface="Cambria Math" panose="02040503050406030204" pitchFamily="18" charset="0"/>
                                      </a:rPr>
                                      <m:t>𝒑</m:t>
                                    </m:r>
                                  </m:e>
                                  <m:sub>
                                    <m:r>
                                      <a:rPr lang="en-US" altLang="zh-CN" sz="2400" b="1" i="1">
                                        <a:latin typeface="Cambria Math" panose="02040503050406030204" pitchFamily="18" charset="0"/>
                                      </a:rPr>
                                      <m:t>𝒙</m:t>
                                    </m:r>
                                  </m:sub>
                                </m:sSub>
                              </m:e>
                            </m:mr>
                            <m:mr>
                              <m:e>
                                <m:sSub>
                                  <m:sSubPr>
                                    <m:ctrlPr>
                                      <a:rPr lang="zh-CN" altLang="zh-CN" sz="2400" b="1" i="1">
                                        <a:latin typeface="Cambria Math" panose="02040503050406030204" pitchFamily="18" charset="0"/>
                                      </a:rPr>
                                    </m:ctrlPr>
                                  </m:sSubPr>
                                  <m:e>
                                    <m:r>
                                      <a:rPr lang="en-US" altLang="zh-CN" sz="2400" b="1" i="1">
                                        <a:latin typeface="Cambria Math" panose="02040503050406030204" pitchFamily="18" charset="0"/>
                                      </a:rPr>
                                      <m:t>𝒑</m:t>
                                    </m:r>
                                  </m:e>
                                  <m:sub>
                                    <m:r>
                                      <a:rPr lang="en-US" altLang="zh-CN" sz="2400" b="1" i="1">
                                        <a:latin typeface="Cambria Math" panose="02040503050406030204" pitchFamily="18" charset="0"/>
                                      </a:rPr>
                                      <m:t>𝒚</m:t>
                                    </m:r>
                                  </m:sub>
                                </m:sSub>
                              </m:e>
                            </m:mr>
                            <m:mr>
                              <m:e>
                                <m:sSub>
                                  <m:sSubPr>
                                    <m:ctrlPr>
                                      <a:rPr lang="zh-CN" altLang="zh-CN" sz="2400" b="1" i="1">
                                        <a:latin typeface="Cambria Math" panose="02040503050406030204" pitchFamily="18" charset="0"/>
                                      </a:rPr>
                                    </m:ctrlPr>
                                  </m:sSubPr>
                                  <m:e>
                                    <m:r>
                                      <a:rPr lang="en-US" altLang="zh-CN" sz="2400" b="1" i="1">
                                        <a:latin typeface="Cambria Math" panose="02040503050406030204" pitchFamily="18" charset="0"/>
                                      </a:rPr>
                                      <m:t>𝒑</m:t>
                                    </m:r>
                                  </m:e>
                                  <m:sub>
                                    <m:r>
                                      <a:rPr lang="en-US" altLang="zh-CN" sz="2400" b="1" i="1">
                                        <a:latin typeface="Cambria Math" panose="02040503050406030204" pitchFamily="18" charset="0"/>
                                      </a:rPr>
                                      <m:t>𝒛</m:t>
                                    </m:r>
                                  </m:sub>
                                </m:sSub>
                              </m:e>
                            </m:mr>
                          </m:m>
                        </m:e>
                      </m:d>
                      <m:r>
                        <a:rPr lang="zh-CN" altLang="en-US" sz="2400" b="1" i="1">
                          <a:solidFill>
                            <a:srgbClr val="000000"/>
                          </a:solidFill>
                          <a:latin typeface="Cambria Math" panose="02040503050406030204" pitchFamily="18" charset="0"/>
                        </a:rPr>
                        <m:t>=</m:t>
                      </m:r>
                      <m:d>
                        <m:dPr>
                          <m:begChr m:val="["/>
                          <m:endChr m:val="]"/>
                          <m:ctrlPr>
                            <a:rPr lang="zh-CN" altLang="en-US" sz="2400" b="1" i="1">
                              <a:solidFill>
                                <a:srgbClr val="000000"/>
                              </a:solidFill>
                              <a:latin typeface="Cambria Math" panose="02040503050406030204" pitchFamily="18" charset="0"/>
                            </a:rPr>
                          </m:ctrlPr>
                        </m:dPr>
                        <m:e>
                          <m:m>
                            <m:mPr>
                              <m:plcHide m:val="on"/>
                              <m:mcs>
                                <m:mc>
                                  <m:mcPr>
                                    <m:count m:val="1"/>
                                    <m:mcJc m:val="center"/>
                                  </m:mcPr>
                                </m:mc>
                              </m:mcs>
                              <m:ctrlPr>
                                <a:rPr lang="zh-CN" altLang="en-US" sz="2400" b="1" i="1">
                                  <a:solidFill>
                                    <a:srgbClr val="000000"/>
                                  </a:solidFill>
                                  <a:latin typeface="Cambria Math" panose="02040503050406030204" pitchFamily="18" charset="0"/>
                                </a:rPr>
                              </m:ctrlPr>
                            </m:mPr>
                            <m:mr>
                              <m:e>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𝒍</m:t>
                                    </m:r>
                                  </m:e>
                                  <m:sub>
                                    <m:r>
                                      <a:rPr lang="zh-CN" altLang="en-US" sz="2400" b="1" i="1">
                                        <a:solidFill>
                                          <a:srgbClr val="000000"/>
                                        </a:solidFill>
                                        <a:latin typeface="Cambria Math" panose="02040503050406030204" pitchFamily="18" charset="0"/>
                                      </a:rPr>
                                      <m:t>𝟏</m:t>
                                    </m:r>
                                  </m:sub>
                                </m:sSub>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𝒄</m:t>
                                    </m:r>
                                  </m:e>
                                  <m:sub>
                                    <m:r>
                                      <a:rPr lang="zh-CN" altLang="en-US" sz="2400" b="1" i="1">
                                        <a:solidFill>
                                          <a:srgbClr val="000000"/>
                                        </a:solidFill>
                                        <a:latin typeface="Cambria Math" panose="02040503050406030204" pitchFamily="18" charset="0"/>
                                      </a:rPr>
                                      <m:t>𝟏</m:t>
                                    </m:r>
                                  </m:sub>
                                </m:sSub>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𝒄</m:t>
                                    </m:r>
                                  </m:e>
                                  <m:sub>
                                    <m:r>
                                      <a:rPr lang="zh-CN" altLang="en-US" sz="2400" b="1" i="1">
                                        <a:solidFill>
                                          <a:srgbClr val="000000"/>
                                        </a:solidFill>
                                        <a:latin typeface="Cambria Math" panose="02040503050406030204" pitchFamily="18" charset="0"/>
                                      </a:rPr>
                                      <m:t>𝟐</m:t>
                                    </m:r>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𝒍</m:t>
                                    </m:r>
                                  </m:e>
                                  <m:sub>
                                    <m:r>
                                      <a:rPr lang="zh-CN" altLang="en-US" sz="2400" b="1" i="1">
                                        <a:solidFill>
                                          <a:srgbClr val="000000"/>
                                        </a:solidFill>
                                        <a:latin typeface="Cambria Math" panose="02040503050406030204" pitchFamily="18" charset="0"/>
                                      </a:rPr>
                                      <m:t>𝟐</m:t>
                                    </m:r>
                                  </m:sub>
                                </m:sSub>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𝒄</m:t>
                                    </m:r>
                                  </m:e>
                                  <m:sub>
                                    <m:r>
                                      <a:rPr lang="zh-CN" altLang="en-US" sz="2400" b="1" i="1">
                                        <a:solidFill>
                                          <a:srgbClr val="000000"/>
                                        </a:solidFill>
                                        <a:latin typeface="Cambria Math" panose="02040503050406030204" pitchFamily="18" charset="0"/>
                                      </a:rPr>
                                      <m:t>𝟏</m:t>
                                    </m:r>
                                  </m:sub>
                                </m:sSub>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𝒄</m:t>
                                    </m:r>
                                  </m:e>
                                  <m:sub>
                                    <m:r>
                                      <a:rPr lang="zh-CN" altLang="en-US" sz="2400" b="1" i="1">
                                        <a:solidFill>
                                          <a:srgbClr val="000000"/>
                                        </a:solidFill>
                                        <a:latin typeface="Cambria Math" panose="02040503050406030204" pitchFamily="18" charset="0"/>
                                      </a:rPr>
                                      <m:t>𝟐𝟑</m:t>
                                    </m:r>
                                  </m:sub>
                                </m:sSub>
                              </m:e>
                            </m:mr>
                            <m:mr>
                              <m:e>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𝒍</m:t>
                                    </m:r>
                                  </m:e>
                                  <m:sub>
                                    <m:r>
                                      <a:rPr lang="zh-CN" altLang="en-US" sz="2400" b="1" i="1">
                                        <a:solidFill>
                                          <a:srgbClr val="000000"/>
                                        </a:solidFill>
                                        <a:latin typeface="Cambria Math" panose="02040503050406030204" pitchFamily="18" charset="0"/>
                                      </a:rPr>
                                      <m:t>𝟏</m:t>
                                    </m:r>
                                  </m:sub>
                                </m:sSub>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𝒔</m:t>
                                    </m:r>
                                  </m:e>
                                  <m:sub>
                                    <m:r>
                                      <a:rPr lang="zh-CN" altLang="en-US" sz="2400" b="1" i="1">
                                        <a:solidFill>
                                          <a:srgbClr val="000000"/>
                                        </a:solidFill>
                                        <a:latin typeface="Cambria Math" panose="02040503050406030204" pitchFamily="18" charset="0"/>
                                      </a:rPr>
                                      <m:t>𝟏</m:t>
                                    </m:r>
                                  </m:sub>
                                </m:sSub>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𝒄</m:t>
                                    </m:r>
                                  </m:e>
                                  <m:sub>
                                    <m:r>
                                      <a:rPr lang="zh-CN" altLang="en-US" sz="2400" b="1" i="1">
                                        <a:solidFill>
                                          <a:srgbClr val="000000"/>
                                        </a:solidFill>
                                        <a:latin typeface="Cambria Math" panose="02040503050406030204" pitchFamily="18" charset="0"/>
                                      </a:rPr>
                                      <m:t>𝟐</m:t>
                                    </m:r>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𝒍</m:t>
                                    </m:r>
                                  </m:e>
                                  <m:sub>
                                    <m:r>
                                      <a:rPr lang="zh-CN" altLang="en-US" sz="2400" b="1" i="1">
                                        <a:solidFill>
                                          <a:srgbClr val="000000"/>
                                        </a:solidFill>
                                        <a:latin typeface="Cambria Math" panose="02040503050406030204" pitchFamily="18" charset="0"/>
                                      </a:rPr>
                                      <m:t>𝟐</m:t>
                                    </m:r>
                                  </m:sub>
                                </m:sSub>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𝒔</m:t>
                                    </m:r>
                                  </m:e>
                                  <m:sub>
                                    <m:r>
                                      <a:rPr lang="zh-CN" altLang="en-US" sz="2400" b="1" i="1">
                                        <a:solidFill>
                                          <a:srgbClr val="000000"/>
                                        </a:solidFill>
                                        <a:latin typeface="Cambria Math" panose="02040503050406030204" pitchFamily="18" charset="0"/>
                                      </a:rPr>
                                      <m:t>𝟏</m:t>
                                    </m:r>
                                  </m:sub>
                                </m:sSub>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𝒄</m:t>
                                    </m:r>
                                  </m:e>
                                  <m:sub>
                                    <m:r>
                                      <a:rPr lang="zh-CN" altLang="en-US" sz="2400" b="1" i="1">
                                        <a:solidFill>
                                          <a:srgbClr val="000000"/>
                                        </a:solidFill>
                                        <a:latin typeface="Cambria Math" panose="02040503050406030204" pitchFamily="18" charset="0"/>
                                      </a:rPr>
                                      <m:t>𝟐𝟑</m:t>
                                    </m:r>
                                  </m:sub>
                                </m:sSub>
                              </m:e>
                            </m:mr>
                            <m:mr>
                              <m:e>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𝒍</m:t>
                                    </m:r>
                                  </m:e>
                                  <m:sub>
                                    <m:r>
                                      <a:rPr lang="zh-CN" altLang="en-US" sz="2400" b="1" i="1">
                                        <a:solidFill>
                                          <a:srgbClr val="000000"/>
                                        </a:solidFill>
                                        <a:latin typeface="Cambria Math" panose="02040503050406030204" pitchFamily="18" charset="0"/>
                                      </a:rPr>
                                      <m:t>𝟏</m:t>
                                    </m:r>
                                  </m:sub>
                                </m:sSub>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𝒔</m:t>
                                    </m:r>
                                  </m:e>
                                  <m:sub>
                                    <m:r>
                                      <a:rPr lang="zh-CN" altLang="en-US" sz="2400" b="1" i="1">
                                        <a:solidFill>
                                          <a:srgbClr val="000000"/>
                                        </a:solidFill>
                                        <a:latin typeface="Cambria Math" panose="02040503050406030204" pitchFamily="18" charset="0"/>
                                      </a:rPr>
                                      <m:t>𝟐</m:t>
                                    </m:r>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𝒍</m:t>
                                    </m:r>
                                  </m:e>
                                  <m:sub>
                                    <m:r>
                                      <a:rPr lang="zh-CN" altLang="en-US" sz="2400" b="1" i="1">
                                        <a:solidFill>
                                          <a:srgbClr val="000000"/>
                                        </a:solidFill>
                                        <a:latin typeface="Cambria Math" panose="02040503050406030204" pitchFamily="18" charset="0"/>
                                      </a:rPr>
                                      <m:t>𝟐</m:t>
                                    </m:r>
                                  </m:sub>
                                </m:sSub>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𝒔</m:t>
                                    </m:r>
                                  </m:e>
                                  <m:sub>
                                    <m:r>
                                      <a:rPr lang="zh-CN" altLang="en-US" sz="2400" b="1" i="1">
                                        <a:solidFill>
                                          <a:srgbClr val="000000"/>
                                        </a:solidFill>
                                        <a:latin typeface="Cambria Math" panose="02040503050406030204" pitchFamily="18" charset="0"/>
                                      </a:rPr>
                                      <m:t>𝟐𝟑</m:t>
                                    </m:r>
                                  </m:sub>
                                </m:sSub>
                              </m:e>
                            </m:mr>
                          </m:m>
                        </m:e>
                      </m:d>
                    </m:oMath>
                  </m:oMathPara>
                </a14:m>
                <a:endParaRPr lang="zh-CN" altLang="en-US" sz="2400" b="1" dirty="0">
                  <a:latin typeface="微软雅黑" panose="020B0503020204020204" pitchFamily="34" charset="-122"/>
                  <a:ea typeface="微软雅黑" panose="020B0503020204020204" pitchFamily="34" charset="-122"/>
                </a:endParaRPr>
              </a:p>
            </p:txBody>
          </p:sp>
        </mc:Choice>
        <mc:Fallback xmlns="">
          <p:sp>
            <p:nvSpPr>
              <p:cNvPr id="10" name="对象 9">
                <a:extLst>
                  <a:ext uri="{FF2B5EF4-FFF2-40B4-BE49-F238E27FC236}">
                    <a16:creationId xmlns:a16="http://schemas.microsoft.com/office/drawing/2014/main" id="{F7CEF506-99B7-C759-49AC-FDF8B89D5D44}"/>
                  </a:ext>
                </a:extLst>
              </p:cNvPr>
              <p:cNvSpPr txBox="1">
                <a:spLocks noRot="1" noChangeAspect="1" noMove="1" noResize="1" noEditPoints="1" noAdjustHandles="1" noChangeArrowheads="1" noChangeShapeType="1" noTextEdit="1"/>
              </p:cNvSpPr>
              <p:nvPr/>
            </p:nvSpPr>
            <p:spPr>
              <a:xfrm>
                <a:off x="836613" y="4140994"/>
                <a:ext cx="4622800" cy="220662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对象 11">
                <a:extLst>
                  <a:ext uri="{FF2B5EF4-FFF2-40B4-BE49-F238E27FC236}">
                    <a16:creationId xmlns:a16="http://schemas.microsoft.com/office/drawing/2014/main" id="{7DA2D6AB-7DAF-2F42-C896-BD258BD9C83F}"/>
                  </a:ext>
                </a:extLst>
              </p:cNvPr>
              <p:cNvSpPr txBox="1"/>
              <p:nvPr/>
            </p:nvSpPr>
            <p:spPr>
              <a:xfrm>
                <a:off x="976313" y="5934075"/>
                <a:ext cx="9553575" cy="5842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其中，</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𝑠</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func>
                        <m:funcPr>
                          <m:ctrlPr>
                            <a:rPr lang="zh-CN" altLang="en-US" sz="2400" i="1">
                              <a:solidFill>
                                <a:srgbClr val="000000"/>
                              </a:solidFill>
                              <a:latin typeface="Cambria Math" panose="02040503050406030204" pitchFamily="18" charset="0"/>
                            </a:rPr>
                          </m:ctrlPr>
                        </m:funcPr>
                        <m:fName>
                          <m:r>
                            <m:rPr>
                              <m:sty m:val="p"/>
                            </m:rPr>
                            <a:rPr lang="zh-CN" altLang="en-US" sz="2400" i="0">
                              <a:solidFill>
                                <a:srgbClr val="000000"/>
                              </a:solidFill>
                              <a:latin typeface="Cambria Math" panose="02040503050406030204" pitchFamily="18" charset="0"/>
                            </a:rPr>
                            <m:t>sin</m:t>
                          </m:r>
                        </m:fName>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𝜃</m:t>
                              </m:r>
                            </m:e>
                            <m:sub>
                              <m:r>
                                <a:rPr lang="zh-CN" altLang="en-US" sz="2400" i="1">
                                  <a:solidFill>
                                    <a:srgbClr val="000000"/>
                                  </a:solidFill>
                                  <a:latin typeface="Cambria Math" panose="02040503050406030204" pitchFamily="18" charset="0"/>
                                </a:rPr>
                                <m:t>𝑖</m:t>
                              </m:r>
                            </m:sub>
                          </m:sSub>
                        </m:e>
                      </m:func>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𝑐</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func>
                        <m:funcPr>
                          <m:ctrlPr>
                            <a:rPr lang="zh-CN" altLang="en-US" sz="2400" i="1">
                              <a:solidFill>
                                <a:srgbClr val="000000"/>
                              </a:solidFill>
                              <a:latin typeface="Cambria Math" panose="02040503050406030204" pitchFamily="18" charset="0"/>
                            </a:rPr>
                          </m:ctrlPr>
                        </m:funcPr>
                        <m:fName>
                          <m:r>
                            <m:rPr>
                              <m:sty m:val="p"/>
                            </m:rPr>
                            <a:rPr lang="zh-CN" altLang="en-US" sz="2400" i="0">
                              <a:solidFill>
                                <a:srgbClr val="000000"/>
                              </a:solidFill>
                              <a:latin typeface="Cambria Math" panose="02040503050406030204" pitchFamily="18" charset="0"/>
                            </a:rPr>
                            <m:t>cos</m:t>
                          </m:r>
                        </m:fName>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𝜃</m:t>
                              </m:r>
                            </m:e>
                            <m:sub>
                              <m:r>
                                <a:rPr lang="zh-CN" altLang="en-US" sz="2400" i="1">
                                  <a:solidFill>
                                    <a:srgbClr val="000000"/>
                                  </a:solidFill>
                                  <a:latin typeface="Cambria Math" panose="02040503050406030204" pitchFamily="18" charset="0"/>
                                </a:rPr>
                                <m:t>𝑖</m:t>
                              </m:r>
                            </m:sub>
                          </m:sSub>
                        </m:e>
                      </m:func>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𝑠</m:t>
                          </m:r>
                        </m:e>
                        <m:sub>
                          <m:r>
                            <a:rPr lang="zh-CN" altLang="en-US" sz="2400" i="1">
                              <a:solidFill>
                                <a:srgbClr val="000000"/>
                              </a:solidFill>
                              <a:latin typeface="Cambria Math" panose="02040503050406030204" pitchFamily="18" charset="0"/>
                            </a:rPr>
                            <m:t>𝑖𝑗</m:t>
                          </m:r>
                        </m:sub>
                      </m:sSub>
                      <m:r>
                        <a:rPr lang="zh-CN" altLang="en-US" sz="2400" i="1">
                          <a:solidFill>
                            <a:srgbClr val="000000"/>
                          </a:solidFill>
                          <a:latin typeface="Cambria Math" panose="02040503050406030204" pitchFamily="18" charset="0"/>
                        </a:rPr>
                        <m:t>=</m:t>
                      </m:r>
                      <m:func>
                        <m:funcPr>
                          <m:ctrlPr>
                            <a:rPr lang="zh-CN" altLang="en-US" sz="2400" i="1">
                              <a:solidFill>
                                <a:srgbClr val="000000"/>
                              </a:solidFill>
                              <a:latin typeface="Cambria Math" panose="02040503050406030204" pitchFamily="18" charset="0"/>
                            </a:rPr>
                          </m:ctrlPr>
                        </m:funcPr>
                        <m:fName>
                          <m:r>
                            <m:rPr>
                              <m:sty m:val="p"/>
                            </m:rPr>
                            <a:rPr lang="zh-CN" altLang="en-US" sz="2400" i="0">
                              <a:solidFill>
                                <a:srgbClr val="000000"/>
                              </a:solidFill>
                              <a:latin typeface="Cambria Math" panose="02040503050406030204" pitchFamily="18" charset="0"/>
                            </a:rPr>
                            <m:t>sin</m:t>
                          </m:r>
                        </m:fName>
                        <m:e>
                          <m:r>
                            <a:rPr lang="zh-CN" altLang="en-US" sz="2400" i="1">
                              <a:solidFill>
                                <a:srgbClr val="000000"/>
                              </a:solidFill>
                              <a:latin typeface="Cambria Math" panose="02040503050406030204" pitchFamily="18" charset="0"/>
                            </a:rPr>
                            <m:t>(</m:t>
                          </m:r>
                        </m:e>
                      </m:func>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𝜃</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𝜃</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𝑐</m:t>
                          </m:r>
                        </m:e>
                        <m:sub>
                          <m:r>
                            <a:rPr lang="zh-CN" altLang="en-US" sz="2400" i="1">
                              <a:solidFill>
                                <a:srgbClr val="000000"/>
                              </a:solidFill>
                              <a:latin typeface="Cambria Math" panose="02040503050406030204" pitchFamily="18" charset="0"/>
                            </a:rPr>
                            <m:t>𝑖𝑗</m:t>
                          </m:r>
                        </m:sub>
                      </m:sSub>
                      <m:r>
                        <a:rPr lang="zh-CN" altLang="en-US" sz="2400" i="1">
                          <a:solidFill>
                            <a:srgbClr val="000000"/>
                          </a:solidFill>
                          <a:latin typeface="Cambria Math" panose="02040503050406030204" pitchFamily="18" charset="0"/>
                        </a:rPr>
                        <m:t>=</m:t>
                      </m:r>
                      <m:func>
                        <m:funcPr>
                          <m:ctrlPr>
                            <a:rPr lang="zh-CN" altLang="en-US" sz="2400" i="1">
                              <a:solidFill>
                                <a:srgbClr val="000000"/>
                              </a:solidFill>
                              <a:latin typeface="Cambria Math" panose="02040503050406030204" pitchFamily="18" charset="0"/>
                            </a:rPr>
                          </m:ctrlPr>
                        </m:funcPr>
                        <m:fName>
                          <m:r>
                            <m:rPr>
                              <m:sty m:val="p"/>
                            </m:rPr>
                            <a:rPr lang="zh-CN" altLang="en-US" sz="2400" i="0">
                              <a:solidFill>
                                <a:srgbClr val="000000"/>
                              </a:solidFill>
                              <a:latin typeface="Cambria Math" panose="02040503050406030204" pitchFamily="18" charset="0"/>
                            </a:rPr>
                            <m:t>cos</m:t>
                          </m:r>
                        </m:fName>
                        <m:e>
                          <m:r>
                            <a:rPr lang="zh-CN" altLang="en-US" sz="2400" i="1">
                              <a:solidFill>
                                <a:srgbClr val="000000"/>
                              </a:solidFill>
                              <a:latin typeface="Cambria Math" panose="02040503050406030204" pitchFamily="18" charset="0"/>
                            </a:rPr>
                            <m:t>(</m:t>
                          </m:r>
                        </m:e>
                      </m:func>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𝜃</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𝜃</m:t>
                          </m:r>
                        </m:e>
                        <m:sub>
                          <m:r>
                            <a:rPr lang="zh-CN" altLang="en-US" sz="2400" i="1">
                              <a:solidFill>
                                <a:srgbClr val="000000"/>
                              </a:solidFill>
                              <a:latin typeface="Cambria Math" panose="02040503050406030204" pitchFamily="18" charset="0"/>
                            </a:rPr>
                            <m:t>𝑗</m:t>
                          </m:r>
                        </m:sub>
                      </m:sSub>
                      <m:r>
                        <a:rPr lang="zh-CN" altLang="en-US" sz="2400" i="1">
                          <a:solidFill>
                            <a:srgbClr val="000000"/>
                          </a:solidFill>
                          <a:latin typeface="Cambria Math" panose="02040503050406030204" pitchFamily="18" charset="0"/>
                        </a:rPr>
                        <m:t>)</m:t>
                      </m:r>
                    </m:oMath>
                  </m:oMathPara>
                </a14:m>
                <a:endParaRPr lang="zh-CN" altLang="en-US" sz="2400" dirty="0"/>
              </a:p>
            </p:txBody>
          </p:sp>
        </mc:Choice>
        <mc:Fallback xmlns="">
          <p:sp>
            <p:nvSpPr>
              <p:cNvPr id="12" name="对象 11">
                <a:extLst>
                  <a:ext uri="{FF2B5EF4-FFF2-40B4-BE49-F238E27FC236}">
                    <a16:creationId xmlns:a16="http://schemas.microsoft.com/office/drawing/2014/main" id="{7DA2D6AB-7DAF-2F42-C896-BD258BD9C83F}"/>
                  </a:ext>
                </a:extLst>
              </p:cNvPr>
              <p:cNvSpPr txBox="1">
                <a:spLocks noRot="1" noChangeAspect="1" noMove="1" noResize="1" noEditPoints="1" noAdjustHandles="1" noChangeArrowheads="1" noChangeShapeType="1" noTextEdit="1"/>
              </p:cNvSpPr>
              <p:nvPr/>
            </p:nvSpPr>
            <p:spPr>
              <a:xfrm>
                <a:off x="976313" y="5934075"/>
                <a:ext cx="9553575" cy="584200"/>
              </a:xfrm>
              <a:prstGeom prst="rect">
                <a:avLst/>
              </a:prstGeom>
              <a:blipFill>
                <a:blip r:embed="rId5"/>
                <a:stretch>
                  <a:fillRect l="-574"/>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2C360B56-B43A-A557-69C5-AA3E2F086CDF}"/>
              </a:ext>
            </a:extLst>
          </p:cNvPr>
          <p:cNvSpPr txBox="1"/>
          <p:nvPr/>
        </p:nvSpPr>
        <p:spPr>
          <a:xfrm>
            <a:off x="5595937" y="4442678"/>
            <a:ext cx="3124200" cy="461665"/>
          </a:xfrm>
          <a:prstGeom prst="rect">
            <a:avLst/>
          </a:prstGeom>
          <a:noFill/>
        </p:spPr>
        <p:txBody>
          <a:bodyPr wrap="square" rtlCol="0">
            <a:spAutoFit/>
          </a:bodyPr>
          <a:lstStyle/>
          <a:p>
            <a:r>
              <a:rPr lang="en-US" altLang="zh-CN" sz="2400" b="1" dirty="0"/>
              <a:t>(7.1)</a:t>
            </a:r>
            <a:endParaRPr lang="zh-CN" altLang="en-US" sz="2400" b="1" dirty="0"/>
          </a:p>
        </p:txBody>
      </p:sp>
    </p:spTree>
    <p:extLst>
      <p:ext uri="{BB962C8B-B14F-4D97-AF65-F5344CB8AC3E}">
        <p14:creationId xmlns:p14="http://schemas.microsoft.com/office/powerpoint/2010/main" val="12239402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062331B-F51A-0180-74D9-2A9081EF90A1}"/>
              </a:ext>
            </a:extLst>
          </p:cNvPr>
          <p:cNvSpPr txBox="1"/>
          <p:nvPr>
            <p:custDataLst>
              <p:tags r:id="rId1"/>
            </p:custDataLst>
          </p:nvPr>
        </p:nvSpPr>
        <p:spPr>
          <a:xfrm>
            <a:off x="1395413" y="109635"/>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7.2.1</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机器人动力学模型</a:t>
            </a:r>
          </a:p>
        </p:txBody>
      </p:sp>
      <p:graphicFrame>
        <p:nvGraphicFramePr>
          <p:cNvPr id="3" name="表格 2">
            <a:extLst>
              <a:ext uri="{FF2B5EF4-FFF2-40B4-BE49-F238E27FC236}">
                <a16:creationId xmlns:a16="http://schemas.microsoft.com/office/drawing/2014/main" id="{B8A1DAA3-BE10-430D-F659-81881C333C9E}"/>
              </a:ext>
            </a:extLst>
          </p:cNvPr>
          <p:cNvGraphicFramePr>
            <a:graphicFrameLocks noGrp="1"/>
          </p:cNvGraphicFramePr>
          <p:nvPr>
            <p:extLst>
              <p:ext uri="{D42A27DB-BD31-4B8C-83A1-F6EECF244321}">
                <p14:modId xmlns:p14="http://schemas.microsoft.com/office/powerpoint/2010/main" val="1074987578"/>
              </p:ext>
            </p:extLst>
          </p:nvPr>
        </p:nvGraphicFramePr>
        <p:xfrm>
          <a:off x="2292701" y="1750425"/>
          <a:ext cx="7606597" cy="4764675"/>
        </p:xfrm>
        <a:graphic>
          <a:graphicData uri="http://schemas.openxmlformats.org/drawingml/2006/table">
            <a:tbl>
              <a:tblPr firstRow="1" firstCol="1" bandRow="1">
                <a:tableStyleId>{2D5ABB26-0587-4C30-8999-92F81FD0307C}</a:tableStyleId>
              </a:tblPr>
              <a:tblGrid>
                <a:gridCol w="2777836">
                  <a:extLst>
                    <a:ext uri="{9D8B030D-6E8A-4147-A177-3AD203B41FA5}">
                      <a16:colId xmlns:a16="http://schemas.microsoft.com/office/drawing/2014/main" val="3891414402"/>
                    </a:ext>
                  </a:extLst>
                </a:gridCol>
                <a:gridCol w="1549338">
                  <a:extLst>
                    <a:ext uri="{9D8B030D-6E8A-4147-A177-3AD203B41FA5}">
                      <a16:colId xmlns:a16="http://schemas.microsoft.com/office/drawing/2014/main" val="1660844688"/>
                    </a:ext>
                  </a:extLst>
                </a:gridCol>
                <a:gridCol w="1841148">
                  <a:extLst>
                    <a:ext uri="{9D8B030D-6E8A-4147-A177-3AD203B41FA5}">
                      <a16:colId xmlns:a16="http://schemas.microsoft.com/office/drawing/2014/main" val="2111182812"/>
                    </a:ext>
                  </a:extLst>
                </a:gridCol>
                <a:gridCol w="1438275">
                  <a:extLst>
                    <a:ext uri="{9D8B030D-6E8A-4147-A177-3AD203B41FA5}">
                      <a16:colId xmlns:a16="http://schemas.microsoft.com/office/drawing/2014/main" val="426427964"/>
                    </a:ext>
                  </a:extLst>
                </a:gridCol>
              </a:tblGrid>
              <a:tr h="632323">
                <a:tc>
                  <a:txBody>
                    <a:bodyPr/>
                    <a:lstStyle/>
                    <a:p>
                      <a:pPr algn="ctr"/>
                      <a:r>
                        <a:rPr lang="zh-CN" sz="1800" kern="750" dirty="0">
                          <a:solidFill>
                            <a:schemeClr val="tx1"/>
                          </a:solidFill>
                          <a:effectLst/>
                          <a:latin typeface="宋体" panose="02010600030101010101" pitchFamily="2" charset="-122"/>
                          <a:ea typeface="宋体" panose="02010600030101010101" pitchFamily="2" charset="-122"/>
                        </a:rPr>
                        <a:t>类型</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9875" algn="ctr" fontAlgn="ctr">
                        <a:lnSpc>
                          <a:spcPts val="1595"/>
                        </a:lnSpc>
                      </a:pPr>
                      <a:r>
                        <a:rPr lang="zh-CN" sz="1800" kern="1000" dirty="0">
                          <a:solidFill>
                            <a:schemeClr val="tx1"/>
                          </a:solidFill>
                          <a:effectLst/>
                          <a:latin typeface="宋体" panose="02010600030101010101" pitchFamily="2" charset="-122"/>
                          <a:ea typeface="宋体" panose="02010600030101010101" pitchFamily="2" charset="-122"/>
                        </a:rPr>
                        <a:t>符号</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9875" algn="ctr" fontAlgn="ctr">
                        <a:lnSpc>
                          <a:spcPts val="1595"/>
                        </a:lnSpc>
                      </a:pPr>
                      <a:r>
                        <a:rPr lang="zh-CN" sz="1800" kern="1000">
                          <a:solidFill>
                            <a:schemeClr val="tx1"/>
                          </a:solidFill>
                          <a:effectLst/>
                          <a:latin typeface="宋体" panose="02010600030101010101" pitchFamily="2" charset="-122"/>
                          <a:ea typeface="宋体" panose="02010600030101010101" pitchFamily="2" charset="-122"/>
                        </a:rPr>
                        <a:t>值</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9875" algn="ctr" fontAlgn="ctr">
                        <a:lnSpc>
                          <a:spcPts val="1595"/>
                        </a:lnSpc>
                      </a:pPr>
                      <a:r>
                        <a:rPr lang="zh-CN" sz="1800" kern="1000" dirty="0">
                          <a:solidFill>
                            <a:schemeClr val="tx1"/>
                          </a:solidFill>
                          <a:effectLst/>
                          <a:latin typeface="宋体" panose="02010600030101010101" pitchFamily="2" charset="-122"/>
                          <a:ea typeface="宋体" panose="02010600030101010101" pitchFamily="2" charset="-122"/>
                        </a:rPr>
                        <a:t>单位</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6693374"/>
                  </a:ext>
                </a:extLst>
              </a:tr>
              <a:tr h="590336">
                <a:tc>
                  <a:txBody>
                    <a:bodyPr/>
                    <a:lstStyle/>
                    <a:p>
                      <a:pPr indent="269875" algn="ctr" fontAlgn="ctr">
                        <a:lnSpc>
                          <a:spcPts val="1595"/>
                        </a:lnSpc>
                      </a:pPr>
                      <a:r>
                        <a:rPr lang="zh-CN" sz="1800" kern="1000" dirty="0">
                          <a:solidFill>
                            <a:schemeClr val="tx1"/>
                          </a:solidFill>
                          <a:effectLst/>
                          <a:latin typeface="宋体" panose="02010600030101010101" pitchFamily="2" charset="-122"/>
                          <a:ea typeface="宋体" panose="02010600030101010101" pitchFamily="2" charset="-122"/>
                        </a:rPr>
                        <a:t>连杆</a:t>
                      </a:r>
                      <a:r>
                        <a:rPr lang="en-US" sz="1800" kern="1000" dirty="0">
                          <a:solidFill>
                            <a:schemeClr val="tx1"/>
                          </a:solidFill>
                          <a:effectLst/>
                          <a:latin typeface="宋体" panose="02010600030101010101" pitchFamily="2" charset="-122"/>
                          <a:ea typeface="宋体" panose="02010600030101010101" pitchFamily="2" charset="-122"/>
                        </a:rPr>
                        <a:t>1</a:t>
                      </a:r>
                      <a:r>
                        <a:rPr lang="zh-CN" sz="1800" kern="1000" dirty="0">
                          <a:solidFill>
                            <a:schemeClr val="tx1"/>
                          </a:solidFill>
                          <a:effectLst/>
                          <a:latin typeface="宋体" panose="02010600030101010101" pitchFamily="2" charset="-122"/>
                          <a:ea typeface="宋体" panose="02010600030101010101" pitchFamily="2" charset="-122"/>
                        </a:rPr>
                        <a:t>的长度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9875" algn="ctr" fontAlgn="ctr">
                        <a:lnSpc>
                          <a:spcPts val="1595"/>
                        </a:lnSpc>
                      </a:pPr>
                      <a:r>
                        <a:rPr lang="en-US" sz="1800" kern="1000" dirty="0">
                          <a:solidFill>
                            <a:schemeClr val="tx1"/>
                          </a:solidFill>
                          <a:effectLst/>
                          <a:latin typeface="宋体" panose="02010600030101010101" pitchFamily="2" charset="-122"/>
                          <a:ea typeface="宋体" panose="02010600030101010101" pitchFamily="2" charset="-122"/>
                        </a:rPr>
                        <a:t>l</a:t>
                      </a:r>
                      <a:r>
                        <a:rPr lang="en-US" sz="1800" kern="1000" baseline="-25000" dirty="0">
                          <a:solidFill>
                            <a:schemeClr val="tx1"/>
                          </a:solidFill>
                          <a:effectLst/>
                          <a:latin typeface="宋体" panose="02010600030101010101" pitchFamily="2" charset="-122"/>
                          <a:ea typeface="宋体" panose="02010600030101010101" pitchFamily="2" charset="-122"/>
                        </a:rPr>
                        <a:t>1</a:t>
                      </a:r>
                      <a:endParaRPr lang="zh-CN" sz="1800" kern="1000" dirty="0">
                        <a:solidFill>
                          <a:schemeClr val="tx1"/>
                        </a:solidFill>
                        <a:effectLst/>
                        <a:latin typeface="宋体" panose="02010600030101010101" pitchFamily="2" charset="-122"/>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9875" algn="ctr" fontAlgn="ctr">
                        <a:lnSpc>
                          <a:spcPts val="1595"/>
                        </a:lnSpc>
                      </a:pPr>
                      <a:r>
                        <a:rPr lang="en-US" sz="1800" kern="1000">
                          <a:solidFill>
                            <a:schemeClr val="tx1"/>
                          </a:solidFill>
                          <a:effectLst/>
                          <a:latin typeface="宋体" panose="02010600030101010101" pitchFamily="2" charset="-122"/>
                          <a:ea typeface="宋体" panose="02010600030101010101" pitchFamily="2" charset="-122"/>
                        </a:rPr>
                        <a:t>0.297</a:t>
                      </a:r>
                      <a:endParaRPr lang="zh-CN" sz="1800" kern="1000">
                        <a:solidFill>
                          <a:schemeClr val="tx1"/>
                        </a:solidFill>
                        <a:effectLst/>
                        <a:latin typeface="宋体" panose="02010600030101010101" pitchFamily="2" charset="-122"/>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9875" algn="ctr" fontAlgn="ctr">
                        <a:lnSpc>
                          <a:spcPts val="1595"/>
                        </a:lnSpc>
                      </a:pPr>
                      <a:r>
                        <a:rPr lang="en-US" sz="1800" kern="1000" dirty="0">
                          <a:solidFill>
                            <a:schemeClr val="tx1"/>
                          </a:solidFill>
                          <a:effectLst/>
                          <a:latin typeface="宋体" panose="02010600030101010101" pitchFamily="2" charset="-122"/>
                          <a:ea typeface="宋体" panose="02010600030101010101" pitchFamily="2" charset="-122"/>
                        </a:rPr>
                        <a:t>m</a:t>
                      </a:r>
                      <a:endParaRPr lang="zh-CN" sz="1800" kern="1000" dirty="0">
                        <a:solidFill>
                          <a:schemeClr val="tx1"/>
                        </a:solidFill>
                        <a:effectLst/>
                        <a:latin typeface="宋体" panose="02010600030101010101" pitchFamily="2" charset="-122"/>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6151656"/>
                  </a:ext>
                </a:extLst>
              </a:tr>
              <a:tr h="590336">
                <a:tc>
                  <a:txBody>
                    <a:bodyPr/>
                    <a:lstStyle/>
                    <a:p>
                      <a:pPr indent="269875" algn="ctr" fontAlgn="ctr">
                        <a:lnSpc>
                          <a:spcPts val="1595"/>
                        </a:lnSpc>
                      </a:pPr>
                      <a:r>
                        <a:rPr lang="zh-CN" sz="1800" kern="1000" dirty="0">
                          <a:solidFill>
                            <a:schemeClr val="tx1"/>
                          </a:solidFill>
                          <a:effectLst/>
                          <a:latin typeface="宋体" panose="02010600030101010101" pitchFamily="2" charset="-122"/>
                          <a:ea typeface="宋体" panose="02010600030101010101" pitchFamily="2" charset="-122"/>
                        </a:rPr>
                        <a:t>连杆</a:t>
                      </a:r>
                      <a:r>
                        <a:rPr lang="en-US" sz="1800" kern="1000" dirty="0">
                          <a:solidFill>
                            <a:schemeClr val="tx1"/>
                          </a:solidFill>
                          <a:effectLst/>
                          <a:latin typeface="宋体" panose="02010600030101010101" pitchFamily="2" charset="-122"/>
                          <a:ea typeface="宋体" panose="02010600030101010101" pitchFamily="2" charset="-122"/>
                        </a:rPr>
                        <a:t>2</a:t>
                      </a:r>
                      <a:r>
                        <a:rPr lang="zh-CN" sz="1800" kern="1000" dirty="0">
                          <a:solidFill>
                            <a:schemeClr val="tx1"/>
                          </a:solidFill>
                          <a:effectLst/>
                          <a:latin typeface="宋体" panose="02010600030101010101" pitchFamily="2" charset="-122"/>
                          <a:ea typeface="宋体" panose="02010600030101010101" pitchFamily="2" charset="-122"/>
                        </a:rPr>
                        <a:t>的长度</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9875" algn="ctr" fontAlgn="ctr">
                        <a:lnSpc>
                          <a:spcPts val="1595"/>
                        </a:lnSpc>
                      </a:pPr>
                      <a:r>
                        <a:rPr lang="en-US" sz="1800" kern="1000" dirty="0">
                          <a:solidFill>
                            <a:schemeClr val="tx1"/>
                          </a:solidFill>
                          <a:effectLst/>
                          <a:latin typeface="宋体" panose="02010600030101010101" pitchFamily="2" charset="-122"/>
                          <a:ea typeface="宋体" panose="02010600030101010101" pitchFamily="2" charset="-122"/>
                        </a:rPr>
                        <a:t>l</a:t>
                      </a:r>
                      <a:r>
                        <a:rPr lang="en-US" sz="1800" kern="1000" baseline="-25000" dirty="0">
                          <a:solidFill>
                            <a:schemeClr val="tx1"/>
                          </a:solidFill>
                          <a:effectLst/>
                          <a:latin typeface="宋体" panose="02010600030101010101" pitchFamily="2" charset="-122"/>
                          <a:ea typeface="宋体" panose="02010600030101010101" pitchFamily="2" charset="-122"/>
                        </a:rPr>
                        <a:t>2</a:t>
                      </a:r>
                      <a:endParaRPr lang="zh-CN" sz="1800" kern="1000" dirty="0">
                        <a:solidFill>
                          <a:schemeClr val="tx1"/>
                        </a:solidFill>
                        <a:effectLst/>
                        <a:latin typeface="宋体" panose="02010600030101010101" pitchFamily="2" charset="-122"/>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9875" algn="ctr" fontAlgn="ctr">
                        <a:lnSpc>
                          <a:spcPts val="1595"/>
                        </a:lnSpc>
                      </a:pPr>
                      <a:r>
                        <a:rPr lang="en-US" sz="1800" kern="1000">
                          <a:solidFill>
                            <a:schemeClr val="tx1"/>
                          </a:solidFill>
                          <a:effectLst/>
                          <a:latin typeface="宋体" panose="02010600030101010101" pitchFamily="2" charset="-122"/>
                          <a:ea typeface="宋体" panose="02010600030101010101" pitchFamily="2" charset="-122"/>
                        </a:rPr>
                        <a:t>0.297</a:t>
                      </a:r>
                      <a:endParaRPr lang="zh-CN" sz="1800" kern="1000">
                        <a:solidFill>
                          <a:schemeClr val="tx1"/>
                        </a:solidFill>
                        <a:effectLst/>
                        <a:latin typeface="宋体" panose="02010600030101010101" pitchFamily="2" charset="-122"/>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9875" algn="ctr" fontAlgn="ctr">
                        <a:lnSpc>
                          <a:spcPts val="1595"/>
                        </a:lnSpc>
                      </a:pPr>
                      <a:r>
                        <a:rPr lang="en-US" sz="1800" kern="1000" dirty="0">
                          <a:solidFill>
                            <a:schemeClr val="tx1"/>
                          </a:solidFill>
                          <a:effectLst/>
                          <a:latin typeface="宋体" panose="02010600030101010101" pitchFamily="2" charset="-122"/>
                          <a:ea typeface="宋体" panose="02010600030101010101" pitchFamily="2" charset="-122"/>
                        </a:rPr>
                        <a:t>m</a:t>
                      </a:r>
                      <a:endParaRPr lang="zh-CN" sz="1800" kern="1000" dirty="0">
                        <a:solidFill>
                          <a:schemeClr val="tx1"/>
                        </a:solidFill>
                        <a:effectLst/>
                        <a:latin typeface="宋体" panose="02010600030101010101" pitchFamily="2" charset="-122"/>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9432013"/>
                  </a:ext>
                </a:extLst>
              </a:tr>
              <a:tr h="590336">
                <a:tc>
                  <a:txBody>
                    <a:bodyPr/>
                    <a:lstStyle/>
                    <a:p>
                      <a:pPr indent="269875" algn="ctr" fontAlgn="ctr">
                        <a:lnSpc>
                          <a:spcPts val="1595"/>
                        </a:lnSpc>
                      </a:pPr>
                      <a:r>
                        <a:rPr lang="zh-CN" sz="1800" kern="1000">
                          <a:solidFill>
                            <a:schemeClr val="tx1"/>
                          </a:solidFill>
                          <a:effectLst/>
                          <a:latin typeface="宋体" panose="02010600030101010101" pitchFamily="2" charset="-122"/>
                          <a:ea typeface="宋体" panose="02010600030101010101" pitchFamily="2" charset="-122"/>
                        </a:rPr>
                        <a:t>连杆</a:t>
                      </a:r>
                      <a:r>
                        <a:rPr lang="en-US" sz="1800" kern="1000">
                          <a:solidFill>
                            <a:schemeClr val="tx1"/>
                          </a:solidFill>
                          <a:effectLst/>
                          <a:latin typeface="宋体" panose="02010600030101010101" pitchFamily="2" charset="-122"/>
                          <a:ea typeface="宋体" panose="02010600030101010101" pitchFamily="2" charset="-122"/>
                        </a:rPr>
                        <a:t>1</a:t>
                      </a:r>
                      <a:r>
                        <a:rPr lang="zh-CN" sz="1800" kern="1000">
                          <a:solidFill>
                            <a:schemeClr val="tx1"/>
                          </a:solidFill>
                          <a:effectLst/>
                          <a:latin typeface="宋体" panose="02010600030101010101" pitchFamily="2" charset="-122"/>
                          <a:ea typeface="宋体" panose="02010600030101010101" pitchFamily="2" charset="-122"/>
                        </a:rPr>
                        <a:t>的质量</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9875" algn="ctr" fontAlgn="ctr">
                        <a:lnSpc>
                          <a:spcPts val="1595"/>
                        </a:lnSpc>
                      </a:pPr>
                      <a:r>
                        <a:rPr lang="en-US" sz="1800" kern="1000">
                          <a:solidFill>
                            <a:schemeClr val="tx1"/>
                          </a:solidFill>
                          <a:effectLst/>
                          <a:latin typeface="宋体" panose="02010600030101010101" pitchFamily="2" charset="-122"/>
                          <a:ea typeface="宋体" panose="02010600030101010101" pitchFamily="2" charset="-122"/>
                        </a:rPr>
                        <a:t>m</a:t>
                      </a:r>
                      <a:r>
                        <a:rPr lang="en-US" sz="1800" kern="1000" baseline="-25000">
                          <a:solidFill>
                            <a:schemeClr val="tx1"/>
                          </a:solidFill>
                          <a:effectLst/>
                          <a:latin typeface="宋体" panose="02010600030101010101" pitchFamily="2" charset="-122"/>
                          <a:ea typeface="宋体" panose="02010600030101010101" pitchFamily="2" charset="-122"/>
                        </a:rPr>
                        <a:t>1</a:t>
                      </a:r>
                      <a:endParaRPr lang="zh-CN" sz="1800" kern="1000">
                        <a:solidFill>
                          <a:schemeClr val="tx1"/>
                        </a:solidFill>
                        <a:effectLst/>
                        <a:latin typeface="宋体" panose="02010600030101010101" pitchFamily="2" charset="-122"/>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9875" algn="ctr" fontAlgn="ctr">
                        <a:lnSpc>
                          <a:spcPts val="1595"/>
                        </a:lnSpc>
                      </a:pPr>
                      <a:r>
                        <a:rPr lang="en-US" sz="1800" kern="1000" dirty="0">
                          <a:solidFill>
                            <a:schemeClr val="tx1"/>
                          </a:solidFill>
                          <a:effectLst/>
                          <a:latin typeface="宋体" panose="02010600030101010101" pitchFamily="2" charset="-122"/>
                          <a:ea typeface="宋体" panose="02010600030101010101" pitchFamily="2" charset="-122"/>
                        </a:rPr>
                        <a:t>0.38</a:t>
                      </a:r>
                      <a:endParaRPr lang="zh-CN" sz="1800" kern="1000" dirty="0">
                        <a:solidFill>
                          <a:schemeClr val="tx1"/>
                        </a:solidFill>
                        <a:effectLst/>
                        <a:latin typeface="宋体" panose="02010600030101010101" pitchFamily="2" charset="-122"/>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9875" algn="ctr" fontAlgn="ctr">
                        <a:lnSpc>
                          <a:spcPts val="1595"/>
                        </a:lnSpc>
                      </a:pPr>
                      <a:r>
                        <a:rPr lang="en-US" altLang="zh-CN" sz="1800" kern="1000" dirty="0">
                          <a:solidFill>
                            <a:schemeClr val="tx1"/>
                          </a:solidFill>
                          <a:effectLst/>
                          <a:latin typeface="宋体" panose="02010600030101010101" pitchFamily="2" charset="-122"/>
                          <a:ea typeface="宋体" panose="02010600030101010101" pitchFamily="2" charset="-122"/>
                        </a:rPr>
                        <a:t>k</a:t>
                      </a:r>
                      <a:r>
                        <a:rPr lang="en-US" sz="1800" kern="1000" dirty="0">
                          <a:solidFill>
                            <a:schemeClr val="tx1"/>
                          </a:solidFill>
                          <a:effectLst/>
                          <a:latin typeface="宋体" panose="02010600030101010101" pitchFamily="2" charset="-122"/>
                          <a:ea typeface="宋体" panose="02010600030101010101" pitchFamily="2" charset="-122"/>
                        </a:rPr>
                        <a:t>g</a:t>
                      </a:r>
                      <a:endParaRPr lang="zh-CN" sz="1800" kern="1000" dirty="0">
                        <a:solidFill>
                          <a:schemeClr val="tx1"/>
                        </a:solidFill>
                        <a:effectLst/>
                        <a:latin typeface="宋体" panose="02010600030101010101" pitchFamily="2" charset="-122"/>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6698718"/>
                  </a:ext>
                </a:extLst>
              </a:tr>
              <a:tr h="590336">
                <a:tc>
                  <a:txBody>
                    <a:bodyPr/>
                    <a:lstStyle/>
                    <a:p>
                      <a:pPr indent="269875" algn="ctr" fontAlgn="ctr">
                        <a:lnSpc>
                          <a:spcPts val="1595"/>
                        </a:lnSpc>
                      </a:pPr>
                      <a:r>
                        <a:rPr lang="zh-CN" sz="1800" kern="1000">
                          <a:solidFill>
                            <a:schemeClr val="tx1"/>
                          </a:solidFill>
                          <a:effectLst/>
                          <a:latin typeface="宋体" panose="02010600030101010101" pitchFamily="2" charset="-122"/>
                          <a:ea typeface="宋体" panose="02010600030101010101" pitchFamily="2" charset="-122"/>
                        </a:rPr>
                        <a:t>连杆</a:t>
                      </a:r>
                      <a:r>
                        <a:rPr lang="en-US" sz="1800" kern="1000">
                          <a:solidFill>
                            <a:schemeClr val="tx1"/>
                          </a:solidFill>
                          <a:effectLst/>
                          <a:latin typeface="宋体" panose="02010600030101010101" pitchFamily="2" charset="-122"/>
                          <a:ea typeface="宋体" panose="02010600030101010101" pitchFamily="2" charset="-122"/>
                        </a:rPr>
                        <a:t>2</a:t>
                      </a:r>
                      <a:r>
                        <a:rPr lang="zh-CN" sz="1800" kern="1000">
                          <a:solidFill>
                            <a:schemeClr val="tx1"/>
                          </a:solidFill>
                          <a:effectLst/>
                          <a:latin typeface="宋体" panose="02010600030101010101" pitchFamily="2" charset="-122"/>
                          <a:ea typeface="宋体" panose="02010600030101010101" pitchFamily="2" charset="-122"/>
                        </a:rPr>
                        <a:t>的质量</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9875" algn="ctr" fontAlgn="ctr">
                        <a:lnSpc>
                          <a:spcPts val="1595"/>
                        </a:lnSpc>
                      </a:pPr>
                      <a:r>
                        <a:rPr lang="en-US" sz="1800" kern="1000">
                          <a:solidFill>
                            <a:schemeClr val="tx1"/>
                          </a:solidFill>
                          <a:effectLst/>
                          <a:latin typeface="宋体" panose="02010600030101010101" pitchFamily="2" charset="-122"/>
                          <a:ea typeface="宋体" panose="02010600030101010101" pitchFamily="2" charset="-122"/>
                        </a:rPr>
                        <a:t>m</a:t>
                      </a:r>
                      <a:r>
                        <a:rPr lang="en-US" sz="1800" kern="1000" baseline="-25000">
                          <a:solidFill>
                            <a:schemeClr val="tx1"/>
                          </a:solidFill>
                          <a:effectLst/>
                          <a:latin typeface="宋体" panose="02010600030101010101" pitchFamily="2" charset="-122"/>
                          <a:ea typeface="宋体" panose="02010600030101010101" pitchFamily="2" charset="-122"/>
                        </a:rPr>
                        <a:t>2</a:t>
                      </a:r>
                      <a:endParaRPr lang="zh-CN" sz="1800" kern="1000">
                        <a:solidFill>
                          <a:schemeClr val="tx1"/>
                        </a:solidFill>
                        <a:effectLst/>
                        <a:latin typeface="宋体" panose="02010600030101010101" pitchFamily="2" charset="-122"/>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9875" algn="ctr" fontAlgn="ctr">
                        <a:lnSpc>
                          <a:spcPts val="1595"/>
                        </a:lnSpc>
                      </a:pPr>
                      <a:r>
                        <a:rPr lang="en-US" sz="1800" kern="1000">
                          <a:solidFill>
                            <a:schemeClr val="tx1"/>
                          </a:solidFill>
                          <a:effectLst/>
                          <a:latin typeface="宋体" panose="02010600030101010101" pitchFamily="2" charset="-122"/>
                          <a:ea typeface="宋体" panose="02010600030101010101" pitchFamily="2" charset="-122"/>
                        </a:rPr>
                        <a:t>0.34</a:t>
                      </a:r>
                      <a:endParaRPr lang="zh-CN" sz="1800" kern="1000">
                        <a:solidFill>
                          <a:schemeClr val="tx1"/>
                        </a:solidFill>
                        <a:effectLst/>
                        <a:latin typeface="宋体" panose="02010600030101010101" pitchFamily="2" charset="-122"/>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9875" algn="ctr" fontAlgn="ctr">
                        <a:lnSpc>
                          <a:spcPts val="1595"/>
                        </a:lnSpc>
                      </a:pPr>
                      <a:r>
                        <a:rPr lang="en-US" sz="1800" kern="1000" dirty="0">
                          <a:solidFill>
                            <a:schemeClr val="tx1"/>
                          </a:solidFill>
                          <a:effectLst/>
                          <a:latin typeface="宋体" panose="02010600030101010101" pitchFamily="2" charset="-122"/>
                          <a:ea typeface="宋体" panose="02010600030101010101" pitchFamily="2" charset="-122"/>
                        </a:rPr>
                        <a:t>kg</a:t>
                      </a:r>
                      <a:endParaRPr lang="zh-CN" sz="1800" kern="1000" dirty="0">
                        <a:solidFill>
                          <a:schemeClr val="tx1"/>
                        </a:solidFill>
                        <a:effectLst/>
                        <a:latin typeface="宋体" panose="02010600030101010101" pitchFamily="2" charset="-122"/>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8354660"/>
                  </a:ext>
                </a:extLst>
              </a:tr>
              <a:tr h="590336">
                <a:tc>
                  <a:txBody>
                    <a:bodyPr/>
                    <a:lstStyle/>
                    <a:p>
                      <a:pPr indent="269875" algn="ctr" fontAlgn="ctr">
                        <a:lnSpc>
                          <a:spcPts val="1595"/>
                        </a:lnSpc>
                      </a:pPr>
                      <a:r>
                        <a:rPr lang="zh-CN" sz="1800" kern="1000">
                          <a:solidFill>
                            <a:schemeClr val="tx1"/>
                          </a:solidFill>
                          <a:effectLst/>
                          <a:latin typeface="宋体" panose="02010600030101010101" pitchFamily="2" charset="-122"/>
                          <a:ea typeface="宋体" panose="02010600030101010101" pitchFamily="2" charset="-122"/>
                        </a:rPr>
                        <a:t>连杆</a:t>
                      </a:r>
                      <a:r>
                        <a:rPr lang="en-US" sz="1800" kern="1000">
                          <a:solidFill>
                            <a:schemeClr val="tx1"/>
                          </a:solidFill>
                          <a:effectLst/>
                          <a:latin typeface="宋体" panose="02010600030101010101" pitchFamily="2" charset="-122"/>
                          <a:ea typeface="宋体" panose="02010600030101010101" pitchFamily="2" charset="-122"/>
                        </a:rPr>
                        <a:t>1</a:t>
                      </a:r>
                      <a:r>
                        <a:rPr lang="zh-CN" sz="1800" kern="1000">
                          <a:solidFill>
                            <a:schemeClr val="tx1"/>
                          </a:solidFill>
                          <a:effectLst/>
                          <a:latin typeface="宋体" panose="02010600030101010101" pitchFamily="2" charset="-122"/>
                          <a:ea typeface="宋体" panose="02010600030101010101" pitchFamily="2" charset="-122"/>
                        </a:rPr>
                        <a:t>的惯量</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9875" algn="ctr" fontAlgn="ctr">
                        <a:lnSpc>
                          <a:spcPts val="1595"/>
                        </a:lnSpc>
                      </a:pPr>
                      <a:r>
                        <a:rPr lang="en-US" sz="1800" kern="1000">
                          <a:solidFill>
                            <a:schemeClr val="tx1"/>
                          </a:solidFill>
                          <a:effectLst/>
                          <a:latin typeface="宋体" panose="02010600030101010101" pitchFamily="2" charset="-122"/>
                          <a:ea typeface="宋体" panose="02010600030101010101" pitchFamily="2" charset="-122"/>
                        </a:rPr>
                        <a:t>l</a:t>
                      </a:r>
                      <a:r>
                        <a:rPr lang="en-US" sz="1800" kern="1000" baseline="-25000">
                          <a:solidFill>
                            <a:schemeClr val="tx1"/>
                          </a:solidFill>
                          <a:effectLst/>
                          <a:latin typeface="宋体" panose="02010600030101010101" pitchFamily="2" charset="-122"/>
                          <a:ea typeface="宋体" panose="02010600030101010101" pitchFamily="2" charset="-122"/>
                        </a:rPr>
                        <a:t>1</a:t>
                      </a:r>
                      <a:endParaRPr lang="zh-CN" sz="1800" kern="1000">
                        <a:solidFill>
                          <a:schemeClr val="tx1"/>
                        </a:solidFill>
                        <a:effectLst/>
                        <a:latin typeface="宋体" panose="02010600030101010101" pitchFamily="2" charset="-122"/>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9875" algn="ctr" fontAlgn="ctr">
                        <a:lnSpc>
                          <a:spcPts val="1595"/>
                        </a:lnSpc>
                      </a:pPr>
                      <a:r>
                        <a:rPr lang="en-US" sz="1800" kern="1000" dirty="0">
                          <a:solidFill>
                            <a:schemeClr val="tx1"/>
                          </a:solidFill>
                          <a:effectLst/>
                          <a:latin typeface="宋体" panose="02010600030101010101" pitchFamily="2" charset="-122"/>
                          <a:ea typeface="宋体" panose="02010600030101010101" pitchFamily="2" charset="-122"/>
                        </a:rPr>
                        <a:t>0.234×10</a:t>
                      </a:r>
                      <a:r>
                        <a:rPr lang="en-US" sz="1800" kern="1000" baseline="30000" dirty="0">
                          <a:solidFill>
                            <a:schemeClr val="tx1"/>
                          </a:solidFill>
                          <a:effectLst/>
                          <a:latin typeface="宋体" panose="02010600030101010101" pitchFamily="2" charset="-122"/>
                          <a:ea typeface="宋体" panose="02010600030101010101" pitchFamily="2" charset="-122"/>
                        </a:rPr>
                        <a:t>-3</a:t>
                      </a:r>
                      <a:endParaRPr lang="zh-CN" sz="1800" kern="1000" dirty="0">
                        <a:solidFill>
                          <a:schemeClr val="tx1"/>
                        </a:solidFill>
                        <a:effectLst/>
                        <a:latin typeface="宋体" panose="02010600030101010101" pitchFamily="2" charset="-122"/>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kern="750" dirty="0">
                          <a:solidFill>
                            <a:schemeClr val="tx1"/>
                          </a:solidFill>
                          <a:effectLst/>
                          <a:latin typeface="宋体" panose="02010600030101010101" pitchFamily="2" charset="-122"/>
                          <a:ea typeface="宋体" panose="02010600030101010101" pitchFamily="2" charset="-122"/>
                        </a:rPr>
                        <a:t>kg·m</a:t>
                      </a:r>
                      <a:r>
                        <a:rPr lang="en-US" sz="1800" kern="750" baseline="30000" dirty="0">
                          <a:solidFill>
                            <a:schemeClr val="tx1"/>
                          </a:solidFill>
                          <a:effectLst/>
                          <a:latin typeface="宋体" panose="02010600030101010101" pitchFamily="2" charset="-122"/>
                          <a:ea typeface="宋体" panose="02010600030101010101" pitchFamily="2" charset="-122"/>
                        </a:rPr>
                        <a:t>2</a:t>
                      </a:r>
                      <a:endParaRPr lang="zh-CN" sz="1800" kern="750" dirty="0">
                        <a:solidFill>
                          <a:schemeClr val="tx1"/>
                        </a:solidFill>
                        <a:effectLst/>
                        <a:latin typeface="宋体" panose="02010600030101010101" pitchFamily="2" charset="-122"/>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2013722"/>
                  </a:ext>
                </a:extLst>
              </a:tr>
              <a:tr h="590336">
                <a:tc>
                  <a:txBody>
                    <a:bodyPr/>
                    <a:lstStyle/>
                    <a:p>
                      <a:pPr indent="269875" algn="ctr" fontAlgn="ctr">
                        <a:lnSpc>
                          <a:spcPts val="1595"/>
                        </a:lnSpc>
                      </a:pPr>
                      <a:r>
                        <a:rPr lang="zh-CN" sz="1800" kern="1000">
                          <a:solidFill>
                            <a:schemeClr val="tx1"/>
                          </a:solidFill>
                          <a:effectLst/>
                          <a:latin typeface="宋体" panose="02010600030101010101" pitchFamily="2" charset="-122"/>
                          <a:ea typeface="宋体" panose="02010600030101010101" pitchFamily="2" charset="-122"/>
                        </a:rPr>
                        <a:t>连杆</a:t>
                      </a:r>
                      <a:r>
                        <a:rPr lang="en-US" sz="1800" kern="1000">
                          <a:solidFill>
                            <a:schemeClr val="tx1"/>
                          </a:solidFill>
                          <a:effectLst/>
                          <a:latin typeface="宋体" panose="02010600030101010101" pitchFamily="2" charset="-122"/>
                          <a:ea typeface="宋体" panose="02010600030101010101" pitchFamily="2" charset="-122"/>
                        </a:rPr>
                        <a:t>2</a:t>
                      </a:r>
                      <a:r>
                        <a:rPr lang="zh-CN" sz="1800" kern="1000">
                          <a:solidFill>
                            <a:schemeClr val="tx1"/>
                          </a:solidFill>
                          <a:effectLst/>
                          <a:latin typeface="宋体" panose="02010600030101010101" pitchFamily="2" charset="-122"/>
                          <a:ea typeface="宋体" panose="02010600030101010101" pitchFamily="2" charset="-122"/>
                        </a:rPr>
                        <a:t>的惯量</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9875" algn="ctr" fontAlgn="ctr">
                        <a:lnSpc>
                          <a:spcPts val="1595"/>
                        </a:lnSpc>
                      </a:pPr>
                      <a:r>
                        <a:rPr lang="en-US" sz="1800" kern="1000">
                          <a:solidFill>
                            <a:schemeClr val="tx1"/>
                          </a:solidFill>
                          <a:effectLst/>
                          <a:latin typeface="宋体" panose="02010600030101010101" pitchFamily="2" charset="-122"/>
                          <a:ea typeface="宋体" panose="02010600030101010101" pitchFamily="2" charset="-122"/>
                        </a:rPr>
                        <a:t>l</a:t>
                      </a:r>
                      <a:r>
                        <a:rPr lang="en-US" sz="1800" kern="1000" baseline="-25000">
                          <a:solidFill>
                            <a:schemeClr val="tx1"/>
                          </a:solidFill>
                          <a:effectLst/>
                          <a:latin typeface="宋体" panose="02010600030101010101" pitchFamily="2" charset="-122"/>
                          <a:ea typeface="宋体" panose="02010600030101010101" pitchFamily="2" charset="-122"/>
                        </a:rPr>
                        <a:t>2</a:t>
                      </a:r>
                      <a:endParaRPr lang="zh-CN" sz="1800" kern="1000">
                        <a:solidFill>
                          <a:schemeClr val="tx1"/>
                        </a:solidFill>
                        <a:effectLst/>
                        <a:latin typeface="宋体" panose="02010600030101010101" pitchFamily="2" charset="-122"/>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9875" algn="ctr" fontAlgn="ctr">
                        <a:lnSpc>
                          <a:spcPts val="1595"/>
                        </a:lnSpc>
                      </a:pPr>
                      <a:r>
                        <a:rPr lang="en-US" sz="1800" kern="1000" dirty="0">
                          <a:solidFill>
                            <a:schemeClr val="tx1"/>
                          </a:solidFill>
                          <a:effectLst/>
                          <a:latin typeface="宋体" panose="02010600030101010101" pitchFamily="2" charset="-122"/>
                          <a:ea typeface="宋体" panose="02010600030101010101" pitchFamily="2" charset="-122"/>
                        </a:rPr>
                        <a:t>0.068×10</a:t>
                      </a:r>
                      <a:r>
                        <a:rPr lang="en-US" sz="1800" kern="1000" baseline="30000" dirty="0">
                          <a:solidFill>
                            <a:schemeClr val="tx1"/>
                          </a:solidFill>
                          <a:effectLst/>
                          <a:latin typeface="宋体" panose="02010600030101010101" pitchFamily="2" charset="-122"/>
                          <a:ea typeface="宋体" panose="02010600030101010101" pitchFamily="2" charset="-122"/>
                        </a:rPr>
                        <a:t>-3</a:t>
                      </a:r>
                      <a:endParaRPr lang="zh-CN" sz="1800" kern="1000" dirty="0">
                        <a:solidFill>
                          <a:schemeClr val="tx1"/>
                        </a:solidFill>
                        <a:effectLst/>
                        <a:latin typeface="宋体" panose="02010600030101010101" pitchFamily="2" charset="-122"/>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kern="750" dirty="0">
                          <a:solidFill>
                            <a:schemeClr val="tx1"/>
                          </a:solidFill>
                          <a:effectLst/>
                          <a:latin typeface="宋体" panose="02010600030101010101" pitchFamily="2" charset="-122"/>
                          <a:ea typeface="宋体" panose="02010600030101010101" pitchFamily="2" charset="-122"/>
                        </a:rPr>
                        <a:t>kg·m</a:t>
                      </a:r>
                      <a:r>
                        <a:rPr lang="en-US" sz="1800" kern="750" baseline="30000" dirty="0">
                          <a:solidFill>
                            <a:schemeClr val="tx1"/>
                          </a:solidFill>
                          <a:effectLst/>
                          <a:latin typeface="宋体" panose="02010600030101010101" pitchFamily="2" charset="-122"/>
                          <a:ea typeface="宋体" panose="02010600030101010101" pitchFamily="2" charset="-122"/>
                        </a:rPr>
                        <a:t>2</a:t>
                      </a:r>
                      <a:endParaRPr lang="zh-CN" sz="1800" kern="750" dirty="0">
                        <a:solidFill>
                          <a:schemeClr val="tx1"/>
                        </a:solidFill>
                        <a:effectLst/>
                        <a:latin typeface="宋体" panose="02010600030101010101" pitchFamily="2" charset="-122"/>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6150525"/>
                  </a:ext>
                </a:extLst>
              </a:tr>
              <a:tr h="590336">
                <a:tc>
                  <a:txBody>
                    <a:bodyPr/>
                    <a:lstStyle/>
                    <a:p>
                      <a:pPr indent="269875" algn="ctr" fontAlgn="ctr">
                        <a:lnSpc>
                          <a:spcPts val="1595"/>
                        </a:lnSpc>
                      </a:pPr>
                      <a:r>
                        <a:rPr lang="zh-CN" sz="1800" kern="1000" dirty="0">
                          <a:solidFill>
                            <a:schemeClr val="tx1"/>
                          </a:solidFill>
                          <a:effectLst/>
                          <a:latin typeface="宋体" panose="02010600030101010101" pitchFamily="2" charset="-122"/>
                          <a:ea typeface="宋体" panose="02010600030101010101" pitchFamily="2" charset="-122"/>
                        </a:rPr>
                        <a:t>重力加速度矢量</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9875" algn="ctr" fontAlgn="ctr">
                        <a:lnSpc>
                          <a:spcPts val="1595"/>
                        </a:lnSpc>
                      </a:pPr>
                      <a:r>
                        <a:rPr lang="en-US" sz="1800" kern="1000">
                          <a:solidFill>
                            <a:schemeClr val="tx1"/>
                          </a:solidFill>
                          <a:effectLst/>
                          <a:latin typeface="宋体" panose="02010600030101010101" pitchFamily="2" charset="-122"/>
                          <a:ea typeface="宋体" panose="02010600030101010101" pitchFamily="2" charset="-122"/>
                        </a:rPr>
                        <a:t>g</a:t>
                      </a:r>
                      <a:endParaRPr lang="zh-CN" sz="1800" kern="1000">
                        <a:solidFill>
                          <a:schemeClr val="tx1"/>
                        </a:solidFill>
                        <a:effectLst/>
                        <a:latin typeface="宋体" panose="02010600030101010101" pitchFamily="2" charset="-122"/>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9875" algn="ctr" fontAlgn="ctr">
                        <a:lnSpc>
                          <a:spcPts val="1595"/>
                        </a:lnSpc>
                      </a:pPr>
                      <a:r>
                        <a:rPr lang="en-US" sz="1800" kern="1000">
                          <a:solidFill>
                            <a:schemeClr val="tx1"/>
                          </a:solidFill>
                          <a:effectLst/>
                          <a:latin typeface="宋体" panose="02010600030101010101" pitchFamily="2" charset="-122"/>
                          <a:ea typeface="宋体" panose="02010600030101010101" pitchFamily="2" charset="-122"/>
                        </a:rPr>
                        <a:t>9.8</a:t>
                      </a:r>
                      <a:endParaRPr lang="zh-CN" sz="1800" kern="1000">
                        <a:solidFill>
                          <a:schemeClr val="tx1"/>
                        </a:solidFill>
                        <a:effectLst/>
                        <a:latin typeface="宋体" panose="02010600030101010101" pitchFamily="2" charset="-122"/>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indent="269875" algn="ctr" fontAlgn="ctr">
                        <a:lnSpc>
                          <a:spcPts val="1595"/>
                        </a:lnSpc>
                      </a:pPr>
                      <a:r>
                        <a:rPr lang="en-US" sz="1800" kern="1000" dirty="0">
                          <a:solidFill>
                            <a:schemeClr val="tx1"/>
                          </a:solidFill>
                          <a:effectLst/>
                          <a:latin typeface="宋体" panose="02010600030101010101" pitchFamily="2" charset="-122"/>
                          <a:ea typeface="宋体" panose="02010600030101010101" pitchFamily="2" charset="-122"/>
                        </a:rPr>
                        <a:t>m/s</a:t>
                      </a:r>
                      <a:r>
                        <a:rPr lang="en-US" sz="1800" kern="1000" baseline="30000" dirty="0">
                          <a:solidFill>
                            <a:schemeClr val="tx1"/>
                          </a:solidFill>
                          <a:effectLst/>
                          <a:latin typeface="宋体" panose="02010600030101010101" pitchFamily="2" charset="-122"/>
                          <a:ea typeface="宋体" panose="02010600030101010101" pitchFamily="2" charset="-122"/>
                        </a:rPr>
                        <a:t>2</a:t>
                      </a:r>
                      <a:endParaRPr lang="zh-CN" sz="1800" kern="1000" dirty="0">
                        <a:solidFill>
                          <a:schemeClr val="tx1"/>
                        </a:solidFill>
                        <a:effectLst/>
                        <a:latin typeface="宋体" panose="02010600030101010101" pitchFamily="2" charset="-122"/>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0169917"/>
                  </a:ext>
                </a:extLst>
              </a:tr>
            </a:tbl>
          </a:graphicData>
        </a:graphic>
      </p:graphicFrame>
      <p:sp>
        <p:nvSpPr>
          <p:cNvPr id="4" name="文本框 3">
            <a:extLst>
              <a:ext uri="{FF2B5EF4-FFF2-40B4-BE49-F238E27FC236}">
                <a16:creationId xmlns:a16="http://schemas.microsoft.com/office/drawing/2014/main" id="{1181DEA9-EE8A-0F0A-7719-95E92D8A9900}"/>
              </a:ext>
            </a:extLst>
          </p:cNvPr>
          <p:cNvSpPr txBox="1"/>
          <p:nvPr/>
        </p:nvSpPr>
        <p:spPr>
          <a:xfrm>
            <a:off x="3202338" y="1157782"/>
            <a:ext cx="5438775" cy="458908"/>
          </a:xfrm>
          <a:prstGeom prst="rect">
            <a:avLst/>
          </a:prstGeom>
          <a:noFill/>
        </p:spPr>
        <p:txBody>
          <a:bodyPr wrap="square" rtlCol="0">
            <a:spAutoFit/>
          </a:bodyPr>
          <a:lstStyle/>
          <a:p>
            <a:pPr algn="ctr">
              <a:lnSpc>
                <a:spcPct val="150000"/>
              </a:lnSpc>
              <a:spcBef>
                <a:spcPts val="300"/>
              </a:spcBef>
            </a:pPr>
            <a:r>
              <a:rPr lang="zh-CN"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表</a:t>
            </a:r>
            <a:r>
              <a:rPr lang="en-US"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7.1  </a:t>
            </a:r>
            <a:r>
              <a:rPr lang="zh-CN" altLang="zh-CN" sz="1800" kern="1000" dirty="0">
                <a:effectLst/>
                <a:latin typeface="微软雅黑" panose="020B0503020204020204" pitchFamily="34" charset="-122"/>
                <a:ea typeface="微软雅黑" panose="020B0503020204020204" pitchFamily="34" charset="-122"/>
                <a:cs typeface="Times New Roman" panose="02020603050405020304" pitchFamily="18" charset="0"/>
              </a:rPr>
              <a:t>机器人关节参数</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66BF0BD-6A9C-DC4A-3F81-359C4394FA1E}"/>
              </a:ext>
            </a:extLst>
          </p:cNvPr>
          <p:cNvSpPr txBox="1"/>
          <p:nvPr>
            <p:custDataLst>
              <p:tags r:id="rId1"/>
            </p:custDataLst>
          </p:nvPr>
        </p:nvSpPr>
        <p:spPr>
          <a:xfrm>
            <a:off x="1395413" y="109635"/>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7.2.1</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机器人动力学模型</a:t>
            </a:r>
          </a:p>
        </p:txBody>
      </p:sp>
      <p:grpSp>
        <p:nvGrpSpPr>
          <p:cNvPr id="5" name="组合 10">
            <a:extLst>
              <a:ext uri="{FF2B5EF4-FFF2-40B4-BE49-F238E27FC236}">
                <a16:creationId xmlns:a16="http://schemas.microsoft.com/office/drawing/2014/main" id="{1AE3FD8A-47F6-089B-73AD-B95EC35E5E7C}"/>
              </a:ext>
            </a:extLst>
          </p:cNvPr>
          <p:cNvGrpSpPr/>
          <p:nvPr/>
        </p:nvGrpSpPr>
        <p:grpSpPr>
          <a:xfrm>
            <a:off x="2895600" y="1852612"/>
            <a:ext cx="6400800" cy="4202113"/>
            <a:chOff x="1371695" y="2527292"/>
            <a:chExt cx="6400610" cy="4201882"/>
          </a:xfrm>
        </p:grpSpPr>
        <p:pic>
          <p:nvPicPr>
            <p:cNvPr id="6" name="图片 6">
              <a:extLst>
                <a:ext uri="{FF2B5EF4-FFF2-40B4-BE49-F238E27FC236}">
                  <a16:creationId xmlns:a16="http://schemas.microsoft.com/office/drawing/2014/main" id="{5C9CD5D8-F49F-1EFD-1C58-D405DD169241}"/>
                </a:ext>
              </a:extLst>
            </p:cNvPr>
            <p:cNvPicPr>
              <a:picLocks noChangeAspect="1"/>
            </p:cNvPicPr>
            <p:nvPr>
              <p:custDataLst>
                <p:tags r:id="rId3"/>
              </p:custDataLst>
            </p:nvPr>
          </p:nvPicPr>
          <p:blipFill>
            <a:blip r:embed="rId6"/>
            <a:stretch>
              <a:fillRect/>
            </a:stretch>
          </p:blipFill>
          <p:spPr>
            <a:xfrm>
              <a:off x="2589662" y="2527292"/>
              <a:ext cx="3964676" cy="3382304"/>
            </a:xfrm>
            <a:prstGeom prst="rect">
              <a:avLst/>
            </a:prstGeom>
            <a:noFill/>
            <a:ln w="9525">
              <a:noFill/>
            </a:ln>
          </p:spPr>
        </p:pic>
        <p:sp>
          <p:nvSpPr>
            <p:cNvPr id="7" name="文本框 6">
              <a:extLst>
                <a:ext uri="{FF2B5EF4-FFF2-40B4-BE49-F238E27FC236}">
                  <a16:creationId xmlns:a16="http://schemas.microsoft.com/office/drawing/2014/main" id="{E573021F-4D22-38AC-5E5F-24F92347B0F5}"/>
                </a:ext>
              </a:extLst>
            </p:cNvPr>
            <p:cNvSpPr txBox="1"/>
            <p:nvPr>
              <p:custDataLst>
                <p:tags r:id="rId4"/>
              </p:custDataLst>
            </p:nvPr>
          </p:nvSpPr>
          <p:spPr>
            <a:xfrm>
              <a:off x="1371695" y="6021188"/>
              <a:ext cx="6400610" cy="707986"/>
            </a:xfrm>
            <a:prstGeom prst="rect">
              <a:avLst/>
            </a:prstGeom>
            <a:noFill/>
          </p:spPr>
          <p:txBody>
            <a:bodyPr>
              <a:spAutoFit/>
            </a:bodyPr>
            <a:lstStyle/>
            <a:p>
              <a:pPr marR="0" algn="ctr" defTabSz="914400">
                <a:buClrTx/>
                <a:buSzTx/>
                <a:buFontTx/>
                <a:buNone/>
                <a:defRPr/>
              </a:pPr>
              <a:r>
                <a:rPr kumimoji="0" lang="zh-CN" altLang="zh-CN" sz="2000" kern="1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图</a:t>
              </a:r>
              <a:r>
                <a:rPr kumimoji="0" lang="en-US" altLang="zh-CN" sz="2000" kern="100" cap="none" spc="0" normalizeH="0" baseline="0" noProof="0" dirty="0">
                  <a:latin typeface="Times New Roman" panose="02020603050405020304" pitchFamily="18" charset="0"/>
                  <a:ea typeface="宋体" panose="02010600030101010101" pitchFamily="2" charset="-122"/>
                  <a:cs typeface="+mn-cs"/>
                </a:rPr>
                <a:t>7-5 </a:t>
              </a:r>
              <a:r>
                <a:rPr kumimoji="0" lang="zh-CN" altLang="zh-CN" sz="2000" kern="1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四足机器人单腿</a:t>
              </a:r>
              <a:r>
                <a:rPr kumimoji="0" lang="en-US" altLang="zh-CN" sz="2000" kern="100" cap="none" spc="0" normalizeH="0" baseline="0" noProof="0" dirty="0">
                  <a:latin typeface="Times New Roman" panose="02020603050405020304" pitchFamily="18" charset="0"/>
                  <a:ea typeface="宋体" panose="02010600030101010101" pitchFamily="2" charset="-122"/>
                  <a:cs typeface="+mn-cs"/>
                </a:rPr>
                <a:t>3</a:t>
              </a:r>
              <a:r>
                <a:rPr kumimoji="0" lang="zh-CN" altLang="zh-CN" sz="2000" kern="1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自由度简化示意图（</a:t>
              </a:r>
              <a:r>
                <a:rPr kumimoji="0" lang="en-US" altLang="zh-CN" sz="2000" kern="100" cap="none" spc="0" normalizeH="0" baseline="0" noProof="0" dirty="0">
                  <a:latin typeface="Times New Roman" panose="02020603050405020304" pitchFamily="18" charset="0"/>
                  <a:ea typeface="宋体" panose="02010600030101010101" pitchFamily="2" charset="-122"/>
                  <a:cs typeface="+mn-cs"/>
                </a:rPr>
                <a:t>3</a:t>
              </a:r>
              <a:r>
                <a:rPr kumimoji="0" lang="zh-CN" altLang="zh-CN" sz="2000" kern="1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自由度机械臂）</a:t>
              </a:r>
              <a:endParaRPr kumimoji="0" lang="zh-CN" altLang="en-US" sz="2000" kern="1200" cap="none" spc="0" normalizeH="0" baseline="0" noProof="0" dirty="0">
                <a:latin typeface="Tahoma" panose="020B0604030504040204" pitchFamily="34" charset="0"/>
                <a:ea typeface="宋体" panose="02010600030101010101" pitchFamily="2" charset="-122"/>
                <a:cs typeface="+mn-cs"/>
              </a:endParaRPr>
            </a:p>
          </p:txBody>
        </p:sp>
      </p:grpSp>
      <p:graphicFrame>
        <p:nvGraphicFramePr>
          <p:cNvPr id="8" name="对象 7">
            <a:extLst>
              <a:ext uri="{FF2B5EF4-FFF2-40B4-BE49-F238E27FC236}">
                <a16:creationId xmlns:a16="http://schemas.microsoft.com/office/drawing/2014/main" id="{BEB039D0-0899-CE65-B67C-A6A41FF4637C}"/>
              </a:ext>
            </a:extLst>
          </p:cNvPr>
          <p:cNvGraphicFramePr/>
          <p:nvPr>
            <p:custDataLst>
              <p:tags r:id="rId2"/>
            </p:custDataLst>
            <p:extLst>
              <p:ext uri="{D42A27DB-BD31-4B8C-83A1-F6EECF244321}">
                <p14:modId xmlns:p14="http://schemas.microsoft.com/office/powerpoint/2010/main" val="1608855186"/>
              </p:ext>
            </p:extLst>
          </p:nvPr>
        </p:nvGraphicFramePr>
        <p:xfrm>
          <a:off x="1265238" y="1098550"/>
          <a:ext cx="7435850" cy="1284288"/>
        </p:xfrm>
        <a:graphic>
          <a:graphicData uri="http://schemas.openxmlformats.org/presentationml/2006/ole">
            <mc:AlternateContent xmlns:mc="http://schemas.openxmlformats.org/markup-compatibility/2006">
              <mc:Choice xmlns:v="urn:schemas-microsoft-com:vml" Requires="v">
                <p:oleObj r:id="rId7" imgW="7454900" imgH="1320165" progId="Equation.DSMT4">
                  <p:embed/>
                </p:oleObj>
              </mc:Choice>
              <mc:Fallback>
                <p:oleObj r:id="rId7" imgW="7454900" imgH="1320165" progId="Equation.DSMT4">
                  <p:embed/>
                  <p:pic>
                    <p:nvPicPr>
                      <p:cNvPr id="6" name="对象 5"/>
                      <p:cNvPicPr/>
                      <p:nvPr/>
                    </p:nvPicPr>
                    <p:blipFill>
                      <a:blip r:embed="rId8"/>
                      <a:stretch>
                        <a:fillRect/>
                      </a:stretch>
                    </p:blipFill>
                    <p:spPr>
                      <a:xfrm>
                        <a:off x="1265238" y="1098550"/>
                        <a:ext cx="7435850" cy="1284288"/>
                      </a:xfrm>
                      <a:prstGeom prst="rect">
                        <a:avLst/>
                      </a:prstGeom>
                    </p:spPr>
                  </p:pic>
                </p:oleObj>
              </mc:Fallback>
            </mc:AlternateContent>
          </a:graphicData>
        </a:graphic>
      </p:graphicFrame>
    </p:spTree>
    <p:extLst>
      <p:ext uri="{BB962C8B-B14F-4D97-AF65-F5344CB8AC3E}">
        <p14:creationId xmlns:p14="http://schemas.microsoft.com/office/powerpoint/2010/main" val="24403703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文本框 33"/>
          <p:cNvSpPr txBox="1"/>
          <p:nvPr>
            <p:custDataLst>
              <p:tags r:id="rId1"/>
            </p:custDataLst>
          </p:nvPr>
        </p:nvSpPr>
        <p:spPr>
          <a:xfrm>
            <a:off x="952818" y="1153795"/>
            <a:ext cx="4576763" cy="460375"/>
          </a:xfrm>
          <a:prstGeom prst="rect">
            <a:avLst/>
          </a:prstGeom>
          <a:noFill/>
        </p:spPr>
        <p:txBody>
          <a:bodyPr>
            <a:spAutoFit/>
          </a:bodyPr>
          <a:lstStyle/>
          <a:p>
            <a:pPr marR="0" algn="just" defTabSz="914400">
              <a:spcBef>
                <a:spcPts val="0"/>
              </a:spcBef>
              <a:spcAft>
                <a:spcPts val="0"/>
              </a:spcAft>
              <a:buClrTx/>
              <a:buSzTx/>
              <a:buFontTx/>
              <a:buNone/>
              <a:defRPr/>
            </a:pPr>
            <a:r>
              <a:rPr kumimoji="0" lang="zh-CN" altLang="zh-CN" sz="2400" b="1" kern="100" cap="none" spc="0" normalizeH="0" baseline="0" noProof="0" dirty="0">
                <a:latin typeface="微软雅黑" panose="020B0503020204020204" pitchFamily="34" charset="-122"/>
                <a:ea typeface="微软雅黑" panose="020B0503020204020204" pitchFamily="34" charset="-122"/>
                <a:cs typeface="Times New Roman" panose="02020603050405020304" pitchFamily="18" charset="0"/>
              </a:rPr>
              <a:t>机械臂对应的雅各比矩阵为：</a:t>
            </a:r>
          </a:p>
        </p:txBody>
      </p:sp>
      <mc:AlternateContent xmlns:mc="http://schemas.openxmlformats.org/markup-compatibility/2006" xmlns:a14="http://schemas.microsoft.com/office/drawing/2010/main">
        <mc:Choice Requires="a14">
          <p:sp>
            <p:nvSpPr>
              <p:cNvPr id="2" name="对象 1"/>
              <p:cNvSpPr txBox="1"/>
              <p:nvPr/>
            </p:nvSpPr>
            <p:spPr>
              <a:xfrm>
                <a:off x="1923908" y="1681708"/>
                <a:ext cx="7562991" cy="1037112"/>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lang="zh-CN" altLang="en-US" sz="2000" i="1">
                          <a:solidFill>
                            <a:srgbClr val="000000"/>
                          </a:solidFill>
                          <a:latin typeface="Cambria Math" panose="02040503050406030204" pitchFamily="18" charset="0"/>
                        </a:rPr>
                        <m:t>𝐽</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𝜃</m:t>
                          </m:r>
                        </m:e>
                        <m:sub>
                          <m:r>
                            <a:rPr lang="zh-CN" altLang="en-US" sz="2000" i="1">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𝜃</m:t>
                          </m:r>
                        </m:e>
                        <m:sub>
                          <m:r>
                            <a:rPr lang="zh-CN" altLang="en-US" sz="2000" i="1">
                              <a:solidFill>
                                <a:srgbClr val="000000"/>
                              </a:solidFill>
                              <a:latin typeface="Cambria Math" panose="02040503050406030204" pitchFamily="18" charset="0"/>
                            </a:rPr>
                            <m:t>2</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𝜃</m:t>
                          </m:r>
                        </m:e>
                        <m:sub>
                          <m:r>
                            <a:rPr lang="zh-CN" altLang="en-US" sz="2000" i="1">
                              <a:solidFill>
                                <a:srgbClr val="000000"/>
                              </a:solidFill>
                              <a:latin typeface="Cambria Math" panose="02040503050406030204" pitchFamily="18" charset="0"/>
                            </a:rPr>
                            <m:t>3</m:t>
                          </m:r>
                        </m:sub>
                      </m:sSub>
                      <m:r>
                        <a:rPr lang="zh-CN" altLang="en-US" sz="2000" i="1">
                          <a:solidFill>
                            <a:srgbClr val="000000"/>
                          </a:solidFill>
                          <a:latin typeface="Cambria Math" panose="02040503050406030204" pitchFamily="18" charset="0"/>
                        </a:rPr>
                        <m:t>)=</m:t>
                      </m:r>
                      <m:d>
                        <m:dPr>
                          <m:begChr m:val="["/>
                          <m:endChr m:val="]"/>
                          <m:ctrlPr>
                            <a:rPr lang="zh-CN" altLang="en-US" sz="2000" i="1">
                              <a:solidFill>
                                <a:srgbClr val="000000"/>
                              </a:solidFill>
                              <a:latin typeface="Cambria Math" panose="02040503050406030204" pitchFamily="18" charset="0"/>
                            </a:rPr>
                          </m:ctrlPr>
                        </m:dPr>
                        <m:e>
                          <m:m>
                            <m:mPr>
                              <m:plcHide m:val="on"/>
                              <m:mcs>
                                <m:mc>
                                  <m:mcPr>
                                    <m:count m:val="3"/>
                                    <m:mcJc m:val="center"/>
                                  </m:mcPr>
                                </m:mc>
                              </m:mcs>
                              <m:ctrlPr>
                                <a:rPr lang="zh-CN" altLang="en-US" sz="2000" i="1">
                                  <a:solidFill>
                                    <a:srgbClr val="000000"/>
                                  </a:solidFill>
                                  <a:latin typeface="Cambria Math" panose="02040503050406030204" pitchFamily="18" charset="0"/>
                                </a:rPr>
                              </m:ctrlPr>
                            </m:mPr>
                            <m:mr>
                              <m:e>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2</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23</m:t>
                                    </m:r>
                                  </m:sub>
                                </m:sSub>
                              </m:e>
                              <m:e>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2</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23</m:t>
                                    </m:r>
                                  </m:sub>
                                </m:sSub>
                              </m:e>
                              <m:e>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23</m:t>
                                    </m:r>
                                  </m:sub>
                                </m:sSub>
                              </m:e>
                            </m:mr>
                            <m:mr>
                              <m:e>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2</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23</m:t>
                                    </m:r>
                                  </m:sub>
                                </m:sSub>
                              </m:e>
                              <m:e>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2</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23</m:t>
                                    </m:r>
                                  </m:sub>
                                </m:sSub>
                              </m:e>
                              <m:e>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23</m:t>
                                    </m:r>
                                  </m:sub>
                                </m:sSub>
                              </m:e>
                            </m:mr>
                            <m:mr>
                              <m:e>
                                <m:r>
                                  <a:rPr lang="zh-CN" altLang="en-US" sz="2000" i="1">
                                    <a:solidFill>
                                      <a:srgbClr val="000000"/>
                                    </a:solidFill>
                                    <a:latin typeface="Cambria Math" panose="02040503050406030204" pitchFamily="18" charset="0"/>
                                  </a:rPr>
                                  <m:t>0</m:t>
                                </m:r>
                              </m:e>
                              <m:e>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2</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23</m:t>
                                    </m:r>
                                  </m:sub>
                                </m:sSub>
                              </m:e>
                              <m:e>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23</m:t>
                                    </m:r>
                                  </m:sub>
                                </m:sSub>
                              </m:e>
                            </m:mr>
                          </m:m>
                        </m:e>
                      </m:d>
                    </m:oMath>
                  </m:oMathPara>
                </a14:m>
                <a:endParaRPr lang="zh-CN" altLang="en-US" sz="2000" dirty="0"/>
              </a:p>
            </p:txBody>
          </p:sp>
        </mc:Choice>
        <mc:Fallback xmlns="">
          <p:sp>
            <p:nvSpPr>
              <p:cNvPr id="2" name="对象 1"/>
              <p:cNvSpPr txBox="1">
                <a:spLocks noRot="1" noChangeAspect="1" noMove="1" noResize="1" noEditPoints="1" noAdjustHandles="1" noChangeArrowheads="1" noChangeShapeType="1" noTextEdit="1"/>
              </p:cNvSpPr>
              <p:nvPr/>
            </p:nvSpPr>
            <p:spPr>
              <a:xfrm>
                <a:off x="1923908" y="1681708"/>
                <a:ext cx="7562991" cy="1037112"/>
              </a:xfrm>
              <a:prstGeom prst="rect">
                <a:avLst/>
              </a:prstGeom>
              <a:blipFill>
                <a:blip r:embed="rId11"/>
                <a:stretch>
                  <a:fillRect/>
                </a:stretch>
              </a:blipFill>
            </p:spPr>
            <p:txBody>
              <a:bodyPr/>
              <a:lstStyle/>
              <a:p>
                <a:r>
                  <a:rPr lang="zh-CN" altLang="en-US">
                    <a:noFill/>
                  </a:rPr>
                  <a:t> </a:t>
                </a:r>
              </a:p>
            </p:txBody>
          </p:sp>
        </mc:Fallback>
      </mc:AlternateContent>
      <p:sp>
        <p:nvSpPr>
          <p:cNvPr id="15366" name="文本框 34"/>
          <p:cNvSpPr txBox="1"/>
          <p:nvPr>
            <p:custDataLst>
              <p:tags r:id="rId2"/>
            </p:custDataLst>
          </p:nvPr>
        </p:nvSpPr>
        <p:spPr>
          <a:xfrm>
            <a:off x="953135" y="3004503"/>
            <a:ext cx="5552440" cy="4603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chemeClr val="hlink"/>
              </a:buClr>
              <a:buSzPct val="80000"/>
              <a:buFont typeface="Arial" panose="020B0604020202020204" pitchFamily="34" charset="0"/>
              <a:buChar char="►"/>
              <a:defRPr sz="3200">
                <a:solidFill>
                  <a:schemeClr val="tx1"/>
                </a:solidFill>
                <a:effectLst/>
                <a:latin typeface="+mn-lt"/>
                <a:ea typeface="+mn-ea"/>
                <a:cs typeface="+mn-cs"/>
              </a:defRPr>
            </a:lvl1pPr>
            <a:lvl2pPr marL="742950" indent="-285750" algn="l" rtl="0" eaLnBrk="0" fontAlgn="base" hangingPunct="0">
              <a:spcBef>
                <a:spcPct val="20000"/>
              </a:spcBef>
              <a:spcAft>
                <a:spcPct val="0"/>
              </a:spcAft>
              <a:buClr>
                <a:schemeClr val="folHlink"/>
              </a:buClr>
              <a:buFont typeface="Wingdings" panose="05000000000000000000" pitchFamily="2" charset="2"/>
              <a:buChar char="§"/>
              <a:defRPr sz="2800">
                <a:solidFill>
                  <a:schemeClr val="tx1"/>
                </a:solidFill>
                <a:effectLst/>
                <a:latin typeface="+mn-lt"/>
                <a:ea typeface="+mn-ea"/>
              </a:defRPr>
            </a:lvl2pPr>
            <a:lvl3pPr marL="1143000" indent="-228600" algn="l" rtl="0" eaLnBrk="0" fontAlgn="base" hangingPunct="0">
              <a:spcBef>
                <a:spcPct val="20000"/>
              </a:spcBef>
              <a:spcAft>
                <a:spcPct val="0"/>
              </a:spcAft>
              <a:buClr>
                <a:schemeClr val="hlink"/>
              </a:buClr>
              <a:buSzPct val="80000"/>
              <a:buFont typeface="Arial" panose="020B0604020202020204" pitchFamily="34" charset="0"/>
              <a:buChar char="►"/>
              <a:defRPr sz="2400">
                <a:solidFill>
                  <a:schemeClr val="tx1"/>
                </a:solidFill>
                <a:effectLst/>
                <a:latin typeface="+mn-lt"/>
                <a:ea typeface="+mn-ea"/>
              </a:defRPr>
            </a:lvl3pPr>
            <a:lvl4pPr marL="16002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effectLst/>
                <a:latin typeface="+mn-lt"/>
                <a:ea typeface="+mn-ea"/>
              </a:defRPr>
            </a:lvl4pPr>
            <a:lvl5pPr marL="2057400" indent="-228600" algn="l" rtl="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effectLst/>
                <a:latin typeface="+mn-lt"/>
                <a:ea typeface="+mn-ea"/>
              </a:defRPr>
            </a:lvl5pPr>
          </a:lstStyle>
          <a:p>
            <a:pPr marL="0" lvl="0" indent="0">
              <a:spcBef>
                <a:spcPct val="0"/>
              </a:spcBef>
              <a:buClrTx/>
              <a:buSzTx/>
              <a:buFontTx/>
              <a:buNone/>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机器人单腿</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自由度简化动力学方程为：</a:t>
            </a:r>
          </a:p>
        </p:txBody>
      </p:sp>
      <mc:AlternateContent xmlns:mc="http://schemas.openxmlformats.org/markup-compatibility/2006" xmlns:a14="http://schemas.microsoft.com/office/drawing/2010/main">
        <mc:Choice Requires="a14">
          <p:sp>
            <p:nvSpPr>
              <p:cNvPr id="5" name="对象 4"/>
              <p:cNvSpPr txBox="1"/>
              <p:nvPr/>
            </p:nvSpPr>
            <p:spPr>
              <a:xfrm>
                <a:off x="1213961" y="3588228"/>
                <a:ext cx="5030788" cy="496888"/>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𝑀</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𝜃</m:t>
                      </m:r>
                      <m:r>
                        <a:rPr lang="zh-CN" altLang="en-US" sz="2400" i="1">
                          <a:solidFill>
                            <a:srgbClr val="000000"/>
                          </a:solidFill>
                          <a:latin typeface="Cambria Math" panose="02040503050406030204" pitchFamily="18" charset="0"/>
                        </a:rPr>
                        <m:t>)</m:t>
                      </m:r>
                      <m:acc>
                        <m:accPr>
                          <m:chr m:val="̈"/>
                          <m:ctrlPr>
                            <a:rPr lang="zh-CN" altLang="en-US" sz="2400" i="1">
                              <a:solidFill>
                                <a:srgbClr val="000000"/>
                              </a:solidFill>
                              <a:latin typeface="Cambria Math" panose="02040503050406030204" pitchFamily="18" charset="0"/>
                            </a:rPr>
                          </m:ctrlPr>
                        </m:accPr>
                        <m:e>
                          <m:r>
                            <a:rPr lang="zh-CN" altLang="en-US" sz="2400" i="1">
                              <a:solidFill>
                                <a:srgbClr val="000000"/>
                              </a:solidFill>
                              <a:latin typeface="Cambria Math" panose="02040503050406030204" pitchFamily="18" charset="0"/>
                            </a:rPr>
                            <m:t>𝜃</m:t>
                          </m:r>
                        </m:e>
                      </m:acc>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𝐶</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𝜃</m:t>
                      </m:r>
                      <m:r>
                        <a:rPr lang="zh-CN" altLang="en-US" sz="2400" i="1">
                          <a:solidFill>
                            <a:srgbClr val="000000"/>
                          </a:solidFill>
                          <a:latin typeface="Cambria Math" panose="02040503050406030204" pitchFamily="18" charset="0"/>
                        </a:rPr>
                        <m:t>,</m:t>
                      </m:r>
                      <m:acc>
                        <m:accPr>
                          <m:chr m:val="̇"/>
                          <m:ctrlPr>
                            <a:rPr lang="zh-CN" altLang="en-US" sz="2400" i="1">
                              <a:solidFill>
                                <a:srgbClr val="000000"/>
                              </a:solidFill>
                              <a:latin typeface="Cambria Math" panose="02040503050406030204" pitchFamily="18" charset="0"/>
                            </a:rPr>
                          </m:ctrlPr>
                        </m:accPr>
                        <m:e>
                          <m:r>
                            <a:rPr lang="zh-CN" altLang="en-US" sz="2400" i="1">
                              <a:solidFill>
                                <a:srgbClr val="000000"/>
                              </a:solidFill>
                              <a:latin typeface="Cambria Math" panose="02040503050406030204" pitchFamily="18" charset="0"/>
                            </a:rPr>
                            <m:t>𝜃</m:t>
                          </m:r>
                        </m:e>
                      </m:acc>
                      <m:r>
                        <a:rPr lang="zh-CN" altLang="en-US" sz="2400" i="1">
                          <a:solidFill>
                            <a:srgbClr val="000000"/>
                          </a:solidFill>
                          <a:latin typeface="Cambria Math" panose="02040503050406030204" pitchFamily="18" charset="0"/>
                        </a:rPr>
                        <m:t>)</m:t>
                      </m:r>
                      <m:acc>
                        <m:accPr>
                          <m:chr m:val="̇"/>
                          <m:ctrlPr>
                            <a:rPr lang="zh-CN" altLang="en-US" sz="2400" i="1">
                              <a:solidFill>
                                <a:srgbClr val="000000"/>
                              </a:solidFill>
                              <a:latin typeface="Cambria Math" panose="02040503050406030204" pitchFamily="18" charset="0"/>
                            </a:rPr>
                          </m:ctrlPr>
                        </m:accPr>
                        <m:e>
                          <m:r>
                            <a:rPr lang="zh-CN" altLang="en-US" sz="2400" i="1">
                              <a:solidFill>
                                <a:srgbClr val="000000"/>
                              </a:solidFill>
                              <a:latin typeface="Cambria Math" panose="02040503050406030204" pitchFamily="18" charset="0"/>
                            </a:rPr>
                            <m:t>𝜃</m:t>
                          </m:r>
                        </m:e>
                      </m:acc>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𝐺</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𝜃</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𝜏</m:t>
                      </m:r>
                    </m:oMath>
                  </m:oMathPara>
                </a14:m>
                <a:endParaRPr lang="zh-CN" altLang="en-US" sz="2400" dirty="0"/>
              </a:p>
            </p:txBody>
          </p:sp>
        </mc:Choice>
        <mc:Fallback xmlns="">
          <p:sp>
            <p:nvSpPr>
              <p:cNvPr id="5" name="对象 4"/>
              <p:cNvSpPr txBox="1">
                <a:spLocks noRot="1" noChangeAspect="1" noMove="1" noResize="1" noEditPoints="1" noAdjustHandles="1" noChangeArrowheads="1" noChangeShapeType="1" noTextEdit="1"/>
              </p:cNvSpPr>
              <p:nvPr/>
            </p:nvSpPr>
            <p:spPr>
              <a:xfrm>
                <a:off x="1213961" y="3588228"/>
                <a:ext cx="5030788" cy="496888"/>
              </a:xfrm>
              <a:prstGeom prst="rect">
                <a:avLst/>
              </a:prstGeom>
              <a:blipFill>
                <a:blip r:embed="rId12"/>
                <a:stretch>
                  <a:fillRect l="-242" t="-2469" b="-13580"/>
                </a:stretch>
              </a:blipFill>
            </p:spPr>
            <p:txBody>
              <a:bodyPr/>
              <a:lstStyle/>
              <a:p>
                <a:r>
                  <a:rPr lang="zh-CN" altLang="en-US">
                    <a:noFill/>
                  </a:rPr>
                  <a:t> </a:t>
                </a:r>
              </a:p>
            </p:txBody>
          </p:sp>
        </mc:Fallback>
      </mc:AlternateContent>
      <p:sp>
        <p:nvSpPr>
          <p:cNvPr id="7" name="文本框 6"/>
          <p:cNvSpPr txBox="1"/>
          <p:nvPr/>
        </p:nvSpPr>
        <p:spPr>
          <a:xfrm>
            <a:off x="10063480" y="3623310"/>
            <a:ext cx="2349500" cy="46037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7.3</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a:t>
            </a:r>
          </a:p>
        </p:txBody>
      </p:sp>
      <p:graphicFrame>
        <p:nvGraphicFramePr>
          <p:cNvPr id="31" name="对象 30"/>
          <p:cNvGraphicFramePr/>
          <p:nvPr>
            <p:custDataLst>
              <p:tags r:id="rId3"/>
            </p:custDataLst>
            <p:extLst>
              <p:ext uri="{D42A27DB-BD31-4B8C-83A1-F6EECF244321}">
                <p14:modId xmlns:p14="http://schemas.microsoft.com/office/powerpoint/2010/main" val="1914831535"/>
              </p:ext>
            </p:extLst>
          </p:nvPr>
        </p:nvGraphicFramePr>
        <p:xfrm>
          <a:off x="1324340" y="4192905"/>
          <a:ext cx="1749743" cy="418939"/>
        </p:xfrm>
        <a:graphic>
          <a:graphicData uri="http://schemas.openxmlformats.org/presentationml/2006/ole">
            <mc:AlternateContent xmlns:mc="http://schemas.openxmlformats.org/markup-compatibility/2006">
              <mc:Choice xmlns:v="urn:schemas-microsoft-com:vml" Requires="v">
                <p:oleObj r:id="rId13" imgW="1141095" imgH="387350" progId="Equation.DSMT4">
                  <p:embed/>
                </p:oleObj>
              </mc:Choice>
              <mc:Fallback>
                <p:oleObj r:id="rId13" imgW="1141095" imgH="387350" progId="Equation.DSMT4">
                  <p:embed/>
                  <p:pic>
                    <p:nvPicPr>
                      <p:cNvPr id="0" name="图片 31"/>
                      <p:cNvPicPr/>
                      <p:nvPr/>
                    </p:nvPicPr>
                    <p:blipFill>
                      <a:blip r:embed="rId14"/>
                      <a:stretch>
                        <a:fillRect/>
                      </a:stretch>
                    </p:blipFill>
                    <p:spPr>
                      <a:xfrm>
                        <a:off x="1324340" y="4192905"/>
                        <a:ext cx="1749743" cy="418939"/>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33" name="对象 32"/>
              <p:cNvSpPr txBox="1"/>
              <p:nvPr/>
            </p:nvSpPr>
            <p:spPr>
              <a:xfrm>
                <a:off x="1264623" y="4694903"/>
                <a:ext cx="1833562" cy="461665"/>
              </a:xfrm>
              <a:prstGeom prst="rect">
                <a:avLst/>
              </a:prstGeom>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𝐶</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𝜃</m:t>
                      </m:r>
                      <m:r>
                        <a:rPr lang="zh-CN" altLang="en-US" sz="2400" i="1">
                          <a:solidFill>
                            <a:srgbClr val="000000"/>
                          </a:solidFill>
                          <a:latin typeface="Cambria Math" panose="02040503050406030204" pitchFamily="18" charset="0"/>
                        </a:rPr>
                        <m:t>,</m:t>
                      </m:r>
                      <m:acc>
                        <m:accPr>
                          <m:chr m:val="̇"/>
                          <m:ctrlPr>
                            <a:rPr lang="zh-CN" altLang="en-US" sz="2400" i="1">
                              <a:solidFill>
                                <a:srgbClr val="000000"/>
                              </a:solidFill>
                              <a:latin typeface="Cambria Math" panose="02040503050406030204" pitchFamily="18" charset="0"/>
                            </a:rPr>
                          </m:ctrlPr>
                        </m:accPr>
                        <m:e>
                          <m:r>
                            <a:rPr lang="zh-CN" altLang="en-US" sz="2400" i="1">
                              <a:solidFill>
                                <a:srgbClr val="000000"/>
                              </a:solidFill>
                              <a:latin typeface="Cambria Math" panose="02040503050406030204" pitchFamily="18" charset="0"/>
                            </a:rPr>
                            <m:t>𝜃</m:t>
                          </m:r>
                        </m:e>
                      </m:acc>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𝑅</m:t>
                          </m:r>
                        </m:e>
                        <m:sup>
                          <m:r>
                            <a:rPr lang="zh-CN" altLang="en-US" sz="2400" i="1">
                              <a:solidFill>
                                <a:srgbClr val="000000"/>
                              </a:solidFill>
                              <a:latin typeface="Cambria Math" panose="02040503050406030204" pitchFamily="18" charset="0"/>
                            </a:rPr>
                            <m:t>𝑛</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𝑛</m:t>
                          </m:r>
                        </m:sup>
                      </m:sSup>
                    </m:oMath>
                  </m:oMathPara>
                </a14:m>
                <a:endParaRPr lang="zh-CN" altLang="en-US" sz="2400" dirty="0"/>
              </a:p>
            </p:txBody>
          </p:sp>
        </mc:Choice>
        <mc:Fallback xmlns="">
          <p:sp>
            <p:nvSpPr>
              <p:cNvPr id="33" name="对象 32"/>
              <p:cNvSpPr txBox="1">
                <a:spLocks noRot="1" noChangeAspect="1" noMove="1" noResize="1" noEditPoints="1" noAdjustHandles="1" noChangeArrowheads="1" noChangeShapeType="1" noTextEdit="1"/>
              </p:cNvSpPr>
              <p:nvPr/>
            </p:nvSpPr>
            <p:spPr>
              <a:xfrm>
                <a:off x="1264623" y="4694903"/>
                <a:ext cx="1833562" cy="461665"/>
              </a:xfrm>
              <a:prstGeom prst="rect">
                <a:avLst/>
              </a:prstGeom>
              <a:blipFill>
                <a:blip r:embed="rId15"/>
                <a:stretch>
                  <a:fillRect b="-394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6" name="对象 35"/>
              <p:cNvSpPr txBox="1"/>
              <p:nvPr/>
            </p:nvSpPr>
            <p:spPr>
              <a:xfrm>
                <a:off x="1103630" y="5231582"/>
                <a:ext cx="2625725" cy="438150"/>
              </a:xfrm>
              <a:prstGeom prst="rect">
                <a:avLst/>
              </a:prstGeom>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zh-CN" altLang="en-US" sz="2400" i="1" smtClean="0">
                          <a:solidFill>
                            <a:srgbClr val="000000"/>
                          </a:solidFill>
                          <a:latin typeface="Cambria Math" panose="02040503050406030204" pitchFamily="18" charset="0"/>
                        </a:rPr>
                        <m:t>𝐺</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𝜃</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𝑈</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𝜃</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𝜕𝜃</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𝑅</m:t>
                          </m:r>
                        </m:e>
                        <m:sup>
                          <m:r>
                            <a:rPr lang="zh-CN" altLang="en-US" sz="2400" i="1">
                              <a:solidFill>
                                <a:srgbClr val="000000"/>
                              </a:solidFill>
                              <a:latin typeface="Cambria Math" panose="02040503050406030204" pitchFamily="18" charset="0"/>
                            </a:rPr>
                            <m:t>𝑛</m:t>
                          </m:r>
                        </m:sup>
                      </m:sSup>
                    </m:oMath>
                  </m:oMathPara>
                </a14:m>
                <a:endParaRPr lang="zh-CN" altLang="en-US" sz="2400" dirty="0"/>
              </a:p>
            </p:txBody>
          </p:sp>
        </mc:Choice>
        <mc:Fallback>
          <p:sp>
            <p:nvSpPr>
              <p:cNvPr id="36" name="对象 35"/>
              <p:cNvSpPr txBox="1">
                <a:spLocks noRot="1" noChangeAspect="1" noMove="1" noResize="1" noEditPoints="1" noAdjustHandles="1" noChangeArrowheads="1" noChangeShapeType="1" noTextEdit="1"/>
              </p:cNvSpPr>
              <p:nvPr/>
            </p:nvSpPr>
            <p:spPr>
              <a:xfrm>
                <a:off x="1103630" y="5231582"/>
                <a:ext cx="2625725" cy="438150"/>
              </a:xfrm>
              <a:prstGeom prst="rect">
                <a:avLst/>
              </a:prstGeom>
              <a:blipFill>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对象 39"/>
              <p:cNvSpPr txBox="1"/>
              <p:nvPr/>
            </p:nvSpPr>
            <p:spPr>
              <a:xfrm>
                <a:off x="7250112" y="4933154"/>
                <a:ext cx="914282" cy="478785"/>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𝑈</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𝜃</m:t>
                      </m:r>
                      <m:r>
                        <a:rPr lang="zh-CN" altLang="en-US" sz="2400" i="1">
                          <a:solidFill>
                            <a:srgbClr val="000000"/>
                          </a:solidFill>
                          <a:latin typeface="Cambria Math" panose="02040503050406030204" pitchFamily="18" charset="0"/>
                        </a:rPr>
                        <m:t>)</m:t>
                      </m:r>
                    </m:oMath>
                  </m:oMathPara>
                </a14:m>
                <a:endParaRPr lang="zh-CN" altLang="en-US" sz="2400" dirty="0"/>
              </a:p>
            </p:txBody>
          </p:sp>
        </mc:Choice>
        <mc:Fallback xmlns="">
          <p:sp>
            <p:nvSpPr>
              <p:cNvPr id="40" name="对象 39"/>
              <p:cNvSpPr txBox="1">
                <a:spLocks noRot="1" noChangeAspect="1" noMove="1" noResize="1" noEditPoints="1" noAdjustHandles="1" noChangeArrowheads="1" noChangeShapeType="1" noTextEdit="1"/>
              </p:cNvSpPr>
              <p:nvPr/>
            </p:nvSpPr>
            <p:spPr>
              <a:xfrm>
                <a:off x="7250112" y="4933154"/>
                <a:ext cx="914282" cy="478785"/>
              </a:xfrm>
              <a:prstGeom prst="rect">
                <a:avLst/>
              </a:prstGeom>
              <a:blipFill>
                <a:blip r:embed="rId17"/>
                <a:stretch>
                  <a:fillRect l="-1333" b="-126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对象 41"/>
              <p:cNvSpPr txBox="1"/>
              <p:nvPr/>
            </p:nvSpPr>
            <p:spPr>
              <a:xfrm>
                <a:off x="7115175" y="4230688"/>
                <a:ext cx="1168560" cy="405142"/>
              </a:xfrm>
              <a:prstGeom prst="rect">
                <a:avLst/>
              </a:prstGeom>
            </p:spPr>
            <p:txBody>
              <a:bodyPr>
                <a:normAutofit fontScale="85000" lnSpcReduction="10000"/>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𝜏</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𝑅</m:t>
                          </m:r>
                        </m:e>
                        <m:sup>
                          <m:r>
                            <a:rPr lang="zh-CN" altLang="en-US" sz="2400" i="1">
                              <a:solidFill>
                                <a:srgbClr val="000000"/>
                              </a:solidFill>
                              <a:latin typeface="Cambria Math" panose="02040503050406030204" pitchFamily="18" charset="0"/>
                            </a:rPr>
                            <m:t>𝑛</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𝑛</m:t>
                          </m:r>
                        </m:sup>
                      </m:sSup>
                    </m:oMath>
                  </m:oMathPara>
                </a14:m>
                <a:endParaRPr lang="zh-CN" altLang="en-US" sz="2400" dirty="0"/>
              </a:p>
            </p:txBody>
          </p:sp>
        </mc:Choice>
        <mc:Fallback xmlns="">
          <p:sp>
            <p:nvSpPr>
              <p:cNvPr id="42" name="对象 41"/>
              <p:cNvSpPr txBox="1">
                <a:spLocks noRot="1" noChangeAspect="1" noMove="1" noResize="1" noEditPoints="1" noAdjustHandles="1" noChangeArrowheads="1" noChangeShapeType="1" noTextEdit="1"/>
              </p:cNvSpPr>
              <p:nvPr/>
            </p:nvSpPr>
            <p:spPr>
              <a:xfrm>
                <a:off x="7115175" y="4230688"/>
                <a:ext cx="1168560" cy="405142"/>
              </a:xfrm>
              <a:prstGeom prst="rect">
                <a:avLst/>
              </a:prstGeom>
              <a:blipFill>
                <a:blip r:embed="rId18"/>
                <a:stretch>
                  <a:fillRect/>
                </a:stretch>
              </a:blipFill>
            </p:spPr>
            <p:txBody>
              <a:bodyPr/>
              <a:lstStyle/>
              <a:p>
                <a:r>
                  <a:rPr lang="zh-CN" altLang="en-US">
                    <a:noFill/>
                  </a:rPr>
                  <a:t> </a:t>
                </a:r>
              </a:p>
            </p:txBody>
          </p:sp>
        </mc:Fallback>
      </mc:AlternateContent>
      <p:grpSp>
        <p:nvGrpSpPr>
          <p:cNvPr id="44" name="组合 36"/>
          <p:cNvGrpSpPr/>
          <p:nvPr/>
        </p:nvGrpSpPr>
        <p:grpSpPr>
          <a:xfrm>
            <a:off x="3205836" y="4083686"/>
            <a:ext cx="7724419" cy="1590708"/>
            <a:chOff x="2884711" y="3735066"/>
            <a:chExt cx="8209298" cy="1860915"/>
          </a:xfrm>
        </p:grpSpPr>
        <p:sp>
          <p:nvSpPr>
            <p:cNvPr id="53" name="文本框 52"/>
            <p:cNvSpPr txBox="1"/>
            <p:nvPr>
              <p:custDataLst>
                <p:tags r:id="rId5"/>
              </p:custDataLst>
            </p:nvPr>
          </p:nvSpPr>
          <p:spPr>
            <a:xfrm>
              <a:off x="2894236" y="3735066"/>
              <a:ext cx="3260692" cy="540086"/>
            </a:xfrm>
            <a:prstGeom prst="rect">
              <a:avLst/>
            </a:prstGeom>
            <a:noFill/>
          </p:spPr>
          <p:txBody>
            <a:bodyPr wrap="square">
              <a:spAutoFit/>
            </a:bodyPr>
            <a:lstStyle/>
            <a:p>
              <a:pPr marR="0" defTabSz="914400">
                <a:buClrTx/>
                <a:buSzTx/>
                <a:buFontTx/>
                <a:buNone/>
                <a:defRPr/>
              </a:pPr>
              <a:r>
                <a:rPr kumimoji="0" lang="zh-CN" altLang="en-US" sz="2400" kern="1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为</a:t>
              </a:r>
              <a:r>
                <a:rPr kumimoji="0" lang="zh-CN" altLang="zh-CN" sz="2400" kern="1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对称正定惯性矩阵</a:t>
              </a:r>
              <a:endParaRPr kumimoji="0" lang="zh-CN" altLang="en-US" sz="2400" kern="1200" cap="none" spc="0" normalizeH="0" baseline="0" noProof="0" dirty="0">
                <a:latin typeface="Tahoma" panose="020B0604030504040204" pitchFamily="34" charset="0"/>
                <a:ea typeface="宋体" panose="02010600030101010101" pitchFamily="2" charset="-122"/>
                <a:cs typeface="+mn-cs"/>
              </a:endParaRPr>
            </a:p>
          </p:txBody>
        </p:sp>
        <p:sp>
          <p:nvSpPr>
            <p:cNvPr id="54" name="文本框 53"/>
            <p:cNvSpPr txBox="1"/>
            <p:nvPr>
              <p:custDataLst>
                <p:tags r:id="rId6"/>
              </p:custDataLst>
            </p:nvPr>
          </p:nvSpPr>
          <p:spPr>
            <a:xfrm>
              <a:off x="2884711" y="4317808"/>
              <a:ext cx="3506871" cy="540086"/>
            </a:xfrm>
            <a:prstGeom prst="rect">
              <a:avLst/>
            </a:prstGeom>
            <a:noFill/>
          </p:spPr>
          <p:txBody>
            <a:bodyPr wrap="square">
              <a:spAutoFit/>
            </a:bodyPr>
            <a:lstStyle/>
            <a:p>
              <a:pPr marR="0" defTabSz="914400">
                <a:buClrTx/>
                <a:buSzTx/>
                <a:buFontTx/>
                <a:buNone/>
                <a:defRPr/>
              </a:pPr>
              <a:r>
                <a:rPr kumimoji="0" lang="zh-CN" altLang="en-US" sz="2400" kern="1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为</a:t>
              </a:r>
              <a:r>
                <a:rPr kumimoji="0" lang="zh-CN" altLang="zh-CN" sz="2400" kern="1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科氏力和离心力矩阵</a:t>
              </a:r>
              <a:endParaRPr kumimoji="0" lang="zh-CN" altLang="en-US" sz="2400" kern="1200" cap="none" spc="0" normalizeH="0" baseline="0" noProof="0" dirty="0">
                <a:latin typeface="Tahoma" panose="020B0604030504040204" pitchFamily="34" charset="0"/>
                <a:ea typeface="宋体" panose="02010600030101010101" pitchFamily="2" charset="-122"/>
                <a:cs typeface="+mn-cs"/>
              </a:endParaRPr>
            </a:p>
          </p:txBody>
        </p:sp>
        <p:sp>
          <p:nvSpPr>
            <p:cNvPr id="55" name="文本框 54"/>
            <p:cNvSpPr txBox="1"/>
            <p:nvPr>
              <p:custDataLst>
                <p:tags r:id="rId7"/>
              </p:custDataLst>
            </p:nvPr>
          </p:nvSpPr>
          <p:spPr>
            <a:xfrm>
              <a:off x="3582070" y="5055895"/>
              <a:ext cx="2215740" cy="540086"/>
            </a:xfrm>
            <a:prstGeom prst="rect">
              <a:avLst/>
            </a:prstGeom>
            <a:noFill/>
          </p:spPr>
          <p:txBody>
            <a:bodyPr wrap="square">
              <a:spAutoFit/>
            </a:bodyPr>
            <a:lstStyle/>
            <a:p>
              <a:pPr marR="0" defTabSz="914400">
                <a:buClrTx/>
                <a:buSzTx/>
                <a:buFontTx/>
                <a:buNone/>
                <a:defRPr/>
              </a:pPr>
              <a:r>
                <a:rPr kumimoji="0" lang="zh-CN" altLang="en-US" sz="2400" kern="1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为</a:t>
              </a:r>
              <a:r>
                <a:rPr kumimoji="0" lang="zh-CN" altLang="zh-CN" sz="2400" kern="1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重力矢量</a:t>
              </a:r>
              <a:endParaRPr kumimoji="0" lang="zh-CN" altLang="en-US" sz="2400" kern="1200" cap="none" spc="0" normalizeH="0" baseline="0" noProof="0" dirty="0">
                <a:latin typeface="Tahoma" panose="020B0604030504040204" pitchFamily="34" charset="0"/>
                <a:ea typeface="宋体" panose="02010600030101010101" pitchFamily="2" charset="-122"/>
                <a:cs typeface="+mn-cs"/>
              </a:endParaRPr>
            </a:p>
          </p:txBody>
        </p:sp>
        <p:sp>
          <p:nvSpPr>
            <p:cNvPr id="56" name="文本框 55"/>
            <p:cNvSpPr txBox="1"/>
            <p:nvPr>
              <p:custDataLst>
                <p:tags r:id="rId8"/>
              </p:custDataLst>
            </p:nvPr>
          </p:nvSpPr>
          <p:spPr>
            <a:xfrm>
              <a:off x="8154529" y="4658267"/>
              <a:ext cx="2939480" cy="540086"/>
            </a:xfrm>
            <a:prstGeom prst="rect">
              <a:avLst/>
            </a:prstGeom>
            <a:noFill/>
          </p:spPr>
          <p:txBody>
            <a:bodyPr wrap="square">
              <a:spAutoFit/>
            </a:bodyPr>
            <a:lstStyle/>
            <a:p>
              <a:pPr marR="0" defTabSz="914400">
                <a:buClrTx/>
                <a:buSzTx/>
                <a:buFontTx/>
                <a:buNone/>
                <a:defRPr/>
              </a:pPr>
              <a:r>
                <a:rPr kumimoji="0" lang="zh-CN" altLang="en-US" sz="2400" kern="1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为</a:t>
              </a:r>
              <a:r>
                <a:rPr kumimoji="0" lang="zh-CN" altLang="zh-CN" sz="2400" kern="1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重力引起的势能</a:t>
              </a:r>
              <a:endParaRPr kumimoji="0" lang="zh-CN" altLang="en-US" sz="2400" kern="1200" cap="none" spc="0" normalizeH="0" baseline="0" noProof="0" dirty="0">
                <a:latin typeface="Tahoma" panose="020B0604030504040204" pitchFamily="34" charset="0"/>
                <a:ea typeface="宋体" panose="02010600030101010101" pitchFamily="2" charset="-122"/>
                <a:cs typeface="+mn-cs"/>
              </a:endParaRPr>
            </a:p>
          </p:txBody>
        </p:sp>
        <p:sp>
          <p:nvSpPr>
            <p:cNvPr id="57" name="文本框 56"/>
            <p:cNvSpPr txBox="1"/>
            <p:nvPr>
              <p:custDataLst>
                <p:tags r:id="rId9"/>
              </p:custDataLst>
            </p:nvPr>
          </p:nvSpPr>
          <p:spPr>
            <a:xfrm>
              <a:off x="8154529" y="3840914"/>
              <a:ext cx="2514308" cy="540086"/>
            </a:xfrm>
            <a:prstGeom prst="rect">
              <a:avLst/>
            </a:prstGeom>
            <a:noFill/>
          </p:spPr>
          <p:txBody>
            <a:bodyPr wrap="square">
              <a:spAutoFit/>
            </a:bodyPr>
            <a:lstStyle/>
            <a:p>
              <a:pPr marR="0" defTabSz="914400">
                <a:buClrTx/>
                <a:buSzTx/>
                <a:buFontTx/>
                <a:buNone/>
                <a:defRPr/>
              </a:pPr>
              <a:r>
                <a:rPr lang="zh-CN" altLang="en-US" sz="2400" kern="100" dirty="0">
                  <a:latin typeface="Times New Roman" panose="02020603050405020304" pitchFamily="18" charset="0"/>
                  <a:ea typeface="宋体" panose="02010600030101010101" pitchFamily="2" charset="-122"/>
                  <a:cs typeface="Times New Roman" panose="02020603050405020304" pitchFamily="18" charset="0"/>
                </a:rPr>
                <a:t>为</a:t>
              </a:r>
              <a:r>
                <a:rPr kumimoji="0" lang="zh-CN" altLang="zh-CN" sz="2400" kern="100" cap="none" spc="0" normalizeH="0" baseline="0" noProof="0" dirty="0">
                  <a:latin typeface="Times New Roman" panose="02020603050405020304" pitchFamily="18" charset="0"/>
                  <a:ea typeface="宋体" panose="02010600030101010101" pitchFamily="2" charset="-122"/>
                  <a:cs typeface="Times New Roman" panose="02020603050405020304" pitchFamily="18" charset="0"/>
                </a:rPr>
                <a:t>控制力矩矢量</a:t>
              </a:r>
              <a:endParaRPr kumimoji="0" lang="zh-CN" altLang="en-US" sz="2400" kern="1200" cap="none" spc="0" normalizeH="0" baseline="0" noProof="0" dirty="0">
                <a:latin typeface="Tahoma" panose="020B0604030504040204" pitchFamily="34" charset="0"/>
                <a:ea typeface="宋体" panose="02010600030101010101" pitchFamily="2" charset="-122"/>
                <a:cs typeface="+mn-cs"/>
              </a:endParaRPr>
            </a:p>
          </p:txBody>
        </p:sp>
      </p:grpSp>
      <p:sp>
        <p:nvSpPr>
          <p:cNvPr id="4" name="文本框 3">
            <a:extLst>
              <a:ext uri="{FF2B5EF4-FFF2-40B4-BE49-F238E27FC236}">
                <a16:creationId xmlns:a16="http://schemas.microsoft.com/office/drawing/2014/main" id="{7B8FFE5E-917E-BED8-BC00-C7526B11F13E}"/>
              </a:ext>
            </a:extLst>
          </p:cNvPr>
          <p:cNvSpPr txBox="1"/>
          <p:nvPr>
            <p:custDataLst>
              <p:tags r:id="rId4"/>
            </p:custDataLst>
          </p:nvPr>
        </p:nvSpPr>
        <p:spPr>
          <a:xfrm>
            <a:off x="1395413" y="109635"/>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7.2.1</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机器人动力学模型</a:t>
            </a:r>
          </a:p>
        </p:txBody>
      </p:sp>
      <p:sp>
        <p:nvSpPr>
          <p:cNvPr id="6" name="文本框 5">
            <a:extLst>
              <a:ext uri="{FF2B5EF4-FFF2-40B4-BE49-F238E27FC236}">
                <a16:creationId xmlns:a16="http://schemas.microsoft.com/office/drawing/2014/main" id="{087B11A3-F4EF-D692-41FB-49D78293262F}"/>
              </a:ext>
            </a:extLst>
          </p:cNvPr>
          <p:cNvSpPr txBox="1"/>
          <p:nvPr/>
        </p:nvSpPr>
        <p:spPr>
          <a:xfrm>
            <a:off x="10207942" y="2060882"/>
            <a:ext cx="1762125" cy="461665"/>
          </a:xfrm>
          <a:prstGeom prst="rect">
            <a:avLst/>
          </a:prstGeom>
          <a:noFill/>
        </p:spPr>
        <p:txBody>
          <a:bodyPr wrap="square" rtlCol="0">
            <a:spAutoFit/>
          </a:bodyPr>
          <a:lstStyle/>
          <a:p>
            <a:r>
              <a:rPr lang="en-US" altLang="zh-CN" sz="2400" b="1" dirty="0">
                <a:latin typeface="微软雅黑" panose="020B0503020204020204" pitchFamily="34" charset="-122"/>
                <a:ea typeface="微软雅黑" panose="020B0503020204020204" pitchFamily="34" charset="-122"/>
              </a:rPr>
              <a:t>(7.2)</a:t>
            </a:r>
            <a:endParaRPr lang="zh-CN" altLang="en-US" sz="2400" b="1"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12" name="文本框 11">
                <a:extLst>
                  <a:ext uri="{FF2B5EF4-FFF2-40B4-BE49-F238E27FC236}">
                    <a16:creationId xmlns:a16="http://schemas.microsoft.com/office/drawing/2014/main" id="{BF136897-F9F7-35C5-EA35-532CB715C278}"/>
                  </a:ext>
                </a:extLst>
              </p:cNvPr>
              <p:cNvSpPr txBox="1"/>
              <p:nvPr/>
            </p:nvSpPr>
            <p:spPr>
              <a:xfrm>
                <a:off x="978008" y="5880441"/>
                <a:ext cx="9103146" cy="478785"/>
              </a:xfrm>
              <a:prstGeom prst="rect">
                <a:avLst/>
              </a:prstGeom>
              <a:noFill/>
            </p:spPr>
            <p:txBody>
              <a:bodyPr wrap="square" rtlCol="0">
                <a:spAutoFit/>
              </a:bodyPr>
              <a:lstStyle/>
              <a:p>
                <a:r>
                  <a:rPr lang="zh-CN" altLang="en-US" dirty="0"/>
                  <a:t> </a:t>
                </a:r>
                <a14:m>
                  <m:oMath xmlns:m="http://schemas.openxmlformats.org/officeDocument/2006/math">
                    <m:r>
                      <a:rPr lang="zh-CN" altLang="en-US" sz="2400" i="1" smtClean="0">
                        <a:latin typeface="Cambria Math" panose="02040503050406030204" pitchFamily="18" charset="0"/>
                      </a:rPr>
                      <m:t>𝜃</m:t>
                    </m:r>
                    <m:r>
                      <a:rPr lang="zh-CN" altLang="en-US" sz="2400" i="1">
                        <a:latin typeface="Cambria Math" panose="02040503050406030204" pitchFamily="18" charset="0"/>
                      </a:rPr>
                      <m:t>，</m:t>
                    </m:r>
                    <m:acc>
                      <m:accPr>
                        <m:chr m:val="̇"/>
                        <m:ctrlPr>
                          <a:rPr lang="zh-CN" altLang="en-US" sz="2400" i="1" smtClean="0">
                            <a:latin typeface="Cambria Math" panose="02040503050406030204" pitchFamily="18" charset="0"/>
                          </a:rPr>
                        </m:ctrlPr>
                      </m:accPr>
                      <m:e>
                        <m:r>
                          <a:rPr lang="zh-CN" altLang="en-US" sz="2400" i="1">
                            <a:latin typeface="Cambria Math" panose="02040503050406030204" pitchFamily="18" charset="0"/>
                          </a:rPr>
                          <m:t>𝜃</m:t>
                        </m:r>
                      </m:e>
                    </m:acc>
                    <m:r>
                      <a:rPr lang="zh-CN" altLang="en-US" sz="2400" i="1">
                        <a:latin typeface="Cambria Math" panose="02040503050406030204" pitchFamily="18" charset="0"/>
                      </a:rPr>
                      <m:t>，</m:t>
                    </m:r>
                    <m:acc>
                      <m:accPr>
                        <m:chr m:val="̈"/>
                        <m:ctrlPr>
                          <a:rPr lang="zh-CN" altLang="en-US" sz="2400" i="1" smtClean="0">
                            <a:latin typeface="Cambria Math" panose="02040503050406030204" pitchFamily="18" charset="0"/>
                          </a:rPr>
                        </m:ctrlPr>
                      </m:accPr>
                      <m:e>
                        <m:r>
                          <a:rPr lang="zh-CN" altLang="en-US" sz="2400" i="1">
                            <a:latin typeface="Cambria Math" panose="02040503050406030204" pitchFamily="18" charset="0"/>
                          </a:rPr>
                          <m:t>𝜃</m:t>
                        </m:r>
                      </m:e>
                    </m:acc>
                    <m:r>
                      <a:rPr lang="zh-CN" altLang="en-US" sz="2400" i="1" smtClean="0">
                        <a:latin typeface="Cambria Math" panose="02040503050406030204" pitchFamily="18" charset="0"/>
                      </a:rPr>
                      <m:t>∈</m:t>
                    </m:r>
                    <m:r>
                      <m:rPr>
                        <m:sty m:val="p"/>
                      </m:rPr>
                      <a:rPr lang="en-US" altLang="zh-CN" sz="2400" i="1">
                        <a:latin typeface="Cambria Math" panose="02040503050406030204" pitchFamily="18" charset="0"/>
                      </a:rPr>
                      <m:t>R</m:t>
                    </m:r>
                  </m:oMath>
                </a14:m>
                <a:r>
                  <a:rPr lang="zh-CN" altLang="en-US" sz="2400" dirty="0"/>
                  <a:t>分别为关节位置、速度和加速度矢量</a:t>
                </a:r>
              </a:p>
            </p:txBody>
          </p:sp>
        </mc:Choice>
        <mc:Fallback>
          <p:sp>
            <p:nvSpPr>
              <p:cNvPr id="12" name="文本框 11">
                <a:extLst>
                  <a:ext uri="{FF2B5EF4-FFF2-40B4-BE49-F238E27FC236}">
                    <a16:creationId xmlns:a16="http://schemas.microsoft.com/office/drawing/2014/main" id="{BF136897-F9F7-35C5-EA35-532CB715C278}"/>
                  </a:ext>
                </a:extLst>
              </p:cNvPr>
              <p:cNvSpPr txBox="1">
                <a:spLocks noRot="1" noChangeAspect="1" noMove="1" noResize="1" noEditPoints="1" noAdjustHandles="1" noChangeArrowheads="1" noChangeShapeType="1" noTextEdit="1"/>
              </p:cNvSpPr>
              <p:nvPr/>
            </p:nvSpPr>
            <p:spPr>
              <a:xfrm>
                <a:off x="978008" y="5880441"/>
                <a:ext cx="9103146" cy="478785"/>
              </a:xfrm>
              <a:prstGeom prst="rect">
                <a:avLst/>
              </a:prstGeom>
              <a:blipFill>
                <a:blip r:embed="rId19"/>
                <a:stretch>
                  <a:fillRect t="-5128" b="-30769"/>
                </a:stretch>
              </a:blipFill>
            </p:spPr>
            <p:txBody>
              <a:bodyPr/>
              <a:lstStyle/>
              <a:p>
                <a:r>
                  <a:rPr lang="zh-CN"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D54AFF9-0D39-3D32-AA91-07D06BC410DE}"/>
                  </a:ext>
                </a:extLst>
              </p:cNvPr>
              <p:cNvSpPr>
                <a:spLocks noGrp="1"/>
              </p:cNvSpPr>
              <p:nvPr>
                <p:ph idx="1"/>
              </p:nvPr>
            </p:nvSpPr>
            <p:spPr>
              <a:xfrm>
                <a:off x="523876" y="1253331"/>
                <a:ext cx="10896600" cy="4351338"/>
              </a:xfrm>
            </p:spPr>
            <p:txBody>
              <a:bodyPr>
                <a:normAutofit/>
              </a:bodyPr>
              <a:lstStyle/>
              <a:p>
                <a:pPr marL="0" indent="0">
                  <a:buNone/>
                </a:pPr>
                <a:r>
                  <a:rPr lang="zh-CN" altLang="zh-CN" sz="2400" b="1" kern="1000" dirty="0">
                    <a:effectLst/>
                    <a:latin typeface="微软雅黑" panose="020B0503020204020204" pitchFamily="34" charset="-122"/>
                    <a:ea typeface="微软雅黑" panose="020B0503020204020204" pitchFamily="34" charset="-122"/>
                  </a:rPr>
                  <a:t>由第</a:t>
                </a:r>
                <a:r>
                  <a:rPr lang="en-US" altLang="zh-CN" sz="2400" b="1" kern="1000" dirty="0">
                    <a:effectLst/>
                    <a:latin typeface="微软雅黑" panose="020B0503020204020204" pitchFamily="34" charset="-122"/>
                    <a:ea typeface="微软雅黑" panose="020B0503020204020204" pitchFamily="34" charset="-122"/>
                  </a:rPr>
                  <a:t>4</a:t>
                </a:r>
                <a:r>
                  <a:rPr lang="zh-CN" altLang="zh-CN" sz="2400" b="1" kern="1000" dirty="0">
                    <a:effectLst/>
                    <a:latin typeface="微软雅黑" panose="020B0503020204020204" pitchFamily="34" charset="-122"/>
                    <a:ea typeface="微软雅黑" panose="020B0503020204020204" pitchFamily="34" charset="-122"/>
                  </a:rPr>
                  <a:t>章知识可知，式（</a:t>
                </a:r>
                <a:r>
                  <a:rPr lang="en-US" altLang="zh-CN" sz="2400" b="1" kern="1000" dirty="0">
                    <a:effectLst/>
                    <a:latin typeface="微软雅黑" panose="020B0503020204020204" pitchFamily="34" charset="-122"/>
                    <a:ea typeface="微软雅黑" panose="020B0503020204020204" pitchFamily="34" charset="-122"/>
                  </a:rPr>
                  <a:t>7.3</a:t>
                </a:r>
                <a:r>
                  <a:rPr lang="zh-CN" altLang="zh-CN" sz="2400" b="1" kern="1000" dirty="0">
                    <a:effectLst/>
                    <a:latin typeface="微软雅黑" panose="020B0503020204020204" pitchFamily="34" charset="-122"/>
                    <a:ea typeface="微软雅黑" panose="020B0503020204020204" pitchFamily="34" charset="-122"/>
                  </a:rPr>
                  <a:t>）具有以下性质。</a:t>
                </a:r>
                <a:endParaRPr lang="en-US" altLang="zh-CN" sz="2400" b="1" kern="1000" dirty="0">
                  <a:effectLst/>
                  <a:latin typeface="微软雅黑" panose="020B0503020204020204" pitchFamily="34" charset="-122"/>
                  <a:ea typeface="微软雅黑" panose="020B0503020204020204" pitchFamily="34" charset="-122"/>
                </a:endParaRPr>
              </a:p>
              <a:p>
                <a:pPr marL="0" indent="0">
                  <a:buNone/>
                </a:pPr>
                <a:endParaRPr lang="zh-CN" altLang="zh-CN" sz="2400" b="1" kern="1000" dirty="0">
                  <a:effectLst/>
                  <a:latin typeface="微软雅黑" panose="020B0503020204020204" pitchFamily="34" charset="-122"/>
                  <a:ea typeface="微软雅黑" panose="020B0503020204020204" pitchFamily="34" charset="-122"/>
                </a:endParaRPr>
              </a:p>
              <a:p>
                <a:pPr marL="0" indent="0">
                  <a:buNone/>
                </a:pPr>
                <a:r>
                  <a:rPr lang="zh-CN" altLang="en-US" sz="2600" b="1" dirty="0">
                    <a:latin typeface="微软雅黑" panose="020B0503020204020204" pitchFamily="34" charset="-122"/>
                    <a:ea typeface="微软雅黑" panose="020B0503020204020204" pitchFamily="34" charset="-122"/>
                  </a:rPr>
                  <a:t>性质</a:t>
                </a:r>
                <a:r>
                  <a:rPr lang="en-US" altLang="zh-CN" sz="2600" b="1" dirty="0">
                    <a:latin typeface="微软雅黑" panose="020B0503020204020204" pitchFamily="34" charset="-122"/>
                    <a:ea typeface="微软雅黑" panose="020B0503020204020204" pitchFamily="34" charset="-122"/>
                  </a:rPr>
                  <a:t>1(</a:t>
                </a:r>
                <a:r>
                  <a:rPr lang="zh-CN" altLang="en-US" sz="2600" b="1" dirty="0">
                    <a:latin typeface="微软雅黑" panose="020B0503020204020204" pitchFamily="34" charset="-122"/>
                    <a:ea typeface="微软雅黑" panose="020B0503020204020204" pitchFamily="34" charset="-122"/>
                  </a:rPr>
                  <a:t>有界性</a:t>
                </a:r>
                <a:r>
                  <a:rPr lang="en-US" altLang="zh-CN" sz="2600" b="1" dirty="0">
                    <a:latin typeface="微软雅黑" panose="020B0503020204020204" pitchFamily="34" charset="-122"/>
                    <a:ea typeface="微软雅黑" panose="020B0503020204020204" pitchFamily="34" charset="-122"/>
                  </a:rPr>
                  <a:t>)</a:t>
                </a:r>
                <a:r>
                  <a:rPr lang="zh-CN" altLang="en-US" sz="2600" b="1" dirty="0">
                    <a:latin typeface="微软雅黑" panose="020B0503020204020204" pitchFamily="34" charset="-122"/>
                    <a:ea typeface="微软雅黑" panose="020B0503020204020204" pitchFamily="34" charset="-122"/>
                  </a:rPr>
                  <a:t>：存在</a:t>
                </a:r>
                <a:r>
                  <a:rPr lang="en-US" altLang="zh-CN" sz="2600" b="1" dirty="0">
                    <a:latin typeface="微软雅黑" panose="020B0503020204020204" pitchFamily="34" charset="-122"/>
                    <a:ea typeface="微软雅黑" panose="020B0503020204020204" pitchFamily="34" charset="-122"/>
                  </a:rPr>
                  <a:t>4</a:t>
                </a:r>
                <a:r>
                  <a:rPr lang="zh-CN" altLang="en-US" sz="2600" b="1" dirty="0">
                    <a:latin typeface="微软雅黑" panose="020B0503020204020204" pitchFamily="34" charset="-122"/>
                    <a:ea typeface="微软雅黑" panose="020B0503020204020204" pitchFamily="34" charset="-122"/>
                  </a:rPr>
                  <a:t>个正定常数</a:t>
                </a:r>
                <a14:m>
                  <m:oMath xmlns:m="http://schemas.openxmlformats.org/officeDocument/2006/math">
                    <m:sSub>
                      <m:sSubPr>
                        <m:ctrlPr>
                          <a:rPr lang="en-US" altLang="zh-CN" sz="2600" b="1" i="1" smtClean="0">
                            <a:latin typeface="Cambria Math" panose="02040503050406030204" pitchFamily="18" charset="0"/>
                          </a:rPr>
                        </m:ctrlPr>
                      </m:sSubPr>
                      <m:e>
                        <m:r>
                          <a:rPr lang="en-US" altLang="zh-CN" sz="2600" b="1" i="1" smtClean="0">
                            <a:latin typeface="Cambria Math" panose="02040503050406030204" pitchFamily="18" charset="0"/>
                          </a:rPr>
                          <m:t>𝒄</m:t>
                        </m:r>
                      </m:e>
                      <m:sub>
                        <m:r>
                          <a:rPr lang="en-US" altLang="zh-CN" sz="2600" b="1" i="1" smtClean="0">
                            <a:latin typeface="Cambria Math" panose="02040503050406030204" pitchFamily="18" charset="0"/>
                          </a:rPr>
                          <m:t>𝟏</m:t>
                        </m:r>
                      </m:sub>
                    </m:sSub>
                    <m:sSub>
                      <m:sSubPr>
                        <m:ctrlPr>
                          <a:rPr lang="en-US" altLang="zh-CN" sz="2600" b="1" i="1" smtClean="0">
                            <a:latin typeface="Cambria Math" panose="02040503050406030204" pitchFamily="18" charset="0"/>
                          </a:rPr>
                        </m:ctrlPr>
                      </m:sSubPr>
                      <m:e>
                        <m:r>
                          <a:rPr lang="en-US" altLang="zh-CN" sz="2600" b="1" i="1" smtClean="0">
                            <a:latin typeface="Cambria Math" panose="02040503050406030204" pitchFamily="18" charset="0"/>
                          </a:rPr>
                          <m:t>,</m:t>
                        </m:r>
                        <m:r>
                          <a:rPr lang="en-US" altLang="zh-CN" sz="2600" b="1" i="1" smtClean="0">
                            <a:latin typeface="Cambria Math" panose="02040503050406030204" pitchFamily="18" charset="0"/>
                          </a:rPr>
                          <m:t>𝒄</m:t>
                        </m:r>
                      </m:e>
                      <m:sub>
                        <m:r>
                          <a:rPr lang="en-US" altLang="zh-CN" sz="2600" b="1" i="1" smtClean="0">
                            <a:latin typeface="Cambria Math" panose="02040503050406030204" pitchFamily="18" charset="0"/>
                          </a:rPr>
                          <m:t>𝟐</m:t>
                        </m:r>
                      </m:sub>
                    </m:sSub>
                    <m:r>
                      <a:rPr lang="en-US" altLang="zh-CN" sz="2600" b="1" i="1" smtClean="0">
                        <a:latin typeface="Cambria Math" panose="02040503050406030204" pitchFamily="18" charset="0"/>
                      </a:rPr>
                      <m:t>,</m:t>
                    </m:r>
                    <m:sSub>
                      <m:sSubPr>
                        <m:ctrlPr>
                          <a:rPr lang="en-US" altLang="zh-CN" sz="2600" b="1" i="1" smtClean="0">
                            <a:latin typeface="Cambria Math" panose="02040503050406030204" pitchFamily="18" charset="0"/>
                          </a:rPr>
                        </m:ctrlPr>
                      </m:sSubPr>
                      <m:e>
                        <m:r>
                          <a:rPr lang="en-US" altLang="zh-CN" sz="2600" b="1" i="1" smtClean="0">
                            <a:latin typeface="Cambria Math" panose="02040503050406030204" pitchFamily="18" charset="0"/>
                          </a:rPr>
                          <m:t>𝒄</m:t>
                        </m:r>
                      </m:e>
                      <m:sub>
                        <m:r>
                          <a:rPr lang="en-US" altLang="zh-CN" sz="2600" b="1" i="1" smtClean="0">
                            <a:latin typeface="Cambria Math" panose="02040503050406030204" pitchFamily="18" charset="0"/>
                          </a:rPr>
                          <m:t>𝟑</m:t>
                        </m:r>
                      </m:sub>
                    </m:sSub>
                    <m:sSub>
                      <m:sSubPr>
                        <m:ctrlPr>
                          <a:rPr lang="en-US" altLang="zh-CN" sz="2600" b="1" i="1" smtClean="0">
                            <a:latin typeface="Cambria Math" panose="02040503050406030204" pitchFamily="18" charset="0"/>
                          </a:rPr>
                        </m:ctrlPr>
                      </m:sSubPr>
                      <m:e>
                        <m:r>
                          <a:rPr lang="en-US" altLang="zh-CN" sz="2600" b="1" i="1" smtClean="0">
                            <a:latin typeface="Cambria Math" panose="02040503050406030204" pitchFamily="18" charset="0"/>
                          </a:rPr>
                          <m:t>,</m:t>
                        </m:r>
                        <m:r>
                          <a:rPr lang="en-US" altLang="zh-CN" sz="2600" b="1" i="1" smtClean="0">
                            <a:latin typeface="Cambria Math" panose="02040503050406030204" pitchFamily="18" charset="0"/>
                          </a:rPr>
                          <m:t>𝒄</m:t>
                        </m:r>
                      </m:e>
                      <m:sub>
                        <m:r>
                          <a:rPr lang="en-US" altLang="zh-CN" sz="2600" b="1" i="1" smtClean="0">
                            <a:latin typeface="Cambria Math" panose="02040503050406030204" pitchFamily="18" charset="0"/>
                          </a:rPr>
                          <m:t>𝟒</m:t>
                        </m:r>
                      </m:sub>
                    </m:sSub>
                  </m:oMath>
                </a14:m>
                <a:r>
                  <a:rPr lang="zh-CN" altLang="en-US" sz="2600" b="1" dirty="0">
                    <a:latin typeface="微软雅黑" panose="020B0503020204020204" pitchFamily="34" charset="-122"/>
                    <a:ea typeface="微软雅黑" panose="020B0503020204020204" pitchFamily="34" charset="-122"/>
                  </a:rPr>
                  <a:t> ，对任意的</a:t>
                </a:r>
                <a14:m>
                  <m:oMath xmlns:m="http://schemas.openxmlformats.org/officeDocument/2006/math">
                    <m:r>
                      <a:rPr lang="en-US" altLang="zh-CN" sz="2600" b="1" i="1" smtClean="0">
                        <a:latin typeface="Cambria Math" panose="02040503050406030204" pitchFamily="18" charset="0"/>
                      </a:rPr>
                      <m:t>𝒙</m:t>
                    </m:r>
                    <m:r>
                      <a:rPr lang="en-US" altLang="zh-CN" sz="2600" b="1" i="1" smtClean="0">
                        <a:latin typeface="Cambria Math" panose="02040503050406030204" pitchFamily="18" charset="0"/>
                      </a:rPr>
                      <m:t>,</m:t>
                    </m:r>
                    <m:r>
                      <a:rPr lang="en-US" altLang="zh-CN" sz="2600" b="1" i="1" smtClean="0">
                        <a:latin typeface="Cambria Math" panose="02040503050406030204" pitchFamily="18" charset="0"/>
                      </a:rPr>
                      <m:t>𝒚</m:t>
                    </m:r>
                    <m:r>
                      <a:rPr lang="en-US" altLang="zh-CN" sz="2600" b="1" i="1" smtClean="0">
                        <a:latin typeface="Cambria Math" panose="02040503050406030204" pitchFamily="18" charset="0"/>
                      </a:rPr>
                      <m:t>,</m:t>
                    </m:r>
                    <m:r>
                      <a:rPr lang="en-US" altLang="zh-CN" sz="2600" b="1" i="1" smtClean="0">
                        <a:latin typeface="Cambria Math" panose="02040503050406030204" pitchFamily="18" charset="0"/>
                      </a:rPr>
                      <m:t>𝒛</m:t>
                    </m:r>
                    <m:r>
                      <a:rPr lang="en-US" altLang="zh-CN" sz="2600" b="1" i="1" smtClean="0">
                        <a:latin typeface="Cambria Math" panose="02040503050406030204" pitchFamily="18" charset="0"/>
                        <a:ea typeface="Cambria Math" panose="02040503050406030204" pitchFamily="18" charset="0"/>
                      </a:rPr>
                      <m:t>∈</m:t>
                    </m:r>
                    <m:sSup>
                      <m:sSupPr>
                        <m:ctrlPr>
                          <a:rPr lang="en-US" altLang="zh-CN" sz="2600" b="1" i="1" smtClean="0">
                            <a:latin typeface="Cambria Math" panose="02040503050406030204" pitchFamily="18" charset="0"/>
                            <a:ea typeface="Cambria Math" panose="02040503050406030204" pitchFamily="18" charset="0"/>
                          </a:rPr>
                        </m:ctrlPr>
                      </m:sSupPr>
                      <m:e>
                        <m:r>
                          <a:rPr lang="en-US" altLang="zh-CN" sz="2600" b="1" i="1" smtClean="0">
                            <a:latin typeface="Cambria Math" panose="02040503050406030204" pitchFamily="18" charset="0"/>
                            <a:ea typeface="Cambria Math" panose="02040503050406030204" pitchFamily="18" charset="0"/>
                          </a:rPr>
                          <m:t>𝑹</m:t>
                        </m:r>
                      </m:e>
                      <m:sup>
                        <m:r>
                          <a:rPr lang="en-US" altLang="zh-CN" sz="2600" b="1" i="1" smtClean="0">
                            <a:latin typeface="Cambria Math" panose="02040503050406030204" pitchFamily="18" charset="0"/>
                            <a:ea typeface="Cambria Math" panose="02040503050406030204" pitchFamily="18" charset="0"/>
                          </a:rPr>
                          <m:t>𝒏</m:t>
                        </m:r>
                      </m:sup>
                    </m:sSup>
                  </m:oMath>
                </a14:m>
                <a:r>
                  <a:rPr lang="zh-CN" altLang="en-US" sz="2600" b="1" dirty="0">
                    <a:latin typeface="微软雅黑" panose="020B0503020204020204" pitchFamily="34" charset="-122"/>
                    <a:ea typeface="微软雅黑" panose="020B0503020204020204" pitchFamily="34" charset="-122"/>
                  </a:rPr>
                  <a:t> 使得</a:t>
                </a:r>
                <a14:m>
                  <m:oMath xmlns:m="http://schemas.openxmlformats.org/officeDocument/2006/math">
                    <m:r>
                      <a:rPr lang="en-US" altLang="zh-CN" sz="2600" b="1" i="1" smtClean="0">
                        <a:latin typeface="Cambria Math" panose="02040503050406030204" pitchFamily="18" charset="0"/>
                      </a:rPr>
                      <m:t>𝟎</m:t>
                    </m:r>
                    <m:r>
                      <a:rPr lang="en-US" altLang="zh-CN" sz="2600" b="1" i="1" dirty="0" smtClean="0">
                        <a:latin typeface="Cambria Math" panose="02040503050406030204" pitchFamily="18" charset="0"/>
                        <a:ea typeface="Cambria Math" panose="02040503050406030204" pitchFamily="18" charset="0"/>
                      </a:rPr>
                      <m:t>≤</m:t>
                    </m:r>
                    <m:sSub>
                      <m:sSubPr>
                        <m:ctrlPr>
                          <a:rPr lang="en-US" altLang="zh-CN" sz="2600" b="1" i="1" smtClean="0">
                            <a:latin typeface="Cambria Math" panose="02040503050406030204" pitchFamily="18" charset="0"/>
                            <a:ea typeface="Cambria Math" panose="02040503050406030204" pitchFamily="18" charset="0"/>
                          </a:rPr>
                        </m:ctrlPr>
                      </m:sSubPr>
                      <m:e>
                        <m:r>
                          <a:rPr lang="en-US" altLang="zh-CN" sz="2600" b="1" i="1" smtClean="0">
                            <a:latin typeface="Cambria Math" panose="02040503050406030204" pitchFamily="18" charset="0"/>
                            <a:ea typeface="Cambria Math" panose="02040503050406030204" pitchFamily="18" charset="0"/>
                          </a:rPr>
                          <m:t>𝒄</m:t>
                        </m:r>
                      </m:e>
                      <m:sub>
                        <m:r>
                          <a:rPr lang="en-US" altLang="zh-CN" sz="2600" b="1" i="1" smtClean="0">
                            <a:latin typeface="Cambria Math" panose="02040503050406030204" pitchFamily="18" charset="0"/>
                            <a:ea typeface="Cambria Math" panose="02040503050406030204" pitchFamily="18" charset="0"/>
                          </a:rPr>
                          <m:t>𝟏</m:t>
                        </m:r>
                      </m:sub>
                    </m:sSub>
                    <m:sSub>
                      <m:sSubPr>
                        <m:ctrlPr>
                          <a:rPr lang="en-US" altLang="zh-CN" sz="2600" b="1" i="1" smtClean="0">
                            <a:latin typeface="Cambria Math" panose="02040503050406030204" pitchFamily="18" charset="0"/>
                            <a:ea typeface="Cambria Math" panose="02040503050406030204" pitchFamily="18" charset="0"/>
                          </a:rPr>
                        </m:ctrlPr>
                      </m:sSubPr>
                      <m:e>
                        <m:r>
                          <a:rPr lang="en-US" altLang="zh-CN" sz="2600" b="1" i="1" smtClean="0">
                            <a:latin typeface="Cambria Math" panose="02040503050406030204" pitchFamily="18" charset="0"/>
                            <a:ea typeface="Cambria Math" panose="02040503050406030204" pitchFamily="18" charset="0"/>
                          </a:rPr>
                          <m:t>𝑰</m:t>
                        </m:r>
                      </m:e>
                      <m:sub>
                        <m:r>
                          <a:rPr lang="en-US" altLang="zh-CN" sz="2600" b="1" i="1" smtClean="0">
                            <a:latin typeface="Cambria Math" panose="02040503050406030204" pitchFamily="18" charset="0"/>
                            <a:ea typeface="Cambria Math" panose="02040503050406030204" pitchFamily="18" charset="0"/>
                          </a:rPr>
                          <m:t>𝒏</m:t>
                        </m:r>
                      </m:sub>
                    </m:sSub>
                    <m:r>
                      <a:rPr lang="en-US" altLang="zh-CN" sz="2600" b="1" i="1" smtClean="0">
                        <a:latin typeface="Cambria Math" panose="02040503050406030204" pitchFamily="18" charset="0"/>
                        <a:ea typeface="Cambria Math" panose="02040503050406030204" pitchFamily="18" charset="0"/>
                      </a:rPr>
                      <m:t>≤</m:t>
                    </m:r>
                    <m:r>
                      <a:rPr lang="en-US" altLang="zh-CN" sz="2600" b="1" i="1" smtClean="0">
                        <a:latin typeface="Cambria Math" panose="02040503050406030204" pitchFamily="18" charset="0"/>
                        <a:ea typeface="Cambria Math" panose="02040503050406030204" pitchFamily="18" charset="0"/>
                      </a:rPr>
                      <m:t>𝑴</m:t>
                    </m:r>
                    <m:d>
                      <m:dPr>
                        <m:ctrlPr>
                          <a:rPr lang="en-US" altLang="zh-CN" sz="2600" b="1" i="1" smtClean="0">
                            <a:latin typeface="Cambria Math" panose="02040503050406030204" pitchFamily="18" charset="0"/>
                            <a:ea typeface="Cambria Math" panose="02040503050406030204" pitchFamily="18" charset="0"/>
                          </a:rPr>
                        </m:ctrlPr>
                      </m:dPr>
                      <m:e>
                        <m:r>
                          <a:rPr lang="en-US" altLang="zh-CN" sz="2600" b="1" i="1" smtClean="0">
                            <a:latin typeface="Cambria Math" panose="02040503050406030204" pitchFamily="18" charset="0"/>
                            <a:ea typeface="Cambria Math" panose="02040503050406030204" pitchFamily="18" charset="0"/>
                          </a:rPr>
                          <m:t>𝜽</m:t>
                        </m:r>
                      </m:e>
                    </m:d>
                    <m:r>
                      <a:rPr lang="en-US" altLang="zh-CN" sz="2600" b="1" i="1" smtClean="0">
                        <a:latin typeface="Cambria Math" panose="02040503050406030204" pitchFamily="18" charset="0"/>
                        <a:ea typeface="Cambria Math" panose="02040503050406030204" pitchFamily="18" charset="0"/>
                      </a:rPr>
                      <m:t>≤</m:t>
                    </m:r>
                    <m:sSub>
                      <m:sSubPr>
                        <m:ctrlPr>
                          <a:rPr lang="en-US" altLang="zh-CN" sz="2600" b="1" i="1">
                            <a:latin typeface="Cambria Math" panose="02040503050406030204" pitchFamily="18" charset="0"/>
                            <a:ea typeface="Cambria Math" panose="02040503050406030204" pitchFamily="18" charset="0"/>
                          </a:rPr>
                        </m:ctrlPr>
                      </m:sSubPr>
                      <m:e>
                        <m:r>
                          <a:rPr lang="en-US" altLang="zh-CN" sz="2600" b="1" i="1">
                            <a:latin typeface="Cambria Math" panose="02040503050406030204" pitchFamily="18" charset="0"/>
                            <a:ea typeface="Cambria Math" panose="02040503050406030204" pitchFamily="18" charset="0"/>
                          </a:rPr>
                          <m:t>𝒄</m:t>
                        </m:r>
                      </m:e>
                      <m:sub>
                        <m:r>
                          <a:rPr lang="en-US" altLang="zh-CN" sz="2600" b="1" i="1" smtClean="0">
                            <a:latin typeface="Cambria Math" panose="02040503050406030204" pitchFamily="18" charset="0"/>
                            <a:ea typeface="Cambria Math" panose="02040503050406030204" pitchFamily="18" charset="0"/>
                          </a:rPr>
                          <m:t>𝟐</m:t>
                        </m:r>
                      </m:sub>
                    </m:sSub>
                    <m:sSub>
                      <m:sSubPr>
                        <m:ctrlPr>
                          <a:rPr lang="en-US" altLang="zh-CN" sz="2600" b="1" i="1">
                            <a:latin typeface="Cambria Math" panose="02040503050406030204" pitchFamily="18" charset="0"/>
                            <a:ea typeface="Cambria Math" panose="02040503050406030204" pitchFamily="18" charset="0"/>
                          </a:rPr>
                        </m:ctrlPr>
                      </m:sSubPr>
                      <m:e>
                        <m:r>
                          <a:rPr lang="en-US" altLang="zh-CN" sz="2600" b="1" i="1">
                            <a:latin typeface="Cambria Math" panose="02040503050406030204" pitchFamily="18" charset="0"/>
                            <a:ea typeface="Cambria Math" panose="02040503050406030204" pitchFamily="18" charset="0"/>
                          </a:rPr>
                          <m:t>𝑰</m:t>
                        </m:r>
                      </m:e>
                      <m:sub>
                        <m:r>
                          <a:rPr lang="en-US" altLang="zh-CN" sz="2600" b="1" i="1">
                            <a:latin typeface="Cambria Math" panose="02040503050406030204" pitchFamily="18" charset="0"/>
                            <a:ea typeface="Cambria Math" panose="02040503050406030204" pitchFamily="18" charset="0"/>
                          </a:rPr>
                          <m:t>𝒏</m:t>
                        </m:r>
                      </m:sub>
                    </m:sSub>
                    <m:r>
                      <a:rPr lang="zh-CN" altLang="en-US" sz="2600" b="1" i="1" smtClean="0">
                        <a:latin typeface="Cambria Math" panose="02040503050406030204" pitchFamily="18" charset="0"/>
                        <a:ea typeface="Cambria Math" panose="02040503050406030204" pitchFamily="18" charset="0"/>
                      </a:rPr>
                      <m:t>，</m:t>
                    </m:r>
                    <m:d>
                      <m:dPr>
                        <m:begChr m:val="‖"/>
                        <m:endChr m:val="‖"/>
                        <m:ctrlPr>
                          <a:rPr lang="en-US" altLang="zh-CN" sz="2600" b="1" i="1" smtClean="0">
                            <a:latin typeface="Cambria Math" panose="02040503050406030204" pitchFamily="18" charset="0"/>
                            <a:ea typeface="Cambria Math" panose="02040503050406030204" pitchFamily="18" charset="0"/>
                          </a:rPr>
                        </m:ctrlPr>
                      </m:dPr>
                      <m:e>
                        <m:d>
                          <m:dPr>
                            <m:begChr m:val=""/>
                            <m:endChr m:val=""/>
                            <m:ctrlPr>
                              <a:rPr lang="en-US" altLang="zh-CN" sz="2600" b="1" i="1" dirty="0">
                                <a:latin typeface="Cambria Math" panose="02040503050406030204" pitchFamily="18" charset="0"/>
                              </a:rPr>
                            </m:ctrlPr>
                          </m:dPr>
                          <m:e>
                            <m:r>
                              <a:rPr lang="en-US" altLang="zh-CN" sz="2600" b="1" i="1">
                                <a:latin typeface="Cambria Math" panose="02040503050406030204" pitchFamily="18" charset="0"/>
                                <a:ea typeface="Cambria Math" panose="02040503050406030204" pitchFamily="18" charset="0"/>
                              </a:rPr>
                              <m:t>𝑪</m:t>
                            </m:r>
                            <m:d>
                              <m:dPr>
                                <m:ctrlPr>
                                  <a:rPr lang="en-US" altLang="zh-CN" sz="2600" b="1" i="1">
                                    <a:latin typeface="Cambria Math" panose="02040503050406030204" pitchFamily="18" charset="0"/>
                                    <a:ea typeface="Cambria Math" panose="02040503050406030204" pitchFamily="18" charset="0"/>
                                  </a:rPr>
                                </m:ctrlPr>
                              </m:dPr>
                              <m:e>
                                <m:r>
                                  <a:rPr lang="en-US" altLang="zh-CN" sz="2600" b="1" i="1">
                                    <a:latin typeface="Cambria Math" panose="02040503050406030204" pitchFamily="18" charset="0"/>
                                    <a:ea typeface="Cambria Math" panose="02040503050406030204" pitchFamily="18" charset="0"/>
                                  </a:rPr>
                                  <m:t>𝒙</m:t>
                                </m:r>
                                <m:r>
                                  <a:rPr lang="en-US" altLang="zh-CN" sz="2600" b="1" i="1">
                                    <a:latin typeface="Cambria Math" panose="02040503050406030204" pitchFamily="18" charset="0"/>
                                    <a:ea typeface="Cambria Math" panose="02040503050406030204" pitchFamily="18" charset="0"/>
                                  </a:rPr>
                                  <m:t>,</m:t>
                                </m:r>
                                <m:r>
                                  <a:rPr lang="en-US" altLang="zh-CN" sz="2600" b="1" i="1">
                                    <a:latin typeface="Cambria Math" panose="02040503050406030204" pitchFamily="18" charset="0"/>
                                    <a:ea typeface="Cambria Math" panose="02040503050406030204" pitchFamily="18" charset="0"/>
                                  </a:rPr>
                                  <m:t>𝒚</m:t>
                                </m:r>
                              </m:e>
                            </m:d>
                            <m:r>
                              <a:rPr lang="en-US" altLang="zh-CN" sz="2600" b="1" i="1">
                                <a:latin typeface="Cambria Math" panose="02040503050406030204" pitchFamily="18" charset="0"/>
                                <a:ea typeface="Cambria Math" panose="02040503050406030204" pitchFamily="18" charset="0"/>
                              </a:rPr>
                              <m:t>𝒛</m:t>
                            </m:r>
                          </m:e>
                        </m:d>
                      </m:e>
                    </m:d>
                    <m:r>
                      <a:rPr lang="en-US" altLang="zh-CN" sz="2600" b="1" i="1" smtClean="0">
                        <a:latin typeface="Cambria Math" panose="02040503050406030204" pitchFamily="18" charset="0"/>
                        <a:ea typeface="Cambria Math" panose="02040503050406030204" pitchFamily="18" charset="0"/>
                      </a:rPr>
                      <m:t>≤</m:t>
                    </m:r>
                    <m:sSub>
                      <m:sSubPr>
                        <m:ctrlPr>
                          <a:rPr lang="en-US" altLang="zh-CN" sz="2600" b="1" i="1" smtClean="0">
                            <a:latin typeface="Cambria Math" panose="02040503050406030204" pitchFamily="18" charset="0"/>
                            <a:ea typeface="Cambria Math" panose="02040503050406030204" pitchFamily="18" charset="0"/>
                          </a:rPr>
                        </m:ctrlPr>
                      </m:sSubPr>
                      <m:e>
                        <m:r>
                          <a:rPr lang="en-US" altLang="zh-CN" sz="2600" b="1" i="1" smtClean="0">
                            <a:latin typeface="Cambria Math" panose="02040503050406030204" pitchFamily="18" charset="0"/>
                            <a:ea typeface="Cambria Math" panose="02040503050406030204" pitchFamily="18" charset="0"/>
                          </a:rPr>
                          <m:t>𝒄</m:t>
                        </m:r>
                      </m:e>
                      <m:sub>
                        <m:r>
                          <a:rPr lang="en-US" altLang="zh-CN" sz="2600" b="1" i="1" smtClean="0">
                            <a:latin typeface="Cambria Math" panose="02040503050406030204" pitchFamily="18" charset="0"/>
                            <a:ea typeface="Cambria Math" panose="02040503050406030204" pitchFamily="18" charset="0"/>
                          </a:rPr>
                          <m:t>𝟑</m:t>
                        </m:r>
                      </m:sub>
                    </m:sSub>
                    <m:d>
                      <m:dPr>
                        <m:begChr m:val="‖"/>
                        <m:endChr m:val="‖"/>
                        <m:ctrlPr>
                          <a:rPr lang="en-US" altLang="zh-CN" sz="2600" b="1" i="1" smtClean="0">
                            <a:latin typeface="Cambria Math" panose="02040503050406030204" pitchFamily="18" charset="0"/>
                            <a:ea typeface="Cambria Math" panose="02040503050406030204" pitchFamily="18" charset="0"/>
                          </a:rPr>
                        </m:ctrlPr>
                      </m:dPr>
                      <m:e>
                        <m:r>
                          <a:rPr lang="en-US" altLang="zh-CN" sz="2600" b="1" i="1" smtClean="0">
                            <a:latin typeface="Cambria Math" panose="02040503050406030204" pitchFamily="18" charset="0"/>
                            <a:ea typeface="Cambria Math" panose="02040503050406030204" pitchFamily="18" charset="0"/>
                          </a:rPr>
                          <m:t>𝒙</m:t>
                        </m:r>
                      </m:e>
                    </m:d>
                    <m:d>
                      <m:dPr>
                        <m:begChr m:val="‖"/>
                        <m:endChr m:val="‖"/>
                        <m:ctrlPr>
                          <a:rPr lang="en-US" altLang="zh-CN" sz="2600" b="1" i="1" smtClean="0">
                            <a:latin typeface="Cambria Math" panose="02040503050406030204" pitchFamily="18" charset="0"/>
                            <a:ea typeface="Cambria Math" panose="02040503050406030204" pitchFamily="18" charset="0"/>
                          </a:rPr>
                        </m:ctrlPr>
                      </m:dPr>
                      <m:e>
                        <m:r>
                          <a:rPr lang="en-US" altLang="zh-CN" sz="2600" b="1" i="1" smtClean="0">
                            <a:latin typeface="Cambria Math" panose="02040503050406030204" pitchFamily="18" charset="0"/>
                            <a:ea typeface="Cambria Math" panose="02040503050406030204" pitchFamily="18" charset="0"/>
                          </a:rPr>
                          <m:t>𝒛</m:t>
                        </m:r>
                      </m:e>
                    </m:d>
                  </m:oMath>
                </a14:m>
                <a:r>
                  <a:rPr lang="zh-CN" altLang="en-US" sz="2600" b="1" dirty="0">
                    <a:latin typeface="微软雅黑" panose="020B0503020204020204" pitchFamily="34" charset="-122"/>
                    <a:ea typeface="微软雅黑" panose="020B0503020204020204" pitchFamily="34" charset="-122"/>
                  </a:rPr>
                  <a:t>，</a:t>
                </a:r>
                <a:r>
                  <a:rPr lang="en-US" altLang="zh-CN" sz="2600" b="1" dirty="0">
                    <a:latin typeface="微软雅黑" panose="020B0503020204020204" pitchFamily="34" charset="-122"/>
                    <a:ea typeface="微软雅黑" panose="020B0503020204020204" pitchFamily="34" charset="-122"/>
                  </a:rPr>
                  <a:t> </a:t>
                </a:r>
                <a14:m>
                  <m:oMath xmlns:m="http://schemas.openxmlformats.org/officeDocument/2006/math">
                    <m:d>
                      <m:dPr>
                        <m:begChr m:val="‖"/>
                        <m:endChr m:val="‖"/>
                        <m:ctrlPr>
                          <a:rPr lang="en-US" altLang="zh-CN" sz="2600" b="1" i="1" smtClean="0">
                            <a:latin typeface="Cambria Math" panose="02040503050406030204" pitchFamily="18" charset="0"/>
                            <a:ea typeface="Cambria Math" panose="02040503050406030204" pitchFamily="18" charset="0"/>
                          </a:rPr>
                        </m:ctrlPr>
                      </m:dPr>
                      <m:e>
                        <m:r>
                          <a:rPr lang="en-US" altLang="zh-CN" sz="2600" b="1" i="1" smtClean="0">
                            <a:latin typeface="Cambria Math" panose="02040503050406030204" pitchFamily="18" charset="0"/>
                            <a:ea typeface="Cambria Math" panose="02040503050406030204" pitchFamily="18" charset="0"/>
                          </a:rPr>
                          <m:t>𝑮</m:t>
                        </m:r>
                        <m:d>
                          <m:dPr>
                            <m:ctrlPr>
                              <a:rPr lang="en-US" altLang="zh-CN" sz="2600" b="1" i="1" smtClean="0">
                                <a:latin typeface="Cambria Math" panose="02040503050406030204" pitchFamily="18" charset="0"/>
                                <a:ea typeface="Cambria Math" panose="02040503050406030204" pitchFamily="18" charset="0"/>
                              </a:rPr>
                            </m:ctrlPr>
                          </m:dPr>
                          <m:e>
                            <m:r>
                              <a:rPr lang="zh-CN" altLang="en-US" sz="2600" b="1" i="1" smtClean="0">
                                <a:latin typeface="Cambria Math" panose="02040503050406030204" pitchFamily="18" charset="0"/>
                                <a:ea typeface="Cambria Math" panose="02040503050406030204" pitchFamily="18" charset="0"/>
                              </a:rPr>
                              <m:t>𝜽</m:t>
                            </m:r>
                          </m:e>
                        </m:d>
                      </m:e>
                    </m:d>
                    <m:r>
                      <a:rPr lang="en-US" altLang="zh-CN" sz="2600" b="1" i="1">
                        <a:latin typeface="Cambria Math" panose="02040503050406030204" pitchFamily="18" charset="0"/>
                        <a:ea typeface="Cambria Math" panose="02040503050406030204" pitchFamily="18" charset="0"/>
                      </a:rPr>
                      <m:t> </m:t>
                    </m:r>
                    <m:r>
                      <a:rPr lang="en-US" altLang="zh-CN" sz="2600" b="1" i="1" smtClean="0">
                        <a:latin typeface="Cambria Math" panose="02040503050406030204" pitchFamily="18" charset="0"/>
                        <a:ea typeface="Cambria Math" panose="02040503050406030204" pitchFamily="18" charset="0"/>
                      </a:rPr>
                      <m:t>≤</m:t>
                    </m:r>
                    <m:sSub>
                      <m:sSubPr>
                        <m:ctrlPr>
                          <a:rPr lang="en-US" altLang="zh-CN" sz="2600" b="1" i="1">
                            <a:latin typeface="Cambria Math" panose="02040503050406030204" pitchFamily="18" charset="0"/>
                            <a:ea typeface="Cambria Math" panose="02040503050406030204" pitchFamily="18" charset="0"/>
                          </a:rPr>
                        </m:ctrlPr>
                      </m:sSubPr>
                      <m:e>
                        <m:r>
                          <a:rPr lang="en-US" altLang="zh-CN" sz="2600" b="1" i="1">
                            <a:latin typeface="Cambria Math" panose="02040503050406030204" pitchFamily="18" charset="0"/>
                            <a:ea typeface="Cambria Math" panose="02040503050406030204" pitchFamily="18" charset="0"/>
                          </a:rPr>
                          <m:t>𝒄</m:t>
                        </m:r>
                      </m:e>
                      <m:sub>
                        <m:r>
                          <a:rPr lang="en-US" altLang="zh-CN" sz="2600" b="1" i="1" smtClean="0">
                            <a:latin typeface="Cambria Math" panose="02040503050406030204" pitchFamily="18" charset="0"/>
                            <a:ea typeface="Cambria Math" panose="02040503050406030204" pitchFamily="18" charset="0"/>
                          </a:rPr>
                          <m:t>𝟒</m:t>
                        </m:r>
                      </m:sub>
                    </m:sSub>
                  </m:oMath>
                </a14:m>
                <a:r>
                  <a:rPr lang="zh-CN" altLang="en-US" sz="2600" b="1" dirty="0">
                    <a:latin typeface="微软雅黑" panose="020B0503020204020204" pitchFamily="34" charset="-122"/>
                    <a:ea typeface="微软雅黑" panose="020B0503020204020204" pitchFamily="34" charset="-122"/>
                  </a:rPr>
                  <a:t>。</a:t>
                </a:r>
              </a:p>
              <a:p>
                <a:pPr marL="0" indent="0">
                  <a:buNone/>
                </a:pPr>
                <a:r>
                  <a:rPr lang="zh-CN" altLang="en-US" sz="2600" b="1" dirty="0">
                    <a:latin typeface="微软雅黑" panose="020B0503020204020204" pitchFamily="34" charset="-122"/>
                    <a:ea typeface="微软雅黑" panose="020B0503020204020204" pitchFamily="34" charset="-122"/>
                  </a:rPr>
                  <a:t>性质</a:t>
                </a:r>
                <a:r>
                  <a:rPr lang="en-US" altLang="zh-CN" sz="2600" b="1" dirty="0">
                    <a:latin typeface="微软雅黑" panose="020B0503020204020204" pitchFamily="34" charset="-122"/>
                    <a:ea typeface="微软雅黑" panose="020B0503020204020204" pitchFamily="34" charset="-122"/>
                  </a:rPr>
                  <a:t>2(</a:t>
                </a:r>
                <a:r>
                  <a:rPr lang="zh-CN" altLang="en-US" sz="2600" b="1" dirty="0">
                    <a:latin typeface="微软雅黑" panose="020B0503020204020204" pitchFamily="34" charset="-122"/>
                    <a:ea typeface="微软雅黑" panose="020B0503020204020204" pitchFamily="34" charset="-122"/>
                  </a:rPr>
                  <a:t>反对称性</a:t>
                </a:r>
                <a:r>
                  <a:rPr lang="en-US" altLang="zh-CN" sz="2600" b="1" dirty="0">
                    <a:latin typeface="微软雅黑" panose="020B0503020204020204" pitchFamily="34" charset="-122"/>
                    <a:ea typeface="微软雅黑" panose="020B0503020204020204" pitchFamily="34" charset="-122"/>
                  </a:rPr>
                  <a:t>)</a:t>
                </a:r>
                <a:r>
                  <a:rPr lang="zh-CN" altLang="en-US" sz="2600" b="1" dirty="0">
                    <a:latin typeface="微软雅黑" panose="020B0503020204020204" pitchFamily="34" charset="-122"/>
                    <a:ea typeface="微软雅黑" panose="020B0503020204020204" pitchFamily="34" charset="-122"/>
                  </a:rPr>
                  <a:t>：矩阵 </a:t>
                </a:r>
                <a14:m>
                  <m:oMath xmlns:m="http://schemas.openxmlformats.org/officeDocument/2006/math">
                    <m:acc>
                      <m:accPr>
                        <m:chr m:val="̇"/>
                        <m:ctrlPr>
                          <a:rPr lang="zh-CN" altLang="en-US" sz="2600" b="1" i="1" smtClean="0">
                            <a:latin typeface="Cambria Math" panose="02040503050406030204" pitchFamily="18" charset="0"/>
                          </a:rPr>
                        </m:ctrlPr>
                      </m:accPr>
                      <m:e>
                        <m:r>
                          <a:rPr lang="en-US" altLang="zh-CN" sz="2600" b="1" i="1">
                            <a:latin typeface="Cambria Math" panose="02040503050406030204" pitchFamily="18" charset="0"/>
                            <a:ea typeface="Cambria Math" panose="02040503050406030204" pitchFamily="18" charset="0"/>
                          </a:rPr>
                          <m:t>𝑴</m:t>
                        </m:r>
                      </m:e>
                    </m:acc>
                    <m:r>
                      <a:rPr lang="zh-CN" altLang="en-US" sz="2600" b="1" i="1" smtClean="0">
                        <a:latin typeface="Cambria Math" panose="02040503050406030204" pitchFamily="18" charset="0"/>
                      </a:rPr>
                      <m:t>−</m:t>
                    </m:r>
                    <m:r>
                      <a:rPr lang="en-US" altLang="zh-CN" sz="2600" b="1" i="1" smtClean="0">
                        <a:latin typeface="Cambria Math" panose="02040503050406030204" pitchFamily="18" charset="0"/>
                      </a:rPr>
                      <m:t>𝟐</m:t>
                    </m:r>
                    <m:r>
                      <a:rPr lang="en-US" altLang="zh-CN" sz="2600" b="1" i="1" smtClean="0">
                        <a:latin typeface="Cambria Math" panose="02040503050406030204" pitchFamily="18" charset="0"/>
                      </a:rPr>
                      <m:t>𝑪</m:t>
                    </m:r>
                  </m:oMath>
                </a14:m>
                <a:r>
                  <a:rPr lang="zh-CN" altLang="en-US" sz="2600" b="1" dirty="0">
                    <a:latin typeface="微软雅黑" panose="020B0503020204020204" pitchFamily="34" charset="-122"/>
                    <a:ea typeface="微软雅黑" panose="020B0503020204020204" pitchFamily="34" charset="-122"/>
                  </a:rPr>
                  <a:t>是反对称的，即</a:t>
                </a:r>
                <a14:m>
                  <m:oMath xmlns:m="http://schemas.openxmlformats.org/officeDocument/2006/math">
                    <m:r>
                      <a:rPr lang="en-US" altLang="zh-CN" sz="2600" b="1" i="1">
                        <a:latin typeface="Cambria Math" panose="02040503050406030204" pitchFamily="18" charset="0"/>
                        <a:ea typeface="Cambria Math" panose="02040503050406030204" pitchFamily="18" charset="0"/>
                      </a:rPr>
                      <m:t>𝒙</m:t>
                    </m:r>
                    <m:r>
                      <a:rPr lang="en-US" altLang="zh-CN" sz="2600" b="1" i="1">
                        <a:latin typeface="Cambria Math" panose="02040503050406030204" pitchFamily="18" charset="0"/>
                        <a:ea typeface="Cambria Math" panose="02040503050406030204" pitchFamily="18" charset="0"/>
                      </a:rPr>
                      <m:t> </m:t>
                    </m:r>
                    <m:d>
                      <m:dPr>
                        <m:ctrlPr>
                          <a:rPr lang="en-US" altLang="zh-CN" sz="2600" b="1" i="1" smtClean="0">
                            <a:latin typeface="Cambria Math" panose="02040503050406030204" pitchFamily="18" charset="0"/>
                          </a:rPr>
                        </m:ctrlPr>
                      </m:dPr>
                      <m:e>
                        <m:acc>
                          <m:accPr>
                            <m:chr m:val="̇"/>
                            <m:ctrlPr>
                              <a:rPr lang="zh-CN" altLang="en-US" sz="2600" b="1" i="1">
                                <a:latin typeface="Cambria Math" panose="02040503050406030204" pitchFamily="18" charset="0"/>
                              </a:rPr>
                            </m:ctrlPr>
                          </m:accPr>
                          <m:e>
                            <m:r>
                              <a:rPr lang="en-US" altLang="zh-CN" sz="2600" b="1" i="1">
                                <a:latin typeface="Cambria Math" panose="02040503050406030204" pitchFamily="18" charset="0"/>
                                <a:ea typeface="Cambria Math" panose="02040503050406030204" pitchFamily="18" charset="0"/>
                              </a:rPr>
                              <m:t>𝑴</m:t>
                            </m:r>
                          </m:e>
                        </m:acc>
                        <m:r>
                          <a:rPr lang="zh-CN" altLang="en-US" sz="2600" b="1" i="1">
                            <a:latin typeface="Cambria Math" panose="02040503050406030204" pitchFamily="18" charset="0"/>
                          </a:rPr>
                          <m:t>−</m:t>
                        </m:r>
                        <m:r>
                          <a:rPr lang="en-US" altLang="zh-CN" sz="2600" b="1" i="1">
                            <a:latin typeface="Cambria Math" panose="02040503050406030204" pitchFamily="18" charset="0"/>
                          </a:rPr>
                          <m:t>𝟐</m:t>
                        </m:r>
                        <m:r>
                          <a:rPr lang="en-US" altLang="zh-CN" sz="2600" b="1" i="1">
                            <a:latin typeface="Cambria Math" panose="02040503050406030204" pitchFamily="18" charset="0"/>
                          </a:rPr>
                          <m:t>𝑪</m:t>
                        </m:r>
                      </m:e>
                    </m:d>
                  </m:oMath>
                </a14:m>
                <a:r>
                  <a:rPr lang="en-US" altLang="zh-CN" sz="2600" b="1" dirty="0">
                    <a:latin typeface="微软雅黑" panose="020B0503020204020204" pitchFamily="34" charset="-122"/>
                    <a:ea typeface="微软雅黑" panose="020B0503020204020204" pitchFamily="34" charset="-122"/>
                  </a:rPr>
                  <a:t> </a:t>
                </a:r>
                <a14:m>
                  <m:oMath xmlns:m="http://schemas.openxmlformats.org/officeDocument/2006/math">
                    <m:r>
                      <a:rPr lang="en-US" altLang="zh-CN" sz="2600" b="1" i="1" smtClean="0">
                        <a:latin typeface="Cambria Math" panose="02040503050406030204" pitchFamily="18" charset="0"/>
                        <a:ea typeface="Cambria Math" panose="02040503050406030204" pitchFamily="18" charset="0"/>
                      </a:rPr>
                      <m:t>𝒙</m:t>
                    </m:r>
                    <m:r>
                      <a:rPr lang="en-US" altLang="zh-CN" sz="2600" b="1" i="1" smtClean="0">
                        <a:latin typeface="Cambria Math" panose="02040503050406030204" pitchFamily="18" charset="0"/>
                        <a:ea typeface="Cambria Math" panose="02040503050406030204" pitchFamily="18" charset="0"/>
                      </a:rPr>
                      <m:t> =</m:t>
                    </m:r>
                    <m:r>
                      <a:rPr lang="en-US" altLang="zh-CN" sz="2600" b="1" i="1" smtClean="0">
                        <a:latin typeface="Cambria Math" panose="02040503050406030204" pitchFamily="18" charset="0"/>
                        <a:ea typeface="Cambria Math" panose="02040503050406030204" pitchFamily="18" charset="0"/>
                      </a:rPr>
                      <m:t>𝟎</m:t>
                    </m:r>
                  </m:oMath>
                </a14:m>
                <a:r>
                  <a:rPr lang="zh-CN" altLang="en-US" sz="2600" b="1" dirty="0">
                    <a:latin typeface="微软雅黑" panose="020B0503020204020204" pitchFamily="34" charset="-122"/>
                    <a:ea typeface="微软雅黑" panose="020B0503020204020204" pitchFamily="34" charset="-122"/>
                  </a:rPr>
                  <a:t> ，</a:t>
                </a:r>
                <a:endParaRPr lang="en-US" altLang="zh-CN" sz="2600" b="1" dirty="0">
                  <a:latin typeface="微软雅黑" panose="020B0503020204020204" pitchFamily="34" charset="-122"/>
                  <a:ea typeface="微软雅黑" panose="020B0503020204020204" pitchFamily="34" charset="-122"/>
                </a:endParaRPr>
              </a:p>
              <a:p>
                <a:pPr marL="0" indent="0">
                  <a:buNone/>
                </a:pPr>
                <a14:m>
                  <m:oMath xmlns:m="http://schemas.openxmlformats.org/officeDocument/2006/math">
                    <m:r>
                      <a:rPr lang="en-US" altLang="zh-CN" sz="2600" b="1" i="1" smtClean="0">
                        <a:latin typeface="Cambria Math" panose="02040503050406030204" pitchFamily="18" charset="0"/>
                        <a:ea typeface="Cambria Math" panose="02040503050406030204" pitchFamily="18" charset="0"/>
                      </a:rPr>
                      <m:t>𝒙</m:t>
                    </m:r>
                  </m:oMath>
                </a14:m>
                <a:r>
                  <a:rPr lang="en-US" altLang="zh-CN" sz="2600" b="1" dirty="0">
                    <a:latin typeface="微软雅黑" panose="020B0503020204020204" pitchFamily="34" charset="-122"/>
                    <a:ea typeface="微软雅黑" panose="020B0503020204020204" pitchFamily="34" charset="-122"/>
                  </a:rPr>
                  <a:t> </a:t>
                </a:r>
                <a14:m>
                  <m:oMath xmlns:m="http://schemas.openxmlformats.org/officeDocument/2006/math">
                    <m:r>
                      <a:rPr lang="en-US" altLang="zh-CN" sz="2600" b="1" i="1">
                        <a:latin typeface="Cambria Math" panose="02040503050406030204" pitchFamily="18" charset="0"/>
                        <a:ea typeface="Cambria Math" panose="02040503050406030204" pitchFamily="18" charset="0"/>
                      </a:rPr>
                      <m:t>∈</m:t>
                    </m:r>
                    <m:sSup>
                      <m:sSupPr>
                        <m:ctrlPr>
                          <a:rPr lang="en-US" altLang="zh-CN" sz="2600" b="1" i="1">
                            <a:latin typeface="Cambria Math" panose="02040503050406030204" pitchFamily="18" charset="0"/>
                            <a:ea typeface="Cambria Math" panose="02040503050406030204" pitchFamily="18" charset="0"/>
                          </a:rPr>
                        </m:ctrlPr>
                      </m:sSupPr>
                      <m:e>
                        <m:r>
                          <a:rPr lang="en-US" altLang="zh-CN" sz="2600" b="1" i="1">
                            <a:latin typeface="Cambria Math" panose="02040503050406030204" pitchFamily="18" charset="0"/>
                            <a:ea typeface="Cambria Math" panose="02040503050406030204" pitchFamily="18" charset="0"/>
                          </a:rPr>
                          <m:t>𝑹</m:t>
                        </m:r>
                      </m:e>
                      <m:sup>
                        <m:r>
                          <a:rPr lang="en-US" altLang="zh-CN" sz="2600" b="1" i="1">
                            <a:latin typeface="Cambria Math" panose="02040503050406030204" pitchFamily="18" charset="0"/>
                            <a:ea typeface="Cambria Math" panose="02040503050406030204" pitchFamily="18" charset="0"/>
                          </a:rPr>
                          <m:t>𝒏</m:t>
                        </m:r>
                      </m:sup>
                    </m:sSup>
                  </m:oMath>
                </a14:m>
                <a:r>
                  <a:rPr lang="zh-CN" altLang="en-US" sz="2600" b="1" dirty="0">
                    <a:latin typeface="微软雅黑" panose="020B0503020204020204" pitchFamily="34" charset="-122"/>
                    <a:ea typeface="微软雅黑" panose="020B0503020204020204" pitchFamily="34" charset="-122"/>
                  </a:rPr>
                  <a:t> 。</a:t>
                </a:r>
              </a:p>
              <a:p>
                <a:pPr marL="0" indent="0">
                  <a:buNone/>
                </a:pPr>
                <a:r>
                  <a:rPr lang="zh-CN" altLang="en-US" sz="2600" b="1" dirty="0">
                    <a:latin typeface="微软雅黑" panose="020B0503020204020204" pitchFamily="34" charset="-122"/>
                    <a:ea typeface="微软雅黑" panose="020B0503020204020204" pitchFamily="34" charset="-122"/>
                  </a:rPr>
                  <a:t>性质</a:t>
                </a:r>
                <a:r>
                  <a:rPr lang="en-US" altLang="zh-CN" sz="2600" b="1" dirty="0">
                    <a:latin typeface="微软雅黑" panose="020B0503020204020204" pitchFamily="34" charset="-122"/>
                    <a:ea typeface="微软雅黑" panose="020B0503020204020204" pitchFamily="34" charset="-122"/>
                  </a:rPr>
                  <a:t>3(</a:t>
                </a:r>
                <a:r>
                  <a:rPr lang="zh-CN" altLang="en-US" sz="2600" b="1" dirty="0">
                    <a:latin typeface="微软雅黑" panose="020B0503020204020204" pitchFamily="34" charset="-122"/>
                    <a:ea typeface="微软雅黑" panose="020B0503020204020204" pitchFamily="34" charset="-122"/>
                  </a:rPr>
                  <a:t>参数线性化</a:t>
                </a:r>
                <a:r>
                  <a:rPr lang="en-US" altLang="zh-CN" sz="2600" b="1" dirty="0">
                    <a:latin typeface="微软雅黑" panose="020B0503020204020204" pitchFamily="34" charset="-122"/>
                    <a:ea typeface="微软雅黑" panose="020B0503020204020204" pitchFamily="34" charset="-122"/>
                  </a:rPr>
                  <a:t>)</a:t>
                </a:r>
                <a:r>
                  <a:rPr lang="zh-CN" altLang="en-US" sz="2600" b="1" dirty="0">
                    <a:latin typeface="微软雅黑" panose="020B0503020204020204" pitchFamily="34" charset="-122"/>
                    <a:ea typeface="微软雅黑" panose="020B0503020204020204" pitchFamily="34" charset="-122"/>
                  </a:rPr>
                  <a:t>：对 </a:t>
                </a:r>
                <a14:m>
                  <m:oMath xmlns:m="http://schemas.openxmlformats.org/officeDocument/2006/math">
                    <m:r>
                      <a:rPr lang="zh-CN" altLang="en-US" sz="2600" b="1" i="1" smtClean="0">
                        <a:latin typeface="Cambria Math" panose="02040503050406030204" pitchFamily="18" charset="0"/>
                      </a:rPr>
                      <m:t>∀</m:t>
                    </m:r>
                    <m:r>
                      <a:rPr lang="en-US" altLang="zh-CN" sz="2600" b="1" i="1" smtClean="0">
                        <a:latin typeface="Cambria Math" panose="02040503050406030204" pitchFamily="18" charset="0"/>
                      </a:rPr>
                      <m:t>𝒙</m:t>
                    </m:r>
                    <m:r>
                      <a:rPr lang="en-US" altLang="zh-CN" sz="2600" b="1" i="1" smtClean="0">
                        <a:latin typeface="Cambria Math" panose="02040503050406030204" pitchFamily="18" charset="0"/>
                      </a:rPr>
                      <m:t>,</m:t>
                    </m:r>
                    <m:r>
                      <a:rPr lang="en-US" altLang="zh-CN" sz="2600" b="1" i="1" smtClean="0">
                        <a:latin typeface="Cambria Math" panose="02040503050406030204" pitchFamily="18" charset="0"/>
                      </a:rPr>
                      <m:t>𝒚</m:t>
                    </m:r>
                    <m:r>
                      <a:rPr lang="en-US" altLang="zh-CN" sz="2600" b="1" i="1">
                        <a:latin typeface="Cambria Math" panose="02040503050406030204" pitchFamily="18" charset="0"/>
                        <a:ea typeface="Cambria Math" panose="02040503050406030204" pitchFamily="18" charset="0"/>
                      </a:rPr>
                      <m:t>∈</m:t>
                    </m:r>
                    <m:sSup>
                      <m:sSupPr>
                        <m:ctrlPr>
                          <a:rPr lang="en-US" altLang="zh-CN" sz="2600" b="1" i="1">
                            <a:latin typeface="Cambria Math" panose="02040503050406030204" pitchFamily="18" charset="0"/>
                            <a:ea typeface="Cambria Math" panose="02040503050406030204" pitchFamily="18" charset="0"/>
                          </a:rPr>
                        </m:ctrlPr>
                      </m:sSupPr>
                      <m:e>
                        <m:r>
                          <a:rPr lang="en-US" altLang="zh-CN" sz="2600" b="1" i="1">
                            <a:latin typeface="Cambria Math" panose="02040503050406030204" pitchFamily="18" charset="0"/>
                            <a:ea typeface="Cambria Math" panose="02040503050406030204" pitchFamily="18" charset="0"/>
                          </a:rPr>
                          <m:t>𝑹</m:t>
                        </m:r>
                      </m:e>
                      <m:sup>
                        <m:r>
                          <a:rPr lang="en-US" altLang="zh-CN" sz="2600" b="1" i="1">
                            <a:latin typeface="Cambria Math" panose="02040503050406030204" pitchFamily="18" charset="0"/>
                            <a:ea typeface="Cambria Math" panose="02040503050406030204" pitchFamily="18" charset="0"/>
                          </a:rPr>
                          <m:t>𝒏</m:t>
                        </m:r>
                      </m:sup>
                    </m:sSup>
                  </m:oMath>
                </a14:m>
                <a:r>
                  <a:rPr lang="zh-CN" altLang="en-US" sz="2600" b="1" dirty="0">
                    <a:latin typeface="微软雅黑" panose="020B0503020204020204" pitchFamily="34" charset="-122"/>
                    <a:ea typeface="微软雅黑" panose="020B0503020204020204" pitchFamily="34" charset="-122"/>
                  </a:rPr>
                  <a:t>，式</a:t>
                </a:r>
                <a:r>
                  <a:rPr lang="en-US" altLang="zh-CN" sz="2600" b="1" dirty="0">
                    <a:latin typeface="微软雅黑" panose="020B0503020204020204" pitchFamily="34" charset="-122"/>
                    <a:ea typeface="微软雅黑" panose="020B0503020204020204" pitchFamily="34" charset="-122"/>
                  </a:rPr>
                  <a:t>(7.3)</a:t>
                </a:r>
                <a:r>
                  <a:rPr lang="zh-CN" altLang="en-US" sz="2600" b="1" dirty="0">
                    <a:latin typeface="微软雅黑" panose="020B0503020204020204" pitchFamily="34" charset="-122"/>
                    <a:ea typeface="微软雅黑" panose="020B0503020204020204" pitchFamily="34" charset="-122"/>
                  </a:rPr>
                  <a:t>关于常数参数向量</a:t>
                </a:r>
                <a14:m>
                  <m:oMath xmlns:m="http://schemas.openxmlformats.org/officeDocument/2006/math">
                    <m:r>
                      <a:rPr lang="zh-CN" altLang="en-US" sz="2600" b="1" i="1" smtClean="0">
                        <a:latin typeface="Cambria Math" panose="02040503050406030204" pitchFamily="18" charset="0"/>
                      </a:rPr>
                      <m:t>𝜽</m:t>
                    </m:r>
                  </m:oMath>
                </a14:m>
                <a:r>
                  <a:rPr lang="zh-CN" altLang="en-US" sz="2600" b="1" dirty="0">
                    <a:latin typeface="微软雅黑" panose="020B0503020204020204" pitchFamily="34" charset="-122"/>
                    <a:ea typeface="微软雅黑" panose="020B0503020204020204" pitchFamily="34" charset="-122"/>
                  </a:rPr>
                  <a:t> 可通过以下参数进行线性化</a:t>
                </a:r>
                <a14:m>
                  <m:oMath xmlns:m="http://schemas.openxmlformats.org/officeDocument/2006/math">
                    <m:r>
                      <a:rPr lang="en-US" altLang="zh-CN" sz="2600" b="1" i="1">
                        <a:latin typeface="Cambria Math" panose="02040503050406030204" pitchFamily="18" charset="0"/>
                        <a:ea typeface="Cambria Math" panose="02040503050406030204" pitchFamily="18" charset="0"/>
                      </a:rPr>
                      <m:t>𝑴</m:t>
                    </m:r>
                    <m:r>
                      <a:rPr lang="en-US" altLang="zh-CN" sz="2600" b="1" i="1">
                        <a:latin typeface="Cambria Math" panose="02040503050406030204" pitchFamily="18" charset="0"/>
                        <a:ea typeface="Cambria Math" panose="02040503050406030204" pitchFamily="18" charset="0"/>
                      </a:rPr>
                      <m:t> </m:t>
                    </m:r>
                    <m:d>
                      <m:dPr>
                        <m:ctrlPr>
                          <a:rPr lang="en-US" altLang="zh-CN" sz="2600" b="1" i="1" smtClean="0">
                            <a:latin typeface="Cambria Math" panose="02040503050406030204" pitchFamily="18" charset="0"/>
                          </a:rPr>
                        </m:ctrlPr>
                      </m:dPr>
                      <m:e>
                        <m:r>
                          <a:rPr lang="zh-CN" altLang="en-US" sz="2600" b="1" i="1">
                            <a:latin typeface="Cambria Math" panose="02040503050406030204" pitchFamily="18" charset="0"/>
                          </a:rPr>
                          <m:t>𝜽</m:t>
                        </m:r>
                      </m:e>
                    </m:d>
                    <m:r>
                      <a:rPr lang="en-US" altLang="zh-CN" sz="2600" b="1" i="1">
                        <a:latin typeface="Cambria Math" panose="02040503050406030204" pitchFamily="18" charset="0"/>
                        <a:ea typeface="Cambria Math" panose="02040503050406030204" pitchFamily="18" charset="0"/>
                      </a:rPr>
                      <m:t>𝒙</m:t>
                    </m:r>
                    <m:r>
                      <a:rPr lang="en-US" altLang="zh-CN" sz="2600" b="1" i="1" smtClean="0">
                        <a:latin typeface="Cambria Math" panose="02040503050406030204" pitchFamily="18" charset="0"/>
                        <a:ea typeface="Cambria Math" panose="02040503050406030204" pitchFamily="18" charset="0"/>
                      </a:rPr>
                      <m:t>+</m:t>
                    </m:r>
                    <m:r>
                      <a:rPr lang="en-US" altLang="zh-CN" sz="2600" b="1" i="1" smtClean="0">
                        <a:latin typeface="Cambria Math" panose="02040503050406030204" pitchFamily="18" charset="0"/>
                        <a:ea typeface="Cambria Math" panose="02040503050406030204" pitchFamily="18" charset="0"/>
                      </a:rPr>
                      <m:t>𝑪</m:t>
                    </m:r>
                    <m:d>
                      <m:dPr>
                        <m:ctrlPr>
                          <a:rPr lang="en-US" altLang="zh-CN" sz="2600" b="1" i="1" smtClean="0">
                            <a:latin typeface="Cambria Math" panose="02040503050406030204" pitchFamily="18" charset="0"/>
                          </a:rPr>
                        </m:ctrlPr>
                      </m:dPr>
                      <m:e>
                        <m:r>
                          <a:rPr lang="zh-CN" altLang="en-US" sz="2600" b="1" i="1">
                            <a:latin typeface="Cambria Math" panose="02040503050406030204" pitchFamily="18" charset="0"/>
                          </a:rPr>
                          <m:t>𝜽</m:t>
                        </m:r>
                        <m:r>
                          <a:rPr lang="en-US" altLang="zh-CN" sz="2600" b="1" i="1" smtClean="0">
                            <a:latin typeface="Cambria Math" panose="02040503050406030204" pitchFamily="18" charset="0"/>
                          </a:rPr>
                          <m:t>,</m:t>
                        </m:r>
                        <m:acc>
                          <m:accPr>
                            <m:chr m:val="̇"/>
                            <m:ctrlPr>
                              <a:rPr lang="en-US" altLang="zh-CN" sz="2600" b="1" i="1">
                                <a:latin typeface="Cambria Math" panose="02040503050406030204" pitchFamily="18" charset="0"/>
                              </a:rPr>
                            </m:ctrlPr>
                          </m:accPr>
                          <m:e>
                            <m:r>
                              <a:rPr lang="zh-CN" altLang="en-US" sz="2600" b="1" i="1">
                                <a:latin typeface="Cambria Math" panose="02040503050406030204" pitchFamily="18" charset="0"/>
                              </a:rPr>
                              <m:t>𝜽</m:t>
                            </m:r>
                          </m:e>
                        </m:acc>
                      </m:e>
                    </m:d>
                    <m:r>
                      <a:rPr lang="en-US" altLang="zh-CN" sz="2600" b="1" i="1" smtClean="0">
                        <a:latin typeface="Cambria Math" panose="02040503050406030204" pitchFamily="18" charset="0"/>
                      </a:rPr>
                      <m:t>𝒚</m:t>
                    </m:r>
                    <m:r>
                      <a:rPr lang="en-US" altLang="zh-CN" sz="2600" b="1" i="1" smtClean="0">
                        <a:latin typeface="Cambria Math" panose="02040503050406030204" pitchFamily="18" charset="0"/>
                      </a:rPr>
                      <m:t>+</m:t>
                    </m:r>
                    <m:r>
                      <a:rPr lang="en-US" altLang="zh-CN" sz="2600" b="1" i="1" smtClean="0">
                        <a:latin typeface="Cambria Math" panose="02040503050406030204" pitchFamily="18" charset="0"/>
                      </a:rPr>
                      <m:t>𝑮</m:t>
                    </m:r>
                    <m:d>
                      <m:dPr>
                        <m:ctrlPr>
                          <a:rPr lang="en-US" altLang="zh-CN" sz="2600" b="1" i="1" smtClean="0">
                            <a:latin typeface="Cambria Math" panose="02040503050406030204" pitchFamily="18" charset="0"/>
                          </a:rPr>
                        </m:ctrlPr>
                      </m:dPr>
                      <m:e>
                        <m:r>
                          <a:rPr lang="zh-CN" altLang="en-US" sz="2600" b="1" i="1">
                            <a:latin typeface="Cambria Math" panose="02040503050406030204" pitchFamily="18" charset="0"/>
                          </a:rPr>
                          <m:t>𝜽</m:t>
                        </m:r>
                      </m:e>
                    </m:d>
                    <m:r>
                      <a:rPr lang="en-US" altLang="zh-CN" sz="2600" b="1" i="1" smtClean="0">
                        <a:latin typeface="Cambria Math" panose="02040503050406030204" pitchFamily="18" charset="0"/>
                      </a:rPr>
                      <m:t>=</m:t>
                    </m:r>
                    <m:r>
                      <a:rPr lang="en-US" altLang="zh-CN" sz="2600" b="1" i="1" smtClean="0">
                        <a:latin typeface="Cambria Math" panose="02040503050406030204" pitchFamily="18" charset="0"/>
                      </a:rPr>
                      <m:t>𝒀</m:t>
                    </m:r>
                    <m:d>
                      <m:dPr>
                        <m:ctrlPr>
                          <a:rPr lang="en-US" altLang="zh-CN" sz="2600" b="1" i="1" smtClean="0">
                            <a:latin typeface="Cambria Math" panose="02040503050406030204" pitchFamily="18" charset="0"/>
                          </a:rPr>
                        </m:ctrlPr>
                      </m:dPr>
                      <m:e>
                        <m:r>
                          <a:rPr lang="zh-CN" altLang="en-US" sz="2600" b="1" i="1">
                            <a:latin typeface="Cambria Math" panose="02040503050406030204" pitchFamily="18" charset="0"/>
                          </a:rPr>
                          <m:t>𝜽</m:t>
                        </m:r>
                        <m:r>
                          <a:rPr lang="en-US" altLang="zh-CN" sz="2600" b="1" i="1">
                            <a:latin typeface="Cambria Math" panose="02040503050406030204" pitchFamily="18" charset="0"/>
                          </a:rPr>
                          <m:t>,</m:t>
                        </m:r>
                        <m:acc>
                          <m:accPr>
                            <m:chr m:val="̇"/>
                            <m:ctrlPr>
                              <a:rPr lang="en-US" altLang="zh-CN" sz="2600" b="1" i="1">
                                <a:latin typeface="Cambria Math" panose="02040503050406030204" pitchFamily="18" charset="0"/>
                              </a:rPr>
                            </m:ctrlPr>
                          </m:accPr>
                          <m:e>
                            <m:r>
                              <a:rPr lang="zh-CN" altLang="en-US" sz="2600" b="1" i="1">
                                <a:latin typeface="Cambria Math" panose="02040503050406030204" pitchFamily="18" charset="0"/>
                              </a:rPr>
                              <m:t>𝜽</m:t>
                            </m:r>
                          </m:e>
                        </m:acc>
                        <m:r>
                          <a:rPr lang="en-US" altLang="zh-CN" sz="2600" b="1" i="1" smtClean="0">
                            <a:latin typeface="Cambria Math" panose="02040503050406030204" pitchFamily="18" charset="0"/>
                          </a:rPr>
                          <m:t>,</m:t>
                        </m:r>
                        <m:r>
                          <a:rPr lang="en-US" altLang="zh-CN" sz="2600" b="1" i="1" smtClean="0">
                            <a:latin typeface="Cambria Math" panose="02040503050406030204" pitchFamily="18" charset="0"/>
                          </a:rPr>
                          <m:t>𝒙</m:t>
                        </m:r>
                        <m:r>
                          <a:rPr lang="en-US" altLang="zh-CN" sz="2600" b="1" i="1" smtClean="0">
                            <a:latin typeface="Cambria Math" panose="02040503050406030204" pitchFamily="18" charset="0"/>
                          </a:rPr>
                          <m:t>,</m:t>
                        </m:r>
                        <m:r>
                          <a:rPr lang="en-US" altLang="zh-CN" sz="2600" b="1" i="1" smtClean="0">
                            <a:latin typeface="Cambria Math" panose="02040503050406030204" pitchFamily="18" charset="0"/>
                          </a:rPr>
                          <m:t>𝒚</m:t>
                        </m:r>
                      </m:e>
                    </m:d>
                    <m:sSub>
                      <m:sSubPr>
                        <m:ctrlPr>
                          <a:rPr lang="en-US" altLang="zh-CN" sz="2600" b="1" i="1" smtClean="0">
                            <a:latin typeface="Cambria Math" panose="02040503050406030204" pitchFamily="18" charset="0"/>
                          </a:rPr>
                        </m:ctrlPr>
                      </m:sSubPr>
                      <m:e>
                        <m:r>
                          <a:rPr lang="en-US" altLang="zh-CN" sz="2600" b="1" i="1" smtClean="0">
                            <a:latin typeface="Cambria Math" panose="02040503050406030204" pitchFamily="18" charset="0"/>
                          </a:rPr>
                          <m:t>𝒑</m:t>
                        </m:r>
                      </m:e>
                      <m:sub>
                        <m:r>
                          <a:rPr lang="en-US" altLang="zh-CN" sz="2600" b="1" i="1" smtClean="0">
                            <a:latin typeface="Cambria Math" panose="02040503050406030204" pitchFamily="18" charset="0"/>
                          </a:rPr>
                          <m:t>𝟎</m:t>
                        </m:r>
                      </m:sub>
                    </m:sSub>
                  </m:oMath>
                </a14:m>
                <a:r>
                  <a:rPr lang="zh-CN" altLang="en-US" sz="2600" b="1" dirty="0">
                    <a:latin typeface="微软雅黑" panose="020B0503020204020204" pitchFamily="34" charset="-122"/>
                    <a:ea typeface="微软雅黑" panose="020B0503020204020204" pitchFamily="34" charset="-122"/>
                  </a:rPr>
                  <a:t> ，其中</a:t>
                </a:r>
                <a14:m>
                  <m:oMath xmlns:m="http://schemas.openxmlformats.org/officeDocument/2006/math">
                    <m:r>
                      <a:rPr lang="en-US" altLang="zh-CN" sz="2600" b="1" i="1">
                        <a:latin typeface="Cambria Math" panose="02040503050406030204" pitchFamily="18" charset="0"/>
                      </a:rPr>
                      <m:t>𝒀</m:t>
                    </m:r>
                    <m:d>
                      <m:dPr>
                        <m:ctrlPr>
                          <a:rPr lang="en-US" altLang="zh-CN" sz="2600" b="1" i="1">
                            <a:latin typeface="Cambria Math" panose="02040503050406030204" pitchFamily="18" charset="0"/>
                          </a:rPr>
                        </m:ctrlPr>
                      </m:dPr>
                      <m:e>
                        <m:r>
                          <a:rPr lang="zh-CN" altLang="en-US" sz="2600" b="1" i="1">
                            <a:latin typeface="Cambria Math" panose="02040503050406030204" pitchFamily="18" charset="0"/>
                          </a:rPr>
                          <m:t>𝜽</m:t>
                        </m:r>
                        <m:r>
                          <a:rPr lang="en-US" altLang="zh-CN" sz="2600" b="1" i="1">
                            <a:latin typeface="Cambria Math" panose="02040503050406030204" pitchFamily="18" charset="0"/>
                          </a:rPr>
                          <m:t>,</m:t>
                        </m:r>
                        <m:acc>
                          <m:accPr>
                            <m:chr m:val="̇"/>
                            <m:ctrlPr>
                              <a:rPr lang="en-US" altLang="zh-CN" sz="2600" b="1" i="1">
                                <a:latin typeface="Cambria Math" panose="02040503050406030204" pitchFamily="18" charset="0"/>
                              </a:rPr>
                            </m:ctrlPr>
                          </m:accPr>
                          <m:e>
                            <m:r>
                              <a:rPr lang="zh-CN" altLang="en-US" sz="2600" b="1" i="1">
                                <a:latin typeface="Cambria Math" panose="02040503050406030204" pitchFamily="18" charset="0"/>
                              </a:rPr>
                              <m:t>𝜽</m:t>
                            </m:r>
                          </m:e>
                        </m:acc>
                        <m:r>
                          <a:rPr lang="en-US" altLang="zh-CN" sz="2600" b="1" i="1">
                            <a:latin typeface="Cambria Math" panose="02040503050406030204" pitchFamily="18" charset="0"/>
                          </a:rPr>
                          <m:t>,</m:t>
                        </m:r>
                        <m:r>
                          <a:rPr lang="en-US" altLang="zh-CN" sz="2600" b="1" i="1">
                            <a:latin typeface="Cambria Math" panose="02040503050406030204" pitchFamily="18" charset="0"/>
                          </a:rPr>
                          <m:t>𝒙</m:t>
                        </m:r>
                        <m:r>
                          <a:rPr lang="en-US" altLang="zh-CN" sz="2600" b="1" i="1">
                            <a:latin typeface="Cambria Math" panose="02040503050406030204" pitchFamily="18" charset="0"/>
                          </a:rPr>
                          <m:t>,</m:t>
                        </m:r>
                        <m:r>
                          <a:rPr lang="en-US" altLang="zh-CN" sz="2600" b="1" i="1">
                            <a:latin typeface="Cambria Math" panose="02040503050406030204" pitchFamily="18" charset="0"/>
                          </a:rPr>
                          <m:t>𝒚</m:t>
                        </m:r>
                      </m:e>
                    </m:d>
                  </m:oMath>
                </a14:m>
                <a:r>
                  <a:rPr lang="zh-CN" altLang="en-US" sz="2600" b="1" dirty="0">
                    <a:latin typeface="微软雅黑" panose="020B0503020204020204" pitchFamily="34" charset="-122"/>
                    <a:ea typeface="微软雅黑" panose="020B0503020204020204" pitchFamily="34" charset="-122"/>
                  </a:rPr>
                  <a:t> 是回归矩阵。</a:t>
                </a:r>
              </a:p>
              <a:p>
                <a:endParaRPr lang="zh-CN" altLang="en-US" dirty="0"/>
              </a:p>
            </p:txBody>
          </p:sp>
        </mc:Choice>
        <mc:Fallback xmlns="">
          <p:sp>
            <p:nvSpPr>
              <p:cNvPr id="3" name="内容占位符 2">
                <a:extLst>
                  <a:ext uri="{FF2B5EF4-FFF2-40B4-BE49-F238E27FC236}">
                    <a16:creationId xmlns:a16="http://schemas.microsoft.com/office/drawing/2014/main" id="{0D54AFF9-0D39-3D32-AA91-07D06BC410DE}"/>
                  </a:ext>
                </a:extLst>
              </p:cNvPr>
              <p:cNvSpPr>
                <a:spLocks noGrp="1" noRot="1" noChangeAspect="1" noMove="1" noResize="1" noEditPoints="1" noAdjustHandles="1" noChangeArrowheads="1" noChangeShapeType="1" noTextEdit="1"/>
              </p:cNvSpPr>
              <p:nvPr>
                <p:ph idx="1"/>
              </p:nvPr>
            </p:nvSpPr>
            <p:spPr>
              <a:xfrm>
                <a:off x="523876" y="1253331"/>
                <a:ext cx="10896600" cy="4351338"/>
              </a:xfrm>
              <a:blipFill>
                <a:blip r:embed="rId3"/>
                <a:stretch>
                  <a:fillRect l="-1007" t="-1964"/>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E7394B23-DA2A-2DBE-BBC0-6A32116E669F}"/>
              </a:ext>
            </a:extLst>
          </p:cNvPr>
          <p:cNvSpPr txBox="1"/>
          <p:nvPr>
            <p:custDataLst>
              <p:tags r:id="rId1"/>
            </p:custDataLst>
          </p:nvPr>
        </p:nvSpPr>
        <p:spPr>
          <a:xfrm>
            <a:off x="1395413" y="109635"/>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7.2.1</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机器人动力学模型</a:t>
            </a:r>
          </a:p>
        </p:txBody>
      </p:sp>
    </p:spTree>
    <p:extLst>
      <p:ext uri="{BB962C8B-B14F-4D97-AF65-F5344CB8AC3E}">
        <p14:creationId xmlns:p14="http://schemas.microsoft.com/office/powerpoint/2010/main" val="31450058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13A178C8-274E-CAA4-4776-DFAAFCF31C04}"/>
                  </a:ext>
                </a:extLst>
              </p:cNvPr>
              <p:cNvSpPr>
                <a:spLocks noGrp="1"/>
              </p:cNvSpPr>
              <p:nvPr>
                <p:ph idx="1"/>
              </p:nvPr>
            </p:nvSpPr>
            <p:spPr>
              <a:xfrm>
                <a:off x="838200" y="1054099"/>
                <a:ext cx="10515600" cy="5146675"/>
              </a:xfrm>
            </p:spPr>
            <p:txBody>
              <a:bodyPr>
                <a:normAutofit fontScale="55000" lnSpcReduction="20000"/>
              </a:bodyPr>
              <a:lstStyle/>
              <a:p>
                <a:pPr marL="0" indent="0">
                  <a:lnSpc>
                    <a:spcPct val="120000"/>
                  </a:lnSpc>
                  <a:buNone/>
                </a:pPr>
                <a:r>
                  <a:rPr lang="zh-CN" altLang="en-US" sz="4400" b="1" dirty="0">
                    <a:latin typeface="微软雅黑" panose="020B0503020204020204" pitchFamily="34" charset="-122"/>
                    <a:ea typeface="微软雅黑" panose="020B0503020204020204" pitchFamily="34" charset="-122"/>
                  </a:rPr>
                  <a:t>本节还需要用到以下定理、引理。</a:t>
                </a:r>
              </a:p>
              <a:p>
                <a:pPr marL="0" indent="0">
                  <a:lnSpc>
                    <a:spcPct val="120000"/>
                  </a:lnSpc>
                  <a:buNone/>
                </a:pPr>
                <a:r>
                  <a:rPr lang="zh-CN" altLang="en-US" sz="4400" b="1" dirty="0">
                    <a:latin typeface="微软雅黑" panose="020B0503020204020204" pitchFamily="34" charset="-122"/>
                    <a:ea typeface="微软雅黑" panose="020B0503020204020204" pitchFamily="34" charset="-122"/>
                  </a:rPr>
                  <a:t>引理</a:t>
                </a:r>
                <a:r>
                  <a:rPr lang="en-US" altLang="zh-CN" sz="4400" b="1" dirty="0">
                    <a:latin typeface="微软雅黑" panose="020B0503020204020204" pitchFamily="34" charset="-122"/>
                    <a:ea typeface="微软雅黑" panose="020B0503020204020204" pitchFamily="34" charset="-122"/>
                  </a:rPr>
                  <a:t>7.1(Lyapunov</a:t>
                </a:r>
                <a:r>
                  <a:rPr lang="zh-CN" altLang="en-US" sz="4400" b="1" dirty="0">
                    <a:latin typeface="微软雅黑" panose="020B0503020204020204" pitchFamily="34" charset="-122"/>
                    <a:ea typeface="微软雅黑" panose="020B0503020204020204" pitchFamily="34" charset="-122"/>
                  </a:rPr>
                  <a:t>引理</a:t>
                </a:r>
                <a:r>
                  <a:rPr lang="en-US" altLang="zh-CN" sz="4400" b="1" dirty="0">
                    <a:latin typeface="微软雅黑" panose="020B0503020204020204" pitchFamily="34" charset="-122"/>
                    <a:ea typeface="微软雅黑" panose="020B0503020204020204" pitchFamily="34" charset="-122"/>
                  </a:rPr>
                  <a:t>)</a:t>
                </a:r>
                <a:r>
                  <a:rPr lang="zh-CN" altLang="en-US" sz="4400" b="1" dirty="0">
                    <a:latin typeface="微软雅黑" panose="020B0503020204020204" pitchFamily="34" charset="-122"/>
                    <a:ea typeface="微软雅黑" panose="020B0503020204020204" pitchFamily="34" charset="-122"/>
                  </a:rPr>
                  <a:t>：如果标量函数</a:t>
                </a:r>
                <a14:m>
                  <m:oMath xmlns:m="http://schemas.openxmlformats.org/officeDocument/2006/math">
                    <m:r>
                      <a:rPr lang="en-US" altLang="zh-CN" sz="4400" b="1" i="1" smtClean="0">
                        <a:latin typeface="Cambria Math" panose="02040503050406030204" pitchFamily="18" charset="0"/>
                        <a:ea typeface="Cambria Math" panose="02040503050406030204" pitchFamily="18" charset="0"/>
                      </a:rPr>
                      <m:t>𝑽</m:t>
                    </m:r>
                    <m:d>
                      <m:dPr>
                        <m:ctrlPr>
                          <a:rPr lang="en-US" altLang="zh-CN" sz="4400" b="1" i="1" smtClean="0">
                            <a:latin typeface="Cambria Math" panose="02040503050406030204" pitchFamily="18" charset="0"/>
                            <a:ea typeface="Cambria Math" panose="02040503050406030204" pitchFamily="18" charset="0"/>
                          </a:rPr>
                        </m:ctrlPr>
                      </m:dPr>
                      <m:e>
                        <m:r>
                          <a:rPr lang="en-US" altLang="zh-CN" sz="4400" b="1" i="1" smtClean="0">
                            <a:latin typeface="Cambria Math" panose="02040503050406030204" pitchFamily="18" charset="0"/>
                            <a:ea typeface="Cambria Math" panose="02040503050406030204" pitchFamily="18" charset="0"/>
                          </a:rPr>
                          <m:t>𝒕</m:t>
                        </m:r>
                        <m:r>
                          <a:rPr lang="en-US" altLang="zh-CN" sz="4400" b="1" i="1" smtClean="0">
                            <a:latin typeface="Cambria Math" panose="02040503050406030204" pitchFamily="18" charset="0"/>
                            <a:ea typeface="Cambria Math" panose="02040503050406030204" pitchFamily="18" charset="0"/>
                          </a:rPr>
                          <m:t>,</m:t>
                        </m:r>
                        <m:r>
                          <a:rPr lang="en-US" altLang="zh-CN" sz="4400" b="1" i="1" smtClean="0">
                            <a:latin typeface="Cambria Math" panose="02040503050406030204" pitchFamily="18" charset="0"/>
                            <a:ea typeface="Cambria Math" panose="02040503050406030204" pitchFamily="18" charset="0"/>
                          </a:rPr>
                          <m:t>𝒙</m:t>
                        </m:r>
                      </m:e>
                    </m:d>
                  </m:oMath>
                </a14:m>
                <a:r>
                  <a:rPr lang="zh-CN" altLang="en-US" sz="4400" b="1" dirty="0">
                    <a:latin typeface="微软雅黑" panose="020B0503020204020204" pitchFamily="34" charset="-122"/>
                    <a:ea typeface="微软雅黑" panose="020B0503020204020204" pitchFamily="34" charset="-122"/>
                  </a:rPr>
                  <a:t> 存在下界，其导数 </a:t>
                </a:r>
                <a14:m>
                  <m:oMath xmlns:m="http://schemas.openxmlformats.org/officeDocument/2006/math">
                    <m:acc>
                      <m:accPr>
                        <m:chr m:val="̇"/>
                        <m:ctrlPr>
                          <a:rPr lang="en-US" altLang="zh-CN" sz="4400" b="1" i="1">
                            <a:latin typeface="Cambria Math" panose="02040503050406030204" pitchFamily="18" charset="0"/>
                            <a:ea typeface="Cambria Math" panose="02040503050406030204" pitchFamily="18" charset="0"/>
                          </a:rPr>
                        </m:ctrlPr>
                      </m:accPr>
                      <m:e>
                        <m:r>
                          <a:rPr lang="en-US" altLang="zh-CN" sz="4400" b="1" i="1" smtClean="0">
                            <a:latin typeface="Cambria Math" panose="02040503050406030204" pitchFamily="18" charset="0"/>
                            <a:ea typeface="Cambria Math" panose="02040503050406030204" pitchFamily="18" charset="0"/>
                          </a:rPr>
                          <m:t>𝑽</m:t>
                        </m:r>
                      </m:e>
                    </m:acc>
                    <m:r>
                      <a:rPr lang="en-US" altLang="zh-CN" sz="4400" b="1" i="1" smtClean="0">
                        <a:latin typeface="Cambria Math" panose="02040503050406030204" pitchFamily="18" charset="0"/>
                        <a:ea typeface="Cambria Math" panose="02040503050406030204" pitchFamily="18" charset="0"/>
                      </a:rPr>
                      <m:t> </m:t>
                    </m:r>
                    <m:d>
                      <m:dPr>
                        <m:ctrlPr>
                          <a:rPr lang="en-US" altLang="zh-CN" sz="4400" b="1" i="1">
                            <a:latin typeface="Cambria Math" panose="02040503050406030204" pitchFamily="18" charset="0"/>
                            <a:ea typeface="Cambria Math" panose="02040503050406030204" pitchFamily="18" charset="0"/>
                          </a:rPr>
                        </m:ctrlPr>
                      </m:dPr>
                      <m:e>
                        <m:r>
                          <a:rPr lang="en-US" altLang="zh-CN" sz="4400" b="1" i="1" smtClean="0">
                            <a:latin typeface="Cambria Math" panose="02040503050406030204" pitchFamily="18" charset="0"/>
                            <a:ea typeface="Cambria Math" panose="02040503050406030204" pitchFamily="18" charset="0"/>
                          </a:rPr>
                          <m:t>𝒕</m:t>
                        </m:r>
                        <m:r>
                          <a:rPr lang="en-US" altLang="zh-CN" sz="4400" b="1" i="1" smtClean="0">
                            <a:latin typeface="Cambria Math" panose="02040503050406030204" pitchFamily="18" charset="0"/>
                            <a:ea typeface="Cambria Math" panose="02040503050406030204" pitchFamily="18" charset="0"/>
                          </a:rPr>
                          <m:t>,</m:t>
                        </m:r>
                        <m:r>
                          <a:rPr lang="en-US" altLang="zh-CN" sz="4400" b="1" i="1" smtClean="0">
                            <a:latin typeface="Cambria Math" panose="02040503050406030204" pitchFamily="18" charset="0"/>
                            <a:ea typeface="Cambria Math" panose="02040503050406030204" pitchFamily="18" charset="0"/>
                          </a:rPr>
                          <m:t>𝒙</m:t>
                        </m:r>
                      </m:e>
                    </m:d>
                  </m:oMath>
                </a14:m>
                <a:r>
                  <a:rPr lang="zh-CN" altLang="en-US" sz="4400" b="1" dirty="0">
                    <a:latin typeface="微软雅黑" panose="020B0503020204020204" pitchFamily="34" charset="-122"/>
                    <a:ea typeface="微软雅黑" panose="020B0503020204020204" pitchFamily="34" charset="-122"/>
                  </a:rPr>
                  <a:t> </a:t>
                </a:r>
                <a:r>
                  <a:rPr lang="en-US" altLang="zh-CN" sz="4400" b="1" dirty="0">
                    <a:latin typeface="微软雅黑" panose="020B0503020204020204" pitchFamily="34" charset="-122"/>
                    <a:ea typeface="微软雅黑" panose="020B0503020204020204" pitchFamily="34" charset="-122"/>
                  </a:rPr>
                  <a:t>&lt;0</a:t>
                </a:r>
                <a:r>
                  <a:rPr lang="zh-CN" altLang="en-US" sz="4400" b="1" dirty="0">
                    <a:latin typeface="微软雅黑" panose="020B0503020204020204" pitchFamily="34" charset="-122"/>
                    <a:ea typeface="微软雅黑" panose="020B0503020204020204" pitchFamily="34" charset="-122"/>
                  </a:rPr>
                  <a:t>，且</a:t>
                </a:r>
                <a14:m>
                  <m:oMath xmlns:m="http://schemas.openxmlformats.org/officeDocument/2006/math">
                    <m:acc>
                      <m:accPr>
                        <m:chr m:val="̇"/>
                        <m:ctrlPr>
                          <a:rPr lang="en-US" altLang="zh-CN" sz="4400" b="1" i="1">
                            <a:latin typeface="Cambria Math" panose="02040503050406030204" pitchFamily="18" charset="0"/>
                            <a:ea typeface="Cambria Math" panose="02040503050406030204" pitchFamily="18" charset="0"/>
                          </a:rPr>
                        </m:ctrlPr>
                      </m:accPr>
                      <m:e>
                        <m:r>
                          <a:rPr lang="en-US" altLang="zh-CN" sz="4400" b="1" i="1" smtClean="0">
                            <a:latin typeface="Cambria Math" panose="02040503050406030204" pitchFamily="18" charset="0"/>
                            <a:ea typeface="Cambria Math" panose="02040503050406030204" pitchFamily="18" charset="0"/>
                          </a:rPr>
                          <m:t>𝑽</m:t>
                        </m:r>
                      </m:e>
                    </m:acc>
                    <m:r>
                      <a:rPr lang="en-US" altLang="zh-CN" sz="4400" b="1" i="1" smtClean="0">
                        <a:latin typeface="Cambria Math" panose="02040503050406030204" pitchFamily="18" charset="0"/>
                        <a:ea typeface="Cambria Math" panose="02040503050406030204" pitchFamily="18" charset="0"/>
                      </a:rPr>
                      <m:t> </m:t>
                    </m:r>
                    <m:d>
                      <m:dPr>
                        <m:ctrlPr>
                          <a:rPr lang="en-US" altLang="zh-CN" sz="4400" b="1" i="1">
                            <a:latin typeface="Cambria Math" panose="02040503050406030204" pitchFamily="18" charset="0"/>
                            <a:ea typeface="Cambria Math" panose="02040503050406030204" pitchFamily="18" charset="0"/>
                          </a:rPr>
                        </m:ctrlPr>
                      </m:dPr>
                      <m:e>
                        <m:r>
                          <a:rPr lang="en-US" altLang="zh-CN" sz="4400" b="1" i="1" smtClean="0">
                            <a:latin typeface="Cambria Math" panose="02040503050406030204" pitchFamily="18" charset="0"/>
                            <a:ea typeface="Cambria Math" panose="02040503050406030204" pitchFamily="18" charset="0"/>
                          </a:rPr>
                          <m:t>𝒕</m:t>
                        </m:r>
                        <m:r>
                          <a:rPr lang="en-US" altLang="zh-CN" sz="4400" b="1" i="1" smtClean="0">
                            <a:latin typeface="Cambria Math" panose="02040503050406030204" pitchFamily="18" charset="0"/>
                            <a:ea typeface="Cambria Math" panose="02040503050406030204" pitchFamily="18" charset="0"/>
                          </a:rPr>
                          <m:t>,</m:t>
                        </m:r>
                        <m:r>
                          <a:rPr lang="en-US" altLang="zh-CN" sz="4400" b="1" i="1" smtClean="0">
                            <a:latin typeface="Cambria Math" panose="02040503050406030204" pitchFamily="18" charset="0"/>
                            <a:ea typeface="Cambria Math" panose="02040503050406030204" pitchFamily="18" charset="0"/>
                          </a:rPr>
                          <m:t>𝒙</m:t>
                        </m:r>
                      </m:e>
                    </m:d>
                  </m:oMath>
                </a14:m>
                <a:r>
                  <a:rPr lang="zh-CN" altLang="en-US" sz="4400" b="1" dirty="0">
                    <a:latin typeface="微软雅黑" panose="020B0503020204020204" pitchFamily="34" charset="-122"/>
                    <a:ea typeface="微软雅黑" panose="020B0503020204020204" pitchFamily="34" charset="-122"/>
                  </a:rPr>
                  <a:t>关于时间</a:t>
                </a:r>
                <a:r>
                  <a:rPr lang="en-US" altLang="zh-CN" sz="4400" b="1" dirty="0">
                    <a:latin typeface="微软雅黑" panose="020B0503020204020204" pitchFamily="34" charset="-122"/>
                    <a:ea typeface="微软雅黑" panose="020B0503020204020204" pitchFamily="34" charset="-122"/>
                  </a:rPr>
                  <a:t>t</a:t>
                </a:r>
                <a:r>
                  <a:rPr lang="zh-CN" altLang="en-US" sz="4400" b="1" dirty="0">
                    <a:latin typeface="微软雅黑" panose="020B0503020204020204" pitchFamily="34" charset="-122"/>
                    <a:ea typeface="微软雅黑" panose="020B0503020204020204" pitchFamily="34" charset="-122"/>
                  </a:rPr>
                  <a:t>是一致连续的，那么 </a:t>
                </a:r>
                <a14:m>
                  <m:oMath xmlns:m="http://schemas.openxmlformats.org/officeDocument/2006/math">
                    <m:func>
                      <m:funcPr>
                        <m:ctrlPr>
                          <a:rPr lang="en-US" altLang="zh-CN" sz="4400" b="1" i="1" smtClean="0">
                            <a:latin typeface="Cambria Math" panose="02040503050406030204" pitchFamily="18" charset="0"/>
                            <a:ea typeface="Cambria Math" panose="02040503050406030204" pitchFamily="18" charset="0"/>
                          </a:rPr>
                        </m:ctrlPr>
                      </m:funcPr>
                      <m:fName>
                        <m:limLow>
                          <m:limLowPr>
                            <m:ctrlPr>
                              <a:rPr lang="en-US" altLang="zh-CN" sz="4400" b="1" i="1" smtClean="0">
                                <a:latin typeface="Cambria Math" panose="02040503050406030204" pitchFamily="18" charset="0"/>
                                <a:ea typeface="Cambria Math" panose="02040503050406030204" pitchFamily="18" charset="0"/>
                              </a:rPr>
                            </m:ctrlPr>
                          </m:limLowPr>
                          <m:e>
                            <m:r>
                              <a:rPr lang="en-US" altLang="zh-CN" sz="4400" b="1" i="0" smtClean="0">
                                <a:latin typeface="Cambria Math" panose="02040503050406030204" pitchFamily="18" charset="0"/>
                                <a:ea typeface="Cambria Math" panose="02040503050406030204" pitchFamily="18" charset="0"/>
                              </a:rPr>
                              <m:t>𝐥𝐢𝐦</m:t>
                            </m:r>
                          </m:e>
                          <m:lim>
                            <m:r>
                              <a:rPr lang="en-US" altLang="zh-CN" sz="4400" b="1" i="1" smtClean="0">
                                <a:latin typeface="Cambria Math" panose="02040503050406030204" pitchFamily="18" charset="0"/>
                                <a:ea typeface="Cambria Math" panose="02040503050406030204" pitchFamily="18" charset="0"/>
                              </a:rPr>
                              <m:t>𝒕</m:t>
                            </m:r>
                            <m:r>
                              <a:rPr lang="en-US" altLang="zh-CN" sz="4400" b="1" i="1" smtClean="0">
                                <a:latin typeface="Cambria Math" panose="02040503050406030204" pitchFamily="18" charset="0"/>
                                <a:ea typeface="Cambria Math" panose="02040503050406030204" pitchFamily="18" charset="0"/>
                              </a:rPr>
                              <m:t>→∞</m:t>
                            </m:r>
                          </m:lim>
                        </m:limLow>
                      </m:fName>
                      <m:e>
                        <m:acc>
                          <m:accPr>
                            <m:chr m:val="̇"/>
                            <m:ctrlPr>
                              <a:rPr lang="en-US" altLang="zh-CN" sz="4400" b="1" i="1" smtClean="0">
                                <a:latin typeface="Cambria Math" panose="02040503050406030204" pitchFamily="18" charset="0"/>
                                <a:ea typeface="Cambria Math" panose="02040503050406030204" pitchFamily="18" charset="0"/>
                              </a:rPr>
                            </m:ctrlPr>
                          </m:accPr>
                          <m:e>
                            <m:r>
                              <a:rPr lang="en-US" altLang="zh-CN" sz="4400" b="1" i="1" smtClean="0">
                                <a:latin typeface="Cambria Math" panose="02040503050406030204" pitchFamily="18" charset="0"/>
                                <a:ea typeface="Cambria Math" panose="02040503050406030204" pitchFamily="18" charset="0"/>
                              </a:rPr>
                              <m:t>𝑽</m:t>
                            </m:r>
                          </m:e>
                        </m:acc>
                        <m:d>
                          <m:dPr>
                            <m:ctrlPr>
                              <a:rPr lang="en-US" altLang="zh-CN" sz="4400" b="1" i="1">
                                <a:latin typeface="Cambria Math" panose="02040503050406030204" pitchFamily="18" charset="0"/>
                                <a:ea typeface="Cambria Math" panose="02040503050406030204" pitchFamily="18" charset="0"/>
                              </a:rPr>
                            </m:ctrlPr>
                          </m:dPr>
                          <m:e>
                            <m:r>
                              <a:rPr lang="en-US" altLang="zh-CN" sz="4400" b="1" i="1" smtClean="0">
                                <a:latin typeface="Cambria Math" panose="02040503050406030204" pitchFamily="18" charset="0"/>
                                <a:ea typeface="Cambria Math" panose="02040503050406030204" pitchFamily="18" charset="0"/>
                              </a:rPr>
                              <m:t>𝒕</m:t>
                            </m:r>
                            <m:r>
                              <a:rPr lang="en-US" altLang="zh-CN" sz="4400" b="1" i="1" smtClean="0">
                                <a:latin typeface="Cambria Math" panose="02040503050406030204" pitchFamily="18" charset="0"/>
                                <a:ea typeface="Cambria Math" panose="02040503050406030204" pitchFamily="18" charset="0"/>
                              </a:rPr>
                              <m:t>,</m:t>
                            </m:r>
                            <m:r>
                              <a:rPr lang="en-US" altLang="zh-CN" sz="4400" b="1" i="1" smtClean="0">
                                <a:latin typeface="Cambria Math" panose="02040503050406030204" pitchFamily="18" charset="0"/>
                                <a:ea typeface="Cambria Math" panose="02040503050406030204" pitchFamily="18" charset="0"/>
                              </a:rPr>
                              <m:t>𝒙</m:t>
                            </m:r>
                          </m:e>
                        </m:d>
                      </m:e>
                    </m:func>
                  </m:oMath>
                </a14:m>
                <a:r>
                  <a:rPr lang="en-US" altLang="zh-CN" sz="4400" b="1" dirty="0">
                    <a:latin typeface="微软雅黑" panose="020B0503020204020204" pitchFamily="34" charset="-122"/>
                    <a:ea typeface="微软雅黑" panose="020B0503020204020204" pitchFamily="34" charset="-122"/>
                  </a:rPr>
                  <a:t>=0</a:t>
                </a:r>
                <a:r>
                  <a:rPr lang="zh-CN" altLang="en-US" sz="4400" b="1" dirty="0">
                    <a:latin typeface="微软雅黑" panose="020B0503020204020204" pitchFamily="34" charset="-122"/>
                    <a:ea typeface="微软雅黑" panose="020B0503020204020204" pitchFamily="34" charset="-122"/>
                  </a:rPr>
                  <a:t>。</a:t>
                </a:r>
              </a:p>
              <a:p>
                <a:pPr marL="0" indent="0">
                  <a:lnSpc>
                    <a:spcPct val="120000"/>
                  </a:lnSpc>
                  <a:buNone/>
                </a:pPr>
                <a:r>
                  <a:rPr lang="en-US" altLang="zh-CN" sz="4400" b="1" dirty="0">
                    <a:latin typeface="微软雅黑" panose="020B0503020204020204" pitchFamily="34" charset="-122"/>
                    <a:ea typeface="微软雅黑" panose="020B0503020204020204" pitchFamily="34" charset="-122"/>
                  </a:rPr>
                  <a:t>Lyapunov</a:t>
                </a:r>
                <a:r>
                  <a:rPr lang="zh-CN" altLang="en-US" sz="4400" b="1" dirty="0">
                    <a:latin typeface="微软雅黑" panose="020B0503020204020204" pitchFamily="34" charset="-122"/>
                    <a:ea typeface="微软雅黑" panose="020B0503020204020204" pitchFamily="34" charset="-122"/>
                  </a:rPr>
                  <a:t>引理虽然在实际系统稳定性分析中得到了广泛应用，但是应用该定理分析系统的渐进稳定性时，导数为负定的</a:t>
                </a:r>
                <a:r>
                  <a:rPr lang="en-US" altLang="zh-CN" sz="4400" b="1" dirty="0">
                    <a:latin typeface="微软雅黑" panose="020B0503020204020204" pitchFamily="34" charset="-122"/>
                    <a:ea typeface="微软雅黑" panose="020B0503020204020204" pitchFamily="34" charset="-122"/>
                  </a:rPr>
                  <a:t>Lyapunov</a:t>
                </a:r>
                <a:r>
                  <a:rPr lang="zh-CN" altLang="en-US" sz="4400" b="1" dirty="0">
                    <a:latin typeface="微软雅黑" panose="020B0503020204020204" pitchFamily="34" charset="-122"/>
                    <a:ea typeface="微软雅黑" panose="020B0503020204020204" pitchFamily="34" charset="-122"/>
                  </a:rPr>
                  <a:t>函数有时难以找到。众所周知，</a:t>
                </a:r>
                <a:r>
                  <a:rPr lang="en-US" altLang="zh-CN" sz="4400" b="1" dirty="0">
                    <a:latin typeface="微软雅黑" panose="020B0503020204020204" pitchFamily="34" charset="-122"/>
                    <a:ea typeface="微软雅黑" panose="020B0503020204020204" pitchFamily="34" charset="-122"/>
                  </a:rPr>
                  <a:t>Lasalle</a:t>
                </a:r>
                <a:r>
                  <a:rPr lang="zh-CN" altLang="en-US" sz="4400" b="1" dirty="0">
                    <a:latin typeface="微软雅黑" panose="020B0503020204020204" pitchFamily="34" charset="-122"/>
                    <a:ea typeface="微软雅黑" panose="020B0503020204020204" pitchFamily="34" charset="-122"/>
                  </a:rPr>
                  <a:t>不变集定理在研究自治系统时非常有效，因为当 </a:t>
                </a:r>
                <a14:m>
                  <m:oMath xmlns:m="http://schemas.openxmlformats.org/officeDocument/2006/math">
                    <m:acc>
                      <m:accPr>
                        <m:chr m:val="̇"/>
                        <m:ctrlPr>
                          <a:rPr lang="en-US" altLang="zh-CN" sz="4400" b="1" i="1" dirty="0" smtClean="0">
                            <a:latin typeface="Cambria Math" panose="02040503050406030204" pitchFamily="18" charset="0"/>
                            <a:ea typeface="Cambria Math" panose="02040503050406030204" pitchFamily="18" charset="0"/>
                          </a:rPr>
                        </m:ctrlPr>
                      </m:accPr>
                      <m:e>
                        <m:r>
                          <a:rPr lang="en-US" altLang="zh-CN" sz="4400" b="1" i="1" dirty="0">
                            <a:latin typeface="Cambria Math" panose="02040503050406030204" pitchFamily="18" charset="0"/>
                            <a:ea typeface="Cambria Math" panose="02040503050406030204" pitchFamily="18" charset="0"/>
                          </a:rPr>
                          <m:t>𝑽</m:t>
                        </m:r>
                      </m:e>
                    </m:acc>
                  </m:oMath>
                </a14:m>
                <a:r>
                  <a:rPr lang="en-US" altLang="zh-CN" sz="4400" b="1" dirty="0">
                    <a:latin typeface="微软雅黑" panose="020B0503020204020204" pitchFamily="34" charset="-122"/>
                    <a:ea typeface="微软雅黑" panose="020B0503020204020204" pitchFamily="34" charset="-122"/>
                  </a:rPr>
                  <a:t>&lt;0 </a:t>
                </a:r>
                <a:r>
                  <a:rPr lang="zh-CN" altLang="en-US" sz="4400" b="1" dirty="0">
                    <a:latin typeface="微软雅黑" panose="020B0503020204020204" pitchFamily="34" charset="-122"/>
                    <a:ea typeface="微软雅黑" panose="020B0503020204020204" pitchFamily="34" charset="-122"/>
                  </a:rPr>
                  <a:t>时，利用</a:t>
                </a:r>
                <a:r>
                  <a:rPr lang="en-US" altLang="zh-CN" sz="4400" b="1" dirty="0">
                    <a:latin typeface="微软雅黑" panose="020B0503020204020204" pitchFamily="34" charset="-122"/>
                    <a:ea typeface="微软雅黑" panose="020B0503020204020204" pitchFamily="34" charset="-122"/>
                  </a:rPr>
                  <a:t>Lasalle</a:t>
                </a:r>
                <a:r>
                  <a:rPr lang="zh-CN" altLang="en-US" sz="4400" b="1" dirty="0">
                    <a:latin typeface="微软雅黑" panose="020B0503020204020204" pitchFamily="34" charset="-122"/>
                    <a:ea typeface="微软雅黑" panose="020B0503020204020204" pitchFamily="34" charset="-122"/>
                  </a:rPr>
                  <a:t>不变集定理可以很容易推出其渐近稳定。但是，它不能应用于非自治系统，因为构造具有负定的</a:t>
                </a:r>
                <a:r>
                  <a:rPr lang="en-US" altLang="zh-CN" sz="4400" b="1" dirty="0">
                    <a:latin typeface="微软雅黑" panose="020B0503020204020204" pitchFamily="34" charset="-122"/>
                    <a:ea typeface="微软雅黑" panose="020B0503020204020204" pitchFamily="34" charset="-122"/>
                  </a:rPr>
                  <a:t>Lyapunov</a:t>
                </a:r>
                <a:r>
                  <a:rPr lang="zh-CN" altLang="en-US" sz="4400" b="1" dirty="0">
                    <a:latin typeface="微软雅黑" panose="020B0503020204020204" pitchFamily="34" charset="-122"/>
                    <a:ea typeface="微软雅黑" panose="020B0503020204020204" pitchFamily="34" charset="-122"/>
                  </a:rPr>
                  <a:t>函数通常很困难。因此，非自治系统的稳定性分析比一般自治系统难得多。然而，</a:t>
                </a:r>
                <a:r>
                  <a:rPr lang="en-US" altLang="zh-CN" sz="4400" b="1" dirty="0" err="1">
                    <a:latin typeface="微软雅黑" panose="020B0503020204020204" pitchFamily="34" charset="-122"/>
                    <a:ea typeface="微软雅黑" panose="020B0503020204020204" pitchFamily="34" charset="-122"/>
                  </a:rPr>
                  <a:t>Barbalat</a:t>
                </a:r>
                <a:r>
                  <a:rPr lang="en-US" altLang="zh-CN" sz="4400" b="1" dirty="0">
                    <a:latin typeface="微软雅黑" panose="020B0503020204020204" pitchFamily="34" charset="-122"/>
                    <a:ea typeface="微软雅黑" panose="020B0503020204020204" pitchFamily="34" charset="-122"/>
                  </a:rPr>
                  <a:t> </a:t>
                </a:r>
                <a:r>
                  <a:rPr lang="zh-CN" altLang="en-US" sz="4400" b="1" dirty="0">
                    <a:latin typeface="微软雅黑" panose="020B0503020204020204" pitchFamily="34" charset="-122"/>
                    <a:ea typeface="微软雅黑" panose="020B0503020204020204" pitchFamily="34" charset="-122"/>
                  </a:rPr>
                  <a:t>引理恰恰能部分弥补这个缺陷，如果能将其恰当地应用于动力学系统，很多渐近稳定性问题能够得到很好的解决。所以</a:t>
                </a:r>
                <a:r>
                  <a:rPr lang="en-US" altLang="zh-CN" sz="4400" b="1" dirty="0" err="1">
                    <a:latin typeface="微软雅黑" panose="020B0503020204020204" pitchFamily="34" charset="-122"/>
                    <a:ea typeface="微软雅黑" panose="020B0503020204020204" pitchFamily="34" charset="-122"/>
                  </a:rPr>
                  <a:t>Barbalat</a:t>
                </a:r>
                <a:r>
                  <a:rPr lang="en-US" altLang="zh-CN" sz="4400" b="1" dirty="0">
                    <a:latin typeface="微软雅黑" panose="020B0503020204020204" pitchFamily="34" charset="-122"/>
                    <a:ea typeface="微软雅黑" panose="020B0503020204020204" pitchFamily="34" charset="-122"/>
                  </a:rPr>
                  <a:t> </a:t>
                </a:r>
                <a:r>
                  <a:rPr lang="zh-CN" altLang="en-US" sz="4400" b="1" dirty="0">
                    <a:latin typeface="微软雅黑" panose="020B0503020204020204" pitchFamily="34" charset="-122"/>
                    <a:ea typeface="微软雅黑" panose="020B0503020204020204" pitchFamily="34" charset="-122"/>
                  </a:rPr>
                  <a:t>引理成为了分析非自治系统稳定性的一个简单而又重要的工具。下面给出</a:t>
                </a:r>
                <a:r>
                  <a:rPr lang="en-US" altLang="zh-CN" sz="4400" b="1" dirty="0" err="1">
                    <a:latin typeface="微软雅黑" panose="020B0503020204020204" pitchFamily="34" charset="-122"/>
                    <a:ea typeface="微软雅黑" panose="020B0503020204020204" pitchFamily="34" charset="-122"/>
                  </a:rPr>
                  <a:t>Barbalat</a:t>
                </a:r>
                <a:r>
                  <a:rPr lang="en-US" altLang="zh-CN" sz="4400" b="1" dirty="0">
                    <a:latin typeface="微软雅黑" panose="020B0503020204020204" pitchFamily="34" charset="-122"/>
                    <a:ea typeface="微软雅黑" panose="020B0503020204020204" pitchFamily="34" charset="-122"/>
                  </a:rPr>
                  <a:t> </a:t>
                </a:r>
                <a:r>
                  <a:rPr lang="zh-CN" altLang="en-US" sz="4400" b="1" dirty="0">
                    <a:latin typeface="微软雅黑" panose="020B0503020204020204" pitchFamily="34" charset="-122"/>
                    <a:ea typeface="微软雅黑" panose="020B0503020204020204" pitchFamily="34" charset="-122"/>
                  </a:rPr>
                  <a:t>引理及其相关推论。</a:t>
                </a:r>
              </a:p>
              <a:p>
                <a:endParaRPr lang="zh-CN" altLang="en-US" dirty="0"/>
              </a:p>
            </p:txBody>
          </p:sp>
        </mc:Choice>
        <mc:Fallback>
          <p:sp>
            <p:nvSpPr>
              <p:cNvPr id="3" name="内容占位符 2">
                <a:extLst>
                  <a:ext uri="{FF2B5EF4-FFF2-40B4-BE49-F238E27FC236}">
                    <a16:creationId xmlns:a16="http://schemas.microsoft.com/office/drawing/2014/main" id="{13A178C8-274E-CAA4-4776-DFAAFCF31C04}"/>
                  </a:ext>
                </a:extLst>
              </p:cNvPr>
              <p:cNvSpPr>
                <a:spLocks noGrp="1" noRot="1" noChangeAspect="1" noMove="1" noResize="1" noEditPoints="1" noAdjustHandles="1" noChangeArrowheads="1" noChangeShapeType="1" noTextEdit="1"/>
              </p:cNvSpPr>
              <p:nvPr>
                <p:ph idx="1"/>
              </p:nvPr>
            </p:nvSpPr>
            <p:spPr>
              <a:xfrm>
                <a:off x="838200" y="1054099"/>
                <a:ext cx="10515600" cy="5146675"/>
              </a:xfrm>
              <a:blipFill>
                <a:blip r:embed="rId3"/>
                <a:stretch>
                  <a:fillRect l="-928" t="-948" r="-696"/>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B208799E-1D69-2BE3-A13B-331690695A08}"/>
              </a:ext>
            </a:extLst>
          </p:cNvPr>
          <p:cNvSpPr txBox="1"/>
          <p:nvPr>
            <p:custDataLst>
              <p:tags r:id="rId1"/>
            </p:custDataLst>
          </p:nvPr>
        </p:nvSpPr>
        <p:spPr>
          <a:xfrm>
            <a:off x="1395413" y="109635"/>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7.2.1</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机器人动力学模型</a:t>
            </a:r>
          </a:p>
        </p:txBody>
      </p:sp>
    </p:spTree>
    <p:extLst>
      <p:ext uri="{BB962C8B-B14F-4D97-AF65-F5344CB8AC3E}">
        <p14:creationId xmlns:p14="http://schemas.microsoft.com/office/powerpoint/2010/main" val="22283658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3B3C897-5028-5D04-7751-3C2C7DFA9291}"/>
                  </a:ext>
                </a:extLst>
              </p:cNvPr>
              <p:cNvSpPr>
                <a:spLocks noGrp="1"/>
              </p:cNvSpPr>
              <p:nvPr>
                <p:ph idx="1"/>
              </p:nvPr>
            </p:nvSpPr>
            <p:spPr/>
            <p:txBody>
              <a:bodyPr>
                <a:normAutofit/>
              </a:bodyPr>
              <a:lstStyle/>
              <a:p>
                <a:pPr marL="0" indent="0">
                  <a:buNone/>
                </a:pPr>
                <a:r>
                  <a:rPr lang="zh-CN" altLang="en-US" b="1" dirty="0">
                    <a:latin typeface="微软雅黑" panose="020B0503020204020204" pitchFamily="34" charset="-122"/>
                    <a:ea typeface="微软雅黑" panose="020B0503020204020204" pitchFamily="34" charset="-122"/>
                  </a:rPr>
                  <a:t>引理</a:t>
                </a:r>
                <a:r>
                  <a:rPr lang="en-US" altLang="zh-CN" b="1" dirty="0">
                    <a:latin typeface="微软雅黑" panose="020B0503020204020204" pitchFamily="34" charset="-122"/>
                    <a:ea typeface="微软雅黑" panose="020B0503020204020204" pitchFamily="34" charset="-122"/>
                  </a:rPr>
                  <a:t>7.2(</a:t>
                </a:r>
                <a:r>
                  <a:rPr lang="en-US" altLang="zh-CN" b="1" dirty="0" err="1">
                    <a:latin typeface="微软雅黑" panose="020B0503020204020204" pitchFamily="34" charset="-122"/>
                    <a:ea typeface="微软雅黑" panose="020B0503020204020204" pitchFamily="34" charset="-122"/>
                  </a:rPr>
                  <a:t>Barbalat</a:t>
                </a:r>
                <a:r>
                  <a:rPr lang="zh-CN" altLang="en-US" b="1" dirty="0">
                    <a:latin typeface="微软雅黑" panose="020B0503020204020204" pitchFamily="34" charset="-122"/>
                    <a:ea typeface="微软雅黑" panose="020B0503020204020204" pitchFamily="34" charset="-122"/>
                  </a:rPr>
                  <a:t>引理</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：如果可微函数</a:t>
                </a:r>
                <a14:m>
                  <m:oMath xmlns:m="http://schemas.openxmlformats.org/officeDocument/2006/math">
                    <m:r>
                      <a:rPr lang="en-US" altLang="zh-CN" b="1" i="1" smtClean="0">
                        <a:latin typeface="Cambria Math" panose="02040503050406030204" pitchFamily="18" charset="0"/>
                      </a:rPr>
                      <m:t>𝒇</m:t>
                    </m:r>
                    <m:r>
                      <a:rPr lang="en-US" altLang="zh-CN" b="1" i="1" smtClean="0">
                        <a:latin typeface="Cambria Math" panose="02040503050406030204" pitchFamily="18" charset="0"/>
                      </a:rPr>
                      <m:t>(</m:t>
                    </m:r>
                    <m:r>
                      <a:rPr lang="en-US" altLang="zh-CN" b="1" i="1" smtClean="0">
                        <a:latin typeface="Cambria Math" panose="02040503050406030204" pitchFamily="18" charset="0"/>
                      </a:rPr>
                      <m:t>𝒕</m:t>
                    </m:r>
                    <m:r>
                      <a:rPr lang="en-US" altLang="zh-CN" b="1" i="1" smtClean="0">
                        <a:latin typeface="Cambria Math" panose="02040503050406030204" pitchFamily="18" charset="0"/>
                      </a:rPr>
                      <m:t>)</m:t>
                    </m:r>
                  </m:oMath>
                </a14:m>
                <a:r>
                  <a:rPr lang="zh-CN" altLang="en-US" b="1" dirty="0">
                    <a:latin typeface="微软雅黑" panose="020B0503020204020204" pitchFamily="34" charset="-122"/>
                    <a:ea typeface="微软雅黑" panose="020B0503020204020204" pitchFamily="34" charset="-122"/>
                  </a:rPr>
                  <a:t> 在</a:t>
                </a:r>
                <a:r>
                  <a:rPr lang="en-US" altLang="zh-CN" b="1" dirty="0">
                    <a:latin typeface="微软雅黑" panose="020B0503020204020204" pitchFamily="34" charset="-122"/>
                    <a:ea typeface="微软雅黑" panose="020B0503020204020204" pitchFamily="34" charset="-122"/>
                  </a:rPr>
                  <a:t>t</a:t>
                </a:r>
                <a14:m>
                  <m:oMath xmlns:m="http://schemas.openxmlformats.org/officeDocument/2006/math">
                    <m:r>
                      <a:rPr lang="en-US" altLang="zh-CN" b="1" i="1" smtClean="0">
                        <a:latin typeface="Cambria Math" panose="02040503050406030204" pitchFamily="18" charset="0"/>
                        <a:ea typeface="Cambria Math" panose="02040503050406030204" pitchFamily="18" charset="0"/>
                      </a:rPr>
                      <m:t>→∞</m:t>
                    </m:r>
                  </m:oMath>
                </a14:m>
                <a:r>
                  <a:rPr lang="zh-CN" altLang="en-US" b="1" dirty="0">
                    <a:latin typeface="微软雅黑" panose="020B0503020204020204" pitchFamily="34" charset="-122"/>
                    <a:ea typeface="微软雅黑" panose="020B0503020204020204" pitchFamily="34" charset="-122"/>
                  </a:rPr>
                  <a:t> 时存在有限极限，且</a:t>
                </a:r>
                <a14:m>
                  <m:oMath xmlns:m="http://schemas.openxmlformats.org/officeDocument/2006/math">
                    <m:acc>
                      <m:accPr>
                        <m:chr m:val="̇"/>
                        <m:ctrlPr>
                          <a:rPr lang="zh-CN" altLang="zh-CN" b="1" i="1">
                            <a:latin typeface="Cambria Math" panose="02040503050406030204" pitchFamily="18" charset="0"/>
                          </a:rPr>
                        </m:ctrlPr>
                      </m:accPr>
                      <m:e>
                        <m:r>
                          <a:rPr lang="en-US" altLang="zh-CN" b="1" i="1">
                            <a:latin typeface="Cambria Math" panose="02040503050406030204" pitchFamily="18" charset="0"/>
                          </a:rPr>
                          <m:t>𝒇</m:t>
                        </m:r>
                      </m:e>
                    </m:acc>
                    <m:r>
                      <a:rPr lang="en-US" altLang="zh-CN" b="1" i="1">
                        <a:latin typeface="Cambria Math" panose="02040503050406030204" pitchFamily="18" charset="0"/>
                      </a:rPr>
                      <m:t>(</m:t>
                    </m:r>
                    <m:r>
                      <a:rPr lang="en-US" altLang="zh-CN" b="1" i="1">
                        <a:latin typeface="Cambria Math" panose="02040503050406030204" pitchFamily="18" charset="0"/>
                      </a:rPr>
                      <m:t>𝒕</m:t>
                    </m:r>
                    <m:r>
                      <a:rPr lang="en-US" altLang="zh-CN" b="1" i="1">
                        <a:latin typeface="Cambria Math" panose="02040503050406030204" pitchFamily="18" charset="0"/>
                      </a:rPr>
                      <m:t>)</m:t>
                    </m:r>
                  </m:oMath>
                </a14:m>
                <a:r>
                  <a:rPr lang="zh-CN" altLang="en-US" b="1" dirty="0">
                    <a:latin typeface="微软雅黑" panose="020B0503020204020204" pitchFamily="34" charset="-122"/>
                    <a:ea typeface="微软雅黑" panose="020B0503020204020204" pitchFamily="34" charset="-122"/>
                  </a:rPr>
                  <a:t>一致连续，那么当 </a:t>
                </a:r>
                <a:r>
                  <a:rPr lang="en-US" altLang="zh-CN" b="1" dirty="0">
                    <a:latin typeface="微软雅黑" panose="020B0503020204020204" pitchFamily="34" charset="-122"/>
                    <a:ea typeface="微软雅黑" panose="020B0503020204020204" pitchFamily="34" charset="-122"/>
                  </a:rPr>
                  <a:t>t</a:t>
                </a:r>
                <a14:m>
                  <m:oMath xmlns:m="http://schemas.openxmlformats.org/officeDocument/2006/math">
                    <m:r>
                      <a:rPr lang="en-US" altLang="zh-CN" b="1" i="1">
                        <a:latin typeface="Cambria Math" panose="02040503050406030204" pitchFamily="18" charset="0"/>
                        <a:ea typeface="Cambria Math" panose="02040503050406030204" pitchFamily="18" charset="0"/>
                      </a:rPr>
                      <m:t>→∞</m:t>
                    </m:r>
                  </m:oMath>
                </a14:m>
                <a:r>
                  <a:rPr lang="zh-CN" altLang="en-US" b="1" dirty="0">
                    <a:latin typeface="微软雅黑" panose="020B0503020204020204" pitchFamily="34" charset="-122"/>
                    <a:ea typeface="微软雅黑" panose="020B0503020204020204" pitchFamily="34" charset="-122"/>
                  </a:rPr>
                  <a:t>时， </a:t>
                </a:r>
                <a14:m>
                  <m:oMath xmlns:m="http://schemas.openxmlformats.org/officeDocument/2006/math">
                    <m:acc>
                      <m:accPr>
                        <m:chr m:val="̇"/>
                        <m:ctrlPr>
                          <a:rPr lang="zh-CN" altLang="zh-CN" b="1" i="1">
                            <a:latin typeface="Cambria Math" panose="02040503050406030204" pitchFamily="18" charset="0"/>
                          </a:rPr>
                        </m:ctrlPr>
                      </m:accPr>
                      <m:e>
                        <m:r>
                          <a:rPr lang="en-US" altLang="zh-CN" b="1" i="1">
                            <a:latin typeface="Cambria Math" panose="02040503050406030204" pitchFamily="18" charset="0"/>
                          </a:rPr>
                          <m:t>𝒇</m:t>
                        </m:r>
                      </m:e>
                    </m:acc>
                    <m:r>
                      <a:rPr lang="en-US" altLang="zh-CN" b="1" i="1">
                        <a:latin typeface="Cambria Math" panose="02040503050406030204" pitchFamily="18" charset="0"/>
                      </a:rPr>
                      <m:t>(</m:t>
                    </m:r>
                    <m:r>
                      <a:rPr lang="en-US" altLang="zh-CN" b="1" i="1">
                        <a:latin typeface="Cambria Math" panose="02040503050406030204" pitchFamily="18" charset="0"/>
                      </a:rPr>
                      <m:t>𝒕</m:t>
                    </m:r>
                    <m:r>
                      <a:rPr lang="en-US" altLang="zh-CN" b="1" i="1">
                        <a:latin typeface="Cambria Math" panose="02040503050406030204" pitchFamily="18" charset="0"/>
                      </a:rPr>
                      <m:t>) →</m:t>
                    </m:r>
                    <m:r>
                      <a:rPr lang="en-US" altLang="zh-CN" b="1" i="1" smtClean="0">
                        <a:latin typeface="Cambria Math" panose="02040503050406030204" pitchFamily="18" charset="0"/>
                        <a:ea typeface="Cambria Math" panose="02040503050406030204" pitchFamily="18" charset="0"/>
                      </a:rPr>
                      <m:t>𝟎</m:t>
                    </m:r>
                  </m:oMath>
                </a14:m>
                <a:r>
                  <a:rPr lang="zh-CN" altLang="en-US" b="1" dirty="0">
                    <a:latin typeface="微软雅黑" panose="020B0503020204020204" pitchFamily="34" charset="-122"/>
                    <a:ea typeface="微软雅黑" panose="020B0503020204020204" pitchFamily="34" charset="-122"/>
                  </a:rPr>
                  <a:t>。</a:t>
                </a:r>
              </a:p>
              <a:p>
                <a:pPr marL="0" indent="0">
                  <a:buNone/>
                </a:pPr>
                <a:r>
                  <a:rPr lang="zh-CN" altLang="en-US" b="1" dirty="0">
                    <a:latin typeface="微软雅黑" panose="020B0503020204020204" pitchFamily="34" charset="-122"/>
                    <a:ea typeface="微软雅黑" panose="020B0503020204020204" pitchFamily="34" charset="-122"/>
                  </a:rPr>
                  <a:t>推论</a:t>
                </a:r>
                <a:r>
                  <a:rPr lang="en-US" altLang="zh-CN" b="1" dirty="0">
                    <a:latin typeface="微软雅黑" panose="020B0503020204020204" pitchFamily="34" charset="-122"/>
                    <a:ea typeface="微软雅黑" panose="020B0503020204020204" pitchFamily="34" charset="-122"/>
                  </a:rPr>
                  <a:t>7.1</a:t>
                </a:r>
                <a:r>
                  <a:rPr lang="zh-CN" altLang="en-US" b="1" dirty="0">
                    <a:latin typeface="微软雅黑" panose="020B0503020204020204" pitchFamily="34" charset="-122"/>
                    <a:ea typeface="微软雅黑" panose="020B0503020204020204" pitchFamily="34" charset="-122"/>
                  </a:rPr>
                  <a:t>：如果可微函数 </a:t>
                </a:r>
                <a14:m>
                  <m:oMath xmlns:m="http://schemas.openxmlformats.org/officeDocument/2006/math">
                    <m:r>
                      <a:rPr lang="en-US" altLang="zh-CN" b="1" i="1" smtClean="0">
                        <a:latin typeface="Cambria Math" panose="02040503050406030204" pitchFamily="18" charset="0"/>
                      </a:rPr>
                      <m:t>𝒇</m:t>
                    </m:r>
                    <m:r>
                      <a:rPr lang="en-US" altLang="zh-CN" b="1" i="1" smtClean="0">
                        <a:latin typeface="Cambria Math" panose="02040503050406030204" pitchFamily="18" charset="0"/>
                      </a:rPr>
                      <m:t>(</m:t>
                    </m:r>
                    <m:r>
                      <a:rPr lang="en-US" altLang="zh-CN" b="1" i="1" smtClean="0">
                        <a:latin typeface="Cambria Math" panose="02040503050406030204" pitchFamily="18" charset="0"/>
                      </a:rPr>
                      <m:t>𝒕</m:t>
                    </m:r>
                    <m:r>
                      <a:rPr lang="en-US" altLang="zh-CN" b="1" i="1" smtClean="0">
                        <a:latin typeface="Cambria Math" panose="02040503050406030204" pitchFamily="18" charset="0"/>
                      </a:rPr>
                      <m:t>)</m:t>
                    </m:r>
                  </m:oMath>
                </a14:m>
                <a:r>
                  <a:rPr lang="zh-CN" altLang="en-US" b="1" dirty="0">
                    <a:latin typeface="微软雅黑" panose="020B0503020204020204" pitchFamily="34" charset="-122"/>
                    <a:ea typeface="微软雅黑" panose="020B0503020204020204" pitchFamily="34" charset="-122"/>
                  </a:rPr>
                  <a:t> 在</a:t>
                </a:r>
                <a:r>
                  <a:rPr lang="en-US" altLang="zh-CN" b="1" dirty="0">
                    <a:latin typeface="微软雅黑" panose="020B0503020204020204" pitchFamily="34" charset="-122"/>
                    <a:ea typeface="微软雅黑" panose="020B0503020204020204" pitchFamily="34" charset="-122"/>
                  </a:rPr>
                  <a:t>t</a:t>
                </a:r>
                <a14:m>
                  <m:oMath xmlns:m="http://schemas.openxmlformats.org/officeDocument/2006/math">
                    <m:r>
                      <a:rPr lang="en-US" altLang="zh-CN" b="1" i="1" smtClean="0">
                        <a:latin typeface="Cambria Math" panose="02040503050406030204" pitchFamily="18" charset="0"/>
                        <a:ea typeface="Cambria Math" panose="02040503050406030204" pitchFamily="18" charset="0"/>
                      </a:rPr>
                      <m:t>→∞</m:t>
                    </m:r>
                  </m:oMath>
                </a14:m>
                <a:r>
                  <a:rPr lang="zh-CN" altLang="en-US" b="1" dirty="0">
                    <a:latin typeface="微软雅黑" panose="020B0503020204020204" pitchFamily="34" charset="-122"/>
                    <a:ea typeface="微软雅黑" panose="020B0503020204020204" pitchFamily="34" charset="-122"/>
                  </a:rPr>
                  <a:t>时存在有限极限，</a:t>
                </a:r>
                <a:r>
                  <a:rPr lang="zh-CN" altLang="zh-CN" b="1" dirty="0">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zh-CN" altLang="zh-CN" b="1" i="1">
                            <a:latin typeface="Cambria Math" panose="02040503050406030204" pitchFamily="18" charset="0"/>
                          </a:rPr>
                        </m:ctrlPr>
                      </m:accPr>
                      <m:e>
                        <m:r>
                          <a:rPr lang="en-US" altLang="zh-CN" b="1" i="1">
                            <a:latin typeface="Cambria Math" panose="02040503050406030204" pitchFamily="18" charset="0"/>
                          </a:rPr>
                          <m:t>𝒇</m:t>
                        </m:r>
                      </m:e>
                    </m:acc>
                    <m:r>
                      <a:rPr lang="en-US" altLang="zh-CN" b="1" i="1">
                        <a:latin typeface="Cambria Math" panose="02040503050406030204" pitchFamily="18" charset="0"/>
                      </a:rPr>
                      <m:t>(</m:t>
                    </m:r>
                    <m:r>
                      <a:rPr lang="en-US" altLang="zh-CN" b="1" i="1">
                        <a:latin typeface="Cambria Math" panose="02040503050406030204" pitchFamily="18" charset="0"/>
                      </a:rPr>
                      <m:t>𝒕</m:t>
                    </m:r>
                    <m:r>
                      <a:rPr lang="en-US" altLang="zh-CN" b="1" i="1">
                        <a:latin typeface="Cambria Math" panose="02040503050406030204" pitchFamily="18" charset="0"/>
                      </a:rPr>
                      <m:t>)</m:t>
                    </m:r>
                  </m:oMath>
                </a14:m>
                <a:r>
                  <a:rPr lang="zh-CN" altLang="en-US" b="1" dirty="0">
                    <a:latin typeface="微软雅黑" panose="020B0503020204020204" pitchFamily="34" charset="-122"/>
                    <a:ea typeface="微软雅黑" panose="020B0503020204020204" pitchFamily="34" charset="-122"/>
                  </a:rPr>
                  <a:t>存在并且有界，那么当</a:t>
                </a:r>
                <a:r>
                  <a:rPr lang="en-US" altLang="zh-CN" b="1" dirty="0">
                    <a:latin typeface="微软雅黑" panose="020B0503020204020204" pitchFamily="34" charset="-122"/>
                    <a:ea typeface="微软雅黑" panose="020B0503020204020204" pitchFamily="34" charset="-122"/>
                  </a:rPr>
                  <a:t>t</a:t>
                </a:r>
                <a14:m>
                  <m:oMath xmlns:m="http://schemas.openxmlformats.org/officeDocument/2006/math">
                    <m:r>
                      <a:rPr lang="en-US" altLang="zh-CN" b="1" i="1">
                        <a:latin typeface="Cambria Math" panose="02040503050406030204" pitchFamily="18" charset="0"/>
                        <a:ea typeface="Cambria Math" panose="02040503050406030204" pitchFamily="18" charset="0"/>
                      </a:rPr>
                      <m:t>→∞</m:t>
                    </m:r>
                  </m:oMath>
                </a14:m>
                <a:r>
                  <a:rPr lang="zh-CN" altLang="en-US" b="1" dirty="0">
                    <a:latin typeface="微软雅黑" panose="020B0503020204020204" pitchFamily="34" charset="-122"/>
                    <a:ea typeface="微软雅黑" panose="020B0503020204020204" pitchFamily="34" charset="-122"/>
                  </a:rPr>
                  <a:t> 时 </a:t>
                </a:r>
                <a14:m>
                  <m:oMath xmlns:m="http://schemas.openxmlformats.org/officeDocument/2006/math">
                    <m:acc>
                      <m:accPr>
                        <m:chr m:val="̇"/>
                        <m:ctrlPr>
                          <a:rPr lang="zh-CN" altLang="zh-CN" b="1" i="1">
                            <a:latin typeface="Cambria Math" panose="02040503050406030204" pitchFamily="18" charset="0"/>
                          </a:rPr>
                        </m:ctrlPr>
                      </m:accPr>
                      <m:e>
                        <m:r>
                          <a:rPr lang="en-US" altLang="zh-CN" b="1" i="1">
                            <a:latin typeface="Cambria Math" panose="02040503050406030204" pitchFamily="18" charset="0"/>
                          </a:rPr>
                          <m:t>𝒇</m:t>
                        </m:r>
                      </m:e>
                    </m:acc>
                    <m:r>
                      <a:rPr lang="en-US" altLang="zh-CN" b="1" i="1">
                        <a:latin typeface="Cambria Math" panose="02040503050406030204" pitchFamily="18" charset="0"/>
                      </a:rPr>
                      <m:t>(</m:t>
                    </m:r>
                    <m:r>
                      <a:rPr lang="en-US" altLang="zh-CN" b="1" i="1">
                        <a:latin typeface="Cambria Math" panose="02040503050406030204" pitchFamily="18" charset="0"/>
                      </a:rPr>
                      <m:t>𝒕</m:t>
                    </m:r>
                    <m:r>
                      <a:rPr lang="en-US" altLang="zh-CN" b="1" i="1">
                        <a:latin typeface="Cambria Math" panose="02040503050406030204" pitchFamily="18" charset="0"/>
                      </a:rPr>
                      <m:t>) →</m:t>
                    </m:r>
                    <m:r>
                      <a:rPr lang="en-US" altLang="zh-CN" b="1" i="1">
                        <a:latin typeface="Cambria Math" panose="02040503050406030204" pitchFamily="18" charset="0"/>
                      </a:rPr>
                      <m:t>𝟎</m:t>
                    </m:r>
                    <m:r>
                      <a:rPr lang="en-US" altLang="zh-CN" b="1" i="1">
                        <a:latin typeface="Cambria Math" panose="02040503050406030204" pitchFamily="18" charset="0"/>
                      </a:rPr>
                      <m:t> </m:t>
                    </m:r>
                  </m:oMath>
                </a14:m>
                <a:r>
                  <a:rPr lang="zh-CN" altLang="en-US" b="1" dirty="0">
                    <a:latin typeface="微软雅黑" panose="020B0503020204020204" pitchFamily="34" charset="-122"/>
                    <a:ea typeface="微软雅黑" panose="020B0503020204020204" pitchFamily="34" charset="-122"/>
                  </a:rPr>
                  <a:t>。</a:t>
                </a:r>
              </a:p>
              <a:p>
                <a:pPr marL="0" indent="0">
                  <a:buNone/>
                </a:pPr>
                <a:r>
                  <a:rPr lang="zh-CN" altLang="en-US" b="1" dirty="0">
                    <a:latin typeface="微软雅黑" panose="020B0503020204020204" pitchFamily="34" charset="-122"/>
                    <a:ea typeface="微软雅黑" panose="020B0503020204020204" pitchFamily="34" charset="-122"/>
                  </a:rPr>
                  <a:t>机器人单腿</a:t>
                </a:r>
                <a:r>
                  <a:rPr lang="en-US" altLang="zh-CN" b="1" dirty="0">
                    <a:latin typeface="微软雅黑" panose="020B0503020204020204" pitchFamily="34" charset="-122"/>
                    <a:ea typeface="微软雅黑" panose="020B0503020204020204" pitchFamily="34" charset="-122"/>
                  </a:rPr>
                  <a:t>3</a:t>
                </a:r>
                <a:r>
                  <a:rPr lang="zh-CN" altLang="en-US" b="1" dirty="0">
                    <a:latin typeface="微软雅黑" panose="020B0503020204020204" pitchFamily="34" charset="-122"/>
                    <a:ea typeface="微软雅黑" panose="020B0503020204020204" pitchFamily="34" charset="-122"/>
                  </a:rPr>
                  <a:t>自由度的简化动力学方程</a:t>
                </a:r>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式</a:t>
                </a:r>
                <a:r>
                  <a:rPr lang="en-US" altLang="zh-CN" b="1" dirty="0">
                    <a:latin typeface="微软雅黑" panose="020B0503020204020204" pitchFamily="34" charset="-122"/>
                    <a:ea typeface="微软雅黑" panose="020B0503020204020204" pitchFamily="34" charset="-122"/>
                  </a:rPr>
                  <a:t>(7.4)]</a:t>
                </a:r>
                <a:r>
                  <a:rPr lang="zh-CN" altLang="en-US" b="1" dirty="0">
                    <a:latin typeface="微软雅黑" panose="020B0503020204020204" pitchFamily="34" charset="-122"/>
                    <a:ea typeface="微软雅黑" panose="020B0503020204020204" pitchFamily="34" charset="-122"/>
                  </a:rPr>
                  <a:t>具体参数如下；</a:t>
                </a:r>
              </a:p>
              <a:p>
                <a:endParaRPr lang="zh-CN" altLang="en-US" dirty="0"/>
              </a:p>
            </p:txBody>
          </p:sp>
        </mc:Choice>
        <mc:Fallback xmlns="">
          <p:sp>
            <p:nvSpPr>
              <p:cNvPr id="3" name="内容占位符 2">
                <a:extLst>
                  <a:ext uri="{FF2B5EF4-FFF2-40B4-BE49-F238E27FC236}">
                    <a16:creationId xmlns:a16="http://schemas.microsoft.com/office/drawing/2014/main" id="{33B3C897-5028-5D04-7751-3C2C7DFA9291}"/>
                  </a:ext>
                </a:extLst>
              </p:cNvPr>
              <p:cNvSpPr>
                <a:spLocks noGrp="1" noRot="1" noChangeAspect="1" noMove="1" noResize="1" noEditPoints="1" noAdjustHandles="1" noChangeArrowheads="1" noChangeShapeType="1" noTextEdit="1"/>
              </p:cNvSpPr>
              <p:nvPr>
                <p:ph idx="1"/>
              </p:nvPr>
            </p:nvSpPr>
            <p:spPr>
              <a:blipFill>
                <a:blip r:embed="rId3"/>
                <a:stretch>
                  <a:fillRect l="-1217" t="-2381"/>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A6DDE5B0-0B90-06F6-C14D-9A2C3534E783}"/>
              </a:ext>
            </a:extLst>
          </p:cNvPr>
          <p:cNvSpPr txBox="1"/>
          <p:nvPr>
            <p:custDataLst>
              <p:tags r:id="rId1"/>
            </p:custDataLst>
          </p:nvPr>
        </p:nvSpPr>
        <p:spPr>
          <a:xfrm>
            <a:off x="1395413" y="109635"/>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7.2.1</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机器人动力学模型</a:t>
            </a:r>
          </a:p>
        </p:txBody>
      </p:sp>
      <mc:AlternateContent xmlns:mc="http://schemas.openxmlformats.org/markup-compatibility/2006" xmlns:a14="http://schemas.microsoft.com/office/drawing/2010/main">
        <mc:Choice Requires="a14">
          <p:sp>
            <p:nvSpPr>
              <p:cNvPr id="5" name="对象 4">
                <a:extLst>
                  <a:ext uri="{FF2B5EF4-FFF2-40B4-BE49-F238E27FC236}">
                    <a16:creationId xmlns:a16="http://schemas.microsoft.com/office/drawing/2014/main" id="{DDAB84B0-D28E-8857-E2E6-FBD18AE956D7}"/>
                  </a:ext>
                </a:extLst>
              </p:cNvPr>
              <p:cNvSpPr txBox="1"/>
              <p:nvPr/>
            </p:nvSpPr>
            <p:spPr bwMode="auto">
              <a:xfrm>
                <a:off x="1395413" y="4308455"/>
                <a:ext cx="4064000" cy="1679575"/>
              </a:xfrm>
              <a:prstGeom prst="rect">
                <a:avLst/>
              </a:prstGeom>
              <a:solidFill>
                <a:schemeClr val="bg1"/>
              </a:solidFill>
              <a:ln>
                <a:solidFill>
                  <a:schemeClr val="bg1"/>
                </a:solidFill>
              </a:ln>
            </p:spPr>
            <p:txBody>
              <a:bodyPr>
                <a:norm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𝑀</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𝜃</m:t>
                      </m:r>
                      <m:r>
                        <a:rPr lang="zh-CN" altLang="en-US" sz="2400" i="1">
                          <a:solidFill>
                            <a:srgbClr val="000000"/>
                          </a:solidFill>
                          <a:latin typeface="Cambria Math" panose="02040503050406030204" pitchFamily="18" charset="0"/>
                        </a:rPr>
                        <m:t>)=</m:t>
                      </m:r>
                      <m:d>
                        <m:dPr>
                          <m:begChr m:val="["/>
                          <m:endChr m:val="]"/>
                          <m:ctrlPr>
                            <a:rPr lang="zh-CN" altLang="en-US" sz="2400" i="1">
                              <a:solidFill>
                                <a:srgbClr val="000000"/>
                              </a:solidFill>
                              <a:latin typeface="Cambria Math" panose="02040503050406030204" pitchFamily="18" charset="0"/>
                            </a:rPr>
                          </m:ctrlPr>
                        </m:dPr>
                        <m:e>
                          <m:m>
                            <m:mPr>
                              <m:plcHide m:val="on"/>
                              <m:mcs>
                                <m:mc>
                                  <m:mcPr>
                                    <m:count m:val="3"/>
                                    <m:mcJc m:val="center"/>
                                  </m:mcPr>
                                </m:mc>
                              </m:mcs>
                              <m:ctrlPr>
                                <a:rPr lang="zh-CN" altLang="en-US" sz="2400" i="1">
                                  <a:solidFill>
                                    <a:srgbClr val="000000"/>
                                  </a:solidFill>
                                  <a:latin typeface="Cambria Math" panose="02040503050406030204" pitchFamily="18" charset="0"/>
                                </a:rPr>
                              </m:ctrlPr>
                            </m:mPr>
                            <m:mr>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𝑀</m:t>
                                    </m:r>
                                  </m:e>
                                  <m:sub>
                                    <m:r>
                                      <a:rPr lang="zh-CN" altLang="en-US" sz="2400" i="1">
                                        <a:solidFill>
                                          <a:srgbClr val="000000"/>
                                        </a:solidFill>
                                        <a:latin typeface="Cambria Math" panose="02040503050406030204" pitchFamily="18" charset="0"/>
                                      </a:rPr>
                                      <m:t>11</m:t>
                                    </m:r>
                                  </m:sub>
                                </m:sSub>
                              </m:e>
                              <m:e>
                                <m:r>
                                  <a:rPr lang="zh-CN" altLang="en-US" sz="2400" i="1">
                                    <a:solidFill>
                                      <a:srgbClr val="000000"/>
                                    </a:solidFill>
                                    <a:latin typeface="Cambria Math" panose="02040503050406030204" pitchFamily="18" charset="0"/>
                                  </a:rPr>
                                  <m:t>0</m:t>
                                </m:r>
                              </m:e>
                              <m:e>
                                <m:r>
                                  <a:rPr lang="zh-CN" altLang="en-US" sz="2400" i="1">
                                    <a:solidFill>
                                      <a:srgbClr val="000000"/>
                                    </a:solidFill>
                                    <a:latin typeface="Cambria Math" panose="02040503050406030204" pitchFamily="18" charset="0"/>
                                  </a:rPr>
                                  <m:t>0</m:t>
                                </m:r>
                              </m:e>
                            </m:mr>
                            <m:mr>
                              <m:e>
                                <m:r>
                                  <a:rPr lang="zh-CN" altLang="en-US" sz="2400" i="1">
                                    <a:solidFill>
                                      <a:srgbClr val="000000"/>
                                    </a:solidFill>
                                    <a:latin typeface="Cambria Math" panose="02040503050406030204" pitchFamily="18" charset="0"/>
                                  </a:rPr>
                                  <m:t>0</m:t>
                                </m:r>
                              </m:e>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𝑀</m:t>
                                    </m:r>
                                  </m:e>
                                  <m:sub>
                                    <m:r>
                                      <a:rPr lang="zh-CN" altLang="en-US" sz="2400" i="1">
                                        <a:solidFill>
                                          <a:srgbClr val="000000"/>
                                        </a:solidFill>
                                        <a:latin typeface="Cambria Math" panose="02040503050406030204" pitchFamily="18" charset="0"/>
                                      </a:rPr>
                                      <m:t>22</m:t>
                                    </m:r>
                                  </m:sub>
                                </m:sSub>
                              </m:e>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𝑀</m:t>
                                    </m:r>
                                  </m:e>
                                  <m:sub>
                                    <m:r>
                                      <a:rPr lang="zh-CN" altLang="en-US" sz="2400" i="1">
                                        <a:solidFill>
                                          <a:srgbClr val="000000"/>
                                        </a:solidFill>
                                        <a:latin typeface="Cambria Math" panose="02040503050406030204" pitchFamily="18" charset="0"/>
                                      </a:rPr>
                                      <m:t>23</m:t>
                                    </m:r>
                                  </m:sub>
                                </m:sSub>
                              </m:e>
                            </m:mr>
                            <m:mr>
                              <m:e>
                                <m:r>
                                  <a:rPr lang="zh-CN" altLang="en-US" sz="2400" i="1">
                                    <a:solidFill>
                                      <a:srgbClr val="000000"/>
                                    </a:solidFill>
                                    <a:latin typeface="Cambria Math" panose="02040503050406030204" pitchFamily="18" charset="0"/>
                                  </a:rPr>
                                  <m:t>0</m:t>
                                </m:r>
                              </m:e>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𝑀</m:t>
                                    </m:r>
                                  </m:e>
                                  <m:sub>
                                    <m:r>
                                      <a:rPr lang="zh-CN" altLang="en-US" sz="2400" i="1">
                                        <a:solidFill>
                                          <a:srgbClr val="000000"/>
                                        </a:solidFill>
                                        <a:latin typeface="Cambria Math" panose="02040503050406030204" pitchFamily="18" charset="0"/>
                                      </a:rPr>
                                      <m:t>23</m:t>
                                    </m:r>
                                  </m:sub>
                                </m:sSub>
                              </m:e>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𝑀</m:t>
                                    </m:r>
                                  </m:e>
                                  <m:sub>
                                    <m:r>
                                      <a:rPr lang="zh-CN" altLang="en-US" sz="2400" i="1">
                                        <a:solidFill>
                                          <a:srgbClr val="000000"/>
                                        </a:solidFill>
                                        <a:latin typeface="Cambria Math" panose="02040503050406030204" pitchFamily="18" charset="0"/>
                                      </a:rPr>
                                      <m:t>33</m:t>
                                    </m:r>
                                  </m:sub>
                                </m:sSub>
                              </m:e>
                            </m:mr>
                          </m:m>
                        </m:e>
                      </m:d>
                    </m:oMath>
                  </m:oMathPara>
                </a14:m>
                <a:endParaRPr lang="zh-CN" altLang="en-US" sz="2400" dirty="0"/>
              </a:p>
            </p:txBody>
          </p:sp>
        </mc:Choice>
        <mc:Fallback xmlns="">
          <p:sp>
            <p:nvSpPr>
              <p:cNvPr id="5" name="对象 4">
                <a:extLst>
                  <a:ext uri="{FF2B5EF4-FFF2-40B4-BE49-F238E27FC236}">
                    <a16:creationId xmlns:a16="http://schemas.microsoft.com/office/drawing/2014/main" id="{DDAB84B0-D28E-8857-E2E6-FBD18AE956D7}"/>
                  </a:ext>
                </a:extLst>
              </p:cNvPr>
              <p:cNvSpPr txBox="1">
                <a:spLocks noRot="1" noChangeAspect="1" noMove="1" noResize="1" noEditPoints="1" noAdjustHandles="1" noChangeArrowheads="1" noChangeShapeType="1" noTextEdit="1"/>
              </p:cNvSpPr>
              <p:nvPr/>
            </p:nvSpPr>
            <p:spPr bwMode="auto">
              <a:xfrm>
                <a:off x="1395413" y="4308455"/>
                <a:ext cx="4064000" cy="1679575"/>
              </a:xfrm>
              <a:prstGeom prst="rect">
                <a:avLst/>
              </a:prstGeom>
              <a:blipFill>
                <a:blip r:embed="rId4"/>
                <a:stretch>
                  <a:fillRect/>
                </a:stretch>
              </a:blipFill>
              <a:ln>
                <a:solidFill>
                  <a:schemeClr val="bg1"/>
                </a:solidFill>
              </a:ln>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F066E6AC-282C-66C8-8EC5-1936A5C1BB19}"/>
              </a:ext>
            </a:extLst>
          </p:cNvPr>
          <p:cNvSpPr txBox="1"/>
          <p:nvPr/>
        </p:nvSpPr>
        <p:spPr>
          <a:xfrm>
            <a:off x="6096000" y="4686578"/>
            <a:ext cx="2228850" cy="461665"/>
          </a:xfrm>
          <a:prstGeom prst="rect">
            <a:avLst/>
          </a:prstGeom>
          <a:noFill/>
        </p:spPr>
        <p:txBody>
          <a:bodyPr wrap="square" rtlCol="0">
            <a:spAutoFit/>
          </a:bodyPr>
          <a:lstStyle/>
          <a:p>
            <a:r>
              <a:rPr lang="en-US" altLang="zh-CN" sz="2400" dirty="0">
                <a:latin typeface="微软雅黑" panose="020B0503020204020204" pitchFamily="34" charset="-122"/>
                <a:ea typeface="微软雅黑" panose="020B0503020204020204" pitchFamily="34" charset="-122"/>
              </a:rPr>
              <a:t>(7.4)</a:t>
            </a:r>
            <a:endParaRPr lang="zh-CN" altLang="en-US"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745049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CEB1EC-B860-F2B5-C50E-0DD8F4112D6B}"/>
              </a:ext>
            </a:extLst>
          </p:cNvPr>
          <p:cNvSpPr txBox="1"/>
          <p:nvPr>
            <p:custDataLst>
              <p:tags r:id="rId1"/>
            </p:custDataLst>
          </p:nvPr>
        </p:nvSpPr>
        <p:spPr>
          <a:xfrm>
            <a:off x="1395413" y="109635"/>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7.2.1</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机器人动力学模型</a:t>
            </a:r>
          </a:p>
        </p:txBody>
      </p:sp>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697CE540-83EB-D316-FDDB-BA4ADF82D657}"/>
                  </a:ext>
                </a:extLst>
              </p:cNvPr>
              <p:cNvSpPr txBox="1"/>
              <p:nvPr/>
            </p:nvSpPr>
            <p:spPr>
              <a:xfrm>
                <a:off x="757646" y="1110912"/>
                <a:ext cx="11234057" cy="2830775"/>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其中，</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𝑀</m:t>
                        </m:r>
                      </m:e>
                      <m:sub>
                        <m:r>
                          <a:rPr lang="en-US" altLang="zh-CN" sz="2400" i="1">
                            <a:latin typeface="Cambria Math" panose="02040503050406030204" pitchFamily="18" charset="0"/>
                          </a:rPr>
                          <m:t>11</m:t>
                        </m:r>
                      </m:sub>
                    </m:sSub>
                  </m:oMath>
                </a14:m>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𝑚</m:t>
                        </m:r>
                      </m:e>
                      <m:sub>
                        <m:r>
                          <a:rPr lang="en-US" altLang="zh-CN" sz="2400" b="0" i="1" smtClean="0">
                            <a:latin typeface="Cambria Math" panose="02040503050406030204" pitchFamily="18" charset="0"/>
                          </a:rPr>
                          <m:t>2</m:t>
                        </m:r>
                      </m:sub>
                    </m:sSub>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𝑙</m:t>
                        </m:r>
                      </m:e>
                      <m:sub>
                        <m:r>
                          <a:rPr lang="en-US" altLang="zh-CN" sz="2400" i="1">
                            <a:latin typeface="Cambria Math" panose="02040503050406030204" pitchFamily="18" charset="0"/>
                          </a:rPr>
                          <m:t>1</m:t>
                        </m:r>
                      </m:sub>
                      <m:sup>
                        <m:r>
                          <a:rPr lang="en-US" altLang="zh-CN" sz="2400" i="1">
                            <a:latin typeface="Cambria Math" panose="02040503050406030204" pitchFamily="18" charset="0"/>
                          </a:rPr>
                          <m:t>2</m:t>
                        </m:r>
                      </m:sup>
                    </m:sSubSup>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𝑐𝑜𝑠</m:t>
                        </m:r>
                      </m:e>
                      <m:sup>
                        <m:r>
                          <a:rPr lang="en-US" altLang="zh-CN" sz="2400" i="1">
                            <a:latin typeface="Cambria Math" panose="02040503050406030204" pitchFamily="18" charset="0"/>
                          </a:rPr>
                          <m:t>2</m:t>
                        </m:r>
                      </m:sup>
                    </m:sSup>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𝜃</m:t>
                        </m:r>
                      </m:e>
                      <m:sub>
                        <m:r>
                          <a:rPr lang="en-US" altLang="zh-CN" sz="2400" i="1">
                            <a:latin typeface="Cambria Math" panose="02040503050406030204" pitchFamily="18" charset="0"/>
                          </a:rPr>
                          <m:t>2</m:t>
                        </m:r>
                      </m:sub>
                    </m:sSub>
                  </m:oMath>
                </a14:m>
                <a:r>
                  <a:rPr lang="en-US" altLang="zh-CN" sz="2400" dirty="0">
                    <a:latin typeface="微软雅黑" panose="020B0503020204020204" pitchFamily="34" charset="-122"/>
                    <a:ea typeface="微软雅黑" panose="020B0503020204020204" pitchFamily="34" charset="-122"/>
                  </a:rPr>
                  <a:t>+2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2</m:t>
                        </m:r>
                      </m:sub>
                    </m:sSub>
                  </m:oMath>
                </a14:m>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𝑙</m:t>
                        </m:r>
                      </m:e>
                      <m:sub>
                        <m:r>
                          <a:rPr lang="en-US" altLang="zh-CN" sz="2400" b="0" i="1" smtClean="0">
                            <a:latin typeface="Cambria Math" panose="02040503050406030204" pitchFamily="18" charset="0"/>
                          </a:rPr>
                          <m:t>1</m:t>
                        </m:r>
                      </m:sub>
                    </m:sSub>
                  </m:oMath>
                </a14:m>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𝑙</m:t>
                        </m:r>
                      </m:e>
                      <m:sub>
                        <m:r>
                          <a:rPr lang="en-US" altLang="zh-CN" sz="2400" i="1">
                            <a:latin typeface="Cambria Math" panose="02040503050406030204" pitchFamily="18" charset="0"/>
                          </a:rPr>
                          <m:t>2</m:t>
                        </m:r>
                      </m:sub>
                    </m:sSub>
                  </m:oMath>
                </a14:m>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400" b="0" i="0" smtClean="0">
                        <a:latin typeface="Cambria Math" panose="02040503050406030204" pitchFamily="18" charset="0"/>
                      </a:rPr>
                      <m:t>cos</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𝜃</m:t>
                        </m:r>
                      </m:e>
                      <m:sub>
                        <m:r>
                          <a:rPr lang="en-US" altLang="zh-CN" sz="2400" i="1">
                            <a:latin typeface="Cambria Math" panose="02040503050406030204" pitchFamily="18" charset="0"/>
                          </a:rPr>
                          <m:t>2</m:t>
                        </m:r>
                      </m:sub>
                    </m:sSub>
                    <m:r>
                      <m:rPr>
                        <m:sty m:val="p"/>
                      </m:rPr>
                      <a:rPr lang="en-US" altLang="zh-CN" sz="2400">
                        <a:latin typeface="Cambria Math" panose="02040503050406030204" pitchFamily="18" charset="0"/>
                      </a:rPr>
                      <m:t>cos</m:t>
                    </m:r>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𝜃</m:t>
                            </m:r>
                          </m:e>
                          <m:sub>
                            <m:r>
                              <a:rPr lang="en-US" altLang="zh-CN" sz="2400" i="1">
                                <a:latin typeface="Cambria Math" panose="02040503050406030204" pitchFamily="18" charset="0"/>
                              </a:rPr>
                              <m:t>2</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𝜃</m:t>
                            </m:r>
                          </m:e>
                          <m:sub>
                            <m:r>
                              <a:rPr lang="en-US" altLang="zh-CN" sz="2400" b="0" i="1" smtClean="0">
                                <a:latin typeface="Cambria Math" panose="02040503050406030204" pitchFamily="18" charset="0"/>
                              </a:rPr>
                              <m:t>3</m:t>
                            </m:r>
                          </m:sub>
                        </m:sSub>
                      </m:e>
                    </m:d>
                  </m:oMath>
                </a14:m>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2</m:t>
                        </m:r>
                      </m:sub>
                    </m:sSub>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𝑙</m:t>
                        </m:r>
                      </m:e>
                      <m:sub>
                        <m:r>
                          <a:rPr lang="en-US" altLang="zh-CN" sz="2400" b="0" i="1" smtClean="0">
                            <a:latin typeface="Cambria Math" panose="02040503050406030204" pitchFamily="18" charset="0"/>
                          </a:rPr>
                          <m:t>2</m:t>
                        </m:r>
                      </m:sub>
                      <m:sup>
                        <m:r>
                          <a:rPr lang="en-US" altLang="zh-CN" sz="2400" i="1">
                            <a:latin typeface="Cambria Math" panose="02040503050406030204" pitchFamily="18" charset="0"/>
                          </a:rPr>
                          <m:t>2</m:t>
                        </m:r>
                      </m:sup>
                    </m:sSubSup>
                  </m:oMath>
                </a14:m>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𝑐𝑜𝑠</m:t>
                        </m:r>
                      </m:e>
                      <m:sup>
                        <m:r>
                          <a:rPr lang="en-US" altLang="zh-CN" sz="2400" i="1">
                            <a:latin typeface="Cambria Math" panose="02040503050406030204" pitchFamily="18" charset="0"/>
                          </a:rPr>
                          <m:t>2</m:t>
                        </m:r>
                      </m:sup>
                    </m:sSup>
                  </m:oMath>
                </a14:m>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d>
                      <m:dPr>
                        <m:ctrlPr>
                          <a:rPr lang="en-US" altLang="zh-CN" sz="2400" i="1">
                            <a:latin typeface="Cambria Math" panose="02040503050406030204" pitchFamily="18" charset="0"/>
                          </a:rPr>
                        </m:ctrlPr>
                      </m:dPr>
                      <m:e>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𝜃</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𝜃</m:t>
                            </m:r>
                          </m:e>
                          <m:sub>
                            <m:r>
                              <a:rPr lang="en-US" altLang="zh-CN" sz="2400" i="1">
                                <a:latin typeface="Cambria Math" panose="02040503050406030204" pitchFamily="18" charset="0"/>
                              </a:rPr>
                              <m:t>3</m:t>
                            </m:r>
                          </m:sub>
                        </m:sSub>
                      </m:e>
                    </m:d>
                  </m:oMath>
                </a14:m>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b="0" i="1" smtClean="0">
                            <a:latin typeface="Cambria Math" panose="02040503050406030204" pitchFamily="18" charset="0"/>
                          </a:rPr>
                          <m:t>1</m:t>
                        </m:r>
                      </m:sub>
                    </m:sSub>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𝑙</m:t>
                        </m:r>
                      </m:e>
                      <m:sub>
                        <m:r>
                          <a:rPr lang="en-US" altLang="zh-CN" sz="2400" b="0" i="1" smtClean="0">
                            <a:latin typeface="Cambria Math" panose="02040503050406030204" pitchFamily="18" charset="0"/>
                          </a:rPr>
                          <m:t>1</m:t>
                        </m:r>
                      </m:sub>
                      <m:sup>
                        <m:r>
                          <a:rPr lang="en-US" altLang="zh-CN" sz="2400" i="1">
                            <a:latin typeface="Cambria Math" panose="02040503050406030204" pitchFamily="18" charset="0"/>
                          </a:rPr>
                          <m:t>2</m:t>
                        </m:r>
                      </m:sup>
                    </m:sSubSup>
                  </m:oMath>
                </a14:m>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sSup>
                      <m:sSupPr>
                        <m:ctrlPr>
                          <a:rPr lang="en-US" altLang="zh-CN" sz="2400" i="1">
                            <a:latin typeface="Cambria Math" panose="02040503050406030204" pitchFamily="18" charset="0"/>
                          </a:rPr>
                        </m:ctrlPr>
                      </m:sSupPr>
                      <m:e>
                        <m:r>
                          <a:rPr lang="en-US" altLang="zh-CN" sz="2400" i="1">
                            <a:latin typeface="Cambria Math" panose="02040503050406030204" pitchFamily="18" charset="0"/>
                          </a:rPr>
                          <m:t>𝑐𝑜𝑠</m:t>
                        </m:r>
                      </m:e>
                      <m:sup>
                        <m:r>
                          <a:rPr lang="en-US" altLang="zh-CN" sz="2400" i="1">
                            <a:latin typeface="Cambria Math" panose="02040503050406030204" pitchFamily="18" charset="0"/>
                          </a:rPr>
                          <m:t>2</m:t>
                        </m:r>
                      </m:sup>
                    </m:sSup>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𝜃</m:t>
                        </m:r>
                      </m:e>
                      <m:sub>
                        <m:r>
                          <a:rPr lang="en-US" altLang="zh-CN" sz="2400" i="1">
                            <a:latin typeface="Cambria Math" panose="02040503050406030204" pitchFamily="18" charset="0"/>
                          </a:rPr>
                          <m:t>2</m:t>
                        </m:r>
                      </m:sub>
                    </m:sSub>
                  </m:oMath>
                </a14:m>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400" i="1">
                            <a:latin typeface="Cambria Math" panose="02040503050406030204" pitchFamily="18" charset="0"/>
                          </a:rPr>
                        </m:ctrlPr>
                      </m:sSubPr>
                      <m:e>
                        <m:r>
                          <a:rPr lang="en-US" altLang="zh-CN" sz="2400" b="0" i="1" smtClean="0">
                            <a:latin typeface="Cambria Math" panose="02040503050406030204" pitchFamily="18" charset="0"/>
                          </a:rPr>
                          <m:t>𝐼</m:t>
                        </m:r>
                      </m:e>
                      <m:sub>
                        <m:r>
                          <a:rPr lang="en-US" altLang="zh-CN" sz="2400" i="1">
                            <a:latin typeface="Cambria Math" panose="02040503050406030204" pitchFamily="18" charset="0"/>
                          </a:rPr>
                          <m:t>1</m:t>
                        </m:r>
                      </m:sub>
                    </m:sSub>
                  </m:oMath>
                </a14:m>
                <a:endParaRPr lang="en-US" altLang="zh-CN" sz="2400" dirty="0">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sSub>
                      <m:sSubPr>
                        <m:ctrlPr>
                          <a:rPr lang="en-US" altLang="zh-CN" sz="2400" i="1" smtClean="0">
                            <a:latin typeface="Cambria Math" panose="02040503050406030204" pitchFamily="18" charset="0"/>
                          </a:rPr>
                        </m:ctrlPr>
                      </m:sSubPr>
                      <m:e>
                        <m:r>
                          <a:rPr lang="en-US" altLang="zh-CN" sz="2400" i="1">
                            <a:latin typeface="Cambria Math" panose="02040503050406030204" pitchFamily="18" charset="0"/>
                          </a:rPr>
                          <m:t>𝑀</m:t>
                        </m:r>
                      </m:e>
                      <m:sub>
                        <m:r>
                          <a:rPr lang="en-US" altLang="zh-CN" sz="2400" b="0" i="1" smtClean="0">
                            <a:latin typeface="Cambria Math" panose="02040503050406030204" pitchFamily="18" charset="0"/>
                          </a:rPr>
                          <m:t>22</m:t>
                        </m:r>
                      </m:sub>
                    </m:sSub>
                  </m:oMath>
                </a14:m>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1</m:t>
                        </m:r>
                      </m:sub>
                    </m:sSub>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𝑙</m:t>
                        </m:r>
                      </m:e>
                      <m:sub>
                        <m:r>
                          <a:rPr lang="en-US" altLang="zh-CN" sz="2400" i="1">
                            <a:latin typeface="Cambria Math" panose="02040503050406030204" pitchFamily="18" charset="0"/>
                          </a:rPr>
                          <m:t>1</m:t>
                        </m:r>
                      </m:sub>
                      <m:sup>
                        <m:r>
                          <a:rPr lang="en-US" altLang="zh-CN" sz="2400" i="1">
                            <a:latin typeface="Cambria Math" panose="02040503050406030204" pitchFamily="18" charset="0"/>
                          </a:rPr>
                          <m:t>2</m:t>
                        </m:r>
                      </m:sup>
                    </m:sSubSup>
                  </m:oMath>
                </a14:m>
                <a:r>
                  <a:rPr lang="en-US" altLang="zh-CN" sz="2400" dirty="0">
                    <a:latin typeface="微软雅黑" panose="020B0503020204020204" pitchFamily="34" charset="-122"/>
                    <a:ea typeface="微软雅黑" panose="020B0503020204020204" pitchFamily="34" charset="-122"/>
                  </a:rPr>
                  <a:t> +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b="0" i="1" smtClean="0">
                            <a:latin typeface="Cambria Math" panose="02040503050406030204" pitchFamily="18" charset="0"/>
                          </a:rPr>
                          <m:t>2</m:t>
                        </m:r>
                      </m:sub>
                    </m:sSub>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𝑙</m:t>
                        </m:r>
                      </m:e>
                      <m:sub>
                        <m:r>
                          <a:rPr lang="en-US" altLang="zh-CN" sz="2400" i="1">
                            <a:latin typeface="Cambria Math" panose="02040503050406030204" pitchFamily="18" charset="0"/>
                          </a:rPr>
                          <m:t>1</m:t>
                        </m:r>
                      </m:sub>
                      <m:sup>
                        <m:r>
                          <a:rPr lang="en-US" altLang="zh-CN" sz="2400" i="1">
                            <a:latin typeface="Cambria Math" panose="02040503050406030204" pitchFamily="18" charset="0"/>
                          </a:rPr>
                          <m:t>2</m:t>
                        </m:r>
                      </m:sup>
                    </m:sSubSup>
                  </m:oMath>
                </a14:m>
                <a:r>
                  <a:rPr lang="en-US" altLang="zh-CN" sz="2400" dirty="0">
                    <a:latin typeface="微软雅黑" panose="020B0503020204020204" pitchFamily="34" charset="-122"/>
                    <a:ea typeface="微软雅黑" panose="020B0503020204020204" pitchFamily="34" charset="-122"/>
                  </a:rPr>
                  <a:t> + 2</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2</m:t>
                        </m:r>
                      </m:sub>
                    </m:sSub>
                  </m:oMath>
                </a14:m>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𝑙</m:t>
                        </m:r>
                      </m:e>
                      <m:sub>
                        <m:r>
                          <a:rPr lang="en-US" altLang="zh-CN" sz="2400" i="1">
                            <a:latin typeface="Cambria Math" panose="02040503050406030204" pitchFamily="18" charset="0"/>
                          </a:rPr>
                          <m:t>1</m:t>
                        </m:r>
                      </m:sub>
                    </m:sSub>
                  </m:oMath>
                </a14:m>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𝑙</m:t>
                        </m:r>
                      </m:e>
                      <m:sub>
                        <m:r>
                          <a:rPr lang="en-US" altLang="zh-CN" sz="2400" i="1">
                            <a:latin typeface="Cambria Math" panose="02040503050406030204" pitchFamily="18" charset="0"/>
                          </a:rPr>
                          <m:t>2</m:t>
                        </m:r>
                      </m:sub>
                    </m:sSub>
                  </m:oMath>
                </a14:m>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400">
                        <a:latin typeface="Cambria Math" panose="02040503050406030204" pitchFamily="18" charset="0"/>
                      </a:rPr>
                      <m:t>cos</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𝜃</m:t>
                        </m:r>
                      </m:e>
                      <m:sub>
                        <m:r>
                          <a:rPr lang="en-US" altLang="zh-CN" sz="2400" i="1">
                            <a:latin typeface="Cambria Math" panose="02040503050406030204" pitchFamily="18" charset="0"/>
                          </a:rPr>
                          <m:t>3</m:t>
                        </m:r>
                      </m:sub>
                    </m:sSub>
                  </m:oMath>
                </a14:m>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b="0" i="1" smtClean="0">
                            <a:latin typeface="Cambria Math" panose="02040503050406030204" pitchFamily="18" charset="0"/>
                          </a:rPr>
                          <m:t>2</m:t>
                        </m:r>
                      </m:sub>
                    </m:sSub>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𝑙</m:t>
                        </m:r>
                      </m:e>
                      <m:sub>
                        <m:r>
                          <a:rPr lang="en-US" altLang="zh-CN" sz="2400" b="0" i="1" smtClean="0">
                            <a:latin typeface="Cambria Math" panose="02040503050406030204" pitchFamily="18" charset="0"/>
                          </a:rPr>
                          <m:t>2</m:t>
                        </m:r>
                      </m:sub>
                      <m:sup>
                        <m:r>
                          <a:rPr lang="en-US" altLang="zh-CN" sz="2400" i="1">
                            <a:latin typeface="Cambria Math" panose="02040503050406030204" pitchFamily="18" charset="0"/>
                          </a:rPr>
                          <m:t>2</m:t>
                        </m:r>
                      </m:sup>
                    </m:sSubSup>
                  </m:oMath>
                </a14:m>
                <a:r>
                  <a:rPr lang="en-US" altLang="zh-CN" sz="2400" dirty="0">
                    <a:latin typeface="微软雅黑" panose="020B0503020204020204" pitchFamily="34" charset="-122"/>
                    <a:ea typeface="微软雅黑" panose="020B0503020204020204" pitchFamily="34" charset="-122"/>
                  </a:rPr>
                  <a:t> +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𝐼</m:t>
                        </m:r>
                      </m:e>
                      <m:sub>
                        <m:r>
                          <a:rPr lang="en-US" altLang="zh-CN" sz="2400" b="0" i="1" smtClean="0">
                            <a:latin typeface="Cambria Math" panose="02040503050406030204" pitchFamily="18" charset="0"/>
                          </a:rPr>
                          <m:t>2</m:t>
                        </m:r>
                      </m:sub>
                    </m:sSub>
                  </m:oMath>
                </a14:m>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𝐼</m:t>
                        </m:r>
                      </m:e>
                      <m:sub>
                        <m:r>
                          <a:rPr lang="en-US" altLang="zh-CN" sz="2400" b="0" i="1" smtClean="0">
                            <a:latin typeface="Cambria Math" panose="02040503050406030204" pitchFamily="18" charset="0"/>
                          </a:rPr>
                          <m:t>3</m:t>
                        </m:r>
                      </m:sub>
                    </m:sSub>
                  </m:oMath>
                </a14:m>
                <a:endParaRPr lang="en-US" altLang="zh-CN" sz="2400" dirty="0">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sSub>
                      <m:sSubPr>
                        <m:ctrlPr>
                          <a:rPr lang="en-US" altLang="zh-CN" sz="2400" i="1" smtClean="0">
                            <a:latin typeface="Cambria Math" panose="02040503050406030204" pitchFamily="18" charset="0"/>
                          </a:rPr>
                        </m:ctrlPr>
                      </m:sSubPr>
                      <m:e>
                        <m:r>
                          <a:rPr lang="en-US" altLang="zh-CN" sz="2400" i="1">
                            <a:latin typeface="Cambria Math" panose="02040503050406030204" pitchFamily="18" charset="0"/>
                          </a:rPr>
                          <m:t>𝑀</m:t>
                        </m:r>
                      </m:e>
                      <m:sub>
                        <m:r>
                          <a:rPr lang="en-US" altLang="zh-CN" sz="2400" b="0" i="1" smtClean="0">
                            <a:latin typeface="Cambria Math" panose="02040503050406030204" pitchFamily="18" charset="0"/>
                          </a:rPr>
                          <m:t>23</m:t>
                        </m:r>
                      </m:sub>
                    </m:sSub>
                  </m:oMath>
                </a14:m>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2</m:t>
                        </m:r>
                      </m:sub>
                    </m:sSub>
                  </m:oMath>
                </a14:m>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𝑙</m:t>
                        </m:r>
                      </m:e>
                      <m:sub>
                        <m:r>
                          <a:rPr lang="en-US" altLang="zh-CN" sz="2400" i="1">
                            <a:latin typeface="Cambria Math" panose="02040503050406030204" pitchFamily="18" charset="0"/>
                          </a:rPr>
                          <m:t>1</m:t>
                        </m:r>
                      </m:sub>
                    </m:sSub>
                  </m:oMath>
                </a14:m>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𝑙</m:t>
                        </m:r>
                      </m:e>
                      <m:sub>
                        <m:r>
                          <a:rPr lang="en-US" altLang="zh-CN" sz="2400" i="1">
                            <a:latin typeface="Cambria Math" panose="02040503050406030204" pitchFamily="18" charset="0"/>
                          </a:rPr>
                          <m:t>2</m:t>
                        </m:r>
                      </m:sub>
                    </m:sSub>
                  </m:oMath>
                </a14:m>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r>
                      <m:rPr>
                        <m:sty m:val="p"/>
                      </m:rPr>
                      <a:rPr lang="en-US" altLang="zh-CN" sz="2400">
                        <a:latin typeface="Cambria Math" panose="02040503050406030204" pitchFamily="18" charset="0"/>
                      </a:rPr>
                      <m:t>cos</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𝜃</m:t>
                        </m:r>
                      </m:e>
                      <m:sub>
                        <m:r>
                          <a:rPr lang="en-US" altLang="zh-CN" sz="2400" i="1">
                            <a:latin typeface="Cambria Math" panose="02040503050406030204" pitchFamily="18" charset="0"/>
                          </a:rPr>
                          <m:t>3</m:t>
                        </m:r>
                      </m:sub>
                    </m:sSub>
                  </m:oMath>
                </a14:m>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2</m:t>
                        </m:r>
                      </m:sub>
                    </m:sSub>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𝑙</m:t>
                        </m:r>
                      </m:e>
                      <m:sub>
                        <m:r>
                          <a:rPr lang="en-US" altLang="zh-CN" sz="2400" i="1">
                            <a:latin typeface="Cambria Math" panose="02040503050406030204" pitchFamily="18" charset="0"/>
                          </a:rPr>
                          <m:t>2</m:t>
                        </m:r>
                      </m:sub>
                      <m:sup>
                        <m:r>
                          <a:rPr lang="en-US" altLang="zh-CN" sz="2400" i="1">
                            <a:latin typeface="Cambria Math" panose="02040503050406030204" pitchFamily="18" charset="0"/>
                          </a:rPr>
                          <m:t>2</m:t>
                        </m:r>
                      </m:sup>
                    </m:sSubSup>
                  </m:oMath>
                </a14:m>
                <a:r>
                  <a:rPr lang="en-US" altLang="zh-CN" sz="2400" dirty="0">
                    <a:latin typeface="微软雅黑" panose="020B0503020204020204" pitchFamily="34" charset="-122"/>
                    <a:ea typeface="微软雅黑" panose="020B0503020204020204" pitchFamily="34" charset="-122"/>
                  </a:rPr>
                  <a:t> +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𝐼</m:t>
                        </m:r>
                      </m:e>
                      <m:sub>
                        <m:r>
                          <a:rPr lang="en-US" altLang="zh-CN" sz="2400" i="1">
                            <a:latin typeface="Cambria Math" panose="02040503050406030204" pitchFamily="18" charset="0"/>
                          </a:rPr>
                          <m:t>3</m:t>
                        </m:r>
                      </m:sub>
                    </m:sSub>
                  </m:oMath>
                </a14:m>
                <a:endParaRPr lang="en-US" altLang="zh-CN" sz="2400" dirty="0">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sSub>
                      <m:sSubPr>
                        <m:ctrlPr>
                          <a:rPr lang="en-US" altLang="zh-CN" sz="2400" i="1" smtClean="0">
                            <a:latin typeface="Cambria Math" panose="02040503050406030204" pitchFamily="18" charset="0"/>
                          </a:rPr>
                        </m:ctrlPr>
                      </m:sSubPr>
                      <m:e>
                        <m:r>
                          <a:rPr lang="en-US" altLang="zh-CN" sz="2400" i="1">
                            <a:latin typeface="Cambria Math" panose="02040503050406030204" pitchFamily="18" charset="0"/>
                          </a:rPr>
                          <m:t>𝑀</m:t>
                        </m:r>
                      </m:e>
                      <m:sub>
                        <m:r>
                          <a:rPr lang="en-US" altLang="zh-CN" sz="2400" b="0" i="1" smtClean="0">
                            <a:latin typeface="Cambria Math" panose="02040503050406030204" pitchFamily="18" charset="0"/>
                          </a:rPr>
                          <m:t>33</m:t>
                        </m:r>
                      </m:sub>
                    </m:sSub>
                  </m:oMath>
                </a14:m>
                <a:r>
                  <a:rPr lang="en-US" altLang="zh-CN" sz="2400" dirty="0">
                    <a:latin typeface="微软雅黑" panose="020B0503020204020204" pitchFamily="34" charset="-122"/>
                    <a:ea typeface="微软雅黑" panose="020B0503020204020204" pitchFamily="34" charset="-122"/>
                  </a:rPr>
                  <a:t>=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𝑚</m:t>
                        </m:r>
                      </m:e>
                      <m:sub>
                        <m:r>
                          <a:rPr lang="en-US" altLang="zh-CN" sz="2400" i="1">
                            <a:latin typeface="Cambria Math" panose="02040503050406030204" pitchFamily="18" charset="0"/>
                          </a:rPr>
                          <m:t>2</m:t>
                        </m:r>
                      </m:sub>
                    </m:sSub>
                    <m:sSubSup>
                      <m:sSubSupPr>
                        <m:ctrlPr>
                          <a:rPr lang="en-US" altLang="zh-CN" sz="2400" i="1">
                            <a:latin typeface="Cambria Math" panose="02040503050406030204" pitchFamily="18" charset="0"/>
                          </a:rPr>
                        </m:ctrlPr>
                      </m:sSubSupPr>
                      <m:e>
                        <m:r>
                          <a:rPr lang="en-US" altLang="zh-CN" sz="2400" i="1">
                            <a:latin typeface="Cambria Math" panose="02040503050406030204" pitchFamily="18" charset="0"/>
                          </a:rPr>
                          <m:t>𝑙</m:t>
                        </m:r>
                      </m:e>
                      <m:sub>
                        <m:r>
                          <a:rPr lang="en-US" altLang="zh-CN" sz="2400" i="1">
                            <a:latin typeface="Cambria Math" panose="02040503050406030204" pitchFamily="18" charset="0"/>
                          </a:rPr>
                          <m:t>2</m:t>
                        </m:r>
                      </m:sub>
                      <m:sup>
                        <m:r>
                          <a:rPr lang="en-US" altLang="zh-CN" sz="2400" i="1">
                            <a:latin typeface="Cambria Math" panose="02040503050406030204" pitchFamily="18" charset="0"/>
                          </a:rPr>
                          <m:t>2</m:t>
                        </m:r>
                      </m:sup>
                    </m:sSubSup>
                  </m:oMath>
                </a14:m>
                <a:r>
                  <a:rPr lang="en-US" altLang="zh-CN" sz="2400" dirty="0">
                    <a:latin typeface="微软雅黑" panose="020B0503020204020204" pitchFamily="34" charset="-122"/>
                    <a:ea typeface="微软雅黑" panose="020B0503020204020204" pitchFamily="34" charset="-122"/>
                  </a:rPr>
                  <a:t> + </a:t>
                </a:r>
                <a14:m>
                  <m:oMath xmlns:m="http://schemas.openxmlformats.org/officeDocument/2006/math">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𝐼</m:t>
                        </m:r>
                      </m:e>
                      <m:sub>
                        <m:r>
                          <a:rPr lang="en-US" altLang="zh-CN" sz="2400" i="1">
                            <a:latin typeface="Cambria Math" panose="02040503050406030204" pitchFamily="18" charset="0"/>
                          </a:rPr>
                          <m:t>3</m:t>
                        </m:r>
                      </m:sub>
                    </m:sSub>
                  </m:oMath>
                </a14:m>
                <a:endParaRPr lang="zh-CN" altLang="en-US" sz="2400" dirty="0">
                  <a:latin typeface="微软雅黑" panose="020B0503020204020204" pitchFamily="34" charset="-122"/>
                  <a:ea typeface="微软雅黑" panose="020B0503020204020204" pitchFamily="34" charset="-122"/>
                </a:endParaRPr>
              </a:p>
            </p:txBody>
          </p:sp>
        </mc:Choice>
        <mc:Fallback>
          <p:sp>
            <p:nvSpPr>
              <p:cNvPr id="5" name="文本框 4">
                <a:extLst>
                  <a:ext uri="{FF2B5EF4-FFF2-40B4-BE49-F238E27FC236}">
                    <a16:creationId xmlns:a16="http://schemas.microsoft.com/office/drawing/2014/main" id="{697CE540-83EB-D316-FDDB-BA4ADF82D657}"/>
                  </a:ext>
                </a:extLst>
              </p:cNvPr>
              <p:cNvSpPr txBox="1">
                <a:spLocks noRot="1" noChangeAspect="1" noMove="1" noResize="1" noEditPoints="1" noAdjustHandles="1" noChangeArrowheads="1" noChangeShapeType="1" noTextEdit="1"/>
              </p:cNvSpPr>
              <p:nvPr/>
            </p:nvSpPr>
            <p:spPr>
              <a:xfrm>
                <a:off x="757646" y="1110912"/>
                <a:ext cx="11234057" cy="2830775"/>
              </a:xfrm>
              <a:prstGeom prst="rect">
                <a:avLst/>
              </a:prstGeom>
              <a:blipFill>
                <a:blip r:embed="rId3"/>
                <a:stretch>
                  <a:fillRect l="-814" b="-38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对象 1">
                <a:extLst>
                  <a:ext uri="{FF2B5EF4-FFF2-40B4-BE49-F238E27FC236}">
                    <a16:creationId xmlns:a16="http://schemas.microsoft.com/office/drawing/2014/main" id="{D3442C5B-7261-A1CF-2A71-8F40C75BADA4}"/>
                  </a:ext>
                </a:extLst>
              </p:cNvPr>
              <p:cNvSpPr txBox="1"/>
              <p:nvPr/>
            </p:nvSpPr>
            <p:spPr bwMode="auto">
              <a:xfrm>
                <a:off x="1011237" y="4419743"/>
                <a:ext cx="4103688" cy="1685781"/>
              </a:xfrm>
              <a:prstGeom prst="rect">
                <a:avLst/>
              </a:prstGeom>
              <a:solidFill>
                <a:schemeClr val="bg1"/>
              </a:solidFill>
              <a:ln>
                <a:solidFill>
                  <a:schemeClr val="bg1"/>
                </a:solidFill>
              </a:ln>
            </p:spPr>
            <p:txBody>
              <a:bodyPr>
                <a:norm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𝐶</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𝜃</m:t>
                      </m:r>
                      <m:r>
                        <a:rPr lang="zh-CN" altLang="en-US" sz="2400" i="1">
                          <a:solidFill>
                            <a:srgbClr val="000000"/>
                          </a:solidFill>
                          <a:latin typeface="Cambria Math" panose="02040503050406030204" pitchFamily="18" charset="0"/>
                        </a:rPr>
                        <m:t>,</m:t>
                      </m:r>
                      <m:acc>
                        <m:accPr>
                          <m:chr m:val="̇"/>
                          <m:ctrlPr>
                            <a:rPr lang="zh-CN" altLang="en-US" sz="2400" i="1">
                              <a:solidFill>
                                <a:srgbClr val="000000"/>
                              </a:solidFill>
                              <a:latin typeface="Cambria Math" panose="02040503050406030204" pitchFamily="18" charset="0"/>
                            </a:rPr>
                          </m:ctrlPr>
                        </m:accPr>
                        <m:e>
                          <m:r>
                            <a:rPr lang="zh-CN" altLang="en-US" sz="2400" i="1">
                              <a:solidFill>
                                <a:srgbClr val="000000"/>
                              </a:solidFill>
                              <a:latin typeface="Cambria Math" panose="02040503050406030204" pitchFamily="18" charset="0"/>
                            </a:rPr>
                            <m:t>𝜃</m:t>
                          </m:r>
                        </m:e>
                      </m:acc>
                      <m:r>
                        <a:rPr lang="zh-CN" altLang="en-US" sz="2400" i="1">
                          <a:solidFill>
                            <a:srgbClr val="000000"/>
                          </a:solidFill>
                          <a:latin typeface="Cambria Math" panose="02040503050406030204" pitchFamily="18" charset="0"/>
                        </a:rPr>
                        <m:t>)=</m:t>
                      </m:r>
                      <m:d>
                        <m:dPr>
                          <m:begChr m:val="["/>
                          <m:endChr m:val="]"/>
                          <m:ctrlPr>
                            <a:rPr lang="zh-CN" altLang="en-US" sz="2400" i="1">
                              <a:solidFill>
                                <a:srgbClr val="000000"/>
                              </a:solidFill>
                              <a:latin typeface="Cambria Math" panose="02040503050406030204" pitchFamily="18" charset="0"/>
                            </a:rPr>
                          </m:ctrlPr>
                        </m:dPr>
                        <m:e>
                          <m:m>
                            <m:mPr>
                              <m:plcHide m:val="on"/>
                              <m:mcs>
                                <m:mc>
                                  <m:mcPr>
                                    <m:count m:val="3"/>
                                    <m:mcJc m:val="center"/>
                                  </m:mcPr>
                                </m:mc>
                              </m:mcs>
                              <m:ctrlPr>
                                <a:rPr lang="zh-CN" altLang="en-US" sz="2400" i="1">
                                  <a:solidFill>
                                    <a:srgbClr val="000000"/>
                                  </a:solidFill>
                                  <a:latin typeface="Cambria Math" panose="02040503050406030204" pitchFamily="18" charset="0"/>
                                </a:rPr>
                              </m:ctrlPr>
                            </m:mPr>
                            <m:mr>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𝐶</m:t>
                                    </m:r>
                                  </m:e>
                                  <m:sub>
                                    <m:r>
                                      <a:rPr lang="zh-CN" altLang="en-US" sz="2400" i="1">
                                        <a:solidFill>
                                          <a:srgbClr val="000000"/>
                                        </a:solidFill>
                                        <a:latin typeface="Cambria Math" panose="02040503050406030204" pitchFamily="18" charset="0"/>
                                      </a:rPr>
                                      <m:t>11</m:t>
                                    </m:r>
                                  </m:sub>
                                </m:sSub>
                              </m:e>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𝐶</m:t>
                                    </m:r>
                                  </m:e>
                                  <m:sub>
                                    <m:r>
                                      <a:rPr lang="zh-CN" altLang="en-US" sz="2400" i="1">
                                        <a:solidFill>
                                          <a:srgbClr val="000000"/>
                                        </a:solidFill>
                                        <a:latin typeface="Cambria Math" panose="02040503050406030204" pitchFamily="18" charset="0"/>
                                      </a:rPr>
                                      <m:t>12</m:t>
                                    </m:r>
                                  </m:sub>
                                </m:sSub>
                              </m:e>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𝐶</m:t>
                                    </m:r>
                                  </m:e>
                                  <m:sub>
                                    <m:r>
                                      <a:rPr lang="zh-CN" altLang="en-US" sz="2400" i="1">
                                        <a:solidFill>
                                          <a:srgbClr val="000000"/>
                                        </a:solidFill>
                                        <a:latin typeface="Cambria Math" panose="02040503050406030204" pitchFamily="18" charset="0"/>
                                      </a:rPr>
                                      <m:t>13</m:t>
                                    </m:r>
                                  </m:sub>
                                </m:sSub>
                              </m:e>
                            </m:mr>
                            <m:mr>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𝐶</m:t>
                                    </m:r>
                                  </m:e>
                                  <m:sub>
                                    <m:r>
                                      <a:rPr lang="zh-CN" altLang="en-US" sz="2400" i="1">
                                        <a:solidFill>
                                          <a:srgbClr val="000000"/>
                                        </a:solidFill>
                                        <a:latin typeface="Cambria Math" panose="02040503050406030204" pitchFamily="18" charset="0"/>
                                      </a:rPr>
                                      <m:t>21</m:t>
                                    </m:r>
                                  </m:sub>
                                </m:sSub>
                              </m:e>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𝐶</m:t>
                                    </m:r>
                                  </m:e>
                                  <m:sub>
                                    <m:r>
                                      <a:rPr lang="zh-CN" altLang="en-US" sz="2400" i="1">
                                        <a:solidFill>
                                          <a:srgbClr val="000000"/>
                                        </a:solidFill>
                                        <a:latin typeface="Cambria Math" panose="02040503050406030204" pitchFamily="18" charset="0"/>
                                      </a:rPr>
                                      <m:t>22</m:t>
                                    </m:r>
                                  </m:sub>
                                </m:sSub>
                              </m:e>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𝐶</m:t>
                                    </m:r>
                                  </m:e>
                                  <m:sub>
                                    <m:r>
                                      <a:rPr lang="zh-CN" altLang="en-US" sz="2400" i="1">
                                        <a:solidFill>
                                          <a:srgbClr val="000000"/>
                                        </a:solidFill>
                                        <a:latin typeface="Cambria Math" panose="02040503050406030204" pitchFamily="18" charset="0"/>
                                      </a:rPr>
                                      <m:t>23</m:t>
                                    </m:r>
                                  </m:sub>
                                </m:sSub>
                              </m:e>
                            </m:mr>
                            <m:mr>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𝐶</m:t>
                                    </m:r>
                                  </m:e>
                                  <m:sub>
                                    <m:r>
                                      <a:rPr lang="zh-CN" altLang="en-US" sz="2400" i="1">
                                        <a:solidFill>
                                          <a:srgbClr val="000000"/>
                                        </a:solidFill>
                                        <a:latin typeface="Cambria Math" panose="02040503050406030204" pitchFamily="18" charset="0"/>
                                      </a:rPr>
                                      <m:t>31</m:t>
                                    </m:r>
                                  </m:sub>
                                </m:sSub>
                              </m:e>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𝐶</m:t>
                                    </m:r>
                                  </m:e>
                                  <m:sub>
                                    <m:r>
                                      <a:rPr lang="zh-CN" altLang="en-US" sz="2400" i="1">
                                        <a:solidFill>
                                          <a:srgbClr val="000000"/>
                                        </a:solidFill>
                                        <a:latin typeface="Cambria Math" panose="02040503050406030204" pitchFamily="18" charset="0"/>
                                      </a:rPr>
                                      <m:t>32</m:t>
                                    </m:r>
                                  </m:sub>
                                </m:sSub>
                              </m:e>
                              <m:e>
                                <m:r>
                                  <a:rPr lang="zh-CN" altLang="en-US" sz="2400" i="1">
                                    <a:solidFill>
                                      <a:srgbClr val="000000"/>
                                    </a:solidFill>
                                    <a:latin typeface="Cambria Math" panose="02040503050406030204" pitchFamily="18" charset="0"/>
                                  </a:rPr>
                                  <m:t>0</m:t>
                                </m:r>
                              </m:e>
                            </m:mr>
                          </m:m>
                        </m:e>
                      </m:d>
                    </m:oMath>
                  </m:oMathPara>
                </a14:m>
                <a:endParaRPr lang="zh-CN" altLang="en-US" sz="2400" dirty="0"/>
              </a:p>
            </p:txBody>
          </p:sp>
        </mc:Choice>
        <mc:Fallback xmlns="">
          <p:sp>
            <p:nvSpPr>
              <p:cNvPr id="6" name="对象 1">
                <a:extLst>
                  <a:ext uri="{FF2B5EF4-FFF2-40B4-BE49-F238E27FC236}">
                    <a16:creationId xmlns:a16="http://schemas.microsoft.com/office/drawing/2014/main" id="{D3442C5B-7261-A1CF-2A71-8F40C75BADA4}"/>
                  </a:ext>
                </a:extLst>
              </p:cNvPr>
              <p:cNvSpPr txBox="1">
                <a:spLocks noRot="1" noChangeAspect="1" noMove="1" noResize="1" noEditPoints="1" noAdjustHandles="1" noChangeArrowheads="1" noChangeShapeType="1" noTextEdit="1"/>
              </p:cNvSpPr>
              <p:nvPr/>
            </p:nvSpPr>
            <p:spPr bwMode="auto">
              <a:xfrm>
                <a:off x="1011237" y="4419743"/>
                <a:ext cx="4103688" cy="1685781"/>
              </a:xfrm>
              <a:prstGeom prst="rect">
                <a:avLst/>
              </a:prstGeom>
              <a:blipFill>
                <a:blip r:embed="rId4"/>
                <a:stretch>
                  <a:fillRect/>
                </a:stretch>
              </a:blipFill>
              <a:ln>
                <a:solidFill>
                  <a:schemeClr val="bg1"/>
                </a:solidFill>
              </a:ln>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CA174F5C-70FA-0EEF-504C-B5D815A8A991}"/>
              </a:ext>
            </a:extLst>
          </p:cNvPr>
          <p:cNvSpPr txBox="1"/>
          <p:nvPr/>
        </p:nvSpPr>
        <p:spPr>
          <a:xfrm>
            <a:off x="5607051" y="4800968"/>
            <a:ext cx="2940052" cy="461665"/>
          </a:xfrm>
          <a:prstGeom prst="rect">
            <a:avLst/>
          </a:prstGeom>
          <a:noFill/>
        </p:spPr>
        <p:txBody>
          <a:bodyPr wrap="square" rtlCol="0">
            <a:spAutoFit/>
          </a:bodyPr>
          <a:lstStyle/>
          <a:p>
            <a:r>
              <a:rPr lang="en-US" altLang="zh-CN" sz="2400" b="1" dirty="0">
                <a:latin typeface="微软雅黑" panose="020B0503020204020204" pitchFamily="34" charset="-122"/>
                <a:ea typeface="微软雅黑" panose="020B0503020204020204" pitchFamily="34" charset="-122"/>
              </a:rPr>
              <a:t>(7.5)</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40308F2-543F-E504-C3E3-2A62DC5C46E8}"/>
              </a:ext>
            </a:extLst>
          </p:cNvPr>
          <p:cNvSpPr txBox="1"/>
          <p:nvPr/>
        </p:nvSpPr>
        <p:spPr>
          <a:xfrm>
            <a:off x="442557" y="1156274"/>
            <a:ext cx="7515225" cy="738664"/>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其中，</a:t>
            </a:r>
            <a:endParaRPr lang="en-US" altLang="zh-CN" sz="2400" b="1" dirty="0">
              <a:latin typeface="微软雅黑" panose="020B0503020204020204" pitchFamily="34" charset="-122"/>
              <a:ea typeface="微软雅黑" panose="020B0503020204020204" pitchFamily="34" charset="-122"/>
            </a:endParaRPr>
          </a:p>
          <a:p>
            <a:endParaRPr lang="zh-CN" altLang="en-US" dirty="0"/>
          </a:p>
        </p:txBody>
      </p:sp>
      <mc:AlternateContent xmlns:mc="http://schemas.openxmlformats.org/markup-compatibility/2006">
        <mc:Choice xmlns:a14="http://schemas.microsoft.com/office/drawing/2010/main" Requires="a14">
          <p:sp>
            <p:nvSpPr>
              <p:cNvPr id="4" name="对象 2">
                <a:extLst>
                  <a:ext uri="{FF2B5EF4-FFF2-40B4-BE49-F238E27FC236}">
                    <a16:creationId xmlns:a16="http://schemas.microsoft.com/office/drawing/2014/main" id="{C5D95B85-F9C7-2FA7-C7C6-F2FF98934ABF}"/>
                  </a:ext>
                </a:extLst>
              </p:cNvPr>
              <p:cNvSpPr txBox="1"/>
              <p:nvPr/>
            </p:nvSpPr>
            <p:spPr bwMode="auto">
              <a:xfrm>
                <a:off x="801779" y="1932874"/>
                <a:ext cx="10887294" cy="1081087"/>
              </a:xfrm>
              <a:prstGeom prst="rect">
                <a:avLst/>
              </a:prstGeom>
              <a:solidFill>
                <a:schemeClr val="bg1"/>
              </a:solidFill>
              <a:ln>
                <a:solidFill>
                  <a:schemeClr val="bg1"/>
                </a:solidFill>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𝐶</m:t>
                          </m:r>
                        </m:e>
                        <m:sub>
                          <m:r>
                            <a:rPr lang="zh-CN" altLang="en-US" sz="2000" i="1">
                              <a:solidFill>
                                <a:srgbClr val="000000"/>
                              </a:solidFill>
                              <a:latin typeface="Cambria Math" panose="02040503050406030204" pitchFamily="18" charset="0"/>
                            </a:rPr>
                            <m:t>11</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𝑚</m:t>
                          </m:r>
                        </m:e>
                        <m:sub>
                          <m:r>
                            <a:rPr lang="zh-CN" altLang="en-US" sz="2000" i="1">
                              <a:solidFill>
                                <a:srgbClr val="000000"/>
                              </a:solidFill>
                              <a:latin typeface="Cambria Math" panose="02040503050406030204" pitchFamily="18" charset="0"/>
                            </a:rPr>
                            <m:t>2</m:t>
                          </m:r>
                        </m:sub>
                      </m:sSub>
                      <m:sSubSup>
                        <m:sSubSupPr>
                          <m:ctrlPr>
                            <a:rPr lang="zh-CN" altLang="en-US" sz="2000" i="1">
                              <a:solidFill>
                                <a:srgbClr val="000000"/>
                              </a:solidFill>
                              <a:latin typeface="Cambria Math" panose="02040503050406030204" pitchFamily="18" charset="0"/>
                            </a:rPr>
                          </m:ctrlPr>
                        </m:sSubSup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1</m:t>
                          </m:r>
                        </m:sub>
                        <m:sup>
                          <m:r>
                            <a:rPr lang="zh-CN" altLang="en-US" sz="2000" i="1">
                              <a:solidFill>
                                <a:srgbClr val="000000"/>
                              </a:solidFill>
                              <a:latin typeface="Cambria Math" panose="02040503050406030204" pitchFamily="18" charset="0"/>
                            </a:rPr>
                            <m:t>2</m:t>
                          </m:r>
                        </m:sup>
                      </m:sSubSup>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acc>
                            <m:accPr>
                              <m:chr m:val="̇"/>
                              <m:ctrlPr>
                                <a:rPr lang="zh-CN" altLang="en-US" sz="2000" i="1">
                                  <a:solidFill>
                                    <a:srgbClr val="000000"/>
                                  </a:solidFill>
                                  <a:latin typeface="Cambria Math" panose="02040503050406030204" pitchFamily="18" charset="0"/>
                                </a:rPr>
                              </m:ctrlPr>
                            </m:accPr>
                            <m:e>
                              <m:r>
                                <a:rPr lang="zh-CN" altLang="en-US" sz="2000" i="1">
                                  <a:solidFill>
                                    <a:srgbClr val="000000"/>
                                  </a:solidFill>
                                  <a:latin typeface="Cambria Math" panose="02040503050406030204" pitchFamily="18" charset="0"/>
                                </a:rPr>
                                <m:t>𝜃</m:t>
                              </m:r>
                            </m:e>
                          </m:acc>
                        </m:e>
                        <m:sub>
                          <m:r>
                            <a:rPr lang="zh-CN" altLang="en-US" sz="2000" i="1">
                              <a:solidFill>
                                <a:srgbClr val="000000"/>
                              </a:solidFill>
                              <a:latin typeface="Cambria Math" panose="02040503050406030204" pitchFamily="18" charset="0"/>
                            </a:rPr>
                            <m:t>2</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𝑚</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23</m:t>
                          </m:r>
                        </m:sub>
                      </m:sSub>
                      <m:sSub>
                        <m:sSubPr>
                          <m:ctrlPr>
                            <a:rPr lang="zh-CN" altLang="en-US" sz="2000" i="1">
                              <a:solidFill>
                                <a:srgbClr val="000000"/>
                              </a:solidFill>
                              <a:latin typeface="Cambria Math" panose="02040503050406030204" pitchFamily="18" charset="0"/>
                            </a:rPr>
                          </m:ctrlPr>
                        </m:sSubPr>
                        <m:e>
                          <m:acc>
                            <m:accPr>
                              <m:chr m:val="̇"/>
                              <m:ctrlPr>
                                <a:rPr lang="zh-CN" altLang="en-US" sz="2000" i="1">
                                  <a:solidFill>
                                    <a:srgbClr val="000000"/>
                                  </a:solidFill>
                                  <a:latin typeface="Cambria Math" panose="02040503050406030204" pitchFamily="18" charset="0"/>
                                </a:rPr>
                              </m:ctrlPr>
                            </m:accPr>
                            <m:e>
                              <m:r>
                                <a:rPr lang="zh-CN" altLang="en-US" sz="2000" i="1">
                                  <a:solidFill>
                                    <a:srgbClr val="000000"/>
                                  </a:solidFill>
                                  <a:latin typeface="Cambria Math" panose="02040503050406030204" pitchFamily="18" charset="0"/>
                                </a:rPr>
                                <m:t>𝜃</m:t>
                              </m:r>
                            </m:e>
                          </m:acc>
                        </m:e>
                        <m:sub>
                          <m:r>
                            <a:rPr lang="zh-CN" altLang="en-US" sz="2000" i="1">
                              <a:solidFill>
                                <a:srgbClr val="000000"/>
                              </a:solidFill>
                              <a:latin typeface="Cambria Math" panose="02040503050406030204" pitchFamily="18" charset="0"/>
                            </a:rPr>
                            <m:t>2</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𝑚</m:t>
                          </m:r>
                        </m:e>
                        <m:sub>
                          <m:r>
                            <a:rPr lang="zh-CN" altLang="en-US" sz="2000" i="1">
                              <a:solidFill>
                                <a:srgbClr val="000000"/>
                              </a:solidFill>
                              <a:latin typeface="Cambria Math" panose="02040503050406030204" pitchFamily="18" charset="0"/>
                            </a:rPr>
                            <m:t>1</m:t>
                          </m:r>
                        </m:sub>
                      </m:sSub>
                      <m:sSubSup>
                        <m:sSubSupPr>
                          <m:ctrlPr>
                            <a:rPr lang="zh-CN" altLang="en-US" sz="2000" i="1">
                              <a:solidFill>
                                <a:srgbClr val="000000"/>
                              </a:solidFill>
                              <a:latin typeface="Cambria Math" panose="02040503050406030204" pitchFamily="18" charset="0"/>
                            </a:rPr>
                          </m:ctrlPr>
                        </m:sSubSup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1</m:t>
                          </m:r>
                        </m:sub>
                        <m:sup>
                          <m:r>
                            <a:rPr lang="zh-CN" altLang="en-US" sz="2000" i="1">
                              <a:solidFill>
                                <a:srgbClr val="000000"/>
                              </a:solidFill>
                              <a:latin typeface="Cambria Math" panose="02040503050406030204" pitchFamily="18" charset="0"/>
                            </a:rPr>
                            <m:t>2</m:t>
                          </m:r>
                        </m:sup>
                      </m:sSubSup>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acc>
                            <m:accPr>
                              <m:chr m:val="̇"/>
                              <m:ctrlPr>
                                <a:rPr lang="zh-CN" altLang="en-US" sz="2000" i="1">
                                  <a:solidFill>
                                    <a:srgbClr val="000000"/>
                                  </a:solidFill>
                                  <a:latin typeface="Cambria Math" panose="02040503050406030204" pitchFamily="18" charset="0"/>
                                </a:rPr>
                              </m:ctrlPr>
                            </m:accPr>
                            <m:e>
                              <m:r>
                                <a:rPr lang="zh-CN" altLang="en-US" sz="2000" i="1">
                                  <a:solidFill>
                                    <a:srgbClr val="000000"/>
                                  </a:solidFill>
                                  <a:latin typeface="Cambria Math" panose="02040503050406030204" pitchFamily="18" charset="0"/>
                                </a:rPr>
                                <m:t>𝜃</m:t>
                              </m:r>
                            </m:e>
                          </m:acc>
                        </m:e>
                        <m:sub>
                          <m:r>
                            <a:rPr lang="zh-CN" altLang="en-US" sz="2000" i="1">
                              <a:solidFill>
                                <a:srgbClr val="000000"/>
                              </a:solidFill>
                              <a:latin typeface="Cambria Math" panose="02040503050406030204" pitchFamily="18" charset="0"/>
                            </a:rPr>
                            <m:t>2</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𝑚</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23</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acc>
                            <m:accPr>
                              <m:chr m:val="̇"/>
                              <m:ctrlPr>
                                <a:rPr lang="zh-CN" altLang="en-US" sz="2000" i="1">
                                  <a:solidFill>
                                    <a:srgbClr val="000000"/>
                                  </a:solidFill>
                                  <a:latin typeface="Cambria Math" panose="02040503050406030204" pitchFamily="18" charset="0"/>
                                </a:rPr>
                              </m:ctrlPr>
                            </m:accPr>
                            <m:e>
                              <m:r>
                                <a:rPr lang="zh-CN" altLang="en-US" sz="2000" i="1">
                                  <a:solidFill>
                                    <a:srgbClr val="000000"/>
                                  </a:solidFill>
                                  <a:latin typeface="Cambria Math" panose="02040503050406030204" pitchFamily="18" charset="0"/>
                                </a:rPr>
                                <m:t>𝜃</m:t>
                              </m:r>
                            </m:e>
                          </m:acc>
                        </m:e>
                        <m:sub>
                          <m:r>
                            <a:rPr lang="zh-CN" altLang="en-US" sz="2000" i="1">
                              <a:solidFill>
                                <a:srgbClr val="000000"/>
                              </a:solidFill>
                              <a:latin typeface="Cambria Math" panose="02040503050406030204" pitchFamily="18" charset="0"/>
                            </a:rPr>
                            <m:t>2</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acc>
                            <m:accPr>
                              <m:chr m:val="̇"/>
                              <m:ctrlPr>
                                <a:rPr lang="zh-CN" altLang="en-US" sz="2000" i="1">
                                  <a:solidFill>
                                    <a:srgbClr val="000000"/>
                                  </a:solidFill>
                                  <a:latin typeface="Cambria Math" panose="02040503050406030204" pitchFamily="18" charset="0"/>
                                </a:rPr>
                              </m:ctrlPr>
                            </m:accPr>
                            <m:e>
                              <m:r>
                                <a:rPr lang="zh-CN" altLang="en-US" sz="2000" i="1">
                                  <a:solidFill>
                                    <a:srgbClr val="000000"/>
                                  </a:solidFill>
                                  <a:latin typeface="Cambria Math" panose="02040503050406030204" pitchFamily="18" charset="0"/>
                                </a:rPr>
                                <m:t>𝜃</m:t>
                              </m:r>
                            </m:e>
                          </m:acc>
                        </m:e>
                        <m:sub>
                          <m:r>
                            <a:rPr lang="zh-CN" altLang="en-US" sz="2000" i="1">
                              <a:solidFill>
                                <a:srgbClr val="000000"/>
                              </a:solidFill>
                              <a:latin typeface="Cambria Math" panose="02040503050406030204" pitchFamily="18" charset="0"/>
                            </a:rPr>
                            <m:t>3</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𝑚</m:t>
                          </m:r>
                        </m:e>
                        <m:sub>
                          <m:r>
                            <a:rPr lang="zh-CN" altLang="en-US" sz="2000" i="1">
                              <a:solidFill>
                                <a:srgbClr val="000000"/>
                              </a:solidFill>
                              <a:latin typeface="Cambria Math" panose="02040503050406030204" pitchFamily="18" charset="0"/>
                            </a:rPr>
                            <m:t>2</m:t>
                          </m:r>
                        </m:sub>
                      </m:sSub>
                      <m:sSubSup>
                        <m:sSubSupPr>
                          <m:ctrlPr>
                            <a:rPr lang="zh-CN" altLang="en-US" sz="2000" i="1">
                              <a:solidFill>
                                <a:srgbClr val="000000"/>
                              </a:solidFill>
                              <a:latin typeface="Cambria Math" panose="02040503050406030204" pitchFamily="18" charset="0"/>
                            </a:rPr>
                          </m:ctrlPr>
                        </m:sSubSup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2</m:t>
                          </m:r>
                        </m:sub>
                        <m:sup>
                          <m:r>
                            <a:rPr lang="zh-CN" altLang="en-US" sz="2000" i="1">
                              <a:solidFill>
                                <a:srgbClr val="000000"/>
                              </a:solidFill>
                              <a:latin typeface="Cambria Math" panose="02040503050406030204" pitchFamily="18" charset="0"/>
                            </a:rPr>
                            <m:t>2</m:t>
                          </m:r>
                        </m:sup>
                      </m:sSubSup>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23</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23</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acc>
                            <m:accPr>
                              <m:chr m:val="̇"/>
                              <m:ctrlPr>
                                <a:rPr lang="zh-CN" altLang="en-US" sz="2000" i="1">
                                  <a:solidFill>
                                    <a:srgbClr val="000000"/>
                                  </a:solidFill>
                                  <a:latin typeface="Cambria Math" panose="02040503050406030204" pitchFamily="18" charset="0"/>
                                </a:rPr>
                              </m:ctrlPr>
                            </m:accPr>
                            <m:e>
                              <m:r>
                                <a:rPr lang="zh-CN" altLang="en-US" sz="2000" i="1">
                                  <a:solidFill>
                                    <a:srgbClr val="000000"/>
                                  </a:solidFill>
                                  <a:latin typeface="Cambria Math" panose="02040503050406030204" pitchFamily="18" charset="0"/>
                                </a:rPr>
                                <m:t>𝜃</m:t>
                              </m:r>
                            </m:e>
                          </m:acc>
                        </m:e>
                        <m:sub>
                          <m:r>
                            <a:rPr lang="zh-CN" altLang="en-US" sz="2000" i="1">
                              <a:solidFill>
                                <a:srgbClr val="000000"/>
                              </a:solidFill>
                              <a:latin typeface="Cambria Math" panose="02040503050406030204" pitchFamily="18" charset="0"/>
                            </a:rPr>
                            <m:t>2</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acc>
                            <m:accPr>
                              <m:chr m:val="̇"/>
                              <m:ctrlPr>
                                <a:rPr lang="zh-CN" altLang="en-US" sz="2000" i="1">
                                  <a:solidFill>
                                    <a:srgbClr val="000000"/>
                                  </a:solidFill>
                                  <a:latin typeface="Cambria Math" panose="02040503050406030204" pitchFamily="18" charset="0"/>
                                </a:rPr>
                              </m:ctrlPr>
                            </m:accPr>
                            <m:e>
                              <m:r>
                                <a:rPr lang="zh-CN" altLang="en-US" sz="2000" i="1">
                                  <a:solidFill>
                                    <a:srgbClr val="000000"/>
                                  </a:solidFill>
                                  <a:latin typeface="Cambria Math" panose="02040503050406030204" pitchFamily="18" charset="0"/>
                                </a:rPr>
                                <m:t>𝜃</m:t>
                              </m:r>
                            </m:e>
                          </m:acc>
                        </m:e>
                        <m:sub>
                          <m:r>
                            <a:rPr lang="zh-CN" altLang="en-US" sz="2000" i="1">
                              <a:solidFill>
                                <a:srgbClr val="000000"/>
                              </a:solidFill>
                              <a:latin typeface="Cambria Math" panose="02040503050406030204" pitchFamily="18" charset="0"/>
                            </a:rPr>
                            <m:t>3</m:t>
                          </m:r>
                        </m:sub>
                      </m:sSub>
                      <m:r>
                        <a:rPr lang="zh-CN" altLang="en-US" sz="2000" i="1">
                          <a:solidFill>
                            <a:srgbClr val="000000"/>
                          </a:solidFill>
                          <a:latin typeface="Cambria Math" panose="02040503050406030204" pitchFamily="18" charset="0"/>
                        </a:rPr>
                        <m:t>)</m:t>
                      </m:r>
                    </m:oMath>
                  </m:oMathPara>
                </a14:m>
                <a:endParaRPr lang="zh-CN" altLang="en-US" sz="2000" dirty="0"/>
              </a:p>
            </p:txBody>
          </p:sp>
        </mc:Choice>
        <mc:Fallback>
          <p:sp>
            <p:nvSpPr>
              <p:cNvPr id="4" name="对象 2">
                <a:extLst>
                  <a:ext uri="{FF2B5EF4-FFF2-40B4-BE49-F238E27FC236}">
                    <a16:creationId xmlns:a16="http://schemas.microsoft.com/office/drawing/2014/main" id="{C5D95B85-F9C7-2FA7-C7C6-F2FF98934ABF}"/>
                  </a:ext>
                </a:extLst>
              </p:cNvPr>
              <p:cNvSpPr txBox="1">
                <a:spLocks noRot="1" noChangeAspect="1" noMove="1" noResize="1" noEditPoints="1" noAdjustHandles="1" noChangeArrowheads="1" noChangeShapeType="1" noTextEdit="1"/>
              </p:cNvSpPr>
              <p:nvPr/>
            </p:nvSpPr>
            <p:spPr bwMode="auto">
              <a:xfrm>
                <a:off x="801779" y="1932874"/>
                <a:ext cx="10887294" cy="1081087"/>
              </a:xfrm>
              <a:prstGeom prst="rect">
                <a:avLst/>
              </a:prstGeom>
              <a:blipFill>
                <a:blip r:embed="rId3"/>
                <a:stretch>
                  <a:fillRect r="-56"/>
                </a:stretch>
              </a:blipFill>
              <a:ln>
                <a:solidFill>
                  <a:schemeClr val="bg1"/>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对象 3">
                <a:extLst>
                  <a:ext uri="{FF2B5EF4-FFF2-40B4-BE49-F238E27FC236}">
                    <a16:creationId xmlns:a16="http://schemas.microsoft.com/office/drawing/2014/main" id="{A64F9F20-4755-3A95-70F1-757E7BABA1DE}"/>
                  </a:ext>
                </a:extLst>
              </p:cNvPr>
              <p:cNvSpPr txBox="1"/>
              <p:nvPr/>
            </p:nvSpPr>
            <p:spPr bwMode="auto">
              <a:xfrm>
                <a:off x="801779" y="2876654"/>
                <a:ext cx="9873019" cy="546100"/>
              </a:xfrm>
              <a:prstGeom prst="rect">
                <a:avLst/>
              </a:prstGeom>
              <a:solidFill>
                <a:schemeClr val="bg1"/>
              </a:solidFill>
              <a:ln>
                <a:solidFill>
                  <a:schemeClr val="bg1"/>
                </a:solidFill>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𝐶</m:t>
                          </m:r>
                        </m:e>
                        <m:sub>
                          <m:r>
                            <a:rPr lang="zh-CN" altLang="en-US" sz="2000" i="1">
                              <a:solidFill>
                                <a:srgbClr val="000000"/>
                              </a:solidFill>
                              <a:latin typeface="Cambria Math" panose="02040503050406030204" pitchFamily="18" charset="0"/>
                            </a:rPr>
                            <m:t>12</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𝑚</m:t>
                          </m:r>
                        </m:e>
                        <m:sub>
                          <m:r>
                            <a:rPr lang="zh-CN" altLang="en-US" sz="2000" i="1">
                              <a:solidFill>
                                <a:srgbClr val="000000"/>
                              </a:solidFill>
                              <a:latin typeface="Cambria Math" panose="02040503050406030204" pitchFamily="18" charset="0"/>
                            </a:rPr>
                            <m:t>2</m:t>
                          </m:r>
                        </m:sub>
                      </m:sSub>
                      <m:sSubSup>
                        <m:sSubSupPr>
                          <m:ctrlPr>
                            <a:rPr lang="zh-CN" altLang="en-US" sz="2000" i="1">
                              <a:solidFill>
                                <a:srgbClr val="000000"/>
                              </a:solidFill>
                              <a:latin typeface="Cambria Math" panose="02040503050406030204" pitchFamily="18" charset="0"/>
                            </a:rPr>
                          </m:ctrlPr>
                        </m:sSubSup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1</m:t>
                          </m:r>
                        </m:sub>
                        <m:sup>
                          <m:r>
                            <a:rPr lang="zh-CN" altLang="en-US" sz="2000" i="1">
                              <a:solidFill>
                                <a:srgbClr val="000000"/>
                              </a:solidFill>
                              <a:latin typeface="Cambria Math" panose="02040503050406030204" pitchFamily="18" charset="0"/>
                            </a:rPr>
                            <m:t>2</m:t>
                          </m:r>
                        </m:sup>
                      </m:sSubSup>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acc>
                            <m:accPr>
                              <m:chr m:val="̇"/>
                              <m:ctrlPr>
                                <a:rPr lang="zh-CN" altLang="en-US" sz="2000" i="1">
                                  <a:solidFill>
                                    <a:srgbClr val="000000"/>
                                  </a:solidFill>
                                  <a:latin typeface="Cambria Math" panose="02040503050406030204" pitchFamily="18" charset="0"/>
                                </a:rPr>
                              </m:ctrlPr>
                            </m:accPr>
                            <m:e>
                              <m:r>
                                <a:rPr lang="zh-CN" altLang="en-US" sz="2000" i="1">
                                  <a:solidFill>
                                    <a:srgbClr val="000000"/>
                                  </a:solidFill>
                                  <a:latin typeface="Cambria Math" panose="02040503050406030204" pitchFamily="18" charset="0"/>
                                </a:rPr>
                                <m:t>𝜃</m:t>
                              </m:r>
                            </m:e>
                          </m:acc>
                        </m:e>
                        <m:sub>
                          <m:r>
                            <a:rPr lang="zh-CN" altLang="en-US" sz="2000" i="1">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𝑚</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23</m:t>
                          </m:r>
                        </m:sub>
                      </m:sSub>
                      <m:sSub>
                        <m:sSubPr>
                          <m:ctrlPr>
                            <a:rPr lang="zh-CN" altLang="en-US" sz="2000" i="1">
                              <a:solidFill>
                                <a:srgbClr val="000000"/>
                              </a:solidFill>
                              <a:latin typeface="Cambria Math" panose="02040503050406030204" pitchFamily="18" charset="0"/>
                            </a:rPr>
                          </m:ctrlPr>
                        </m:sSubPr>
                        <m:e>
                          <m:acc>
                            <m:accPr>
                              <m:chr m:val="̇"/>
                              <m:ctrlPr>
                                <a:rPr lang="zh-CN" altLang="en-US" sz="2000" i="1">
                                  <a:solidFill>
                                    <a:srgbClr val="000000"/>
                                  </a:solidFill>
                                  <a:latin typeface="Cambria Math" panose="02040503050406030204" pitchFamily="18" charset="0"/>
                                </a:rPr>
                              </m:ctrlPr>
                            </m:accPr>
                            <m:e>
                              <m:r>
                                <a:rPr lang="zh-CN" altLang="en-US" sz="2000" i="1">
                                  <a:solidFill>
                                    <a:srgbClr val="000000"/>
                                  </a:solidFill>
                                  <a:latin typeface="Cambria Math" panose="02040503050406030204" pitchFamily="18" charset="0"/>
                                </a:rPr>
                                <m:t>𝜃</m:t>
                              </m:r>
                            </m:e>
                          </m:acc>
                        </m:e>
                        <m:sub>
                          <m:r>
                            <a:rPr lang="zh-CN" altLang="en-US" sz="2000" i="1">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𝑚</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23</m:t>
                          </m:r>
                        </m:sub>
                      </m:sSub>
                      <m:sSub>
                        <m:sSubPr>
                          <m:ctrlPr>
                            <a:rPr lang="zh-CN" altLang="en-US" sz="2000" i="1">
                              <a:solidFill>
                                <a:srgbClr val="000000"/>
                              </a:solidFill>
                              <a:latin typeface="Cambria Math" panose="02040503050406030204" pitchFamily="18" charset="0"/>
                            </a:rPr>
                          </m:ctrlPr>
                        </m:sSubPr>
                        <m:e>
                          <m:acc>
                            <m:accPr>
                              <m:chr m:val="̇"/>
                              <m:ctrlPr>
                                <a:rPr lang="zh-CN" altLang="en-US" sz="2000" i="1">
                                  <a:solidFill>
                                    <a:srgbClr val="000000"/>
                                  </a:solidFill>
                                  <a:latin typeface="Cambria Math" panose="02040503050406030204" pitchFamily="18" charset="0"/>
                                </a:rPr>
                              </m:ctrlPr>
                            </m:accPr>
                            <m:e>
                              <m:r>
                                <a:rPr lang="zh-CN" altLang="en-US" sz="2000" i="1">
                                  <a:solidFill>
                                    <a:srgbClr val="000000"/>
                                  </a:solidFill>
                                  <a:latin typeface="Cambria Math" panose="02040503050406030204" pitchFamily="18" charset="0"/>
                                </a:rPr>
                                <m:t>𝜃</m:t>
                              </m:r>
                            </m:e>
                          </m:acc>
                        </m:e>
                        <m:sub>
                          <m:r>
                            <a:rPr lang="zh-CN" altLang="en-US" sz="2000" i="1">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𝑚</m:t>
                          </m:r>
                        </m:e>
                        <m:sub>
                          <m:r>
                            <a:rPr lang="zh-CN" altLang="en-US" sz="2000" i="1">
                              <a:solidFill>
                                <a:srgbClr val="000000"/>
                              </a:solidFill>
                              <a:latin typeface="Cambria Math" panose="02040503050406030204" pitchFamily="18" charset="0"/>
                            </a:rPr>
                            <m:t>2</m:t>
                          </m:r>
                        </m:sub>
                      </m:sSub>
                      <m:sSubSup>
                        <m:sSubSupPr>
                          <m:ctrlPr>
                            <a:rPr lang="zh-CN" altLang="en-US" sz="2000" i="1">
                              <a:solidFill>
                                <a:srgbClr val="000000"/>
                              </a:solidFill>
                              <a:latin typeface="Cambria Math" panose="02040503050406030204" pitchFamily="18" charset="0"/>
                            </a:rPr>
                          </m:ctrlPr>
                        </m:sSubSup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2</m:t>
                          </m:r>
                        </m:sub>
                        <m:sup>
                          <m:r>
                            <a:rPr lang="zh-CN" altLang="en-US" sz="2000" i="1">
                              <a:solidFill>
                                <a:srgbClr val="000000"/>
                              </a:solidFill>
                              <a:latin typeface="Cambria Math" panose="02040503050406030204" pitchFamily="18" charset="0"/>
                            </a:rPr>
                            <m:t>2</m:t>
                          </m:r>
                        </m:sup>
                      </m:sSubSup>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23</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23</m:t>
                          </m:r>
                        </m:sub>
                      </m:sSub>
                      <m:sSub>
                        <m:sSubPr>
                          <m:ctrlPr>
                            <a:rPr lang="zh-CN" altLang="en-US" sz="2000" i="1">
                              <a:solidFill>
                                <a:srgbClr val="000000"/>
                              </a:solidFill>
                              <a:latin typeface="Cambria Math" panose="02040503050406030204" pitchFamily="18" charset="0"/>
                            </a:rPr>
                          </m:ctrlPr>
                        </m:sSubPr>
                        <m:e>
                          <m:acc>
                            <m:accPr>
                              <m:chr m:val="̇"/>
                              <m:ctrlPr>
                                <a:rPr lang="zh-CN" altLang="en-US" sz="2000" i="1">
                                  <a:solidFill>
                                    <a:srgbClr val="000000"/>
                                  </a:solidFill>
                                  <a:latin typeface="Cambria Math" panose="02040503050406030204" pitchFamily="18" charset="0"/>
                                </a:rPr>
                              </m:ctrlPr>
                            </m:accPr>
                            <m:e>
                              <m:r>
                                <a:rPr lang="zh-CN" altLang="en-US" sz="2000" i="1">
                                  <a:solidFill>
                                    <a:srgbClr val="000000"/>
                                  </a:solidFill>
                                  <a:latin typeface="Cambria Math" panose="02040503050406030204" pitchFamily="18" charset="0"/>
                                </a:rPr>
                                <m:t>𝜃</m:t>
                              </m:r>
                            </m:e>
                          </m:acc>
                        </m:e>
                        <m:sub>
                          <m:r>
                            <a:rPr lang="zh-CN" altLang="en-US" sz="2000" i="1">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𝑚</m:t>
                          </m:r>
                        </m:e>
                        <m:sub>
                          <m:r>
                            <a:rPr lang="zh-CN" altLang="en-US" sz="2000" i="1">
                              <a:solidFill>
                                <a:srgbClr val="000000"/>
                              </a:solidFill>
                              <a:latin typeface="Cambria Math" panose="02040503050406030204" pitchFamily="18" charset="0"/>
                            </a:rPr>
                            <m:t>1</m:t>
                          </m:r>
                        </m:sub>
                      </m:sSub>
                      <m:sSubSup>
                        <m:sSubSupPr>
                          <m:ctrlPr>
                            <a:rPr lang="zh-CN" altLang="en-US" sz="2000" i="1">
                              <a:solidFill>
                                <a:srgbClr val="000000"/>
                              </a:solidFill>
                              <a:latin typeface="Cambria Math" panose="02040503050406030204" pitchFamily="18" charset="0"/>
                            </a:rPr>
                          </m:ctrlPr>
                        </m:sSubSup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1</m:t>
                          </m:r>
                        </m:sub>
                        <m:sup>
                          <m:r>
                            <a:rPr lang="zh-CN" altLang="en-US" sz="2000" i="1">
                              <a:solidFill>
                                <a:srgbClr val="000000"/>
                              </a:solidFill>
                              <a:latin typeface="Cambria Math" panose="02040503050406030204" pitchFamily="18" charset="0"/>
                            </a:rPr>
                            <m:t>2</m:t>
                          </m:r>
                        </m:sup>
                      </m:sSubSup>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acc>
                            <m:accPr>
                              <m:chr m:val="̇"/>
                              <m:ctrlPr>
                                <a:rPr lang="zh-CN" altLang="en-US" sz="2000" i="1">
                                  <a:solidFill>
                                    <a:srgbClr val="000000"/>
                                  </a:solidFill>
                                  <a:latin typeface="Cambria Math" panose="02040503050406030204" pitchFamily="18" charset="0"/>
                                </a:rPr>
                              </m:ctrlPr>
                            </m:accPr>
                            <m:e>
                              <m:r>
                                <a:rPr lang="zh-CN" altLang="en-US" sz="2000" i="1">
                                  <a:solidFill>
                                    <a:srgbClr val="000000"/>
                                  </a:solidFill>
                                  <a:latin typeface="Cambria Math" panose="02040503050406030204" pitchFamily="18" charset="0"/>
                                </a:rPr>
                                <m:t>𝜃</m:t>
                              </m:r>
                            </m:e>
                          </m:acc>
                        </m:e>
                        <m:sub>
                          <m:r>
                            <a:rPr lang="zh-CN" altLang="en-US" sz="2000" i="1">
                              <a:solidFill>
                                <a:srgbClr val="000000"/>
                              </a:solidFill>
                              <a:latin typeface="Cambria Math" panose="02040503050406030204" pitchFamily="18" charset="0"/>
                            </a:rPr>
                            <m:t>1</m:t>
                          </m:r>
                        </m:sub>
                      </m:sSub>
                    </m:oMath>
                  </m:oMathPara>
                </a14:m>
                <a:endParaRPr lang="zh-CN" altLang="en-US" sz="2000" dirty="0"/>
              </a:p>
            </p:txBody>
          </p:sp>
        </mc:Choice>
        <mc:Fallback>
          <p:sp>
            <p:nvSpPr>
              <p:cNvPr id="5" name="对象 3">
                <a:extLst>
                  <a:ext uri="{FF2B5EF4-FFF2-40B4-BE49-F238E27FC236}">
                    <a16:creationId xmlns:a16="http://schemas.microsoft.com/office/drawing/2014/main" id="{A64F9F20-4755-3A95-70F1-757E7BABA1DE}"/>
                  </a:ext>
                </a:extLst>
              </p:cNvPr>
              <p:cNvSpPr txBox="1">
                <a:spLocks noRot="1" noChangeAspect="1" noMove="1" noResize="1" noEditPoints="1" noAdjustHandles="1" noChangeArrowheads="1" noChangeShapeType="1" noTextEdit="1"/>
              </p:cNvSpPr>
              <p:nvPr/>
            </p:nvSpPr>
            <p:spPr bwMode="auto">
              <a:xfrm>
                <a:off x="801779" y="2876654"/>
                <a:ext cx="9873019" cy="546100"/>
              </a:xfrm>
              <a:prstGeom prst="rect">
                <a:avLst/>
              </a:prstGeom>
              <a:blipFill>
                <a:blip r:embed="rId4"/>
                <a:stretch>
                  <a:fillRect/>
                </a:stretch>
              </a:blipFill>
              <a:ln>
                <a:solidFill>
                  <a:schemeClr val="bg1"/>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对象 4">
                <a:extLst>
                  <a:ext uri="{FF2B5EF4-FFF2-40B4-BE49-F238E27FC236}">
                    <a16:creationId xmlns:a16="http://schemas.microsoft.com/office/drawing/2014/main" id="{8975FDC0-9DCE-CA0A-C795-B3D0A7467AF0}"/>
                  </a:ext>
                </a:extLst>
              </p:cNvPr>
              <p:cNvSpPr txBox="1"/>
              <p:nvPr/>
            </p:nvSpPr>
            <p:spPr bwMode="auto">
              <a:xfrm>
                <a:off x="801779" y="3717578"/>
                <a:ext cx="5129212" cy="614362"/>
              </a:xfrm>
              <a:prstGeom prst="rect">
                <a:avLst/>
              </a:prstGeom>
              <a:solidFill>
                <a:schemeClr val="bg1"/>
              </a:solidFill>
              <a:ln>
                <a:solidFill>
                  <a:schemeClr val="bg1"/>
                </a:solidFill>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𝐶</m:t>
                          </m:r>
                        </m:e>
                        <m:sub>
                          <m:r>
                            <a:rPr lang="zh-CN" altLang="en-US" sz="2000" i="1">
                              <a:solidFill>
                                <a:srgbClr val="000000"/>
                              </a:solidFill>
                              <a:latin typeface="Cambria Math" panose="02040503050406030204" pitchFamily="18" charset="0"/>
                            </a:rPr>
                            <m:t>13</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𝑚</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23</m:t>
                          </m:r>
                        </m:sub>
                      </m:sSub>
                      <m:sSub>
                        <m:sSubPr>
                          <m:ctrlPr>
                            <a:rPr lang="zh-CN" altLang="en-US" sz="2000" i="1">
                              <a:solidFill>
                                <a:srgbClr val="000000"/>
                              </a:solidFill>
                              <a:latin typeface="Cambria Math" panose="02040503050406030204" pitchFamily="18" charset="0"/>
                            </a:rPr>
                          </m:ctrlPr>
                        </m:sSubPr>
                        <m:e>
                          <m:acc>
                            <m:accPr>
                              <m:chr m:val="̇"/>
                              <m:ctrlPr>
                                <a:rPr lang="zh-CN" altLang="en-US" sz="2000" i="1">
                                  <a:solidFill>
                                    <a:srgbClr val="000000"/>
                                  </a:solidFill>
                                  <a:latin typeface="Cambria Math" panose="02040503050406030204" pitchFamily="18" charset="0"/>
                                </a:rPr>
                              </m:ctrlPr>
                            </m:accPr>
                            <m:e>
                              <m:r>
                                <a:rPr lang="zh-CN" altLang="en-US" sz="2000" i="1">
                                  <a:solidFill>
                                    <a:srgbClr val="000000"/>
                                  </a:solidFill>
                                  <a:latin typeface="Cambria Math" panose="02040503050406030204" pitchFamily="18" charset="0"/>
                                </a:rPr>
                                <m:t>𝜃</m:t>
                              </m:r>
                            </m:e>
                          </m:acc>
                        </m:e>
                        <m:sub>
                          <m:r>
                            <a:rPr lang="zh-CN" altLang="en-US" sz="2000" i="1">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𝑚</m:t>
                          </m:r>
                        </m:e>
                        <m:sub>
                          <m:r>
                            <a:rPr lang="zh-CN" altLang="en-US" sz="2000" i="1">
                              <a:solidFill>
                                <a:srgbClr val="000000"/>
                              </a:solidFill>
                              <a:latin typeface="Cambria Math" panose="02040503050406030204" pitchFamily="18" charset="0"/>
                            </a:rPr>
                            <m:t>2</m:t>
                          </m:r>
                        </m:sub>
                      </m:sSub>
                      <m:sSubSup>
                        <m:sSubSupPr>
                          <m:ctrlPr>
                            <a:rPr lang="zh-CN" altLang="en-US" sz="2000" i="1">
                              <a:solidFill>
                                <a:srgbClr val="000000"/>
                              </a:solidFill>
                              <a:latin typeface="Cambria Math" panose="02040503050406030204" pitchFamily="18" charset="0"/>
                            </a:rPr>
                          </m:ctrlPr>
                        </m:sSubSup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2</m:t>
                          </m:r>
                        </m:sub>
                        <m:sup>
                          <m:r>
                            <a:rPr lang="zh-CN" altLang="en-US" sz="2000" i="1">
                              <a:solidFill>
                                <a:srgbClr val="000000"/>
                              </a:solidFill>
                              <a:latin typeface="Cambria Math" panose="02040503050406030204" pitchFamily="18" charset="0"/>
                            </a:rPr>
                            <m:t>2</m:t>
                          </m:r>
                        </m:sup>
                      </m:sSubSup>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23</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23</m:t>
                          </m:r>
                        </m:sub>
                      </m:sSub>
                      <m:sSub>
                        <m:sSubPr>
                          <m:ctrlPr>
                            <a:rPr lang="zh-CN" altLang="en-US" sz="2000" i="1">
                              <a:solidFill>
                                <a:srgbClr val="000000"/>
                              </a:solidFill>
                              <a:latin typeface="Cambria Math" panose="02040503050406030204" pitchFamily="18" charset="0"/>
                            </a:rPr>
                          </m:ctrlPr>
                        </m:sSubPr>
                        <m:e>
                          <m:acc>
                            <m:accPr>
                              <m:chr m:val="̇"/>
                              <m:ctrlPr>
                                <a:rPr lang="zh-CN" altLang="en-US" sz="2000" i="1">
                                  <a:solidFill>
                                    <a:srgbClr val="000000"/>
                                  </a:solidFill>
                                  <a:latin typeface="Cambria Math" panose="02040503050406030204" pitchFamily="18" charset="0"/>
                                </a:rPr>
                              </m:ctrlPr>
                            </m:accPr>
                            <m:e>
                              <m:r>
                                <a:rPr lang="zh-CN" altLang="en-US" sz="2000" i="1">
                                  <a:solidFill>
                                    <a:srgbClr val="000000"/>
                                  </a:solidFill>
                                  <a:latin typeface="Cambria Math" panose="02040503050406030204" pitchFamily="18" charset="0"/>
                                </a:rPr>
                                <m:t>𝜃</m:t>
                              </m:r>
                            </m:e>
                          </m:acc>
                        </m:e>
                        <m:sub>
                          <m:r>
                            <a:rPr lang="zh-CN" altLang="en-US" sz="2000" i="1">
                              <a:solidFill>
                                <a:srgbClr val="000000"/>
                              </a:solidFill>
                              <a:latin typeface="Cambria Math" panose="02040503050406030204" pitchFamily="18" charset="0"/>
                            </a:rPr>
                            <m:t>1</m:t>
                          </m:r>
                        </m:sub>
                      </m:sSub>
                    </m:oMath>
                  </m:oMathPara>
                </a14:m>
                <a:endParaRPr lang="zh-CN" altLang="en-US" sz="2000" dirty="0"/>
              </a:p>
            </p:txBody>
          </p:sp>
        </mc:Choice>
        <mc:Fallback>
          <p:sp>
            <p:nvSpPr>
              <p:cNvPr id="6" name="对象 4">
                <a:extLst>
                  <a:ext uri="{FF2B5EF4-FFF2-40B4-BE49-F238E27FC236}">
                    <a16:creationId xmlns:a16="http://schemas.microsoft.com/office/drawing/2014/main" id="{8975FDC0-9DCE-CA0A-C795-B3D0A7467AF0}"/>
                  </a:ext>
                </a:extLst>
              </p:cNvPr>
              <p:cNvSpPr txBox="1">
                <a:spLocks noRot="1" noChangeAspect="1" noMove="1" noResize="1" noEditPoints="1" noAdjustHandles="1" noChangeArrowheads="1" noChangeShapeType="1" noTextEdit="1"/>
              </p:cNvSpPr>
              <p:nvPr/>
            </p:nvSpPr>
            <p:spPr bwMode="auto">
              <a:xfrm>
                <a:off x="801779" y="3717578"/>
                <a:ext cx="5129212" cy="614362"/>
              </a:xfrm>
              <a:prstGeom prst="rect">
                <a:avLst/>
              </a:prstGeom>
              <a:blipFill>
                <a:blip r:embed="rId5"/>
                <a:stretch>
                  <a:fillRect/>
                </a:stretch>
              </a:blipFill>
              <a:ln>
                <a:solidFill>
                  <a:schemeClr val="bg1"/>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对象 5">
                <a:extLst>
                  <a:ext uri="{FF2B5EF4-FFF2-40B4-BE49-F238E27FC236}">
                    <a16:creationId xmlns:a16="http://schemas.microsoft.com/office/drawing/2014/main" id="{ED6B4333-EB99-3FE0-F197-191CD77D4C61}"/>
                  </a:ext>
                </a:extLst>
              </p:cNvPr>
              <p:cNvSpPr txBox="1"/>
              <p:nvPr/>
            </p:nvSpPr>
            <p:spPr bwMode="auto">
              <a:xfrm>
                <a:off x="801779" y="4461006"/>
                <a:ext cx="9524403" cy="871281"/>
              </a:xfrm>
              <a:prstGeom prst="rect">
                <a:avLst/>
              </a:prstGeom>
              <a:solidFill>
                <a:schemeClr val="bg1"/>
              </a:solidFill>
              <a:ln>
                <a:solidFill>
                  <a:schemeClr val="bg1"/>
                </a:solidFill>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𝐶</m:t>
                          </m:r>
                        </m:e>
                        <m:sub>
                          <m:r>
                            <a:rPr lang="zh-CN" altLang="en-US" sz="2000" i="1">
                              <a:solidFill>
                                <a:srgbClr val="000000"/>
                              </a:solidFill>
                              <a:latin typeface="Cambria Math" panose="02040503050406030204" pitchFamily="18" charset="0"/>
                            </a:rPr>
                            <m:t>21</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𝑚</m:t>
                          </m:r>
                        </m:e>
                        <m:sub>
                          <m:r>
                            <a:rPr lang="zh-CN" altLang="en-US" sz="2000" i="1">
                              <a:solidFill>
                                <a:srgbClr val="000000"/>
                              </a:solidFill>
                              <a:latin typeface="Cambria Math" panose="02040503050406030204" pitchFamily="18" charset="0"/>
                            </a:rPr>
                            <m:t>2</m:t>
                          </m:r>
                        </m:sub>
                      </m:sSub>
                      <m:sSubSup>
                        <m:sSubSupPr>
                          <m:ctrlPr>
                            <a:rPr lang="zh-CN" altLang="en-US" sz="2000" i="1">
                              <a:solidFill>
                                <a:srgbClr val="000000"/>
                              </a:solidFill>
                              <a:latin typeface="Cambria Math" panose="02040503050406030204" pitchFamily="18" charset="0"/>
                            </a:rPr>
                          </m:ctrlPr>
                        </m:sSubSup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1</m:t>
                          </m:r>
                        </m:sub>
                        <m:sup>
                          <m:r>
                            <a:rPr lang="zh-CN" altLang="en-US" sz="2000" i="1">
                              <a:solidFill>
                                <a:srgbClr val="000000"/>
                              </a:solidFill>
                              <a:latin typeface="Cambria Math" panose="02040503050406030204" pitchFamily="18" charset="0"/>
                            </a:rPr>
                            <m:t>2</m:t>
                          </m:r>
                        </m:sup>
                      </m:sSubSup>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acc>
                            <m:accPr>
                              <m:chr m:val="̇"/>
                              <m:ctrlPr>
                                <a:rPr lang="zh-CN" altLang="en-US" sz="2000" i="1">
                                  <a:solidFill>
                                    <a:srgbClr val="000000"/>
                                  </a:solidFill>
                                  <a:latin typeface="Cambria Math" panose="02040503050406030204" pitchFamily="18" charset="0"/>
                                </a:rPr>
                              </m:ctrlPr>
                            </m:accPr>
                            <m:e>
                              <m:r>
                                <a:rPr lang="zh-CN" altLang="en-US" sz="2000" i="1">
                                  <a:solidFill>
                                    <a:srgbClr val="000000"/>
                                  </a:solidFill>
                                  <a:latin typeface="Cambria Math" panose="02040503050406030204" pitchFamily="18" charset="0"/>
                                </a:rPr>
                                <m:t>𝜃</m:t>
                              </m:r>
                            </m:e>
                          </m:acc>
                        </m:e>
                        <m:sub>
                          <m:r>
                            <a:rPr lang="zh-CN" altLang="en-US" sz="2000" i="1">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𝑚</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23</m:t>
                          </m:r>
                        </m:sub>
                      </m:sSub>
                      <m:sSub>
                        <m:sSubPr>
                          <m:ctrlPr>
                            <a:rPr lang="zh-CN" altLang="en-US" sz="2000" i="1">
                              <a:solidFill>
                                <a:srgbClr val="000000"/>
                              </a:solidFill>
                              <a:latin typeface="Cambria Math" panose="02040503050406030204" pitchFamily="18" charset="0"/>
                            </a:rPr>
                          </m:ctrlPr>
                        </m:sSubPr>
                        <m:e>
                          <m:acc>
                            <m:accPr>
                              <m:chr m:val="̇"/>
                              <m:ctrlPr>
                                <a:rPr lang="zh-CN" altLang="en-US" sz="2000" i="1">
                                  <a:solidFill>
                                    <a:srgbClr val="000000"/>
                                  </a:solidFill>
                                  <a:latin typeface="Cambria Math" panose="02040503050406030204" pitchFamily="18" charset="0"/>
                                </a:rPr>
                              </m:ctrlPr>
                            </m:accPr>
                            <m:e>
                              <m:r>
                                <a:rPr lang="zh-CN" altLang="en-US" sz="2000" i="1">
                                  <a:solidFill>
                                    <a:srgbClr val="000000"/>
                                  </a:solidFill>
                                  <a:latin typeface="Cambria Math" panose="02040503050406030204" pitchFamily="18" charset="0"/>
                                </a:rPr>
                                <m:t>𝜃</m:t>
                              </m:r>
                            </m:e>
                          </m:acc>
                        </m:e>
                        <m:sub>
                          <m:r>
                            <a:rPr lang="zh-CN" altLang="en-US" sz="2000" i="1">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𝑚</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23</m:t>
                          </m:r>
                        </m:sub>
                      </m:sSub>
                      <m:sSub>
                        <m:sSubPr>
                          <m:ctrlPr>
                            <a:rPr lang="zh-CN" altLang="en-US" sz="2000" i="1">
                              <a:solidFill>
                                <a:srgbClr val="000000"/>
                              </a:solidFill>
                              <a:latin typeface="Cambria Math" panose="02040503050406030204" pitchFamily="18" charset="0"/>
                            </a:rPr>
                          </m:ctrlPr>
                        </m:sSubPr>
                        <m:e>
                          <m:acc>
                            <m:accPr>
                              <m:chr m:val="̇"/>
                              <m:ctrlPr>
                                <a:rPr lang="zh-CN" altLang="en-US" sz="2000" i="1">
                                  <a:solidFill>
                                    <a:srgbClr val="000000"/>
                                  </a:solidFill>
                                  <a:latin typeface="Cambria Math" panose="02040503050406030204" pitchFamily="18" charset="0"/>
                                </a:rPr>
                              </m:ctrlPr>
                            </m:accPr>
                            <m:e>
                              <m:r>
                                <a:rPr lang="zh-CN" altLang="en-US" sz="2000" i="1">
                                  <a:solidFill>
                                    <a:srgbClr val="000000"/>
                                  </a:solidFill>
                                  <a:latin typeface="Cambria Math" panose="02040503050406030204" pitchFamily="18" charset="0"/>
                                </a:rPr>
                                <m:t>𝜃</m:t>
                              </m:r>
                            </m:e>
                          </m:acc>
                        </m:e>
                        <m:sub>
                          <m:r>
                            <a:rPr lang="zh-CN" altLang="en-US" sz="2000" i="1">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𝑚</m:t>
                          </m:r>
                        </m:e>
                        <m:sub>
                          <m:r>
                            <a:rPr lang="zh-CN" altLang="en-US" sz="2000" i="1">
                              <a:solidFill>
                                <a:srgbClr val="000000"/>
                              </a:solidFill>
                              <a:latin typeface="Cambria Math" panose="02040503050406030204" pitchFamily="18" charset="0"/>
                            </a:rPr>
                            <m:t>2</m:t>
                          </m:r>
                        </m:sub>
                      </m:sSub>
                      <m:sSubSup>
                        <m:sSubSupPr>
                          <m:ctrlPr>
                            <a:rPr lang="zh-CN" altLang="en-US" sz="2000" i="1">
                              <a:solidFill>
                                <a:srgbClr val="000000"/>
                              </a:solidFill>
                              <a:latin typeface="Cambria Math" panose="02040503050406030204" pitchFamily="18" charset="0"/>
                            </a:rPr>
                          </m:ctrlPr>
                        </m:sSubSup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2</m:t>
                          </m:r>
                        </m:sub>
                        <m:sup>
                          <m:r>
                            <a:rPr lang="zh-CN" altLang="en-US" sz="2000" i="1">
                              <a:solidFill>
                                <a:srgbClr val="000000"/>
                              </a:solidFill>
                              <a:latin typeface="Cambria Math" panose="02040503050406030204" pitchFamily="18" charset="0"/>
                            </a:rPr>
                            <m:t>2</m:t>
                          </m:r>
                        </m:sup>
                      </m:sSubSup>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23</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23</m:t>
                          </m:r>
                        </m:sub>
                      </m:sSub>
                      <m:sSub>
                        <m:sSubPr>
                          <m:ctrlPr>
                            <a:rPr lang="zh-CN" altLang="en-US" sz="2000" i="1">
                              <a:solidFill>
                                <a:srgbClr val="000000"/>
                              </a:solidFill>
                              <a:latin typeface="Cambria Math" panose="02040503050406030204" pitchFamily="18" charset="0"/>
                            </a:rPr>
                          </m:ctrlPr>
                        </m:sSubPr>
                        <m:e>
                          <m:acc>
                            <m:accPr>
                              <m:chr m:val="̇"/>
                              <m:ctrlPr>
                                <a:rPr lang="zh-CN" altLang="en-US" sz="2000" i="1">
                                  <a:solidFill>
                                    <a:srgbClr val="000000"/>
                                  </a:solidFill>
                                  <a:latin typeface="Cambria Math" panose="02040503050406030204" pitchFamily="18" charset="0"/>
                                </a:rPr>
                              </m:ctrlPr>
                            </m:accPr>
                            <m:e>
                              <m:r>
                                <a:rPr lang="zh-CN" altLang="en-US" sz="2000" i="1">
                                  <a:solidFill>
                                    <a:srgbClr val="000000"/>
                                  </a:solidFill>
                                  <a:latin typeface="Cambria Math" panose="02040503050406030204" pitchFamily="18" charset="0"/>
                                </a:rPr>
                                <m:t>𝜃</m:t>
                              </m:r>
                            </m:e>
                          </m:acc>
                        </m:e>
                        <m:sub>
                          <m:r>
                            <a:rPr lang="zh-CN" altLang="en-US" sz="2000" i="1">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𝑚</m:t>
                          </m:r>
                        </m:e>
                        <m:sub>
                          <m:r>
                            <a:rPr lang="zh-CN" altLang="en-US" sz="2000" i="1">
                              <a:solidFill>
                                <a:srgbClr val="000000"/>
                              </a:solidFill>
                              <a:latin typeface="Cambria Math" panose="02040503050406030204" pitchFamily="18" charset="0"/>
                            </a:rPr>
                            <m:t>1</m:t>
                          </m:r>
                        </m:sub>
                      </m:sSub>
                      <m:sSubSup>
                        <m:sSubSupPr>
                          <m:ctrlPr>
                            <a:rPr lang="zh-CN" altLang="en-US" sz="2000" i="1">
                              <a:solidFill>
                                <a:srgbClr val="000000"/>
                              </a:solidFill>
                              <a:latin typeface="Cambria Math" panose="02040503050406030204" pitchFamily="18" charset="0"/>
                            </a:rPr>
                          </m:ctrlPr>
                        </m:sSubSup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1</m:t>
                          </m:r>
                        </m:sub>
                        <m:sup>
                          <m:r>
                            <a:rPr lang="zh-CN" altLang="en-US" sz="2000" i="1">
                              <a:solidFill>
                                <a:srgbClr val="000000"/>
                              </a:solidFill>
                              <a:latin typeface="Cambria Math" panose="02040503050406030204" pitchFamily="18" charset="0"/>
                            </a:rPr>
                            <m:t>2</m:t>
                          </m:r>
                        </m:sup>
                      </m:sSubSup>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acc>
                            <m:accPr>
                              <m:chr m:val="̇"/>
                              <m:ctrlPr>
                                <a:rPr lang="zh-CN" altLang="en-US" sz="2000" i="1">
                                  <a:solidFill>
                                    <a:srgbClr val="000000"/>
                                  </a:solidFill>
                                  <a:latin typeface="Cambria Math" panose="02040503050406030204" pitchFamily="18" charset="0"/>
                                </a:rPr>
                              </m:ctrlPr>
                            </m:accPr>
                            <m:e>
                              <m:r>
                                <a:rPr lang="zh-CN" altLang="en-US" sz="2000" i="1">
                                  <a:solidFill>
                                    <a:srgbClr val="000000"/>
                                  </a:solidFill>
                                  <a:latin typeface="Cambria Math" panose="02040503050406030204" pitchFamily="18" charset="0"/>
                                </a:rPr>
                                <m:t>𝜃</m:t>
                              </m:r>
                            </m:e>
                          </m:acc>
                        </m:e>
                        <m:sub>
                          <m:r>
                            <a:rPr lang="zh-CN" altLang="en-US" sz="2000" i="1">
                              <a:solidFill>
                                <a:srgbClr val="000000"/>
                              </a:solidFill>
                              <a:latin typeface="Cambria Math" panose="02040503050406030204" pitchFamily="18" charset="0"/>
                            </a:rPr>
                            <m:t>1</m:t>
                          </m:r>
                        </m:sub>
                      </m:sSub>
                    </m:oMath>
                  </m:oMathPara>
                </a14:m>
                <a:endParaRPr lang="zh-CN" altLang="en-US" sz="2000" dirty="0"/>
              </a:p>
            </p:txBody>
          </p:sp>
        </mc:Choice>
        <mc:Fallback>
          <p:sp>
            <p:nvSpPr>
              <p:cNvPr id="7" name="对象 5">
                <a:extLst>
                  <a:ext uri="{FF2B5EF4-FFF2-40B4-BE49-F238E27FC236}">
                    <a16:creationId xmlns:a16="http://schemas.microsoft.com/office/drawing/2014/main" id="{ED6B4333-EB99-3FE0-F197-191CD77D4C61}"/>
                  </a:ext>
                </a:extLst>
              </p:cNvPr>
              <p:cNvSpPr txBox="1">
                <a:spLocks noRot="1" noChangeAspect="1" noMove="1" noResize="1" noEditPoints="1" noAdjustHandles="1" noChangeArrowheads="1" noChangeShapeType="1" noTextEdit="1"/>
              </p:cNvSpPr>
              <p:nvPr/>
            </p:nvSpPr>
            <p:spPr bwMode="auto">
              <a:xfrm>
                <a:off x="801779" y="4461006"/>
                <a:ext cx="9524403" cy="871281"/>
              </a:xfrm>
              <a:prstGeom prst="rect">
                <a:avLst/>
              </a:prstGeom>
              <a:blipFill>
                <a:blip r:embed="rId6"/>
                <a:stretch>
                  <a:fillRect/>
                </a:stretch>
              </a:blipFill>
              <a:ln>
                <a:solidFill>
                  <a:schemeClr val="bg1"/>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对象 6">
                <a:extLst>
                  <a:ext uri="{FF2B5EF4-FFF2-40B4-BE49-F238E27FC236}">
                    <a16:creationId xmlns:a16="http://schemas.microsoft.com/office/drawing/2014/main" id="{6803B146-9813-B2FB-A0E4-C02261503D1A}"/>
                  </a:ext>
                </a:extLst>
              </p:cNvPr>
              <p:cNvSpPr txBox="1"/>
              <p:nvPr/>
            </p:nvSpPr>
            <p:spPr bwMode="auto">
              <a:xfrm>
                <a:off x="801779" y="5207856"/>
                <a:ext cx="2603499" cy="546100"/>
              </a:xfrm>
              <a:prstGeom prst="rect">
                <a:avLst/>
              </a:prstGeom>
              <a:solidFill>
                <a:schemeClr val="bg1"/>
              </a:solidFill>
              <a:ln>
                <a:solidFill>
                  <a:schemeClr val="bg1"/>
                </a:solidFill>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𝐶</m:t>
                          </m:r>
                        </m:e>
                        <m:sub>
                          <m:r>
                            <a:rPr lang="zh-CN" altLang="en-US" sz="2000" i="1">
                              <a:solidFill>
                                <a:srgbClr val="000000"/>
                              </a:solidFill>
                              <a:latin typeface="Cambria Math" panose="02040503050406030204" pitchFamily="18" charset="0"/>
                            </a:rPr>
                            <m:t>22</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𝑚</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3</m:t>
                          </m:r>
                        </m:sub>
                      </m:sSub>
                      <m:sSub>
                        <m:sSubPr>
                          <m:ctrlPr>
                            <a:rPr lang="zh-CN" altLang="en-US" sz="2000" i="1">
                              <a:solidFill>
                                <a:srgbClr val="000000"/>
                              </a:solidFill>
                              <a:latin typeface="Cambria Math" panose="02040503050406030204" pitchFamily="18" charset="0"/>
                            </a:rPr>
                          </m:ctrlPr>
                        </m:sSubPr>
                        <m:e>
                          <m:acc>
                            <m:accPr>
                              <m:chr m:val="̇"/>
                              <m:ctrlPr>
                                <a:rPr lang="zh-CN" altLang="en-US" sz="2000" i="1">
                                  <a:solidFill>
                                    <a:srgbClr val="000000"/>
                                  </a:solidFill>
                                  <a:latin typeface="Cambria Math" panose="02040503050406030204" pitchFamily="18" charset="0"/>
                                </a:rPr>
                              </m:ctrlPr>
                            </m:accPr>
                            <m:e>
                              <m:r>
                                <a:rPr lang="zh-CN" altLang="en-US" sz="2000" i="1">
                                  <a:solidFill>
                                    <a:srgbClr val="000000"/>
                                  </a:solidFill>
                                  <a:latin typeface="Cambria Math" panose="02040503050406030204" pitchFamily="18" charset="0"/>
                                </a:rPr>
                                <m:t>𝜃</m:t>
                              </m:r>
                            </m:e>
                          </m:acc>
                        </m:e>
                        <m:sub>
                          <m:r>
                            <a:rPr lang="zh-CN" altLang="en-US" sz="2000" i="1">
                              <a:solidFill>
                                <a:srgbClr val="000000"/>
                              </a:solidFill>
                              <a:latin typeface="Cambria Math" panose="02040503050406030204" pitchFamily="18" charset="0"/>
                            </a:rPr>
                            <m:t>3</m:t>
                          </m:r>
                        </m:sub>
                      </m:sSub>
                    </m:oMath>
                  </m:oMathPara>
                </a14:m>
                <a:endParaRPr lang="zh-CN" altLang="en-US" sz="2000" dirty="0"/>
              </a:p>
            </p:txBody>
          </p:sp>
        </mc:Choice>
        <mc:Fallback>
          <p:sp>
            <p:nvSpPr>
              <p:cNvPr id="8" name="对象 6">
                <a:extLst>
                  <a:ext uri="{FF2B5EF4-FFF2-40B4-BE49-F238E27FC236}">
                    <a16:creationId xmlns:a16="http://schemas.microsoft.com/office/drawing/2014/main" id="{6803B146-9813-B2FB-A0E4-C02261503D1A}"/>
                  </a:ext>
                </a:extLst>
              </p:cNvPr>
              <p:cNvSpPr txBox="1">
                <a:spLocks noRot="1" noChangeAspect="1" noMove="1" noResize="1" noEditPoints="1" noAdjustHandles="1" noChangeArrowheads="1" noChangeShapeType="1" noTextEdit="1"/>
              </p:cNvSpPr>
              <p:nvPr/>
            </p:nvSpPr>
            <p:spPr bwMode="auto">
              <a:xfrm>
                <a:off x="801779" y="5207856"/>
                <a:ext cx="2603499" cy="546100"/>
              </a:xfrm>
              <a:prstGeom prst="rect">
                <a:avLst/>
              </a:prstGeom>
              <a:blipFill>
                <a:blip r:embed="rId7"/>
                <a:stretch>
                  <a:fillRect/>
                </a:stretch>
              </a:blipFill>
              <a:ln>
                <a:solidFill>
                  <a:schemeClr val="bg1"/>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对象 7">
                <a:extLst>
                  <a:ext uri="{FF2B5EF4-FFF2-40B4-BE49-F238E27FC236}">
                    <a16:creationId xmlns:a16="http://schemas.microsoft.com/office/drawing/2014/main" id="{4977933B-F398-B7A6-739B-3124D9C66CE0}"/>
                  </a:ext>
                </a:extLst>
              </p:cNvPr>
              <p:cNvSpPr txBox="1"/>
              <p:nvPr/>
            </p:nvSpPr>
            <p:spPr bwMode="auto">
              <a:xfrm>
                <a:off x="801779" y="5886444"/>
                <a:ext cx="3522661" cy="614362"/>
              </a:xfrm>
              <a:prstGeom prst="rect">
                <a:avLst/>
              </a:prstGeom>
              <a:solidFill>
                <a:schemeClr val="bg1"/>
              </a:solidFill>
              <a:ln>
                <a:solidFill>
                  <a:schemeClr val="bg1"/>
                </a:solidFill>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𝐶</m:t>
                          </m:r>
                        </m:e>
                        <m:sub>
                          <m:r>
                            <a:rPr lang="zh-CN" altLang="en-US" sz="2000" i="1">
                              <a:solidFill>
                                <a:srgbClr val="000000"/>
                              </a:solidFill>
                              <a:latin typeface="Cambria Math" panose="02040503050406030204" pitchFamily="18" charset="0"/>
                            </a:rPr>
                            <m:t>23</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𝑚</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3</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acc>
                            <m:accPr>
                              <m:chr m:val="̇"/>
                              <m:ctrlPr>
                                <a:rPr lang="zh-CN" altLang="en-US" sz="2000" i="1">
                                  <a:solidFill>
                                    <a:srgbClr val="000000"/>
                                  </a:solidFill>
                                  <a:latin typeface="Cambria Math" panose="02040503050406030204" pitchFamily="18" charset="0"/>
                                </a:rPr>
                              </m:ctrlPr>
                            </m:accPr>
                            <m:e>
                              <m:r>
                                <a:rPr lang="zh-CN" altLang="en-US" sz="2000" i="1">
                                  <a:solidFill>
                                    <a:srgbClr val="000000"/>
                                  </a:solidFill>
                                  <a:latin typeface="Cambria Math" panose="02040503050406030204" pitchFamily="18" charset="0"/>
                                </a:rPr>
                                <m:t>𝜃</m:t>
                              </m:r>
                            </m:e>
                          </m:acc>
                        </m:e>
                        <m:sub>
                          <m:r>
                            <a:rPr lang="zh-CN" altLang="en-US" sz="2000" i="1">
                              <a:solidFill>
                                <a:srgbClr val="000000"/>
                              </a:solidFill>
                              <a:latin typeface="Cambria Math" panose="02040503050406030204" pitchFamily="18" charset="0"/>
                            </a:rPr>
                            <m:t>2</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acc>
                            <m:accPr>
                              <m:chr m:val="̇"/>
                              <m:ctrlPr>
                                <a:rPr lang="zh-CN" altLang="en-US" sz="2000" i="1">
                                  <a:solidFill>
                                    <a:srgbClr val="000000"/>
                                  </a:solidFill>
                                  <a:latin typeface="Cambria Math" panose="02040503050406030204" pitchFamily="18" charset="0"/>
                                </a:rPr>
                              </m:ctrlPr>
                            </m:accPr>
                            <m:e>
                              <m:r>
                                <a:rPr lang="zh-CN" altLang="en-US" sz="2000" i="1">
                                  <a:solidFill>
                                    <a:srgbClr val="000000"/>
                                  </a:solidFill>
                                  <a:latin typeface="Cambria Math" panose="02040503050406030204" pitchFamily="18" charset="0"/>
                                </a:rPr>
                                <m:t>𝜃</m:t>
                              </m:r>
                            </m:e>
                          </m:acc>
                        </m:e>
                        <m:sub>
                          <m:r>
                            <a:rPr lang="zh-CN" altLang="en-US" sz="2000" i="1">
                              <a:solidFill>
                                <a:srgbClr val="000000"/>
                              </a:solidFill>
                              <a:latin typeface="Cambria Math" panose="02040503050406030204" pitchFamily="18" charset="0"/>
                            </a:rPr>
                            <m:t>3</m:t>
                          </m:r>
                        </m:sub>
                      </m:sSub>
                      <m:r>
                        <a:rPr lang="zh-CN" altLang="en-US" sz="2000" i="1">
                          <a:solidFill>
                            <a:srgbClr val="000000"/>
                          </a:solidFill>
                          <a:latin typeface="Cambria Math" panose="02040503050406030204" pitchFamily="18" charset="0"/>
                        </a:rPr>
                        <m:t>)</m:t>
                      </m:r>
                    </m:oMath>
                  </m:oMathPara>
                </a14:m>
                <a:endParaRPr lang="zh-CN" altLang="en-US" sz="2000" dirty="0"/>
              </a:p>
            </p:txBody>
          </p:sp>
        </mc:Choice>
        <mc:Fallback>
          <p:sp>
            <p:nvSpPr>
              <p:cNvPr id="9" name="对象 7">
                <a:extLst>
                  <a:ext uri="{FF2B5EF4-FFF2-40B4-BE49-F238E27FC236}">
                    <a16:creationId xmlns:a16="http://schemas.microsoft.com/office/drawing/2014/main" id="{4977933B-F398-B7A6-739B-3124D9C66CE0}"/>
                  </a:ext>
                </a:extLst>
              </p:cNvPr>
              <p:cNvSpPr txBox="1">
                <a:spLocks noRot="1" noChangeAspect="1" noMove="1" noResize="1" noEditPoints="1" noAdjustHandles="1" noChangeArrowheads="1" noChangeShapeType="1" noTextEdit="1"/>
              </p:cNvSpPr>
              <p:nvPr/>
            </p:nvSpPr>
            <p:spPr bwMode="auto">
              <a:xfrm>
                <a:off x="801779" y="5886444"/>
                <a:ext cx="3522661" cy="614362"/>
              </a:xfrm>
              <a:prstGeom prst="rect">
                <a:avLst/>
              </a:prstGeom>
              <a:blipFill>
                <a:blip r:embed="rId8"/>
                <a:stretch>
                  <a:fillRect/>
                </a:stretch>
              </a:blipFill>
              <a:ln>
                <a:solidFill>
                  <a:schemeClr val="bg1"/>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对象 9">
                <a:extLst>
                  <a:ext uri="{FF2B5EF4-FFF2-40B4-BE49-F238E27FC236}">
                    <a16:creationId xmlns:a16="http://schemas.microsoft.com/office/drawing/2014/main" id="{B8C6A458-8132-0537-83D7-3DE0F9F14D25}"/>
                  </a:ext>
                </a:extLst>
              </p:cNvPr>
              <p:cNvSpPr txBox="1"/>
              <p:nvPr/>
            </p:nvSpPr>
            <p:spPr bwMode="auto">
              <a:xfrm>
                <a:off x="6266310" y="5792431"/>
                <a:ext cx="2268538" cy="614363"/>
              </a:xfrm>
              <a:prstGeom prst="rect">
                <a:avLst/>
              </a:prstGeom>
              <a:solidFill>
                <a:schemeClr val="bg1"/>
              </a:solidFill>
              <a:ln>
                <a:solidFill>
                  <a:schemeClr val="bg1"/>
                </a:solidFill>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𝐶</m:t>
                          </m:r>
                        </m:e>
                        <m:sub>
                          <m:r>
                            <a:rPr lang="zh-CN" altLang="en-US" sz="2000" i="1">
                              <a:solidFill>
                                <a:srgbClr val="000000"/>
                              </a:solidFill>
                              <a:latin typeface="Cambria Math" panose="02040503050406030204" pitchFamily="18" charset="0"/>
                            </a:rPr>
                            <m:t>32</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𝑚</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3</m:t>
                          </m:r>
                        </m:sub>
                      </m:sSub>
                      <m:sSub>
                        <m:sSubPr>
                          <m:ctrlPr>
                            <a:rPr lang="zh-CN" altLang="en-US" sz="2000" i="1">
                              <a:solidFill>
                                <a:srgbClr val="000000"/>
                              </a:solidFill>
                              <a:latin typeface="Cambria Math" panose="02040503050406030204" pitchFamily="18" charset="0"/>
                            </a:rPr>
                          </m:ctrlPr>
                        </m:sSubPr>
                        <m:e>
                          <m:acc>
                            <m:accPr>
                              <m:chr m:val="̇"/>
                              <m:ctrlPr>
                                <a:rPr lang="zh-CN" altLang="en-US" sz="2000" i="1">
                                  <a:solidFill>
                                    <a:srgbClr val="000000"/>
                                  </a:solidFill>
                                  <a:latin typeface="Cambria Math" panose="02040503050406030204" pitchFamily="18" charset="0"/>
                                </a:rPr>
                              </m:ctrlPr>
                            </m:accPr>
                            <m:e>
                              <m:r>
                                <a:rPr lang="zh-CN" altLang="en-US" sz="2000" i="1">
                                  <a:solidFill>
                                    <a:srgbClr val="000000"/>
                                  </a:solidFill>
                                  <a:latin typeface="Cambria Math" panose="02040503050406030204" pitchFamily="18" charset="0"/>
                                </a:rPr>
                                <m:t>𝜃</m:t>
                              </m:r>
                            </m:e>
                          </m:acc>
                        </m:e>
                        <m:sub>
                          <m:r>
                            <a:rPr lang="zh-CN" altLang="en-US" sz="2000" i="1">
                              <a:solidFill>
                                <a:srgbClr val="000000"/>
                              </a:solidFill>
                              <a:latin typeface="Cambria Math" panose="02040503050406030204" pitchFamily="18" charset="0"/>
                            </a:rPr>
                            <m:t>2</m:t>
                          </m:r>
                        </m:sub>
                      </m:sSub>
                    </m:oMath>
                  </m:oMathPara>
                </a14:m>
                <a:endParaRPr lang="zh-CN" altLang="en-US" sz="2000" dirty="0"/>
              </a:p>
            </p:txBody>
          </p:sp>
        </mc:Choice>
        <mc:Fallback>
          <p:sp>
            <p:nvSpPr>
              <p:cNvPr id="10" name="对象 9">
                <a:extLst>
                  <a:ext uri="{FF2B5EF4-FFF2-40B4-BE49-F238E27FC236}">
                    <a16:creationId xmlns:a16="http://schemas.microsoft.com/office/drawing/2014/main" id="{B8C6A458-8132-0537-83D7-3DE0F9F14D25}"/>
                  </a:ext>
                </a:extLst>
              </p:cNvPr>
              <p:cNvSpPr txBox="1">
                <a:spLocks noRot="1" noChangeAspect="1" noMove="1" noResize="1" noEditPoints="1" noAdjustHandles="1" noChangeArrowheads="1" noChangeShapeType="1" noTextEdit="1"/>
              </p:cNvSpPr>
              <p:nvPr/>
            </p:nvSpPr>
            <p:spPr bwMode="auto">
              <a:xfrm>
                <a:off x="6266310" y="5792431"/>
                <a:ext cx="2268538" cy="614363"/>
              </a:xfrm>
              <a:prstGeom prst="rect">
                <a:avLst/>
              </a:prstGeom>
              <a:blipFill>
                <a:blip r:embed="rId9"/>
                <a:stretch>
                  <a:fillRect/>
                </a:stretch>
              </a:blipFill>
              <a:ln>
                <a:solidFill>
                  <a:schemeClr val="bg1"/>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对象 8">
                <a:extLst>
                  <a:ext uri="{FF2B5EF4-FFF2-40B4-BE49-F238E27FC236}">
                    <a16:creationId xmlns:a16="http://schemas.microsoft.com/office/drawing/2014/main" id="{635E0606-DC93-B2F4-F7B3-04623C6A2A42}"/>
                  </a:ext>
                </a:extLst>
              </p:cNvPr>
              <p:cNvSpPr txBox="1"/>
              <p:nvPr/>
            </p:nvSpPr>
            <p:spPr bwMode="auto">
              <a:xfrm>
                <a:off x="6266310" y="5228332"/>
                <a:ext cx="4408488" cy="546100"/>
              </a:xfrm>
              <a:prstGeom prst="rect">
                <a:avLst/>
              </a:prstGeom>
              <a:solidFill>
                <a:schemeClr val="bg1"/>
              </a:solidFill>
              <a:ln>
                <a:solidFill>
                  <a:schemeClr val="bg1"/>
                </a:solidFill>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𝐶</m:t>
                          </m:r>
                        </m:e>
                        <m:sub>
                          <m:r>
                            <a:rPr lang="zh-CN" altLang="en-US" sz="2000" i="1">
                              <a:solidFill>
                                <a:srgbClr val="000000"/>
                              </a:solidFill>
                              <a:latin typeface="Cambria Math" panose="02040503050406030204" pitchFamily="18" charset="0"/>
                            </a:rPr>
                            <m:t>31</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𝑚</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1</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2</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23</m:t>
                          </m:r>
                        </m:sub>
                      </m:sSub>
                      <m:sSub>
                        <m:sSubPr>
                          <m:ctrlPr>
                            <a:rPr lang="zh-CN" altLang="en-US" sz="2000" i="1">
                              <a:solidFill>
                                <a:srgbClr val="000000"/>
                              </a:solidFill>
                              <a:latin typeface="Cambria Math" panose="02040503050406030204" pitchFamily="18" charset="0"/>
                            </a:rPr>
                          </m:ctrlPr>
                        </m:sSubPr>
                        <m:e>
                          <m:acc>
                            <m:accPr>
                              <m:chr m:val="̇"/>
                              <m:ctrlPr>
                                <a:rPr lang="zh-CN" altLang="en-US" sz="2000" i="1">
                                  <a:solidFill>
                                    <a:srgbClr val="000000"/>
                                  </a:solidFill>
                                  <a:latin typeface="Cambria Math" panose="02040503050406030204" pitchFamily="18" charset="0"/>
                                </a:rPr>
                              </m:ctrlPr>
                            </m:accPr>
                            <m:e>
                              <m:r>
                                <a:rPr lang="zh-CN" altLang="en-US" sz="2000" i="1">
                                  <a:solidFill>
                                    <a:srgbClr val="000000"/>
                                  </a:solidFill>
                                  <a:latin typeface="Cambria Math" panose="02040503050406030204" pitchFamily="18" charset="0"/>
                                </a:rPr>
                                <m:t>𝜃</m:t>
                              </m:r>
                            </m:e>
                          </m:acc>
                        </m:e>
                        <m:sub>
                          <m:r>
                            <a:rPr lang="zh-CN" altLang="en-US" sz="2000" i="1">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𝑚</m:t>
                          </m:r>
                        </m:e>
                        <m:sub>
                          <m:r>
                            <a:rPr lang="zh-CN" altLang="en-US" sz="2000" i="1">
                              <a:solidFill>
                                <a:srgbClr val="000000"/>
                              </a:solidFill>
                              <a:latin typeface="Cambria Math" panose="02040503050406030204" pitchFamily="18" charset="0"/>
                            </a:rPr>
                            <m:t>2</m:t>
                          </m:r>
                        </m:sub>
                      </m:sSub>
                      <m:sSubSup>
                        <m:sSubSupPr>
                          <m:ctrlPr>
                            <a:rPr lang="zh-CN" altLang="en-US" sz="2000" i="1">
                              <a:solidFill>
                                <a:srgbClr val="000000"/>
                              </a:solidFill>
                              <a:latin typeface="Cambria Math" panose="02040503050406030204" pitchFamily="18" charset="0"/>
                            </a:rPr>
                          </m:ctrlPr>
                        </m:sSubSup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2</m:t>
                          </m:r>
                        </m:sub>
                        <m:sup>
                          <m:r>
                            <a:rPr lang="zh-CN" altLang="en-US" sz="2000" i="1">
                              <a:solidFill>
                                <a:srgbClr val="000000"/>
                              </a:solidFill>
                              <a:latin typeface="Cambria Math" panose="02040503050406030204" pitchFamily="18" charset="0"/>
                            </a:rPr>
                            <m:t>2</m:t>
                          </m:r>
                        </m:sup>
                      </m:sSubSup>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1">
                              <a:solidFill>
                                <a:srgbClr val="000000"/>
                              </a:solidFill>
                              <a:latin typeface="Cambria Math" panose="02040503050406030204" pitchFamily="18" charset="0"/>
                            </a:rPr>
                            <m:t>23</m:t>
                          </m:r>
                        </m:sub>
                      </m:sSub>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𝑐</m:t>
                          </m:r>
                        </m:e>
                        <m:sub>
                          <m:r>
                            <a:rPr lang="zh-CN" altLang="en-US" sz="2000" i="1">
                              <a:solidFill>
                                <a:srgbClr val="000000"/>
                              </a:solidFill>
                              <a:latin typeface="Cambria Math" panose="02040503050406030204" pitchFamily="18" charset="0"/>
                            </a:rPr>
                            <m:t>23</m:t>
                          </m:r>
                        </m:sub>
                      </m:sSub>
                      <m:sSub>
                        <m:sSubPr>
                          <m:ctrlPr>
                            <a:rPr lang="zh-CN" altLang="en-US" sz="2000" i="1">
                              <a:solidFill>
                                <a:srgbClr val="000000"/>
                              </a:solidFill>
                              <a:latin typeface="Cambria Math" panose="02040503050406030204" pitchFamily="18" charset="0"/>
                            </a:rPr>
                          </m:ctrlPr>
                        </m:sSubPr>
                        <m:e>
                          <m:acc>
                            <m:accPr>
                              <m:chr m:val="̇"/>
                              <m:ctrlPr>
                                <a:rPr lang="zh-CN" altLang="en-US" sz="2000" i="1">
                                  <a:solidFill>
                                    <a:srgbClr val="000000"/>
                                  </a:solidFill>
                                  <a:latin typeface="Cambria Math" panose="02040503050406030204" pitchFamily="18" charset="0"/>
                                </a:rPr>
                              </m:ctrlPr>
                            </m:accPr>
                            <m:e>
                              <m:r>
                                <a:rPr lang="zh-CN" altLang="en-US" sz="2000" i="1">
                                  <a:solidFill>
                                    <a:srgbClr val="000000"/>
                                  </a:solidFill>
                                  <a:latin typeface="Cambria Math" panose="02040503050406030204" pitchFamily="18" charset="0"/>
                                </a:rPr>
                                <m:t>𝜃</m:t>
                              </m:r>
                            </m:e>
                          </m:acc>
                        </m:e>
                        <m:sub>
                          <m:r>
                            <a:rPr lang="zh-CN" altLang="en-US" sz="2000" i="1">
                              <a:solidFill>
                                <a:srgbClr val="000000"/>
                              </a:solidFill>
                              <a:latin typeface="Cambria Math" panose="02040503050406030204" pitchFamily="18" charset="0"/>
                            </a:rPr>
                            <m:t>1</m:t>
                          </m:r>
                        </m:sub>
                      </m:sSub>
                    </m:oMath>
                  </m:oMathPara>
                </a14:m>
                <a:endParaRPr lang="zh-CN" altLang="en-US" sz="2000" dirty="0"/>
              </a:p>
            </p:txBody>
          </p:sp>
        </mc:Choice>
        <mc:Fallback>
          <p:sp>
            <p:nvSpPr>
              <p:cNvPr id="11" name="对象 8">
                <a:extLst>
                  <a:ext uri="{FF2B5EF4-FFF2-40B4-BE49-F238E27FC236}">
                    <a16:creationId xmlns:a16="http://schemas.microsoft.com/office/drawing/2014/main" id="{635E0606-DC93-B2F4-F7B3-04623C6A2A42}"/>
                  </a:ext>
                </a:extLst>
              </p:cNvPr>
              <p:cNvSpPr txBox="1">
                <a:spLocks noRot="1" noChangeAspect="1" noMove="1" noResize="1" noEditPoints="1" noAdjustHandles="1" noChangeArrowheads="1" noChangeShapeType="1" noTextEdit="1"/>
              </p:cNvSpPr>
              <p:nvPr/>
            </p:nvSpPr>
            <p:spPr bwMode="auto">
              <a:xfrm>
                <a:off x="6266310" y="5228332"/>
                <a:ext cx="4408488" cy="546100"/>
              </a:xfrm>
              <a:prstGeom prst="rect">
                <a:avLst/>
              </a:prstGeom>
              <a:blipFill>
                <a:blip r:embed="rId10"/>
                <a:stretch>
                  <a:fillRect/>
                </a:stretch>
              </a:blipFill>
              <a:ln>
                <a:solidFill>
                  <a:schemeClr val="bg1"/>
                </a:solidFill>
              </a:ln>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48328C68-4811-1F57-22AD-8A895A97BE90}"/>
              </a:ext>
            </a:extLst>
          </p:cNvPr>
          <p:cNvSpPr txBox="1"/>
          <p:nvPr>
            <p:custDataLst>
              <p:tags r:id="rId1"/>
            </p:custDataLst>
          </p:nvPr>
        </p:nvSpPr>
        <p:spPr>
          <a:xfrm>
            <a:off x="1395413" y="109635"/>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7.2.1</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机器人动力学模型</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77E4C90-43A0-1915-F8E1-DABA8F9D0D8A}"/>
              </a:ext>
            </a:extLst>
          </p:cNvPr>
          <p:cNvSpPr txBox="1"/>
          <p:nvPr>
            <p:custDataLst>
              <p:tags r:id="rId1"/>
            </p:custDataLst>
          </p:nvPr>
        </p:nvSpPr>
        <p:spPr>
          <a:xfrm>
            <a:off x="1395413" y="109635"/>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7.2.1</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机器人动力学模型</a:t>
            </a:r>
          </a:p>
        </p:txBody>
      </p:sp>
      <mc:AlternateContent xmlns:mc="http://schemas.openxmlformats.org/markup-compatibility/2006">
        <mc:Choice xmlns:a14="http://schemas.microsoft.com/office/drawing/2010/main" Requires="a14">
          <p:sp>
            <p:nvSpPr>
              <p:cNvPr id="4" name="对象 10">
                <a:extLst>
                  <a:ext uri="{FF2B5EF4-FFF2-40B4-BE49-F238E27FC236}">
                    <a16:creationId xmlns:a16="http://schemas.microsoft.com/office/drawing/2014/main" id="{4C0A3CC8-C055-0E64-6607-F0A70D3A676E}"/>
                  </a:ext>
                </a:extLst>
              </p:cNvPr>
              <p:cNvSpPr txBox="1"/>
              <p:nvPr/>
            </p:nvSpPr>
            <p:spPr bwMode="auto">
              <a:xfrm>
                <a:off x="1530349" y="1336675"/>
                <a:ext cx="6613525" cy="1484032"/>
              </a:xfrm>
              <a:prstGeom prst="rect">
                <a:avLst/>
              </a:prstGeom>
              <a:solidFill>
                <a:schemeClr val="bg1"/>
              </a:solidFill>
              <a:ln>
                <a:solidFill>
                  <a:schemeClr val="bg1"/>
                </a:solidFill>
              </a:ln>
            </p:spPr>
            <p:txBody>
              <a:bodyPr>
                <a:norm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𝐺</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𝜃</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𝑔</m:t>
                      </m:r>
                      <m:d>
                        <m:dPr>
                          <m:begChr m:val="["/>
                          <m:endChr m:val="]"/>
                          <m:ctrlPr>
                            <a:rPr lang="zh-CN" altLang="en-US" sz="2400" i="1">
                              <a:solidFill>
                                <a:srgbClr val="000000"/>
                              </a:solidFill>
                              <a:latin typeface="Cambria Math" panose="02040503050406030204" pitchFamily="18" charset="0"/>
                            </a:rPr>
                          </m:ctrlPr>
                        </m:dPr>
                        <m:e>
                          <m:m>
                            <m:mPr>
                              <m:plcHide m:val="on"/>
                              <m:mcs>
                                <m:mc>
                                  <m:mcPr>
                                    <m:count m:val="1"/>
                                    <m:mcJc m:val="center"/>
                                  </m:mcPr>
                                </m:mc>
                              </m:mcs>
                              <m:ctrlPr>
                                <a:rPr lang="zh-CN" altLang="en-US" sz="2400" i="1">
                                  <a:solidFill>
                                    <a:srgbClr val="000000"/>
                                  </a:solidFill>
                                  <a:latin typeface="Cambria Math" panose="02040503050406030204" pitchFamily="18" charset="0"/>
                                </a:rPr>
                              </m:ctrlPr>
                            </m:mPr>
                            <m:mr>
                              <m:e>
                                <m:r>
                                  <a:rPr lang="zh-CN" altLang="en-US" sz="2400" i="1">
                                    <a:solidFill>
                                      <a:srgbClr val="000000"/>
                                    </a:solidFill>
                                    <a:latin typeface="Cambria Math" panose="02040503050406030204" pitchFamily="18" charset="0"/>
                                  </a:rPr>
                                  <m:t>0</m:t>
                                </m:r>
                              </m:e>
                            </m:mr>
                            <m:mr>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𝑚</m:t>
                                    </m:r>
                                  </m:e>
                                  <m:sub>
                                    <m:r>
                                      <a:rPr lang="zh-CN" altLang="en-US" sz="2400" i="1">
                                        <a:solidFill>
                                          <a:srgbClr val="000000"/>
                                        </a:solidFill>
                                        <a:latin typeface="Cambria Math" panose="02040503050406030204" pitchFamily="18" charset="0"/>
                                      </a:rPr>
                                      <m:t>1</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𝑙</m:t>
                                    </m:r>
                                  </m:e>
                                  <m:sub>
                                    <m:r>
                                      <a:rPr lang="zh-CN" altLang="en-US" sz="2400" i="1">
                                        <a:solidFill>
                                          <a:srgbClr val="000000"/>
                                        </a:solidFill>
                                        <a:latin typeface="Cambria Math" panose="02040503050406030204" pitchFamily="18" charset="0"/>
                                      </a:rPr>
                                      <m:t>1</m:t>
                                    </m:r>
                                  </m:sub>
                                </m:sSub>
                                <m:sSub>
                                  <m:sSubPr>
                                    <m:ctrlPr>
                                      <a:rPr lang="zh-CN" altLang="en-US" sz="2400" i="1"/>
                                    </m:ctrlPr>
                                  </m:sSubPr>
                                  <m:e>
                                    <m:r>
                                      <a:rPr lang="en-US" altLang="zh-CN" sz="2400" i="1"/>
                                      <m:t>𝑐</m:t>
                                    </m:r>
                                  </m:e>
                                  <m:sub>
                                    <m:r>
                                      <a:rPr lang="en-US" altLang="zh-CN" sz="2400" i="1"/>
                                      <m:t>2</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𝑚</m:t>
                                    </m:r>
                                  </m:e>
                                  <m:sub>
                                    <m:r>
                                      <a:rPr lang="zh-CN" altLang="en-US" sz="2400" i="1">
                                        <a:solidFill>
                                          <a:srgbClr val="000000"/>
                                        </a:solidFill>
                                        <a:latin typeface="Cambria Math" panose="02040503050406030204" pitchFamily="18" charset="0"/>
                                      </a:rPr>
                                      <m:t>2</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𝑙</m:t>
                                    </m:r>
                                  </m:e>
                                  <m:sub>
                                    <m:r>
                                      <a:rPr lang="zh-CN" altLang="en-US" sz="2400" i="1">
                                        <a:solidFill>
                                          <a:srgbClr val="000000"/>
                                        </a:solidFill>
                                        <a:latin typeface="Cambria Math" panose="02040503050406030204" pitchFamily="18" charset="0"/>
                                      </a:rPr>
                                      <m:t>1</m:t>
                                    </m:r>
                                  </m:sub>
                                </m:sSub>
                                <m:sSub>
                                  <m:sSubPr>
                                    <m:ctrlPr>
                                      <a:rPr lang="zh-CN" altLang="en-US" sz="2400" i="1"/>
                                    </m:ctrlPr>
                                  </m:sSubPr>
                                  <m:e>
                                    <m:r>
                                      <a:rPr lang="en-US" altLang="zh-CN" sz="2400" i="1"/>
                                      <m:t>𝑐</m:t>
                                    </m:r>
                                  </m:e>
                                  <m:sub>
                                    <m:r>
                                      <a:rPr lang="en-US" altLang="zh-CN" sz="2400" i="1"/>
                                      <m:t>2</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𝑚</m:t>
                                    </m:r>
                                  </m:e>
                                  <m:sub>
                                    <m:r>
                                      <a:rPr lang="zh-CN" altLang="en-US" sz="2400" i="1">
                                        <a:solidFill>
                                          <a:srgbClr val="000000"/>
                                        </a:solidFill>
                                        <a:latin typeface="Cambria Math" panose="02040503050406030204" pitchFamily="18" charset="0"/>
                                      </a:rPr>
                                      <m:t>2</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𝑙</m:t>
                                    </m:r>
                                  </m:e>
                                  <m:sub>
                                    <m:r>
                                      <a:rPr lang="zh-CN" altLang="en-US" sz="2400" i="1">
                                        <a:solidFill>
                                          <a:srgbClr val="000000"/>
                                        </a:solidFill>
                                        <a:latin typeface="Cambria Math" panose="02040503050406030204" pitchFamily="18" charset="0"/>
                                      </a:rPr>
                                      <m:t>2</m:t>
                                    </m:r>
                                  </m:sub>
                                </m:sSub>
                                <m:sSub>
                                  <m:sSubPr>
                                    <m:ctrlPr>
                                      <a:rPr lang="zh-CN" altLang="en-US" sz="2400" i="1"/>
                                    </m:ctrlPr>
                                  </m:sSubPr>
                                  <m:e>
                                    <m:r>
                                      <a:rPr lang="en-US" altLang="zh-CN" sz="2400" i="1"/>
                                      <m:t>𝑐</m:t>
                                    </m:r>
                                  </m:e>
                                  <m:sub>
                                    <m:r>
                                      <a:rPr lang="en-US" altLang="zh-CN" sz="2400" i="1"/>
                                      <m:t>23</m:t>
                                    </m:r>
                                  </m:sub>
                                </m:sSub>
                              </m:e>
                            </m:mr>
                            <m:mr>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𝑚</m:t>
                                    </m:r>
                                  </m:e>
                                  <m:sub>
                                    <m:r>
                                      <a:rPr lang="zh-CN" altLang="en-US" sz="2400" i="1">
                                        <a:solidFill>
                                          <a:srgbClr val="000000"/>
                                        </a:solidFill>
                                        <a:latin typeface="Cambria Math" panose="02040503050406030204" pitchFamily="18" charset="0"/>
                                      </a:rPr>
                                      <m:t>2</m:t>
                                    </m:r>
                                  </m:sub>
                                </m:sSub>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𝑙</m:t>
                                    </m:r>
                                  </m:e>
                                  <m:sub>
                                    <m:r>
                                      <a:rPr lang="zh-CN" altLang="en-US" sz="2400" i="1">
                                        <a:solidFill>
                                          <a:srgbClr val="000000"/>
                                        </a:solidFill>
                                        <a:latin typeface="Cambria Math" panose="02040503050406030204" pitchFamily="18" charset="0"/>
                                      </a:rPr>
                                      <m:t>2</m:t>
                                    </m:r>
                                  </m:sub>
                                </m:sSub>
                                <m:sSub>
                                  <m:sSubPr>
                                    <m:ctrlPr>
                                      <a:rPr lang="zh-CN" altLang="en-US" sz="2400" i="1"/>
                                    </m:ctrlPr>
                                  </m:sSubPr>
                                  <m:e>
                                    <m:r>
                                      <a:rPr lang="en-US" altLang="zh-CN" sz="2400" i="1"/>
                                      <m:t>𝑐</m:t>
                                    </m:r>
                                  </m:e>
                                  <m:sub>
                                    <m:r>
                                      <a:rPr lang="en-US" altLang="zh-CN" sz="2400" i="1"/>
                                      <m:t>23</m:t>
                                    </m:r>
                                  </m:sub>
                                </m:sSub>
                              </m:e>
                            </m:mr>
                          </m:m>
                        </m:e>
                      </m:d>
                    </m:oMath>
                  </m:oMathPara>
                </a14:m>
                <a:endParaRPr lang="zh-CN" altLang="en-US" sz="2400" dirty="0"/>
              </a:p>
            </p:txBody>
          </p:sp>
        </mc:Choice>
        <mc:Fallback>
          <p:sp>
            <p:nvSpPr>
              <p:cNvPr id="4" name="对象 10">
                <a:extLst>
                  <a:ext uri="{FF2B5EF4-FFF2-40B4-BE49-F238E27FC236}">
                    <a16:creationId xmlns:a16="http://schemas.microsoft.com/office/drawing/2014/main" id="{4C0A3CC8-C055-0E64-6607-F0A70D3A676E}"/>
                  </a:ext>
                </a:extLst>
              </p:cNvPr>
              <p:cNvSpPr txBox="1">
                <a:spLocks noRot="1" noChangeAspect="1" noMove="1" noResize="1" noEditPoints="1" noAdjustHandles="1" noChangeArrowheads="1" noChangeShapeType="1" noTextEdit="1"/>
              </p:cNvSpPr>
              <p:nvPr/>
            </p:nvSpPr>
            <p:spPr bwMode="auto">
              <a:xfrm>
                <a:off x="1530349" y="1336675"/>
                <a:ext cx="6613525" cy="1484032"/>
              </a:xfrm>
              <a:prstGeom prst="rect">
                <a:avLst/>
              </a:prstGeom>
              <a:blipFill>
                <a:blip r:embed="rId3"/>
                <a:stretch>
                  <a:fillRect/>
                </a:stretch>
              </a:blipFill>
              <a:ln>
                <a:solidFill>
                  <a:schemeClr val="bg1"/>
                </a:solidFill>
              </a:ln>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FCA62B89-E648-8031-E738-28171721DFB4}"/>
              </a:ext>
            </a:extLst>
          </p:cNvPr>
          <p:cNvSpPr txBox="1"/>
          <p:nvPr/>
        </p:nvSpPr>
        <p:spPr>
          <a:xfrm>
            <a:off x="8553450" y="1714500"/>
            <a:ext cx="2552700"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7.6</a:t>
            </a:r>
            <a:r>
              <a:rPr lang="zh-CN" altLang="en-US" sz="2400" b="1" dirty="0">
                <a:latin typeface="微软雅黑" panose="020B0503020204020204" pitchFamily="34" charset="-122"/>
                <a:ea typeface="微软雅黑" panose="020B0503020204020204" pitchFamily="34" charset="-122"/>
              </a:rPr>
              <a:t>）</a:t>
            </a:r>
          </a:p>
        </p:txBody>
      </p:sp>
      <p:sp>
        <p:nvSpPr>
          <p:cNvPr id="6" name="文本框 5">
            <a:extLst>
              <a:ext uri="{FF2B5EF4-FFF2-40B4-BE49-F238E27FC236}">
                <a16:creationId xmlns:a16="http://schemas.microsoft.com/office/drawing/2014/main" id="{E306A860-8567-4107-6869-88649A0DA1D0}"/>
              </a:ext>
            </a:extLst>
          </p:cNvPr>
          <p:cNvSpPr txBox="1"/>
          <p:nvPr/>
        </p:nvSpPr>
        <p:spPr>
          <a:xfrm>
            <a:off x="704850" y="3013272"/>
            <a:ext cx="8010525" cy="319446"/>
          </a:xfrm>
          <a:prstGeom prst="rect">
            <a:avLst/>
          </a:prstGeom>
          <a:noFill/>
        </p:spPr>
        <p:txBody>
          <a:bodyPr wrap="square" rtlCol="0">
            <a:spAutoFit/>
          </a:bodyPr>
          <a:lstStyle/>
          <a:p>
            <a:pPr indent="269875" algn="just">
              <a:lnSpc>
                <a:spcPts val="1595"/>
              </a:lnSpc>
            </a:pPr>
            <a:r>
              <a:rPr lang="zh-CN" altLang="zh-CN" sz="2400" b="1" kern="1000" dirty="0">
                <a:effectLst/>
                <a:latin typeface="微软雅黑" panose="020B0503020204020204" pitchFamily="34" charset="-122"/>
                <a:ea typeface="微软雅黑" panose="020B0503020204020204" pitchFamily="34" charset="-122"/>
              </a:rPr>
              <a:t>根据性质</a:t>
            </a:r>
            <a:r>
              <a:rPr lang="en-US" altLang="zh-CN" sz="2400" b="1" kern="1000" dirty="0">
                <a:effectLst/>
                <a:latin typeface="微软雅黑" panose="020B0503020204020204" pitchFamily="34" charset="-122"/>
                <a:ea typeface="微软雅黑" panose="020B0503020204020204" pitchFamily="34" charset="-122"/>
              </a:rPr>
              <a:t>3</a:t>
            </a:r>
            <a:r>
              <a:rPr lang="zh-CN" altLang="zh-CN" sz="2400" b="1" kern="1000" dirty="0">
                <a:effectLst/>
                <a:latin typeface="微软雅黑" panose="020B0503020204020204" pitchFamily="34" charset="-122"/>
                <a:ea typeface="微软雅黑" panose="020B0503020204020204" pitchFamily="34" charset="-122"/>
              </a:rPr>
              <a:t>，对式</a:t>
            </a:r>
            <a:r>
              <a:rPr lang="en-US" altLang="zh-CN" sz="2400" b="1" kern="1000" dirty="0">
                <a:effectLst/>
                <a:latin typeface="微软雅黑" panose="020B0503020204020204" pitchFamily="34" charset="-122"/>
                <a:ea typeface="微软雅黑" panose="020B0503020204020204" pitchFamily="34" charset="-122"/>
              </a:rPr>
              <a:t>(7.3)</a:t>
            </a:r>
            <a:r>
              <a:rPr lang="zh-CN" altLang="zh-CN" sz="2400" b="1" kern="1000" dirty="0">
                <a:effectLst/>
                <a:latin typeface="微软雅黑" panose="020B0503020204020204" pitchFamily="34" charset="-122"/>
                <a:ea typeface="微软雅黑" panose="020B0503020204020204" pitchFamily="34" charset="-122"/>
              </a:rPr>
              <a:t>进行线性化，得到如下方程：</a:t>
            </a:r>
          </a:p>
        </p:txBody>
      </p:sp>
      <mc:AlternateContent xmlns:mc="http://schemas.openxmlformats.org/markup-compatibility/2006" xmlns:a14="http://schemas.microsoft.com/office/drawing/2010/main">
        <mc:Choice Requires="a14">
          <p:sp>
            <p:nvSpPr>
              <p:cNvPr id="7" name="对象 1">
                <a:extLst>
                  <a:ext uri="{FF2B5EF4-FFF2-40B4-BE49-F238E27FC236}">
                    <a16:creationId xmlns:a16="http://schemas.microsoft.com/office/drawing/2014/main" id="{4A911FD0-94E9-74F7-069E-5464C2FDDAC8}"/>
                  </a:ext>
                </a:extLst>
              </p:cNvPr>
              <p:cNvSpPr txBox="1"/>
              <p:nvPr/>
            </p:nvSpPr>
            <p:spPr bwMode="auto">
              <a:xfrm>
                <a:off x="2386013" y="3525838"/>
                <a:ext cx="4719637" cy="461665"/>
              </a:xfrm>
              <a:prstGeom prst="rect">
                <a:avLst/>
              </a:prstGeom>
              <a:solidFill>
                <a:schemeClr val="bg1"/>
              </a:solidFill>
              <a:ln>
                <a:solidFill>
                  <a:schemeClr val="bg1"/>
                </a:solidFill>
              </a:ln>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𝜃</m:t>
                      </m:r>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𝜃</m:t>
                      </m:r>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𝐺</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𝜃</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𝑌</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𝜃</m:t>
                      </m:r>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0</m:t>
                          </m:r>
                        </m:sub>
                      </m:sSub>
                    </m:oMath>
                  </m:oMathPara>
                </a14:m>
                <a:endParaRPr lang="zh-CN" altLang="en-US" dirty="0"/>
              </a:p>
            </p:txBody>
          </p:sp>
        </mc:Choice>
        <mc:Fallback xmlns="">
          <p:sp>
            <p:nvSpPr>
              <p:cNvPr id="7" name="对象 1">
                <a:extLst>
                  <a:ext uri="{FF2B5EF4-FFF2-40B4-BE49-F238E27FC236}">
                    <a16:creationId xmlns:a16="http://schemas.microsoft.com/office/drawing/2014/main" id="{4A911FD0-94E9-74F7-069E-5464C2FDDAC8}"/>
                  </a:ext>
                </a:extLst>
              </p:cNvPr>
              <p:cNvSpPr txBox="1">
                <a:spLocks noRot="1" noChangeAspect="1" noMove="1" noResize="1" noEditPoints="1" noAdjustHandles="1" noChangeArrowheads="1" noChangeShapeType="1" noTextEdit="1"/>
              </p:cNvSpPr>
              <p:nvPr/>
            </p:nvSpPr>
            <p:spPr bwMode="auto">
              <a:xfrm>
                <a:off x="2386013" y="3525838"/>
                <a:ext cx="4719637" cy="461665"/>
              </a:xfrm>
              <a:prstGeom prst="rect">
                <a:avLst/>
              </a:prstGeom>
              <a:blipFill>
                <a:blip r:embed="rId4"/>
                <a:stretch>
                  <a:fillRect/>
                </a:stretch>
              </a:blipFill>
              <a:ln>
                <a:solidFill>
                  <a:schemeClr val="bg1"/>
                </a:solidFill>
              </a:ln>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DF24DBD8-65BD-83AB-3B60-74D3895721A8}"/>
              </a:ext>
            </a:extLst>
          </p:cNvPr>
          <p:cNvSpPr txBox="1"/>
          <p:nvPr/>
        </p:nvSpPr>
        <p:spPr>
          <a:xfrm>
            <a:off x="8553450" y="3516791"/>
            <a:ext cx="2552700"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7.7</a:t>
            </a:r>
            <a:r>
              <a:rPr lang="zh-CN" altLang="en-US" sz="2400" b="1" dirty="0">
                <a:latin typeface="微软雅黑" panose="020B0503020204020204" pitchFamily="34" charset="-122"/>
                <a:ea typeface="微软雅黑" panose="020B0503020204020204" pitchFamily="34" charset="-122"/>
              </a:rPr>
              <a:t>）</a:t>
            </a:r>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0847DDC0-B726-C6B7-E576-745E6787D577}"/>
                  </a:ext>
                </a:extLst>
              </p:cNvPr>
              <p:cNvSpPr txBox="1"/>
              <p:nvPr/>
            </p:nvSpPr>
            <p:spPr>
              <a:xfrm>
                <a:off x="1042988" y="4081771"/>
                <a:ext cx="5734050" cy="47878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其中，回归矩阵</a:t>
                </a:r>
                <a14:m>
                  <m:oMath xmlns:m="http://schemas.openxmlformats.org/officeDocument/2006/math">
                    <m:r>
                      <a:rPr lang="en-US" altLang="zh-CN" sz="2400" b="1" i="1" dirty="0">
                        <a:latin typeface="Cambria Math" panose="02040503050406030204" pitchFamily="18" charset="0"/>
                      </a:rPr>
                      <m:t>𝒀</m:t>
                    </m:r>
                  </m:oMath>
                </a14:m>
                <a:r>
                  <a:rPr lang="en-US" altLang="zh-CN" sz="2400" b="1" dirty="0">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dirty="0" smtClean="0">
                        <a:latin typeface="Cambria Math" panose="02040503050406030204" pitchFamily="18" charset="0"/>
                      </a:rPr>
                      <m:t>𝜽</m:t>
                    </m:r>
                    <m:r>
                      <a:rPr lang="en-US" altLang="zh-CN" sz="2400" b="1" i="1" dirty="0" smtClean="0">
                        <a:latin typeface="Cambria Math" panose="02040503050406030204" pitchFamily="18" charset="0"/>
                      </a:rPr>
                      <m:t>,</m:t>
                    </m:r>
                    <m:acc>
                      <m:accPr>
                        <m:chr m:val="̇"/>
                        <m:ctrlPr>
                          <a:rPr lang="en-US" altLang="zh-CN" sz="2400" b="1" i="1" dirty="0" smtClean="0">
                            <a:latin typeface="Cambria Math" panose="02040503050406030204" pitchFamily="18" charset="0"/>
                          </a:rPr>
                        </m:ctrlPr>
                      </m:accPr>
                      <m:e>
                        <m:r>
                          <a:rPr lang="en-US" altLang="zh-CN" sz="2400" b="1" i="1" dirty="0">
                            <a:latin typeface="Cambria Math" panose="02040503050406030204" pitchFamily="18" charset="0"/>
                          </a:rPr>
                          <m:t>𝜽</m:t>
                        </m:r>
                      </m:e>
                    </m:acc>
                    <m:acc>
                      <m:accPr>
                        <m:chr m:val="̈"/>
                        <m:ctrlPr>
                          <a:rPr lang="en-US" altLang="zh-CN" sz="2400" b="1" i="1" dirty="0" smtClean="0">
                            <a:latin typeface="Cambria Math" panose="02040503050406030204" pitchFamily="18" charset="0"/>
                          </a:rPr>
                        </m:ctrlPr>
                      </m:accPr>
                      <m:e>
                        <m:r>
                          <a:rPr lang="en-US" altLang="zh-CN" sz="2400" b="1" i="1" dirty="0" smtClean="0">
                            <a:latin typeface="Cambria Math" panose="02040503050406030204" pitchFamily="18" charset="0"/>
                          </a:rPr>
                          <m:t>,</m:t>
                        </m:r>
                        <m:r>
                          <a:rPr lang="en-US" altLang="zh-CN" sz="2400" b="1" i="1" dirty="0">
                            <a:latin typeface="Cambria Math" panose="02040503050406030204" pitchFamily="18" charset="0"/>
                          </a:rPr>
                          <m:t>𝜽</m:t>
                        </m:r>
                      </m:e>
                    </m:acc>
                  </m:oMath>
                </a14:m>
                <a:r>
                  <a:rPr lang="en-US" altLang="zh-CN" sz="2400" b="1" dirty="0">
                    <a:latin typeface="微软雅黑" panose="020B0503020204020204" pitchFamily="34" charset="-122"/>
                    <a:ea typeface="微软雅黑" panose="020B0503020204020204" pitchFamily="34" charset="-122"/>
                  </a:rPr>
                  <a:t>)</a:t>
                </a:r>
                <a:r>
                  <a:rPr lang="zh-CN" altLang="zh-CN" sz="2400" b="1" dirty="0">
                    <a:latin typeface="微软雅黑" panose="020B0503020204020204" pitchFamily="34" charset="-122"/>
                    <a:ea typeface="微软雅黑" panose="020B0503020204020204" pitchFamily="34" charset="-122"/>
                  </a:rPr>
                  <a:t>可表示为</a:t>
                </a:r>
                <a:endParaRPr lang="zh-CN" altLang="en-US" sz="2400" b="1" dirty="0">
                  <a:latin typeface="微软雅黑" panose="020B0503020204020204" pitchFamily="34" charset="-122"/>
                  <a:ea typeface="微软雅黑" panose="020B0503020204020204" pitchFamily="34" charset="-122"/>
                </a:endParaRPr>
              </a:p>
            </p:txBody>
          </p:sp>
        </mc:Choice>
        <mc:Fallback xmlns="">
          <p:sp>
            <p:nvSpPr>
              <p:cNvPr id="22" name="文本框 21">
                <a:extLst>
                  <a:ext uri="{FF2B5EF4-FFF2-40B4-BE49-F238E27FC236}">
                    <a16:creationId xmlns:a16="http://schemas.microsoft.com/office/drawing/2014/main" id="{0847DDC0-B726-C6B7-E576-745E6787D577}"/>
                  </a:ext>
                </a:extLst>
              </p:cNvPr>
              <p:cNvSpPr txBox="1">
                <a:spLocks noRot="1" noChangeAspect="1" noMove="1" noResize="1" noEditPoints="1" noAdjustHandles="1" noChangeArrowheads="1" noChangeShapeType="1" noTextEdit="1"/>
              </p:cNvSpPr>
              <p:nvPr/>
            </p:nvSpPr>
            <p:spPr>
              <a:xfrm>
                <a:off x="1042988" y="4081771"/>
                <a:ext cx="5734050" cy="478785"/>
              </a:xfrm>
              <a:prstGeom prst="rect">
                <a:avLst/>
              </a:prstGeom>
              <a:blipFill>
                <a:blip r:embed="rId5"/>
                <a:stretch>
                  <a:fillRect l="-1594" t="-6410" b="-2948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 name="对象 2">
                <a:extLst>
                  <a:ext uri="{FF2B5EF4-FFF2-40B4-BE49-F238E27FC236}">
                    <a16:creationId xmlns:a16="http://schemas.microsoft.com/office/drawing/2014/main" id="{BBBC6549-356B-45AF-459E-2A8D155171B1}"/>
                  </a:ext>
                </a:extLst>
              </p:cNvPr>
              <p:cNvSpPr txBox="1"/>
              <p:nvPr/>
            </p:nvSpPr>
            <p:spPr bwMode="auto">
              <a:xfrm>
                <a:off x="1530349" y="4686300"/>
                <a:ext cx="8374062" cy="1670050"/>
              </a:xfrm>
              <a:prstGeom prst="rect">
                <a:avLst/>
              </a:prstGeom>
              <a:solidFill>
                <a:schemeClr val="bg1"/>
              </a:solidFill>
              <a:ln>
                <a:solidFill>
                  <a:schemeClr val="bg1"/>
                </a:solidFill>
              </a:ln>
            </p:spPr>
            <p:txBody>
              <a:bodyPr>
                <a:normAutofit/>
              </a:bodyPr>
              <a:lstStyle/>
              <a:p>
                <a:pPr/>
                <a14:m>
                  <m:oMathPara xmlns:m="http://schemas.openxmlformats.org/officeDocument/2006/math">
                    <m:oMathParaPr>
                      <m:jc m:val="left"/>
                    </m:oMathParaPr>
                    <m:oMath xmlns:m="http://schemas.openxmlformats.org/officeDocument/2006/math">
                      <m:r>
                        <a:rPr lang="zh-CN" altLang="en-US" i="1" smtClean="0">
                          <a:solidFill>
                            <a:srgbClr val="000000"/>
                          </a:solidFill>
                          <a:latin typeface="Cambria Math" panose="02040503050406030204" pitchFamily="18" charset="0"/>
                        </a:rPr>
                        <m:t>𝑌</m:t>
                      </m:r>
                      <m:r>
                        <a:rPr lang="zh-CN" altLang="en-US" i="1" smtClean="0">
                          <a:solidFill>
                            <a:srgbClr val="000000"/>
                          </a:solidFill>
                          <a:latin typeface="Cambria Math" panose="02040503050406030204" pitchFamily="18" charset="0"/>
                        </a:rPr>
                        <m:t>(</m:t>
                      </m:r>
                      <m:r>
                        <a:rPr lang="zh-CN" altLang="en-US" i="1" smtClean="0">
                          <a:solidFill>
                            <a:srgbClr val="000000"/>
                          </a:solidFill>
                          <a:latin typeface="Cambria Math" panose="02040503050406030204" pitchFamily="18" charset="0"/>
                        </a:rPr>
                        <m:t>𝜃</m:t>
                      </m:r>
                      <m:r>
                        <a:rPr lang="zh-CN" altLang="en-US" i="1" smtClean="0">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r>
                        <a:rPr lang="zh-CN" altLang="en-US" i="1">
                          <a:solidFill>
                            <a:srgbClr val="000000"/>
                          </a:solidFill>
                          <a:latin typeface="Cambria Math" panose="02040503050406030204" pitchFamily="18" charset="0"/>
                        </a:rPr>
                        <m:t>,</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r>
                        <a:rPr lang="zh-CN" altLang="en-US" i="1">
                          <a:solidFill>
                            <a:srgbClr val="000000"/>
                          </a:solidFill>
                          <a:latin typeface="Cambria Math" panose="02040503050406030204" pitchFamily="18" charset="0"/>
                        </a:rPr>
                        <m:t>)=</m:t>
                      </m:r>
                    </m:oMath>
                    <m:oMath xmlns:m="http://schemas.openxmlformats.org/officeDocument/2006/math">
                      <m:d>
                        <m:dPr>
                          <m:begChr m:val="["/>
                          <m:endChr m:val="]"/>
                          <m:ctrlPr>
                            <a:rPr lang="zh-CN" altLang="en-US" i="1">
                              <a:solidFill>
                                <a:srgbClr val="000000"/>
                              </a:solidFill>
                              <a:latin typeface="Cambria Math" panose="02040503050406030204" pitchFamily="18" charset="0"/>
                            </a:rPr>
                          </m:ctrlPr>
                        </m:dPr>
                        <m:e>
                          <m:m>
                            <m:mPr>
                              <m:plcHide m:val="on"/>
                              <m:mcs>
                                <m:mc>
                                  <m:mcPr>
                                    <m:count m:val="8"/>
                                    <m:mcJc m:val="center"/>
                                  </m:mcPr>
                                </m:mc>
                              </m:mcs>
                              <m:ctrlPr>
                                <a:rPr lang="zh-CN" altLang="en-US" i="1" smtClean="0">
                                  <a:solidFill>
                                    <a:srgbClr val="000000"/>
                                  </a:solidFill>
                                  <a:latin typeface="Cambria Math" panose="02040503050406030204" pitchFamily="18" charset="0"/>
                                </a:rPr>
                              </m:ctrlPr>
                            </m:mPr>
                            <m:mr>
                              <m:e>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1</m:t>
                                    </m:r>
                                  </m:sub>
                                </m:sSub>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0</m:t>
                                </m:r>
                              </m:e>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e>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e>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3</m:t>
                                    </m:r>
                                  </m:sub>
                                </m:sSub>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0</m:t>
                                </m:r>
                              </m:e>
                            </m:mr>
                            <m:mr>
                              <m:e>
                                <m:r>
                                  <a:rPr lang="zh-CN" altLang="en-US" i="1">
                                    <a:solidFill>
                                      <a:srgbClr val="000000"/>
                                    </a:solidFill>
                                    <a:latin typeface="Cambria Math" panose="02040503050406030204" pitchFamily="18" charset="0"/>
                                  </a:rPr>
                                  <m:t>0</m:t>
                                </m:r>
                              </m:e>
                              <m:e>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2</m:t>
                                    </m:r>
                                  </m:sub>
                                </m:sSub>
                              </m:e>
                              <m:e>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e>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4</m:t>
                                    </m:r>
                                  </m:sub>
                                </m:sSub>
                              </m:e>
                              <m:e>
                                <m:sSub>
                                  <m:sSubPr>
                                    <m:ctrlPr>
                                      <a:rPr lang="zh-CN" altLang="en-US"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𝑠</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r>
                                      <a:rPr lang="en-US" altLang="zh-CN" b="0" i="1" smtClean="0">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2</m:t>
                                    </m:r>
                                  </m:sub>
                                </m:sSub>
                                <m:sSubSup>
                                  <m:sSubSupPr>
                                    <m:ctrlPr>
                                      <a:rPr lang="zh-CN" altLang="en-US" i="1">
                                        <a:solidFill>
                                          <a:srgbClr val="000000"/>
                                        </a:solidFill>
                                        <a:latin typeface="Cambria Math" panose="02040503050406030204" pitchFamily="18" charset="0"/>
                                      </a:rPr>
                                    </m:ctrlPr>
                                  </m:sSubSupPr>
                                  <m:e>
                                    <m:acc>
                                      <m:accPr>
                                        <m:chr m:val="̇"/>
                                        <m:ctrlPr>
                                          <a:rPr lang="zh-CN" altLang="en-US" i="1" smtClean="0">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2</m:t>
                                    </m:r>
                                  </m:sup>
                                </m:sSubSup>
                              </m:e>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5</m:t>
                                    </m:r>
                                  </m:sub>
                                </m:sSub>
                              </m:e>
                              <m:e>
                                <m:sSub>
                                  <m:sSubPr>
                                    <m:ctrlPr>
                                      <a:rPr lang="zh-CN" altLang="en-US"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𝑔</m:t>
                                </m:r>
                              </m:e>
                              <m:e>
                                <m:sSub>
                                  <m:sSubPr>
                                    <m:ctrlPr>
                                      <a:rPr lang="zh-CN" altLang="en-US" i="1" smtClean="0">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2</m:t>
                                    </m:r>
                                    <m:r>
                                      <a:rPr lang="en-US" altLang="zh-CN"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𝑔</m:t>
                                </m:r>
                              </m:e>
                            </m:mr>
                            <m:mr>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0</m:t>
                                </m:r>
                              </m:e>
                              <m:e>
                                <m:r>
                                  <a:rPr lang="zh-CN" altLang="en-US" i="1">
                                    <a:solidFill>
                                      <a:srgbClr val="000000"/>
                                    </a:solidFill>
                                    <a:latin typeface="Cambria Math" panose="02040503050406030204" pitchFamily="18" charset="0"/>
                                  </a:rPr>
                                  <m:t>0</m:t>
                                </m:r>
                              </m:e>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6</m:t>
                                    </m:r>
                                  </m:sub>
                                </m:sSub>
                              </m:e>
                              <m:e>
                                <m:r>
                                  <a:rPr lang="zh-CN" altLang="en-US" i="1">
                                    <a:solidFill>
                                      <a:srgbClr val="000000"/>
                                    </a:solidFill>
                                    <a:latin typeface="Cambria Math" panose="02040503050406030204" pitchFamily="18" charset="0"/>
                                  </a:rPr>
                                  <m:t>0</m:t>
                                </m:r>
                              </m:e>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7</m:t>
                                    </m:r>
                                  </m:sub>
                                </m:sSub>
                              </m:e>
                              <m:e>
                                <m:r>
                                  <a:rPr lang="zh-CN" altLang="en-US" i="1">
                                    <a:solidFill>
                                      <a:srgbClr val="000000"/>
                                    </a:solidFill>
                                    <a:latin typeface="Cambria Math" panose="02040503050406030204" pitchFamily="18" charset="0"/>
                                  </a:rPr>
                                  <m:t>0</m:t>
                                </m:r>
                              </m:e>
                              <m:e>
                                <m:sSub>
                                  <m:sSubPr>
                                    <m:ctrlPr>
                                      <a:rPr lang="zh-CN" altLang="en-US" i="1">
                                        <a:solidFill>
                                          <a:srgbClr val="000000"/>
                                        </a:solidFill>
                                        <a:latin typeface="Cambria Math" panose="02040503050406030204" pitchFamily="18" charset="0"/>
                                      </a:rPr>
                                    </m:ctrlPr>
                                  </m:sSubPr>
                                  <m:e>
                                    <m:r>
                                      <a:rPr lang="en-US" altLang="zh-CN" i="1">
                                        <a:solidFill>
                                          <a:srgbClr val="000000"/>
                                        </a:solidFill>
                                        <a:latin typeface="Cambria Math" panose="02040503050406030204" pitchFamily="18" charset="0"/>
                                      </a:rPr>
                                      <m:t>𝑐</m:t>
                                    </m:r>
                                  </m:e>
                                  <m:sub>
                                    <m:r>
                                      <a:rPr lang="zh-CN" altLang="en-US" i="1">
                                        <a:solidFill>
                                          <a:srgbClr val="000000"/>
                                        </a:solidFill>
                                        <a:latin typeface="Cambria Math" panose="02040503050406030204" pitchFamily="18" charset="0"/>
                                      </a:rPr>
                                      <m:t>2</m:t>
                                    </m:r>
                                    <m:r>
                                      <a:rPr lang="en-US" altLang="zh-CN"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𝑔</m:t>
                                </m:r>
                              </m:e>
                            </m:mr>
                          </m:m>
                          <m:r>
                            <a:rPr lang="en-US" altLang="zh-CN" b="0" i="1" smtClean="0">
                              <a:solidFill>
                                <a:srgbClr val="000000"/>
                              </a:solidFill>
                              <a:latin typeface="Cambria Math" panose="02040503050406030204" pitchFamily="18" charset="0"/>
                            </a:rPr>
                            <m:t>    </m:t>
                          </m:r>
                          <m:m>
                            <m:mPr>
                              <m:plcHide m:val="on"/>
                              <m:mcs>
                                <m:mc>
                                  <m:mcPr>
                                    <m:count m:val="1"/>
                                    <m:mcJc m:val="center"/>
                                  </m:mcPr>
                                </m:mc>
                              </m:mcs>
                              <m:ctrlPr>
                                <a:rPr lang="zh-CN" altLang="en-US" i="1">
                                  <a:solidFill>
                                    <a:srgbClr val="000000"/>
                                  </a:solidFill>
                                  <a:latin typeface="Cambria Math" panose="02040503050406030204" pitchFamily="18" charset="0"/>
                                </a:rPr>
                              </m:ctrlPr>
                            </m:mPr>
                            <m:mr>
                              <m:e/>
                            </m:mr>
                            <m:mr>
                              <m:e/>
                            </m:mr>
                            <m:mr>
                              <m:e/>
                            </m:mr>
                          </m:m>
                          <m:m>
                            <m:mPr>
                              <m:plcHide m:val="on"/>
                              <m:mcs>
                                <m:mc>
                                  <m:mcPr>
                                    <m:count m:val="1"/>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0</m:t>
                                </m:r>
                              </m:e>
                            </m:mr>
                            <m:mr>
                              <m:e>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2</m:t>
                                    </m:r>
                                  </m:sub>
                                </m:sSub>
                              </m:e>
                            </m:mr>
                            <m:mr>
                              <m:e>
                                <m:r>
                                  <a:rPr lang="zh-CN" altLang="en-US" i="1">
                                    <a:solidFill>
                                      <a:srgbClr val="000000"/>
                                    </a:solidFill>
                                    <a:latin typeface="Cambria Math" panose="02040503050406030204" pitchFamily="18" charset="0"/>
                                  </a:rPr>
                                  <m:t>0</m:t>
                                </m:r>
                              </m:e>
                            </m:mr>
                          </m:m>
                        </m:e>
                      </m:d>
                    </m:oMath>
                  </m:oMathPara>
                </a14:m>
                <a:endParaRPr lang="zh-CN" altLang="en-US" dirty="0"/>
              </a:p>
            </p:txBody>
          </p:sp>
        </mc:Choice>
        <mc:Fallback>
          <p:sp>
            <p:nvSpPr>
              <p:cNvPr id="26" name="对象 2">
                <a:extLst>
                  <a:ext uri="{FF2B5EF4-FFF2-40B4-BE49-F238E27FC236}">
                    <a16:creationId xmlns:a16="http://schemas.microsoft.com/office/drawing/2014/main" id="{BBBC6549-356B-45AF-459E-2A8D155171B1}"/>
                  </a:ext>
                </a:extLst>
              </p:cNvPr>
              <p:cNvSpPr txBox="1">
                <a:spLocks noRot="1" noChangeAspect="1" noMove="1" noResize="1" noEditPoints="1" noAdjustHandles="1" noChangeArrowheads="1" noChangeShapeType="1" noTextEdit="1"/>
              </p:cNvSpPr>
              <p:nvPr/>
            </p:nvSpPr>
            <p:spPr bwMode="auto">
              <a:xfrm>
                <a:off x="1530349" y="4686300"/>
                <a:ext cx="8374062" cy="1670050"/>
              </a:xfrm>
              <a:prstGeom prst="rect">
                <a:avLst/>
              </a:prstGeom>
              <a:blipFill>
                <a:blip r:embed="rId6"/>
                <a:stretch>
                  <a:fillRect/>
                </a:stretch>
              </a:blipFill>
              <a:ln>
                <a:solidFill>
                  <a:schemeClr val="bg1"/>
                </a:solidFill>
              </a:ln>
            </p:spPr>
            <p:txBody>
              <a:bodyPr/>
              <a:lstStyle/>
              <a:p>
                <a:r>
                  <a:rPr lang="zh-CN" altLang="en-US">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ED67375-653E-FCBD-C911-BCE925FE0B9D}"/>
              </a:ext>
            </a:extLst>
          </p:cNvPr>
          <p:cNvSpPr txBox="1"/>
          <p:nvPr>
            <p:custDataLst>
              <p:tags r:id="rId1"/>
            </p:custDataLst>
          </p:nvPr>
        </p:nvSpPr>
        <p:spPr>
          <a:xfrm>
            <a:off x="1395413" y="109635"/>
            <a:ext cx="4064000"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7.2.1</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机器人动力学模型</a:t>
            </a:r>
          </a:p>
        </p:txBody>
      </p:sp>
      <p:sp>
        <p:nvSpPr>
          <p:cNvPr id="3" name="文本框 2">
            <a:extLst>
              <a:ext uri="{FF2B5EF4-FFF2-40B4-BE49-F238E27FC236}">
                <a16:creationId xmlns:a16="http://schemas.microsoft.com/office/drawing/2014/main" id="{54919601-D3FF-B093-B6AB-664F954BAE26}"/>
              </a:ext>
            </a:extLst>
          </p:cNvPr>
          <p:cNvSpPr txBox="1"/>
          <p:nvPr/>
        </p:nvSpPr>
        <p:spPr>
          <a:xfrm>
            <a:off x="1395413" y="1101555"/>
            <a:ext cx="7554912" cy="400110"/>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rPr>
              <a:t>其中，</a:t>
            </a:r>
          </a:p>
        </p:txBody>
      </p:sp>
      <mc:AlternateContent xmlns:mc="http://schemas.openxmlformats.org/markup-compatibility/2006">
        <mc:Choice xmlns:a14="http://schemas.microsoft.com/office/drawing/2010/main" Requires="a14">
          <p:sp>
            <p:nvSpPr>
              <p:cNvPr id="4" name="对象 3">
                <a:extLst>
                  <a:ext uri="{FF2B5EF4-FFF2-40B4-BE49-F238E27FC236}">
                    <a16:creationId xmlns:a16="http://schemas.microsoft.com/office/drawing/2014/main" id="{928FA5A9-7CCE-F912-0DD6-C0CE270DD1F8}"/>
                  </a:ext>
                </a:extLst>
              </p:cNvPr>
              <p:cNvSpPr txBox="1"/>
              <p:nvPr/>
            </p:nvSpPr>
            <p:spPr bwMode="auto">
              <a:xfrm>
                <a:off x="2124075" y="1510944"/>
                <a:ext cx="8672512" cy="655131"/>
              </a:xfrm>
              <a:prstGeom prst="rect">
                <a:avLst/>
              </a:prstGeom>
              <a:solidFill>
                <a:schemeClr val="bg1"/>
              </a:solidFill>
              <a:ln>
                <a:solidFill>
                  <a:schemeClr val="bg1"/>
                </a:solidFill>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000" b="1" i="1" smtClean="0">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sSubSup>
                        <m:sSubSupPr>
                          <m:ctrlPr>
                            <a:rPr lang="zh-CN" altLang="zh-CN" sz="2000" b="1" i="1">
                              <a:solidFill>
                                <a:srgbClr val="000000"/>
                              </a:solidFill>
                              <a:latin typeface="Cambria Math" panose="02040503050406030204" pitchFamily="18" charset="0"/>
                            </a:rPr>
                          </m:ctrlPr>
                        </m:sSubSupPr>
                        <m:e>
                          <m:r>
                            <a:rPr lang="en-US" altLang="zh-CN" sz="2000" b="1" i="1">
                              <a:solidFill>
                                <a:srgbClr val="000000"/>
                              </a:solidFill>
                              <a:latin typeface="Cambria Math" panose="02040503050406030204" pitchFamily="18" charset="0"/>
                            </a:rPr>
                            <m:t>𝒄</m:t>
                          </m:r>
                        </m:e>
                        <m:sub>
                          <m:r>
                            <a:rPr lang="en-US" altLang="zh-CN" sz="2000" b="1" i="1">
                              <a:solidFill>
                                <a:srgbClr val="000000"/>
                              </a:solidFill>
                              <a:latin typeface="Cambria Math" panose="02040503050406030204" pitchFamily="18" charset="0"/>
                            </a:rPr>
                            <m:t>𝟐𝟑</m:t>
                          </m:r>
                        </m:sub>
                        <m:sup>
                          <m:r>
                            <a:rPr lang="en-US" altLang="zh-CN" sz="2000" b="1" i="1">
                              <a:solidFill>
                                <a:srgbClr val="000000"/>
                              </a:solidFill>
                              <a:latin typeface="Cambria Math" panose="02040503050406030204" pitchFamily="18" charset="0"/>
                            </a:rPr>
                            <m:t>𝟐</m:t>
                          </m:r>
                        </m:sup>
                      </m:sSubSup>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𝟐</m:t>
                      </m:r>
                      <m:sSub>
                        <m:sSubPr>
                          <m:ctrlPr>
                            <a:rPr lang="zh-CN" altLang="en-US" sz="2000" b="1" i="1">
                              <a:solidFill>
                                <a:srgbClr val="000000"/>
                              </a:solidFill>
                              <a:latin typeface="Cambria Math" panose="02040503050406030204" pitchFamily="18" charset="0"/>
                            </a:rPr>
                          </m:ctrlPr>
                        </m:sSubPr>
                        <m:e>
                          <m:r>
                            <a:rPr lang="en-US" altLang="zh-CN" sz="2000" b="1" i="1">
                              <a:solidFill>
                                <a:srgbClr val="000000"/>
                              </a:solidFill>
                              <a:latin typeface="Cambria Math" panose="02040503050406030204" pitchFamily="18" charset="0"/>
                            </a:rPr>
                            <m:t>𝒄</m:t>
                          </m:r>
                        </m:e>
                        <m:sub>
                          <m:r>
                            <a:rPr lang="zh-CN" altLang="en-US" sz="2000" b="1" i="1">
                              <a:solidFill>
                                <a:srgbClr val="000000"/>
                              </a:solidFill>
                              <a:latin typeface="Cambria Math" panose="02040503050406030204" pitchFamily="18" charset="0"/>
                            </a:rPr>
                            <m:t>𝟐</m:t>
                          </m:r>
                          <m:r>
                            <a:rPr lang="en-US" altLang="zh-CN" sz="2000" b="1" i="1">
                              <a:solidFill>
                                <a:srgbClr val="000000"/>
                              </a:solidFill>
                              <a:latin typeface="Cambria Math" panose="02040503050406030204" pitchFamily="18" charset="0"/>
                            </a:rPr>
                            <m:t>𝟑</m:t>
                          </m:r>
                        </m:sub>
                      </m:sSub>
                      <m:sSub>
                        <m:sSubPr>
                          <m:ctrlPr>
                            <a:rPr lang="zh-CN" altLang="en-US" sz="2000" b="1" i="1">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a:rPr lang="zh-CN" altLang="en-US" sz="2000" b="1" i="1">
                              <a:solidFill>
                                <a:srgbClr val="000000"/>
                              </a:solidFill>
                              <a:latin typeface="Cambria Math" panose="02040503050406030204" pitchFamily="18" charset="0"/>
                            </a:rPr>
                            <m:t>𝟐</m:t>
                          </m:r>
                          <m:r>
                            <a:rPr lang="en-US" altLang="zh-CN" sz="2000" b="1" i="1">
                              <a:solidFill>
                                <a:srgbClr val="000000"/>
                              </a:solidFill>
                              <a:latin typeface="Cambria Math" panose="02040503050406030204" pitchFamily="18" charset="0"/>
                            </a:rPr>
                            <m:t>𝟑</m:t>
                          </m:r>
                        </m:sub>
                      </m:sSub>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𝟏</m:t>
                          </m:r>
                        </m:sub>
                      </m:sSub>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𝟐</m:t>
                          </m:r>
                        </m:sub>
                      </m:sSub>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𝟏</m:t>
                          </m:r>
                        </m:sub>
                      </m:sSub>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𝟑</m:t>
                          </m:r>
                        </m:sub>
                      </m:sSub>
                      <m:r>
                        <a:rPr lang="zh-CN" altLang="en-US" sz="2000" b="1" i="1">
                          <a:solidFill>
                            <a:srgbClr val="000000"/>
                          </a:solidFill>
                          <a:latin typeface="Cambria Math" panose="02040503050406030204" pitchFamily="18" charset="0"/>
                        </a:rPr>
                        <m:t>)</m:t>
                      </m:r>
                    </m:oMath>
                  </m:oMathPara>
                </a14:m>
                <a:endParaRPr lang="zh-CN" altLang="en-US" sz="2000" b="1" i="1" dirty="0">
                  <a:solidFill>
                    <a:srgbClr val="000000"/>
                  </a:solidFill>
                  <a:latin typeface="Cambria Math" panose="02040503050406030204" pitchFamily="18" charset="0"/>
                </a:endParaRPr>
              </a:p>
            </p:txBody>
          </p:sp>
        </mc:Choice>
        <mc:Fallback>
          <p:sp>
            <p:nvSpPr>
              <p:cNvPr id="4" name="对象 3">
                <a:extLst>
                  <a:ext uri="{FF2B5EF4-FFF2-40B4-BE49-F238E27FC236}">
                    <a16:creationId xmlns:a16="http://schemas.microsoft.com/office/drawing/2014/main" id="{928FA5A9-7CCE-F912-0DD6-C0CE270DD1F8}"/>
                  </a:ext>
                </a:extLst>
              </p:cNvPr>
              <p:cNvSpPr txBox="1">
                <a:spLocks noRot="1" noChangeAspect="1" noMove="1" noResize="1" noEditPoints="1" noAdjustHandles="1" noChangeArrowheads="1" noChangeShapeType="1" noTextEdit="1"/>
              </p:cNvSpPr>
              <p:nvPr/>
            </p:nvSpPr>
            <p:spPr bwMode="auto">
              <a:xfrm>
                <a:off x="2124075" y="1510944"/>
                <a:ext cx="8672512" cy="655131"/>
              </a:xfrm>
              <a:prstGeom prst="rect">
                <a:avLst/>
              </a:prstGeom>
              <a:blipFill>
                <a:blip r:embed="rId3"/>
                <a:stretch>
                  <a:fillRect/>
                </a:stretch>
              </a:blipFill>
              <a:ln>
                <a:solidFill>
                  <a:schemeClr val="bg1"/>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对象 4">
                <a:extLst>
                  <a:ext uri="{FF2B5EF4-FFF2-40B4-BE49-F238E27FC236}">
                    <a16:creationId xmlns:a16="http://schemas.microsoft.com/office/drawing/2014/main" id="{B0F96A1E-B63F-F694-186F-5E6B65ADC1E6}"/>
                  </a:ext>
                </a:extLst>
              </p:cNvPr>
              <p:cNvSpPr txBox="1"/>
              <p:nvPr/>
            </p:nvSpPr>
            <p:spPr bwMode="auto">
              <a:xfrm>
                <a:off x="2124075" y="1976989"/>
                <a:ext cx="4996656" cy="448148"/>
              </a:xfrm>
              <a:prstGeom prst="rect">
                <a:avLst/>
              </a:prstGeom>
              <a:solidFill>
                <a:schemeClr val="bg1"/>
              </a:solidFill>
              <a:ln>
                <a:solidFill>
                  <a:schemeClr val="bg1"/>
                </a:solid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𝒙</m:t>
                          </m:r>
                        </m:e>
                        <m:sub>
                          <m:r>
                            <a:rPr lang="zh-CN" altLang="en-US" sz="2400" b="1" i="1">
                              <a:solidFill>
                                <a:srgbClr val="000000"/>
                              </a:solidFill>
                              <a:latin typeface="Cambria Math" panose="02040503050406030204" pitchFamily="18" charset="0"/>
                            </a:rPr>
                            <m:t>𝟐</m:t>
                          </m:r>
                        </m:sub>
                      </m:sSub>
                      <m:r>
                        <a:rPr lang="zh-CN" altLang="en-US" sz="2400" b="1" i="1">
                          <a:solidFill>
                            <a:srgbClr val="000000"/>
                          </a:solidFill>
                          <a:latin typeface="Cambria Math" panose="02040503050406030204" pitchFamily="18" charset="0"/>
                        </a:rPr>
                        <m:t>=</m:t>
                      </m:r>
                      <m:sSubSup>
                        <m:sSubSupPr>
                          <m:ctrlPr>
                            <a:rPr lang="zh-CN" altLang="zh-CN" sz="2400" b="1" i="1">
                              <a:solidFill>
                                <a:srgbClr val="000000"/>
                              </a:solidFill>
                              <a:latin typeface="Cambria Math" panose="02040503050406030204" pitchFamily="18" charset="0"/>
                            </a:rPr>
                          </m:ctrlPr>
                        </m:sSubSupPr>
                        <m:e>
                          <m:r>
                            <a:rPr lang="en-US" altLang="zh-CN" sz="2400" b="1" i="1">
                              <a:solidFill>
                                <a:srgbClr val="000000"/>
                              </a:solidFill>
                              <a:latin typeface="Cambria Math" panose="02040503050406030204" pitchFamily="18" charset="0"/>
                            </a:rPr>
                            <m:t>𝒄</m:t>
                          </m:r>
                        </m:e>
                        <m:sub>
                          <m:r>
                            <a:rPr lang="en-US" altLang="zh-CN" sz="2400" b="1" i="1">
                              <a:solidFill>
                                <a:srgbClr val="000000"/>
                              </a:solidFill>
                              <a:latin typeface="Cambria Math" panose="02040503050406030204" pitchFamily="18" charset="0"/>
                            </a:rPr>
                            <m:t>𝟐</m:t>
                          </m:r>
                        </m:sub>
                        <m:sup>
                          <m:r>
                            <a:rPr lang="en-US" altLang="zh-CN" sz="2400" b="1" i="1">
                              <a:solidFill>
                                <a:srgbClr val="000000"/>
                              </a:solidFill>
                              <a:latin typeface="Cambria Math" panose="02040503050406030204" pitchFamily="18" charset="0"/>
                            </a:rPr>
                            <m:t>𝟐</m:t>
                          </m:r>
                        </m:sup>
                      </m:sSubSup>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b>
                          <m:r>
                            <a:rPr lang="zh-CN" altLang="en-US" sz="2400" b="1" i="1">
                              <a:solidFill>
                                <a:srgbClr val="000000"/>
                              </a:solidFill>
                              <a:latin typeface="Cambria Math" panose="02040503050406030204" pitchFamily="18" charset="0"/>
                            </a:rPr>
                            <m:t>𝟏</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𝟐</m:t>
                      </m:r>
                      <m:sSub>
                        <m:sSubPr>
                          <m:ctrlPr>
                            <a:rPr lang="zh-CN" altLang="en-US" sz="2400" b="1" i="1">
                              <a:solidFill>
                                <a:srgbClr val="000000"/>
                              </a:solidFill>
                              <a:latin typeface="Cambria Math" panose="02040503050406030204" pitchFamily="18" charset="0"/>
                            </a:rPr>
                          </m:ctrlPr>
                        </m:sSubPr>
                        <m:e>
                          <m:r>
                            <a:rPr lang="en-US" altLang="zh-CN" sz="2400" b="1" i="1">
                              <a:solidFill>
                                <a:srgbClr val="000000"/>
                              </a:solidFill>
                              <a:latin typeface="Cambria Math" panose="02040503050406030204" pitchFamily="18" charset="0"/>
                            </a:rPr>
                            <m:t>𝒄</m:t>
                          </m:r>
                        </m:e>
                        <m:sub>
                          <m:r>
                            <a:rPr lang="zh-CN" altLang="en-US" sz="2400" b="1" i="1">
                              <a:solidFill>
                                <a:srgbClr val="000000"/>
                              </a:solidFill>
                              <a:latin typeface="Cambria Math" panose="02040503050406030204" pitchFamily="18" charset="0"/>
                            </a:rPr>
                            <m:t>𝟐</m:t>
                          </m:r>
                        </m:sub>
                      </m:sSub>
                      <m:func>
                        <m:funcPr>
                          <m:ctrlPr>
                            <a:rPr lang="zh-CN" altLang="en-US" sz="2400" b="1" i="1">
                              <a:solidFill>
                                <a:srgbClr val="000000"/>
                              </a:solidFill>
                              <a:latin typeface="Cambria Math" panose="02040503050406030204" pitchFamily="18" charset="0"/>
                            </a:rPr>
                          </m:ctrlPr>
                        </m:funcPr>
                        <m:fName>
                          <m:r>
                            <a:rPr lang="zh-CN" altLang="en-US" sz="2400" b="1" i="0">
                              <a:solidFill>
                                <a:srgbClr val="000000"/>
                              </a:solidFill>
                              <a:latin typeface="Cambria Math" panose="02040503050406030204" pitchFamily="18" charset="0"/>
                            </a:rPr>
                            <m:t>𝐬𝐢𝐧</m:t>
                          </m:r>
                        </m:fName>
                        <m:e>
                          <m:r>
                            <a:rPr lang="zh-CN" altLang="en-US" sz="2400" b="1" i="1">
                              <a:solidFill>
                                <a:srgbClr val="000000"/>
                              </a:solidFill>
                              <a:latin typeface="Cambria Math" panose="02040503050406030204" pitchFamily="18" charset="0"/>
                            </a:rPr>
                            <m:t>(</m:t>
                          </m:r>
                        </m:e>
                      </m:func>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𝒒</m:t>
                          </m:r>
                        </m:e>
                        <m:sub>
                          <m:r>
                            <a:rPr lang="zh-CN" altLang="en-US" sz="2400" b="1" i="1">
                              <a:solidFill>
                                <a:srgbClr val="000000"/>
                              </a:solidFill>
                              <a:latin typeface="Cambria Math" panose="02040503050406030204" pitchFamily="18" charset="0"/>
                            </a:rPr>
                            <m:t>𝟐</m:t>
                          </m:r>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b>
                          <m:r>
                            <a:rPr lang="zh-CN" altLang="en-US" sz="2400" b="1" i="1">
                              <a:solidFill>
                                <a:srgbClr val="000000"/>
                              </a:solidFill>
                              <a:latin typeface="Cambria Math" panose="02040503050406030204" pitchFamily="18" charset="0"/>
                            </a:rPr>
                            <m:t>𝟏</m:t>
                          </m:r>
                        </m:sub>
                      </m:sSub>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b>
                          <m:r>
                            <a:rPr lang="zh-CN" altLang="en-US" sz="2400" b="1" i="1">
                              <a:solidFill>
                                <a:srgbClr val="000000"/>
                              </a:solidFill>
                              <a:latin typeface="Cambria Math" panose="02040503050406030204" pitchFamily="18" charset="0"/>
                            </a:rPr>
                            <m:t>𝟐</m:t>
                          </m:r>
                        </m:sub>
                      </m:sSub>
                    </m:oMath>
                  </m:oMathPara>
                </a14:m>
                <a:endParaRPr lang="zh-CN" altLang="en-US" sz="2400" b="1" dirty="0"/>
              </a:p>
            </p:txBody>
          </p:sp>
        </mc:Choice>
        <mc:Fallback>
          <p:sp>
            <p:nvSpPr>
              <p:cNvPr id="5" name="对象 4">
                <a:extLst>
                  <a:ext uri="{FF2B5EF4-FFF2-40B4-BE49-F238E27FC236}">
                    <a16:creationId xmlns:a16="http://schemas.microsoft.com/office/drawing/2014/main" id="{B0F96A1E-B63F-F694-186F-5E6B65ADC1E6}"/>
                  </a:ext>
                </a:extLst>
              </p:cNvPr>
              <p:cNvSpPr txBox="1">
                <a:spLocks noRot="1" noChangeAspect="1" noMove="1" noResize="1" noEditPoints="1" noAdjustHandles="1" noChangeArrowheads="1" noChangeShapeType="1" noTextEdit="1"/>
              </p:cNvSpPr>
              <p:nvPr/>
            </p:nvSpPr>
            <p:spPr bwMode="auto">
              <a:xfrm>
                <a:off x="2124075" y="1976989"/>
                <a:ext cx="4996656" cy="448148"/>
              </a:xfrm>
              <a:prstGeom prst="rect">
                <a:avLst/>
              </a:prstGeom>
              <a:blipFill>
                <a:blip r:embed="rId4"/>
                <a:stretch>
                  <a:fillRect b="-5263"/>
                </a:stretch>
              </a:blipFill>
              <a:ln>
                <a:solidFill>
                  <a:schemeClr val="bg1"/>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对象 5">
                <a:extLst>
                  <a:ext uri="{FF2B5EF4-FFF2-40B4-BE49-F238E27FC236}">
                    <a16:creationId xmlns:a16="http://schemas.microsoft.com/office/drawing/2014/main" id="{31325530-CE8E-440F-467E-A62A8BC72883}"/>
                  </a:ext>
                </a:extLst>
              </p:cNvPr>
              <p:cNvSpPr txBox="1"/>
              <p:nvPr/>
            </p:nvSpPr>
            <p:spPr bwMode="auto">
              <a:xfrm>
                <a:off x="2124075" y="2445605"/>
                <a:ext cx="8478837" cy="951588"/>
              </a:xfrm>
              <a:prstGeom prst="rect">
                <a:avLst/>
              </a:prstGeom>
              <a:solidFill>
                <a:schemeClr val="bg1"/>
              </a:solidFill>
              <a:ln>
                <a:solidFill>
                  <a:schemeClr val="bg1"/>
                </a:solidFill>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000" b="1" i="1" smtClean="0">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𝟑</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𝟐</m:t>
                      </m:r>
                      <m:sSub>
                        <m:sSubPr>
                          <m:ctrlPr>
                            <a:rPr lang="zh-CN" altLang="en-US" sz="2000" b="1" i="1">
                              <a:solidFill>
                                <a:srgbClr val="000000"/>
                              </a:solidFill>
                              <a:latin typeface="Cambria Math" panose="02040503050406030204" pitchFamily="18" charset="0"/>
                            </a:rPr>
                          </m:ctrlPr>
                        </m:sSubPr>
                        <m:e>
                          <m:r>
                            <a:rPr lang="en-US" altLang="zh-CN" sz="2000" b="1" i="1">
                              <a:solidFill>
                                <a:srgbClr val="000000"/>
                              </a:solidFill>
                              <a:latin typeface="Cambria Math" panose="02040503050406030204" pitchFamily="18" charset="0"/>
                            </a:rPr>
                            <m:t>𝒄</m:t>
                          </m:r>
                        </m:e>
                        <m:sub>
                          <m:r>
                            <a:rPr lang="zh-CN" altLang="en-US" sz="2000" b="1" i="1">
                              <a:solidFill>
                                <a:srgbClr val="000000"/>
                              </a:solidFill>
                              <a:latin typeface="Cambria Math" panose="02040503050406030204" pitchFamily="18" charset="0"/>
                            </a:rPr>
                            <m:t>𝟐</m:t>
                          </m:r>
                          <m:r>
                            <a:rPr lang="en-US" altLang="zh-CN" sz="2000" b="1" i="1">
                              <a:solidFill>
                                <a:srgbClr val="000000"/>
                              </a:solidFill>
                              <a:latin typeface="Cambria Math" panose="02040503050406030204" pitchFamily="18" charset="0"/>
                            </a:rPr>
                            <m:t>𝟑</m:t>
                          </m:r>
                        </m:sub>
                      </m:sSub>
                      <m:sSub>
                        <m:sSubPr>
                          <m:ctrlPr>
                            <a:rPr lang="zh-CN" altLang="en-US" sz="2000" b="1" i="1">
                              <a:solidFill>
                                <a:srgbClr val="000000"/>
                              </a:solidFill>
                              <a:latin typeface="Cambria Math" panose="02040503050406030204" pitchFamily="18" charset="0"/>
                            </a:rPr>
                          </m:ctrlPr>
                        </m:sSubPr>
                        <m:e>
                          <m:r>
                            <a:rPr lang="en-US" altLang="zh-CN" sz="2000" b="1" i="1">
                              <a:solidFill>
                                <a:srgbClr val="000000"/>
                              </a:solidFill>
                              <a:latin typeface="Cambria Math" panose="02040503050406030204" pitchFamily="18" charset="0"/>
                            </a:rPr>
                            <m:t>𝒄</m:t>
                          </m:r>
                        </m:e>
                        <m:sub>
                          <m:r>
                            <a:rPr lang="zh-CN" altLang="en-US" sz="2000" b="1" i="1">
                              <a:solidFill>
                                <a:srgbClr val="000000"/>
                              </a:solidFill>
                              <a:latin typeface="Cambria Math" panose="02040503050406030204" pitchFamily="18" charset="0"/>
                            </a:rPr>
                            <m:t>𝟐</m:t>
                          </m:r>
                        </m:sub>
                      </m:sSub>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𝟐</m:t>
                      </m:r>
                      <m:sSub>
                        <m:sSubPr>
                          <m:ctrlPr>
                            <a:rPr lang="zh-CN" altLang="en-US" sz="2000" b="1" i="1">
                              <a:solidFill>
                                <a:srgbClr val="000000"/>
                              </a:solidFill>
                              <a:latin typeface="Cambria Math" panose="02040503050406030204" pitchFamily="18" charset="0"/>
                            </a:rPr>
                          </m:ctrlPr>
                        </m:sSubPr>
                        <m:e>
                          <m:r>
                            <a:rPr lang="en-US" altLang="zh-CN" sz="2000" b="1" i="1">
                              <a:solidFill>
                                <a:srgbClr val="000000"/>
                              </a:solidFill>
                              <a:latin typeface="Cambria Math" panose="02040503050406030204" pitchFamily="18" charset="0"/>
                            </a:rPr>
                            <m:t>𝒄</m:t>
                          </m:r>
                        </m:e>
                        <m:sub>
                          <m:r>
                            <a:rPr lang="zh-CN" altLang="en-US" sz="2000" b="1" i="1">
                              <a:solidFill>
                                <a:srgbClr val="000000"/>
                              </a:solidFill>
                              <a:latin typeface="Cambria Math" panose="02040503050406030204" pitchFamily="18" charset="0"/>
                            </a:rPr>
                            <m:t>𝟐</m:t>
                          </m:r>
                          <m:r>
                            <a:rPr lang="en-US" altLang="zh-CN" sz="2000" b="1" i="1">
                              <a:solidFill>
                                <a:srgbClr val="000000"/>
                              </a:solidFill>
                              <a:latin typeface="Cambria Math" panose="02040503050406030204" pitchFamily="18" charset="0"/>
                            </a:rPr>
                            <m:t>𝟑</m:t>
                          </m:r>
                        </m:sub>
                      </m:sSub>
                      <m:sSub>
                        <m:sSubPr>
                          <m:ctrlPr>
                            <a:rPr lang="zh-CN" altLang="en-US" sz="2000" b="1" i="1">
                              <a:solidFill>
                                <a:srgbClr val="000000"/>
                              </a:solidFill>
                              <a:latin typeface="Cambria Math" panose="02040503050406030204" pitchFamily="18" charset="0"/>
                            </a:rPr>
                          </m:ctrlPr>
                        </m:sSubPr>
                        <m:e>
                          <m:r>
                            <a:rPr lang="en-US" altLang="zh-CN" sz="2000" b="1" i="1">
                              <a:solidFill>
                                <a:srgbClr val="000000"/>
                              </a:solidFill>
                              <a:latin typeface="Cambria Math" panose="02040503050406030204" pitchFamily="18" charset="0"/>
                            </a:rPr>
                            <m:t>𝒔</m:t>
                          </m:r>
                        </m:e>
                        <m:sub>
                          <m:r>
                            <a:rPr lang="zh-CN" altLang="en-US" sz="2000" b="1" i="1">
                              <a:solidFill>
                                <a:srgbClr val="000000"/>
                              </a:solidFill>
                              <a:latin typeface="Cambria Math" panose="02040503050406030204" pitchFamily="18" charset="0"/>
                            </a:rPr>
                            <m:t>𝟐</m:t>
                          </m:r>
                        </m:sub>
                      </m:sSub>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𝟏</m:t>
                          </m:r>
                        </m:sub>
                      </m:sSub>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𝟐</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𝟐</m:t>
                      </m:r>
                      <m:sSub>
                        <m:sSubPr>
                          <m:ctrlPr>
                            <a:rPr lang="zh-CN" altLang="en-US" sz="2000" b="1" i="1">
                              <a:solidFill>
                                <a:srgbClr val="000000"/>
                              </a:solidFill>
                              <a:latin typeface="Cambria Math" panose="02040503050406030204" pitchFamily="18" charset="0"/>
                            </a:rPr>
                          </m:ctrlPr>
                        </m:sSubPr>
                        <m:e>
                          <m:r>
                            <a:rPr lang="en-US" altLang="zh-CN" sz="2000" b="1" i="1">
                              <a:solidFill>
                                <a:srgbClr val="000000"/>
                              </a:solidFill>
                              <a:latin typeface="Cambria Math" panose="02040503050406030204" pitchFamily="18" charset="0"/>
                            </a:rPr>
                            <m:t>𝒔</m:t>
                          </m:r>
                        </m:e>
                        <m:sub>
                          <m:r>
                            <a:rPr lang="zh-CN" altLang="en-US" sz="2000" b="1" i="1">
                              <a:solidFill>
                                <a:srgbClr val="000000"/>
                              </a:solidFill>
                              <a:latin typeface="Cambria Math" panose="02040503050406030204" pitchFamily="18" charset="0"/>
                            </a:rPr>
                            <m:t>𝟐</m:t>
                          </m:r>
                          <m:r>
                            <a:rPr lang="en-US" altLang="zh-CN" sz="2000" b="1" i="1">
                              <a:solidFill>
                                <a:srgbClr val="000000"/>
                              </a:solidFill>
                              <a:latin typeface="Cambria Math" panose="02040503050406030204" pitchFamily="18" charset="0"/>
                            </a:rPr>
                            <m:t>𝟑</m:t>
                          </m:r>
                        </m:sub>
                      </m:sSub>
                      <m:sSub>
                        <m:sSubPr>
                          <m:ctrlPr>
                            <a:rPr lang="zh-CN" altLang="en-US" sz="2000" b="1" i="1">
                              <a:solidFill>
                                <a:srgbClr val="000000"/>
                              </a:solidFill>
                              <a:latin typeface="Cambria Math" panose="02040503050406030204" pitchFamily="18" charset="0"/>
                            </a:rPr>
                          </m:ctrlPr>
                        </m:sSubPr>
                        <m:e>
                          <m:r>
                            <a:rPr lang="en-US" altLang="zh-CN" sz="2000" b="1" i="1">
                              <a:solidFill>
                                <a:srgbClr val="000000"/>
                              </a:solidFill>
                              <a:latin typeface="Cambria Math" panose="02040503050406030204" pitchFamily="18" charset="0"/>
                            </a:rPr>
                            <m:t>𝒄</m:t>
                          </m:r>
                        </m:e>
                        <m:sub>
                          <m:r>
                            <a:rPr lang="zh-CN" altLang="en-US" sz="2000" b="1" i="1">
                              <a:solidFill>
                                <a:srgbClr val="000000"/>
                              </a:solidFill>
                              <a:latin typeface="Cambria Math" panose="02040503050406030204" pitchFamily="18" charset="0"/>
                            </a:rPr>
                            <m:t>𝟐</m:t>
                          </m:r>
                        </m:sub>
                      </m:sSub>
                      <m:r>
                        <a:rPr lang="en-US" altLang="zh-CN" sz="2000" b="1" i="1" smtClean="0">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𝟏</m:t>
                          </m:r>
                        </m:sub>
                      </m:sSub>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𝟐</m:t>
                          </m:r>
                        </m:sub>
                      </m:sSub>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𝟏</m:t>
                          </m:r>
                        </m:sub>
                      </m:sSub>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𝟑</m:t>
                          </m:r>
                        </m:sub>
                      </m:sSub>
                      <m:r>
                        <a:rPr lang="zh-CN" altLang="en-US" sz="2000" b="1" i="1">
                          <a:solidFill>
                            <a:srgbClr val="000000"/>
                          </a:solidFill>
                          <a:latin typeface="Cambria Math" panose="02040503050406030204" pitchFamily="18" charset="0"/>
                        </a:rPr>
                        <m:t>)</m:t>
                      </m:r>
                    </m:oMath>
                  </m:oMathPara>
                </a14:m>
                <a:endParaRPr lang="zh-CN" altLang="en-US" sz="2000" b="1" dirty="0"/>
              </a:p>
            </p:txBody>
          </p:sp>
        </mc:Choice>
        <mc:Fallback>
          <p:sp>
            <p:nvSpPr>
              <p:cNvPr id="6" name="对象 5">
                <a:extLst>
                  <a:ext uri="{FF2B5EF4-FFF2-40B4-BE49-F238E27FC236}">
                    <a16:creationId xmlns:a16="http://schemas.microsoft.com/office/drawing/2014/main" id="{31325530-CE8E-440F-467E-A62A8BC72883}"/>
                  </a:ext>
                </a:extLst>
              </p:cNvPr>
              <p:cNvSpPr txBox="1">
                <a:spLocks noRot="1" noChangeAspect="1" noMove="1" noResize="1" noEditPoints="1" noAdjustHandles="1" noChangeArrowheads="1" noChangeShapeType="1" noTextEdit="1"/>
              </p:cNvSpPr>
              <p:nvPr/>
            </p:nvSpPr>
            <p:spPr bwMode="auto">
              <a:xfrm>
                <a:off x="2124075" y="2445605"/>
                <a:ext cx="8478837" cy="951588"/>
              </a:xfrm>
              <a:prstGeom prst="rect">
                <a:avLst/>
              </a:prstGeom>
              <a:blipFill>
                <a:blip r:embed="rId5"/>
                <a:stretch>
                  <a:fillRect/>
                </a:stretch>
              </a:blipFill>
              <a:ln>
                <a:solidFill>
                  <a:schemeClr val="bg1"/>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对象 9">
                <a:extLst>
                  <a:ext uri="{FF2B5EF4-FFF2-40B4-BE49-F238E27FC236}">
                    <a16:creationId xmlns:a16="http://schemas.microsoft.com/office/drawing/2014/main" id="{116CE194-43E2-3462-84B0-2AB28BE710F1}"/>
                  </a:ext>
                </a:extLst>
              </p:cNvPr>
              <p:cNvSpPr txBox="1"/>
              <p:nvPr/>
            </p:nvSpPr>
            <p:spPr bwMode="auto">
              <a:xfrm>
                <a:off x="2124075" y="2994370"/>
                <a:ext cx="5354637" cy="461963"/>
              </a:xfrm>
              <a:prstGeom prst="rect">
                <a:avLst/>
              </a:prstGeom>
              <a:solidFill>
                <a:schemeClr val="bg1"/>
              </a:solidFill>
              <a:ln>
                <a:solidFill>
                  <a:schemeClr val="bg1"/>
                </a:solidFill>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𝟒</m:t>
                          </m:r>
                        </m:sub>
                      </m:sSub>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𝟐</m:t>
                          </m:r>
                        </m:sub>
                      </m:sSub>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en-US" altLang="zh-CN" sz="2000" b="1" i="1">
                              <a:solidFill>
                                <a:srgbClr val="000000"/>
                              </a:solidFill>
                              <a:latin typeface="Cambria Math" panose="02040503050406030204" pitchFamily="18" charset="0"/>
                            </a:rPr>
                            <m:t>𝒄</m:t>
                          </m:r>
                        </m:e>
                        <m:sub>
                          <m:r>
                            <a:rPr lang="zh-CN" altLang="en-US" sz="2000" b="1" i="1">
                              <a:solidFill>
                                <a:srgbClr val="000000"/>
                              </a:solidFill>
                              <a:latin typeface="Cambria Math" panose="02040503050406030204" pitchFamily="18" charset="0"/>
                            </a:rPr>
                            <m:t>𝟐</m:t>
                          </m:r>
                          <m:r>
                            <a:rPr lang="en-US" altLang="zh-CN" sz="2000" b="1" i="1">
                              <a:solidFill>
                                <a:srgbClr val="000000"/>
                              </a:solidFill>
                              <a:latin typeface="Cambria Math" panose="02040503050406030204" pitchFamily="18" charset="0"/>
                            </a:rPr>
                            <m:t>𝟑</m:t>
                          </m:r>
                        </m:sub>
                      </m:sSub>
                      <m:sSub>
                        <m:sSubPr>
                          <m:ctrlPr>
                            <a:rPr lang="zh-CN" altLang="en-US" sz="2000" b="1" i="1">
                              <a:solidFill>
                                <a:srgbClr val="000000"/>
                              </a:solidFill>
                              <a:latin typeface="Cambria Math" panose="02040503050406030204" pitchFamily="18" charset="0"/>
                            </a:rPr>
                          </m:ctrlPr>
                        </m:sSubPr>
                        <m:e>
                          <m:r>
                            <a:rPr lang="en-US" altLang="zh-CN" sz="2000" b="1" i="1">
                              <a:solidFill>
                                <a:srgbClr val="000000"/>
                              </a:solidFill>
                              <a:latin typeface="Cambria Math" panose="02040503050406030204" pitchFamily="18" charset="0"/>
                            </a:rPr>
                            <m:t>𝒔</m:t>
                          </m:r>
                        </m:e>
                        <m:sub>
                          <m:r>
                            <a:rPr lang="zh-CN" altLang="en-US" sz="2000" b="1" i="1">
                              <a:solidFill>
                                <a:srgbClr val="000000"/>
                              </a:solidFill>
                              <a:latin typeface="Cambria Math" panose="02040503050406030204" pitchFamily="18" charset="0"/>
                            </a:rPr>
                            <m:t>𝟐</m:t>
                          </m:r>
                          <m:r>
                            <a:rPr lang="en-US" altLang="zh-CN" sz="2000" b="1" i="1">
                              <a:solidFill>
                                <a:srgbClr val="000000"/>
                              </a:solidFill>
                              <a:latin typeface="Cambria Math" panose="02040503050406030204" pitchFamily="18" charset="0"/>
                            </a:rPr>
                            <m:t>𝟑</m:t>
                          </m:r>
                        </m:sub>
                      </m:sSub>
                      <m:sSubSup>
                        <m:sSubSupPr>
                          <m:ctrlPr>
                            <a:rPr lang="zh-CN" altLang="en-US" sz="2000" b="1" i="1">
                              <a:solidFill>
                                <a:srgbClr val="000000"/>
                              </a:solidFill>
                              <a:latin typeface="Cambria Math" panose="02040503050406030204" pitchFamily="18" charset="0"/>
                            </a:rPr>
                          </m:ctrlPr>
                        </m:sSubSup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𝟏</m:t>
                          </m:r>
                        </m:sub>
                        <m:sup>
                          <m:r>
                            <a:rPr lang="zh-CN" altLang="en-US" sz="2000" b="1" i="1">
                              <a:solidFill>
                                <a:srgbClr val="000000"/>
                              </a:solidFill>
                              <a:latin typeface="Cambria Math" panose="02040503050406030204" pitchFamily="18" charset="0"/>
                            </a:rPr>
                            <m:t>𝟐</m:t>
                          </m:r>
                        </m:sup>
                      </m:sSubSup>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𝟑</m:t>
                          </m:r>
                        </m:sub>
                      </m:sSub>
                    </m:oMath>
                  </m:oMathPara>
                </a14:m>
                <a:endParaRPr lang="zh-CN" altLang="en-US" sz="2000" b="1" dirty="0">
                  <a:latin typeface="微软雅黑" panose="020B0503020204020204" pitchFamily="34" charset="-122"/>
                  <a:ea typeface="微软雅黑" panose="020B0503020204020204" pitchFamily="34" charset="-122"/>
                </a:endParaRPr>
              </a:p>
            </p:txBody>
          </p:sp>
        </mc:Choice>
        <mc:Fallback>
          <p:sp>
            <p:nvSpPr>
              <p:cNvPr id="7" name="对象 9">
                <a:extLst>
                  <a:ext uri="{FF2B5EF4-FFF2-40B4-BE49-F238E27FC236}">
                    <a16:creationId xmlns:a16="http://schemas.microsoft.com/office/drawing/2014/main" id="{116CE194-43E2-3462-84B0-2AB28BE710F1}"/>
                  </a:ext>
                </a:extLst>
              </p:cNvPr>
              <p:cNvSpPr txBox="1">
                <a:spLocks noRot="1" noChangeAspect="1" noMove="1" noResize="1" noEditPoints="1" noAdjustHandles="1" noChangeArrowheads="1" noChangeShapeType="1" noTextEdit="1"/>
              </p:cNvSpPr>
              <p:nvPr/>
            </p:nvSpPr>
            <p:spPr bwMode="auto">
              <a:xfrm>
                <a:off x="2124075" y="2994370"/>
                <a:ext cx="5354637" cy="461963"/>
              </a:xfrm>
              <a:prstGeom prst="rect">
                <a:avLst/>
              </a:prstGeom>
              <a:blipFill>
                <a:blip r:embed="rId6"/>
                <a:stretch>
                  <a:fillRect/>
                </a:stretch>
              </a:blipFill>
              <a:ln>
                <a:solidFill>
                  <a:schemeClr val="bg1"/>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对象 10">
                <a:extLst>
                  <a:ext uri="{FF2B5EF4-FFF2-40B4-BE49-F238E27FC236}">
                    <a16:creationId xmlns:a16="http://schemas.microsoft.com/office/drawing/2014/main" id="{2E066CAA-92F9-33FD-4A42-99A8FAC37850}"/>
                  </a:ext>
                </a:extLst>
              </p:cNvPr>
              <p:cNvSpPr txBox="1"/>
              <p:nvPr/>
            </p:nvSpPr>
            <p:spPr bwMode="auto">
              <a:xfrm>
                <a:off x="2124075" y="3534200"/>
                <a:ext cx="8572500" cy="767894"/>
              </a:xfrm>
              <a:prstGeom prst="rect">
                <a:avLst/>
              </a:prstGeom>
              <a:solidFill>
                <a:schemeClr val="bg1"/>
              </a:solidFill>
              <a:ln>
                <a:solidFill>
                  <a:schemeClr val="bg1"/>
                </a:solidFill>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000" b="1" i="1" smtClean="0">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𝟓</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𝟐</m:t>
                      </m:r>
                      <m:sSub>
                        <m:sSubPr>
                          <m:ctrlPr>
                            <a:rPr lang="zh-CN" altLang="en-US" sz="2000" b="1" i="1">
                              <a:solidFill>
                                <a:srgbClr val="000000"/>
                              </a:solidFill>
                              <a:latin typeface="Cambria Math" panose="02040503050406030204" pitchFamily="18" charset="0"/>
                            </a:rPr>
                          </m:ctrlPr>
                        </m:sSubPr>
                        <m:e>
                          <m:r>
                            <a:rPr lang="en-US" altLang="zh-CN" sz="2000" b="1" i="1">
                              <a:solidFill>
                                <a:srgbClr val="000000"/>
                              </a:solidFill>
                              <a:latin typeface="Cambria Math" panose="02040503050406030204" pitchFamily="18" charset="0"/>
                            </a:rPr>
                            <m:t>𝒄</m:t>
                          </m:r>
                        </m:e>
                        <m:sub>
                          <m:r>
                            <a:rPr lang="en-US" altLang="zh-CN" sz="2000" b="1" i="1" smtClean="0">
                              <a:solidFill>
                                <a:srgbClr val="000000"/>
                              </a:solidFill>
                              <a:latin typeface="Cambria Math" panose="02040503050406030204" pitchFamily="18" charset="0"/>
                            </a:rPr>
                            <m:t>𝟑</m:t>
                          </m:r>
                        </m:sub>
                      </m:sSub>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𝟐</m:t>
                          </m:r>
                        </m:sub>
                      </m:sSub>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en-US" altLang="zh-CN" sz="2000" b="1" i="1">
                              <a:solidFill>
                                <a:srgbClr val="000000"/>
                              </a:solidFill>
                              <a:latin typeface="Cambria Math" panose="02040503050406030204" pitchFamily="18" charset="0"/>
                            </a:rPr>
                            <m:t>𝒄</m:t>
                          </m:r>
                        </m:e>
                        <m:sub>
                          <m:r>
                            <a:rPr lang="zh-CN" altLang="en-US" sz="2000" b="1" i="1">
                              <a:solidFill>
                                <a:srgbClr val="000000"/>
                              </a:solidFill>
                              <a:latin typeface="Cambria Math" panose="02040503050406030204" pitchFamily="18" charset="0"/>
                            </a:rPr>
                            <m:t>𝟐</m:t>
                          </m:r>
                          <m:r>
                            <a:rPr lang="en-US" altLang="zh-CN" sz="2000" b="1" i="1">
                              <a:solidFill>
                                <a:srgbClr val="000000"/>
                              </a:solidFill>
                              <a:latin typeface="Cambria Math" panose="02040503050406030204" pitchFamily="18" charset="0"/>
                            </a:rPr>
                            <m:t>𝟑</m:t>
                          </m:r>
                        </m:sub>
                      </m:sSub>
                      <m:func>
                        <m:funcPr>
                          <m:ctrlPr>
                            <a:rPr lang="zh-CN" altLang="en-US" sz="2000" b="1" i="1">
                              <a:solidFill>
                                <a:srgbClr val="000000"/>
                              </a:solidFill>
                              <a:latin typeface="Cambria Math" panose="02040503050406030204" pitchFamily="18" charset="0"/>
                            </a:rPr>
                          </m:ctrlPr>
                        </m:funcPr>
                        <m:fName>
                          <m:r>
                            <a:rPr lang="zh-CN" altLang="en-US" sz="2000" b="1" i="0">
                              <a:solidFill>
                                <a:srgbClr val="000000"/>
                              </a:solidFill>
                              <a:latin typeface="Cambria Math" panose="02040503050406030204" pitchFamily="18" charset="0"/>
                            </a:rPr>
                            <m:t>𝐬𝐢𝐧</m:t>
                          </m:r>
                        </m:fName>
                        <m:e>
                          <m:r>
                            <a:rPr lang="zh-CN" altLang="en-US" sz="2000" b="1" i="1">
                              <a:solidFill>
                                <a:srgbClr val="000000"/>
                              </a:solidFill>
                              <a:latin typeface="Cambria Math" panose="02040503050406030204" pitchFamily="18" charset="0"/>
                            </a:rPr>
                            <m:t>(</m:t>
                          </m:r>
                        </m:e>
                      </m:func>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𝒒</m:t>
                          </m:r>
                        </m:e>
                        <m:sub>
                          <m:r>
                            <a:rPr lang="zh-CN" altLang="en-US" sz="2000" b="1" i="1">
                              <a:solidFill>
                                <a:srgbClr val="000000"/>
                              </a:solidFill>
                              <a:latin typeface="Cambria Math" panose="02040503050406030204" pitchFamily="18" charset="0"/>
                            </a:rPr>
                            <m:t>𝟐</m:t>
                          </m:r>
                        </m:sub>
                      </m:sSub>
                      <m:r>
                        <a:rPr lang="zh-CN" altLang="en-US" sz="2000" b="1" i="1">
                          <a:solidFill>
                            <a:srgbClr val="000000"/>
                          </a:solidFill>
                          <a:latin typeface="Cambria Math" panose="02040503050406030204" pitchFamily="18" charset="0"/>
                        </a:rPr>
                        <m:t>)</m:t>
                      </m:r>
                      <m:sSubSup>
                        <m:sSubSupPr>
                          <m:ctrlPr>
                            <a:rPr lang="zh-CN" altLang="en-US" sz="2000" b="1" i="1">
                              <a:solidFill>
                                <a:srgbClr val="000000"/>
                              </a:solidFill>
                              <a:latin typeface="Cambria Math" panose="02040503050406030204" pitchFamily="18" charset="0"/>
                            </a:rPr>
                          </m:ctrlPr>
                        </m:sSubSup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𝟏</m:t>
                          </m:r>
                        </m:sub>
                        <m:sup>
                          <m:r>
                            <a:rPr lang="zh-CN" altLang="en-US" sz="2000" b="1" i="1">
                              <a:solidFill>
                                <a:srgbClr val="000000"/>
                              </a:solidFill>
                              <a:latin typeface="Cambria Math" panose="02040503050406030204" pitchFamily="18" charset="0"/>
                            </a:rPr>
                            <m:t>𝟐</m:t>
                          </m:r>
                        </m:sup>
                      </m:sSubSup>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en-US" altLang="zh-CN" sz="2000" b="1" i="1">
                              <a:solidFill>
                                <a:srgbClr val="000000"/>
                              </a:solidFill>
                              <a:latin typeface="Cambria Math" panose="02040503050406030204" pitchFamily="18" charset="0"/>
                            </a:rPr>
                            <m:t>𝒔</m:t>
                          </m:r>
                        </m:e>
                        <m:sub>
                          <m:r>
                            <a:rPr lang="zh-CN" altLang="en-US" sz="2000" b="1" i="1">
                              <a:solidFill>
                                <a:srgbClr val="000000"/>
                              </a:solidFill>
                              <a:latin typeface="Cambria Math" panose="02040503050406030204" pitchFamily="18" charset="0"/>
                            </a:rPr>
                            <m:t>𝟐</m:t>
                          </m:r>
                          <m:r>
                            <a:rPr lang="en-US" altLang="zh-CN" sz="2000" b="1" i="1">
                              <a:solidFill>
                                <a:srgbClr val="000000"/>
                              </a:solidFill>
                              <a:latin typeface="Cambria Math" panose="02040503050406030204" pitchFamily="18" charset="0"/>
                            </a:rPr>
                            <m:t>𝟑</m:t>
                          </m:r>
                        </m:sub>
                      </m:sSub>
                      <m:sSub>
                        <m:sSubPr>
                          <m:ctrlPr>
                            <a:rPr lang="zh-CN" altLang="en-US" sz="2000" b="1" i="1">
                              <a:solidFill>
                                <a:srgbClr val="000000"/>
                              </a:solidFill>
                              <a:latin typeface="Cambria Math" panose="02040503050406030204" pitchFamily="18" charset="0"/>
                            </a:rPr>
                          </m:ctrlPr>
                        </m:sSubPr>
                        <m:e>
                          <m:r>
                            <a:rPr lang="en-US" altLang="zh-CN" sz="2000" b="1" i="1">
                              <a:solidFill>
                                <a:srgbClr val="000000"/>
                              </a:solidFill>
                              <a:latin typeface="Cambria Math" panose="02040503050406030204" pitchFamily="18" charset="0"/>
                            </a:rPr>
                            <m:t>𝒄</m:t>
                          </m:r>
                        </m:e>
                        <m:sub>
                          <m:r>
                            <a:rPr lang="zh-CN" altLang="en-US" sz="2000" b="1" i="1">
                              <a:solidFill>
                                <a:srgbClr val="000000"/>
                              </a:solidFill>
                              <a:latin typeface="Cambria Math" panose="02040503050406030204" pitchFamily="18" charset="0"/>
                            </a:rPr>
                            <m:t>𝟐</m:t>
                          </m:r>
                        </m:sub>
                      </m:sSub>
                      <m:sSubSup>
                        <m:sSubSupPr>
                          <m:ctrlPr>
                            <a:rPr lang="zh-CN" altLang="en-US" sz="2000" b="1" i="1">
                              <a:solidFill>
                                <a:srgbClr val="000000"/>
                              </a:solidFill>
                              <a:latin typeface="Cambria Math" panose="02040503050406030204" pitchFamily="18" charset="0"/>
                            </a:rPr>
                          </m:ctrlPr>
                        </m:sSubSup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𝟏</m:t>
                          </m:r>
                        </m:sub>
                        <m:sup>
                          <m:r>
                            <a:rPr lang="zh-CN" altLang="en-US" sz="2000" b="1" i="1">
                              <a:solidFill>
                                <a:srgbClr val="000000"/>
                              </a:solidFill>
                              <a:latin typeface="Cambria Math" panose="02040503050406030204" pitchFamily="18" charset="0"/>
                            </a:rPr>
                            <m:t>𝟐</m:t>
                          </m:r>
                        </m:sup>
                      </m:sSubSup>
                      <m:r>
                        <a:rPr lang="zh-CN" altLang="en-US" sz="2000" b="1" i="1">
                          <a:solidFill>
                            <a:srgbClr val="000000"/>
                          </a:solidFill>
                          <a:latin typeface="Cambria Math" panose="02040503050406030204" pitchFamily="18" charset="0"/>
                        </a:rPr>
                        <m:t>+</m:t>
                      </m:r>
                      <m:func>
                        <m:funcPr>
                          <m:ctrlPr>
                            <a:rPr lang="zh-CN" altLang="en-US" sz="2000" b="1" i="1">
                              <a:solidFill>
                                <a:srgbClr val="000000"/>
                              </a:solidFill>
                              <a:latin typeface="Cambria Math" panose="02040503050406030204" pitchFamily="18" charset="0"/>
                            </a:rPr>
                          </m:ctrlPr>
                        </m:funcPr>
                        <m:fName>
                          <m:r>
                            <a:rPr lang="zh-CN" altLang="en-US" sz="2000" b="1" i="0">
                              <a:solidFill>
                                <a:srgbClr val="000000"/>
                              </a:solidFill>
                              <a:latin typeface="Cambria Math" panose="02040503050406030204" pitchFamily="18" charset="0"/>
                            </a:rPr>
                            <m:t>𝐜𝐨𝐬</m:t>
                          </m:r>
                        </m:fName>
                        <m:e>
                          <m:r>
                            <a:rPr lang="zh-CN" altLang="en-US" sz="2000" b="1" i="1">
                              <a:solidFill>
                                <a:srgbClr val="000000"/>
                              </a:solidFill>
                              <a:latin typeface="Cambria Math" panose="02040503050406030204" pitchFamily="18" charset="0"/>
                            </a:rPr>
                            <m:t>(</m:t>
                          </m:r>
                        </m:e>
                      </m:func>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𝟑</m:t>
                          </m:r>
                        </m:sub>
                      </m:sSub>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a:rPr lang="en-US" altLang="zh-CN" sz="2000" b="1" i="1" smtClean="0">
                              <a:solidFill>
                                <a:srgbClr val="000000"/>
                              </a:solidFill>
                              <a:latin typeface="Cambria Math" panose="02040503050406030204" pitchFamily="18" charset="0"/>
                            </a:rPr>
                            <m:t>𝟑</m:t>
                          </m:r>
                        </m:sub>
                      </m:sSub>
                      <m:r>
                        <a:rPr lang="zh-CN" altLang="en-US" sz="2000" b="1" i="1">
                          <a:solidFill>
                            <a:srgbClr val="000000"/>
                          </a:solidFill>
                          <a:latin typeface="Cambria Math" panose="02040503050406030204" pitchFamily="18" charset="0"/>
                        </a:rPr>
                        <m:t>(</m:t>
                      </m:r>
                      <m:sSubSup>
                        <m:sSubSupPr>
                          <m:ctrlPr>
                            <a:rPr lang="zh-CN" altLang="en-US" sz="2000" b="1" i="1">
                              <a:solidFill>
                                <a:srgbClr val="000000"/>
                              </a:solidFill>
                              <a:latin typeface="Cambria Math" panose="02040503050406030204" pitchFamily="18" charset="0"/>
                            </a:rPr>
                          </m:ctrlPr>
                        </m:sSubSup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𝟑</m:t>
                          </m:r>
                        </m:sub>
                        <m:sup>
                          <m:r>
                            <a:rPr lang="zh-CN" altLang="en-US" sz="2000" b="1" i="1">
                              <a:solidFill>
                                <a:srgbClr val="000000"/>
                              </a:solidFill>
                              <a:latin typeface="Cambria Math" panose="02040503050406030204" pitchFamily="18" charset="0"/>
                            </a:rPr>
                            <m:t>𝟐</m:t>
                          </m:r>
                        </m:sup>
                      </m:sSubSup>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𝟐</m:t>
                      </m:r>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𝟐</m:t>
                          </m:r>
                        </m:sub>
                      </m:sSub>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𝟑</m:t>
                          </m:r>
                        </m:sub>
                      </m:sSub>
                      <m:r>
                        <a:rPr lang="zh-CN" altLang="en-US" sz="2000" b="1" i="1">
                          <a:solidFill>
                            <a:srgbClr val="000000"/>
                          </a:solidFill>
                          <a:latin typeface="Cambria Math" panose="02040503050406030204" pitchFamily="18" charset="0"/>
                        </a:rPr>
                        <m:t>)</m:t>
                      </m:r>
                    </m:oMath>
                  </m:oMathPara>
                </a14:m>
                <a:endParaRPr lang="zh-CN" altLang="en-US" sz="2000" b="1" dirty="0">
                  <a:latin typeface="微软雅黑" panose="020B0503020204020204" pitchFamily="34" charset="-122"/>
                  <a:ea typeface="微软雅黑" panose="020B0503020204020204" pitchFamily="34" charset="-122"/>
                </a:endParaRPr>
              </a:p>
            </p:txBody>
          </p:sp>
        </mc:Choice>
        <mc:Fallback>
          <p:sp>
            <p:nvSpPr>
              <p:cNvPr id="8" name="对象 10">
                <a:extLst>
                  <a:ext uri="{FF2B5EF4-FFF2-40B4-BE49-F238E27FC236}">
                    <a16:creationId xmlns:a16="http://schemas.microsoft.com/office/drawing/2014/main" id="{2E066CAA-92F9-33FD-4A42-99A8FAC37850}"/>
                  </a:ext>
                </a:extLst>
              </p:cNvPr>
              <p:cNvSpPr txBox="1">
                <a:spLocks noRot="1" noChangeAspect="1" noMove="1" noResize="1" noEditPoints="1" noAdjustHandles="1" noChangeArrowheads="1" noChangeShapeType="1" noTextEdit="1"/>
              </p:cNvSpPr>
              <p:nvPr/>
            </p:nvSpPr>
            <p:spPr bwMode="auto">
              <a:xfrm>
                <a:off x="2124075" y="3534200"/>
                <a:ext cx="8572500" cy="767894"/>
              </a:xfrm>
              <a:prstGeom prst="rect">
                <a:avLst/>
              </a:prstGeom>
              <a:blipFill>
                <a:blip r:embed="rId7"/>
                <a:stretch>
                  <a:fillRect/>
                </a:stretch>
              </a:blipFill>
              <a:ln>
                <a:solidFill>
                  <a:schemeClr val="bg1"/>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对象 11">
                <a:extLst>
                  <a:ext uri="{FF2B5EF4-FFF2-40B4-BE49-F238E27FC236}">
                    <a16:creationId xmlns:a16="http://schemas.microsoft.com/office/drawing/2014/main" id="{7602F7B9-E1C9-5E13-593B-5B999CF47BB0}"/>
                  </a:ext>
                </a:extLst>
              </p:cNvPr>
              <p:cNvSpPr txBox="1"/>
              <p:nvPr/>
            </p:nvSpPr>
            <p:spPr bwMode="auto">
              <a:xfrm>
                <a:off x="2124075" y="4138546"/>
                <a:ext cx="5043488" cy="493068"/>
              </a:xfrm>
              <a:prstGeom prst="rect">
                <a:avLst/>
              </a:prstGeom>
              <a:solidFill>
                <a:schemeClr val="bg1"/>
              </a:solidFill>
              <a:ln>
                <a:solidFill>
                  <a:schemeClr val="bg1"/>
                </a:solidFill>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𝟔</m:t>
                          </m:r>
                        </m:sub>
                      </m:sSub>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𝟑</m:t>
                          </m:r>
                        </m:sub>
                      </m:sSub>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en-US" altLang="zh-CN" sz="2000" b="1" i="1">
                              <a:solidFill>
                                <a:srgbClr val="000000"/>
                              </a:solidFill>
                              <a:latin typeface="Cambria Math" panose="02040503050406030204" pitchFamily="18" charset="0"/>
                            </a:rPr>
                            <m:t>𝒄</m:t>
                          </m:r>
                        </m:e>
                        <m:sub>
                          <m:r>
                            <a:rPr lang="zh-CN" altLang="en-US" sz="2000" b="1" i="1">
                              <a:solidFill>
                                <a:srgbClr val="000000"/>
                              </a:solidFill>
                              <a:latin typeface="Cambria Math" panose="02040503050406030204" pitchFamily="18" charset="0"/>
                            </a:rPr>
                            <m:t>𝟐</m:t>
                          </m:r>
                          <m:r>
                            <a:rPr lang="en-US" altLang="zh-CN" sz="2000" b="1" i="1">
                              <a:solidFill>
                                <a:srgbClr val="000000"/>
                              </a:solidFill>
                              <a:latin typeface="Cambria Math" panose="02040503050406030204" pitchFamily="18" charset="0"/>
                            </a:rPr>
                            <m:t>𝟑</m:t>
                          </m:r>
                        </m:sub>
                      </m:sSub>
                      <m:sSub>
                        <m:sSubPr>
                          <m:ctrlPr>
                            <a:rPr lang="zh-CN" altLang="en-US" sz="2000" b="1" i="1">
                              <a:solidFill>
                                <a:srgbClr val="000000"/>
                              </a:solidFill>
                              <a:latin typeface="Cambria Math" panose="02040503050406030204" pitchFamily="18" charset="0"/>
                            </a:rPr>
                          </m:ctrlPr>
                        </m:sSubPr>
                        <m:e>
                          <m:r>
                            <a:rPr lang="en-US" altLang="zh-CN" sz="2000" b="1" i="1">
                              <a:solidFill>
                                <a:srgbClr val="000000"/>
                              </a:solidFill>
                              <a:latin typeface="Cambria Math" panose="02040503050406030204" pitchFamily="18" charset="0"/>
                            </a:rPr>
                            <m:t>𝒔</m:t>
                          </m:r>
                        </m:e>
                        <m:sub>
                          <m:r>
                            <a:rPr lang="zh-CN" altLang="en-US" sz="2000" b="1" i="1">
                              <a:solidFill>
                                <a:srgbClr val="000000"/>
                              </a:solidFill>
                              <a:latin typeface="Cambria Math" panose="02040503050406030204" pitchFamily="18" charset="0"/>
                            </a:rPr>
                            <m:t>𝟐</m:t>
                          </m:r>
                          <m:r>
                            <a:rPr lang="en-US" altLang="zh-CN" sz="2000" b="1" i="1">
                              <a:solidFill>
                                <a:srgbClr val="000000"/>
                              </a:solidFill>
                              <a:latin typeface="Cambria Math" panose="02040503050406030204" pitchFamily="18" charset="0"/>
                            </a:rPr>
                            <m:t>𝟑</m:t>
                          </m:r>
                        </m:sub>
                      </m:sSub>
                      <m:sSubSup>
                        <m:sSubSupPr>
                          <m:ctrlPr>
                            <a:rPr lang="zh-CN" altLang="en-US" sz="2000" b="1" i="1">
                              <a:solidFill>
                                <a:srgbClr val="000000"/>
                              </a:solidFill>
                              <a:latin typeface="Cambria Math" panose="02040503050406030204" pitchFamily="18" charset="0"/>
                            </a:rPr>
                          </m:ctrlPr>
                        </m:sSubSup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𝟏</m:t>
                          </m:r>
                        </m:sub>
                        <m:sup>
                          <m:r>
                            <a:rPr lang="zh-CN" altLang="en-US" sz="2000" b="1" i="1">
                              <a:solidFill>
                                <a:srgbClr val="000000"/>
                              </a:solidFill>
                              <a:latin typeface="Cambria Math" panose="02040503050406030204" pitchFamily="18" charset="0"/>
                            </a:rPr>
                            <m:t>𝟐</m:t>
                          </m:r>
                        </m:sup>
                      </m:sSubSup>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𝟐</m:t>
                          </m:r>
                        </m:sub>
                      </m:sSub>
                    </m:oMath>
                  </m:oMathPara>
                </a14:m>
                <a:endParaRPr lang="zh-CN" altLang="en-US" sz="2000" b="1" dirty="0"/>
              </a:p>
            </p:txBody>
          </p:sp>
        </mc:Choice>
        <mc:Fallback>
          <p:sp>
            <p:nvSpPr>
              <p:cNvPr id="10" name="对象 11">
                <a:extLst>
                  <a:ext uri="{FF2B5EF4-FFF2-40B4-BE49-F238E27FC236}">
                    <a16:creationId xmlns:a16="http://schemas.microsoft.com/office/drawing/2014/main" id="{7602F7B9-E1C9-5E13-593B-5B999CF47BB0}"/>
                  </a:ext>
                </a:extLst>
              </p:cNvPr>
              <p:cNvSpPr txBox="1">
                <a:spLocks noRot="1" noChangeAspect="1" noMove="1" noResize="1" noEditPoints="1" noAdjustHandles="1" noChangeArrowheads="1" noChangeShapeType="1" noTextEdit="1"/>
              </p:cNvSpPr>
              <p:nvPr/>
            </p:nvSpPr>
            <p:spPr bwMode="auto">
              <a:xfrm>
                <a:off x="2124075" y="4138546"/>
                <a:ext cx="5043488" cy="493068"/>
              </a:xfrm>
              <a:prstGeom prst="rect">
                <a:avLst/>
              </a:prstGeom>
              <a:blipFill>
                <a:blip r:embed="rId8"/>
                <a:stretch>
                  <a:fillRect/>
                </a:stretch>
              </a:blipFill>
              <a:ln>
                <a:solidFill>
                  <a:schemeClr val="bg1"/>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对象 12">
                <a:extLst>
                  <a:ext uri="{FF2B5EF4-FFF2-40B4-BE49-F238E27FC236}">
                    <a16:creationId xmlns:a16="http://schemas.microsoft.com/office/drawing/2014/main" id="{2B52DF8D-64A2-6092-B572-A35DE311F149}"/>
                  </a:ext>
                </a:extLst>
              </p:cNvPr>
              <p:cNvSpPr txBox="1"/>
              <p:nvPr/>
            </p:nvSpPr>
            <p:spPr bwMode="auto">
              <a:xfrm>
                <a:off x="2124075" y="4671625"/>
                <a:ext cx="7554912" cy="448148"/>
              </a:xfrm>
              <a:prstGeom prst="rect">
                <a:avLst/>
              </a:prstGeom>
              <a:solidFill>
                <a:schemeClr val="bg1"/>
              </a:solidFill>
              <a:ln>
                <a:solidFill>
                  <a:schemeClr val="bg1"/>
                </a:solidFill>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000" b="1" i="1" smtClean="0">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𝟕</m:t>
                          </m:r>
                        </m:sub>
                      </m:sSub>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en-US" altLang="zh-CN" sz="2000" b="1" i="1">
                              <a:solidFill>
                                <a:srgbClr val="000000"/>
                              </a:solidFill>
                              <a:latin typeface="Cambria Math" panose="02040503050406030204" pitchFamily="18" charset="0"/>
                            </a:rPr>
                            <m:t>𝒔</m:t>
                          </m:r>
                        </m:e>
                        <m:sub>
                          <m:r>
                            <a:rPr lang="en-US" altLang="zh-CN" sz="2000" b="1" i="1">
                              <a:solidFill>
                                <a:srgbClr val="000000"/>
                              </a:solidFill>
                              <a:latin typeface="Cambria Math" panose="02040503050406030204" pitchFamily="18" charset="0"/>
                            </a:rPr>
                            <m:t>𝟑</m:t>
                          </m:r>
                        </m:sub>
                      </m:sSub>
                      <m:sSubSup>
                        <m:sSubSupPr>
                          <m:ctrlPr>
                            <a:rPr lang="zh-CN" altLang="en-US" sz="2000" b="1" i="1">
                              <a:solidFill>
                                <a:srgbClr val="000000"/>
                              </a:solidFill>
                              <a:latin typeface="Cambria Math" panose="02040503050406030204" pitchFamily="18" charset="0"/>
                            </a:rPr>
                          </m:ctrlPr>
                        </m:sSubSup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𝟐</m:t>
                          </m:r>
                        </m:sub>
                        <m:sup>
                          <m:r>
                            <a:rPr lang="zh-CN" altLang="en-US" sz="2000" b="1" i="1">
                              <a:solidFill>
                                <a:srgbClr val="000000"/>
                              </a:solidFill>
                              <a:latin typeface="Cambria Math" panose="02040503050406030204" pitchFamily="18" charset="0"/>
                            </a:rPr>
                            <m:t>𝟐</m:t>
                          </m:r>
                        </m:sup>
                      </m:sSubSup>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en-US" altLang="zh-CN" sz="2000" b="1" i="1">
                              <a:solidFill>
                                <a:srgbClr val="000000"/>
                              </a:solidFill>
                              <a:latin typeface="Cambria Math" panose="02040503050406030204" pitchFamily="18" charset="0"/>
                            </a:rPr>
                            <m:t>𝒔</m:t>
                          </m:r>
                        </m:e>
                        <m:sub>
                          <m:r>
                            <a:rPr lang="zh-CN" altLang="en-US" sz="2000" b="1" i="1">
                              <a:solidFill>
                                <a:srgbClr val="000000"/>
                              </a:solidFill>
                              <a:latin typeface="Cambria Math" panose="02040503050406030204" pitchFamily="18" charset="0"/>
                            </a:rPr>
                            <m:t>𝟐</m:t>
                          </m:r>
                          <m:r>
                            <a:rPr lang="en-US" altLang="zh-CN" sz="2000" b="1" i="1">
                              <a:solidFill>
                                <a:srgbClr val="000000"/>
                              </a:solidFill>
                              <a:latin typeface="Cambria Math" panose="02040503050406030204" pitchFamily="18" charset="0"/>
                            </a:rPr>
                            <m:t>𝟑</m:t>
                          </m:r>
                        </m:sub>
                      </m:sSub>
                      <m:sSub>
                        <m:sSubPr>
                          <m:ctrlPr>
                            <a:rPr lang="zh-CN" altLang="en-US" sz="2000" b="1" i="1">
                              <a:solidFill>
                                <a:srgbClr val="000000"/>
                              </a:solidFill>
                              <a:latin typeface="Cambria Math" panose="02040503050406030204" pitchFamily="18" charset="0"/>
                            </a:rPr>
                          </m:ctrlPr>
                        </m:sSubPr>
                        <m:e>
                          <m:r>
                            <a:rPr lang="en-US" altLang="zh-CN" sz="2000" b="1" i="1">
                              <a:solidFill>
                                <a:srgbClr val="000000"/>
                              </a:solidFill>
                              <a:latin typeface="Cambria Math" panose="02040503050406030204" pitchFamily="18" charset="0"/>
                            </a:rPr>
                            <m:t>𝒄</m:t>
                          </m:r>
                        </m:e>
                        <m:sub>
                          <m:r>
                            <a:rPr lang="zh-CN" altLang="en-US" sz="2000" b="1" i="1">
                              <a:solidFill>
                                <a:srgbClr val="000000"/>
                              </a:solidFill>
                              <a:latin typeface="Cambria Math" panose="02040503050406030204" pitchFamily="18" charset="0"/>
                            </a:rPr>
                            <m:t>𝟐</m:t>
                          </m:r>
                        </m:sub>
                      </m:sSub>
                      <m:sSubSup>
                        <m:sSubSupPr>
                          <m:ctrlPr>
                            <a:rPr lang="zh-CN" altLang="en-US" sz="2000" b="1" i="1">
                              <a:solidFill>
                                <a:srgbClr val="000000"/>
                              </a:solidFill>
                              <a:latin typeface="Cambria Math" panose="02040503050406030204" pitchFamily="18" charset="0"/>
                            </a:rPr>
                          </m:ctrlPr>
                        </m:sSubSup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𝟏</m:t>
                          </m:r>
                        </m:sub>
                        <m:sup>
                          <m:r>
                            <a:rPr lang="zh-CN" altLang="en-US" sz="2000" b="1" i="1">
                              <a:solidFill>
                                <a:srgbClr val="000000"/>
                              </a:solidFill>
                              <a:latin typeface="Cambria Math" panose="02040503050406030204" pitchFamily="18" charset="0"/>
                            </a:rPr>
                            <m:t>𝟐</m:t>
                          </m:r>
                        </m:sup>
                      </m:sSubSup>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en-US" altLang="zh-CN" sz="2000" b="1" i="1">
                              <a:solidFill>
                                <a:srgbClr val="000000"/>
                              </a:solidFill>
                              <a:latin typeface="Cambria Math" panose="02040503050406030204" pitchFamily="18" charset="0"/>
                            </a:rPr>
                            <m:t>𝒄</m:t>
                          </m:r>
                        </m:e>
                        <m:sub>
                          <m:r>
                            <a:rPr lang="en-US" altLang="zh-CN" sz="2000" b="1" i="1" smtClean="0">
                              <a:solidFill>
                                <a:srgbClr val="000000"/>
                              </a:solidFill>
                              <a:latin typeface="Cambria Math" panose="02040503050406030204" pitchFamily="18" charset="0"/>
                            </a:rPr>
                            <m:t>𝟑</m:t>
                          </m:r>
                        </m:sub>
                      </m:sSub>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𝟐</m:t>
                          </m:r>
                        </m:sub>
                      </m:sSub>
                    </m:oMath>
                  </m:oMathPara>
                </a14:m>
                <a:endParaRPr lang="zh-CN" altLang="en-US" sz="2000" b="1" dirty="0"/>
              </a:p>
            </p:txBody>
          </p:sp>
        </mc:Choice>
        <mc:Fallback>
          <p:sp>
            <p:nvSpPr>
              <p:cNvPr id="11" name="对象 12">
                <a:extLst>
                  <a:ext uri="{FF2B5EF4-FFF2-40B4-BE49-F238E27FC236}">
                    <a16:creationId xmlns:a16="http://schemas.microsoft.com/office/drawing/2014/main" id="{2B52DF8D-64A2-6092-B572-A35DE311F149}"/>
                  </a:ext>
                </a:extLst>
              </p:cNvPr>
              <p:cNvSpPr txBox="1">
                <a:spLocks noRot="1" noChangeAspect="1" noMove="1" noResize="1" noEditPoints="1" noAdjustHandles="1" noChangeArrowheads="1" noChangeShapeType="1" noTextEdit="1"/>
              </p:cNvSpPr>
              <p:nvPr/>
            </p:nvSpPr>
            <p:spPr bwMode="auto">
              <a:xfrm>
                <a:off x="2124075" y="4671625"/>
                <a:ext cx="7554912" cy="448148"/>
              </a:xfrm>
              <a:prstGeom prst="rect">
                <a:avLst/>
              </a:prstGeom>
              <a:blipFill>
                <a:blip r:embed="rId9"/>
                <a:stretch>
                  <a:fillRect/>
                </a:stretch>
              </a:blipFill>
              <a:ln>
                <a:solidFill>
                  <a:schemeClr val="bg1"/>
                </a:solidFill>
              </a:ln>
            </p:spPr>
            <p:txBody>
              <a:bodyPr/>
              <a:lstStyle/>
              <a:p>
                <a:r>
                  <a:rPr lang="zh-CN" altLang="en-US">
                    <a:noFill/>
                  </a:rPr>
                  <a:t> </a:t>
                </a:r>
              </a:p>
            </p:txBody>
          </p:sp>
        </mc:Fallback>
      </mc:AlternateContent>
      <p:sp>
        <p:nvSpPr>
          <p:cNvPr id="26" name="文本框 25">
            <a:extLst>
              <a:ext uri="{FF2B5EF4-FFF2-40B4-BE49-F238E27FC236}">
                <a16:creationId xmlns:a16="http://schemas.microsoft.com/office/drawing/2014/main" id="{641E664D-065E-1EEC-B9B9-E89E7A73295B}"/>
              </a:ext>
            </a:extLst>
          </p:cNvPr>
          <p:cNvSpPr txBox="1"/>
          <p:nvPr/>
        </p:nvSpPr>
        <p:spPr>
          <a:xfrm>
            <a:off x="1264443" y="5238054"/>
            <a:ext cx="10023475" cy="1200329"/>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注意：回归矩阵中含有二阶导数，所以考虑具有未知参数的动力学方程并对其进行参数线性化时，通常应用滑模控制法达到降阶目的，使其满足微分方程的解。</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EBA602F-5335-9CAB-39EC-0FCBDBCE6B2E}"/>
              </a:ext>
            </a:extLst>
          </p:cNvPr>
          <p:cNvSpPr txBox="1"/>
          <p:nvPr>
            <p:custDataLst>
              <p:tags r:id="rId1"/>
            </p:custDataLst>
          </p:nvPr>
        </p:nvSpPr>
        <p:spPr>
          <a:xfrm>
            <a:off x="1357313" y="128685"/>
            <a:ext cx="8158162"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7.2.2</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 机器人控制方法和控制器设计</a:t>
            </a:r>
          </a:p>
        </p:txBody>
      </p:sp>
      <p:sp>
        <p:nvSpPr>
          <p:cNvPr id="5" name="文本框 4">
            <a:extLst>
              <a:ext uri="{FF2B5EF4-FFF2-40B4-BE49-F238E27FC236}">
                <a16:creationId xmlns:a16="http://schemas.microsoft.com/office/drawing/2014/main" id="{6EC61C25-CF94-76AE-764B-A8F70B74B58F}"/>
              </a:ext>
            </a:extLst>
          </p:cNvPr>
          <p:cNvSpPr txBox="1"/>
          <p:nvPr/>
        </p:nvSpPr>
        <p:spPr>
          <a:xfrm>
            <a:off x="690563" y="1167884"/>
            <a:ext cx="6124574" cy="461665"/>
          </a:xfrm>
          <a:prstGeom prst="rect">
            <a:avLst/>
          </a:prstGeom>
          <a:noFill/>
        </p:spPr>
        <p:txBody>
          <a:bodyPr wrap="square">
            <a:spAutoFit/>
          </a:bodyPr>
          <a:lstStyle/>
          <a:p>
            <a:pPr indent="269875" algn="just">
              <a:spcBef>
                <a:spcPts val="600"/>
              </a:spcBef>
              <a:spcAft>
                <a:spcPts val="600"/>
              </a:spcAft>
            </a:pPr>
            <a:r>
              <a:rPr lang="en-US" altLang="zh-CN" sz="2400" b="1" kern="0" dirty="0">
                <a:effectLst/>
                <a:latin typeface="微软雅黑" panose="020B0503020204020204" pitchFamily="34" charset="-122"/>
                <a:ea typeface="微软雅黑" panose="020B0503020204020204" pitchFamily="34" charset="-122"/>
                <a:cs typeface="Times New Roman" panose="02020603050405020304" pitchFamily="18" charset="0"/>
              </a:rPr>
              <a:t>1</a:t>
            </a:r>
            <a:r>
              <a:rPr lang="zh-CN" altLang="zh-CN" sz="2400" b="1" kern="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PD</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控制</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14A343A9-12FB-919A-CC10-C797B71160DD}"/>
                  </a:ext>
                </a:extLst>
              </p:cNvPr>
              <p:cNvSpPr txBox="1"/>
              <p:nvPr/>
            </p:nvSpPr>
            <p:spPr>
              <a:xfrm>
                <a:off x="1100137" y="1866812"/>
                <a:ext cx="10358437" cy="1645579"/>
              </a:xfrm>
              <a:prstGeom prst="rect">
                <a:avLst/>
              </a:prstGeom>
              <a:noFill/>
            </p:spPr>
            <p:txBody>
              <a:bodyPr wrap="square">
                <a:spAutoFit/>
              </a:bodyPr>
              <a:lstStyle/>
              <a:p>
                <a:pPr indent="269875" algn="just">
                  <a:spcBef>
                    <a:spcPts val="600"/>
                  </a:spcBef>
                </a:pPr>
                <a:r>
                  <a:rPr lang="en-US" altLang="zh-CN" sz="2000" b="1" kern="1050" dirty="0">
                    <a:effectLst/>
                    <a:latin typeface="Times New Roman" panose="02020603050405020304" pitchFamily="18" charset="0"/>
                    <a:ea typeface="楷体_GB2312"/>
                  </a:rPr>
                  <a:t>1</a:t>
                </a:r>
                <a:r>
                  <a:rPr lang="en-US" altLang="zh-CN" sz="2000" b="1" kern="1050" dirty="0">
                    <a:effectLst/>
                    <a:latin typeface="宋体" panose="02010600030101010101" pitchFamily="2" charset="-122"/>
                    <a:ea typeface="楷体_GB2312"/>
                  </a:rPr>
                  <a:t>)</a:t>
                </a:r>
                <a:r>
                  <a:rPr lang="zh-CN" altLang="zh-CN" sz="2000" b="1" kern="1050" dirty="0">
                    <a:effectLst/>
                    <a:latin typeface="Times New Roman" panose="02020603050405020304" pitchFamily="18" charset="0"/>
                    <a:ea typeface="楷体_GB2312"/>
                  </a:rPr>
                  <a:t>基本原理</a:t>
                </a:r>
              </a:p>
              <a:p>
                <a:r>
                  <a:rPr lang="en-US" altLang="zh-CN" sz="2000" kern="10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000" b="1" kern="1000" dirty="0">
                    <a:effectLst/>
                    <a:latin typeface="微软雅黑" panose="020B0503020204020204" pitchFamily="34" charset="-122"/>
                    <a:ea typeface="微软雅黑" panose="020B0503020204020204" pitchFamily="34" charset="-122"/>
                    <a:cs typeface="Times New Roman" panose="02020603050405020304" pitchFamily="18" charset="0"/>
                  </a:rPr>
                  <a:t>在机器人的运动控制中，控制的目标是在存在时变扰动情况下，通过设计合理的控制算法，使得其能够跟踪期望的运动轨迹</a:t>
                </a:r>
                <a14:m>
                  <m:oMath xmlns:m="http://schemas.openxmlformats.org/officeDocument/2006/math">
                    <m:sSub>
                      <m:sSubPr>
                        <m:ctrlPr>
                          <a:rPr lang="en-US" altLang="zh-CN" sz="2000" b="1" i="1" kern="1000" smtClean="0">
                            <a:effectLst/>
                            <a:latin typeface="Cambria Math" panose="02040503050406030204" pitchFamily="18" charset="0"/>
                            <a:ea typeface="宋体" panose="02010600030101010101" pitchFamily="2" charset="-122"/>
                            <a:cs typeface="Times New Roman" panose="02020603050405020304" pitchFamily="18" charset="0"/>
                          </a:rPr>
                        </m:ctrlPr>
                      </m:sSubPr>
                      <m:e>
                        <m:r>
                          <a:rPr lang="zh-CN" altLang="en-US" sz="2000" b="1" i="1" kern="1000" smtClean="0">
                            <a:effectLst/>
                            <a:latin typeface="Cambria Math" panose="02040503050406030204" pitchFamily="18" charset="0"/>
                            <a:ea typeface="宋体" panose="02010600030101010101" pitchFamily="2" charset="-122"/>
                            <a:cs typeface="Times New Roman" panose="02020603050405020304" pitchFamily="18" charset="0"/>
                          </a:rPr>
                          <m:t>𝜽</m:t>
                        </m:r>
                      </m:e>
                      <m:sub>
                        <m:r>
                          <a:rPr lang="en-US" altLang="zh-CN" sz="2000" b="1" i="1" kern="1000">
                            <a:latin typeface="Cambria Math" panose="02040503050406030204" pitchFamily="18" charset="0"/>
                            <a:ea typeface="宋体" panose="02010600030101010101" pitchFamily="2" charset="-122"/>
                            <a:cs typeface="Times New Roman" panose="02020603050405020304" pitchFamily="18" charset="0"/>
                          </a:rPr>
                          <m:t>𝒅</m:t>
                        </m:r>
                      </m:sub>
                    </m:sSub>
                    <m:d>
                      <m:dPr>
                        <m:ctrlPr>
                          <a:rPr lang="en-US" altLang="zh-CN" sz="2000" b="1" i="1" kern="1000" smtClean="0">
                            <a:effectLst/>
                            <a:latin typeface="Cambria Math" panose="02040503050406030204" pitchFamily="18" charset="0"/>
                            <a:ea typeface="宋体" panose="02010600030101010101" pitchFamily="2" charset="-122"/>
                            <a:cs typeface="Times New Roman" panose="02020603050405020304" pitchFamily="18" charset="0"/>
                          </a:rPr>
                        </m:ctrlPr>
                      </m:dPr>
                      <m:e>
                        <m:r>
                          <a:rPr lang="en-US" altLang="zh-CN" sz="2000" b="1" i="1" kern="1000" smtClean="0">
                            <a:effectLst/>
                            <a:latin typeface="Cambria Math" panose="02040503050406030204" pitchFamily="18" charset="0"/>
                            <a:ea typeface="宋体" panose="02010600030101010101" pitchFamily="2" charset="-122"/>
                            <a:cs typeface="Times New Roman" panose="02020603050405020304" pitchFamily="18" charset="0"/>
                          </a:rPr>
                          <m:t>𝒕</m:t>
                        </m:r>
                      </m:e>
                    </m:d>
                    <m:r>
                      <a:rPr lang="zh-CN" altLang="en-US" sz="2000" b="1" i="1" kern="1000">
                        <a:latin typeface="Cambria Math" panose="02040503050406030204" pitchFamily="18" charset="0"/>
                        <a:ea typeface="宋体" panose="02010600030101010101" pitchFamily="2" charset="-122"/>
                        <a:cs typeface="Times New Roman" panose="02020603050405020304" pitchFamily="18" charset="0"/>
                      </a:rPr>
                      <m:t>。</m:t>
                    </m:r>
                  </m:oMath>
                </a14:m>
                <a:endParaRPr lang="en-US" altLang="zh-CN" sz="2000" b="1" dirty="0">
                  <a:latin typeface="微软雅黑" panose="020B0503020204020204" pitchFamily="34" charset="-122"/>
                  <a:ea typeface="微软雅黑" panose="020B0503020204020204" pitchFamily="34" charset="-122"/>
                </a:endParaRPr>
              </a:p>
              <a:p>
                <a:r>
                  <a:rPr lang="zh-CN" altLang="en-US" sz="2000" b="1" dirty="0">
                    <a:latin typeface="微软雅黑" panose="020B0503020204020204" pitchFamily="34" charset="-122"/>
                    <a:ea typeface="微软雅黑" panose="020B0503020204020204" pitchFamily="34" charset="-122"/>
                  </a:rPr>
                  <a:t>定义追踪误差：</a:t>
                </a:r>
                <a14:m>
                  <m:oMath xmlns:m="http://schemas.openxmlformats.org/officeDocument/2006/math">
                    <m:r>
                      <a:rPr lang="zh-CN" altLang="en-US" sz="2000" b="1" i="1" smtClean="0">
                        <a:solidFill>
                          <a:srgbClr val="000000"/>
                        </a:solidFill>
                        <a:latin typeface="Cambria Math" panose="02040503050406030204" pitchFamily="18" charset="0"/>
                      </a:rPr>
                      <m:t>𝒆</m:t>
                    </m:r>
                    <m:r>
                      <a:rPr lang="zh-CN" altLang="en-US" sz="2000" b="1" i="1" smtClean="0">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𝜽</m:t>
                        </m:r>
                      </m:e>
                      <m:sub>
                        <m:r>
                          <a:rPr lang="zh-CN" altLang="en-US" sz="2000" b="1" i="1">
                            <a:solidFill>
                              <a:srgbClr val="000000"/>
                            </a:solidFill>
                            <a:latin typeface="Cambria Math" panose="02040503050406030204" pitchFamily="18" charset="0"/>
                          </a:rPr>
                          <m:t>𝒅</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𝜽</m:t>
                    </m:r>
                  </m:oMath>
                </a14:m>
                <a:r>
                  <a:rPr lang="zh-CN" altLang="en-US" sz="2000" b="1" dirty="0">
                    <a:latin typeface="微软雅黑" panose="020B0503020204020204" pitchFamily="34" charset="-122"/>
                    <a:ea typeface="微软雅黑" panose="020B0503020204020204" pitchFamily="34" charset="-122"/>
                  </a:rPr>
                  <a:t>，当</a:t>
                </a:r>
                <a14:m>
                  <m:oMath xmlns:m="http://schemas.openxmlformats.org/officeDocument/2006/math">
                    <m:sSub>
                      <m:sSubPr>
                        <m:ctrlPr>
                          <a:rPr lang="en-US" altLang="zh-CN" sz="2000" b="1" i="1" kern="1000">
                            <a:latin typeface="Cambria Math" panose="02040503050406030204" pitchFamily="18" charset="0"/>
                            <a:ea typeface="宋体" panose="02010600030101010101" pitchFamily="2" charset="-122"/>
                            <a:cs typeface="Times New Roman" panose="02020603050405020304" pitchFamily="18" charset="0"/>
                          </a:rPr>
                        </m:ctrlPr>
                      </m:sSubPr>
                      <m:e>
                        <m:r>
                          <a:rPr lang="zh-CN" altLang="en-US" sz="2000" b="1" i="1" kern="1000">
                            <a:latin typeface="Cambria Math" panose="02040503050406030204" pitchFamily="18" charset="0"/>
                            <a:ea typeface="宋体" panose="02010600030101010101" pitchFamily="2" charset="-122"/>
                            <a:cs typeface="Times New Roman" panose="02020603050405020304" pitchFamily="18" charset="0"/>
                          </a:rPr>
                          <m:t>𝜽</m:t>
                        </m:r>
                      </m:e>
                      <m:sub>
                        <m:r>
                          <a:rPr lang="en-US" altLang="zh-CN" sz="2000" b="1" i="1" kern="1000">
                            <a:latin typeface="Cambria Math" panose="02040503050406030204" pitchFamily="18" charset="0"/>
                            <a:ea typeface="宋体" panose="02010600030101010101" pitchFamily="2" charset="-122"/>
                            <a:cs typeface="Times New Roman" panose="02020603050405020304" pitchFamily="18" charset="0"/>
                          </a:rPr>
                          <m:t>𝒅</m:t>
                        </m:r>
                      </m:sub>
                    </m:sSub>
                  </m:oMath>
                </a14:m>
                <a:r>
                  <a:rPr lang="zh-CN" altLang="en-US" sz="2000" b="1" dirty="0">
                    <a:latin typeface="微软雅黑" panose="020B0503020204020204" pitchFamily="34" charset="-122"/>
                    <a:ea typeface="微软雅黑" panose="020B0503020204020204" pitchFamily="34" charset="-122"/>
                  </a:rPr>
                  <a:t>为常数时，显然有 </a:t>
                </a:r>
                <a14:m>
                  <m:oMath xmlns:m="http://schemas.openxmlformats.org/officeDocument/2006/math">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en-US" altLang="zh-CN" sz="2000" b="1" i="1">
                            <a:solidFill>
                              <a:srgbClr val="000000"/>
                            </a:solidFill>
                            <a:latin typeface="Cambria Math" panose="02040503050406030204" pitchFamily="18" charset="0"/>
                          </a:rPr>
                          <m:t>𝒅</m:t>
                        </m:r>
                      </m:sub>
                    </m:sSub>
                    <m:r>
                      <a:rPr lang="en-US" altLang="zh-CN" sz="2000" b="1" i="1" smtClean="0">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en-US" altLang="zh-CN" sz="2000" b="1" i="1" smtClean="0">
                            <a:solidFill>
                              <a:srgbClr val="000000"/>
                            </a:solidFill>
                            <a:latin typeface="Cambria Math" panose="02040503050406030204" pitchFamily="18" charset="0"/>
                          </a:rPr>
                          <m:t>𝒅</m:t>
                        </m:r>
                      </m:sub>
                    </m:sSub>
                    <m:r>
                      <a:rPr lang="en-US" altLang="zh-CN" sz="2000" b="1" i="1" smtClean="0">
                        <a:solidFill>
                          <a:srgbClr val="000000"/>
                        </a:solidFill>
                        <a:latin typeface="Cambria Math" panose="02040503050406030204" pitchFamily="18" charset="0"/>
                      </a:rPr>
                      <m:t>=</m:t>
                    </m:r>
                    <m:r>
                      <a:rPr lang="en-US" altLang="zh-CN" sz="2000" b="1" i="1" smtClean="0">
                        <a:solidFill>
                          <a:srgbClr val="000000"/>
                        </a:solidFill>
                        <a:latin typeface="Cambria Math" panose="02040503050406030204" pitchFamily="18" charset="0"/>
                      </a:rPr>
                      <m:t>𝟎</m:t>
                    </m:r>
                  </m:oMath>
                </a14:m>
                <a:r>
                  <a:rPr lang="zh-CN" altLang="en-US" sz="2000" b="1" dirty="0">
                    <a:latin typeface="微软雅黑" panose="020B0503020204020204" pitchFamily="34" charset="-122"/>
                    <a:ea typeface="微软雅黑" panose="020B0503020204020204" pitchFamily="34" charset="-122"/>
                  </a:rPr>
                  <a:t>，</a:t>
                </a:r>
                <a:r>
                  <a:rPr lang="zh-CN" altLang="en-US" sz="2000" b="1" dirty="0">
                    <a:solidFill>
                      <a:srgbClr val="000000"/>
                    </a:solidFill>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𝒆</m:t>
                        </m:r>
                      </m:e>
                    </m:acc>
                  </m:oMath>
                </a14:m>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zh-CN" altLang="en-US" sz="2000" b="1" i="1" smtClean="0">
                            <a:latin typeface="Cambria Math" panose="02040503050406030204" pitchFamily="18" charset="0"/>
                          </a:rPr>
                        </m:ctrlPr>
                      </m:accPr>
                      <m:e>
                        <m:r>
                          <a:rPr lang="zh-CN" altLang="en-US" sz="2000" b="1" i="1" smtClean="0">
                            <a:latin typeface="Cambria Math" panose="02040503050406030204" pitchFamily="18" charset="0"/>
                          </a:rPr>
                          <m:t>𝜽</m:t>
                        </m:r>
                      </m:e>
                    </m:acc>
                  </m:oMath>
                </a14:m>
                <a:r>
                  <a:rPr lang="zh-CN" altLang="en-US" sz="2000" b="1" dirty="0">
                    <a:latin typeface="微软雅黑" panose="020B0503020204020204" pitchFamily="34" charset="-122"/>
                    <a:ea typeface="微软雅黑" panose="020B0503020204020204" pitchFamily="34" charset="-122"/>
                  </a:rPr>
                  <a:t>。设计如下力矩控制器：</a:t>
                </a:r>
              </a:p>
            </p:txBody>
          </p:sp>
        </mc:Choice>
        <mc:Fallback xmlns="">
          <p:sp>
            <p:nvSpPr>
              <p:cNvPr id="7" name="文本框 6">
                <a:extLst>
                  <a:ext uri="{FF2B5EF4-FFF2-40B4-BE49-F238E27FC236}">
                    <a16:creationId xmlns:a16="http://schemas.microsoft.com/office/drawing/2014/main" id="{14A343A9-12FB-919A-CC10-C797B71160DD}"/>
                  </a:ext>
                </a:extLst>
              </p:cNvPr>
              <p:cNvSpPr txBox="1">
                <a:spLocks noRot="1" noChangeAspect="1" noMove="1" noResize="1" noEditPoints="1" noAdjustHandles="1" noChangeArrowheads="1" noChangeShapeType="1" noTextEdit="1"/>
              </p:cNvSpPr>
              <p:nvPr/>
            </p:nvSpPr>
            <p:spPr>
              <a:xfrm>
                <a:off x="1100137" y="1866812"/>
                <a:ext cx="10358437" cy="1645579"/>
              </a:xfrm>
              <a:prstGeom prst="rect">
                <a:avLst/>
              </a:prstGeom>
              <a:blipFill>
                <a:blip r:embed="rId3"/>
                <a:stretch>
                  <a:fillRect l="-588" t="-2593" r="-588" b="-55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对象 9">
                <a:extLst>
                  <a:ext uri="{FF2B5EF4-FFF2-40B4-BE49-F238E27FC236}">
                    <a16:creationId xmlns:a16="http://schemas.microsoft.com/office/drawing/2014/main" id="{B24D477F-0BD5-05FD-3EF5-4F36FD0B801D}"/>
                  </a:ext>
                </a:extLst>
              </p:cNvPr>
              <p:cNvSpPr txBox="1"/>
              <p:nvPr/>
            </p:nvSpPr>
            <p:spPr bwMode="auto">
              <a:xfrm>
                <a:off x="2333625" y="3429000"/>
                <a:ext cx="8096250" cy="461962"/>
              </a:xfrm>
              <a:prstGeom prst="rect">
                <a:avLst/>
              </a:prstGeom>
              <a:solidFill>
                <a:schemeClr val="bg1"/>
              </a:solidFill>
              <a:ln>
                <a:solidFill>
                  <a:schemeClr val="bg1"/>
                </a:solidFill>
              </a:ln>
            </p:spPr>
            <p:txBody>
              <a:bodyPr>
                <a:noAutofit/>
              </a:bodyPr>
              <a:lstStyle/>
              <a:p>
                <a14:m>
                  <m:oMath xmlns:m="http://schemas.openxmlformats.org/officeDocument/2006/math">
                    <m:r>
                      <a:rPr lang="en-US" altLang="zh-CN" sz="2000" b="1" i="1" smtClean="0">
                        <a:solidFill>
                          <a:srgbClr val="000000"/>
                        </a:solidFill>
                        <a:latin typeface="Cambria Math" panose="02040503050406030204" pitchFamily="18" charset="0"/>
                      </a:rPr>
                      <m:t>  </m:t>
                    </m:r>
                    <m:r>
                      <a:rPr lang="zh-CN" altLang="en-US" sz="2000" b="1" i="1">
                        <a:solidFill>
                          <a:srgbClr val="000000"/>
                        </a:solidFill>
                        <a:latin typeface="Cambria Math" panose="02040503050406030204" pitchFamily="18" charset="0"/>
                      </a:rPr>
                      <m:t>𝝉</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𝒌</m:t>
                        </m:r>
                      </m:e>
                      <m:sub>
                        <m:r>
                          <a:rPr lang="zh-CN" altLang="en-US" sz="2000" b="1" i="1">
                            <a:solidFill>
                              <a:srgbClr val="000000"/>
                            </a:solidFill>
                            <a:latin typeface="Cambria Math" panose="02040503050406030204" pitchFamily="18" charset="0"/>
                          </a:rPr>
                          <m:t>𝒑</m:t>
                        </m:r>
                      </m:sub>
                    </m:sSub>
                    <m:r>
                      <a:rPr lang="zh-CN" altLang="en-US" sz="2000" b="1" i="1">
                        <a:solidFill>
                          <a:srgbClr val="000000"/>
                        </a:solidFill>
                        <a:latin typeface="Cambria Math" panose="02040503050406030204" pitchFamily="18" charset="0"/>
                      </a:rPr>
                      <m:t>𝒆</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𝒌</m:t>
                        </m:r>
                      </m:e>
                      <m:sub>
                        <m:r>
                          <a:rPr lang="zh-CN" altLang="en-US" sz="2000" b="1" i="1">
                            <a:solidFill>
                              <a:srgbClr val="000000"/>
                            </a:solidFill>
                            <a:latin typeface="Cambria Math" panose="02040503050406030204" pitchFamily="18" charset="0"/>
                          </a:rPr>
                          <m:t>𝒅</m:t>
                        </m:r>
                      </m:sub>
                    </m:sSub>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𝒆</m:t>
                        </m:r>
                      </m:e>
                    </m:acc>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𝑮</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𝜽</m:t>
                    </m:r>
                    <m:r>
                      <a:rPr lang="zh-CN" altLang="en-US" sz="2000" b="1" i="1">
                        <a:solidFill>
                          <a:srgbClr val="000000"/>
                        </a:solidFill>
                        <a:latin typeface="Cambria Math" panose="02040503050406030204" pitchFamily="18" charset="0"/>
                      </a:rPr>
                      <m:t>)</m:t>
                    </m:r>
                  </m:oMath>
                </a14:m>
                <a:r>
                  <a:rPr lang="zh-CN" altLang="en-US" sz="2000" b="1" dirty="0">
                    <a:latin typeface="微软雅黑" panose="020B0503020204020204" pitchFamily="34" charset="-122"/>
                    <a:ea typeface="微软雅黑" panose="020B0503020204020204" pitchFamily="34" charset="-122"/>
                  </a:rPr>
                  <a:t>                                          </a:t>
                </a:r>
                <a:r>
                  <a:rPr lang="en-US" altLang="zh-CN" sz="2000" b="1" dirty="0">
                    <a:latin typeface="微软雅黑" panose="020B0503020204020204" pitchFamily="34" charset="-122"/>
                    <a:ea typeface="微软雅黑" panose="020B0503020204020204" pitchFamily="34" charset="-122"/>
                  </a:rPr>
                  <a:t>(7.9)</a:t>
                </a:r>
                <a:endParaRPr lang="zh-CN" altLang="en-US" sz="2000" b="1" dirty="0">
                  <a:latin typeface="微软雅黑" panose="020B0503020204020204" pitchFamily="34" charset="-122"/>
                  <a:ea typeface="微软雅黑" panose="020B0503020204020204" pitchFamily="34" charset="-122"/>
                </a:endParaRPr>
              </a:p>
            </p:txBody>
          </p:sp>
        </mc:Choice>
        <mc:Fallback xmlns="">
          <p:sp>
            <p:nvSpPr>
              <p:cNvPr id="20" name="对象 9">
                <a:extLst>
                  <a:ext uri="{FF2B5EF4-FFF2-40B4-BE49-F238E27FC236}">
                    <a16:creationId xmlns:a16="http://schemas.microsoft.com/office/drawing/2014/main" id="{B24D477F-0BD5-05FD-3EF5-4F36FD0B801D}"/>
                  </a:ext>
                </a:extLst>
              </p:cNvPr>
              <p:cNvSpPr txBox="1">
                <a:spLocks noRot="1" noChangeAspect="1" noMove="1" noResize="1" noEditPoints="1" noAdjustHandles="1" noChangeArrowheads="1" noChangeShapeType="1" noTextEdit="1"/>
              </p:cNvSpPr>
              <p:nvPr/>
            </p:nvSpPr>
            <p:spPr bwMode="auto">
              <a:xfrm>
                <a:off x="2333625" y="3429000"/>
                <a:ext cx="8096250" cy="461962"/>
              </a:xfrm>
              <a:prstGeom prst="rect">
                <a:avLst/>
              </a:prstGeom>
              <a:blipFill>
                <a:blip r:embed="rId4"/>
                <a:stretch>
                  <a:fillRect t="-6494" b="-7792"/>
                </a:stretch>
              </a:blipFill>
              <a:ln>
                <a:solidFill>
                  <a:schemeClr val="bg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19E8BF1B-910C-B187-D589-46768430CE6E}"/>
                  </a:ext>
                </a:extLst>
              </p:cNvPr>
              <p:cNvSpPr txBox="1"/>
              <p:nvPr/>
            </p:nvSpPr>
            <p:spPr>
              <a:xfrm>
                <a:off x="1704975" y="3997084"/>
                <a:ext cx="8229600" cy="1258614"/>
              </a:xfrm>
              <a:prstGeom prst="rect">
                <a:avLst/>
              </a:prstGeom>
              <a:noFill/>
            </p:spPr>
            <p:txBody>
              <a:bodyPr wrap="square" rtlCol="0">
                <a:spAutoFit/>
              </a:bodyPr>
              <a:lstStyle/>
              <a:p>
                <a:r>
                  <a:rPr lang="zh-CN" altLang="en-US" sz="2000" b="1" dirty="0">
                    <a:latin typeface="微软雅黑" panose="020B0503020204020204" pitchFamily="34" charset="-122"/>
                    <a:ea typeface="微软雅黑" panose="020B0503020204020204" pitchFamily="34" charset="-122"/>
                  </a:rPr>
                  <a:t>这里的 </a:t>
                </a:r>
                <a14:m>
                  <m:oMath xmlns:m="http://schemas.openxmlformats.org/officeDocument/2006/math">
                    <m:sSub>
                      <m:sSubPr>
                        <m:ctrlPr>
                          <a:rPr lang="zh-CN" altLang="en-US" sz="2000" b="1" i="1" smtClean="0">
                            <a:solidFill>
                              <a:srgbClr val="000000"/>
                            </a:solidFill>
                            <a:latin typeface="Cambria Math" panose="02040503050406030204" pitchFamily="18" charset="0"/>
                          </a:rPr>
                        </m:ctrlPr>
                      </m:sSubPr>
                      <m:e>
                        <m:r>
                          <a:rPr lang="zh-CN" altLang="en-US" sz="2000" b="1" i="0">
                            <a:solidFill>
                              <a:srgbClr val="000000"/>
                            </a:solidFill>
                            <a:latin typeface="Cambria Math" panose="02040503050406030204" pitchFamily="18" charset="0"/>
                          </a:rPr>
                          <m:t>𝐤</m:t>
                        </m:r>
                      </m:e>
                      <m:sub>
                        <m:r>
                          <a:rPr lang="zh-CN" altLang="en-US" sz="2000" b="1" i="0">
                            <a:solidFill>
                              <a:srgbClr val="000000"/>
                            </a:solidFill>
                            <a:latin typeface="Cambria Math" panose="02040503050406030204" pitchFamily="18" charset="0"/>
                          </a:rPr>
                          <m:t>𝐩</m:t>
                        </m:r>
                      </m:sub>
                    </m:sSub>
                  </m:oMath>
                </a14:m>
                <a:r>
                  <a:rPr lang="zh-CN" altLang="en-US" sz="2000" b="1" dirty="0">
                    <a:latin typeface="微软雅黑" panose="020B0503020204020204" pitchFamily="34" charset="-122"/>
                    <a:ea typeface="微软雅黑" panose="020B0503020204020204" pitchFamily="34" charset="-122"/>
                  </a:rPr>
                  <a:t>和 </a:t>
                </a:r>
                <a14:m>
                  <m:oMath xmlns:m="http://schemas.openxmlformats.org/officeDocument/2006/math">
                    <m:sSub>
                      <m:sSubPr>
                        <m:ctrlPr>
                          <a:rPr lang="zh-CN" altLang="en-US" sz="2000" b="1" i="1">
                            <a:solidFill>
                              <a:srgbClr val="000000"/>
                            </a:solidFill>
                            <a:latin typeface="Cambria Math" panose="02040503050406030204" pitchFamily="18" charset="0"/>
                          </a:rPr>
                        </m:ctrlPr>
                      </m:sSubPr>
                      <m:e>
                        <m:r>
                          <a:rPr lang="zh-CN" altLang="en-US" sz="2000" b="1" i="0">
                            <a:solidFill>
                              <a:srgbClr val="000000"/>
                            </a:solidFill>
                            <a:latin typeface="Cambria Math" panose="02040503050406030204" pitchFamily="18" charset="0"/>
                          </a:rPr>
                          <m:t>𝐤</m:t>
                        </m:r>
                      </m:e>
                      <m:sub>
                        <m:r>
                          <a:rPr lang="zh-CN" altLang="en-US" sz="2000" b="1" i="0">
                            <a:solidFill>
                              <a:srgbClr val="000000"/>
                            </a:solidFill>
                            <a:latin typeface="Cambria Math" panose="02040503050406030204" pitchFamily="18" charset="0"/>
                          </a:rPr>
                          <m:t>𝐝</m:t>
                        </m:r>
                      </m:sub>
                    </m:sSub>
                  </m:oMath>
                </a14:m>
                <a:r>
                  <a:rPr lang="zh-CN" altLang="en-US" sz="2000" b="1" dirty="0">
                    <a:latin typeface="微软雅黑" panose="020B0503020204020204" pitchFamily="34" charset="-122"/>
                    <a:ea typeface="微软雅黑" panose="020B0503020204020204" pitchFamily="34" charset="-122"/>
                  </a:rPr>
                  <a:t>是控制增益，然后得到</a:t>
                </a:r>
                <a14:m>
                  <m:oMath xmlns:m="http://schemas.openxmlformats.org/officeDocument/2006/math">
                    <m:r>
                      <a:rPr lang="en-US" altLang="zh-CN" sz="2000" b="1" i="0" smtClean="0">
                        <a:solidFill>
                          <a:srgbClr val="000000"/>
                        </a:solidFill>
                        <a:latin typeface="Cambria Math" panose="02040503050406030204" pitchFamily="18" charset="0"/>
                      </a:rPr>
                      <m:t>   </m:t>
                    </m:r>
                  </m:oMath>
                </a14:m>
                <a:endParaRPr lang="en-US" altLang="zh-CN" sz="2000" b="1" dirty="0">
                  <a:solidFill>
                    <a:srgbClr val="000000"/>
                  </a:solidFill>
                  <a:latin typeface="微软雅黑" panose="020B0503020204020204" pitchFamily="34" charset="-122"/>
                  <a:ea typeface="微软雅黑" panose="020B0503020204020204" pitchFamily="34" charset="-122"/>
                </a:endParaRPr>
              </a:p>
              <a:p>
                <a:pPr>
                  <a:lnSpc>
                    <a:spcPct val="150000"/>
                  </a:lnSpc>
                </a:pPr>
                <a14:m>
                  <m:oMath xmlns:m="http://schemas.openxmlformats.org/officeDocument/2006/math">
                    <m:r>
                      <a:rPr lang="en-US" altLang="zh-CN" sz="2000" b="1" i="1" smtClean="0">
                        <a:solidFill>
                          <a:srgbClr val="000000"/>
                        </a:solidFill>
                        <a:latin typeface="Cambria Math" panose="02040503050406030204" pitchFamily="18" charset="0"/>
                      </a:rPr>
                      <m:t>            </m:t>
                    </m:r>
                    <m:r>
                      <a:rPr lang="zh-CN" altLang="en-US" sz="2000" b="1" i="1">
                        <a:solidFill>
                          <a:srgbClr val="000000"/>
                        </a:solidFill>
                        <a:latin typeface="Cambria Math" panose="02040503050406030204" pitchFamily="18" charset="0"/>
                      </a:rPr>
                      <m:t>𝑴</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𝜽</m:t>
                    </m:r>
                    <m:r>
                      <a:rPr lang="zh-CN" altLang="en-US" sz="2000" b="1" i="1">
                        <a:solidFill>
                          <a:srgbClr val="000000"/>
                        </a:solidFill>
                        <a:latin typeface="Cambria Math" panose="02040503050406030204" pitchFamily="18" charset="0"/>
                      </a:rPr>
                      <m:t>)</m:t>
                    </m:r>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𝑪</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𝜽</m:t>
                    </m:r>
                    <m:r>
                      <a:rPr lang="zh-CN" altLang="en-US" sz="2000" b="1" i="1">
                        <a:solidFill>
                          <a:srgbClr val="000000"/>
                        </a:solidFill>
                        <a:latin typeface="Cambria Math" panose="02040503050406030204" pitchFamily="18" charset="0"/>
                      </a:rPr>
                      <m:t>,</m:t>
                    </m:r>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r>
                      <a:rPr lang="zh-CN" altLang="en-US" sz="2000" b="1" i="1">
                        <a:solidFill>
                          <a:srgbClr val="000000"/>
                        </a:solidFill>
                        <a:latin typeface="Cambria Math" panose="02040503050406030204" pitchFamily="18" charset="0"/>
                      </a:rPr>
                      <m:t>)</m:t>
                    </m:r>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r>
                      <a:rPr lang="zh-CN" altLang="en-US" sz="2000" b="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𝒌</m:t>
                        </m:r>
                      </m:e>
                      <m:sub>
                        <m:r>
                          <a:rPr lang="zh-CN" altLang="en-US" sz="2000" b="1" i="1">
                            <a:solidFill>
                              <a:srgbClr val="000000"/>
                            </a:solidFill>
                            <a:latin typeface="Cambria Math" panose="02040503050406030204" pitchFamily="18" charset="0"/>
                          </a:rPr>
                          <m:t>𝒑</m:t>
                        </m:r>
                      </m:sub>
                    </m:sSub>
                    <m:r>
                      <a:rPr lang="zh-CN" altLang="en-US" sz="2000" b="1" i="1">
                        <a:solidFill>
                          <a:srgbClr val="000000"/>
                        </a:solidFill>
                        <a:latin typeface="Cambria Math" panose="02040503050406030204" pitchFamily="18" charset="0"/>
                      </a:rPr>
                      <m:t>𝒆</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𝒌</m:t>
                        </m:r>
                      </m:e>
                      <m:sub>
                        <m:r>
                          <a:rPr lang="zh-CN" altLang="en-US" sz="2000" b="1" i="1">
                            <a:solidFill>
                              <a:srgbClr val="000000"/>
                            </a:solidFill>
                            <a:latin typeface="Cambria Math" panose="02040503050406030204" pitchFamily="18" charset="0"/>
                          </a:rPr>
                          <m:t>𝒅</m:t>
                        </m:r>
                      </m:sub>
                    </m:sSub>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𝒆</m:t>
                        </m:r>
                      </m:e>
                    </m:acc>
                  </m:oMath>
                </a14:m>
                <a:r>
                  <a:rPr lang="en-US" altLang="zh-CN" sz="2000" b="1" dirty="0">
                    <a:latin typeface="微软雅黑" panose="020B0503020204020204" pitchFamily="34" charset="-122"/>
                    <a:ea typeface="微软雅黑" panose="020B0503020204020204" pitchFamily="34" charset="-122"/>
                  </a:rPr>
                  <a:t>                             (7.10)</a:t>
                </a:r>
                <a:endParaRPr lang="zh-CN" altLang="en-US" sz="2000" b="1" dirty="0">
                  <a:latin typeface="微软雅黑" panose="020B0503020204020204" pitchFamily="34" charset="-122"/>
                  <a:ea typeface="微软雅黑" panose="020B0503020204020204" pitchFamily="34" charset="-122"/>
                </a:endParaRPr>
              </a:p>
              <a:p>
                <a:endParaRPr lang="zh-CN" altLang="en-US" dirty="0"/>
              </a:p>
            </p:txBody>
          </p:sp>
        </mc:Choice>
        <mc:Fallback xmlns="">
          <p:sp>
            <p:nvSpPr>
              <p:cNvPr id="28" name="文本框 27">
                <a:extLst>
                  <a:ext uri="{FF2B5EF4-FFF2-40B4-BE49-F238E27FC236}">
                    <a16:creationId xmlns:a16="http://schemas.microsoft.com/office/drawing/2014/main" id="{19E8BF1B-910C-B187-D589-46768430CE6E}"/>
                  </a:ext>
                </a:extLst>
              </p:cNvPr>
              <p:cNvSpPr txBox="1">
                <a:spLocks noRot="1" noChangeAspect="1" noMove="1" noResize="1" noEditPoints="1" noAdjustHandles="1" noChangeArrowheads="1" noChangeShapeType="1" noTextEdit="1"/>
              </p:cNvSpPr>
              <p:nvPr/>
            </p:nvSpPr>
            <p:spPr>
              <a:xfrm>
                <a:off x="1704975" y="3997084"/>
                <a:ext cx="8229600" cy="1258614"/>
              </a:xfrm>
              <a:prstGeom prst="rect">
                <a:avLst/>
              </a:prstGeom>
              <a:blipFill>
                <a:blip r:embed="rId5"/>
                <a:stretch>
                  <a:fillRect l="-815" t="-2913"/>
                </a:stretch>
              </a:blipFill>
            </p:spPr>
            <p:txBody>
              <a:bodyPr/>
              <a:lstStyle/>
              <a:p>
                <a:r>
                  <a:rPr lang="zh-CN" altLang="en-US">
                    <a:noFill/>
                  </a:rPr>
                  <a:t> </a:t>
                </a:r>
              </a:p>
            </p:txBody>
          </p:sp>
        </mc:Fallback>
      </mc:AlternateContent>
      <p:sp>
        <p:nvSpPr>
          <p:cNvPr id="32" name="文本框 31">
            <a:extLst>
              <a:ext uri="{FF2B5EF4-FFF2-40B4-BE49-F238E27FC236}">
                <a16:creationId xmlns:a16="http://schemas.microsoft.com/office/drawing/2014/main" id="{70B4A4C1-3BB8-B391-5EC4-CF35D6BDC683}"/>
              </a:ext>
            </a:extLst>
          </p:cNvPr>
          <p:cNvSpPr txBox="1"/>
          <p:nvPr/>
        </p:nvSpPr>
        <p:spPr>
          <a:xfrm>
            <a:off x="1443038" y="5112995"/>
            <a:ext cx="6724650" cy="307264"/>
          </a:xfrm>
          <a:prstGeom prst="rect">
            <a:avLst/>
          </a:prstGeom>
          <a:noFill/>
        </p:spPr>
        <p:txBody>
          <a:bodyPr wrap="square" rtlCol="0">
            <a:spAutoFit/>
          </a:bodyPr>
          <a:lstStyle/>
          <a:p>
            <a:pPr indent="269875" algn="just">
              <a:lnSpc>
                <a:spcPts val="1595"/>
              </a:lnSpc>
            </a:pPr>
            <a:r>
              <a:rPr lang="zh-CN" altLang="zh-CN" sz="2000" b="1" kern="1000" dirty="0">
                <a:effectLst/>
                <a:latin typeface="微软雅黑" panose="020B0503020204020204" pitchFamily="34" charset="-122"/>
                <a:ea typeface="微软雅黑" panose="020B0503020204020204" pitchFamily="34" charset="-122"/>
              </a:rPr>
              <a:t>为了证明平衡点的稳定性，引入如下</a:t>
            </a:r>
            <a:r>
              <a:rPr lang="en-US" altLang="zh-CN" sz="2000" b="1" kern="1000" dirty="0">
                <a:effectLst/>
                <a:latin typeface="微软雅黑" panose="020B0503020204020204" pitchFamily="34" charset="-122"/>
                <a:ea typeface="微软雅黑" panose="020B0503020204020204" pitchFamily="34" charset="-122"/>
              </a:rPr>
              <a:t>Lyapunov</a:t>
            </a:r>
            <a:r>
              <a:rPr lang="zh-CN" altLang="zh-CN" sz="2000" b="1" kern="1000" dirty="0">
                <a:effectLst/>
                <a:latin typeface="微软雅黑" panose="020B0503020204020204" pitchFamily="34" charset="-122"/>
                <a:ea typeface="微软雅黑" panose="020B0503020204020204" pitchFamily="34" charset="-122"/>
              </a:rPr>
              <a:t>函数：</a:t>
            </a:r>
          </a:p>
        </p:txBody>
      </p:sp>
      <mc:AlternateContent xmlns:mc="http://schemas.openxmlformats.org/markup-compatibility/2006" xmlns:a14="http://schemas.microsoft.com/office/drawing/2010/main">
        <mc:Choice Requires="a14">
          <p:sp>
            <p:nvSpPr>
              <p:cNvPr id="33" name="对象 17">
                <a:extLst>
                  <a:ext uri="{FF2B5EF4-FFF2-40B4-BE49-F238E27FC236}">
                    <a16:creationId xmlns:a16="http://schemas.microsoft.com/office/drawing/2014/main" id="{375D83EF-23A9-C905-6562-8AE8FEA5ECC9}"/>
                  </a:ext>
                </a:extLst>
              </p:cNvPr>
              <p:cNvSpPr txBox="1"/>
              <p:nvPr/>
            </p:nvSpPr>
            <p:spPr bwMode="auto">
              <a:xfrm>
                <a:off x="2333625" y="5504834"/>
                <a:ext cx="8229600" cy="866775"/>
              </a:xfrm>
              <a:prstGeom prst="rect">
                <a:avLst/>
              </a:prstGeom>
              <a:solidFill>
                <a:schemeClr val="bg1"/>
              </a:solidFill>
              <a:ln>
                <a:solidFill>
                  <a:schemeClr val="bg1"/>
                </a:solidFill>
              </a:ln>
            </p:spPr>
            <p:txBody>
              <a:bodyPr>
                <a:normAutofit/>
              </a:bodyPr>
              <a:lstStyle/>
              <a:p>
                <a14:m>
                  <m:oMath xmlns:m="http://schemas.openxmlformats.org/officeDocument/2006/math">
                    <m:r>
                      <a:rPr lang="en-US" altLang="zh-CN" sz="2000" b="1" i="1" smtClean="0">
                        <a:solidFill>
                          <a:srgbClr val="000000"/>
                        </a:solidFill>
                        <a:latin typeface="Cambria Math" panose="02040503050406030204" pitchFamily="18" charset="0"/>
                      </a:rPr>
                      <m:t> </m:t>
                    </m:r>
                    <m:r>
                      <a:rPr lang="zh-CN" altLang="en-US" sz="2000" b="1" i="1" smtClean="0">
                        <a:solidFill>
                          <a:srgbClr val="000000"/>
                        </a:solidFill>
                        <a:latin typeface="Cambria Math" panose="02040503050406030204" pitchFamily="18" charset="0"/>
                      </a:rPr>
                      <m:t>𝑽</m:t>
                    </m:r>
                    <m:d>
                      <m:dPr>
                        <m:ctrlPr>
                          <a:rPr lang="zh-CN" altLang="en-US" sz="2000" b="1" i="1">
                            <a:solidFill>
                              <a:srgbClr val="000000"/>
                            </a:solidFill>
                            <a:latin typeface="Cambria Math" panose="02040503050406030204" pitchFamily="18" charset="0"/>
                          </a:rPr>
                        </m:ctrlPr>
                      </m:dPr>
                      <m:e>
                        <m:r>
                          <a:rPr lang="zh-CN" altLang="en-US" sz="2000" b="1" i="1">
                            <a:solidFill>
                              <a:srgbClr val="000000"/>
                            </a:solidFill>
                            <a:latin typeface="Cambria Math" panose="02040503050406030204" pitchFamily="18" charset="0"/>
                          </a:rPr>
                          <m:t>𝒕</m:t>
                        </m:r>
                      </m:e>
                    </m:d>
                    <m:r>
                      <a:rPr lang="zh-CN" altLang="en-US" sz="2000" b="1" i="1">
                        <a:solidFill>
                          <a:srgbClr val="000000"/>
                        </a:solidFill>
                        <a:latin typeface="Cambria Math" panose="02040503050406030204" pitchFamily="18" charset="0"/>
                      </a:rPr>
                      <m:t>=</m:t>
                    </m:r>
                    <m:f>
                      <m:fPr>
                        <m:ctrlPr>
                          <a:rPr lang="zh-CN" altLang="en-US" sz="2000" b="1" i="1">
                            <a:solidFill>
                              <a:srgbClr val="000000"/>
                            </a:solidFill>
                            <a:latin typeface="Cambria Math" panose="02040503050406030204" pitchFamily="18" charset="0"/>
                          </a:rPr>
                        </m:ctrlPr>
                      </m:fPr>
                      <m:num>
                        <m:r>
                          <a:rPr lang="zh-CN" altLang="en-US" sz="2000" b="1" i="1">
                            <a:solidFill>
                              <a:srgbClr val="000000"/>
                            </a:solidFill>
                            <a:latin typeface="Cambria Math" panose="02040503050406030204" pitchFamily="18" charset="0"/>
                          </a:rPr>
                          <m:t>𝟏</m:t>
                        </m:r>
                      </m:num>
                      <m:den>
                        <m:r>
                          <a:rPr lang="zh-CN" altLang="en-US" sz="2000" b="1" i="1">
                            <a:solidFill>
                              <a:srgbClr val="000000"/>
                            </a:solidFill>
                            <a:latin typeface="Cambria Math" panose="02040503050406030204" pitchFamily="18" charset="0"/>
                          </a:rPr>
                          <m:t>𝟐</m:t>
                        </m:r>
                      </m:den>
                    </m:f>
                    <m:sSup>
                      <m:sSupPr>
                        <m:ctrlPr>
                          <a:rPr lang="zh-CN" altLang="en-US" sz="2000" b="1" i="1">
                            <a:solidFill>
                              <a:srgbClr val="000000"/>
                            </a:solidFill>
                            <a:latin typeface="Cambria Math" panose="02040503050406030204" pitchFamily="18" charset="0"/>
                          </a:rPr>
                        </m:ctrlPr>
                      </m:sSup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p>
                        <m:r>
                          <a:rPr lang="zh-CN" altLang="en-US" sz="2000" b="1" i="1">
                            <a:solidFill>
                              <a:srgbClr val="000000"/>
                            </a:solidFill>
                            <a:latin typeface="Cambria Math" panose="02040503050406030204" pitchFamily="18" charset="0"/>
                          </a:rPr>
                          <m:t>𝑻</m:t>
                        </m:r>
                      </m:sup>
                    </m:sSup>
                    <m:r>
                      <a:rPr lang="zh-CN" altLang="en-US" sz="2000" b="1" i="1">
                        <a:solidFill>
                          <a:srgbClr val="000000"/>
                        </a:solidFill>
                        <a:latin typeface="Cambria Math" panose="02040503050406030204" pitchFamily="18" charset="0"/>
                      </a:rPr>
                      <m:t>𝑴</m:t>
                    </m:r>
                    <m:d>
                      <m:dPr>
                        <m:ctrlPr>
                          <a:rPr lang="zh-CN" altLang="en-US" sz="2000" b="1" i="1">
                            <a:solidFill>
                              <a:srgbClr val="000000"/>
                            </a:solidFill>
                            <a:latin typeface="Cambria Math" panose="02040503050406030204" pitchFamily="18" charset="0"/>
                          </a:rPr>
                        </m:ctrlPr>
                      </m:dPr>
                      <m:e>
                        <m:r>
                          <a:rPr lang="zh-CN" altLang="en-US" sz="2000" b="1" i="1">
                            <a:solidFill>
                              <a:srgbClr val="000000"/>
                            </a:solidFill>
                            <a:latin typeface="Cambria Math" panose="02040503050406030204" pitchFamily="18" charset="0"/>
                          </a:rPr>
                          <m:t>𝜽</m:t>
                        </m:r>
                      </m:e>
                    </m:d>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r>
                      <a:rPr lang="zh-CN" altLang="en-US" sz="2000" b="1" i="1">
                        <a:solidFill>
                          <a:srgbClr val="000000"/>
                        </a:solidFill>
                        <a:latin typeface="Cambria Math" panose="02040503050406030204" pitchFamily="18" charset="0"/>
                      </a:rPr>
                      <m:t>+</m:t>
                    </m:r>
                    <m:f>
                      <m:fPr>
                        <m:ctrlPr>
                          <a:rPr lang="zh-CN" altLang="en-US" sz="2000" b="1" i="1">
                            <a:solidFill>
                              <a:srgbClr val="000000"/>
                            </a:solidFill>
                            <a:latin typeface="Cambria Math" panose="02040503050406030204" pitchFamily="18" charset="0"/>
                          </a:rPr>
                        </m:ctrlPr>
                      </m:fPr>
                      <m:num>
                        <m:r>
                          <a:rPr lang="zh-CN" altLang="en-US" sz="2000" b="1" i="1">
                            <a:solidFill>
                              <a:srgbClr val="000000"/>
                            </a:solidFill>
                            <a:latin typeface="Cambria Math" panose="02040503050406030204" pitchFamily="18" charset="0"/>
                          </a:rPr>
                          <m:t>𝟏</m:t>
                        </m:r>
                      </m:num>
                      <m:den>
                        <m:r>
                          <a:rPr lang="zh-CN" altLang="en-US" sz="2000" b="1" i="1">
                            <a:solidFill>
                              <a:srgbClr val="000000"/>
                            </a:solidFill>
                            <a:latin typeface="Cambria Math" panose="02040503050406030204" pitchFamily="18" charset="0"/>
                          </a:rPr>
                          <m:t>𝟐</m:t>
                        </m:r>
                      </m:den>
                    </m:f>
                    <m:sSup>
                      <m:sSupPr>
                        <m:ctrlPr>
                          <a:rPr lang="zh-CN" altLang="en-US" sz="2000" b="1" i="1">
                            <a:solidFill>
                              <a:srgbClr val="000000"/>
                            </a:solidFill>
                            <a:latin typeface="Cambria Math" panose="02040503050406030204" pitchFamily="18" charset="0"/>
                          </a:rPr>
                        </m:ctrlPr>
                      </m:sSupPr>
                      <m:e>
                        <m:r>
                          <a:rPr lang="zh-CN" altLang="en-US" sz="2000" b="1" i="1">
                            <a:solidFill>
                              <a:srgbClr val="000000"/>
                            </a:solidFill>
                            <a:latin typeface="Cambria Math" panose="02040503050406030204" pitchFamily="18" charset="0"/>
                          </a:rPr>
                          <m:t>𝒆</m:t>
                        </m:r>
                      </m:e>
                      <m:sup>
                        <m:r>
                          <a:rPr lang="zh-CN" altLang="en-US" sz="2000" b="1" i="1">
                            <a:solidFill>
                              <a:srgbClr val="000000"/>
                            </a:solidFill>
                            <a:latin typeface="Cambria Math" panose="02040503050406030204" pitchFamily="18" charset="0"/>
                          </a:rPr>
                          <m:t>𝑻</m:t>
                        </m:r>
                      </m:sup>
                    </m:sSup>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𝒌</m:t>
                        </m:r>
                      </m:e>
                      <m:sub>
                        <m:r>
                          <a:rPr lang="zh-CN" altLang="en-US" sz="2000" b="1" i="1">
                            <a:solidFill>
                              <a:srgbClr val="000000"/>
                            </a:solidFill>
                            <a:latin typeface="Cambria Math" panose="02040503050406030204" pitchFamily="18" charset="0"/>
                          </a:rPr>
                          <m:t>𝒑</m:t>
                        </m:r>
                      </m:sub>
                    </m:sSub>
                    <m:r>
                      <a:rPr lang="zh-CN" altLang="en-US" sz="2000" b="1" i="1">
                        <a:solidFill>
                          <a:srgbClr val="000000"/>
                        </a:solidFill>
                        <a:latin typeface="Cambria Math" panose="02040503050406030204" pitchFamily="18" charset="0"/>
                      </a:rPr>
                      <m:t>𝒆</m:t>
                    </m:r>
                    <m:r>
                      <a:rPr lang="en-US" altLang="zh-CN" sz="2000" b="1" i="1" smtClean="0">
                        <a:solidFill>
                          <a:srgbClr val="000000"/>
                        </a:solidFill>
                        <a:latin typeface="Cambria Math" panose="02040503050406030204" pitchFamily="18" charset="0"/>
                      </a:rPr>
                      <m:t>  </m:t>
                    </m:r>
                  </m:oMath>
                </a14:m>
                <a:r>
                  <a:rPr lang="en-US" altLang="zh-CN" sz="2000" b="1" dirty="0">
                    <a:latin typeface="宋体" panose="02010600030101010101" pitchFamily="2" charset="-122"/>
                    <a:ea typeface="宋体" panose="02010600030101010101" pitchFamily="2" charset="-122"/>
                  </a:rPr>
                  <a:t>                   </a:t>
                </a:r>
                <a:r>
                  <a:rPr lang="en-US" altLang="zh-CN" sz="2000" b="1" dirty="0">
                    <a:latin typeface="微软雅黑" panose="020B0503020204020204" pitchFamily="34" charset="-122"/>
                    <a:ea typeface="微软雅黑" panose="020B0503020204020204" pitchFamily="34" charset="-122"/>
                  </a:rPr>
                  <a:t>(7.11)</a:t>
                </a:r>
                <a:endParaRPr lang="zh-CN" altLang="en-US" sz="2000" b="1" dirty="0">
                  <a:latin typeface="微软雅黑" panose="020B0503020204020204" pitchFamily="34" charset="-122"/>
                  <a:ea typeface="微软雅黑" panose="020B0503020204020204" pitchFamily="34" charset="-122"/>
                </a:endParaRPr>
              </a:p>
              <a:p>
                <a:r>
                  <a:rPr lang="zh-CN" altLang="en-US" sz="2000" b="1" dirty="0"/>
                  <a:t>                              </a:t>
                </a:r>
              </a:p>
            </p:txBody>
          </p:sp>
        </mc:Choice>
        <mc:Fallback xmlns="">
          <p:sp>
            <p:nvSpPr>
              <p:cNvPr id="33" name="对象 17">
                <a:extLst>
                  <a:ext uri="{FF2B5EF4-FFF2-40B4-BE49-F238E27FC236}">
                    <a16:creationId xmlns:a16="http://schemas.microsoft.com/office/drawing/2014/main" id="{375D83EF-23A9-C905-6562-8AE8FEA5ECC9}"/>
                  </a:ext>
                </a:extLst>
              </p:cNvPr>
              <p:cNvSpPr txBox="1">
                <a:spLocks noRot="1" noChangeAspect="1" noMove="1" noResize="1" noEditPoints="1" noAdjustHandles="1" noChangeArrowheads="1" noChangeShapeType="1" noTextEdit="1"/>
              </p:cNvSpPr>
              <p:nvPr/>
            </p:nvSpPr>
            <p:spPr bwMode="auto">
              <a:xfrm>
                <a:off x="2333625" y="5504834"/>
                <a:ext cx="8229600" cy="866775"/>
              </a:xfrm>
              <a:prstGeom prst="rect">
                <a:avLst/>
              </a:prstGeom>
              <a:blipFill>
                <a:blip r:embed="rId6"/>
                <a:stretch>
                  <a:fillRect/>
                </a:stretch>
              </a:blipFill>
              <a:ln>
                <a:solidFill>
                  <a:schemeClr val="bg1"/>
                </a:solidFill>
              </a:ln>
            </p:spPr>
            <p:txBody>
              <a:bodyPr/>
              <a:lstStyle/>
              <a:p>
                <a:r>
                  <a:rPr lang="zh-CN" altLang="en-US">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804A20F-FB71-8F05-9653-91D626E5D5B0}"/>
              </a:ext>
            </a:extLst>
          </p:cNvPr>
          <p:cNvSpPr txBox="1"/>
          <p:nvPr>
            <p:custDataLst>
              <p:tags r:id="rId1"/>
            </p:custDataLst>
          </p:nvPr>
        </p:nvSpPr>
        <p:spPr>
          <a:xfrm>
            <a:off x="1357313" y="128685"/>
            <a:ext cx="8158162"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7.2.2</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 机器人控制方法和控制器设计</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8CAAD5E3-B608-DAD7-2F4F-30990C925544}"/>
                  </a:ext>
                </a:extLst>
              </p:cNvPr>
              <p:cNvSpPr txBox="1"/>
              <p:nvPr/>
            </p:nvSpPr>
            <p:spPr>
              <a:xfrm>
                <a:off x="862013" y="1257300"/>
                <a:ext cx="4443412"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对</a:t>
                </a:r>
                <a14:m>
                  <m:oMath xmlns:m="http://schemas.openxmlformats.org/officeDocument/2006/math">
                    <m:r>
                      <a:rPr lang="zh-CN" altLang="en-US" sz="2400" b="1" i="1" smtClean="0">
                        <a:solidFill>
                          <a:srgbClr val="000000"/>
                        </a:solidFill>
                        <a:latin typeface="Cambria Math" panose="02040503050406030204" pitchFamily="18" charset="0"/>
                      </a:rPr>
                      <m:t>𝑽</m:t>
                    </m:r>
                    <m:r>
                      <m:rPr>
                        <m:nor/>
                      </m:rPr>
                      <a:rPr lang="zh-CN" altLang="en-US" sz="2400" b="1" dirty="0">
                        <a:latin typeface="微软雅黑" panose="020B0503020204020204" pitchFamily="34" charset="-122"/>
                        <a:ea typeface="微软雅黑" panose="020B0503020204020204" pitchFamily="34" charset="-122"/>
                      </a:rPr>
                      <m:t>求导</m:t>
                    </m:r>
                  </m:oMath>
                </a14:m>
                <a:r>
                  <a:rPr lang="zh-CN" altLang="en-US" sz="2400" b="1" dirty="0">
                    <a:latin typeface="微软雅黑" panose="020B0503020204020204" pitchFamily="34" charset="-122"/>
                    <a:ea typeface="微软雅黑" panose="020B0503020204020204" pitchFamily="34" charset="-122"/>
                  </a:rPr>
                  <a:t>得：</a:t>
                </a:r>
              </a:p>
            </p:txBody>
          </p:sp>
        </mc:Choice>
        <mc:Fallback xmlns="">
          <p:sp>
            <p:nvSpPr>
              <p:cNvPr id="3" name="文本框 2">
                <a:extLst>
                  <a:ext uri="{FF2B5EF4-FFF2-40B4-BE49-F238E27FC236}">
                    <a16:creationId xmlns:a16="http://schemas.microsoft.com/office/drawing/2014/main" id="{8CAAD5E3-B608-DAD7-2F4F-30990C925544}"/>
                  </a:ext>
                </a:extLst>
              </p:cNvPr>
              <p:cNvSpPr txBox="1">
                <a:spLocks noRot="1" noChangeAspect="1" noMove="1" noResize="1" noEditPoints="1" noAdjustHandles="1" noChangeArrowheads="1" noChangeShapeType="1" noTextEdit="1"/>
              </p:cNvSpPr>
              <p:nvPr/>
            </p:nvSpPr>
            <p:spPr>
              <a:xfrm>
                <a:off x="862013" y="1257300"/>
                <a:ext cx="4443412" cy="461665"/>
              </a:xfrm>
              <a:prstGeom prst="rect">
                <a:avLst/>
              </a:prstGeom>
              <a:blipFill>
                <a:blip r:embed="rId3"/>
                <a:stretch>
                  <a:fillRect l="-2058" t="-10526" b="-2894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对象 2">
                <a:extLst>
                  <a:ext uri="{FF2B5EF4-FFF2-40B4-BE49-F238E27FC236}">
                    <a16:creationId xmlns:a16="http://schemas.microsoft.com/office/drawing/2014/main" id="{49C91AAB-F3DE-FBF2-D79A-ADFA13347F92}"/>
                  </a:ext>
                </a:extLst>
              </p:cNvPr>
              <p:cNvSpPr txBox="1"/>
              <p:nvPr/>
            </p:nvSpPr>
            <p:spPr bwMode="auto">
              <a:xfrm>
                <a:off x="1357313" y="1773565"/>
                <a:ext cx="8337550" cy="2516187"/>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sz="2400" b="1" i="1" smtClean="0">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𝑽</m:t>
                          </m:r>
                        </m:e>
                      </m:acc>
                      <m:r>
                        <a:rPr lang="zh-CN" altLang="en-US" sz="2400" b="1" i="1">
                          <a:solidFill>
                            <a:srgbClr val="000000"/>
                          </a:solidFill>
                          <a:latin typeface="Cambria Math" panose="02040503050406030204" pitchFamily="18" charset="0"/>
                        </a:rPr>
                        <m:t>(</m:t>
                      </m:r>
                      <m:r>
                        <a:rPr lang="zh-CN" altLang="en-US" sz="2400" b="1" i="0">
                          <a:solidFill>
                            <a:srgbClr val="000000"/>
                          </a:solidFill>
                          <a:latin typeface="Cambria Math" panose="02040503050406030204" pitchFamily="18" charset="0"/>
                        </a:rPr>
                        <m:t>𝐭</m:t>
                      </m:r>
                      <m:r>
                        <a:rPr lang="zh-CN" altLang="en-US" sz="2400" b="1" i="1">
                          <a:solidFill>
                            <a:srgbClr val="000000"/>
                          </a:solidFill>
                          <a:latin typeface="Cambria Math" panose="02040503050406030204" pitchFamily="18" charset="0"/>
                        </a:rPr>
                        <m:t>)=</m:t>
                      </m:r>
                      <m:sSup>
                        <m:sSupPr>
                          <m:ctrlPr>
                            <a:rPr lang="zh-CN" altLang="en-US" sz="2400" b="1" i="1">
                              <a:solidFill>
                                <a:srgbClr val="000000"/>
                              </a:solidFill>
                              <a:latin typeface="Cambria Math" panose="02040503050406030204" pitchFamily="18" charset="0"/>
                            </a:rPr>
                          </m:ctrlPr>
                        </m:sSup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p>
                          <m:r>
                            <a:rPr lang="zh-CN" altLang="en-US" sz="2400" b="1" i="1">
                              <a:solidFill>
                                <a:srgbClr val="000000"/>
                              </a:solidFill>
                              <a:latin typeface="Cambria Math" panose="02040503050406030204" pitchFamily="18" charset="0"/>
                            </a:rPr>
                            <m:t>𝑻</m:t>
                          </m:r>
                        </m:sup>
                      </m:sSup>
                      <m:r>
                        <a:rPr lang="zh-CN" altLang="en-US" sz="2400" b="1" i="1">
                          <a:solidFill>
                            <a:srgbClr val="000000"/>
                          </a:solidFill>
                          <a:latin typeface="Cambria Math" panose="02040503050406030204" pitchFamily="18" charset="0"/>
                        </a:rPr>
                        <m:t>𝑴</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𝜽</m:t>
                      </m:r>
                      <m:r>
                        <a:rPr lang="zh-CN" altLang="en-US" sz="2400" b="1" i="1">
                          <a:solidFill>
                            <a:srgbClr val="000000"/>
                          </a:solidFill>
                          <a:latin typeface="Cambria Math" panose="02040503050406030204" pitchFamily="18" charset="0"/>
                        </a:rPr>
                        <m:t>)</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r>
                        <a:rPr lang="zh-CN" altLang="en-US" sz="2400" b="1" i="1">
                          <a:solidFill>
                            <a:srgbClr val="000000"/>
                          </a:solidFill>
                          <a:latin typeface="Cambria Math" panose="02040503050406030204" pitchFamily="18" charset="0"/>
                        </a:rPr>
                        <m:t>+</m:t>
                      </m:r>
                      <m:f>
                        <m:fPr>
                          <m:ctrlPr>
                            <a:rPr lang="zh-CN" altLang="en-US" sz="2400" b="1" i="1">
                              <a:solidFill>
                                <a:srgbClr val="000000"/>
                              </a:solidFill>
                              <a:latin typeface="Cambria Math" panose="02040503050406030204" pitchFamily="18" charset="0"/>
                            </a:rPr>
                          </m:ctrlPr>
                        </m:fPr>
                        <m:num>
                          <m:r>
                            <a:rPr lang="zh-CN" altLang="en-US" sz="2400" b="1" i="1">
                              <a:solidFill>
                                <a:srgbClr val="000000"/>
                              </a:solidFill>
                              <a:latin typeface="Cambria Math" panose="02040503050406030204" pitchFamily="18" charset="0"/>
                            </a:rPr>
                            <m:t>𝟏</m:t>
                          </m:r>
                        </m:num>
                        <m:den>
                          <m:r>
                            <a:rPr lang="zh-CN" altLang="en-US" sz="2400" b="1" i="1">
                              <a:solidFill>
                                <a:srgbClr val="000000"/>
                              </a:solidFill>
                              <a:latin typeface="Cambria Math" panose="02040503050406030204" pitchFamily="18" charset="0"/>
                            </a:rPr>
                            <m:t>𝟐</m:t>
                          </m:r>
                        </m:den>
                      </m:f>
                      <m:sSup>
                        <m:sSupPr>
                          <m:ctrlPr>
                            <a:rPr lang="zh-CN" altLang="en-US" sz="2400" b="1" i="1">
                              <a:solidFill>
                                <a:srgbClr val="000000"/>
                              </a:solidFill>
                              <a:latin typeface="Cambria Math" panose="02040503050406030204" pitchFamily="18" charset="0"/>
                            </a:rPr>
                          </m:ctrlPr>
                        </m:sSup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p>
                          <m:r>
                            <a:rPr lang="zh-CN" altLang="en-US" sz="2400" b="1" i="1">
                              <a:solidFill>
                                <a:srgbClr val="000000"/>
                              </a:solidFill>
                              <a:latin typeface="Cambria Math" panose="02040503050406030204" pitchFamily="18" charset="0"/>
                            </a:rPr>
                            <m:t>𝑻</m:t>
                          </m:r>
                        </m:sup>
                      </m:sSup>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𝑴</m:t>
                          </m:r>
                        </m:e>
                      </m:acc>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𝜽</m:t>
                      </m:r>
                      <m:r>
                        <a:rPr lang="zh-CN" altLang="en-US" sz="2400" b="1" i="1">
                          <a:solidFill>
                            <a:srgbClr val="000000"/>
                          </a:solidFill>
                          <a:latin typeface="Cambria Math" panose="02040503050406030204" pitchFamily="18" charset="0"/>
                        </a:rPr>
                        <m:t>)</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r>
                        <a:rPr lang="zh-CN" altLang="en-US" sz="2400" b="1" i="1">
                          <a:solidFill>
                            <a:srgbClr val="000000"/>
                          </a:solidFill>
                          <a:latin typeface="Cambria Math" panose="02040503050406030204" pitchFamily="18" charset="0"/>
                        </a:rPr>
                        <m:t>+</m:t>
                      </m:r>
                      <m:sSup>
                        <m:sSupPr>
                          <m:ctrlPr>
                            <a:rPr lang="zh-CN" altLang="en-US" sz="2400" b="1" i="1">
                              <a:solidFill>
                                <a:srgbClr val="000000"/>
                              </a:solidFill>
                              <a:latin typeface="Cambria Math" panose="02040503050406030204" pitchFamily="18" charset="0"/>
                            </a:rPr>
                          </m:ctrlPr>
                        </m:sSupPr>
                        <m:e>
                          <m:r>
                            <a:rPr lang="zh-CN" altLang="en-US" sz="2400" b="1" i="1">
                              <a:solidFill>
                                <a:srgbClr val="000000"/>
                              </a:solidFill>
                              <a:latin typeface="Cambria Math" panose="02040503050406030204" pitchFamily="18" charset="0"/>
                            </a:rPr>
                            <m:t>𝒆</m:t>
                          </m:r>
                        </m:e>
                        <m:sup>
                          <m:r>
                            <a:rPr lang="zh-CN" altLang="en-US" sz="2400" b="1" i="1">
                              <a:solidFill>
                                <a:srgbClr val="000000"/>
                              </a:solidFill>
                              <a:latin typeface="Cambria Math" panose="02040503050406030204" pitchFamily="18" charset="0"/>
                            </a:rPr>
                            <m:t>𝑻</m:t>
                          </m:r>
                        </m:sup>
                      </m:sSup>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𝒌</m:t>
                          </m:r>
                        </m:e>
                        <m:sub>
                          <m:r>
                            <a:rPr lang="zh-CN" altLang="en-US" sz="2400" b="1" i="1">
                              <a:solidFill>
                                <a:srgbClr val="000000"/>
                              </a:solidFill>
                              <a:latin typeface="Cambria Math" panose="02040503050406030204" pitchFamily="18" charset="0"/>
                            </a:rPr>
                            <m:t>𝒑</m:t>
                          </m:r>
                        </m:sub>
                      </m:sSub>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𝒆</m:t>
                          </m:r>
                        </m:e>
                      </m:acc>
                    </m:oMath>
                    <m:oMath xmlns:m="http://schemas.openxmlformats.org/officeDocument/2006/math">
                      <m:m>
                        <m:mPr>
                          <m:plcHide m:val="on"/>
                          <m:mcs>
                            <m:mc>
                              <m:mcPr>
                                <m:count m:val="2"/>
                                <m:mcJc m:val="center"/>
                              </m:mcPr>
                            </m:mc>
                          </m:mcs>
                          <m:ctrlPr>
                            <a:rPr lang="zh-CN" altLang="en-US" sz="2400" b="1" i="1">
                              <a:solidFill>
                                <a:srgbClr val="000000"/>
                              </a:solidFill>
                              <a:latin typeface="Cambria Math" panose="02040503050406030204" pitchFamily="18" charset="0"/>
                            </a:rPr>
                          </m:ctrlPr>
                        </m:mPr>
                        <m:mr>
                          <m:e/>
                          <m:e/>
                        </m:mr>
                      </m:m>
                      <m:r>
                        <a:rPr lang="zh-CN" altLang="en-US" sz="2400" b="1" i="1">
                          <a:solidFill>
                            <a:srgbClr val="000000"/>
                          </a:solidFill>
                          <a:latin typeface="Cambria Math" panose="02040503050406030204" pitchFamily="18" charset="0"/>
                        </a:rPr>
                        <m:t>=</m:t>
                      </m:r>
                      <m:sSup>
                        <m:sSupPr>
                          <m:ctrlPr>
                            <a:rPr lang="zh-CN" altLang="en-US" sz="2400" b="1" i="1">
                              <a:solidFill>
                                <a:srgbClr val="000000"/>
                              </a:solidFill>
                              <a:latin typeface="Cambria Math" panose="02040503050406030204" pitchFamily="18" charset="0"/>
                            </a:rPr>
                          </m:ctrlPr>
                        </m:sSup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p>
                          <m:r>
                            <a:rPr lang="zh-CN" altLang="en-US" sz="2400" b="1" i="1">
                              <a:solidFill>
                                <a:srgbClr val="000000"/>
                              </a:solidFill>
                              <a:latin typeface="Cambria Math" panose="02040503050406030204" pitchFamily="18" charset="0"/>
                            </a:rPr>
                            <m:t>𝑻</m:t>
                          </m:r>
                        </m:sup>
                      </m:sSup>
                      <m:r>
                        <a:rPr lang="zh-CN" altLang="en-US" sz="2400" b="1" i="1">
                          <a:solidFill>
                            <a:srgbClr val="000000"/>
                          </a:solidFill>
                          <a:latin typeface="Cambria Math" panose="02040503050406030204" pitchFamily="18" charset="0"/>
                        </a:rPr>
                        <m:t>𝑴</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𝜽</m:t>
                      </m:r>
                      <m:r>
                        <a:rPr lang="zh-CN" altLang="en-US" sz="2400" b="1" i="1">
                          <a:solidFill>
                            <a:srgbClr val="000000"/>
                          </a:solidFill>
                          <a:latin typeface="Cambria Math" panose="02040503050406030204" pitchFamily="18" charset="0"/>
                        </a:rPr>
                        <m:t>)</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r>
                        <a:rPr lang="zh-CN" altLang="en-US" sz="2400" b="1" i="1">
                          <a:solidFill>
                            <a:srgbClr val="000000"/>
                          </a:solidFill>
                          <a:latin typeface="Cambria Math" panose="02040503050406030204" pitchFamily="18" charset="0"/>
                        </a:rPr>
                        <m:t>+</m:t>
                      </m:r>
                      <m:f>
                        <m:fPr>
                          <m:ctrlPr>
                            <a:rPr lang="zh-CN" altLang="en-US" sz="2400" b="1" i="1">
                              <a:solidFill>
                                <a:srgbClr val="000000"/>
                              </a:solidFill>
                              <a:latin typeface="Cambria Math" panose="02040503050406030204" pitchFamily="18" charset="0"/>
                            </a:rPr>
                          </m:ctrlPr>
                        </m:fPr>
                        <m:num>
                          <m:r>
                            <a:rPr lang="zh-CN" altLang="en-US" sz="2400" b="1" i="1">
                              <a:solidFill>
                                <a:srgbClr val="000000"/>
                              </a:solidFill>
                              <a:latin typeface="Cambria Math" panose="02040503050406030204" pitchFamily="18" charset="0"/>
                            </a:rPr>
                            <m:t>𝟏</m:t>
                          </m:r>
                        </m:num>
                        <m:den>
                          <m:r>
                            <a:rPr lang="zh-CN" altLang="en-US" sz="2400" b="1" i="1">
                              <a:solidFill>
                                <a:srgbClr val="000000"/>
                              </a:solidFill>
                              <a:latin typeface="Cambria Math" panose="02040503050406030204" pitchFamily="18" charset="0"/>
                            </a:rPr>
                            <m:t>𝟐</m:t>
                          </m:r>
                        </m:den>
                      </m:f>
                      <m:sSup>
                        <m:sSupPr>
                          <m:ctrlPr>
                            <a:rPr lang="zh-CN" altLang="en-US" sz="2400" b="1" i="1">
                              <a:solidFill>
                                <a:srgbClr val="000000"/>
                              </a:solidFill>
                              <a:latin typeface="Cambria Math" panose="02040503050406030204" pitchFamily="18" charset="0"/>
                            </a:rPr>
                          </m:ctrlPr>
                        </m:sSup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p>
                          <m:r>
                            <a:rPr lang="zh-CN" altLang="en-US" sz="2400" b="1" i="1">
                              <a:solidFill>
                                <a:srgbClr val="000000"/>
                              </a:solidFill>
                              <a:latin typeface="Cambria Math" panose="02040503050406030204" pitchFamily="18" charset="0"/>
                            </a:rPr>
                            <m:t>𝑻</m:t>
                          </m:r>
                        </m:sup>
                      </m:sSup>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𝑴</m:t>
                          </m:r>
                        </m:e>
                      </m:acc>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𝜽</m:t>
                      </m:r>
                      <m:r>
                        <a:rPr lang="zh-CN" altLang="en-US" sz="2400" b="1" i="1">
                          <a:solidFill>
                            <a:srgbClr val="000000"/>
                          </a:solidFill>
                          <a:latin typeface="Cambria Math" panose="02040503050406030204" pitchFamily="18" charset="0"/>
                        </a:rPr>
                        <m:t>)</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r>
                        <a:rPr lang="zh-CN" altLang="en-US" sz="2400" b="1" i="1">
                          <a:solidFill>
                            <a:srgbClr val="000000"/>
                          </a:solidFill>
                          <a:latin typeface="Cambria Math" panose="02040503050406030204" pitchFamily="18" charset="0"/>
                        </a:rPr>
                        <m:t>−</m:t>
                      </m:r>
                      <m:sSup>
                        <m:sSupPr>
                          <m:ctrlPr>
                            <a:rPr lang="zh-CN" altLang="en-US" sz="2400" b="1" i="1">
                              <a:solidFill>
                                <a:srgbClr val="000000"/>
                              </a:solidFill>
                              <a:latin typeface="Cambria Math" panose="02040503050406030204" pitchFamily="18" charset="0"/>
                            </a:rPr>
                          </m:ctrlPr>
                        </m:sSup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p>
                          <m:r>
                            <a:rPr lang="zh-CN" altLang="en-US" sz="2400" b="1" i="1">
                              <a:solidFill>
                                <a:srgbClr val="000000"/>
                              </a:solidFill>
                              <a:latin typeface="Cambria Math" panose="02040503050406030204" pitchFamily="18" charset="0"/>
                            </a:rPr>
                            <m:t>𝑻</m:t>
                          </m:r>
                        </m:sup>
                      </m:sSup>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𝒌</m:t>
                          </m:r>
                        </m:e>
                        <m:sub>
                          <m:r>
                            <a:rPr lang="zh-CN" altLang="en-US" sz="2400" b="1" i="1">
                              <a:solidFill>
                                <a:srgbClr val="000000"/>
                              </a:solidFill>
                              <a:latin typeface="Cambria Math" panose="02040503050406030204" pitchFamily="18" charset="0"/>
                            </a:rPr>
                            <m:t>𝒑</m:t>
                          </m:r>
                        </m:sub>
                      </m:sSub>
                      <m:r>
                        <a:rPr lang="zh-CN" altLang="en-US" sz="2400" b="1" i="1">
                          <a:solidFill>
                            <a:srgbClr val="000000"/>
                          </a:solidFill>
                          <a:latin typeface="Cambria Math" panose="02040503050406030204" pitchFamily="18" charset="0"/>
                        </a:rPr>
                        <m:t>𝒆</m:t>
                      </m:r>
                      <m:r>
                        <a:rPr lang="zh-CN" altLang="en-US" sz="2400" b="1" i="1">
                          <a:solidFill>
                            <a:srgbClr val="000000"/>
                          </a:solidFill>
                          <a:latin typeface="Cambria Math" panose="02040503050406030204" pitchFamily="18" charset="0"/>
                        </a:rPr>
                        <m:t>−</m:t>
                      </m:r>
                      <m:f>
                        <m:fPr>
                          <m:ctrlPr>
                            <a:rPr lang="zh-CN" altLang="en-US" sz="2400" b="1" i="1">
                              <a:solidFill>
                                <a:srgbClr val="000000"/>
                              </a:solidFill>
                              <a:latin typeface="Cambria Math" panose="02040503050406030204" pitchFamily="18" charset="0"/>
                            </a:rPr>
                          </m:ctrlPr>
                        </m:fPr>
                        <m:num>
                          <m:r>
                            <a:rPr lang="zh-CN" altLang="en-US" sz="2400" b="1" i="1">
                              <a:solidFill>
                                <a:srgbClr val="000000"/>
                              </a:solidFill>
                              <a:latin typeface="Cambria Math" panose="02040503050406030204" pitchFamily="18" charset="0"/>
                            </a:rPr>
                            <m:t>𝟏</m:t>
                          </m:r>
                        </m:num>
                        <m:den>
                          <m:r>
                            <a:rPr lang="zh-CN" altLang="en-US" sz="2400" b="1" i="1">
                              <a:solidFill>
                                <a:srgbClr val="000000"/>
                              </a:solidFill>
                              <a:latin typeface="Cambria Math" panose="02040503050406030204" pitchFamily="18" charset="0"/>
                            </a:rPr>
                            <m:t>𝟐</m:t>
                          </m:r>
                        </m:den>
                      </m:f>
                      <m:sSup>
                        <m:sSupPr>
                          <m:ctrlPr>
                            <a:rPr lang="zh-CN" altLang="en-US" sz="2400" b="1" i="1">
                              <a:solidFill>
                                <a:srgbClr val="000000"/>
                              </a:solidFill>
                              <a:latin typeface="Cambria Math" panose="02040503050406030204" pitchFamily="18" charset="0"/>
                            </a:rPr>
                          </m:ctrlPr>
                        </m:sSupPr>
                        <m:e>
                          <m:acc>
                            <m:accPr>
                              <m:chr m:val="̇"/>
                              <m:ctrlPr>
                                <a:rPr lang="zh-CN" altLang="en-US" sz="2400" b="1" i="1" smtClean="0">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p>
                          <m:r>
                            <a:rPr lang="zh-CN" altLang="en-US" sz="2400" b="1" i="1">
                              <a:solidFill>
                                <a:srgbClr val="000000"/>
                              </a:solidFill>
                              <a:latin typeface="Cambria Math" panose="02040503050406030204" pitchFamily="18" charset="0"/>
                            </a:rPr>
                            <m:t>𝑻</m:t>
                          </m:r>
                        </m:sup>
                      </m:sSup>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𝑴</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𝜽</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𝟐</m:t>
                      </m:r>
                      <m:r>
                        <a:rPr lang="zh-CN" altLang="en-US" sz="2400" b="1" i="1">
                          <a:solidFill>
                            <a:srgbClr val="000000"/>
                          </a:solidFill>
                          <a:latin typeface="Cambria Math" panose="02040503050406030204" pitchFamily="18" charset="0"/>
                        </a:rPr>
                        <m:t>𝑪</m:t>
                      </m:r>
                      <m:r>
                        <a:rPr lang="zh-CN" altLang="en-US" sz="2400" b="1" i="1">
                          <a:solidFill>
                            <a:srgbClr val="000000"/>
                          </a:solidFill>
                          <a:latin typeface="Cambria Math" panose="02040503050406030204" pitchFamily="18" charset="0"/>
                        </a:rPr>
                        <m:t>)</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oMath>
                    <m:oMath xmlns:m="http://schemas.openxmlformats.org/officeDocument/2006/math">
                      <m:m>
                        <m:mPr>
                          <m:plcHide m:val="on"/>
                          <m:mcs>
                            <m:mc>
                              <m:mcPr>
                                <m:count m:val="2"/>
                                <m:mcJc m:val="center"/>
                              </m:mcPr>
                            </m:mc>
                          </m:mcs>
                          <m:ctrlPr>
                            <a:rPr lang="zh-CN" altLang="en-US" sz="2400" b="1" i="1">
                              <a:solidFill>
                                <a:srgbClr val="000000"/>
                              </a:solidFill>
                              <a:latin typeface="Cambria Math" panose="02040503050406030204" pitchFamily="18" charset="0"/>
                            </a:rPr>
                          </m:ctrlPr>
                        </m:mPr>
                        <m:mr>
                          <m:e/>
                          <m:e/>
                        </m:mr>
                      </m:m>
                      <m:r>
                        <a:rPr lang="zh-CN" altLang="en-US" sz="2400" b="1" i="1">
                          <a:solidFill>
                            <a:srgbClr val="000000"/>
                          </a:solidFill>
                          <a:latin typeface="Cambria Math" panose="02040503050406030204" pitchFamily="18" charset="0"/>
                        </a:rPr>
                        <m:t>=</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𝑴</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𝑪</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𝒌</m:t>
                          </m:r>
                        </m:e>
                        <m:sub>
                          <m:r>
                            <a:rPr lang="zh-CN" altLang="en-US" sz="2400" b="1" i="1">
                              <a:solidFill>
                                <a:srgbClr val="000000"/>
                              </a:solidFill>
                              <a:latin typeface="Cambria Math" panose="02040503050406030204" pitchFamily="18" charset="0"/>
                            </a:rPr>
                            <m:t>𝒑</m:t>
                          </m:r>
                        </m:sub>
                      </m:sSub>
                      <m:r>
                        <a:rPr lang="zh-CN" altLang="en-US" sz="2400" b="1" i="1">
                          <a:solidFill>
                            <a:srgbClr val="000000"/>
                          </a:solidFill>
                          <a:latin typeface="Cambria Math" panose="02040503050406030204" pitchFamily="18" charset="0"/>
                        </a:rPr>
                        <m:t>𝒆</m:t>
                      </m:r>
                      <m:r>
                        <a:rPr lang="zh-CN" altLang="en-US" sz="2400" b="1" i="1">
                          <a:solidFill>
                            <a:srgbClr val="000000"/>
                          </a:solidFill>
                          <a:latin typeface="Cambria Math" panose="02040503050406030204" pitchFamily="18" charset="0"/>
                        </a:rPr>
                        <m:t>)</m:t>
                      </m:r>
                    </m:oMath>
                    <m:oMath xmlns:m="http://schemas.openxmlformats.org/officeDocument/2006/math">
                      <m:m>
                        <m:mPr>
                          <m:plcHide m:val="on"/>
                          <m:mcs>
                            <m:mc>
                              <m:mcPr>
                                <m:count m:val="2"/>
                                <m:mcJc m:val="center"/>
                              </m:mcPr>
                            </m:mc>
                          </m:mcs>
                          <m:ctrlPr>
                            <a:rPr lang="zh-CN" altLang="en-US" sz="2400" b="1" i="1">
                              <a:solidFill>
                                <a:srgbClr val="000000"/>
                              </a:solidFill>
                              <a:latin typeface="Cambria Math" panose="02040503050406030204" pitchFamily="18" charset="0"/>
                            </a:rPr>
                          </m:ctrlPr>
                        </m:mPr>
                        <m:mr>
                          <m:e/>
                          <m:e/>
                        </m:mr>
                      </m:m>
                      <m:r>
                        <a:rPr lang="zh-CN" altLang="en-US" sz="2400" b="1" i="1">
                          <a:solidFill>
                            <a:srgbClr val="000000"/>
                          </a:solidFill>
                          <a:latin typeface="Cambria Math" panose="02040503050406030204" pitchFamily="18" charset="0"/>
                        </a:rPr>
                        <m:t>=−</m:t>
                      </m:r>
                      <m:sSup>
                        <m:sSupPr>
                          <m:ctrlPr>
                            <a:rPr lang="zh-CN" altLang="en-US" sz="2400" b="1" i="1">
                              <a:solidFill>
                                <a:srgbClr val="000000"/>
                              </a:solidFill>
                              <a:latin typeface="Cambria Math" panose="02040503050406030204" pitchFamily="18" charset="0"/>
                            </a:rPr>
                          </m:ctrlPr>
                        </m:sSup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p>
                          <m:r>
                            <a:rPr lang="zh-CN" altLang="en-US" sz="2400" b="1" i="1">
                              <a:solidFill>
                                <a:srgbClr val="000000"/>
                              </a:solidFill>
                              <a:latin typeface="Cambria Math" panose="02040503050406030204" pitchFamily="18" charset="0"/>
                            </a:rPr>
                            <m:t>𝑻</m:t>
                          </m:r>
                        </m:sup>
                      </m:sSup>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𝒌</m:t>
                          </m:r>
                        </m:e>
                        <m:sub>
                          <m:r>
                            <a:rPr lang="zh-CN" altLang="en-US" sz="2400" b="1" i="1">
                              <a:solidFill>
                                <a:srgbClr val="000000"/>
                              </a:solidFill>
                              <a:latin typeface="Cambria Math" panose="02040503050406030204" pitchFamily="18" charset="0"/>
                            </a:rPr>
                            <m:t>𝒅</m:t>
                          </m:r>
                        </m:sub>
                      </m:sSub>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oMath>
                  </m:oMathPara>
                </a14:m>
                <a:endParaRPr lang="zh-CN" altLang="en-US" sz="2400" b="1" dirty="0"/>
              </a:p>
            </p:txBody>
          </p:sp>
        </mc:Choice>
        <mc:Fallback>
          <p:sp>
            <p:nvSpPr>
              <p:cNvPr id="4" name="对象 2">
                <a:extLst>
                  <a:ext uri="{FF2B5EF4-FFF2-40B4-BE49-F238E27FC236}">
                    <a16:creationId xmlns:a16="http://schemas.microsoft.com/office/drawing/2014/main" id="{49C91AAB-F3DE-FBF2-D79A-ADFA13347F92}"/>
                  </a:ext>
                </a:extLst>
              </p:cNvPr>
              <p:cNvSpPr txBox="1">
                <a:spLocks noRot="1" noChangeAspect="1" noMove="1" noResize="1" noEditPoints="1" noAdjustHandles="1" noChangeArrowheads="1" noChangeShapeType="1" noTextEdit="1"/>
              </p:cNvSpPr>
              <p:nvPr/>
            </p:nvSpPr>
            <p:spPr bwMode="auto">
              <a:xfrm>
                <a:off x="1357313" y="1773565"/>
                <a:ext cx="8337550" cy="2516187"/>
              </a:xfrm>
              <a:prstGeom prst="rect">
                <a:avLst/>
              </a:prstGeom>
              <a:blipFill>
                <a:blip r:embed="rId4"/>
                <a:stretch>
                  <a:fillRect/>
                </a:stretch>
              </a:blipFill>
              <a:ln>
                <a:noFill/>
              </a:ln>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0881D099-3569-B33D-C4F1-4B00015361EC}"/>
              </a:ext>
            </a:extLst>
          </p:cNvPr>
          <p:cNvSpPr txBox="1"/>
          <p:nvPr/>
        </p:nvSpPr>
        <p:spPr>
          <a:xfrm>
            <a:off x="9877425" y="2686050"/>
            <a:ext cx="1524000"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7.12</a:t>
            </a:r>
            <a:r>
              <a:rPr lang="zh-CN" altLang="en-US" sz="2400" b="1" dirty="0">
                <a:latin typeface="微软雅黑" panose="020B0503020204020204" pitchFamily="34" charset="-122"/>
                <a:ea typeface="微软雅黑" panose="020B0503020204020204" pitchFamily="34" charset="-122"/>
              </a:rPr>
              <a:t>）</a:t>
            </a:r>
          </a:p>
        </p:txBody>
      </p:sp>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81ADFE5E-0426-CF76-0B07-E98F9170A993}"/>
                  </a:ext>
                </a:extLst>
              </p:cNvPr>
              <p:cNvSpPr txBox="1"/>
              <p:nvPr/>
            </p:nvSpPr>
            <p:spPr>
              <a:xfrm>
                <a:off x="862013" y="4098719"/>
                <a:ext cx="10539412" cy="2080634"/>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       为了证明闭环系统的渐近稳定性，</a:t>
                </a:r>
                <a:r>
                  <a:rPr lang="en-US" altLang="zh-CN" sz="2400" b="1" dirty="0">
                    <a:latin typeface="微软雅黑" panose="020B0503020204020204" pitchFamily="34" charset="-122"/>
                    <a:ea typeface="微软雅黑" panose="020B0503020204020204" pitchFamily="34" charset="-122"/>
                  </a:rPr>
                  <a:t>Lasalle</a:t>
                </a:r>
                <a:r>
                  <a:rPr lang="zh-CN" altLang="en-US" sz="2400" b="1" dirty="0">
                    <a:latin typeface="微软雅黑" panose="020B0503020204020204" pitchFamily="34" charset="-122"/>
                    <a:ea typeface="微软雅黑" panose="020B0503020204020204" pitchFamily="34" charset="-122"/>
                  </a:rPr>
                  <a:t>不变集定理适用于 </a:t>
                </a:r>
                <a14:m>
                  <m:oMath xmlns:m="http://schemas.openxmlformats.org/officeDocument/2006/math">
                    <m:d>
                      <m:dPr>
                        <m:begChr m:val="{"/>
                        <m:endChr m:val="}"/>
                        <m:ctrlPr>
                          <a:rPr lang="en-US" altLang="zh-CN" sz="2400" b="1" i="1" smtClean="0">
                            <a:latin typeface="Cambria Math" panose="02040503050406030204" pitchFamily="18" charset="0"/>
                            <a:ea typeface="Cambria Math" panose="02040503050406030204" pitchFamily="18" charset="0"/>
                          </a:rPr>
                        </m:ctrlPr>
                      </m:dPr>
                      <m:e>
                        <m:r>
                          <a:rPr lang="en-US" altLang="zh-CN" sz="2400" b="1" i="1">
                            <a:latin typeface="Cambria Math" panose="02040503050406030204" pitchFamily="18" charset="0"/>
                            <a:ea typeface="微软雅黑" panose="020B0503020204020204" pitchFamily="34" charset="-122"/>
                          </a:rPr>
                          <m:t>𝒙</m:t>
                        </m:r>
                        <m:r>
                          <a:rPr lang="en-US" altLang="zh-CN" sz="2400" b="1" i="1" smtClean="0">
                            <a:latin typeface="Cambria Math" panose="02040503050406030204" pitchFamily="18" charset="0"/>
                            <a:ea typeface="微软雅黑" panose="020B0503020204020204" pitchFamily="34" charset="-122"/>
                          </a:rPr>
                          <m:t>|</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𝑽</m:t>
                            </m:r>
                          </m:e>
                        </m:acc>
                        <m:r>
                          <a:rPr lang="zh-CN" altLang="en-US" sz="2400" b="1" i="1" smtClean="0">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𝟎</m:t>
                        </m:r>
                      </m:e>
                    </m:d>
                  </m:oMath>
                </a14:m>
                <a:r>
                  <a:rPr lang="zh-CN" altLang="en-US" sz="2400" b="1" dirty="0">
                    <a:latin typeface="微软雅黑" panose="020B0503020204020204" pitchFamily="34" charset="-122"/>
                    <a:ea typeface="微软雅黑" panose="020B0503020204020204" pitchFamily="34" charset="-122"/>
                  </a:rPr>
                  <a:t>集合中的最大不变集。当</a:t>
                </a:r>
                <a14:m>
                  <m:oMath xmlns:m="http://schemas.openxmlformats.org/officeDocument/2006/math">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𝑽</m:t>
                        </m:r>
                      </m:e>
                    </m:acc>
                    <m:r>
                      <a:rPr lang="zh-CN" altLang="en-US" sz="2400" b="1" i="1">
                        <a:solidFill>
                          <a:srgbClr val="000000"/>
                        </a:solidFill>
                        <a:latin typeface="Cambria Math" panose="02040503050406030204" pitchFamily="18" charset="0"/>
                      </a:rPr>
                      <m:t>≡</m:t>
                    </m:r>
                  </m:oMath>
                </a14:m>
                <a:r>
                  <a:rPr lang="en-US" altLang="zh-CN" sz="2400" b="1" dirty="0">
                    <a:latin typeface="微软雅黑" panose="020B0503020204020204" pitchFamily="34" charset="-122"/>
                    <a:ea typeface="微软雅黑" panose="020B0503020204020204" pitchFamily="34" charset="-122"/>
                  </a:rPr>
                  <a:t> 0</a:t>
                </a:r>
                <a:r>
                  <a:rPr lang="zh-CN" altLang="en-US" sz="2400" b="1" dirty="0">
                    <a:latin typeface="微软雅黑" panose="020B0503020204020204" pitchFamily="34" charset="-122"/>
                    <a:ea typeface="微软雅黑" panose="020B0503020204020204" pitchFamily="34" charset="-122"/>
                  </a:rPr>
                  <a:t> 时 </a:t>
                </a:r>
                <a14:m>
                  <m:oMath xmlns:m="http://schemas.openxmlformats.org/officeDocument/2006/math">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r>
                      <a:rPr lang="zh-CN" altLang="en-US" sz="2400" b="1" i="1">
                        <a:solidFill>
                          <a:srgbClr val="000000"/>
                        </a:solidFill>
                        <a:latin typeface="Cambria Math" panose="02040503050406030204" pitchFamily="18" charset="0"/>
                      </a:rPr>
                      <m:t> ≡</m:t>
                    </m:r>
                    <m:r>
                      <a:rPr lang="en-US" altLang="zh-CN" sz="2400" b="1" i="1" smtClean="0">
                        <a:solidFill>
                          <a:srgbClr val="000000"/>
                        </a:solidFill>
                        <a:latin typeface="Cambria Math" panose="02040503050406030204" pitchFamily="18" charset="0"/>
                      </a:rPr>
                      <m:t> </m:t>
                    </m:r>
                  </m:oMath>
                </a14:m>
                <a:r>
                  <a:rPr lang="en-US" altLang="zh-CN" sz="2400" b="1" dirty="0">
                    <a:latin typeface="微软雅黑" panose="020B0503020204020204" pitchFamily="34" charset="-122"/>
                    <a:ea typeface="微软雅黑" panose="020B0503020204020204" pitchFamily="34" charset="-122"/>
                  </a:rPr>
                  <a:t>0</a:t>
                </a:r>
                <a:r>
                  <a:rPr lang="zh-CN" altLang="en-US" sz="2400" b="1" dirty="0">
                    <a:latin typeface="微软雅黑" panose="020B0503020204020204" pitchFamily="34" charset="-122"/>
                    <a:ea typeface="微软雅黑" panose="020B0503020204020204" pitchFamily="34" charset="-122"/>
                  </a:rPr>
                  <a:t>，所以 </a:t>
                </a:r>
                <a14:m>
                  <m:oMath xmlns:m="http://schemas.openxmlformats.org/officeDocument/2006/math">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oMath>
                </a14:m>
                <a:r>
                  <a:rPr lang="zh-CN" altLang="en-US" sz="2400" b="1" dirty="0">
                    <a:solidFill>
                      <a:srgbClr val="000000"/>
                    </a:solidFill>
                  </a:rPr>
                  <a:t> </a:t>
                </a:r>
                <a14:m>
                  <m:oMath xmlns:m="http://schemas.openxmlformats.org/officeDocument/2006/math">
                    <m:r>
                      <a:rPr lang="zh-CN" altLang="en-US" sz="2400" b="1" i="1">
                        <a:solidFill>
                          <a:srgbClr val="000000"/>
                        </a:solidFill>
                        <a:latin typeface="Cambria Math" panose="02040503050406030204" pitchFamily="18" charset="0"/>
                      </a:rPr>
                      <m:t>≡</m:t>
                    </m:r>
                  </m:oMath>
                </a14:m>
                <a:r>
                  <a:rPr lang="en-US" altLang="zh-CN" sz="2400" b="1" dirty="0">
                    <a:latin typeface="微软雅黑" panose="020B0503020204020204" pitchFamily="34" charset="-122"/>
                    <a:ea typeface="微软雅黑" panose="020B0503020204020204" pitchFamily="34" charset="-122"/>
                  </a:rPr>
                  <a:t> 0 </a:t>
                </a:r>
                <a:r>
                  <a:rPr lang="zh-CN" altLang="en-US" sz="2400" b="1" dirty="0">
                    <a:latin typeface="微软雅黑" panose="020B0503020204020204" pitchFamily="34" charset="-122"/>
                    <a:ea typeface="微软雅黑" panose="020B0503020204020204" pitchFamily="34" charset="-122"/>
                  </a:rPr>
                  <a:t>。由式</a:t>
                </a:r>
                <a:r>
                  <a:rPr lang="en-US" altLang="zh-CN" sz="2400" b="1" dirty="0">
                    <a:latin typeface="微软雅黑" panose="020B0503020204020204" pitchFamily="34" charset="-122"/>
                    <a:ea typeface="微软雅黑" panose="020B0503020204020204" pitchFamily="34" charset="-122"/>
                  </a:rPr>
                  <a:t>(7.10)</a:t>
                </a:r>
                <a:r>
                  <a:rPr lang="zh-CN" altLang="en-US" sz="2400" b="1" dirty="0">
                    <a:latin typeface="微软雅黑" panose="020B0503020204020204" pitchFamily="34" charset="-122"/>
                    <a:ea typeface="微软雅黑" panose="020B0503020204020204" pitchFamily="34" charset="-122"/>
                  </a:rPr>
                  <a:t>可知，当 </a:t>
                </a:r>
                <a14:m>
                  <m:oMath xmlns:m="http://schemas.openxmlformats.org/officeDocument/2006/math">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𝒌</m:t>
                        </m:r>
                      </m:e>
                      <m:sub>
                        <m:r>
                          <a:rPr lang="zh-CN" altLang="en-US" sz="2400" b="1" i="1">
                            <a:solidFill>
                              <a:srgbClr val="000000"/>
                            </a:solidFill>
                            <a:latin typeface="Cambria Math" panose="02040503050406030204" pitchFamily="18" charset="0"/>
                          </a:rPr>
                          <m:t>𝒑</m:t>
                        </m:r>
                      </m:sub>
                    </m:sSub>
                  </m:oMath>
                </a14:m>
                <a:r>
                  <a:rPr lang="en-US" altLang="zh-CN" sz="2400" b="1" dirty="0">
                    <a:latin typeface="微软雅黑" panose="020B0503020204020204" pitchFamily="34" charset="-122"/>
                    <a:ea typeface="微软雅黑" panose="020B0503020204020204" pitchFamily="34" charset="-122"/>
                  </a:rPr>
                  <a:t>&gt;0</a:t>
                </a:r>
                <a:r>
                  <a:rPr lang="zh-CN" altLang="en-US" sz="2400" b="1" dirty="0">
                    <a:latin typeface="微软雅黑" panose="020B0503020204020204" pitchFamily="34" charset="-122"/>
                    <a:ea typeface="微软雅黑" panose="020B0503020204020204" pitchFamily="34" charset="-122"/>
                  </a:rPr>
                  <a:t>时，</a:t>
                </a:r>
                <a14:m>
                  <m:oMath xmlns:m="http://schemas.openxmlformats.org/officeDocument/2006/math">
                    <m:r>
                      <a:rPr lang="zh-CN" altLang="en-US" sz="2400" b="1" i="1">
                        <a:solidFill>
                          <a:srgbClr val="000000"/>
                        </a:solidFill>
                        <a:latin typeface="Cambria Math" panose="02040503050406030204" pitchFamily="18" charset="0"/>
                      </a:rPr>
                      <m:t>𝒆</m:t>
                    </m:r>
                  </m:oMath>
                </a14:m>
                <a:r>
                  <a:rPr lang="en-US" altLang="zh-CN" sz="2400" b="1" dirty="0">
                    <a:latin typeface="微软雅黑" panose="020B0503020204020204" pitchFamily="34" charset="-122"/>
                    <a:ea typeface="微软雅黑" panose="020B0503020204020204" pitchFamily="34" charset="-122"/>
                  </a:rPr>
                  <a:t>=0</a:t>
                </a:r>
                <a:r>
                  <a:rPr lang="zh-CN" altLang="en-US" sz="2400" b="1" dirty="0">
                    <a:latin typeface="微软雅黑" panose="020B0503020204020204" pitchFamily="34" charset="-122"/>
                    <a:ea typeface="微软雅黑" panose="020B0503020204020204" pitchFamily="34" charset="-122"/>
                  </a:rPr>
                  <a:t>，因此，通过使用</a:t>
                </a:r>
                <a:r>
                  <a:rPr lang="en-US" altLang="zh-CN" sz="2400" b="1" dirty="0">
                    <a:latin typeface="微软雅黑" panose="020B0503020204020204" pitchFamily="34" charset="-122"/>
                    <a:ea typeface="微软雅黑" panose="020B0503020204020204" pitchFamily="34" charset="-122"/>
                  </a:rPr>
                  <a:t>LaSalle</a:t>
                </a:r>
                <a:r>
                  <a:rPr lang="zh-CN" altLang="en-US" sz="2400" b="1" dirty="0">
                    <a:latin typeface="微软雅黑" panose="020B0503020204020204" pitchFamily="34" charset="-122"/>
                    <a:ea typeface="微软雅黑" panose="020B0503020204020204" pitchFamily="34" charset="-122"/>
                  </a:rPr>
                  <a:t>不变集定理来实现全局渐近稳定，该定理指出，如果在整个状态空间中</a:t>
                </a:r>
                <a14:m>
                  <m:oMath xmlns:m="http://schemas.openxmlformats.org/officeDocument/2006/math">
                    <m:r>
                      <a:rPr lang="en-US" altLang="zh-CN" sz="2400" b="1" i="1" smtClean="0">
                        <a:latin typeface="Cambria Math" panose="02040503050406030204" pitchFamily="18" charset="0"/>
                        <a:ea typeface="微软雅黑" panose="020B0503020204020204" pitchFamily="34" charset="-122"/>
                      </a:rPr>
                      <m:t>𝑽</m:t>
                    </m:r>
                    <m:r>
                      <a:rPr lang="en-US" altLang="zh-CN" sz="2400" b="1" i="1" smtClean="0">
                        <a:latin typeface="Cambria Math" panose="02040503050406030204" pitchFamily="18" charset="0"/>
                        <a:ea typeface="微软雅黑" panose="020B0503020204020204" pitchFamily="34" charset="-122"/>
                      </a:rPr>
                      <m:t>(</m:t>
                    </m:r>
                    <m:r>
                      <a:rPr lang="en-US" altLang="zh-CN" sz="2400" b="1" i="1" smtClean="0">
                        <a:latin typeface="Cambria Math" panose="02040503050406030204" pitchFamily="18" charset="0"/>
                        <a:ea typeface="微软雅黑" panose="020B0503020204020204" pitchFamily="34" charset="-122"/>
                      </a:rPr>
                      <m:t>𝒙</m:t>
                    </m:r>
                    <m:r>
                      <a:rPr lang="en-US" altLang="zh-CN" sz="2400" b="1" i="1" smtClean="0">
                        <a:latin typeface="Cambria Math" panose="02040503050406030204" pitchFamily="18" charset="0"/>
                        <a:ea typeface="微软雅黑" panose="020B0503020204020204" pitchFamily="34" charset="-122"/>
                      </a:rPr>
                      <m:t>)</m:t>
                    </m:r>
                  </m:oMath>
                </a14:m>
                <a:r>
                  <a:rPr lang="zh-CN" altLang="en-US" sz="2400" b="1" dirty="0">
                    <a:latin typeface="微软雅黑" panose="020B0503020204020204" pitchFamily="34" charset="-122"/>
                    <a:ea typeface="微软雅黑" panose="020B0503020204020204" pitchFamily="34" charset="-122"/>
                  </a:rPr>
                  <a:t> 是径向无界的且 </a:t>
                </a:r>
                <a14:m>
                  <m:oMath xmlns:m="http://schemas.openxmlformats.org/officeDocument/2006/math">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𝑽</m:t>
                        </m:r>
                      </m:e>
                    </m:acc>
                    <m:r>
                      <a:rPr lang="en-US" altLang="zh-CN" sz="2400" b="1" i="1">
                        <a:latin typeface="Cambria Math" panose="02040503050406030204" pitchFamily="18" charset="0"/>
                        <a:ea typeface="微软雅黑" panose="020B0503020204020204" pitchFamily="34" charset="-122"/>
                      </a:rPr>
                      <m:t>(</m:t>
                    </m:r>
                    <m:r>
                      <a:rPr lang="en-US" altLang="zh-CN" sz="2400" b="1" i="1">
                        <a:latin typeface="Cambria Math" panose="02040503050406030204" pitchFamily="18" charset="0"/>
                        <a:ea typeface="微软雅黑" panose="020B0503020204020204" pitchFamily="34" charset="-122"/>
                      </a:rPr>
                      <m:t>𝒙</m:t>
                    </m:r>
                    <m:r>
                      <a:rPr lang="en-US" altLang="zh-CN" sz="2400" b="1" i="1">
                        <a:latin typeface="Cambria Math" panose="02040503050406030204" pitchFamily="18" charset="0"/>
                        <a:ea typeface="微软雅黑" panose="020B0503020204020204" pitchFamily="34" charset="-122"/>
                      </a:rPr>
                      <m:t>)≤</m:t>
                    </m:r>
                    <m:r>
                      <a:rPr lang="en-US" altLang="zh-CN" sz="2400" b="1" i="1" smtClean="0">
                        <a:latin typeface="Cambria Math" panose="02040503050406030204" pitchFamily="18" charset="0"/>
                        <a:ea typeface="Cambria Math" panose="02040503050406030204" pitchFamily="18" charset="0"/>
                      </a:rPr>
                      <m:t>𝟎</m:t>
                    </m:r>
                  </m:oMath>
                </a14:m>
                <a:r>
                  <a:rPr lang="zh-CN" altLang="en-US" sz="2400" b="1" dirty="0">
                    <a:latin typeface="微软雅黑" panose="020B0503020204020204" pitchFamily="34" charset="-122"/>
                    <a:ea typeface="微软雅黑" panose="020B0503020204020204" pitchFamily="34" charset="-122"/>
                  </a:rPr>
                  <a:t>，则所有解全局渐近收敛到集 </a:t>
                </a:r>
                <a14:m>
                  <m:oMath xmlns:m="http://schemas.openxmlformats.org/officeDocument/2006/math">
                    <m:r>
                      <a:rPr lang="en-US" altLang="zh-CN" sz="2400" b="1" i="1">
                        <a:latin typeface="Cambria Math" panose="02040503050406030204" pitchFamily="18" charset="0"/>
                        <a:ea typeface="微软雅黑" panose="020B0503020204020204" pitchFamily="34" charset="-122"/>
                      </a:rPr>
                      <m:t>𝒙</m:t>
                    </m:r>
                    <m:r>
                      <a:rPr lang="en-US" altLang="zh-CN" sz="2400" b="1" i="1">
                        <a:latin typeface="Cambria Math" panose="02040503050406030204" pitchFamily="18" charset="0"/>
                        <a:ea typeface="Cambria Math" panose="02040503050406030204" pitchFamily="18" charset="0"/>
                      </a:rPr>
                      <m:t>∈</m:t>
                    </m:r>
                    <m:d>
                      <m:dPr>
                        <m:begChr m:val="{"/>
                        <m:endChr m:val="}"/>
                        <m:ctrlPr>
                          <a:rPr lang="en-US" altLang="zh-CN" sz="2400" b="1" i="1">
                            <a:latin typeface="Cambria Math" panose="02040503050406030204" pitchFamily="18" charset="0"/>
                            <a:ea typeface="Cambria Math" panose="02040503050406030204" pitchFamily="18" charset="0"/>
                          </a:rPr>
                        </m:ctrlPr>
                      </m:d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𝑽</m:t>
                            </m:r>
                          </m:e>
                        </m:acc>
                        <m:r>
                          <a:rPr lang="zh-CN" altLang="en-US" sz="2400" b="1" i="1">
                            <a:solidFill>
                              <a:srgbClr val="000000"/>
                            </a:solidFill>
                            <a:latin typeface="Cambria Math" panose="02040503050406030204" pitchFamily="18" charset="0"/>
                          </a:rPr>
                          <m:t>≡</m:t>
                        </m:r>
                        <m:r>
                          <a:rPr lang="en-US" altLang="zh-CN" sz="2400" b="1" i="1">
                            <a:solidFill>
                              <a:srgbClr val="000000"/>
                            </a:solidFill>
                            <a:latin typeface="Cambria Math" panose="02040503050406030204" pitchFamily="18" charset="0"/>
                          </a:rPr>
                          <m:t>𝟎</m:t>
                        </m:r>
                      </m:e>
                    </m:d>
                  </m:oMath>
                </a14:m>
                <a:r>
                  <a:rPr lang="zh-CN" altLang="en-US" sz="2400" b="1" dirty="0">
                    <a:latin typeface="微软雅黑" panose="020B0503020204020204" pitchFamily="34" charset="-122"/>
                    <a:ea typeface="微软雅黑" panose="020B0503020204020204" pitchFamily="34" charset="-122"/>
                  </a:rPr>
                  <a:t>中的最大不变集。</a:t>
                </a:r>
              </a:p>
            </p:txBody>
          </p:sp>
        </mc:Choice>
        <mc:Fallback>
          <p:sp>
            <p:nvSpPr>
              <p:cNvPr id="8" name="文本框 7">
                <a:extLst>
                  <a:ext uri="{FF2B5EF4-FFF2-40B4-BE49-F238E27FC236}">
                    <a16:creationId xmlns:a16="http://schemas.microsoft.com/office/drawing/2014/main" id="{81ADFE5E-0426-CF76-0B07-E98F9170A993}"/>
                  </a:ext>
                </a:extLst>
              </p:cNvPr>
              <p:cNvSpPr txBox="1">
                <a:spLocks noRot="1" noChangeAspect="1" noMove="1" noResize="1" noEditPoints="1" noAdjustHandles="1" noChangeArrowheads="1" noChangeShapeType="1" noTextEdit="1"/>
              </p:cNvSpPr>
              <p:nvPr/>
            </p:nvSpPr>
            <p:spPr>
              <a:xfrm>
                <a:off x="862013" y="4098719"/>
                <a:ext cx="10539412" cy="2080634"/>
              </a:xfrm>
              <a:prstGeom prst="rect">
                <a:avLst/>
              </a:prstGeom>
              <a:blipFill>
                <a:blip r:embed="rId5"/>
                <a:stretch>
                  <a:fillRect l="-868" t="-1170" r="-925" b="-4971"/>
                </a:stretch>
              </a:blipFill>
            </p:spPr>
            <p:txBody>
              <a:bodyPr/>
              <a:lstStyle/>
              <a:p>
                <a:r>
                  <a:rPr lang="zh-CN" altLang="en-US">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B6FBCCE-6671-87BB-6729-152D5F213650}"/>
              </a:ext>
            </a:extLst>
          </p:cNvPr>
          <p:cNvSpPr txBox="1"/>
          <p:nvPr>
            <p:custDataLst>
              <p:tags r:id="rId1"/>
            </p:custDataLst>
          </p:nvPr>
        </p:nvSpPr>
        <p:spPr>
          <a:xfrm>
            <a:off x="1357313" y="128685"/>
            <a:ext cx="8158162"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7.2.2</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 机器人控制方法和控制器设计</a:t>
            </a:r>
          </a:p>
        </p:txBody>
      </p:sp>
      <p:sp>
        <p:nvSpPr>
          <p:cNvPr id="3" name="文本框 2">
            <a:extLst>
              <a:ext uri="{FF2B5EF4-FFF2-40B4-BE49-F238E27FC236}">
                <a16:creationId xmlns:a16="http://schemas.microsoft.com/office/drawing/2014/main" id="{185402FE-B3C9-F473-8AF0-9CA9C2A4A40F}"/>
              </a:ext>
            </a:extLst>
          </p:cNvPr>
          <p:cNvSpPr txBox="1"/>
          <p:nvPr/>
        </p:nvSpPr>
        <p:spPr>
          <a:xfrm>
            <a:off x="423863" y="1217935"/>
            <a:ext cx="2576512" cy="461665"/>
          </a:xfrm>
          <a:prstGeom prst="rect">
            <a:avLst/>
          </a:prstGeom>
          <a:noFill/>
        </p:spPr>
        <p:txBody>
          <a:bodyPr wrap="square" rtlCol="0">
            <a:spAutoFit/>
          </a:bodyPr>
          <a:lstStyle/>
          <a:p>
            <a:pPr indent="269875" algn="just">
              <a:spcBef>
                <a:spcPts val="600"/>
              </a:spcBef>
            </a:pPr>
            <a:r>
              <a:rPr lang="en-US" altLang="zh-CN" sz="2400" b="1" kern="0" dirty="0">
                <a:effectLst/>
                <a:latin typeface="微软雅黑" panose="020B0503020204020204" pitchFamily="34" charset="-122"/>
                <a:ea typeface="微软雅黑" panose="020B0503020204020204" pitchFamily="34" charset="-122"/>
              </a:rPr>
              <a:t>2)</a:t>
            </a:r>
            <a:r>
              <a:rPr lang="zh-CN" altLang="zh-CN" sz="2400" b="1" kern="0" dirty="0">
                <a:effectLst/>
                <a:latin typeface="微软雅黑" panose="020B0503020204020204" pitchFamily="34" charset="-122"/>
                <a:ea typeface="微软雅黑" panose="020B0503020204020204" pitchFamily="34" charset="-122"/>
              </a:rPr>
              <a:t>仿真实现</a:t>
            </a:r>
            <a:endParaRPr lang="zh-CN" altLang="zh-CN" sz="2400" b="1" kern="1050" dirty="0">
              <a:effectLst/>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50588E16-E1F8-C956-59AF-9501F0FB52CF}"/>
              </a:ext>
            </a:extLst>
          </p:cNvPr>
          <p:cNvSpPr txBox="1"/>
          <p:nvPr/>
        </p:nvSpPr>
        <p:spPr>
          <a:xfrm>
            <a:off x="195263" y="1768154"/>
            <a:ext cx="11120437" cy="830997"/>
          </a:xfrm>
          <a:prstGeom prst="rect">
            <a:avLst/>
          </a:prstGeom>
          <a:noFill/>
        </p:spPr>
        <p:txBody>
          <a:bodyPr wrap="square" rtlCol="0">
            <a:spAutoFit/>
          </a:bodyPr>
          <a:lstStyle/>
          <a:p>
            <a:pPr indent="269875" algn="just"/>
            <a:r>
              <a:rPr lang="en-US" altLang="zh-CN" sz="2400" b="1" kern="0" dirty="0">
                <a:effectLst/>
                <a:latin typeface="微软雅黑" panose="020B0503020204020204" pitchFamily="34" charset="-122"/>
                <a:ea typeface="微软雅黑" panose="020B0503020204020204" pitchFamily="34" charset="-122"/>
              </a:rPr>
              <a:t>   </a:t>
            </a:r>
            <a:r>
              <a:rPr lang="zh-CN" altLang="zh-CN" sz="2400" b="1" kern="0" dirty="0">
                <a:effectLst/>
                <a:latin typeface="微软雅黑" panose="020B0503020204020204" pitchFamily="34" charset="-122"/>
                <a:ea typeface="微软雅黑" panose="020B0503020204020204" pitchFamily="34" charset="-122"/>
              </a:rPr>
              <a:t>在机器人的仿真实现中，基本参数取值如表</a:t>
            </a:r>
            <a:r>
              <a:rPr lang="en-US" altLang="zh-CN" sz="2400" b="1" kern="0" dirty="0">
                <a:effectLst/>
                <a:latin typeface="微软雅黑" panose="020B0503020204020204" pitchFamily="34" charset="-122"/>
                <a:ea typeface="微软雅黑" panose="020B0503020204020204" pitchFamily="34" charset="-122"/>
              </a:rPr>
              <a:t>7.1</a:t>
            </a:r>
            <a:r>
              <a:rPr lang="zh-CN" altLang="zh-CN" sz="2400" b="1" kern="0" dirty="0">
                <a:effectLst/>
                <a:latin typeface="微软雅黑" panose="020B0503020204020204" pitchFamily="34" charset="-122"/>
                <a:ea typeface="微软雅黑" panose="020B0503020204020204" pitchFamily="34" charset="-122"/>
              </a:rPr>
              <a:t>所示。</a:t>
            </a:r>
            <a:endParaRPr lang="en-US" altLang="zh-CN" sz="2400" b="1" kern="0" dirty="0">
              <a:effectLst/>
              <a:latin typeface="微软雅黑" panose="020B0503020204020204" pitchFamily="34" charset="-122"/>
              <a:ea typeface="微软雅黑" panose="020B0503020204020204" pitchFamily="34" charset="-122"/>
            </a:endParaRPr>
          </a:p>
          <a:p>
            <a:pPr indent="269875" algn="just"/>
            <a:r>
              <a:rPr lang="en-US" altLang="zh-CN" sz="2400" b="1" kern="0" dirty="0">
                <a:effectLst/>
                <a:latin typeface="微软雅黑" panose="020B0503020204020204" pitchFamily="34" charset="-122"/>
                <a:ea typeface="微软雅黑" panose="020B0503020204020204" pitchFamily="34" charset="-122"/>
              </a:rPr>
              <a:t>   </a:t>
            </a:r>
            <a:r>
              <a:rPr lang="zh-CN" altLang="zh-CN" sz="2400" b="1" kern="0" dirty="0">
                <a:effectLst/>
                <a:latin typeface="微软雅黑" panose="020B0503020204020204" pitchFamily="34" charset="-122"/>
                <a:ea typeface="微软雅黑" panose="020B0503020204020204" pitchFamily="34" charset="-122"/>
              </a:rPr>
              <a:t>期望运动轨迹</a:t>
            </a:r>
            <a:r>
              <a:rPr lang="en-US" altLang="zh-CN" sz="2400" b="1" kern="0" dirty="0">
                <a:effectLst/>
                <a:latin typeface="微软雅黑" panose="020B0503020204020204" pitchFamily="34" charset="-122"/>
                <a:ea typeface="微软雅黑" panose="020B0503020204020204" pitchFamily="34" charset="-122"/>
              </a:rPr>
              <a:t>(</a:t>
            </a:r>
            <a:r>
              <a:rPr lang="zh-CN" altLang="zh-CN" sz="2400" b="1" kern="0" dirty="0">
                <a:effectLst/>
                <a:latin typeface="微软雅黑" panose="020B0503020204020204" pitchFamily="34" charset="-122"/>
                <a:ea typeface="微软雅黑" panose="020B0503020204020204" pitchFamily="34" charset="-122"/>
              </a:rPr>
              <a:t>单位</a:t>
            </a:r>
            <a:r>
              <a:rPr lang="en-US" altLang="zh-CN" sz="2400" b="1" kern="0" dirty="0">
                <a:effectLst/>
                <a:latin typeface="微软雅黑" panose="020B0503020204020204" pitchFamily="34" charset="-122"/>
                <a:ea typeface="微软雅黑" panose="020B0503020204020204" pitchFamily="34" charset="-122"/>
              </a:rPr>
              <a:t>rad)</a:t>
            </a:r>
            <a:r>
              <a:rPr lang="zh-CN" altLang="zh-CN" sz="2400" b="1" kern="0" dirty="0">
                <a:effectLst/>
                <a:latin typeface="微软雅黑" panose="020B0503020204020204" pitchFamily="34" charset="-122"/>
                <a:ea typeface="微软雅黑" panose="020B0503020204020204" pitchFamily="34" charset="-122"/>
              </a:rPr>
              <a:t>为</a:t>
            </a:r>
            <a:r>
              <a:rPr lang="en-US" altLang="zh-CN" sz="2400" b="1" kern="0" dirty="0">
                <a:effectLst/>
                <a:latin typeface="微软雅黑" panose="020B0503020204020204" pitchFamily="34" charset="-122"/>
                <a:ea typeface="微软雅黑" panose="020B0503020204020204" pitchFamily="34" charset="-122"/>
              </a:rPr>
              <a:t>:</a:t>
            </a:r>
            <a:endParaRPr lang="zh-CN" altLang="zh-CN" sz="2400" b="1" kern="1000" dirty="0">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5" name="对象 7">
                <a:extLst>
                  <a:ext uri="{FF2B5EF4-FFF2-40B4-BE49-F238E27FC236}">
                    <a16:creationId xmlns:a16="http://schemas.microsoft.com/office/drawing/2014/main" id="{C442D70C-44A6-6BE0-EF83-BB16B91327D1}"/>
                  </a:ext>
                </a:extLst>
              </p:cNvPr>
              <p:cNvSpPr txBox="1"/>
              <p:nvPr/>
            </p:nvSpPr>
            <p:spPr bwMode="auto">
              <a:xfrm>
                <a:off x="535781" y="2816554"/>
                <a:ext cx="11539539" cy="830997"/>
              </a:xfrm>
              <a:prstGeom prst="rect">
                <a:avLst/>
              </a:prstGeom>
              <a:solidFill>
                <a:schemeClr val="bg1"/>
              </a:solidFill>
              <a:ln>
                <a:solidFill>
                  <a:schemeClr val="bg1"/>
                </a:solidFill>
              </a:ln>
            </p:spPr>
            <p:txBody>
              <a:bodyPr>
                <a:normAutofit/>
              </a:bodyPr>
              <a:lstStyle/>
              <a:p>
                <a14:m>
                  <m:oMath xmlns:m="http://schemas.openxmlformats.org/officeDocument/2006/math">
                    <m:sSub>
                      <m:sSubPr>
                        <m:ctrlPr>
                          <a:rPr lang="zh-CN" altLang="en-US" sz="2600" b="1" i="1">
                            <a:solidFill>
                              <a:srgbClr val="000000"/>
                            </a:solidFill>
                            <a:latin typeface="Cambria Math" panose="02040503050406030204" pitchFamily="18" charset="0"/>
                          </a:rPr>
                        </m:ctrlPr>
                      </m:sSubPr>
                      <m:e>
                        <m:r>
                          <a:rPr lang="zh-CN" altLang="en-US" sz="2600" b="1" i="1">
                            <a:solidFill>
                              <a:srgbClr val="000000"/>
                            </a:solidFill>
                            <a:latin typeface="Cambria Math" panose="02040503050406030204" pitchFamily="18" charset="0"/>
                          </a:rPr>
                          <m:t>𝒒</m:t>
                        </m:r>
                      </m:e>
                      <m:sub>
                        <m:r>
                          <a:rPr lang="zh-CN" altLang="en-US" sz="2600" b="1" i="1">
                            <a:solidFill>
                              <a:srgbClr val="000000"/>
                            </a:solidFill>
                            <a:latin typeface="Cambria Math" panose="02040503050406030204" pitchFamily="18" charset="0"/>
                          </a:rPr>
                          <m:t>𝒅</m:t>
                        </m:r>
                      </m:sub>
                    </m:sSub>
                    <m:r>
                      <a:rPr lang="zh-CN" altLang="en-US" sz="2600" b="1" i="1">
                        <a:solidFill>
                          <a:srgbClr val="000000"/>
                        </a:solidFill>
                        <a:latin typeface="Cambria Math" panose="02040503050406030204" pitchFamily="18" charset="0"/>
                      </a:rPr>
                      <m:t>=</m:t>
                    </m:r>
                    <m:sSup>
                      <m:sSupPr>
                        <m:ctrlPr>
                          <a:rPr lang="zh-CN" altLang="en-US" sz="2600" b="1" i="1">
                            <a:solidFill>
                              <a:srgbClr val="000000"/>
                            </a:solidFill>
                            <a:latin typeface="Cambria Math" panose="02040503050406030204" pitchFamily="18" charset="0"/>
                          </a:rPr>
                        </m:ctrlPr>
                      </m:sSupPr>
                      <m:e>
                        <m:d>
                          <m:dPr>
                            <m:begChr m:val="["/>
                            <m:endChr m:val="]"/>
                            <m:ctrlPr>
                              <a:rPr lang="zh-CN" altLang="en-US" sz="2600" b="1" i="1">
                                <a:solidFill>
                                  <a:srgbClr val="000000"/>
                                </a:solidFill>
                                <a:latin typeface="Cambria Math" panose="02040503050406030204" pitchFamily="18" charset="0"/>
                              </a:rPr>
                            </m:ctrlPr>
                          </m:dPr>
                          <m:e>
                            <m:r>
                              <a:rPr lang="zh-CN" altLang="en-US" sz="2600" b="1" i="1">
                                <a:solidFill>
                                  <a:srgbClr val="000000"/>
                                </a:solidFill>
                                <a:latin typeface="Cambria Math" panose="02040503050406030204" pitchFamily="18" charset="0"/>
                              </a:rPr>
                              <m:t>𝟎</m:t>
                            </m:r>
                            <m:r>
                              <a:rPr lang="zh-CN" altLang="en-US" sz="2600" b="1" i="1">
                                <a:solidFill>
                                  <a:srgbClr val="000000"/>
                                </a:solidFill>
                                <a:latin typeface="Cambria Math" panose="02040503050406030204" pitchFamily="18" charset="0"/>
                              </a:rPr>
                              <m:t>.</m:t>
                            </m:r>
                            <m:r>
                              <a:rPr lang="zh-CN" altLang="en-US" sz="2600" b="1" i="1">
                                <a:solidFill>
                                  <a:srgbClr val="000000"/>
                                </a:solidFill>
                                <a:latin typeface="Cambria Math" panose="02040503050406030204" pitchFamily="18" charset="0"/>
                              </a:rPr>
                              <m:t>𝟐</m:t>
                            </m:r>
                            <m:r>
                              <a:rPr lang="zh-CN" altLang="en-US" sz="2600" b="1" i="1">
                                <a:solidFill>
                                  <a:srgbClr val="000000"/>
                                </a:solidFill>
                                <a:latin typeface="Cambria Math" panose="02040503050406030204" pitchFamily="18" charset="0"/>
                              </a:rPr>
                              <m:t>+</m:t>
                            </m:r>
                            <m:r>
                              <a:rPr lang="zh-CN" altLang="en-US" sz="2600" b="1" i="1">
                                <a:solidFill>
                                  <a:srgbClr val="000000"/>
                                </a:solidFill>
                                <a:latin typeface="Cambria Math" panose="02040503050406030204" pitchFamily="18" charset="0"/>
                              </a:rPr>
                              <m:t>𝟐</m:t>
                            </m:r>
                            <m:func>
                              <m:funcPr>
                                <m:ctrlPr>
                                  <a:rPr lang="zh-CN" altLang="en-US" sz="2600" b="1" i="1">
                                    <a:solidFill>
                                      <a:srgbClr val="000000"/>
                                    </a:solidFill>
                                    <a:latin typeface="Cambria Math" panose="02040503050406030204" pitchFamily="18" charset="0"/>
                                  </a:rPr>
                                </m:ctrlPr>
                              </m:funcPr>
                              <m:fName>
                                <m:r>
                                  <a:rPr lang="zh-CN" altLang="en-US" sz="2600" b="1" i="0">
                                    <a:solidFill>
                                      <a:srgbClr val="000000"/>
                                    </a:solidFill>
                                    <a:latin typeface="Cambria Math" panose="02040503050406030204" pitchFamily="18" charset="0"/>
                                  </a:rPr>
                                  <m:t>𝐬𝐢𝐧</m:t>
                                </m:r>
                              </m:fName>
                              <m:e>
                                <m:r>
                                  <a:rPr lang="zh-CN" altLang="en-US" sz="2600" b="1" i="1">
                                    <a:solidFill>
                                      <a:srgbClr val="000000"/>
                                    </a:solidFill>
                                    <a:latin typeface="Cambria Math" panose="02040503050406030204" pitchFamily="18" charset="0"/>
                                  </a:rPr>
                                  <m:t>(</m:t>
                                </m:r>
                              </m:e>
                            </m:func>
                            <m:r>
                              <a:rPr lang="zh-CN" altLang="en-US" sz="2600" b="1" i="1">
                                <a:solidFill>
                                  <a:srgbClr val="000000"/>
                                </a:solidFill>
                                <a:latin typeface="Cambria Math" panose="02040503050406030204" pitchFamily="18" charset="0"/>
                              </a:rPr>
                              <m:t>𝟐</m:t>
                            </m:r>
                            <m:r>
                              <a:rPr lang="zh-CN" altLang="en-US" sz="2600" b="1" i="1">
                                <a:solidFill>
                                  <a:srgbClr val="000000"/>
                                </a:solidFill>
                                <a:latin typeface="Cambria Math" panose="02040503050406030204" pitchFamily="18" charset="0"/>
                              </a:rPr>
                              <m:t>𝒕</m:t>
                            </m:r>
                            <m:r>
                              <a:rPr lang="zh-CN" altLang="en-US" sz="2600" b="1" i="1">
                                <a:solidFill>
                                  <a:srgbClr val="000000"/>
                                </a:solidFill>
                                <a:latin typeface="Cambria Math" panose="02040503050406030204" pitchFamily="18" charset="0"/>
                              </a:rPr>
                              <m:t>)−</m:t>
                            </m:r>
                            <m:r>
                              <a:rPr lang="zh-CN" altLang="en-US" sz="2600" b="1" i="1">
                                <a:solidFill>
                                  <a:srgbClr val="000000"/>
                                </a:solidFill>
                                <a:latin typeface="Cambria Math" panose="02040503050406030204" pitchFamily="18" charset="0"/>
                              </a:rPr>
                              <m:t>𝟏</m:t>
                            </m:r>
                            <m:r>
                              <a:rPr lang="zh-CN" altLang="en-US" sz="2600" b="1" i="1">
                                <a:solidFill>
                                  <a:srgbClr val="000000"/>
                                </a:solidFill>
                                <a:latin typeface="Cambria Math" panose="02040503050406030204" pitchFamily="18" charset="0"/>
                              </a:rPr>
                              <m:t>.</m:t>
                            </m:r>
                            <m:r>
                              <a:rPr lang="zh-CN" altLang="en-US" sz="2600" b="1" i="1">
                                <a:solidFill>
                                  <a:srgbClr val="000000"/>
                                </a:solidFill>
                                <a:latin typeface="Cambria Math" panose="02040503050406030204" pitchFamily="18" charset="0"/>
                              </a:rPr>
                              <m:t>𝟕</m:t>
                            </m:r>
                            <m:r>
                              <a:rPr lang="zh-CN" altLang="en-US" sz="2600" b="1" i="1">
                                <a:solidFill>
                                  <a:srgbClr val="000000"/>
                                </a:solidFill>
                                <a:latin typeface="Cambria Math" panose="02040503050406030204" pitchFamily="18" charset="0"/>
                              </a:rPr>
                              <m:t>+</m:t>
                            </m:r>
                            <m:r>
                              <a:rPr lang="zh-CN" altLang="en-US" sz="2600" b="1" i="1">
                                <a:solidFill>
                                  <a:srgbClr val="000000"/>
                                </a:solidFill>
                                <a:latin typeface="Cambria Math" panose="02040503050406030204" pitchFamily="18" charset="0"/>
                              </a:rPr>
                              <m:t>𝟏</m:t>
                            </m:r>
                            <m:r>
                              <a:rPr lang="zh-CN" altLang="en-US" sz="2600" b="1" i="1">
                                <a:solidFill>
                                  <a:srgbClr val="000000"/>
                                </a:solidFill>
                                <a:latin typeface="Cambria Math" panose="02040503050406030204" pitchFamily="18" charset="0"/>
                              </a:rPr>
                              <m:t>.</m:t>
                            </m:r>
                            <m:r>
                              <a:rPr lang="zh-CN" altLang="en-US" sz="2600" b="1" i="1">
                                <a:solidFill>
                                  <a:srgbClr val="000000"/>
                                </a:solidFill>
                                <a:latin typeface="Cambria Math" panose="02040503050406030204" pitchFamily="18" charset="0"/>
                              </a:rPr>
                              <m:t>𝟖</m:t>
                            </m:r>
                            <m:func>
                              <m:funcPr>
                                <m:ctrlPr>
                                  <a:rPr lang="zh-CN" altLang="en-US" sz="2600" b="1" i="1">
                                    <a:solidFill>
                                      <a:srgbClr val="000000"/>
                                    </a:solidFill>
                                    <a:latin typeface="Cambria Math" panose="02040503050406030204" pitchFamily="18" charset="0"/>
                                  </a:rPr>
                                </m:ctrlPr>
                              </m:funcPr>
                              <m:fName>
                                <m:r>
                                  <a:rPr lang="zh-CN" altLang="en-US" sz="2600" b="1" i="0">
                                    <a:solidFill>
                                      <a:srgbClr val="000000"/>
                                    </a:solidFill>
                                    <a:latin typeface="Cambria Math" panose="02040503050406030204" pitchFamily="18" charset="0"/>
                                  </a:rPr>
                                  <m:t>𝐜𝐨𝐬</m:t>
                                </m:r>
                              </m:fName>
                              <m:e>
                                <m:r>
                                  <a:rPr lang="zh-CN" altLang="en-US" sz="2600" b="1" i="1">
                                    <a:solidFill>
                                      <a:srgbClr val="000000"/>
                                    </a:solidFill>
                                    <a:latin typeface="Cambria Math" panose="02040503050406030204" pitchFamily="18" charset="0"/>
                                  </a:rPr>
                                  <m:t>(</m:t>
                                </m:r>
                              </m:e>
                            </m:func>
                            <m:r>
                              <a:rPr lang="zh-CN" altLang="en-US" sz="2600" b="1" i="1">
                                <a:solidFill>
                                  <a:srgbClr val="000000"/>
                                </a:solidFill>
                                <a:latin typeface="Cambria Math" panose="02040503050406030204" pitchFamily="18" charset="0"/>
                              </a:rPr>
                              <m:t>𝟐</m:t>
                            </m:r>
                            <m:r>
                              <a:rPr lang="zh-CN" altLang="en-US" sz="2600" b="1" i="1">
                                <a:solidFill>
                                  <a:srgbClr val="000000"/>
                                </a:solidFill>
                                <a:latin typeface="Cambria Math" panose="02040503050406030204" pitchFamily="18" charset="0"/>
                              </a:rPr>
                              <m:t>𝒕</m:t>
                            </m:r>
                            <m:r>
                              <a:rPr lang="zh-CN" altLang="en-US" sz="2600" b="1" i="1">
                                <a:solidFill>
                                  <a:srgbClr val="000000"/>
                                </a:solidFill>
                                <a:latin typeface="Cambria Math" panose="02040503050406030204" pitchFamily="18" charset="0"/>
                              </a:rPr>
                              <m:t>)−</m:t>
                            </m:r>
                            <m:r>
                              <a:rPr lang="zh-CN" altLang="en-US" sz="2600" b="1" i="1">
                                <a:solidFill>
                                  <a:srgbClr val="000000"/>
                                </a:solidFill>
                                <a:latin typeface="Cambria Math" panose="02040503050406030204" pitchFamily="18" charset="0"/>
                              </a:rPr>
                              <m:t>𝟏</m:t>
                            </m:r>
                            <m:r>
                              <a:rPr lang="zh-CN" altLang="en-US" sz="2600" b="1" i="1">
                                <a:solidFill>
                                  <a:srgbClr val="000000"/>
                                </a:solidFill>
                                <a:latin typeface="Cambria Math" panose="02040503050406030204" pitchFamily="18" charset="0"/>
                              </a:rPr>
                              <m:t>.</m:t>
                            </m:r>
                            <m:r>
                              <a:rPr lang="zh-CN" altLang="en-US" sz="2600" b="1" i="1">
                                <a:solidFill>
                                  <a:srgbClr val="000000"/>
                                </a:solidFill>
                                <a:latin typeface="Cambria Math" panose="02040503050406030204" pitchFamily="18" charset="0"/>
                              </a:rPr>
                              <m:t>𝟓</m:t>
                            </m:r>
                            <m:r>
                              <a:rPr lang="zh-CN" altLang="en-US" sz="2600" b="1" i="1">
                                <a:solidFill>
                                  <a:srgbClr val="000000"/>
                                </a:solidFill>
                                <a:latin typeface="Cambria Math" panose="02040503050406030204" pitchFamily="18" charset="0"/>
                              </a:rPr>
                              <m:t>+</m:t>
                            </m:r>
                            <m:r>
                              <a:rPr lang="zh-CN" altLang="en-US" sz="2600" b="1" i="1">
                                <a:solidFill>
                                  <a:srgbClr val="000000"/>
                                </a:solidFill>
                                <a:latin typeface="Cambria Math" panose="02040503050406030204" pitchFamily="18" charset="0"/>
                              </a:rPr>
                              <m:t>𝟎</m:t>
                            </m:r>
                            <m:r>
                              <a:rPr lang="zh-CN" altLang="en-US" sz="2600" b="1" i="1">
                                <a:solidFill>
                                  <a:srgbClr val="000000"/>
                                </a:solidFill>
                                <a:latin typeface="Cambria Math" panose="02040503050406030204" pitchFamily="18" charset="0"/>
                              </a:rPr>
                              <m:t>.</m:t>
                            </m:r>
                            <m:r>
                              <a:rPr lang="zh-CN" altLang="en-US" sz="2600" b="1" i="1">
                                <a:solidFill>
                                  <a:srgbClr val="000000"/>
                                </a:solidFill>
                                <a:latin typeface="Cambria Math" panose="02040503050406030204" pitchFamily="18" charset="0"/>
                              </a:rPr>
                              <m:t>𝟖</m:t>
                            </m:r>
                            <m:func>
                              <m:funcPr>
                                <m:ctrlPr>
                                  <a:rPr lang="zh-CN" altLang="en-US" sz="2600" b="1" i="1">
                                    <a:solidFill>
                                      <a:srgbClr val="000000"/>
                                    </a:solidFill>
                                    <a:latin typeface="Cambria Math" panose="02040503050406030204" pitchFamily="18" charset="0"/>
                                  </a:rPr>
                                </m:ctrlPr>
                              </m:funcPr>
                              <m:fName>
                                <m:r>
                                  <a:rPr lang="zh-CN" altLang="en-US" sz="2600" b="1" i="0">
                                    <a:solidFill>
                                      <a:srgbClr val="000000"/>
                                    </a:solidFill>
                                    <a:latin typeface="Cambria Math" panose="02040503050406030204" pitchFamily="18" charset="0"/>
                                  </a:rPr>
                                  <m:t>𝐬𝐢𝐧</m:t>
                                </m:r>
                              </m:fName>
                              <m:e>
                                <m:r>
                                  <a:rPr lang="zh-CN" altLang="en-US" sz="2600" b="1" i="1">
                                    <a:solidFill>
                                      <a:srgbClr val="000000"/>
                                    </a:solidFill>
                                    <a:latin typeface="Cambria Math" panose="02040503050406030204" pitchFamily="18" charset="0"/>
                                  </a:rPr>
                                  <m:t>(</m:t>
                                </m:r>
                              </m:e>
                            </m:func>
                            <m:r>
                              <a:rPr lang="zh-CN" altLang="en-US" sz="2600" b="1" i="1">
                                <a:solidFill>
                                  <a:srgbClr val="000000"/>
                                </a:solidFill>
                                <a:latin typeface="Cambria Math" panose="02040503050406030204" pitchFamily="18" charset="0"/>
                              </a:rPr>
                              <m:t>𝟒</m:t>
                            </m:r>
                            <m:r>
                              <a:rPr lang="zh-CN" altLang="en-US" sz="2600" b="1" i="1">
                                <a:solidFill>
                                  <a:srgbClr val="000000"/>
                                </a:solidFill>
                                <a:latin typeface="Cambria Math" panose="02040503050406030204" pitchFamily="18" charset="0"/>
                              </a:rPr>
                              <m:t>𝒕</m:t>
                            </m:r>
                            <m:r>
                              <a:rPr lang="zh-CN" altLang="en-US" sz="2600" b="1" i="1">
                                <a:solidFill>
                                  <a:srgbClr val="000000"/>
                                </a:solidFill>
                                <a:latin typeface="Cambria Math" panose="02040503050406030204" pitchFamily="18" charset="0"/>
                              </a:rPr>
                              <m:t>)</m:t>
                            </m:r>
                          </m:e>
                        </m:d>
                      </m:e>
                      <m:sup>
                        <m:r>
                          <a:rPr lang="zh-CN" altLang="en-US" sz="2600" b="1" i="1">
                            <a:solidFill>
                              <a:srgbClr val="000000"/>
                            </a:solidFill>
                            <a:latin typeface="Cambria Math" panose="02040503050406030204" pitchFamily="18" charset="0"/>
                          </a:rPr>
                          <m:t>𝑻</m:t>
                        </m:r>
                      </m:sup>
                    </m:sSup>
                  </m:oMath>
                </a14:m>
                <a:r>
                  <a:rPr lang="zh-CN" altLang="en-US" sz="2600" b="1" dirty="0"/>
                  <a:t>      </a:t>
                </a:r>
                <a:r>
                  <a:rPr lang="en-US" altLang="zh-CN" sz="2400" b="1" dirty="0">
                    <a:latin typeface="微软雅黑" panose="020B0503020204020204" pitchFamily="34" charset="-122"/>
                    <a:ea typeface="微软雅黑" panose="020B0503020204020204" pitchFamily="34" charset="-122"/>
                  </a:rPr>
                  <a:t>(7.13)</a:t>
                </a:r>
                <a:endParaRPr lang="zh-CN" altLang="en-US" sz="2400" b="1" dirty="0">
                  <a:latin typeface="微软雅黑" panose="020B0503020204020204" pitchFamily="34" charset="-122"/>
                  <a:ea typeface="微软雅黑" panose="020B0503020204020204" pitchFamily="34" charset="-122"/>
                </a:endParaRPr>
              </a:p>
            </p:txBody>
          </p:sp>
        </mc:Choice>
        <mc:Fallback xmlns="">
          <p:sp>
            <p:nvSpPr>
              <p:cNvPr id="5" name="对象 7">
                <a:extLst>
                  <a:ext uri="{FF2B5EF4-FFF2-40B4-BE49-F238E27FC236}">
                    <a16:creationId xmlns:a16="http://schemas.microsoft.com/office/drawing/2014/main" id="{C442D70C-44A6-6BE0-EF83-BB16B91327D1}"/>
                  </a:ext>
                </a:extLst>
              </p:cNvPr>
              <p:cNvSpPr txBox="1">
                <a:spLocks noRot="1" noChangeAspect="1" noMove="1" noResize="1" noEditPoints="1" noAdjustHandles="1" noChangeArrowheads="1" noChangeShapeType="1" noTextEdit="1"/>
              </p:cNvSpPr>
              <p:nvPr/>
            </p:nvSpPr>
            <p:spPr bwMode="auto">
              <a:xfrm>
                <a:off x="535781" y="2816554"/>
                <a:ext cx="11539539" cy="830997"/>
              </a:xfrm>
              <a:prstGeom prst="rect">
                <a:avLst/>
              </a:prstGeom>
              <a:blipFill>
                <a:blip r:embed="rId3"/>
                <a:stretch>
                  <a:fillRect t="-2174"/>
                </a:stretch>
              </a:blipFill>
              <a:ln>
                <a:solidFill>
                  <a:schemeClr val="bg1"/>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a:extLst>
                  <a:ext uri="{FF2B5EF4-FFF2-40B4-BE49-F238E27FC236}">
                    <a16:creationId xmlns:a16="http://schemas.microsoft.com/office/drawing/2014/main" id="{CCC0E14B-FF5C-CEA9-E509-9D9FC2DA2BDD}"/>
                  </a:ext>
                </a:extLst>
              </p:cNvPr>
              <p:cNvSpPr txBox="1"/>
              <p:nvPr/>
            </p:nvSpPr>
            <p:spPr>
              <a:xfrm>
                <a:off x="535781" y="3552301"/>
                <a:ext cx="10132219" cy="2336858"/>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       初始位置</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单位</a:t>
                </a:r>
                <a:r>
                  <a:rPr lang="en-US" altLang="zh-CN" sz="2400" b="1" dirty="0">
                    <a:latin typeface="微软雅黑" panose="020B0503020204020204" pitchFamily="34" charset="-122"/>
                    <a:ea typeface="微软雅黑" panose="020B0503020204020204" pitchFamily="34" charset="-122"/>
                  </a:rPr>
                  <a:t>rad)</a:t>
                </a:r>
                <a:r>
                  <a:rPr lang="zh-CN" altLang="en-US" sz="2400" b="1" dirty="0">
                    <a:latin typeface="微软雅黑" panose="020B0503020204020204" pitchFamily="34" charset="-122"/>
                    <a:ea typeface="微软雅黑" panose="020B0503020204020204" pitchFamily="34" charset="-122"/>
                  </a:rPr>
                  <a:t>为</a:t>
                </a:r>
                <a14:m>
                  <m:oMath xmlns:m="http://schemas.openxmlformats.org/officeDocument/2006/math">
                    <m:r>
                      <a:rPr lang="zh-CN" altLang="en-US" sz="2400" i="1">
                        <a:solidFill>
                          <a:srgbClr val="000000"/>
                        </a:solidFill>
                        <a:latin typeface="Cambria Math" panose="02040503050406030204" pitchFamily="18" charset="0"/>
                      </a:rPr>
                      <m:t>𝑞</m:t>
                    </m:r>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0</m:t>
                        </m:r>
                      </m:e>
                    </m:d>
                    <m:r>
                      <a:rPr lang="zh-CN" altLang="en-US" sz="2400" i="1">
                        <a:solidFill>
                          <a:srgbClr val="000000"/>
                        </a:solidFill>
                        <a:latin typeface="Cambria Math" panose="02040503050406030204" pitchFamily="18" charset="0"/>
                      </a:rPr>
                      <m:t>=</m:t>
                    </m:r>
                    <m:r>
                      <a:rPr lang="en-US" altLang="zh-CN" sz="2400" i="1"/>
                      <m:t>[1</m:t>
                    </m:r>
                    <m:r>
                      <m:rPr>
                        <m:nor/>
                      </m:rPr>
                      <a:rPr lang="en-US" altLang="zh-CN" sz="2400"/>
                      <m:t>  </m:t>
                    </m:r>
                    <m:r>
                      <a:rPr lang="en-US" altLang="zh-CN" sz="2400" i="1"/>
                      <m:t>−</m:t>
                    </m:r>
                    <m:r>
                      <a:rPr lang="en-US" altLang="zh-CN" sz="2400"/>
                      <m:t>1</m:t>
                    </m:r>
                    <m:r>
                      <m:rPr>
                        <m:nor/>
                      </m:rPr>
                      <a:rPr lang="en-US" altLang="zh-CN" sz="2400"/>
                      <m:t>  </m:t>
                    </m:r>
                    <m:r>
                      <a:rPr lang="en-US" altLang="zh-CN" sz="2400" b="0" i="0" smtClean="0">
                        <a:latin typeface="Cambria Math" panose="02040503050406030204" pitchFamily="18" charset="0"/>
                      </a:rPr>
                      <m:t> </m:t>
                    </m:r>
                    <m:r>
                      <a:rPr lang="en-US" altLang="zh-CN" sz="2400"/>
                      <m:t>2</m:t>
                    </m:r>
                    <m:sSup>
                      <m:sSupPr>
                        <m:ctrlPr>
                          <a:rPr lang="zh-CN" altLang="zh-CN" sz="2400" i="1"/>
                        </m:ctrlPr>
                      </m:sSupPr>
                      <m:e>
                        <m:r>
                          <a:rPr lang="en-US" altLang="zh-CN" sz="2400"/>
                          <m:t>]</m:t>
                        </m:r>
                      </m:e>
                      <m:sup>
                        <m:r>
                          <a:rPr lang="en-US" altLang="zh-CN" sz="2400" i="1"/>
                          <m:t>𝑇</m:t>
                        </m:r>
                      </m:sup>
                    </m:sSup>
                  </m:oMath>
                </a14:m>
                <a:r>
                  <a:rPr lang="zh-CN" altLang="en-US" sz="2400" b="1" dirty="0">
                    <a:latin typeface="微软雅黑" panose="020B0503020204020204" pitchFamily="34" charset="-122"/>
                    <a:ea typeface="微软雅黑" panose="020B0503020204020204" pitchFamily="34" charset="-122"/>
                  </a:rPr>
                  <a:t>，初始速度</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单位</a:t>
                </a:r>
                <a:r>
                  <a:rPr lang="en-US" altLang="zh-CN" sz="2400" b="1" dirty="0">
                    <a:latin typeface="微软雅黑" panose="020B0503020204020204" pitchFamily="34" charset="-122"/>
                    <a:ea typeface="微软雅黑" panose="020B0503020204020204" pitchFamily="34" charset="-122"/>
                  </a:rPr>
                  <a:t>rad/s)</a:t>
                </a:r>
                <a:r>
                  <a:rPr lang="zh-CN" altLang="en-US" sz="2400" b="1" dirty="0">
                    <a:latin typeface="微软雅黑" panose="020B0503020204020204" pitchFamily="34" charset="-122"/>
                    <a:ea typeface="微软雅黑" panose="020B0503020204020204" pitchFamily="34" charset="-122"/>
                  </a:rPr>
                  <a:t>为 </a:t>
                </a:r>
                <a14:m>
                  <m:oMath xmlns:m="http://schemas.openxmlformats.org/officeDocument/2006/math">
                    <m:acc>
                      <m:accPr>
                        <m:chr m:val="̇"/>
                        <m:ctrlPr>
                          <a:rPr lang="zh-CN" altLang="en-US" sz="2400" i="1">
                            <a:solidFill>
                              <a:srgbClr val="000000"/>
                            </a:solidFill>
                            <a:latin typeface="Cambria Math" panose="02040503050406030204" pitchFamily="18" charset="0"/>
                          </a:rPr>
                        </m:ctrlPr>
                      </m:accPr>
                      <m:e>
                        <m:r>
                          <a:rPr lang="zh-CN" altLang="en-US" sz="2400" i="1">
                            <a:solidFill>
                              <a:srgbClr val="000000"/>
                            </a:solidFill>
                            <a:latin typeface="Cambria Math" panose="02040503050406030204" pitchFamily="18" charset="0"/>
                          </a:rPr>
                          <m:t>𝑞</m:t>
                        </m:r>
                      </m:e>
                    </m:acc>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0</m:t>
                        </m:r>
                      </m:e>
                    </m:d>
                    <m:r>
                      <a:rPr lang="zh-CN" altLang="en-US" sz="2400" i="1">
                        <a:solidFill>
                          <a:srgbClr val="000000"/>
                        </a:solidFill>
                        <a:latin typeface="Cambria Math" panose="02040503050406030204" pitchFamily="18" charset="0"/>
                      </a:rPr>
                      <m:t>=</m:t>
                    </m:r>
                    <m:r>
                      <a:rPr lang="en-US" altLang="zh-CN" sz="2400" i="1"/>
                      <m:t>[0</m:t>
                    </m:r>
                    <m:r>
                      <m:rPr>
                        <m:nor/>
                      </m:rPr>
                      <a:rPr lang="en-US" altLang="zh-CN" sz="2400"/>
                      <m:t>  </m:t>
                    </m:r>
                    <m:r>
                      <a:rPr lang="en-US" altLang="zh-CN" sz="2400"/>
                      <m:t>0</m:t>
                    </m:r>
                    <m:r>
                      <m:rPr>
                        <m:nor/>
                      </m:rPr>
                      <a:rPr lang="en-US" altLang="zh-CN" sz="2400"/>
                      <m:t>  </m:t>
                    </m:r>
                    <m:r>
                      <a:rPr lang="en-US" altLang="zh-CN" sz="2400"/>
                      <m:t>0</m:t>
                    </m:r>
                    <m:sSup>
                      <m:sSupPr>
                        <m:ctrlPr>
                          <a:rPr lang="zh-CN" altLang="zh-CN" sz="2400" i="1"/>
                        </m:ctrlPr>
                      </m:sSupPr>
                      <m:e>
                        <m:r>
                          <a:rPr lang="en-US" altLang="zh-CN" sz="2400"/>
                          <m:t>]</m:t>
                        </m:r>
                      </m:e>
                      <m:sup>
                        <m:r>
                          <a:rPr lang="en-US" altLang="zh-CN" sz="2400" i="1"/>
                          <m:t>𝑇</m:t>
                        </m:r>
                      </m:sup>
                    </m:sSup>
                  </m:oMath>
                </a14:m>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这表明初始状态时机器人是静止不动的</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，分散</a:t>
                </a:r>
                <a:r>
                  <a:rPr lang="en-US" altLang="zh-CN" sz="2400" b="1" dirty="0">
                    <a:latin typeface="微软雅黑" panose="020B0503020204020204" pitchFamily="34" charset="-122"/>
                    <a:ea typeface="微软雅黑" panose="020B0503020204020204" pitchFamily="34" charset="-122"/>
                  </a:rPr>
                  <a:t>PD</a:t>
                </a:r>
                <a:r>
                  <a:rPr lang="zh-CN" altLang="en-US" sz="2400" b="1" dirty="0">
                    <a:latin typeface="微软雅黑" panose="020B0503020204020204" pitchFamily="34" charset="-122"/>
                    <a:ea typeface="微软雅黑" panose="020B0503020204020204" pitchFamily="34" charset="-122"/>
                  </a:rPr>
                  <a:t>控制增益 </a:t>
                </a:r>
                <a14:m>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𝑘</m:t>
                        </m:r>
                      </m:e>
                      <m:sub>
                        <m:r>
                          <a:rPr lang="zh-CN" altLang="en-US" sz="2400" i="1">
                            <a:solidFill>
                              <a:srgbClr val="000000"/>
                            </a:solidFill>
                            <a:latin typeface="Cambria Math" panose="02040503050406030204" pitchFamily="18" charset="0"/>
                          </a:rPr>
                          <m:t>𝑝</m:t>
                        </m:r>
                      </m:sub>
                    </m:sSub>
                    <m:r>
                      <a:rPr lang="zh-CN" altLang="en-US" sz="2400" i="1">
                        <a:solidFill>
                          <a:srgbClr val="000000"/>
                        </a:solidFill>
                        <a:latin typeface="Cambria Math" panose="02040503050406030204" pitchFamily="18" charset="0"/>
                      </a:rPr>
                      <m:t>=(60,50,100)</m:t>
                    </m:r>
                  </m:oMath>
                </a14:m>
                <a:r>
                  <a:rPr lang="zh-CN" altLang="en-US" sz="2400" b="1" dirty="0">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en-US" sz="2400" i="1" smtClean="0">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𝑘</m:t>
                        </m:r>
                      </m:e>
                      <m:sub>
                        <m:r>
                          <a:rPr lang="zh-CN" altLang="en-US" sz="2400" i="1">
                            <a:solidFill>
                              <a:srgbClr val="000000"/>
                            </a:solidFill>
                            <a:latin typeface="Cambria Math" panose="02040503050406030204" pitchFamily="18" charset="0"/>
                          </a:rPr>
                          <m:t>𝑑</m:t>
                        </m:r>
                      </m:sub>
                    </m:sSub>
                    <m:r>
                      <a:rPr lang="zh-CN" altLang="en-US" sz="2400" i="1" smtClean="0">
                        <a:solidFill>
                          <a:srgbClr val="000000"/>
                        </a:solidFill>
                        <a:latin typeface="Cambria Math" panose="02040503050406030204" pitchFamily="18" charset="0"/>
                      </a:rPr>
                      <m:t>=</m:t>
                    </m:r>
                    <m:r>
                      <a:rPr lang="zh-CN" altLang="en-US" sz="2400" i="1" smtClean="0">
                        <a:solidFill>
                          <a:srgbClr val="000000"/>
                        </a:solidFill>
                        <a:latin typeface="Cambria Math" panose="02040503050406030204" pitchFamily="18" charset="0"/>
                      </a:rPr>
                      <m:t>𝑑𝑖𝑎𝑔</m:t>
                    </m:r>
                    <m:r>
                      <a:rPr lang="zh-CN" altLang="en-US" sz="2400" i="1" smtClean="0">
                        <a:solidFill>
                          <a:srgbClr val="000000"/>
                        </a:solidFill>
                        <a:latin typeface="Cambria Math" panose="02040503050406030204" pitchFamily="18" charset="0"/>
                      </a:rPr>
                      <m:t>(5,5,10)</m:t>
                    </m:r>
                  </m:oMath>
                </a14:m>
                <a:r>
                  <a:rPr lang="zh-CN" altLang="en-US" sz="2400" b="1" dirty="0">
                    <a:latin typeface="微软雅黑" panose="020B0503020204020204" pitchFamily="34" charset="-122"/>
                    <a:ea typeface="微软雅黑" panose="020B0503020204020204" pitchFamily="34" charset="-122"/>
                  </a:rPr>
                  <a:t>。</a:t>
                </a:r>
              </a:p>
              <a:p>
                <a:r>
                  <a:rPr lang="en-US" altLang="zh-CN" sz="2400" b="1" dirty="0">
                    <a:latin typeface="微软雅黑" panose="020B0503020204020204" pitchFamily="34" charset="-122"/>
                    <a:ea typeface="微软雅黑" panose="020B0503020204020204" pitchFamily="34" charset="-122"/>
                  </a:rPr>
                  <a:t>       PD</a:t>
                </a:r>
                <a:r>
                  <a:rPr lang="zh-CN" altLang="en-US" sz="2400" b="1" dirty="0">
                    <a:latin typeface="微软雅黑" panose="020B0503020204020204" pitchFamily="34" charset="-122"/>
                    <a:ea typeface="微软雅黑" panose="020B0503020204020204" pitchFamily="34" charset="-122"/>
                  </a:rPr>
                  <a:t>控制的位置跟踪曲线和跟踪误差、速度跟踪曲线和跟踪误差及控制力矩如图 </a:t>
                </a:r>
                <a:r>
                  <a:rPr lang="en-US" altLang="zh-CN" sz="2400" b="1" dirty="0">
                    <a:latin typeface="微软雅黑" panose="020B0503020204020204" pitchFamily="34" charset="-122"/>
                    <a:ea typeface="微软雅黑" panose="020B0503020204020204" pitchFamily="34" charset="-122"/>
                  </a:rPr>
                  <a:t>7.6</a:t>
                </a:r>
                <a:r>
                  <a:rPr lang="zh-CN" altLang="en-US" sz="2400" b="1" dirty="0">
                    <a:latin typeface="微软雅黑" panose="020B0503020204020204" pitchFamily="34" charset="-122"/>
                    <a:ea typeface="微软雅黑" panose="020B0503020204020204" pitchFamily="34" charset="-122"/>
                  </a:rPr>
                  <a:t>～图</a:t>
                </a:r>
                <a:r>
                  <a:rPr lang="en-US" altLang="zh-CN" sz="2400" b="1" dirty="0">
                    <a:latin typeface="微软雅黑" panose="020B0503020204020204" pitchFamily="34" charset="-122"/>
                    <a:ea typeface="微软雅黑" panose="020B0503020204020204" pitchFamily="34" charset="-122"/>
                  </a:rPr>
                  <a:t>7.12</a:t>
                </a:r>
                <a:r>
                  <a:rPr lang="zh-CN" altLang="en-US" sz="2400" b="1" dirty="0">
                    <a:latin typeface="微软雅黑" panose="020B0503020204020204" pitchFamily="34" charset="-122"/>
                    <a:ea typeface="微软雅黑" panose="020B0503020204020204" pitchFamily="34" charset="-122"/>
                  </a:rPr>
                  <a:t>所示。从仿真结果中可以看出，</a:t>
                </a:r>
                <a:r>
                  <a:rPr lang="en-US" altLang="zh-CN" sz="2400" b="1" dirty="0">
                    <a:latin typeface="微软雅黑" panose="020B0503020204020204" pitchFamily="34" charset="-122"/>
                    <a:ea typeface="微软雅黑" panose="020B0503020204020204" pitchFamily="34" charset="-122"/>
                  </a:rPr>
                  <a:t>PD</a:t>
                </a:r>
                <a:r>
                  <a:rPr lang="zh-CN" altLang="en-US" sz="2400" b="1" dirty="0">
                    <a:latin typeface="微软雅黑" panose="020B0503020204020204" pitchFamily="34" charset="-122"/>
                    <a:ea typeface="微软雅黑" panose="020B0503020204020204" pitchFamily="34" charset="-122"/>
                  </a:rPr>
                  <a:t>控制可以实现各个关节的跟踪控制，速度跟踪曲线存在一定的误差。</a:t>
                </a:r>
              </a:p>
            </p:txBody>
          </p:sp>
        </mc:Choice>
        <mc:Fallback>
          <p:sp>
            <p:nvSpPr>
              <p:cNvPr id="18" name="文本框 17">
                <a:extLst>
                  <a:ext uri="{FF2B5EF4-FFF2-40B4-BE49-F238E27FC236}">
                    <a16:creationId xmlns:a16="http://schemas.microsoft.com/office/drawing/2014/main" id="{CCC0E14B-FF5C-CEA9-E509-9D9FC2DA2BDD}"/>
                  </a:ext>
                </a:extLst>
              </p:cNvPr>
              <p:cNvSpPr txBox="1">
                <a:spLocks noRot="1" noChangeAspect="1" noMove="1" noResize="1" noEditPoints="1" noAdjustHandles="1" noChangeArrowheads="1" noChangeShapeType="1" noTextEdit="1"/>
              </p:cNvSpPr>
              <p:nvPr/>
            </p:nvSpPr>
            <p:spPr>
              <a:xfrm>
                <a:off x="535781" y="3552301"/>
                <a:ext cx="10132219" cy="2336858"/>
              </a:xfrm>
              <a:prstGeom prst="rect">
                <a:avLst/>
              </a:prstGeom>
              <a:blipFill>
                <a:blip r:embed="rId4"/>
                <a:stretch>
                  <a:fillRect l="-963" t="-1828" r="-602" b="-5744"/>
                </a:stretch>
              </a:blipFill>
            </p:spPr>
            <p:txBody>
              <a:bodyPr/>
              <a:lstStyle/>
              <a:p>
                <a:r>
                  <a:rPr lang="zh-CN" altLang="en-US">
                    <a:noFill/>
                  </a:rPr>
                  <a:t> </a:t>
                </a:r>
              </a:p>
            </p:txBody>
          </p:sp>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B6FBCCE-6671-87BB-6729-152D5F213650}"/>
              </a:ext>
            </a:extLst>
          </p:cNvPr>
          <p:cNvSpPr txBox="1"/>
          <p:nvPr>
            <p:custDataLst>
              <p:tags r:id="rId1"/>
            </p:custDataLst>
          </p:nvPr>
        </p:nvSpPr>
        <p:spPr>
          <a:xfrm>
            <a:off x="1357313" y="128685"/>
            <a:ext cx="8158162"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7.2.2</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 机器人控制方法和控制器设计</a:t>
            </a:r>
          </a:p>
        </p:txBody>
      </p:sp>
      <p:grpSp>
        <p:nvGrpSpPr>
          <p:cNvPr id="3" name="组合 3">
            <a:extLst>
              <a:ext uri="{FF2B5EF4-FFF2-40B4-BE49-F238E27FC236}">
                <a16:creationId xmlns:a16="http://schemas.microsoft.com/office/drawing/2014/main" id="{D344E7CF-0187-D6F5-05A8-62BDC6646353}"/>
              </a:ext>
            </a:extLst>
          </p:cNvPr>
          <p:cNvGrpSpPr>
            <a:grpSpLocks/>
          </p:cNvGrpSpPr>
          <p:nvPr/>
        </p:nvGrpSpPr>
        <p:grpSpPr bwMode="auto">
          <a:xfrm>
            <a:off x="3035300" y="981075"/>
            <a:ext cx="6480175" cy="5153025"/>
            <a:chOff x="1466365" y="476672"/>
            <a:chExt cx="6480720" cy="5152638"/>
          </a:xfrm>
        </p:grpSpPr>
        <p:pic>
          <p:nvPicPr>
            <p:cNvPr id="4" name="图片 1">
              <a:extLst>
                <a:ext uri="{FF2B5EF4-FFF2-40B4-BE49-F238E27FC236}">
                  <a16:creationId xmlns:a16="http://schemas.microsoft.com/office/drawing/2014/main" id="{277A8550-C11C-06FA-5968-4C6149466C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476672"/>
              <a:ext cx="6048672" cy="4391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5D5CF0FF-97F0-334C-E018-907951C90F81}"/>
                </a:ext>
              </a:extLst>
            </p:cNvPr>
            <p:cNvSpPr txBox="1"/>
            <p:nvPr/>
          </p:nvSpPr>
          <p:spPr>
            <a:xfrm>
              <a:off x="1466365" y="5229290"/>
              <a:ext cx="6480720" cy="400020"/>
            </a:xfrm>
            <a:prstGeom prst="rect">
              <a:avLst/>
            </a:prstGeom>
            <a:noFill/>
          </p:spPr>
          <p:txBody>
            <a:bodyPr>
              <a:spAutoFit/>
            </a:bodyPr>
            <a:lstStyle/>
            <a:p>
              <a:pPr algn="ctr">
                <a:defRPr/>
              </a:pPr>
              <a:r>
                <a:rPr lang="zh-CN" altLang="zh-CN" sz="2000" kern="0" dirty="0">
                  <a:latin typeface="Times New Roman" panose="02020603050405020304" pitchFamily="18" charset="0"/>
                  <a:cs typeface="Times New Roman" panose="02020603050405020304" pitchFamily="18" charset="0"/>
                </a:rPr>
                <a:t>图</a:t>
              </a:r>
              <a:r>
                <a:rPr lang="en-US" altLang="zh-CN" sz="2000" kern="0" dirty="0">
                  <a:latin typeface="Times New Roman" panose="02020603050405020304" pitchFamily="18" charset="0"/>
                  <a:cs typeface="Times New Roman" panose="02020603050405020304" pitchFamily="18" charset="0"/>
                </a:rPr>
                <a:t>7-6 </a:t>
              </a:r>
              <a:r>
                <a:rPr lang="zh-CN" altLang="zh-CN" sz="2000" kern="0" dirty="0">
                  <a:latin typeface="Times New Roman" panose="02020603050405020304" pitchFamily="18" charset="0"/>
                  <a:cs typeface="Times New Roman" panose="02020603050405020304" pitchFamily="18" charset="0"/>
                </a:rPr>
                <a:t>关节</a:t>
              </a:r>
              <a:r>
                <a:rPr lang="en-US" altLang="zh-CN" sz="2000" kern="0" dirty="0">
                  <a:latin typeface="Times New Roman" panose="02020603050405020304" pitchFamily="18" charset="0"/>
                  <a:cs typeface="Times New Roman" panose="02020603050405020304" pitchFamily="18" charset="0"/>
                </a:rPr>
                <a:t>1</a:t>
              </a:r>
              <a:r>
                <a:rPr lang="zh-CN" altLang="zh-CN" sz="2000" kern="0" dirty="0">
                  <a:latin typeface="Times New Roman" panose="02020603050405020304" pitchFamily="18" charset="0"/>
                  <a:cs typeface="Times New Roman" panose="02020603050405020304" pitchFamily="18" charset="0"/>
                </a:rPr>
                <a:t>基于</a:t>
              </a:r>
              <a:r>
                <a:rPr lang="en-US" altLang="zh-CN" sz="2000" kern="0" dirty="0">
                  <a:latin typeface="Times New Roman" panose="02020603050405020304" pitchFamily="18" charset="0"/>
                  <a:cs typeface="Times New Roman" panose="02020603050405020304" pitchFamily="18" charset="0"/>
                </a:rPr>
                <a:t>PD</a:t>
              </a:r>
              <a:r>
                <a:rPr lang="zh-CN" altLang="zh-CN" sz="2000" kern="0" dirty="0">
                  <a:latin typeface="Times New Roman" panose="02020603050405020304" pitchFamily="18" charset="0"/>
                  <a:cs typeface="Times New Roman" panose="02020603050405020304" pitchFamily="18" charset="0"/>
                </a:rPr>
                <a:t>控制的位置轨迹跟踪曲线和误差</a:t>
              </a:r>
              <a:endParaRPr lang="zh-CN" altLang="zh-CN" sz="2000" kern="100" dirty="0">
                <a:latin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17122010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B6FBCCE-6671-87BB-6729-152D5F213650}"/>
              </a:ext>
            </a:extLst>
          </p:cNvPr>
          <p:cNvSpPr txBox="1"/>
          <p:nvPr>
            <p:custDataLst>
              <p:tags r:id="rId1"/>
            </p:custDataLst>
          </p:nvPr>
        </p:nvSpPr>
        <p:spPr>
          <a:xfrm>
            <a:off x="1357313" y="128685"/>
            <a:ext cx="8158162"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7.2.2</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 机器人控制方法和控制器设计</a:t>
            </a:r>
          </a:p>
        </p:txBody>
      </p:sp>
      <p:grpSp>
        <p:nvGrpSpPr>
          <p:cNvPr id="3" name="组合 5">
            <a:extLst>
              <a:ext uri="{FF2B5EF4-FFF2-40B4-BE49-F238E27FC236}">
                <a16:creationId xmlns:a16="http://schemas.microsoft.com/office/drawing/2014/main" id="{74DEC534-33D5-B564-46DB-6DB4F53C99FC}"/>
              </a:ext>
            </a:extLst>
          </p:cNvPr>
          <p:cNvGrpSpPr>
            <a:grpSpLocks/>
          </p:cNvGrpSpPr>
          <p:nvPr/>
        </p:nvGrpSpPr>
        <p:grpSpPr bwMode="auto">
          <a:xfrm>
            <a:off x="2963862" y="1450975"/>
            <a:ext cx="6264275" cy="4721225"/>
            <a:chOff x="1547664" y="908720"/>
            <a:chExt cx="6264696" cy="4720590"/>
          </a:xfrm>
        </p:grpSpPr>
        <p:pic>
          <p:nvPicPr>
            <p:cNvPr id="4" name="图片 1">
              <a:extLst>
                <a:ext uri="{FF2B5EF4-FFF2-40B4-BE49-F238E27FC236}">
                  <a16:creationId xmlns:a16="http://schemas.microsoft.com/office/drawing/2014/main" id="{38A60ABF-D490-E872-3874-4E472479CC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4" y="908720"/>
              <a:ext cx="5544616" cy="4201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06DC467B-BEFE-F7D3-03A9-516B07C80130}"/>
                </a:ext>
              </a:extLst>
            </p:cNvPr>
            <p:cNvSpPr txBox="1"/>
            <p:nvPr/>
          </p:nvSpPr>
          <p:spPr>
            <a:xfrm>
              <a:off x="1547664" y="5229314"/>
              <a:ext cx="6264696" cy="399996"/>
            </a:xfrm>
            <a:prstGeom prst="rect">
              <a:avLst/>
            </a:prstGeom>
            <a:noFill/>
          </p:spPr>
          <p:txBody>
            <a:bodyPr>
              <a:spAutoFit/>
            </a:bodyPr>
            <a:lstStyle/>
            <a:p>
              <a:pPr algn="ctr">
                <a:defRPr/>
              </a:pPr>
              <a:r>
                <a:rPr lang="zh-CN" altLang="zh-CN" sz="2000" kern="0" dirty="0">
                  <a:latin typeface="Times New Roman" panose="02020603050405020304" pitchFamily="18" charset="0"/>
                  <a:cs typeface="Times New Roman" panose="02020603050405020304" pitchFamily="18" charset="0"/>
                </a:rPr>
                <a:t>图</a:t>
              </a:r>
              <a:r>
                <a:rPr lang="en-US" altLang="zh-CN" sz="2000" kern="0" dirty="0">
                  <a:latin typeface="Times New Roman" panose="02020603050405020304" pitchFamily="18" charset="0"/>
                  <a:cs typeface="Times New Roman" panose="02020603050405020304" pitchFamily="18" charset="0"/>
                </a:rPr>
                <a:t>7-7 </a:t>
              </a:r>
              <a:r>
                <a:rPr lang="zh-CN" altLang="zh-CN" sz="2000" kern="0" dirty="0">
                  <a:latin typeface="Times New Roman" panose="02020603050405020304" pitchFamily="18" charset="0"/>
                  <a:cs typeface="Times New Roman" panose="02020603050405020304" pitchFamily="18" charset="0"/>
                </a:rPr>
                <a:t>关节</a:t>
              </a:r>
              <a:r>
                <a:rPr lang="en-US" altLang="zh-CN" sz="2000" kern="0" dirty="0">
                  <a:latin typeface="Times New Roman" panose="02020603050405020304" pitchFamily="18" charset="0"/>
                  <a:cs typeface="Times New Roman" panose="02020603050405020304" pitchFamily="18" charset="0"/>
                </a:rPr>
                <a:t>1</a:t>
              </a:r>
              <a:r>
                <a:rPr lang="zh-CN" altLang="zh-CN" sz="2000" kern="0" dirty="0">
                  <a:latin typeface="Times New Roman" panose="02020603050405020304" pitchFamily="18" charset="0"/>
                  <a:cs typeface="Times New Roman" panose="02020603050405020304" pitchFamily="18" charset="0"/>
                </a:rPr>
                <a:t>基于</a:t>
              </a:r>
              <a:r>
                <a:rPr lang="en-US" altLang="zh-CN" sz="2000" kern="0" dirty="0">
                  <a:latin typeface="Times New Roman" panose="02020603050405020304" pitchFamily="18" charset="0"/>
                  <a:cs typeface="Times New Roman" panose="02020603050405020304" pitchFamily="18" charset="0"/>
                </a:rPr>
                <a:t>PD</a:t>
              </a:r>
              <a:r>
                <a:rPr lang="zh-CN" altLang="zh-CN" sz="2000" kern="0" dirty="0">
                  <a:latin typeface="Times New Roman" panose="02020603050405020304" pitchFamily="18" charset="0"/>
                  <a:cs typeface="Times New Roman" panose="02020603050405020304" pitchFamily="18" charset="0"/>
                </a:rPr>
                <a:t>控制的速度轨迹跟踪曲线和误差</a:t>
              </a:r>
              <a:endParaRPr lang="zh-CN" altLang="zh-CN" sz="2000" kern="100" dirty="0">
                <a:latin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7796764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B6FBCCE-6671-87BB-6729-152D5F213650}"/>
              </a:ext>
            </a:extLst>
          </p:cNvPr>
          <p:cNvSpPr txBox="1"/>
          <p:nvPr>
            <p:custDataLst>
              <p:tags r:id="rId1"/>
            </p:custDataLst>
          </p:nvPr>
        </p:nvSpPr>
        <p:spPr>
          <a:xfrm>
            <a:off x="1357313" y="128685"/>
            <a:ext cx="8158162"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7.2.2</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 机器人控制方法和控制器设计</a:t>
            </a:r>
          </a:p>
        </p:txBody>
      </p:sp>
      <p:grpSp>
        <p:nvGrpSpPr>
          <p:cNvPr id="3" name="组合 5">
            <a:extLst>
              <a:ext uri="{FF2B5EF4-FFF2-40B4-BE49-F238E27FC236}">
                <a16:creationId xmlns:a16="http://schemas.microsoft.com/office/drawing/2014/main" id="{7A51AB02-05F5-0830-7617-93DBC35FA43D}"/>
              </a:ext>
            </a:extLst>
          </p:cNvPr>
          <p:cNvGrpSpPr>
            <a:grpSpLocks/>
          </p:cNvGrpSpPr>
          <p:nvPr/>
        </p:nvGrpSpPr>
        <p:grpSpPr bwMode="auto">
          <a:xfrm>
            <a:off x="2963862" y="1431925"/>
            <a:ext cx="6264275" cy="4864100"/>
            <a:chOff x="1403648" y="764704"/>
            <a:chExt cx="6264696" cy="4864606"/>
          </a:xfrm>
        </p:grpSpPr>
        <p:pic>
          <p:nvPicPr>
            <p:cNvPr id="4" name="图片 1">
              <a:extLst>
                <a:ext uri="{FF2B5EF4-FFF2-40B4-BE49-F238E27FC236}">
                  <a16:creationId xmlns:a16="http://schemas.microsoft.com/office/drawing/2014/main" id="{FA4E544C-F2DF-1348-7EBA-356376707C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764704"/>
              <a:ext cx="5904656" cy="42845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71F84DD6-D0DD-5795-61F4-30C7E8FFC6CD}"/>
                </a:ext>
              </a:extLst>
            </p:cNvPr>
            <p:cNvSpPr txBox="1"/>
            <p:nvPr/>
          </p:nvSpPr>
          <p:spPr>
            <a:xfrm>
              <a:off x="1403648" y="5229218"/>
              <a:ext cx="6264696" cy="400092"/>
            </a:xfrm>
            <a:prstGeom prst="rect">
              <a:avLst/>
            </a:prstGeom>
            <a:noFill/>
          </p:spPr>
          <p:txBody>
            <a:bodyPr>
              <a:spAutoFit/>
            </a:bodyPr>
            <a:lstStyle/>
            <a:p>
              <a:pPr algn="ctr">
                <a:defRPr/>
              </a:pPr>
              <a:r>
                <a:rPr lang="zh-CN" altLang="zh-CN" sz="2000" kern="0" dirty="0">
                  <a:latin typeface="Times New Roman" panose="02020603050405020304" pitchFamily="18" charset="0"/>
                  <a:cs typeface="Times New Roman" panose="02020603050405020304" pitchFamily="18" charset="0"/>
                </a:rPr>
                <a:t>图</a:t>
              </a:r>
              <a:r>
                <a:rPr lang="en-US" altLang="zh-CN" sz="2000" kern="0" dirty="0">
                  <a:latin typeface="Times New Roman" panose="02020603050405020304" pitchFamily="18" charset="0"/>
                  <a:cs typeface="Times New Roman" panose="02020603050405020304" pitchFamily="18" charset="0"/>
                </a:rPr>
                <a:t>7-8 </a:t>
              </a:r>
              <a:r>
                <a:rPr lang="zh-CN" altLang="zh-CN" sz="2000" kern="0" dirty="0">
                  <a:latin typeface="Times New Roman" panose="02020603050405020304" pitchFamily="18" charset="0"/>
                  <a:cs typeface="Times New Roman" panose="02020603050405020304" pitchFamily="18" charset="0"/>
                </a:rPr>
                <a:t>关节</a:t>
              </a:r>
              <a:r>
                <a:rPr lang="en-US" altLang="zh-CN" sz="2000" kern="0" dirty="0">
                  <a:latin typeface="Times New Roman" panose="02020603050405020304" pitchFamily="18" charset="0"/>
                  <a:cs typeface="Times New Roman" panose="02020603050405020304" pitchFamily="18" charset="0"/>
                </a:rPr>
                <a:t>2</a:t>
              </a:r>
              <a:r>
                <a:rPr lang="zh-CN" altLang="zh-CN" sz="2000" kern="0" dirty="0">
                  <a:latin typeface="Times New Roman" panose="02020603050405020304" pitchFamily="18" charset="0"/>
                  <a:cs typeface="Times New Roman" panose="02020603050405020304" pitchFamily="18" charset="0"/>
                </a:rPr>
                <a:t>基于</a:t>
              </a:r>
              <a:r>
                <a:rPr lang="en-US" altLang="zh-CN" sz="2000" kern="0" dirty="0">
                  <a:latin typeface="Times New Roman" panose="02020603050405020304" pitchFamily="18" charset="0"/>
                  <a:cs typeface="Times New Roman" panose="02020603050405020304" pitchFamily="18" charset="0"/>
                </a:rPr>
                <a:t>PD</a:t>
              </a:r>
              <a:r>
                <a:rPr lang="zh-CN" altLang="zh-CN" sz="2000" kern="0" dirty="0">
                  <a:latin typeface="Times New Roman" panose="02020603050405020304" pitchFamily="18" charset="0"/>
                  <a:cs typeface="Times New Roman" panose="02020603050405020304" pitchFamily="18" charset="0"/>
                </a:rPr>
                <a:t>控制的位置轨迹跟踪曲线和误差</a:t>
              </a:r>
              <a:endParaRPr lang="zh-CN" altLang="zh-CN" sz="2000" kern="100" dirty="0">
                <a:latin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11597059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B6FBCCE-6671-87BB-6729-152D5F213650}"/>
              </a:ext>
            </a:extLst>
          </p:cNvPr>
          <p:cNvSpPr txBox="1"/>
          <p:nvPr>
            <p:custDataLst>
              <p:tags r:id="rId1"/>
            </p:custDataLst>
          </p:nvPr>
        </p:nvSpPr>
        <p:spPr>
          <a:xfrm>
            <a:off x="1357313" y="128685"/>
            <a:ext cx="8158162"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7.2.2</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 机器人控制方法和控制器设计</a:t>
            </a:r>
          </a:p>
        </p:txBody>
      </p:sp>
      <p:grpSp>
        <p:nvGrpSpPr>
          <p:cNvPr id="3" name="组合 5">
            <a:extLst>
              <a:ext uri="{FF2B5EF4-FFF2-40B4-BE49-F238E27FC236}">
                <a16:creationId xmlns:a16="http://schemas.microsoft.com/office/drawing/2014/main" id="{5D8B31B9-72EA-E5A5-32C6-312F5D429908}"/>
              </a:ext>
            </a:extLst>
          </p:cNvPr>
          <p:cNvGrpSpPr>
            <a:grpSpLocks/>
          </p:cNvGrpSpPr>
          <p:nvPr/>
        </p:nvGrpSpPr>
        <p:grpSpPr bwMode="auto">
          <a:xfrm>
            <a:off x="3144043" y="1181100"/>
            <a:ext cx="5903913" cy="4937125"/>
            <a:chOff x="1907704" y="476672"/>
            <a:chExt cx="5904656" cy="4936614"/>
          </a:xfrm>
        </p:grpSpPr>
        <p:pic>
          <p:nvPicPr>
            <p:cNvPr id="4" name="图片 1">
              <a:extLst>
                <a:ext uri="{FF2B5EF4-FFF2-40B4-BE49-F238E27FC236}">
                  <a16:creationId xmlns:a16="http://schemas.microsoft.com/office/drawing/2014/main" id="{A2D717EF-759C-C58D-914E-9EC47278AB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476672"/>
              <a:ext cx="5331415" cy="4305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1291DAF2-4C0B-F079-8C4C-8E1967311BFF}"/>
                </a:ext>
              </a:extLst>
            </p:cNvPr>
            <p:cNvSpPr txBox="1"/>
            <p:nvPr/>
          </p:nvSpPr>
          <p:spPr>
            <a:xfrm>
              <a:off x="1907704" y="5013277"/>
              <a:ext cx="5904656" cy="400009"/>
            </a:xfrm>
            <a:prstGeom prst="rect">
              <a:avLst/>
            </a:prstGeom>
            <a:noFill/>
          </p:spPr>
          <p:txBody>
            <a:bodyPr>
              <a:spAutoFit/>
            </a:bodyPr>
            <a:lstStyle/>
            <a:p>
              <a:pPr algn="ctr">
                <a:defRPr/>
              </a:pPr>
              <a:r>
                <a:rPr lang="zh-CN" altLang="zh-CN" sz="2000" kern="0" dirty="0">
                  <a:latin typeface="Times New Roman" panose="02020603050405020304" pitchFamily="18" charset="0"/>
                  <a:cs typeface="Times New Roman" panose="02020603050405020304" pitchFamily="18" charset="0"/>
                </a:rPr>
                <a:t>图</a:t>
              </a:r>
              <a:r>
                <a:rPr lang="en-US" altLang="zh-CN" sz="2000" kern="0" dirty="0">
                  <a:latin typeface="Times New Roman" panose="02020603050405020304" pitchFamily="18" charset="0"/>
                  <a:cs typeface="Times New Roman" panose="02020603050405020304" pitchFamily="18" charset="0"/>
                </a:rPr>
                <a:t>7-9 </a:t>
              </a:r>
              <a:r>
                <a:rPr lang="zh-CN" altLang="zh-CN" sz="2000" kern="0" dirty="0">
                  <a:latin typeface="Times New Roman" panose="02020603050405020304" pitchFamily="18" charset="0"/>
                  <a:cs typeface="Times New Roman" panose="02020603050405020304" pitchFamily="18" charset="0"/>
                </a:rPr>
                <a:t>关节</a:t>
              </a:r>
              <a:r>
                <a:rPr lang="en-US" altLang="zh-CN" sz="2000" kern="0" dirty="0">
                  <a:latin typeface="Times New Roman" panose="02020603050405020304" pitchFamily="18" charset="0"/>
                  <a:cs typeface="Times New Roman" panose="02020603050405020304" pitchFamily="18" charset="0"/>
                </a:rPr>
                <a:t>2</a:t>
              </a:r>
              <a:r>
                <a:rPr lang="zh-CN" altLang="zh-CN" sz="2000" kern="0" dirty="0">
                  <a:latin typeface="Times New Roman" panose="02020603050405020304" pitchFamily="18" charset="0"/>
                  <a:cs typeface="Times New Roman" panose="02020603050405020304" pitchFamily="18" charset="0"/>
                </a:rPr>
                <a:t>基于</a:t>
              </a:r>
              <a:r>
                <a:rPr lang="en-US" altLang="zh-CN" sz="2000" kern="0" dirty="0">
                  <a:latin typeface="Times New Roman" panose="02020603050405020304" pitchFamily="18" charset="0"/>
                  <a:cs typeface="Times New Roman" panose="02020603050405020304" pitchFamily="18" charset="0"/>
                </a:rPr>
                <a:t>PD</a:t>
              </a:r>
              <a:r>
                <a:rPr lang="zh-CN" altLang="zh-CN" sz="2000" kern="0" dirty="0">
                  <a:latin typeface="Times New Roman" panose="02020603050405020304" pitchFamily="18" charset="0"/>
                  <a:cs typeface="Times New Roman" panose="02020603050405020304" pitchFamily="18" charset="0"/>
                </a:rPr>
                <a:t>控制的速度轨迹跟踪曲线和误差</a:t>
              </a:r>
              <a:endParaRPr lang="zh-CN" altLang="zh-CN" sz="2000" kern="100" dirty="0">
                <a:latin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21200470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B6FBCCE-6671-87BB-6729-152D5F213650}"/>
              </a:ext>
            </a:extLst>
          </p:cNvPr>
          <p:cNvSpPr txBox="1"/>
          <p:nvPr>
            <p:custDataLst>
              <p:tags r:id="rId1"/>
            </p:custDataLst>
          </p:nvPr>
        </p:nvSpPr>
        <p:spPr>
          <a:xfrm>
            <a:off x="1357313" y="128685"/>
            <a:ext cx="8158162"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7.2.2</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 机器人控制方法和控制器设计</a:t>
            </a:r>
          </a:p>
        </p:txBody>
      </p:sp>
      <p:grpSp>
        <p:nvGrpSpPr>
          <p:cNvPr id="3" name="组合 5">
            <a:extLst>
              <a:ext uri="{FF2B5EF4-FFF2-40B4-BE49-F238E27FC236}">
                <a16:creationId xmlns:a16="http://schemas.microsoft.com/office/drawing/2014/main" id="{DA52AE0C-BE46-0E96-7D20-791B871BB1A5}"/>
              </a:ext>
            </a:extLst>
          </p:cNvPr>
          <p:cNvGrpSpPr>
            <a:grpSpLocks/>
          </p:cNvGrpSpPr>
          <p:nvPr/>
        </p:nvGrpSpPr>
        <p:grpSpPr bwMode="auto">
          <a:xfrm>
            <a:off x="2999581" y="1470025"/>
            <a:ext cx="6192838" cy="4513263"/>
            <a:chOff x="1835696" y="764704"/>
            <a:chExt cx="6192688" cy="4514447"/>
          </a:xfrm>
        </p:grpSpPr>
        <p:pic>
          <p:nvPicPr>
            <p:cNvPr id="4" name="图片 1">
              <a:extLst>
                <a:ext uri="{FF2B5EF4-FFF2-40B4-BE49-F238E27FC236}">
                  <a16:creationId xmlns:a16="http://schemas.microsoft.com/office/drawing/2014/main" id="{A7DC4D94-BF32-2FD5-0E01-F6F650DEA4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764704"/>
              <a:ext cx="5597728" cy="410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E6293497-71DD-CAF0-E764-EF8AFA50FB1A}"/>
                </a:ext>
              </a:extLst>
            </p:cNvPr>
            <p:cNvSpPr txBox="1"/>
            <p:nvPr/>
          </p:nvSpPr>
          <p:spPr>
            <a:xfrm>
              <a:off x="1835696" y="4878996"/>
              <a:ext cx="6192688" cy="400155"/>
            </a:xfrm>
            <a:prstGeom prst="rect">
              <a:avLst/>
            </a:prstGeom>
            <a:noFill/>
          </p:spPr>
          <p:txBody>
            <a:bodyPr>
              <a:spAutoFit/>
            </a:bodyPr>
            <a:lstStyle/>
            <a:p>
              <a:pPr algn="ctr">
                <a:defRPr/>
              </a:pPr>
              <a:r>
                <a:rPr lang="zh-CN" altLang="zh-CN" sz="2000" kern="0" dirty="0">
                  <a:latin typeface="Times New Roman" panose="02020603050405020304" pitchFamily="18" charset="0"/>
                  <a:cs typeface="Times New Roman" panose="02020603050405020304" pitchFamily="18" charset="0"/>
                </a:rPr>
                <a:t>图</a:t>
              </a:r>
              <a:r>
                <a:rPr lang="en-US" altLang="zh-CN" sz="2000" kern="0" dirty="0">
                  <a:latin typeface="Times New Roman" panose="02020603050405020304" pitchFamily="18" charset="0"/>
                  <a:cs typeface="Times New Roman" panose="02020603050405020304" pitchFamily="18" charset="0"/>
                </a:rPr>
                <a:t>7-10 </a:t>
              </a:r>
              <a:r>
                <a:rPr lang="zh-CN" altLang="zh-CN" sz="2000" kern="0" dirty="0">
                  <a:latin typeface="Times New Roman" panose="02020603050405020304" pitchFamily="18" charset="0"/>
                  <a:cs typeface="Times New Roman" panose="02020603050405020304" pitchFamily="18" charset="0"/>
                </a:rPr>
                <a:t>关节</a:t>
              </a:r>
              <a:r>
                <a:rPr lang="en-US" altLang="zh-CN" sz="2000" kern="0" dirty="0">
                  <a:latin typeface="Times New Roman" panose="02020603050405020304" pitchFamily="18" charset="0"/>
                  <a:cs typeface="Times New Roman" panose="02020603050405020304" pitchFamily="18" charset="0"/>
                </a:rPr>
                <a:t>3</a:t>
              </a:r>
              <a:r>
                <a:rPr lang="zh-CN" altLang="zh-CN" sz="2000" kern="0" dirty="0">
                  <a:latin typeface="Times New Roman" panose="02020603050405020304" pitchFamily="18" charset="0"/>
                  <a:cs typeface="Times New Roman" panose="02020603050405020304" pitchFamily="18" charset="0"/>
                </a:rPr>
                <a:t>基于</a:t>
              </a:r>
              <a:r>
                <a:rPr lang="en-US" altLang="zh-CN" sz="2000" kern="0" dirty="0">
                  <a:latin typeface="Times New Roman" panose="02020603050405020304" pitchFamily="18" charset="0"/>
                  <a:cs typeface="Times New Roman" panose="02020603050405020304" pitchFamily="18" charset="0"/>
                </a:rPr>
                <a:t>PD</a:t>
              </a:r>
              <a:r>
                <a:rPr lang="zh-CN" altLang="zh-CN" sz="2000" kern="0" dirty="0">
                  <a:latin typeface="Times New Roman" panose="02020603050405020304" pitchFamily="18" charset="0"/>
                  <a:cs typeface="Times New Roman" panose="02020603050405020304" pitchFamily="18" charset="0"/>
                </a:rPr>
                <a:t>控制的位置轨迹跟踪曲线和误差</a:t>
              </a:r>
              <a:endParaRPr lang="zh-CN" altLang="zh-CN" sz="2000" kern="100" dirty="0">
                <a:latin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13057328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B6FBCCE-6671-87BB-6729-152D5F213650}"/>
              </a:ext>
            </a:extLst>
          </p:cNvPr>
          <p:cNvSpPr txBox="1"/>
          <p:nvPr>
            <p:custDataLst>
              <p:tags r:id="rId1"/>
            </p:custDataLst>
          </p:nvPr>
        </p:nvSpPr>
        <p:spPr>
          <a:xfrm>
            <a:off x="1357313" y="128685"/>
            <a:ext cx="8158162"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7.2.2</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 机器人控制方法和控制器设计</a:t>
            </a:r>
          </a:p>
        </p:txBody>
      </p:sp>
      <p:grpSp>
        <p:nvGrpSpPr>
          <p:cNvPr id="3" name="组合 5">
            <a:extLst>
              <a:ext uri="{FF2B5EF4-FFF2-40B4-BE49-F238E27FC236}">
                <a16:creationId xmlns:a16="http://schemas.microsoft.com/office/drawing/2014/main" id="{50736FCF-4D64-15CF-A4D0-31BE613D569F}"/>
              </a:ext>
            </a:extLst>
          </p:cNvPr>
          <p:cNvGrpSpPr>
            <a:grpSpLocks/>
          </p:cNvGrpSpPr>
          <p:nvPr/>
        </p:nvGrpSpPr>
        <p:grpSpPr bwMode="auto">
          <a:xfrm>
            <a:off x="2927350" y="1196975"/>
            <a:ext cx="6337300" cy="5008563"/>
            <a:chOff x="1259632" y="548680"/>
            <a:chExt cx="6336704" cy="5008622"/>
          </a:xfrm>
        </p:grpSpPr>
        <p:pic>
          <p:nvPicPr>
            <p:cNvPr id="4" name="图片 1">
              <a:extLst>
                <a:ext uri="{FF2B5EF4-FFF2-40B4-BE49-F238E27FC236}">
                  <a16:creationId xmlns:a16="http://schemas.microsoft.com/office/drawing/2014/main" id="{5ECF6ECC-95D4-3AD4-C253-30F3178F7E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548680"/>
              <a:ext cx="5562044" cy="42444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88B7BEE2-5455-858E-C3EC-2A1D25FA6F3F}"/>
                </a:ext>
              </a:extLst>
            </p:cNvPr>
            <p:cNvSpPr txBox="1"/>
            <p:nvPr/>
          </p:nvSpPr>
          <p:spPr>
            <a:xfrm>
              <a:off x="1259632" y="5157247"/>
              <a:ext cx="6336704" cy="400055"/>
            </a:xfrm>
            <a:prstGeom prst="rect">
              <a:avLst/>
            </a:prstGeom>
            <a:noFill/>
          </p:spPr>
          <p:txBody>
            <a:bodyPr>
              <a:spAutoFit/>
            </a:bodyPr>
            <a:lstStyle/>
            <a:p>
              <a:pPr algn="ctr">
                <a:defRPr/>
              </a:pPr>
              <a:r>
                <a:rPr lang="zh-CN" altLang="zh-CN" sz="2000" kern="0" dirty="0">
                  <a:latin typeface="Times New Roman" panose="02020603050405020304" pitchFamily="18" charset="0"/>
                  <a:cs typeface="Times New Roman" panose="02020603050405020304" pitchFamily="18" charset="0"/>
                </a:rPr>
                <a:t>图</a:t>
              </a:r>
              <a:r>
                <a:rPr lang="en-US" altLang="zh-CN" sz="2000" kern="0" dirty="0">
                  <a:latin typeface="Times New Roman" panose="02020603050405020304" pitchFamily="18" charset="0"/>
                  <a:cs typeface="Times New Roman" panose="02020603050405020304" pitchFamily="18" charset="0"/>
                </a:rPr>
                <a:t>7-11 </a:t>
              </a:r>
              <a:r>
                <a:rPr lang="zh-CN" altLang="zh-CN" sz="2000" kern="0" dirty="0">
                  <a:latin typeface="Times New Roman" panose="02020603050405020304" pitchFamily="18" charset="0"/>
                  <a:cs typeface="Times New Roman" panose="02020603050405020304" pitchFamily="18" charset="0"/>
                </a:rPr>
                <a:t>关节</a:t>
              </a:r>
              <a:r>
                <a:rPr lang="en-US" altLang="zh-CN" sz="2000" kern="0" dirty="0">
                  <a:latin typeface="Times New Roman" panose="02020603050405020304" pitchFamily="18" charset="0"/>
                  <a:cs typeface="Times New Roman" panose="02020603050405020304" pitchFamily="18" charset="0"/>
                </a:rPr>
                <a:t>3</a:t>
              </a:r>
              <a:r>
                <a:rPr lang="zh-CN" altLang="zh-CN" sz="2000" kern="0" dirty="0">
                  <a:latin typeface="Times New Roman" panose="02020603050405020304" pitchFamily="18" charset="0"/>
                  <a:cs typeface="Times New Roman" panose="02020603050405020304" pitchFamily="18" charset="0"/>
                </a:rPr>
                <a:t>基于</a:t>
              </a:r>
              <a:r>
                <a:rPr lang="en-US" altLang="zh-CN" sz="2000" kern="0" dirty="0">
                  <a:latin typeface="Times New Roman" panose="02020603050405020304" pitchFamily="18" charset="0"/>
                  <a:cs typeface="Times New Roman" panose="02020603050405020304" pitchFamily="18" charset="0"/>
                </a:rPr>
                <a:t>PD</a:t>
              </a:r>
              <a:r>
                <a:rPr lang="zh-CN" altLang="zh-CN" sz="2000" kern="0" dirty="0">
                  <a:latin typeface="Times New Roman" panose="02020603050405020304" pitchFamily="18" charset="0"/>
                  <a:cs typeface="Times New Roman" panose="02020603050405020304" pitchFamily="18" charset="0"/>
                </a:rPr>
                <a:t>控制的速度轨迹跟踪曲线和误差</a:t>
              </a:r>
              <a:endParaRPr lang="zh-CN" altLang="zh-CN" sz="2000" kern="100" dirty="0">
                <a:latin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34842575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B6FBCCE-6671-87BB-6729-152D5F213650}"/>
              </a:ext>
            </a:extLst>
          </p:cNvPr>
          <p:cNvSpPr txBox="1"/>
          <p:nvPr>
            <p:custDataLst>
              <p:tags r:id="rId1"/>
            </p:custDataLst>
          </p:nvPr>
        </p:nvSpPr>
        <p:spPr>
          <a:xfrm>
            <a:off x="1357313" y="128685"/>
            <a:ext cx="8158162"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7.2.2</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 机器人控制方法和控制器设计</a:t>
            </a:r>
          </a:p>
        </p:txBody>
      </p:sp>
      <p:grpSp>
        <p:nvGrpSpPr>
          <p:cNvPr id="3" name="组合 5">
            <a:extLst>
              <a:ext uri="{FF2B5EF4-FFF2-40B4-BE49-F238E27FC236}">
                <a16:creationId xmlns:a16="http://schemas.microsoft.com/office/drawing/2014/main" id="{5A2AA049-8119-6306-74EC-F0FC8B6B74B3}"/>
              </a:ext>
            </a:extLst>
          </p:cNvPr>
          <p:cNvGrpSpPr>
            <a:grpSpLocks/>
          </p:cNvGrpSpPr>
          <p:nvPr/>
        </p:nvGrpSpPr>
        <p:grpSpPr bwMode="auto">
          <a:xfrm>
            <a:off x="3304381" y="1425575"/>
            <a:ext cx="5583238" cy="4865688"/>
            <a:chOff x="1835696" y="692696"/>
            <a:chExt cx="5583123" cy="4864606"/>
          </a:xfrm>
        </p:grpSpPr>
        <p:pic>
          <p:nvPicPr>
            <p:cNvPr id="4" name="图片 1">
              <a:extLst>
                <a:ext uri="{FF2B5EF4-FFF2-40B4-BE49-F238E27FC236}">
                  <a16:creationId xmlns:a16="http://schemas.microsoft.com/office/drawing/2014/main" id="{C4AE6F99-6477-D5ED-5B4E-977FC0FCF7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692696"/>
              <a:ext cx="5583123" cy="4314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1282E06A-E0E9-ACBB-0844-EF0500865B6D}"/>
                </a:ext>
              </a:extLst>
            </p:cNvPr>
            <p:cNvSpPr txBox="1"/>
            <p:nvPr/>
          </p:nvSpPr>
          <p:spPr>
            <a:xfrm>
              <a:off x="2196052" y="5157341"/>
              <a:ext cx="4575081" cy="399961"/>
            </a:xfrm>
            <a:prstGeom prst="rect">
              <a:avLst/>
            </a:prstGeom>
            <a:noFill/>
          </p:spPr>
          <p:txBody>
            <a:bodyPr>
              <a:spAutoFit/>
            </a:bodyPr>
            <a:lstStyle/>
            <a:p>
              <a:pPr algn="ctr">
                <a:defRPr/>
              </a:pPr>
              <a:r>
                <a:rPr lang="zh-CN" altLang="zh-CN" sz="2000" kern="0" dirty="0">
                  <a:latin typeface="Times New Roman" panose="02020603050405020304" pitchFamily="18" charset="0"/>
                  <a:cs typeface="Times New Roman" panose="02020603050405020304" pitchFamily="18" charset="0"/>
                </a:rPr>
                <a:t>图</a:t>
              </a:r>
              <a:r>
                <a:rPr lang="en-US" altLang="zh-CN" sz="2000" kern="0" dirty="0">
                  <a:latin typeface="Times New Roman" panose="02020603050405020304" pitchFamily="18" charset="0"/>
                  <a:cs typeface="Times New Roman" panose="02020603050405020304" pitchFamily="18" charset="0"/>
                </a:rPr>
                <a:t>7-12</a:t>
              </a:r>
              <a:r>
                <a:rPr lang="zh-CN" altLang="zh-CN" sz="2000" kern="0" dirty="0">
                  <a:latin typeface="Times New Roman" panose="02020603050405020304" pitchFamily="18" charset="0"/>
                  <a:cs typeface="Times New Roman" panose="02020603050405020304" pitchFamily="18" charset="0"/>
                </a:rPr>
                <a:t>基于</a:t>
              </a:r>
              <a:r>
                <a:rPr lang="en-US" altLang="zh-CN" sz="2000" kern="0" dirty="0">
                  <a:latin typeface="Times New Roman" panose="02020603050405020304" pitchFamily="18" charset="0"/>
                  <a:cs typeface="Times New Roman" panose="02020603050405020304" pitchFamily="18" charset="0"/>
                </a:rPr>
                <a:t>PD</a:t>
              </a:r>
              <a:r>
                <a:rPr lang="zh-CN" altLang="zh-CN" sz="2000" kern="0" dirty="0">
                  <a:latin typeface="Times New Roman" panose="02020603050405020304" pitchFamily="18" charset="0"/>
                  <a:cs typeface="Times New Roman" panose="02020603050405020304" pitchFamily="18" charset="0"/>
                </a:rPr>
                <a:t>控制的控制力矩</a:t>
              </a:r>
              <a:endParaRPr lang="zh-CN" altLang="zh-CN" sz="2000" kern="100" dirty="0">
                <a:latin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18249788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065F4D9A-360B-5970-8612-5158D966B57C}"/>
              </a:ext>
            </a:extLst>
          </p:cNvPr>
          <p:cNvSpPr txBox="1"/>
          <p:nvPr/>
        </p:nvSpPr>
        <p:spPr>
          <a:xfrm>
            <a:off x="795338" y="1320284"/>
            <a:ext cx="6124574" cy="461665"/>
          </a:xfrm>
          <a:prstGeom prst="rect">
            <a:avLst/>
          </a:prstGeom>
          <a:noFill/>
        </p:spPr>
        <p:txBody>
          <a:bodyPr wrap="square">
            <a:spAutoFit/>
          </a:bodyPr>
          <a:lstStyle/>
          <a:p>
            <a:pPr indent="269875" algn="just">
              <a:spcBef>
                <a:spcPts val="600"/>
              </a:spcBef>
              <a:spcAft>
                <a:spcPts val="600"/>
              </a:spcAft>
            </a:pPr>
            <a:r>
              <a:rPr lang="en-US" altLang="zh-CN" sz="2400" b="1" kern="0" dirty="0">
                <a:effectLst/>
                <a:latin typeface="微软雅黑" panose="020B0503020204020204" pitchFamily="34" charset="-122"/>
                <a:ea typeface="微软雅黑" panose="020B0503020204020204" pitchFamily="34" charset="-122"/>
                <a:cs typeface="Times New Roman" panose="02020603050405020304" pitchFamily="18" charset="0"/>
              </a:rPr>
              <a:t>2</a:t>
            </a:r>
            <a:r>
              <a:rPr lang="zh-CN" altLang="zh-CN" sz="2400" b="1" kern="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自适应控制</a:t>
            </a:r>
          </a:p>
        </p:txBody>
      </p:sp>
      <p:sp>
        <p:nvSpPr>
          <p:cNvPr id="4" name="文本框 3">
            <a:extLst>
              <a:ext uri="{FF2B5EF4-FFF2-40B4-BE49-F238E27FC236}">
                <a16:creationId xmlns:a16="http://schemas.microsoft.com/office/drawing/2014/main" id="{6B1CA743-A858-A4E8-0B91-3E9B09CB12B3}"/>
              </a:ext>
            </a:extLst>
          </p:cNvPr>
          <p:cNvSpPr txBox="1"/>
          <p:nvPr>
            <p:custDataLst>
              <p:tags r:id="rId1"/>
            </p:custDataLst>
          </p:nvPr>
        </p:nvSpPr>
        <p:spPr>
          <a:xfrm>
            <a:off x="1357313" y="128685"/>
            <a:ext cx="8158162"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7.2.2</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 机器人控制方法和控制器设计</a:t>
            </a:r>
          </a:p>
        </p:txBody>
      </p:sp>
      <p:sp>
        <p:nvSpPr>
          <p:cNvPr id="6" name="文本框 5">
            <a:extLst>
              <a:ext uri="{FF2B5EF4-FFF2-40B4-BE49-F238E27FC236}">
                <a16:creationId xmlns:a16="http://schemas.microsoft.com/office/drawing/2014/main" id="{11539803-ABE2-6174-8D92-2D6FE69A99BC}"/>
              </a:ext>
            </a:extLst>
          </p:cNvPr>
          <p:cNvSpPr txBox="1"/>
          <p:nvPr/>
        </p:nvSpPr>
        <p:spPr>
          <a:xfrm>
            <a:off x="985837" y="1919566"/>
            <a:ext cx="9796463" cy="1938992"/>
          </a:xfrm>
          <a:prstGeom prst="rect">
            <a:avLst/>
          </a:prstGeom>
          <a:noFill/>
        </p:spPr>
        <p:txBody>
          <a:bodyPr wrap="square">
            <a:spAutoFit/>
          </a:bodyPr>
          <a:lstStyle/>
          <a:p>
            <a:pPr indent="269875" algn="just">
              <a:spcBef>
                <a:spcPts val="600"/>
              </a:spcBef>
            </a:pPr>
            <a:r>
              <a:rPr lang="en-US" altLang="zh-CN" sz="2400" b="1" kern="0" dirty="0">
                <a:effectLst/>
                <a:latin typeface="微软雅黑" panose="020B0503020204020204" pitchFamily="34" charset="-122"/>
                <a:ea typeface="微软雅黑" panose="020B0503020204020204" pitchFamily="34" charset="-122"/>
              </a:rPr>
              <a:t>1)</a:t>
            </a:r>
            <a:r>
              <a:rPr lang="zh-CN" altLang="zh-CN" sz="2400" b="1" kern="1050" dirty="0">
                <a:effectLst/>
                <a:latin typeface="微软雅黑" panose="020B0503020204020204" pitchFamily="34" charset="-122"/>
                <a:ea typeface="微软雅黑" panose="020B0503020204020204" pitchFamily="34" charset="-122"/>
              </a:rPr>
              <a:t>基本原理</a:t>
            </a:r>
          </a:p>
          <a:p>
            <a:pPr indent="269875" algn="just"/>
            <a:r>
              <a:rPr lang="zh-CN" altLang="zh-CN" sz="2400" b="1" kern="1000" dirty="0">
                <a:effectLst/>
                <a:latin typeface="微软雅黑" panose="020B0503020204020204" pitchFamily="34" charset="-122"/>
                <a:ea typeface="微软雅黑" panose="020B0503020204020204" pitchFamily="34" charset="-122"/>
              </a:rPr>
              <a:t>自适应控制是控制系统设计中一种极重要的方法。它的基本思想是估计系统未知参数的值，通过适当设计的反馈控制律驱使系统达到期望的目标。自适应控制系统通过更新律来处理参数的不确定性，从而提高系统的整体性能。</a:t>
            </a:r>
          </a:p>
        </p:txBody>
      </p:sp>
      <p:sp>
        <p:nvSpPr>
          <p:cNvPr id="8" name="文本框 7">
            <a:extLst>
              <a:ext uri="{FF2B5EF4-FFF2-40B4-BE49-F238E27FC236}">
                <a16:creationId xmlns:a16="http://schemas.microsoft.com/office/drawing/2014/main" id="{8EDEDCD6-D97A-F76D-92F0-CA1E8BE99C71}"/>
              </a:ext>
            </a:extLst>
          </p:cNvPr>
          <p:cNvSpPr txBox="1"/>
          <p:nvPr/>
        </p:nvSpPr>
        <p:spPr>
          <a:xfrm>
            <a:off x="700087" y="3991850"/>
            <a:ext cx="6124574" cy="319446"/>
          </a:xfrm>
          <a:prstGeom prst="rect">
            <a:avLst/>
          </a:prstGeom>
          <a:noFill/>
        </p:spPr>
        <p:txBody>
          <a:bodyPr wrap="square">
            <a:spAutoFit/>
          </a:bodyPr>
          <a:lstStyle/>
          <a:p>
            <a:pPr indent="269875" algn="just">
              <a:lnSpc>
                <a:spcPts val="1595"/>
              </a:lnSpc>
            </a:pPr>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考虑非线性系统</a:t>
            </a:r>
          </a:p>
        </p:txBody>
      </p:sp>
      <mc:AlternateContent xmlns:mc="http://schemas.openxmlformats.org/markup-compatibility/2006" xmlns:a14="http://schemas.microsoft.com/office/drawing/2010/main">
        <mc:Choice Requires="a14">
          <p:sp>
            <p:nvSpPr>
              <p:cNvPr id="9" name="对象 28">
                <a:extLst>
                  <a:ext uri="{FF2B5EF4-FFF2-40B4-BE49-F238E27FC236}">
                    <a16:creationId xmlns:a16="http://schemas.microsoft.com/office/drawing/2014/main" id="{CE510BF6-3D37-546C-85CB-3072059B6EEA}"/>
                  </a:ext>
                </a:extLst>
              </p:cNvPr>
              <p:cNvSpPr txBox="1"/>
              <p:nvPr/>
            </p:nvSpPr>
            <p:spPr bwMode="auto">
              <a:xfrm>
                <a:off x="1357313" y="4444588"/>
                <a:ext cx="8605837" cy="528637"/>
              </a:xfrm>
              <a:prstGeom prst="rect">
                <a:avLst/>
              </a:prstGeom>
              <a:solidFill>
                <a:schemeClr val="bg1"/>
              </a:solidFill>
              <a:ln>
                <a:solidFill>
                  <a:schemeClr val="bg1"/>
                </a:solidFill>
              </a:ln>
            </p:spPr>
            <p:txBody>
              <a:bodyPr>
                <a:noAutofit/>
              </a:bodyPr>
              <a:lstStyle/>
              <a:p>
                <a:r>
                  <a:rPr lang="zh-CN" altLang="en-US" sz="2400" b="1" dirty="0">
                    <a:solidFill>
                      <a:srgbClr val="000000"/>
                    </a:solidFill>
                  </a:rPr>
                  <a:t>    </a:t>
                </a:r>
                <a14:m>
                  <m:oMath xmlns:m="http://schemas.openxmlformats.org/officeDocument/2006/math">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𝒙</m:t>
                        </m:r>
                      </m:e>
                    </m:acc>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𝒇</m:t>
                    </m:r>
                    <m:d>
                      <m:dPr>
                        <m:ctrlPr>
                          <a:rPr lang="zh-CN" altLang="en-US" sz="2400" b="1" i="1">
                            <a:solidFill>
                              <a:srgbClr val="000000"/>
                            </a:solidFill>
                            <a:latin typeface="Cambria Math" panose="02040503050406030204" pitchFamily="18" charset="0"/>
                          </a:rPr>
                        </m:ctrlPr>
                      </m:dPr>
                      <m:e>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𝜽</m:t>
                        </m:r>
                      </m:e>
                    </m:d>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𝒈</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𝜽</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𝒖</m:t>
                    </m:r>
                    <m:r>
                      <a:rPr lang="zh-CN" altLang="en-US" sz="2400" b="1" i="1">
                        <a:solidFill>
                          <a:srgbClr val="000000"/>
                        </a:solidFill>
                        <a:latin typeface="Cambria Math" panose="02040503050406030204" pitchFamily="18" charset="0"/>
                      </a:rPr>
                      <m:t>,</m:t>
                    </m:r>
                    <m:m>
                      <m:mPr>
                        <m:plcHide m:val="on"/>
                        <m:mcs>
                          <m:mc>
                            <m:mcPr>
                              <m:count m:val="2"/>
                              <m:mcJc m:val="center"/>
                            </m:mcPr>
                          </m:mc>
                        </m:mcs>
                        <m:ctrlPr>
                          <a:rPr lang="zh-CN" altLang="en-US" sz="2400" b="1" i="1">
                            <a:solidFill>
                              <a:srgbClr val="000000"/>
                            </a:solidFill>
                            <a:latin typeface="Cambria Math" panose="02040503050406030204" pitchFamily="18" charset="0"/>
                          </a:rPr>
                        </m:ctrlPr>
                      </m:mPr>
                      <m:mr>
                        <m:e/>
                        <m:e>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m:t>
                          </m:r>
                        </m:e>
                      </m:mr>
                    </m:m>
                    <m:sSup>
                      <m:sSupPr>
                        <m:ctrlPr>
                          <a:rPr lang="zh-CN" altLang="en-US" sz="2400" b="1" i="1">
                            <a:solidFill>
                              <a:srgbClr val="000000"/>
                            </a:solidFill>
                            <a:latin typeface="Cambria Math" panose="02040503050406030204" pitchFamily="18" charset="0"/>
                          </a:rPr>
                        </m:ctrlPr>
                      </m:sSupPr>
                      <m:e>
                        <m:r>
                          <a:rPr lang="zh-CN" altLang="en-US" sz="2400" b="1" i="1">
                            <a:solidFill>
                              <a:srgbClr val="000000"/>
                            </a:solidFill>
                            <a:latin typeface="Cambria Math" panose="02040503050406030204" pitchFamily="18" charset="0"/>
                          </a:rPr>
                          <m:t>𝑹</m:t>
                        </m:r>
                      </m:e>
                      <m:sup>
                        <m:r>
                          <a:rPr lang="zh-CN" altLang="en-US" sz="2400" b="1" i="1">
                            <a:solidFill>
                              <a:srgbClr val="000000"/>
                            </a:solidFill>
                            <a:latin typeface="Cambria Math" panose="02040503050406030204" pitchFamily="18" charset="0"/>
                          </a:rPr>
                          <m:t>𝒏</m:t>
                        </m:r>
                      </m:sup>
                    </m:sSup>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𝒖</m:t>
                    </m:r>
                    <m:r>
                      <a:rPr lang="zh-CN" altLang="en-US" sz="2400" b="1" i="1">
                        <a:solidFill>
                          <a:srgbClr val="000000"/>
                        </a:solidFill>
                        <a:latin typeface="Cambria Math" panose="02040503050406030204" pitchFamily="18" charset="0"/>
                      </a:rPr>
                      <m:t>∈</m:t>
                    </m:r>
                    <m:sSup>
                      <m:sSupPr>
                        <m:ctrlPr>
                          <a:rPr lang="zh-CN" altLang="en-US" sz="2400" b="1" i="1">
                            <a:solidFill>
                              <a:srgbClr val="000000"/>
                            </a:solidFill>
                            <a:latin typeface="Cambria Math" panose="02040503050406030204" pitchFamily="18" charset="0"/>
                          </a:rPr>
                        </m:ctrlPr>
                      </m:sSupPr>
                      <m:e>
                        <m:r>
                          <a:rPr lang="zh-CN" altLang="en-US" sz="2400" b="1" i="1">
                            <a:solidFill>
                              <a:srgbClr val="000000"/>
                            </a:solidFill>
                            <a:latin typeface="Cambria Math" panose="02040503050406030204" pitchFamily="18" charset="0"/>
                          </a:rPr>
                          <m:t>𝑹</m:t>
                        </m:r>
                      </m:e>
                      <m:sup>
                        <m:r>
                          <a:rPr lang="zh-CN" altLang="en-US" sz="2400" b="1" i="1">
                            <a:solidFill>
                              <a:srgbClr val="000000"/>
                            </a:solidFill>
                            <a:latin typeface="Cambria Math" panose="02040503050406030204" pitchFamily="18" charset="0"/>
                          </a:rPr>
                          <m:t>𝒎</m:t>
                        </m:r>
                      </m:sup>
                    </m:sSup>
                  </m:oMath>
                </a14:m>
                <a:r>
                  <a:rPr lang="zh-CN" altLang="en-US" sz="2400" b="1" dirty="0"/>
                  <a:t>                      </a:t>
                </a:r>
                <a:r>
                  <a:rPr lang="en-US" altLang="zh-CN" sz="2400" b="1" dirty="0"/>
                  <a:t>(7.14)</a:t>
                </a:r>
                <a:endParaRPr lang="zh-CN" altLang="en-US" sz="2400" b="1" dirty="0"/>
              </a:p>
            </p:txBody>
          </p:sp>
        </mc:Choice>
        <mc:Fallback xmlns="">
          <p:sp>
            <p:nvSpPr>
              <p:cNvPr id="9" name="对象 28">
                <a:extLst>
                  <a:ext uri="{FF2B5EF4-FFF2-40B4-BE49-F238E27FC236}">
                    <a16:creationId xmlns:a16="http://schemas.microsoft.com/office/drawing/2014/main" id="{CE510BF6-3D37-546C-85CB-3072059B6EEA}"/>
                  </a:ext>
                </a:extLst>
              </p:cNvPr>
              <p:cNvSpPr txBox="1">
                <a:spLocks noRot="1" noChangeAspect="1" noMove="1" noResize="1" noEditPoints="1" noAdjustHandles="1" noChangeArrowheads="1" noChangeShapeType="1" noTextEdit="1"/>
              </p:cNvSpPr>
              <p:nvPr/>
            </p:nvSpPr>
            <p:spPr bwMode="auto">
              <a:xfrm>
                <a:off x="1357313" y="4444588"/>
                <a:ext cx="8605837" cy="528637"/>
              </a:xfrm>
              <a:prstGeom prst="rect">
                <a:avLst/>
              </a:prstGeom>
              <a:blipFill>
                <a:blip r:embed="rId3"/>
                <a:stretch>
                  <a:fillRect t="-6742" r="-354" b="-12360"/>
                </a:stretch>
              </a:blipFill>
              <a:ln>
                <a:solidFill>
                  <a:schemeClr val="bg1"/>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a:extLst>
                  <a:ext uri="{FF2B5EF4-FFF2-40B4-BE49-F238E27FC236}">
                    <a16:creationId xmlns:a16="http://schemas.microsoft.com/office/drawing/2014/main" id="{E7131B09-C90D-E7AD-4E47-C9432E9A6C71}"/>
                  </a:ext>
                </a:extLst>
              </p:cNvPr>
              <p:cNvSpPr txBox="1"/>
              <p:nvPr/>
            </p:nvSpPr>
            <p:spPr>
              <a:xfrm>
                <a:off x="985837" y="5106517"/>
                <a:ext cx="9953626" cy="2124556"/>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       其中</a:t>
                </a:r>
                <a14:m>
                  <m:oMath xmlns:m="http://schemas.openxmlformats.org/officeDocument/2006/math">
                    <m:r>
                      <a:rPr lang="zh-CN" altLang="en-US" sz="2400" b="1" i="1" smtClean="0">
                        <a:solidFill>
                          <a:srgbClr val="000000"/>
                        </a:solidFill>
                        <a:latin typeface="Cambria Math" panose="02040503050406030204" pitchFamily="18" charset="0"/>
                      </a:rPr>
                      <m:t>𝒇</m:t>
                    </m:r>
                    <m:r>
                      <m:rPr>
                        <m:nor/>
                      </m:rPr>
                      <a:rPr lang="zh-CN" altLang="en-US" sz="2400" b="1" dirty="0">
                        <a:latin typeface="微软雅黑" panose="020B0503020204020204" pitchFamily="34" charset="-122"/>
                        <a:ea typeface="微软雅黑" panose="020B0503020204020204" pitchFamily="34" charset="-122"/>
                      </a:rPr>
                      <m:t>和</m:t>
                    </m:r>
                    <m:r>
                      <a:rPr lang="zh-CN" altLang="en-US" sz="2400" b="1" i="1" smtClean="0">
                        <a:solidFill>
                          <a:srgbClr val="000000"/>
                        </a:solidFill>
                        <a:latin typeface="Cambria Math" panose="02040503050406030204" pitchFamily="18" charset="0"/>
                      </a:rPr>
                      <m:t>𝒈</m:t>
                    </m:r>
                  </m:oMath>
                </a14:m>
                <a:r>
                  <a:rPr lang="zh-CN" altLang="en-US" sz="2400" b="1" dirty="0">
                    <a:latin typeface="微软雅黑" panose="020B0503020204020204" pitchFamily="34" charset="-122"/>
                    <a:ea typeface="微软雅黑" panose="020B0503020204020204" pitchFamily="34" charset="-122"/>
                  </a:rPr>
                  <a:t>是光滑的，</a:t>
                </a:r>
                <a14:m>
                  <m:oMath xmlns:m="http://schemas.openxmlformats.org/officeDocument/2006/math">
                    <m:r>
                      <a:rPr lang="zh-CN" altLang="en-US" sz="2400" b="1" i="1">
                        <a:solidFill>
                          <a:srgbClr val="000000"/>
                        </a:solidFill>
                        <a:latin typeface="Cambria Math" panose="02040503050406030204" pitchFamily="18" charset="0"/>
                      </a:rPr>
                      <m:t>𝒇</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𝟎</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𝜽</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𝟎</m:t>
                    </m:r>
                    <m:r>
                      <a:rPr lang="zh-CN" altLang="en-US" sz="2400" b="1" i="1" smtClean="0">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𝒈</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𝟎</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𝜽</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𝟎</m:t>
                    </m:r>
                    <m:r>
                      <a:rPr lang="zh-CN" altLang="en-US" sz="2400" b="1" i="1" smtClean="0">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𝜽</m:t>
                    </m:r>
                  </m:oMath>
                </a14:m>
                <a:r>
                  <a:rPr lang="zh-CN" altLang="zh-CN" sz="2400" b="1" dirty="0">
                    <a:latin typeface="微软雅黑" panose="020B0503020204020204" pitchFamily="34" charset="-122"/>
                    <a:ea typeface="微软雅黑" panose="020B0503020204020204" pitchFamily="34" charset="-122"/>
                  </a:rPr>
                  <a:t>为未知参数向量。全局自适应控制是指找到合适的连续定常状态反馈控制器</a:t>
                </a:r>
                <a14:m>
                  <m:oMath xmlns:m="http://schemas.openxmlformats.org/officeDocument/2006/math">
                    <m:r>
                      <a:rPr lang="zh-CN" altLang="en-US" sz="2400" b="1" i="1">
                        <a:solidFill>
                          <a:srgbClr val="000000"/>
                        </a:solidFill>
                        <a:latin typeface="Cambria Math" panose="02040503050406030204" pitchFamily="18" charset="0"/>
                      </a:rPr>
                      <m:t>𝒖</m:t>
                    </m:r>
                  </m:oMath>
                </a14:m>
                <a:r>
                  <a:rPr lang="en-US" altLang="zh-CN" sz="2400" b="1" dirty="0">
                    <a:latin typeface="微软雅黑" panose="020B0503020204020204" pitchFamily="34" charset="-122"/>
                    <a:ea typeface="微软雅黑" panose="020B0503020204020204" pitchFamily="34" charset="-122"/>
                  </a:rPr>
                  <a:t>=</a:t>
                </a:r>
                <a14:m>
                  <m:oMath xmlns:m="http://schemas.openxmlformats.org/officeDocument/2006/math">
                    <m:r>
                      <a:rPr lang="zh-CN" altLang="en-US" sz="2400" b="1" i="1" smtClean="0">
                        <a:solidFill>
                          <a:srgbClr val="000000"/>
                        </a:solidFill>
                        <a:latin typeface="Cambria Math" panose="02040503050406030204" pitchFamily="18" charset="0"/>
                      </a:rPr>
                      <m:t>𝛍</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m:t>
                    </m:r>
                    <m:acc>
                      <m:accPr>
                        <m:chr m:val="̂"/>
                        <m:ctrlPr>
                          <a:rPr lang="zh-CN" altLang="en-US" sz="2400" b="1" i="1" smtClean="0">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r>
                      <a:rPr lang="zh-CN" altLang="en-US" sz="2400" b="1" i="1">
                        <a:solidFill>
                          <a:srgbClr val="000000"/>
                        </a:solidFill>
                        <a:latin typeface="Cambria Math" panose="02040503050406030204" pitchFamily="18" charset="0"/>
                      </a:rPr>
                      <m:t>)</m:t>
                    </m:r>
                  </m:oMath>
                </a14:m>
                <a:r>
                  <a:rPr lang="zh-CN" altLang="zh-CN" sz="2400" b="1" dirty="0">
                    <a:latin typeface="微软雅黑" panose="020B0503020204020204" pitchFamily="34" charset="-122"/>
                    <a:ea typeface="微软雅黑" panose="020B0503020204020204" pitchFamily="34" charset="-122"/>
                  </a:rPr>
                  <a:t>和一个更新律</a:t>
                </a:r>
                <a14:m>
                  <m:oMath xmlns:m="http://schemas.openxmlformats.org/officeDocument/2006/math">
                    <m:acc>
                      <m:accPr>
                        <m:chr m:val="̇"/>
                        <m:ctrlPr>
                          <a:rPr lang="zh-CN" altLang="en-US" sz="2400" b="1" i="1">
                            <a:solidFill>
                              <a:srgbClr val="000000"/>
                            </a:solidFill>
                            <a:latin typeface="Cambria Math" panose="02040503050406030204" pitchFamily="18" charset="0"/>
                          </a:rPr>
                        </m:ctrlPr>
                      </m:acc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acc>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𝝆</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r>
                      <a:rPr lang="zh-CN" altLang="en-US" sz="2400" b="1" i="1">
                        <a:solidFill>
                          <a:srgbClr val="000000"/>
                        </a:solidFill>
                        <a:latin typeface="Cambria Math" panose="02040503050406030204" pitchFamily="18" charset="0"/>
                      </a:rPr>
                      <m:t>)</m:t>
                    </m:r>
                  </m:oMath>
                </a14:m>
                <a:r>
                  <a:rPr lang="zh-CN" altLang="zh-CN" sz="2400" b="1" dirty="0">
                    <a:latin typeface="微软雅黑" panose="020B0503020204020204" pitchFamily="34" charset="-122"/>
                    <a:ea typeface="微软雅黑" panose="020B0503020204020204" pitchFamily="34" charset="-122"/>
                  </a:rPr>
                  <a:t>使得闭环系统</a:t>
                </a:r>
                <a:endParaRPr lang="zh-CN" altLang="en-US" sz="2400" b="1" dirty="0">
                  <a:latin typeface="微软雅黑" panose="020B0503020204020204" pitchFamily="34" charset="-122"/>
                  <a:ea typeface="微软雅黑" panose="020B0503020204020204" pitchFamily="34" charset="-122"/>
                </a:endParaRPr>
              </a:p>
              <a:p>
                <a:endParaRPr lang="zh-CN" altLang="en-US" dirty="0"/>
              </a:p>
              <a:p>
                <a:endParaRPr lang="zh-CN" altLang="en-US" dirty="0"/>
              </a:p>
              <a:p>
                <a:endParaRPr lang="zh-CN" altLang="en-US" dirty="0"/>
              </a:p>
            </p:txBody>
          </p:sp>
        </mc:Choice>
        <mc:Fallback>
          <p:sp>
            <p:nvSpPr>
              <p:cNvPr id="12" name="文本框 11">
                <a:extLst>
                  <a:ext uri="{FF2B5EF4-FFF2-40B4-BE49-F238E27FC236}">
                    <a16:creationId xmlns:a16="http://schemas.microsoft.com/office/drawing/2014/main" id="{E7131B09-C90D-E7AD-4E47-C9432E9A6C71}"/>
                  </a:ext>
                </a:extLst>
              </p:cNvPr>
              <p:cNvSpPr txBox="1">
                <a:spLocks noRot="1" noChangeAspect="1" noMove="1" noResize="1" noEditPoints="1" noAdjustHandles="1" noChangeArrowheads="1" noChangeShapeType="1" noTextEdit="1"/>
              </p:cNvSpPr>
              <p:nvPr/>
            </p:nvSpPr>
            <p:spPr>
              <a:xfrm>
                <a:off x="985837" y="5106517"/>
                <a:ext cx="9953626" cy="2124556"/>
              </a:xfrm>
              <a:prstGeom prst="rect">
                <a:avLst/>
              </a:prstGeom>
              <a:blipFill>
                <a:blip r:embed="rId4"/>
                <a:stretch>
                  <a:fillRect l="-980" t="-2299" r="-245"/>
                </a:stretch>
              </a:blipFill>
            </p:spPr>
            <p:txBody>
              <a:bodyPr/>
              <a:lstStyle/>
              <a:p>
                <a:r>
                  <a:rPr lang="zh-CN" altLang="en-US">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B42A1B1-4875-01CC-124B-680B58946DD3}"/>
              </a:ext>
            </a:extLst>
          </p:cNvPr>
          <p:cNvSpPr txBox="1"/>
          <p:nvPr>
            <p:custDataLst>
              <p:tags r:id="rId1"/>
            </p:custDataLst>
          </p:nvPr>
        </p:nvSpPr>
        <p:spPr>
          <a:xfrm>
            <a:off x="1357313" y="128685"/>
            <a:ext cx="8158162"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7.2.2</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 机器人控制方法和控制器设计</a:t>
            </a:r>
          </a:p>
        </p:txBody>
      </p:sp>
      <mc:AlternateContent xmlns:mc="http://schemas.openxmlformats.org/markup-compatibility/2006" xmlns:a14="http://schemas.microsoft.com/office/drawing/2010/main">
        <mc:Choice Requires="a14">
          <p:sp>
            <p:nvSpPr>
              <p:cNvPr id="3" name="对象 41">
                <a:extLst>
                  <a:ext uri="{FF2B5EF4-FFF2-40B4-BE49-F238E27FC236}">
                    <a16:creationId xmlns:a16="http://schemas.microsoft.com/office/drawing/2014/main" id="{267AC9DF-F9AB-9CDF-45A5-785852150AF5}"/>
                  </a:ext>
                </a:extLst>
              </p:cNvPr>
              <p:cNvSpPr txBox="1"/>
              <p:nvPr/>
            </p:nvSpPr>
            <p:spPr bwMode="auto">
              <a:xfrm>
                <a:off x="2395537" y="1169988"/>
                <a:ext cx="8396288" cy="1268412"/>
              </a:xfrm>
              <a:prstGeom prst="rect">
                <a:avLst/>
              </a:prstGeom>
              <a:solidFill>
                <a:schemeClr val="bg1"/>
              </a:solidFill>
              <a:ln>
                <a:solidFill>
                  <a:schemeClr val="bg1"/>
                </a:solidFill>
              </a:ln>
            </p:spPr>
            <p:txBody>
              <a:bodyPr>
                <a:normAutofit/>
              </a:bodyPr>
              <a:lstStyle/>
              <a:p>
                <a14:m>
                  <m:oMath xmlns:m="http://schemas.openxmlformats.org/officeDocument/2006/math">
                    <m:d>
                      <m:dPr>
                        <m:begChr m:val="{"/>
                        <m:endChr m:val=""/>
                        <m:ctrlPr>
                          <a:rPr lang="zh-CN" altLang="en-US" sz="2400" b="1" i="1">
                            <a:solidFill>
                              <a:srgbClr val="000000"/>
                            </a:solidFill>
                            <a:latin typeface="Cambria Math" panose="02040503050406030204" pitchFamily="18" charset="0"/>
                          </a:rPr>
                        </m:ctrlPr>
                      </m:dPr>
                      <m:e>
                        <m:m>
                          <m:mPr>
                            <m:plcHide m:val="on"/>
                            <m:mcs>
                              <m:mc>
                                <m:mcPr>
                                  <m:count m:val="1"/>
                                  <m:mcJc m:val="center"/>
                                </m:mcPr>
                              </m:mc>
                            </m:mcs>
                            <m:ctrlPr>
                              <a:rPr lang="zh-CN" altLang="en-US" sz="2400" b="1" i="1">
                                <a:solidFill>
                                  <a:srgbClr val="000000"/>
                                </a:solidFill>
                                <a:latin typeface="Cambria Math" panose="02040503050406030204" pitchFamily="18" charset="0"/>
                              </a:rPr>
                            </m:ctrlPr>
                          </m:mPr>
                          <m:m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𝒙</m:t>
                                  </m:r>
                                </m:e>
                              </m:acc>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𝒇</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𝜽</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𝒈</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𝜽</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𝝁</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r>
                                <a:rPr lang="zh-CN" altLang="en-US" sz="2400" b="1" i="1">
                                  <a:solidFill>
                                    <a:srgbClr val="000000"/>
                                  </a:solidFill>
                                  <a:latin typeface="Cambria Math" panose="02040503050406030204" pitchFamily="18" charset="0"/>
                                </a:rPr>
                                <m:t>)</m:t>
                              </m:r>
                            </m:e>
                          </m:mr>
                          <m:mr>
                            <m:e>
                              <m:acc>
                                <m:accPr>
                                  <m:chr m:val="̇"/>
                                  <m:ctrlPr>
                                    <a:rPr lang="zh-CN" altLang="en-US" sz="2400" b="1" i="1">
                                      <a:solidFill>
                                        <a:srgbClr val="000000"/>
                                      </a:solidFill>
                                      <a:latin typeface="Cambria Math" panose="02040503050406030204" pitchFamily="18" charset="0"/>
                                    </a:rPr>
                                  </m:ctrlPr>
                                </m:acc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acc>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𝝆</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𝒙</m:t>
                              </m:r>
                              <m:r>
                                <a:rPr lang="zh-CN" altLang="en-US" sz="2400" b="1" i="1">
                                  <a:solidFill>
                                    <a:srgbClr val="000000"/>
                                  </a:solidFill>
                                  <a:latin typeface="Cambria Math" panose="02040503050406030204" pitchFamily="18" charset="0"/>
                                </a:rPr>
                                <m:t>,</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r>
                                <a:rPr lang="zh-CN" altLang="en-US" sz="2400" b="1" i="1">
                                  <a:solidFill>
                                    <a:srgbClr val="000000"/>
                                  </a:solidFill>
                                  <a:latin typeface="Cambria Math" panose="02040503050406030204" pitchFamily="18" charset="0"/>
                                </a:rPr>
                                <m:t>)</m:t>
                              </m:r>
                              <m:m>
                                <m:mPr>
                                  <m:plcHide m:val="on"/>
                                  <m:mcs>
                                    <m:mc>
                                      <m:mcPr>
                                        <m:count m:val="3"/>
                                        <m:mcJc m:val="center"/>
                                      </m:mcPr>
                                    </m:mc>
                                  </m:mcs>
                                  <m:ctrlPr>
                                    <a:rPr lang="zh-CN" altLang="en-US" sz="2400" b="1" i="1">
                                      <a:solidFill>
                                        <a:srgbClr val="000000"/>
                                      </a:solidFill>
                                      <a:latin typeface="Cambria Math" panose="02040503050406030204" pitchFamily="18" charset="0"/>
                                    </a:rPr>
                                  </m:ctrlPr>
                                </m:mPr>
                                <m:mr>
                                  <m:e>
                                    <m:m>
                                      <m:mPr>
                                        <m:plcHide m:val="on"/>
                                        <m:mcs>
                                          <m:mc>
                                            <m:mcPr>
                                              <m:count m:val="2"/>
                                              <m:mcJc m:val="center"/>
                                            </m:mcPr>
                                          </m:mc>
                                        </m:mcs>
                                        <m:ctrlPr>
                                          <a:rPr lang="zh-CN" altLang="en-US" sz="2400" b="1" i="1">
                                            <a:solidFill>
                                              <a:srgbClr val="000000"/>
                                            </a:solidFill>
                                            <a:latin typeface="Cambria Math" panose="02040503050406030204" pitchFamily="18" charset="0"/>
                                          </a:rPr>
                                        </m:ctrlPr>
                                      </m:mPr>
                                      <m:mr>
                                        <m:e>
                                          <m:m>
                                            <m:mPr>
                                              <m:plcHide m:val="on"/>
                                              <m:mcs>
                                                <m:mc>
                                                  <m:mcPr>
                                                    <m:count m:val="2"/>
                                                    <m:mcJc m:val="center"/>
                                                  </m:mcPr>
                                                </m:mc>
                                              </m:mcs>
                                              <m:ctrlPr>
                                                <a:rPr lang="zh-CN" altLang="en-US" sz="2400" b="1" i="1">
                                                  <a:solidFill>
                                                    <a:srgbClr val="000000"/>
                                                  </a:solidFill>
                                                  <a:latin typeface="Cambria Math" panose="02040503050406030204" pitchFamily="18" charset="0"/>
                                                </a:rPr>
                                              </m:ctrlPr>
                                            </m:mPr>
                                            <m:mr>
                                              <m:e/>
                                              <m:e/>
                                            </m:mr>
                                          </m:m>
                                        </m:e>
                                        <m:e/>
                                      </m:mr>
                                    </m:m>
                                  </m:e>
                                  <m:e/>
                                  <m:e>
                                    <m:m>
                                      <m:mPr>
                                        <m:plcHide m:val="on"/>
                                        <m:mcs>
                                          <m:mc>
                                            <m:mcPr>
                                              <m:count m:val="2"/>
                                              <m:mcJc m:val="center"/>
                                            </m:mcPr>
                                          </m:mc>
                                        </m:mcs>
                                        <m:ctrlPr>
                                          <a:rPr lang="zh-CN" altLang="en-US" sz="2400" b="1" i="1">
                                            <a:solidFill>
                                              <a:srgbClr val="000000"/>
                                            </a:solidFill>
                                            <a:latin typeface="Cambria Math" panose="02040503050406030204" pitchFamily="18" charset="0"/>
                                          </a:rPr>
                                        </m:ctrlPr>
                                      </m:mPr>
                                      <m:mr>
                                        <m:e/>
                                        <m:e/>
                                      </m:mr>
                                    </m:m>
                                  </m:e>
                                </m:mr>
                              </m:m>
                            </m:e>
                          </m:mr>
                        </m:m>
                      </m:e>
                    </m:d>
                  </m:oMath>
                </a14:m>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7.15</a:t>
                </a:r>
                <a:r>
                  <a:rPr lang="zh-CN" altLang="en-US" sz="2400" b="1" dirty="0">
                    <a:latin typeface="微软雅黑" panose="020B0503020204020204" pitchFamily="34" charset="-122"/>
                    <a:ea typeface="微软雅黑" panose="020B0503020204020204" pitchFamily="34" charset="-122"/>
                  </a:rPr>
                  <a:t>）</a:t>
                </a:r>
              </a:p>
            </p:txBody>
          </p:sp>
        </mc:Choice>
        <mc:Fallback xmlns="">
          <p:sp>
            <p:nvSpPr>
              <p:cNvPr id="3" name="对象 41">
                <a:extLst>
                  <a:ext uri="{FF2B5EF4-FFF2-40B4-BE49-F238E27FC236}">
                    <a16:creationId xmlns:a16="http://schemas.microsoft.com/office/drawing/2014/main" id="{267AC9DF-F9AB-9CDF-45A5-785852150AF5}"/>
                  </a:ext>
                </a:extLst>
              </p:cNvPr>
              <p:cNvSpPr txBox="1">
                <a:spLocks noRot="1" noChangeAspect="1" noMove="1" noResize="1" noEditPoints="1" noAdjustHandles="1" noChangeArrowheads="1" noChangeShapeType="1" noTextEdit="1"/>
              </p:cNvSpPr>
              <p:nvPr/>
            </p:nvSpPr>
            <p:spPr bwMode="auto">
              <a:xfrm>
                <a:off x="2395537" y="1169988"/>
                <a:ext cx="8396288" cy="1268412"/>
              </a:xfrm>
              <a:prstGeom prst="rect">
                <a:avLst/>
              </a:prstGeom>
              <a:blipFill>
                <a:blip r:embed="rId3"/>
                <a:stretch>
                  <a:fillRect/>
                </a:stretch>
              </a:blipFill>
              <a:ln>
                <a:solidFill>
                  <a:schemeClr val="bg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1EEFD647-7AAD-35DD-61E9-7912FE1C2E5C}"/>
                  </a:ext>
                </a:extLst>
              </p:cNvPr>
              <p:cNvSpPr txBox="1"/>
              <p:nvPr/>
            </p:nvSpPr>
            <p:spPr>
              <a:xfrm>
                <a:off x="995362" y="2438400"/>
                <a:ext cx="9377363" cy="830997"/>
              </a:xfrm>
              <a:prstGeom prst="rect">
                <a:avLst/>
              </a:prstGeom>
              <a:noFill/>
            </p:spPr>
            <p:txBody>
              <a:bodyPr wrap="square">
                <a:spAutoFit/>
              </a:bodyPr>
              <a:lstStyle/>
              <a:p>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是</a:t>
                </a:r>
                <a:r>
                  <a:rPr lang="en-US" altLang="zh-CN" sz="2400" b="1" kern="1000" dirty="0">
                    <a:effectLst/>
                    <a:latin typeface="微软雅黑" panose="020B0503020204020204" pitchFamily="34" charset="-122"/>
                    <a:ea typeface="微软雅黑" panose="020B0503020204020204" pitchFamily="34" charset="-122"/>
                  </a:rPr>
                  <a:t>Lyapunov</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稳定的，</a:t>
                </a:r>
                <a:r>
                  <a:rPr lang="zh-CN" altLang="en-US"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当 </a:t>
                </a:r>
                <a14:m>
                  <m:oMath xmlns:m="http://schemas.openxmlformats.org/officeDocument/2006/math">
                    <m:r>
                      <a:rPr lang="en-US" altLang="zh-CN" sz="2400" b="1" i="1" kern="1000" smtClean="0">
                        <a:effectLst/>
                        <a:latin typeface="Cambria Math" panose="02040503050406030204" pitchFamily="18" charset="0"/>
                        <a:ea typeface="宋体" panose="02010600030101010101" pitchFamily="2" charset="-122"/>
                        <a:cs typeface="Times New Roman" panose="02020603050405020304" pitchFamily="18" charset="0"/>
                      </a:rPr>
                      <m:t>𝒕</m:t>
                    </m:r>
                    <m:r>
                      <a:rPr lang="en-US" altLang="zh-CN" sz="2400" b="1" i="1" kern="1000" smtClean="0">
                        <a:effectLst/>
                        <a:latin typeface="Cambria Math" panose="02040503050406030204" pitchFamily="18" charset="0"/>
                        <a:ea typeface="Cambria Math" panose="02040503050406030204" pitchFamily="18" charset="0"/>
                        <a:cs typeface="Times New Roman" panose="02020603050405020304" pitchFamily="18" charset="0"/>
                      </a:rPr>
                      <m:t>→∞</m:t>
                    </m:r>
                  </m:oMath>
                </a14:m>
                <a:r>
                  <a:rPr lang="zh-CN" altLang="en-US"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时</a:t>
                </a:r>
                <a:r>
                  <a:rPr lang="zh-CN" altLang="zh-CN" sz="2400" b="1" dirty="0">
                    <a:latin typeface="微软雅黑" panose="020B0503020204020204" pitchFamily="34" charset="-122"/>
                    <a:ea typeface="微软雅黑" panose="020B0503020204020204" pitchFamily="34" charset="-122"/>
                  </a:rPr>
                  <a:t>相应于任何初始值</a:t>
                </a:r>
                <a14:m>
                  <m:oMath xmlns:m="http://schemas.openxmlformats.org/officeDocument/2006/math">
                    <m:r>
                      <a:rPr lang="zh-CN" altLang="en-US" sz="2400" b="1" i="1">
                        <a:solidFill>
                          <a:srgbClr val="000000"/>
                        </a:solidFill>
                        <a:latin typeface="Cambria Math" panose="02040503050406030204" pitchFamily="18" charset="0"/>
                      </a:rPr>
                      <m:t>𝒙</m:t>
                    </m:r>
                    <m:d>
                      <m:dPr>
                        <m:ctrlPr>
                          <a:rPr lang="zh-CN" altLang="en-US" sz="2400" b="1" i="1">
                            <a:solidFill>
                              <a:srgbClr val="000000"/>
                            </a:solidFill>
                            <a:latin typeface="Cambria Math" panose="02040503050406030204" pitchFamily="18" charset="0"/>
                          </a:rPr>
                        </m:ctrlPr>
                      </m:dPr>
                      <m:e>
                        <m:r>
                          <a:rPr lang="en-US" altLang="zh-CN" sz="2400" b="1" i="1" smtClean="0">
                            <a:solidFill>
                              <a:srgbClr val="000000"/>
                            </a:solidFill>
                            <a:latin typeface="Cambria Math" panose="02040503050406030204" pitchFamily="18" charset="0"/>
                          </a:rPr>
                          <m:t>𝟎</m:t>
                        </m:r>
                      </m:e>
                    </m:d>
                    <m:r>
                      <a:rPr lang="en-US" altLang="zh-CN" sz="2400" b="1" i="1" smtClean="0">
                        <a:solidFill>
                          <a:srgbClr val="000000"/>
                        </a:solidFill>
                        <a:latin typeface="Cambria Math" panose="02040503050406030204" pitchFamily="18" charset="0"/>
                      </a:rPr>
                      <m:t>=</m:t>
                    </m:r>
                    <m:sSub>
                      <m:sSubPr>
                        <m:ctrlPr>
                          <a:rPr lang="en-US" altLang="zh-CN" sz="2400" b="1" i="1">
                            <a:solidFill>
                              <a:srgbClr val="000000"/>
                            </a:solidFill>
                            <a:latin typeface="Cambria Math" panose="02040503050406030204" pitchFamily="18" charset="0"/>
                          </a:rPr>
                        </m:ctrlPr>
                      </m:sSubPr>
                      <m:e>
                        <m:r>
                          <a:rPr lang="en-US" altLang="zh-CN" sz="2400" b="1" i="1">
                            <a:solidFill>
                              <a:srgbClr val="000000"/>
                            </a:solidFill>
                            <a:latin typeface="Cambria Math" panose="02040503050406030204" pitchFamily="18" charset="0"/>
                          </a:rPr>
                          <m:t>𝒙</m:t>
                        </m:r>
                      </m:e>
                      <m:sub>
                        <m:r>
                          <a:rPr lang="en-US" altLang="zh-CN" sz="2400" b="1" i="1">
                            <a:solidFill>
                              <a:srgbClr val="000000"/>
                            </a:solidFill>
                            <a:latin typeface="Cambria Math" panose="02040503050406030204" pitchFamily="18" charset="0"/>
                          </a:rPr>
                          <m:t>𝟎</m:t>
                        </m:r>
                      </m:sub>
                    </m:sSub>
                    <m:r>
                      <a:rPr lang="en-US" altLang="zh-CN" sz="2400" b="1" i="1" smtClean="0">
                        <a:solidFill>
                          <a:srgbClr val="000000"/>
                        </a:solidFill>
                        <a:latin typeface="Cambria Math" panose="02040503050406030204" pitchFamily="18" charset="0"/>
                        <a:ea typeface="Cambria Math" panose="02040503050406030204" pitchFamily="18" charset="0"/>
                      </a:rPr>
                      <m:t>∈</m:t>
                    </m:r>
                    <m:sSup>
                      <m:sSupPr>
                        <m:ctrlPr>
                          <a:rPr lang="en-US" altLang="zh-CN" sz="2400" b="1" i="1" smtClean="0">
                            <a:solidFill>
                              <a:srgbClr val="000000"/>
                            </a:solidFill>
                            <a:latin typeface="Cambria Math" panose="02040503050406030204" pitchFamily="18" charset="0"/>
                            <a:ea typeface="Cambria Math" panose="02040503050406030204" pitchFamily="18" charset="0"/>
                          </a:rPr>
                        </m:ctrlPr>
                      </m:sSupPr>
                      <m:e>
                        <m:r>
                          <a:rPr lang="en-US" altLang="zh-CN" sz="2400" b="1" i="1" smtClean="0">
                            <a:solidFill>
                              <a:srgbClr val="000000"/>
                            </a:solidFill>
                            <a:latin typeface="Cambria Math" panose="02040503050406030204" pitchFamily="18" charset="0"/>
                            <a:ea typeface="Cambria Math" panose="02040503050406030204" pitchFamily="18" charset="0"/>
                          </a:rPr>
                          <m:t>𝑹</m:t>
                        </m:r>
                      </m:e>
                      <m:sup>
                        <m:r>
                          <a:rPr lang="en-US" altLang="zh-CN" sz="2400" b="1" i="1" smtClean="0">
                            <a:solidFill>
                              <a:srgbClr val="000000"/>
                            </a:solidFill>
                            <a:latin typeface="Cambria Math" panose="02040503050406030204" pitchFamily="18" charset="0"/>
                            <a:ea typeface="Cambria Math" panose="02040503050406030204" pitchFamily="18" charset="0"/>
                          </a:rPr>
                          <m:t>𝒏</m:t>
                        </m:r>
                      </m:sup>
                    </m:sSup>
                  </m:oMath>
                </a14:m>
                <a:r>
                  <a:rPr lang="zh-CN" altLang="en-US" sz="2400" b="1" dirty="0">
                    <a:latin typeface="微软雅黑" panose="020B0503020204020204" pitchFamily="34" charset="-122"/>
                    <a:ea typeface="微软雅黑" panose="020B0503020204020204" pitchFamily="34" charset="-122"/>
                  </a:rPr>
                  <a:t>的解</a:t>
                </a:r>
                <a14:m>
                  <m:oMath xmlns:m="http://schemas.openxmlformats.org/officeDocument/2006/math">
                    <m:r>
                      <a:rPr lang="zh-CN" altLang="en-US" sz="2400" b="1" i="1">
                        <a:solidFill>
                          <a:srgbClr val="000000"/>
                        </a:solidFill>
                        <a:latin typeface="Cambria Math" panose="02040503050406030204" pitchFamily="18" charset="0"/>
                      </a:rPr>
                      <m:t>𝒙</m:t>
                    </m:r>
                    <m:d>
                      <m:dPr>
                        <m:ctrlPr>
                          <a:rPr lang="zh-CN" altLang="en-US" sz="2400" b="1" i="1">
                            <a:solidFill>
                              <a:srgbClr val="000000"/>
                            </a:solidFill>
                            <a:latin typeface="Cambria Math" panose="02040503050406030204" pitchFamily="18" charset="0"/>
                          </a:rPr>
                        </m:ctrlPr>
                      </m:dPr>
                      <m:e>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𝒕</m:t>
                        </m:r>
                      </m:e>
                    </m:d>
                  </m:oMath>
                </a14:m>
                <a:r>
                  <a:rPr lang="zh-CN" altLang="en-US" sz="2400" b="1" dirty="0">
                    <a:latin typeface="微软雅黑" panose="020B0503020204020204" pitchFamily="34" charset="-122"/>
                    <a:ea typeface="微软雅黑" panose="020B0503020204020204" pitchFamily="34" charset="-122"/>
                  </a:rPr>
                  <a:t>趋于</a:t>
                </a:r>
                <a:r>
                  <a:rPr lang="en-US" altLang="zh-CN" sz="2400" b="1" dirty="0">
                    <a:latin typeface="微软雅黑" panose="020B0503020204020204" pitchFamily="34" charset="-122"/>
                    <a:ea typeface="微软雅黑" panose="020B0503020204020204" pitchFamily="34" charset="-122"/>
                  </a:rPr>
                  <a:t>0</a:t>
                </a:r>
                <a:r>
                  <a:rPr lang="zh-CN" altLang="en-US" sz="2400" b="1" dirty="0">
                    <a:latin typeface="微软雅黑" panose="020B0503020204020204" pitchFamily="34" charset="-122"/>
                    <a:ea typeface="微软雅黑" panose="020B0503020204020204" pitchFamily="34" charset="-122"/>
                  </a:rPr>
                  <a:t>。</a:t>
                </a:r>
              </a:p>
            </p:txBody>
          </p:sp>
        </mc:Choice>
        <mc:Fallback xmlns="">
          <p:sp>
            <p:nvSpPr>
              <p:cNvPr id="7" name="文本框 6">
                <a:extLst>
                  <a:ext uri="{FF2B5EF4-FFF2-40B4-BE49-F238E27FC236}">
                    <a16:creationId xmlns:a16="http://schemas.microsoft.com/office/drawing/2014/main" id="{1EEFD647-7AAD-35DD-61E9-7912FE1C2E5C}"/>
                  </a:ext>
                </a:extLst>
              </p:cNvPr>
              <p:cNvSpPr txBox="1">
                <a:spLocks noRot="1" noChangeAspect="1" noMove="1" noResize="1" noEditPoints="1" noAdjustHandles="1" noChangeArrowheads="1" noChangeShapeType="1" noTextEdit="1"/>
              </p:cNvSpPr>
              <p:nvPr/>
            </p:nvSpPr>
            <p:spPr>
              <a:xfrm>
                <a:off x="995362" y="2438400"/>
                <a:ext cx="9377363" cy="830997"/>
              </a:xfrm>
              <a:prstGeom prst="rect">
                <a:avLst/>
              </a:prstGeom>
              <a:blipFill>
                <a:blip r:embed="rId4"/>
                <a:stretch>
                  <a:fillRect l="-975" t="-5882" b="-16176"/>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6B239D90-8419-91F7-6A62-F90DF3864A2D}"/>
              </a:ext>
            </a:extLst>
          </p:cNvPr>
          <p:cNvSpPr txBox="1"/>
          <p:nvPr/>
        </p:nvSpPr>
        <p:spPr>
          <a:xfrm>
            <a:off x="857250" y="3269398"/>
            <a:ext cx="9515475" cy="1200329"/>
          </a:xfrm>
          <a:prstGeom prst="rect">
            <a:avLst/>
          </a:prstGeom>
          <a:noFill/>
        </p:spPr>
        <p:txBody>
          <a:bodyPr wrap="square">
            <a:spAutoFit/>
          </a:bodyPr>
          <a:lstStyle/>
          <a:p>
            <a:pPr indent="269875"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应用自适应控制策略实现不确定非线性机器人系统的全局渐近稳定轨迹跟踪控制，机器人动力学系统通常满足参数线性化的性质，即</a:t>
            </a:r>
            <a:endParaRPr lang="zh-CN" altLang="en-US" sz="2400" dirty="0"/>
          </a:p>
          <a:p>
            <a:pPr indent="269875" algn="just"/>
            <a:endParaRPr lang="zh-CN" altLang="zh-CN" sz="2400" b="1" kern="1000" dirty="0">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EB7EF37D-695A-8483-8555-09EB912B1C68}"/>
                  </a:ext>
                </a:extLst>
              </p:cNvPr>
              <p:cNvSpPr txBox="1"/>
              <p:nvPr/>
            </p:nvSpPr>
            <p:spPr>
              <a:xfrm>
                <a:off x="1357313" y="4298416"/>
                <a:ext cx="8529637" cy="478785"/>
              </a:xfrm>
              <a:prstGeom prst="rect">
                <a:avLst/>
              </a:prstGeom>
              <a:noFill/>
            </p:spPr>
            <p:txBody>
              <a:bodyPr wrap="square" rtlCol="0">
                <a:spAutoFit/>
              </a:bodyPr>
              <a:lstStyle/>
              <a:p>
                <a14:m>
                  <m:oMath xmlns:m="http://schemas.openxmlformats.org/officeDocument/2006/math">
                    <m:r>
                      <a:rPr lang="zh-CN" altLang="en-US" sz="2400" b="1" i="1" smtClean="0">
                        <a:solidFill>
                          <a:srgbClr val="000000"/>
                        </a:solidFill>
                        <a:latin typeface="Cambria Math" panose="02040503050406030204" pitchFamily="18" charset="0"/>
                      </a:rPr>
                      <m:t>𝑴</m:t>
                    </m:r>
                    <m:r>
                      <a:rPr lang="zh-CN" altLang="en-US" sz="2400" b="1" i="1" smtClean="0">
                        <a:solidFill>
                          <a:srgbClr val="000000"/>
                        </a:solidFill>
                        <a:latin typeface="Cambria Math" panose="02040503050406030204" pitchFamily="18" charset="0"/>
                      </a:rPr>
                      <m:t>(</m:t>
                    </m:r>
                    <m:r>
                      <a:rPr lang="zh-CN" altLang="en-US" sz="2400" b="1" i="1" smtClean="0">
                        <a:solidFill>
                          <a:srgbClr val="000000"/>
                        </a:solidFill>
                        <a:latin typeface="Cambria Math" panose="02040503050406030204" pitchFamily="18" charset="0"/>
                      </a:rPr>
                      <m:t>𝜽</m:t>
                    </m:r>
                    <m:r>
                      <a:rPr lang="zh-CN" altLang="en-US" sz="2400" b="1" i="1" smtClean="0">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b>
                        <m:r>
                          <a:rPr lang="zh-CN" altLang="en-US" sz="2400" b="1" i="1">
                            <a:solidFill>
                              <a:srgbClr val="000000"/>
                            </a:solidFill>
                            <a:latin typeface="Cambria Math" panose="02040503050406030204" pitchFamily="18" charset="0"/>
                          </a:rPr>
                          <m:t>𝒅</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𝑪</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𝜽</m:t>
                    </m:r>
                    <m:r>
                      <a:rPr lang="zh-CN" altLang="en-US" sz="2400" b="1" i="1">
                        <a:solidFill>
                          <a:srgbClr val="000000"/>
                        </a:solidFill>
                        <a:latin typeface="Cambria Math" panose="02040503050406030204" pitchFamily="18" charset="0"/>
                      </a:rPr>
                      <m:t>,</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b>
                        <m:r>
                          <a:rPr lang="zh-CN" altLang="en-US" sz="2400" b="1" i="1">
                            <a:solidFill>
                              <a:srgbClr val="000000"/>
                            </a:solidFill>
                            <a:latin typeface="Cambria Math" panose="02040503050406030204" pitchFamily="18" charset="0"/>
                          </a:rPr>
                          <m:t>𝒅</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𝑮</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𝜽</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𝒀</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𝜽</m:t>
                    </m:r>
                    <m:r>
                      <a:rPr lang="zh-CN" altLang="en-US" sz="2400" b="1" i="1">
                        <a:solidFill>
                          <a:srgbClr val="000000"/>
                        </a:solidFill>
                        <a:latin typeface="Cambria Math" panose="02040503050406030204" pitchFamily="18" charset="0"/>
                      </a:rPr>
                      <m:t>,</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b>
                        <m:r>
                          <a:rPr lang="zh-CN" altLang="en-US" sz="2400" b="1" i="1">
                            <a:solidFill>
                              <a:srgbClr val="000000"/>
                            </a:solidFill>
                            <a:latin typeface="Cambria Math" panose="02040503050406030204" pitchFamily="18" charset="0"/>
                          </a:rPr>
                          <m:t>𝒅</m:t>
                        </m:r>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b>
                        <m:r>
                          <a:rPr lang="zh-CN" altLang="en-US" sz="2400" b="1" i="1">
                            <a:solidFill>
                              <a:srgbClr val="000000"/>
                            </a:solidFill>
                            <a:latin typeface="Cambria Math" panose="02040503050406030204" pitchFamily="18" charset="0"/>
                          </a:rPr>
                          <m:t>𝒅</m:t>
                        </m:r>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𝒑</m:t>
                        </m:r>
                      </m:e>
                      <m:sub>
                        <m:r>
                          <a:rPr lang="zh-CN" altLang="en-US" sz="2400" b="1" i="1">
                            <a:solidFill>
                              <a:srgbClr val="000000"/>
                            </a:solidFill>
                            <a:latin typeface="Cambria Math" panose="02040503050406030204" pitchFamily="18" charset="0"/>
                          </a:rPr>
                          <m:t>𝟎</m:t>
                        </m:r>
                      </m:sub>
                    </m:sSub>
                  </m:oMath>
                </a14:m>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7.16</a:t>
                </a:r>
                <a:r>
                  <a:rPr lang="zh-CN" altLang="en-US" sz="2400" b="1" dirty="0">
                    <a:latin typeface="微软雅黑" panose="020B0503020204020204" pitchFamily="34" charset="-122"/>
                    <a:ea typeface="微软雅黑" panose="020B0503020204020204" pitchFamily="34" charset="-122"/>
                  </a:rPr>
                  <a:t>）                      </a:t>
                </a:r>
              </a:p>
            </p:txBody>
          </p:sp>
        </mc:Choice>
        <mc:Fallback xmlns="">
          <p:sp>
            <p:nvSpPr>
              <p:cNvPr id="13" name="文本框 12">
                <a:extLst>
                  <a:ext uri="{FF2B5EF4-FFF2-40B4-BE49-F238E27FC236}">
                    <a16:creationId xmlns:a16="http://schemas.microsoft.com/office/drawing/2014/main" id="{EB7EF37D-695A-8483-8555-09EB912B1C68}"/>
                  </a:ext>
                </a:extLst>
              </p:cNvPr>
              <p:cNvSpPr txBox="1">
                <a:spLocks noRot="1" noChangeAspect="1" noMove="1" noResize="1" noEditPoints="1" noAdjustHandles="1" noChangeArrowheads="1" noChangeShapeType="1" noTextEdit="1"/>
              </p:cNvSpPr>
              <p:nvPr/>
            </p:nvSpPr>
            <p:spPr>
              <a:xfrm>
                <a:off x="1357313" y="4298416"/>
                <a:ext cx="8529637" cy="478785"/>
              </a:xfrm>
              <a:prstGeom prst="rect">
                <a:avLst/>
              </a:prstGeom>
              <a:blipFill>
                <a:blip r:embed="rId5"/>
                <a:stretch>
                  <a:fillRect t="-6329" r="-572" b="-278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1DDAD14E-7B43-9150-FF95-CD23E57296A5}"/>
                  </a:ext>
                </a:extLst>
              </p:cNvPr>
              <p:cNvSpPr txBox="1"/>
              <p:nvPr/>
            </p:nvSpPr>
            <p:spPr>
              <a:xfrm>
                <a:off x="1107281" y="4975222"/>
                <a:ext cx="9377362" cy="848117"/>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      其中，</a:t>
                </a:r>
                <a14:m>
                  <m:oMath xmlns:m="http://schemas.openxmlformats.org/officeDocument/2006/math">
                    <m:r>
                      <a:rPr lang="zh-CN" altLang="en-US" sz="2400" b="1" i="1" smtClean="0">
                        <a:solidFill>
                          <a:srgbClr val="000000"/>
                        </a:solidFill>
                        <a:latin typeface="Cambria Math" panose="02040503050406030204" pitchFamily="18" charset="0"/>
                      </a:rPr>
                      <m:t>𝒀</m:t>
                    </m:r>
                    <m:r>
                      <a:rPr lang="zh-CN" altLang="en-US" sz="2400" b="1" i="1" smtClean="0">
                        <a:solidFill>
                          <a:srgbClr val="000000"/>
                        </a:solidFill>
                        <a:latin typeface="Cambria Math" panose="02040503050406030204" pitchFamily="18" charset="0"/>
                      </a:rPr>
                      <m:t>(</m:t>
                    </m:r>
                    <m:r>
                      <a:rPr lang="zh-CN" altLang="en-US" sz="2400" b="1" i="1" smtClean="0">
                        <a:solidFill>
                          <a:srgbClr val="000000"/>
                        </a:solidFill>
                        <a:latin typeface="Cambria Math" panose="02040503050406030204" pitchFamily="18" charset="0"/>
                      </a:rPr>
                      <m:t>𝜽</m:t>
                    </m:r>
                    <m:r>
                      <a:rPr lang="zh-CN" altLang="en-US" sz="2400" b="1" i="1" smtClean="0">
                        <a:solidFill>
                          <a:srgbClr val="000000"/>
                        </a:solidFill>
                        <a:latin typeface="Cambria Math" panose="02040503050406030204" pitchFamily="18" charset="0"/>
                      </a:rPr>
                      <m:t>,</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b>
                        <m:r>
                          <a:rPr lang="zh-CN" altLang="en-US" sz="2400" b="1" i="1">
                            <a:solidFill>
                              <a:srgbClr val="000000"/>
                            </a:solidFill>
                            <a:latin typeface="Cambria Math" panose="02040503050406030204" pitchFamily="18" charset="0"/>
                          </a:rPr>
                          <m:t>𝒅</m:t>
                        </m:r>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b>
                        <m:r>
                          <a:rPr lang="zh-CN" altLang="en-US" sz="2400" b="1" i="1">
                            <a:solidFill>
                              <a:srgbClr val="000000"/>
                            </a:solidFill>
                            <a:latin typeface="Cambria Math" panose="02040503050406030204" pitchFamily="18" charset="0"/>
                          </a:rPr>
                          <m:t>𝒅</m:t>
                        </m:r>
                      </m:sub>
                    </m:sSub>
                    <m:r>
                      <a:rPr lang="zh-CN" altLang="en-US" sz="2400" b="1" i="1">
                        <a:solidFill>
                          <a:srgbClr val="000000"/>
                        </a:solidFill>
                        <a:latin typeface="Cambria Math" panose="02040503050406030204" pitchFamily="18" charset="0"/>
                      </a:rPr>
                      <m:t>)</m:t>
                    </m:r>
                  </m:oMath>
                </a14:m>
                <a:r>
                  <a:rPr lang="zh-CN" altLang="en-US" sz="2400" b="1" dirty="0">
                    <a:latin typeface="微软雅黑" panose="020B0503020204020204" pitchFamily="34" charset="-122"/>
                    <a:ea typeface="微软雅黑" panose="020B0503020204020204" pitchFamily="34" charset="-122"/>
                  </a:rPr>
                  <a:t>称为回归矩阵，</a:t>
                </a:r>
                <a:r>
                  <a:rPr lang="zh-CN" altLang="zh-CN" sz="2400" b="1" dirty="0">
                    <a:latin typeface="微软雅黑" panose="020B0503020204020204" pitchFamily="34" charset="-122"/>
                    <a:ea typeface="微软雅黑" panose="020B0503020204020204" pitchFamily="34" charset="-122"/>
                  </a:rPr>
                  <a:t>其为机器人关节实际和期望的位置、速度和加速度的已知函数，</a:t>
                </a:r>
                <a:r>
                  <a:rPr lang="zh-CN" altLang="en-US" sz="2400" b="1" dirty="0">
                    <a:solidFill>
                      <a:srgbClr val="000000"/>
                    </a:solidFill>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𝒑</m:t>
                        </m:r>
                      </m:e>
                      <m:sub>
                        <m:r>
                          <a:rPr lang="zh-CN" altLang="en-US" sz="2400" b="1" i="1">
                            <a:solidFill>
                              <a:srgbClr val="000000"/>
                            </a:solidFill>
                            <a:latin typeface="Cambria Math" panose="02040503050406030204" pitchFamily="18" charset="0"/>
                          </a:rPr>
                          <m:t>𝟎</m:t>
                        </m:r>
                      </m:sub>
                    </m:sSub>
                  </m:oMath>
                </a14:m>
                <a:r>
                  <a:rPr lang="zh-CN" altLang="zh-CN" sz="2400" b="1" dirty="0">
                    <a:latin typeface="微软雅黑" panose="020B0503020204020204" pitchFamily="34" charset="-122"/>
                    <a:ea typeface="微软雅黑" panose="020B0503020204020204" pitchFamily="34" charset="-122"/>
                  </a:rPr>
                  <a:t>为恒定的未知参数。</a:t>
                </a:r>
                <a:endParaRPr lang="zh-CN" altLang="en-US" sz="2400" b="1" dirty="0">
                  <a:latin typeface="微软雅黑" panose="020B0503020204020204" pitchFamily="34" charset="-122"/>
                  <a:ea typeface="微软雅黑" panose="020B0503020204020204" pitchFamily="34" charset="-122"/>
                </a:endParaRPr>
              </a:p>
            </p:txBody>
          </p:sp>
        </mc:Choice>
        <mc:Fallback xmlns="">
          <p:sp>
            <p:nvSpPr>
              <p:cNvPr id="14" name="文本框 13">
                <a:extLst>
                  <a:ext uri="{FF2B5EF4-FFF2-40B4-BE49-F238E27FC236}">
                    <a16:creationId xmlns:a16="http://schemas.microsoft.com/office/drawing/2014/main" id="{1DDAD14E-7B43-9150-FF95-CD23E57296A5}"/>
                  </a:ext>
                </a:extLst>
              </p:cNvPr>
              <p:cNvSpPr txBox="1">
                <a:spLocks noRot="1" noChangeAspect="1" noMove="1" noResize="1" noEditPoints="1" noAdjustHandles="1" noChangeArrowheads="1" noChangeShapeType="1" noTextEdit="1"/>
              </p:cNvSpPr>
              <p:nvPr/>
            </p:nvSpPr>
            <p:spPr>
              <a:xfrm>
                <a:off x="1107281" y="4975222"/>
                <a:ext cx="9377362" cy="848117"/>
              </a:xfrm>
              <a:prstGeom prst="rect">
                <a:avLst/>
              </a:prstGeom>
              <a:blipFill>
                <a:blip r:embed="rId6"/>
                <a:stretch>
                  <a:fillRect l="-1040" t="-3597" r="-65" b="-15827"/>
                </a:stretch>
              </a:blipFill>
            </p:spPr>
            <p:txBody>
              <a:bodyPr/>
              <a:lstStyle/>
              <a:p>
                <a:r>
                  <a:rPr lang="zh-CN" altLang="en-US">
                    <a:noFill/>
                  </a:rPr>
                  <a:t> </a:t>
                </a:r>
              </a:p>
            </p:txBody>
          </p:sp>
        </mc:Fallback>
      </mc:AlternateContent>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EDEA94D-9E3C-19BB-EE3B-927ECFBEECFE}"/>
              </a:ext>
            </a:extLst>
          </p:cNvPr>
          <p:cNvSpPr txBox="1"/>
          <p:nvPr>
            <p:custDataLst>
              <p:tags r:id="rId1"/>
            </p:custDataLst>
          </p:nvPr>
        </p:nvSpPr>
        <p:spPr>
          <a:xfrm>
            <a:off x="1357313" y="128685"/>
            <a:ext cx="8158162"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7.2.2</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 机器人控制方法和控制器设计</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4E826339-B181-3F66-BC54-AEF694FA88F5}"/>
                  </a:ext>
                </a:extLst>
              </p:cNvPr>
              <p:cNvSpPr txBox="1"/>
              <p:nvPr/>
            </p:nvSpPr>
            <p:spPr>
              <a:xfrm>
                <a:off x="1443037" y="1606034"/>
                <a:ext cx="8605837" cy="1264962"/>
              </a:xfrm>
              <a:prstGeom prst="rect">
                <a:avLst/>
              </a:prstGeom>
              <a:noFill/>
            </p:spPr>
            <p:txBody>
              <a:bodyPr wrap="square">
                <a:spAutoFit/>
              </a:bodyPr>
              <a:lstStyle/>
              <a:p>
                <a:r>
                  <a:rPr lang="en-US"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基于上述的参数线性化特性，设</a:t>
                </a:r>
                <a14:m>
                  <m:oMath xmlns:m="http://schemas.openxmlformats.org/officeDocument/2006/math">
                    <m:acc>
                      <m:accPr>
                        <m:chr m:val="̂"/>
                        <m:ctrlPr>
                          <a:rPr lang="zh-CN" altLang="en-US" sz="2400" b="1" i="1" smtClean="0">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𝑴</m:t>
                        </m:r>
                      </m:e>
                    </m:acc>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𝜽</m:t>
                    </m:r>
                    <m:r>
                      <a:rPr lang="zh-CN" altLang="en-US" sz="2400" b="1" i="1">
                        <a:solidFill>
                          <a:srgbClr val="000000"/>
                        </a:solidFill>
                        <a:latin typeface="Cambria Math" panose="02040503050406030204" pitchFamily="18" charset="0"/>
                      </a:rPr>
                      <m:t>)</m:t>
                    </m:r>
                    <m:r>
                      <a:rPr lang="zh-CN" altLang="en-US" sz="2400" b="1" i="1" smtClean="0">
                        <a:solidFill>
                          <a:srgbClr val="000000"/>
                        </a:solidFill>
                        <a:latin typeface="Cambria Math" panose="02040503050406030204" pitchFamily="18" charset="0"/>
                      </a:rPr>
                      <m:t>、</m:t>
                    </m:r>
                  </m:oMath>
                </a14:m>
                <a:r>
                  <a:rPr lang="zh-CN" altLang="en-US" sz="2400" b="1" dirty="0">
                    <a:solidFill>
                      <a:srgbClr val="000000"/>
                    </a:solidFill>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𝑪</m:t>
                        </m:r>
                      </m:e>
                    </m:acc>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𝜽</m:t>
                    </m:r>
                    <m:r>
                      <a:rPr lang="zh-CN" altLang="en-US" sz="2400" b="1" i="1">
                        <a:solidFill>
                          <a:srgbClr val="000000"/>
                        </a:solidFill>
                        <a:latin typeface="Cambria Math" panose="02040503050406030204" pitchFamily="18" charset="0"/>
                      </a:rPr>
                      <m:t>,</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m:t>
                    </m:r>
                  </m:oMath>
                </a14:m>
                <a:r>
                  <a:rPr lang="zh-CN" altLang="en-US" sz="2400" b="1" dirty="0">
                    <a:solidFill>
                      <a:srgbClr val="000000"/>
                    </a:solidFill>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𝑮</m:t>
                        </m:r>
                      </m:e>
                    </m:acc>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𝜽</m:t>
                    </m:r>
                    <m:r>
                      <a:rPr lang="zh-CN" altLang="en-US" sz="2400" b="1" i="1">
                        <a:solidFill>
                          <a:srgbClr val="000000"/>
                        </a:solidFill>
                        <a:latin typeface="Cambria Math" panose="02040503050406030204" pitchFamily="18" charset="0"/>
                      </a:rPr>
                      <m:t>)</m:t>
                    </m:r>
                  </m:oMath>
                </a14:m>
                <a:r>
                  <a:rPr lang="zh-CN" altLang="en-US" sz="2400" b="1" dirty="0">
                    <a:latin typeface="微软雅黑" panose="020B0503020204020204" pitchFamily="34" charset="-122"/>
                    <a:ea typeface="微软雅黑" panose="020B0503020204020204" pitchFamily="34" charset="-122"/>
                  </a:rPr>
                  <a:t>相应是</a:t>
                </a:r>
                <a14:m>
                  <m:oMath xmlns:m="http://schemas.openxmlformats.org/officeDocument/2006/math">
                    <m:r>
                      <a:rPr lang="zh-CN" altLang="en-US" sz="2400" b="1" i="1">
                        <a:solidFill>
                          <a:srgbClr val="000000"/>
                        </a:solidFill>
                        <a:latin typeface="Cambria Math" panose="02040503050406030204" pitchFamily="18" charset="0"/>
                      </a:rPr>
                      <m:t>𝑴</m:t>
                    </m:r>
                    <m:d>
                      <m:dPr>
                        <m:ctrlPr>
                          <a:rPr lang="zh-CN" altLang="en-US" sz="2400" b="1" i="1">
                            <a:solidFill>
                              <a:srgbClr val="000000"/>
                            </a:solidFill>
                            <a:latin typeface="Cambria Math" panose="02040503050406030204" pitchFamily="18" charset="0"/>
                          </a:rPr>
                        </m:ctrlPr>
                      </m:dPr>
                      <m:e>
                        <m:r>
                          <a:rPr lang="zh-CN" altLang="en-US" sz="2400" b="1" i="1">
                            <a:solidFill>
                              <a:srgbClr val="000000"/>
                            </a:solidFill>
                            <a:latin typeface="Cambria Math" panose="02040503050406030204" pitchFamily="18" charset="0"/>
                          </a:rPr>
                          <m:t>𝜽</m:t>
                        </m:r>
                      </m:e>
                    </m:d>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𝑪</m:t>
                    </m:r>
                    <m:d>
                      <m:dPr>
                        <m:ctrlPr>
                          <a:rPr lang="zh-CN" altLang="en-US" sz="2400" b="1" i="1">
                            <a:solidFill>
                              <a:srgbClr val="000000"/>
                            </a:solidFill>
                            <a:latin typeface="Cambria Math" panose="02040503050406030204" pitchFamily="18" charset="0"/>
                          </a:rPr>
                        </m:ctrlPr>
                      </m:dPr>
                      <m:e>
                        <m:r>
                          <a:rPr lang="zh-CN" altLang="en-US" sz="2400" b="1" i="1">
                            <a:solidFill>
                              <a:srgbClr val="000000"/>
                            </a:solidFill>
                            <a:latin typeface="Cambria Math" panose="02040503050406030204" pitchFamily="18" charset="0"/>
                          </a:rPr>
                          <m:t>𝜽</m:t>
                        </m:r>
                        <m:r>
                          <a:rPr lang="zh-CN" altLang="en-US" sz="2400" b="1" i="1">
                            <a:solidFill>
                              <a:srgbClr val="000000"/>
                            </a:solidFill>
                            <a:latin typeface="Cambria Math" panose="02040503050406030204" pitchFamily="18" charset="0"/>
                          </a:rPr>
                          <m:t>,</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d>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𝑮</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𝜽</m:t>
                    </m:r>
                    <m:r>
                      <a:rPr lang="zh-CN" altLang="en-US" sz="2400" b="1" i="1">
                        <a:solidFill>
                          <a:srgbClr val="000000"/>
                        </a:solidFill>
                        <a:latin typeface="Cambria Math" panose="02040503050406030204" pitchFamily="18" charset="0"/>
                      </a:rPr>
                      <m:t>)</m:t>
                    </m:r>
                  </m:oMath>
                </a14:m>
                <a:r>
                  <a:rPr lang="zh-CN" altLang="en-US" sz="2400" b="1" dirty="0">
                    <a:latin typeface="微软雅黑" panose="020B0503020204020204" pitchFamily="34" charset="-122"/>
                    <a:ea typeface="微软雅黑" panose="020B0503020204020204" pitchFamily="34" charset="-122"/>
                  </a:rPr>
                  <a:t>的估计值</a:t>
                </a:r>
                <a:r>
                  <a:rPr lang="zh-CN" altLang="zh-CN" sz="2400" b="1" dirty="0">
                    <a:latin typeface="微软雅黑" panose="020B0503020204020204" pitchFamily="34" charset="-122"/>
                    <a:ea typeface="微软雅黑" panose="020B0503020204020204" pitchFamily="34" charset="-122"/>
                  </a:rPr>
                  <a:t>则自适应轨迹跟踪控制律可设计为</a:t>
                </a:r>
                <a:endParaRPr lang="zh-CN" altLang="en-US" sz="2400" b="1" dirty="0">
                  <a:latin typeface="微软雅黑" panose="020B0503020204020204" pitchFamily="34" charset="-122"/>
                  <a:ea typeface="微软雅黑" panose="020B0503020204020204" pitchFamily="34" charset="-122"/>
                </a:endParaRPr>
              </a:p>
            </p:txBody>
          </p:sp>
        </mc:Choice>
        <mc:Fallback xmlns="">
          <p:sp>
            <p:nvSpPr>
              <p:cNvPr id="4" name="文本框 3">
                <a:extLst>
                  <a:ext uri="{FF2B5EF4-FFF2-40B4-BE49-F238E27FC236}">
                    <a16:creationId xmlns:a16="http://schemas.microsoft.com/office/drawing/2014/main" id="{4E826339-B181-3F66-BC54-AEF694FA88F5}"/>
                  </a:ext>
                </a:extLst>
              </p:cNvPr>
              <p:cNvSpPr txBox="1">
                <a:spLocks noRot="1" noChangeAspect="1" noMove="1" noResize="1" noEditPoints="1" noAdjustHandles="1" noChangeArrowheads="1" noChangeShapeType="1" noTextEdit="1"/>
              </p:cNvSpPr>
              <p:nvPr/>
            </p:nvSpPr>
            <p:spPr>
              <a:xfrm>
                <a:off x="1443037" y="1606034"/>
                <a:ext cx="8605837" cy="1264962"/>
              </a:xfrm>
              <a:prstGeom prst="rect">
                <a:avLst/>
              </a:prstGeom>
              <a:blipFill>
                <a:blip r:embed="rId3"/>
                <a:stretch>
                  <a:fillRect l="-1134" t="-2404" b="-100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对象 8">
                <a:extLst>
                  <a:ext uri="{FF2B5EF4-FFF2-40B4-BE49-F238E27FC236}">
                    <a16:creationId xmlns:a16="http://schemas.microsoft.com/office/drawing/2014/main" id="{466CF1AA-ED23-0E14-0FAF-EEE21A737431}"/>
                  </a:ext>
                </a:extLst>
              </p:cNvPr>
              <p:cNvSpPr txBox="1"/>
              <p:nvPr/>
            </p:nvSpPr>
            <p:spPr bwMode="auto">
              <a:xfrm>
                <a:off x="1157287" y="2946512"/>
                <a:ext cx="9877425" cy="807243"/>
              </a:xfrm>
              <a:prstGeom prst="rect">
                <a:avLst/>
              </a:prstGeom>
              <a:solidFill>
                <a:schemeClr val="bg1"/>
              </a:solidFill>
              <a:ln>
                <a:solidFill>
                  <a:schemeClr val="bg1"/>
                </a:solidFill>
              </a:ln>
            </p:spPr>
            <p:txBody>
              <a:bodyPr>
                <a:noAutofit/>
              </a:bodyPr>
              <a:lstStyle/>
              <a:p>
                <a14:m>
                  <m:oMath xmlns:m="http://schemas.openxmlformats.org/officeDocument/2006/math">
                    <m:r>
                      <a:rPr lang="zh-CN" altLang="en-US" sz="2400" b="1" i="1">
                        <a:solidFill>
                          <a:srgbClr val="000000"/>
                        </a:solidFill>
                        <a:latin typeface="Cambria Math" panose="02040503050406030204" pitchFamily="18" charset="0"/>
                      </a:rPr>
                      <m:t>𝝉</m:t>
                    </m:r>
                    <m:r>
                      <a:rPr lang="zh-CN" altLang="en-US" sz="2400" b="1" i="1">
                        <a:solidFill>
                          <a:srgbClr val="000000"/>
                        </a:solidFill>
                        <a:latin typeface="Cambria Math" panose="02040503050406030204" pitchFamily="18" charset="0"/>
                      </a:rPr>
                      <m:t>=</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𝑴</m:t>
                        </m:r>
                      </m:e>
                    </m:acc>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𝜽</m:t>
                    </m:r>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b>
                        <m:r>
                          <a:rPr lang="zh-CN" altLang="en-US" sz="2400" b="1" i="1">
                            <a:solidFill>
                              <a:srgbClr val="000000"/>
                            </a:solidFill>
                            <a:latin typeface="Cambria Math" panose="02040503050406030204" pitchFamily="18" charset="0"/>
                          </a:rPr>
                          <m:t>𝒓</m:t>
                        </m:r>
                      </m:sub>
                    </m:sSub>
                    <m:r>
                      <a:rPr lang="zh-CN" altLang="en-US" sz="2400" b="1" i="1">
                        <a:solidFill>
                          <a:srgbClr val="000000"/>
                        </a:solidFill>
                        <a:latin typeface="Cambria Math" panose="02040503050406030204" pitchFamily="18" charset="0"/>
                      </a:rPr>
                      <m:t>+</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𝑪</m:t>
                        </m:r>
                      </m:e>
                    </m:acc>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𝜽</m:t>
                    </m:r>
                    <m:r>
                      <a:rPr lang="zh-CN" altLang="en-US" sz="2400" b="1" i="1">
                        <a:solidFill>
                          <a:srgbClr val="000000"/>
                        </a:solidFill>
                        <a:latin typeface="Cambria Math" panose="02040503050406030204" pitchFamily="18" charset="0"/>
                      </a:rPr>
                      <m:t>,</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b>
                        <m:r>
                          <a:rPr lang="zh-CN" altLang="en-US" sz="2400" b="1" i="1">
                            <a:solidFill>
                              <a:srgbClr val="000000"/>
                            </a:solidFill>
                            <a:latin typeface="Cambria Math" panose="02040503050406030204" pitchFamily="18" charset="0"/>
                          </a:rPr>
                          <m:t>𝒓</m:t>
                        </m:r>
                      </m:sub>
                    </m:sSub>
                    <m:r>
                      <a:rPr lang="zh-CN" altLang="en-US" sz="2400" b="1" i="1">
                        <a:solidFill>
                          <a:srgbClr val="000000"/>
                        </a:solidFill>
                        <a:latin typeface="Cambria Math" panose="02040503050406030204" pitchFamily="18" charset="0"/>
                      </a:rPr>
                      <m:t>+</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𝑮</m:t>
                        </m:r>
                      </m:e>
                    </m:acc>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𝜽</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𝑲𝒔</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𝒀</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𝜽</m:t>
                    </m:r>
                    <m:r>
                      <a:rPr lang="zh-CN" altLang="en-US" sz="2400" b="1" i="1">
                        <a:solidFill>
                          <a:srgbClr val="000000"/>
                        </a:solidFill>
                        <a:latin typeface="Cambria Math" panose="02040503050406030204" pitchFamily="18" charset="0"/>
                      </a:rPr>
                      <m:t>,</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b>
                        <m:r>
                          <a:rPr lang="zh-CN" altLang="en-US" sz="2400" b="1" i="1">
                            <a:solidFill>
                              <a:srgbClr val="000000"/>
                            </a:solidFill>
                            <a:latin typeface="Cambria Math" panose="02040503050406030204" pitchFamily="18" charset="0"/>
                          </a:rPr>
                          <m:t>𝒓</m:t>
                        </m:r>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b>
                        <m:r>
                          <a:rPr lang="zh-CN" altLang="en-US" sz="2400" b="1" i="1">
                            <a:solidFill>
                              <a:srgbClr val="000000"/>
                            </a:solidFill>
                            <a:latin typeface="Cambria Math" panose="02040503050406030204" pitchFamily="18" charset="0"/>
                          </a:rPr>
                          <m:t>𝒓</m:t>
                        </m:r>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𝒑</m:t>
                            </m:r>
                          </m:e>
                        </m:acc>
                      </m:e>
                      <m:sub>
                        <m:r>
                          <a:rPr lang="zh-CN" altLang="en-US" sz="2400" b="1" i="1">
                            <a:solidFill>
                              <a:srgbClr val="000000"/>
                            </a:solidFill>
                            <a:latin typeface="Cambria Math" panose="02040503050406030204" pitchFamily="18" charset="0"/>
                          </a:rPr>
                          <m:t>𝟎</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𝑲𝒔</m:t>
                    </m:r>
                  </m:oMath>
                </a14:m>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7.17</a:t>
                </a:r>
                <a:r>
                  <a:rPr lang="zh-CN" altLang="en-US" sz="2400" b="1" dirty="0">
                    <a:latin typeface="微软雅黑" panose="020B0503020204020204" pitchFamily="34" charset="-122"/>
                    <a:ea typeface="微软雅黑" panose="020B0503020204020204" pitchFamily="34" charset="-122"/>
                  </a:rPr>
                  <a:t>）         </a:t>
                </a:r>
              </a:p>
            </p:txBody>
          </p:sp>
        </mc:Choice>
        <mc:Fallback xmlns="">
          <p:sp>
            <p:nvSpPr>
              <p:cNvPr id="8" name="对象 8">
                <a:extLst>
                  <a:ext uri="{FF2B5EF4-FFF2-40B4-BE49-F238E27FC236}">
                    <a16:creationId xmlns:a16="http://schemas.microsoft.com/office/drawing/2014/main" id="{466CF1AA-ED23-0E14-0FAF-EEE21A737431}"/>
                  </a:ext>
                </a:extLst>
              </p:cNvPr>
              <p:cNvSpPr txBox="1">
                <a:spLocks noRot="1" noChangeAspect="1" noMove="1" noResize="1" noEditPoints="1" noAdjustHandles="1" noChangeArrowheads="1" noChangeShapeType="1" noTextEdit="1"/>
              </p:cNvSpPr>
              <p:nvPr/>
            </p:nvSpPr>
            <p:spPr bwMode="auto">
              <a:xfrm>
                <a:off x="1157287" y="2946512"/>
                <a:ext cx="9877425" cy="807243"/>
              </a:xfrm>
              <a:prstGeom prst="rect">
                <a:avLst/>
              </a:prstGeom>
              <a:blipFill>
                <a:blip r:embed="rId4"/>
                <a:stretch>
                  <a:fillRect t="-2963" r="-3946"/>
                </a:stretch>
              </a:blipFill>
              <a:ln>
                <a:solidFill>
                  <a:schemeClr val="bg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4F5C981F-D16A-0734-7DDF-B42379D9BCB4}"/>
                  </a:ext>
                </a:extLst>
              </p:cNvPr>
              <p:cNvSpPr txBox="1"/>
              <p:nvPr/>
            </p:nvSpPr>
            <p:spPr>
              <a:xfrm>
                <a:off x="1443037" y="3568406"/>
                <a:ext cx="6124574" cy="738664"/>
              </a:xfrm>
              <a:prstGeom prst="rect">
                <a:avLst/>
              </a:prstGeom>
              <a:noFill/>
            </p:spPr>
            <p:txBody>
              <a:bodyPr wrap="square">
                <a:spAutoFit/>
              </a:bodyPr>
              <a:lstStyle/>
              <a:p>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其中，</a:t>
                </a:r>
                <a14:m>
                  <m:oMath xmlns:m="http://schemas.openxmlformats.org/officeDocument/2006/math">
                    <m:r>
                      <a:rPr lang="zh-CN" altLang="en-US" sz="2400" b="1" i="1" smtClean="0">
                        <a:solidFill>
                          <a:srgbClr val="000000"/>
                        </a:solidFill>
                        <a:latin typeface="Cambria Math" panose="02040503050406030204" pitchFamily="18" charset="0"/>
                      </a:rPr>
                      <m:t>𝒔</m:t>
                    </m:r>
                  </m:oMath>
                </a14:m>
                <a:r>
                  <a:rPr lang="zh-CN" altLang="en-US" sz="2400" b="1" dirty="0">
                    <a:latin typeface="微软雅黑" panose="020B0503020204020204" pitchFamily="34" charset="-122"/>
                    <a:ea typeface="微软雅黑" panose="020B0503020204020204" pitchFamily="34" charset="-122"/>
                  </a:rPr>
                  <a:t>为跟踪滤波误差</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滑模向量</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，定义为</a:t>
                </a:r>
                <a:endParaRPr lang="en-US" altLang="zh-CN" sz="2400" b="1" dirty="0">
                  <a:latin typeface="微软雅黑" panose="020B0503020204020204" pitchFamily="34" charset="-122"/>
                  <a:ea typeface="微软雅黑" panose="020B0503020204020204" pitchFamily="34" charset="-122"/>
                </a:endParaRPr>
              </a:p>
              <a:p>
                <a:endParaRPr lang="zh-CN" altLang="en-US" dirty="0"/>
              </a:p>
            </p:txBody>
          </p:sp>
        </mc:Choice>
        <mc:Fallback xmlns="">
          <p:sp>
            <p:nvSpPr>
              <p:cNvPr id="15" name="文本框 14">
                <a:extLst>
                  <a:ext uri="{FF2B5EF4-FFF2-40B4-BE49-F238E27FC236}">
                    <a16:creationId xmlns:a16="http://schemas.microsoft.com/office/drawing/2014/main" id="{4F5C981F-D16A-0734-7DDF-B42379D9BCB4}"/>
                  </a:ext>
                </a:extLst>
              </p:cNvPr>
              <p:cNvSpPr txBox="1">
                <a:spLocks noRot="1" noChangeAspect="1" noMove="1" noResize="1" noEditPoints="1" noAdjustHandles="1" noChangeArrowheads="1" noChangeShapeType="1" noTextEdit="1"/>
              </p:cNvSpPr>
              <p:nvPr/>
            </p:nvSpPr>
            <p:spPr>
              <a:xfrm>
                <a:off x="1443037" y="3568406"/>
                <a:ext cx="6124574" cy="738664"/>
              </a:xfrm>
              <a:prstGeom prst="rect">
                <a:avLst/>
              </a:prstGeom>
              <a:blipFill>
                <a:blip r:embed="rId5"/>
                <a:stretch>
                  <a:fillRect l="-1594" t="-6557" r="-39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对象 13">
                <a:extLst>
                  <a:ext uri="{FF2B5EF4-FFF2-40B4-BE49-F238E27FC236}">
                    <a16:creationId xmlns:a16="http://schemas.microsoft.com/office/drawing/2014/main" id="{19F382C5-9B9F-69AB-640A-5AC3B637491D}"/>
                  </a:ext>
                </a:extLst>
              </p:cNvPr>
              <p:cNvSpPr txBox="1"/>
              <p:nvPr/>
            </p:nvSpPr>
            <p:spPr bwMode="auto">
              <a:xfrm>
                <a:off x="2828925" y="4152437"/>
                <a:ext cx="8648699" cy="390987"/>
              </a:xfrm>
              <a:prstGeom prst="rect">
                <a:avLst/>
              </a:prstGeom>
              <a:solidFill>
                <a:schemeClr val="bg1"/>
              </a:solidFill>
              <a:ln>
                <a:solidFill>
                  <a:schemeClr val="bg1"/>
                </a:solidFill>
              </a:ln>
            </p:spPr>
            <p:txBody>
              <a:bodyPr>
                <a:noAutofit/>
              </a:bodyPr>
              <a:lstStyle/>
              <a:p>
                <a14:m>
                  <m:oMath xmlns:m="http://schemas.openxmlformats.org/officeDocument/2006/math">
                    <m:r>
                      <a:rPr lang="zh-CN" altLang="en-US" sz="2400" b="1" i="1">
                        <a:solidFill>
                          <a:srgbClr val="000000"/>
                        </a:solidFill>
                        <a:latin typeface="Cambria Math" panose="02040503050406030204" pitchFamily="18" charset="0"/>
                      </a:rPr>
                      <m:t>𝒔</m:t>
                    </m:r>
                    <m:r>
                      <a:rPr lang="zh-CN" altLang="en-US" sz="2400" b="1" i="1">
                        <a:solidFill>
                          <a:srgbClr val="000000"/>
                        </a:solidFill>
                        <a:latin typeface="Cambria Math" panose="02040503050406030204" pitchFamily="18" charset="0"/>
                      </a:rPr>
                      <m:t>=</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𝒆</m:t>
                        </m:r>
                      </m:e>
                    </m:acc>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𝝀</m:t>
                    </m:r>
                    <m:r>
                      <a:rPr lang="zh-CN" altLang="en-US" sz="2400" b="1" i="1">
                        <a:solidFill>
                          <a:srgbClr val="000000"/>
                        </a:solidFill>
                        <a:latin typeface="Cambria Math" panose="02040503050406030204" pitchFamily="18" charset="0"/>
                      </a:rPr>
                      <m:t>𝒆</m:t>
                    </m:r>
                  </m:oMath>
                </a14:m>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7.18</a:t>
                </a:r>
                <a:r>
                  <a:rPr lang="zh-CN" altLang="en-US" sz="2400" b="1" dirty="0">
                    <a:latin typeface="微软雅黑" panose="020B0503020204020204" pitchFamily="34" charset="-122"/>
                    <a:ea typeface="微软雅黑" panose="020B0503020204020204" pitchFamily="34" charset="-122"/>
                  </a:rPr>
                  <a:t>） </a:t>
                </a:r>
              </a:p>
            </p:txBody>
          </p:sp>
        </mc:Choice>
        <mc:Fallback xmlns="">
          <p:sp>
            <p:nvSpPr>
              <p:cNvPr id="22" name="对象 13">
                <a:extLst>
                  <a:ext uri="{FF2B5EF4-FFF2-40B4-BE49-F238E27FC236}">
                    <a16:creationId xmlns:a16="http://schemas.microsoft.com/office/drawing/2014/main" id="{19F382C5-9B9F-69AB-640A-5AC3B637491D}"/>
                  </a:ext>
                </a:extLst>
              </p:cNvPr>
              <p:cNvSpPr txBox="1">
                <a:spLocks noRot="1" noChangeAspect="1" noMove="1" noResize="1" noEditPoints="1" noAdjustHandles="1" noChangeArrowheads="1" noChangeShapeType="1" noTextEdit="1"/>
              </p:cNvSpPr>
              <p:nvPr/>
            </p:nvSpPr>
            <p:spPr bwMode="auto">
              <a:xfrm>
                <a:off x="2828925" y="4152437"/>
                <a:ext cx="8648699" cy="390987"/>
              </a:xfrm>
              <a:prstGeom prst="rect">
                <a:avLst/>
              </a:prstGeom>
              <a:blipFill>
                <a:blip r:embed="rId6"/>
                <a:stretch>
                  <a:fillRect t="-10606" b="-50000"/>
                </a:stretch>
              </a:blipFill>
              <a:ln>
                <a:solidFill>
                  <a:schemeClr val="bg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973FA534-B876-3938-8230-B77A02A59307}"/>
                  </a:ext>
                </a:extLst>
              </p:cNvPr>
              <p:cNvSpPr txBox="1"/>
              <p:nvPr/>
            </p:nvSpPr>
            <p:spPr>
              <a:xfrm>
                <a:off x="1443037" y="4705752"/>
                <a:ext cx="10034587" cy="1572225"/>
              </a:xfrm>
              <a:prstGeom prst="rect">
                <a:avLst/>
              </a:prstGeom>
              <a:noFill/>
            </p:spPr>
            <p:txBody>
              <a:bodyPr wrap="square" rtlCol="0">
                <a:spAutoFit/>
              </a:bodyPr>
              <a:lstStyle/>
              <a:p>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其中</a:t>
                </a:r>
                <a14:m>
                  <m:oMath xmlns:m="http://schemas.openxmlformats.org/officeDocument/2006/math">
                    <m:r>
                      <a:rPr lang="zh-CN" altLang="zh-CN" sz="2400" b="1" i="1" kern="1000" smtClean="0">
                        <a:effectLst/>
                        <a:latin typeface="Cambria Math" panose="02040503050406030204" pitchFamily="18" charset="0"/>
                      </a:rPr>
                      <m:t>ⅇ</m:t>
                    </m:r>
                  </m:oMath>
                </a14:m>
                <a:r>
                  <a:rPr lang="en-US" altLang="zh-CN" sz="2400" b="1" dirty="0">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dirty="0" smtClean="0">
                        <a:latin typeface="Cambria Math" panose="02040503050406030204" pitchFamily="18" charset="0"/>
                      </a:rPr>
                      <m:t>𝜽</m:t>
                    </m:r>
                  </m:oMath>
                </a14:m>
                <a:r>
                  <a:rPr lang="en-US" altLang="zh-CN" sz="2400" b="1" dirty="0">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sz="2400" b="1" i="1" dirty="0" smtClean="0">
                            <a:latin typeface="Cambria Math" panose="02040503050406030204" pitchFamily="18" charset="0"/>
                          </a:rPr>
                        </m:ctrlPr>
                      </m:sSubPr>
                      <m:e>
                        <m:r>
                          <a:rPr lang="en-US" altLang="zh-CN" sz="2400" b="1" i="1" dirty="0">
                            <a:latin typeface="Cambria Math" panose="02040503050406030204" pitchFamily="18" charset="0"/>
                          </a:rPr>
                          <m:t>𝜽</m:t>
                        </m:r>
                      </m:e>
                      <m:sub>
                        <m:r>
                          <a:rPr lang="en-US" altLang="zh-CN" sz="2400" b="1" i="1" dirty="0">
                            <a:latin typeface="Cambria Math" panose="02040503050406030204" pitchFamily="18" charset="0"/>
                          </a:rPr>
                          <m:t>𝒅</m:t>
                        </m:r>
                      </m:sub>
                    </m:sSub>
                    <m:r>
                      <a:rPr lang="zh-CN" altLang="en-US" sz="2400" b="1" i="1" dirty="0">
                        <a:latin typeface="Cambria Math" panose="02040503050406030204" pitchFamily="18" charset="0"/>
                      </a:rPr>
                      <m:t>，</m:t>
                    </m:r>
                    <m:r>
                      <a:rPr lang="zh-CN" altLang="en-US" sz="2400" b="1" i="1">
                        <a:solidFill>
                          <a:srgbClr val="000000"/>
                        </a:solidFill>
                        <a:latin typeface="Cambria Math" panose="02040503050406030204" pitchFamily="18" charset="0"/>
                      </a:rPr>
                      <m:t>𝑲</m:t>
                    </m:r>
                  </m:oMath>
                </a14:m>
                <a:r>
                  <a:rPr lang="zh-CN" altLang="zh-CN" sz="2400" b="1" dirty="0">
                    <a:latin typeface="微软雅黑" panose="020B0503020204020204" pitchFamily="34" charset="-122"/>
                    <a:ea typeface="微软雅黑" panose="020B0503020204020204" pitchFamily="34" charset="-122"/>
                  </a:rPr>
                  <a:t>是对角常数矩阵</a:t>
                </a:r>
                <a:r>
                  <a:rPr lang="zh-CN" altLang="en-US" sz="2400" b="1" dirty="0">
                    <a:latin typeface="微软雅黑" panose="020B0503020204020204" pitchFamily="34" charset="-122"/>
                    <a:ea typeface="微软雅黑" panose="020B0503020204020204" pitchFamily="34" charset="-122"/>
                  </a:rPr>
                  <a:t>，</a:t>
                </a:r>
                <a14:m>
                  <m:oMath xmlns:m="http://schemas.openxmlformats.org/officeDocument/2006/math">
                    <m:r>
                      <a:rPr lang="zh-CN" altLang="en-US" sz="2400" b="1" i="1">
                        <a:solidFill>
                          <a:srgbClr val="000000"/>
                        </a:solidFill>
                        <a:latin typeface="Cambria Math" panose="02040503050406030204" pitchFamily="18" charset="0"/>
                      </a:rPr>
                      <m:t>𝝀</m:t>
                    </m:r>
                  </m:oMath>
                </a14:m>
                <a:r>
                  <a:rPr lang="zh-CN" altLang="zh-CN" sz="2400" b="1" dirty="0">
                    <a:latin typeface="微软雅黑" panose="020B0503020204020204" pitchFamily="34" charset="-122"/>
                    <a:ea typeface="微软雅黑" panose="020B0503020204020204" pitchFamily="34" charset="-122"/>
                  </a:rPr>
                  <a:t>是正常数。</a:t>
                </a:r>
                <a:r>
                  <a:rPr lang="zh-CN" altLang="en-US" sz="2400" b="1" dirty="0">
                    <a:latin typeface="微软雅黑" panose="020B0503020204020204" pitchFamily="34" charset="-122"/>
                    <a:ea typeface="微软雅黑" panose="020B0503020204020204" pitchFamily="34" charset="-122"/>
                  </a:rPr>
                  <a:t>当</a:t>
                </a:r>
                <a14:m>
                  <m:oMath xmlns:m="http://schemas.openxmlformats.org/officeDocument/2006/math">
                    <m:r>
                      <a:rPr lang="en-US" altLang="zh-CN" sz="2400" b="1" i="1" smtClean="0">
                        <a:latin typeface="Cambria Math" panose="02040503050406030204" pitchFamily="18" charset="0"/>
                      </a:rPr>
                      <m:t>𝒕</m:t>
                    </m:r>
                    <m:r>
                      <a:rPr lang="en-US" altLang="zh-CN" sz="2400" b="1" i="1" smtClean="0">
                        <a:latin typeface="Cambria Math" panose="02040503050406030204" pitchFamily="18" charset="0"/>
                        <a:ea typeface="Cambria Math" panose="02040503050406030204" pitchFamily="18" charset="0"/>
                      </a:rPr>
                      <m:t>→∞</m:t>
                    </m:r>
                  </m:oMath>
                </a14:m>
                <a:r>
                  <a:rPr lang="zh-CN" altLang="en-US" sz="2400" b="1" dirty="0">
                    <a:latin typeface="微软雅黑" panose="020B0503020204020204" pitchFamily="34" charset="-122"/>
                    <a:ea typeface="微软雅黑" panose="020B0503020204020204" pitchFamily="34" charset="-122"/>
                  </a:rPr>
                  <a:t>时，</a:t>
                </a:r>
                <a:r>
                  <a:rPr lang="zh-CN" altLang="zh-CN" sz="2400" b="1" dirty="0">
                    <a:latin typeface="微软雅黑" panose="020B0503020204020204" pitchFamily="34" charset="-122"/>
                    <a:ea typeface="微软雅黑" panose="020B0503020204020204" pitchFamily="34" charset="-122"/>
                  </a:rPr>
                  <a:t>有</a:t>
                </a:r>
                <a14:m>
                  <m:oMath xmlns:m="http://schemas.openxmlformats.org/officeDocument/2006/math">
                    <m:r>
                      <a:rPr lang="zh-CN" altLang="en-US" sz="2400" b="1" i="1">
                        <a:solidFill>
                          <a:srgbClr val="000000"/>
                        </a:solidFill>
                        <a:latin typeface="Cambria Math" panose="02040503050406030204" pitchFamily="18" charset="0"/>
                      </a:rPr>
                      <m:t>𝒔</m:t>
                    </m:r>
                    <m:r>
                      <a:rPr lang="en-US" altLang="zh-CN" sz="2400" b="1" i="1">
                        <a:latin typeface="Cambria Math" panose="02040503050406030204" pitchFamily="18" charset="0"/>
                        <a:ea typeface="Cambria Math" panose="02040503050406030204" pitchFamily="18" charset="0"/>
                      </a:rPr>
                      <m:t>→</m:t>
                    </m:r>
                    <m:r>
                      <a:rPr lang="en-US" altLang="zh-CN" sz="2400" b="1" i="1" smtClean="0">
                        <a:latin typeface="Cambria Math" panose="02040503050406030204" pitchFamily="18" charset="0"/>
                        <a:ea typeface="Cambria Math" panose="02040503050406030204" pitchFamily="18" charset="0"/>
                      </a:rPr>
                      <m:t>𝟎</m:t>
                    </m:r>
                  </m:oMath>
                </a14:m>
                <a:r>
                  <a:rPr lang="zh-CN" altLang="en-US" sz="2400" b="1" dirty="0">
                    <a:latin typeface="微软雅黑" panose="020B0503020204020204" pitchFamily="34" charset="-122"/>
                    <a:ea typeface="微软雅黑" panose="020B0503020204020204" pitchFamily="34" charset="-122"/>
                  </a:rPr>
                  <a:t>，</a:t>
                </a:r>
                <a:r>
                  <a:rPr lang="zh-CN" altLang="en-US" sz="2400" b="1" dirty="0">
                    <a:solidFill>
                      <a:srgbClr val="000000"/>
                    </a:solidFill>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𝒆</m:t>
                        </m:r>
                      </m:e>
                    </m:acc>
                    <m:r>
                      <a:rPr lang="en-US" altLang="zh-CN" sz="2400" b="1" i="1">
                        <a:latin typeface="Cambria Math" panose="02040503050406030204" pitchFamily="18" charset="0"/>
                        <a:ea typeface="Cambria Math" panose="02040503050406030204" pitchFamily="18" charset="0"/>
                      </a:rPr>
                      <m:t>→</m:t>
                    </m:r>
                    <m:r>
                      <a:rPr lang="en-US" altLang="zh-CN" sz="2400" b="1" i="1">
                        <a:latin typeface="Cambria Math" panose="02040503050406030204" pitchFamily="18" charset="0"/>
                        <a:ea typeface="Cambria Math" panose="02040503050406030204" pitchFamily="18" charset="0"/>
                      </a:rPr>
                      <m:t>𝟎</m:t>
                    </m:r>
                  </m:oMath>
                </a14:m>
                <a:r>
                  <a:rPr lang="zh-CN" altLang="en-US" sz="2400" b="1" dirty="0">
                    <a:latin typeface="微软雅黑" panose="020B0503020204020204" pitchFamily="34" charset="-122"/>
                    <a:ea typeface="微软雅黑" panose="020B0503020204020204" pitchFamily="34" charset="-122"/>
                  </a:rPr>
                  <a:t>。定义辅助参考速度，</a:t>
                </a:r>
                <a:r>
                  <a:rPr lang="zh-CN" altLang="en-US" sz="2400" b="1" dirty="0">
                    <a:solidFill>
                      <a:srgbClr val="000000"/>
                    </a:solidFill>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b>
                        <m:r>
                          <a:rPr lang="zh-CN" altLang="en-US" sz="2400" b="1" i="1">
                            <a:solidFill>
                              <a:srgbClr val="000000"/>
                            </a:solidFill>
                            <a:latin typeface="Cambria Math" panose="02040503050406030204" pitchFamily="18" charset="0"/>
                          </a:rPr>
                          <m:t>𝒓</m:t>
                        </m:r>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b>
                        <m:r>
                          <a:rPr lang="zh-CN" altLang="en-US" sz="2400" b="1" i="1">
                            <a:solidFill>
                              <a:srgbClr val="000000"/>
                            </a:solidFill>
                            <a:latin typeface="Cambria Math" panose="02040503050406030204" pitchFamily="18" charset="0"/>
                          </a:rPr>
                          <m:t>𝒅</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𝝀</m:t>
                    </m:r>
                    <m:r>
                      <a:rPr lang="zh-CN" altLang="en-US" sz="2400" b="1" i="1">
                        <a:solidFill>
                          <a:srgbClr val="000000"/>
                        </a:solidFill>
                        <a:latin typeface="Cambria Math" panose="02040503050406030204" pitchFamily="18" charset="0"/>
                      </a:rPr>
                      <m:t>𝒆</m:t>
                    </m:r>
                  </m:oMath>
                </a14:m>
                <a:r>
                  <a:rPr lang="zh-CN" altLang="en-US" sz="2400" b="1" dirty="0">
                    <a:latin typeface="微软雅黑" panose="020B0503020204020204" pitchFamily="34" charset="-122"/>
                    <a:ea typeface="微软雅黑" panose="020B0503020204020204" pitchFamily="34" charset="-122"/>
                  </a:rPr>
                  <a:t>，</a:t>
                </a:r>
                <a:r>
                  <a:rPr lang="zh-CN" altLang="en-US" sz="2400" b="1" dirty="0">
                    <a:solidFill>
                      <a:srgbClr val="000000"/>
                    </a:solidFill>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b>
                        <m:r>
                          <a:rPr lang="zh-CN" altLang="en-US" sz="2400" b="1" i="1">
                            <a:solidFill>
                              <a:srgbClr val="000000"/>
                            </a:solidFill>
                            <a:latin typeface="Cambria Math" panose="02040503050406030204" pitchFamily="18" charset="0"/>
                          </a:rPr>
                          <m:t>𝒓</m:t>
                        </m:r>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b>
                        <m:r>
                          <a:rPr lang="zh-CN" altLang="en-US" sz="2400" b="1" i="1">
                            <a:solidFill>
                              <a:srgbClr val="000000"/>
                            </a:solidFill>
                            <a:latin typeface="Cambria Math" panose="02040503050406030204" pitchFamily="18" charset="0"/>
                          </a:rPr>
                          <m:t>𝒅</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𝝀</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𝒆</m:t>
                        </m:r>
                      </m:e>
                    </m:acc>
                  </m:oMath>
                </a14:m>
                <a:r>
                  <a:rPr lang="zh-CN" altLang="en-US" sz="2400" b="1" dirty="0">
                    <a:latin typeface="微软雅黑" panose="020B0503020204020204" pitchFamily="34" charset="-122"/>
                    <a:ea typeface="微软雅黑" panose="020B0503020204020204" pitchFamily="34" charset="-122"/>
                  </a:rPr>
                  <a:t>则有</a:t>
                </a:r>
                <a:endParaRPr lang="en-US" altLang="zh-CN" sz="2400" b="1" dirty="0">
                  <a:latin typeface="微软雅黑" panose="020B0503020204020204" pitchFamily="34" charset="-122"/>
                  <a:ea typeface="微软雅黑" panose="020B0503020204020204" pitchFamily="34" charset="-122"/>
                </a:endParaRPr>
              </a:p>
              <a:p>
                <a:r>
                  <a:rPr lang="zh-CN" altLang="en-US" sz="2400" b="1" dirty="0">
                    <a:solidFill>
                      <a:srgbClr val="000000"/>
                    </a:solidFill>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zh-CN" altLang="en-US" sz="2400" b="1" i="1" smtClean="0">
                            <a:solidFill>
                              <a:srgbClr val="000000"/>
                            </a:solidFill>
                            <a:latin typeface="Cambria Math" panose="02040503050406030204" pitchFamily="18" charset="0"/>
                          </a:rPr>
                        </m:ctrlPr>
                      </m:acc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acc>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𝜞</m:t>
                    </m:r>
                    <m:sSup>
                      <m:sSupPr>
                        <m:ctrlPr>
                          <a:rPr lang="zh-CN" altLang="en-US" sz="2400" b="1" i="1">
                            <a:solidFill>
                              <a:srgbClr val="000000"/>
                            </a:solidFill>
                            <a:latin typeface="Cambria Math" panose="02040503050406030204" pitchFamily="18" charset="0"/>
                          </a:rPr>
                        </m:ctrlPr>
                      </m:sSupPr>
                      <m:e>
                        <m:r>
                          <a:rPr lang="zh-CN" altLang="en-US" sz="2400" b="1" i="1">
                            <a:solidFill>
                              <a:srgbClr val="000000"/>
                            </a:solidFill>
                            <a:latin typeface="Cambria Math" panose="02040503050406030204" pitchFamily="18" charset="0"/>
                          </a:rPr>
                          <m:t>𝒀</m:t>
                        </m:r>
                      </m:e>
                      <m:sup>
                        <m:r>
                          <a:rPr lang="zh-CN" altLang="en-US" sz="2400" b="1" i="1">
                            <a:solidFill>
                              <a:srgbClr val="000000"/>
                            </a:solidFill>
                            <a:latin typeface="Cambria Math" panose="02040503050406030204" pitchFamily="18" charset="0"/>
                          </a:rPr>
                          <m:t>𝑻</m:t>
                        </m:r>
                      </m:sup>
                    </m:sSup>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𝜽</m:t>
                    </m:r>
                    <m:r>
                      <a:rPr lang="zh-CN" altLang="en-US" sz="2400" b="1" i="1">
                        <a:solidFill>
                          <a:srgbClr val="000000"/>
                        </a:solidFill>
                        <a:latin typeface="Cambria Math" panose="02040503050406030204" pitchFamily="18" charset="0"/>
                      </a:rPr>
                      <m:t>,</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b>
                        <m:r>
                          <a:rPr lang="zh-CN" altLang="en-US" sz="2400" b="1" i="1">
                            <a:solidFill>
                              <a:srgbClr val="000000"/>
                            </a:solidFill>
                            <a:latin typeface="Cambria Math" panose="02040503050406030204" pitchFamily="18" charset="0"/>
                          </a:rPr>
                          <m:t>𝒓</m:t>
                        </m:r>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b>
                        <m:r>
                          <a:rPr lang="zh-CN" altLang="en-US" sz="2400" b="1" i="1">
                            <a:solidFill>
                              <a:srgbClr val="000000"/>
                            </a:solidFill>
                            <a:latin typeface="Cambria Math" panose="02040503050406030204" pitchFamily="18" charset="0"/>
                          </a:rPr>
                          <m:t>𝒓</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𝒔</m:t>
                    </m:r>
                  </m:oMath>
                </a14:m>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7.19</a:t>
                </a:r>
                <a:r>
                  <a:rPr lang="zh-CN" altLang="en-US" sz="2400" b="1" dirty="0">
                    <a:latin typeface="微软雅黑" panose="020B0503020204020204" pitchFamily="34" charset="-122"/>
                    <a:ea typeface="微软雅黑" panose="020B0503020204020204" pitchFamily="34" charset="-122"/>
                  </a:rPr>
                  <a:t>）</a:t>
                </a:r>
              </a:p>
              <a:p>
                <a:endParaRPr lang="zh-CN" altLang="en-US" b="1" dirty="0">
                  <a:latin typeface="微软雅黑" panose="020B0503020204020204" pitchFamily="34" charset="-122"/>
                  <a:ea typeface="微软雅黑" panose="020B0503020204020204" pitchFamily="34" charset="-122"/>
                </a:endParaRPr>
              </a:p>
            </p:txBody>
          </p:sp>
        </mc:Choice>
        <mc:Fallback xmlns="">
          <p:sp>
            <p:nvSpPr>
              <p:cNvPr id="25" name="文本框 24">
                <a:extLst>
                  <a:ext uri="{FF2B5EF4-FFF2-40B4-BE49-F238E27FC236}">
                    <a16:creationId xmlns:a16="http://schemas.microsoft.com/office/drawing/2014/main" id="{973FA534-B876-3938-8230-B77A02A59307}"/>
                  </a:ext>
                </a:extLst>
              </p:cNvPr>
              <p:cNvSpPr txBox="1">
                <a:spLocks noRot="1" noChangeAspect="1" noMove="1" noResize="1" noEditPoints="1" noAdjustHandles="1" noChangeArrowheads="1" noChangeShapeType="1" noTextEdit="1"/>
              </p:cNvSpPr>
              <p:nvPr/>
            </p:nvSpPr>
            <p:spPr>
              <a:xfrm>
                <a:off x="1443037" y="4705752"/>
                <a:ext cx="10034587" cy="1572225"/>
              </a:xfrm>
              <a:prstGeom prst="rect">
                <a:avLst/>
              </a:prstGeom>
              <a:blipFill>
                <a:blip r:embed="rId7"/>
                <a:stretch>
                  <a:fillRect l="-972" t="-3101"/>
                </a:stretch>
              </a:blipFill>
            </p:spPr>
            <p:txBody>
              <a:bodyPr/>
              <a:lstStyle/>
              <a:p>
                <a:r>
                  <a:rPr lang="zh-CN" altLang="en-US">
                    <a:noFill/>
                  </a:rPr>
                  <a:t> </a:t>
                </a:r>
              </a:p>
            </p:txBody>
          </p:sp>
        </mc:Fallback>
      </mc:AlternateContent>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2ED449A-352E-8D0A-71B9-7B78607D2BF3}"/>
              </a:ext>
            </a:extLst>
          </p:cNvPr>
          <p:cNvSpPr txBox="1"/>
          <p:nvPr>
            <p:custDataLst>
              <p:tags r:id="rId1"/>
            </p:custDataLst>
          </p:nvPr>
        </p:nvSpPr>
        <p:spPr>
          <a:xfrm>
            <a:off x="1357313" y="128685"/>
            <a:ext cx="8158162"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7.2.2</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 机器人控制方法和控制器设计</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70025C3E-EE6D-5559-BAF2-2098F609C824}"/>
                  </a:ext>
                </a:extLst>
              </p:cNvPr>
              <p:cNvSpPr txBox="1"/>
              <p:nvPr/>
            </p:nvSpPr>
            <p:spPr>
              <a:xfrm>
                <a:off x="876299" y="1161201"/>
                <a:ext cx="7386637" cy="461665"/>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其中</a:t>
                </a:r>
                <a14:m>
                  <m:oMath xmlns:m="http://schemas.openxmlformats.org/officeDocument/2006/math">
                    <m:r>
                      <a:rPr lang="zh-CN" altLang="en-US" sz="2400" b="1" i="1" smtClean="0">
                        <a:solidFill>
                          <a:srgbClr val="000000"/>
                        </a:solidFill>
                        <a:latin typeface="Cambria Math" panose="02040503050406030204" pitchFamily="18" charset="0"/>
                      </a:rPr>
                      <m:t>𝜞</m:t>
                    </m:r>
                  </m:oMath>
                </a14:m>
                <a:r>
                  <a:rPr lang="zh-CN" altLang="en-US" sz="2400" b="1" dirty="0">
                    <a:latin typeface="微软雅黑" panose="020B0503020204020204" pitchFamily="34" charset="-122"/>
                    <a:ea typeface="微软雅黑" panose="020B0503020204020204" pitchFamily="34" charset="-122"/>
                  </a:rPr>
                  <a:t>是自适应增益矩阵。</a:t>
                </a:r>
              </a:p>
            </p:txBody>
          </p:sp>
        </mc:Choice>
        <mc:Fallback xmlns="">
          <p:sp>
            <p:nvSpPr>
              <p:cNvPr id="4" name="文本框 3">
                <a:extLst>
                  <a:ext uri="{FF2B5EF4-FFF2-40B4-BE49-F238E27FC236}">
                    <a16:creationId xmlns:a16="http://schemas.microsoft.com/office/drawing/2014/main" id="{70025C3E-EE6D-5559-BAF2-2098F609C824}"/>
                  </a:ext>
                </a:extLst>
              </p:cNvPr>
              <p:cNvSpPr txBox="1">
                <a:spLocks noRot="1" noChangeAspect="1" noMove="1" noResize="1" noEditPoints="1" noAdjustHandles="1" noChangeArrowheads="1" noChangeShapeType="1" noTextEdit="1"/>
              </p:cNvSpPr>
              <p:nvPr/>
            </p:nvSpPr>
            <p:spPr>
              <a:xfrm>
                <a:off x="876299" y="1161201"/>
                <a:ext cx="7386637" cy="461665"/>
              </a:xfrm>
              <a:prstGeom prst="rect">
                <a:avLst/>
              </a:prstGeom>
              <a:blipFill>
                <a:blip r:embed="rId3"/>
                <a:stretch>
                  <a:fillRect l="-1321" t="-10526" b="-28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276390B-692C-7BAB-51F4-C2DD75A1DF9F}"/>
                  </a:ext>
                </a:extLst>
              </p:cNvPr>
              <p:cNvSpPr txBox="1"/>
              <p:nvPr/>
            </p:nvSpPr>
            <p:spPr>
              <a:xfrm>
                <a:off x="876299" y="1795221"/>
                <a:ext cx="9196388" cy="1292662"/>
              </a:xfrm>
              <a:prstGeom prst="rect">
                <a:avLst/>
              </a:prstGeom>
              <a:noFill/>
            </p:spPr>
            <p:txBody>
              <a:bodyPr wrap="square">
                <a:spAutoFit/>
              </a:bodyPr>
              <a:lstStyle/>
              <a:p>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定义参数</a:t>
                </a:r>
                <a14:m>
                  <m:oMath xmlns:m="http://schemas.openxmlformats.org/officeDocument/2006/math">
                    <m:sSub>
                      <m:sSubPr>
                        <m:ctrlPr>
                          <a:rPr lang="en-US" altLang="zh-CN" sz="2400" b="1" i="1" kern="1000" smtClean="0">
                            <a:effectLst/>
                            <a:latin typeface="Cambria Math" panose="02040503050406030204" pitchFamily="18" charset="0"/>
                            <a:ea typeface="宋体" panose="02010600030101010101" pitchFamily="2" charset="-122"/>
                            <a:cs typeface="Times New Roman" panose="02020603050405020304" pitchFamily="18" charset="0"/>
                          </a:rPr>
                        </m:ctrlPr>
                      </m:sSubPr>
                      <m:e>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𝒑</m:t>
                        </m:r>
                      </m:e>
                      <m:sub>
                        <m:r>
                          <a:rPr lang="en-US" altLang="zh-CN" sz="2400" b="1" i="1" kern="1000" smtClean="0">
                            <a:effectLst/>
                            <a:latin typeface="Cambria Math" panose="02040503050406030204" pitchFamily="18" charset="0"/>
                            <a:ea typeface="宋体" panose="02010600030101010101" pitchFamily="2" charset="-122"/>
                            <a:cs typeface="Times New Roman" panose="02020603050405020304" pitchFamily="18" charset="0"/>
                          </a:rPr>
                          <m:t>𝟎</m:t>
                        </m:r>
                      </m:sub>
                    </m:sSub>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的估计误差如下</a:t>
                </a:r>
                <a:endParaRPr lang="en-US"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14:m>
                  <m:oMath xmlns:m="http://schemas.openxmlformats.org/officeDocument/2006/math">
                    <m:sSub>
                      <m:sSubPr>
                        <m:ctrlPr>
                          <a:rPr lang="zh-CN" altLang="zh-CN" sz="2400" b="1" i="1">
                            <a:latin typeface="Cambria Math" panose="02040503050406030204" pitchFamily="18" charset="0"/>
                          </a:rPr>
                        </m:ctrlPr>
                      </m:sSubPr>
                      <m:e>
                        <m:acc>
                          <m:accPr>
                            <m:chr m:val="̃"/>
                            <m:ctrlPr>
                              <a:rPr lang="zh-CN" altLang="zh-CN" sz="2400" b="1" i="1">
                                <a:latin typeface="Cambria Math" panose="02040503050406030204" pitchFamily="18" charset="0"/>
                              </a:rPr>
                            </m:ctrlPr>
                          </m:accPr>
                          <m:e>
                            <m:r>
                              <a:rPr lang="en-US" altLang="zh-CN" sz="2400" b="1" i="1">
                                <a:latin typeface="Cambria Math" panose="02040503050406030204" pitchFamily="18" charset="0"/>
                              </a:rPr>
                              <m:t>𝒑</m:t>
                            </m:r>
                          </m:e>
                        </m:acc>
                      </m:e>
                      <m:sub>
                        <m:r>
                          <a:rPr lang="en-US" altLang="zh-CN" sz="2400" b="1" i="1">
                            <a:latin typeface="Cambria Math" panose="02040503050406030204" pitchFamily="18" charset="0"/>
                          </a:rPr>
                          <m:t>𝟎</m:t>
                        </m:r>
                      </m:sub>
                    </m:sSub>
                    <m:r>
                      <a:rPr lang="en-US" altLang="zh-CN" sz="2400" b="1" i="1">
                        <a:latin typeface="Cambria Math" panose="02040503050406030204" pitchFamily="18" charset="0"/>
                      </a:rPr>
                      <m:t>=</m:t>
                    </m:r>
                    <m:sSub>
                      <m:sSubPr>
                        <m:ctrlPr>
                          <a:rPr lang="zh-CN" altLang="zh-CN" sz="2400" b="1" i="1">
                            <a:latin typeface="Cambria Math" panose="02040503050406030204" pitchFamily="18" charset="0"/>
                          </a:rPr>
                        </m:ctrlPr>
                      </m:sSubPr>
                      <m:e>
                        <m:acc>
                          <m:accPr>
                            <m:chr m:val="̂"/>
                            <m:ctrlPr>
                              <a:rPr lang="zh-CN" altLang="zh-CN" sz="2400" b="1" i="1">
                                <a:latin typeface="Cambria Math" panose="02040503050406030204" pitchFamily="18" charset="0"/>
                              </a:rPr>
                            </m:ctrlPr>
                          </m:accPr>
                          <m:e>
                            <m:r>
                              <a:rPr lang="en-US" altLang="zh-CN" sz="2400" b="1" i="1">
                                <a:latin typeface="Cambria Math" panose="02040503050406030204" pitchFamily="18" charset="0"/>
                              </a:rPr>
                              <m:t>𝒑</m:t>
                            </m:r>
                          </m:e>
                        </m:acc>
                      </m:e>
                      <m:sub>
                        <m:r>
                          <a:rPr lang="en-US" altLang="zh-CN" sz="2400" b="1" i="1">
                            <a:latin typeface="Cambria Math" panose="02040503050406030204" pitchFamily="18" charset="0"/>
                          </a:rPr>
                          <m:t>𝟎</m:t>
                        </m:r>
                      </m:sub>
                    </m:sSub>
                    <m:r>
                      <a:rPr lang="en-US" altLang="zh-CN" sz="2400" b="1" i="1">
                        <a:latin typeface="Cambria Math" panose="02040503050406030204" pitchFamily="18" charset="0"/>
                      </a:rPr>
                      <m:t>−</m:t>
                    </m:r>
                    <m:sSub>
                      <m:sSubPr>
                        <m:ctrlPr>
                          <a:rPr lang="zh-CN" altLang="zh-CN" sz="2400" b="1" i="1">
                            <a:latin typeface="Cambria Math" panose="02040503050406030204" pitchFamily="18" charset="0"/>
                          </a:rPr>
                        </m:ctrlPr>
                      </m:sSubPr>
                      <m:e>
                        <m:r>
                          <a:rPr lang="en-US" altLang="zh-CN" sz="2400" b="1" i="1">
                            <a:latin typeface="Cambria Math" panose="02040503050406030204" pitchFamily="18" charset="0"/>
                          </a:rPr>
                          <m:t>𝒑</m:t>
                        </m:r>
                      </m:e>
                      <m:sub>
                        <m:r>
                          <a:rPr lang="en-US" altLang="zh-CN" sz="2400" b="1" i="1">
                            <a:latin typeface="Cambria Math" panose="02040503050406030204" pitchFamily="18" charset="0"/>
                          </a:rPr>
                          <m:t>𝟎</m:t>
                        </m:r>
                      </m:sub>
                    </m:sSub>
                  </m:oMath>
                </a14:m>
                <a:r>
                  <a:rPr lang="en-US" altLang="zh-CN" sz="2400" b="1" dirty="0">
                    <a:latin typeface="微软雅黑" panose="020B0503020204020204" pitchFamily="34" charset="-122"/>
                    <a:ea typeface="微软雅黑" panose="020B0503020204020204" pitchFamily="34" charset="-122"/>
                  </a:rPr>
                  <a:t>              (7.20)</a:t>
                </a:r>
                <a:endParaRPr lang="zh-CN" altLang="en-US" sz="2400" b="1" dirty="0">
                  <a:latin typeface="微软雅黑" panose="020B0503020204020204" pitchFamily="34" charset="-122"/>
                  <a:ea typeface="微软雅黑" panose="020B0503020204020204" pitchFamily="34" charset="-122"/>
                </a:endParaRPr>
              </a:p>
              <a:p>
                <a:endParaRPr lang="zh-CN" altLang="en-US" dirty="0"/>
              </a:p>
            </p:txBody>
          </p:sp>
        </mc:Choice>
        <mc:Fallback xmlns="">
          <p:sp>
            <p:nvSpPr>
              <p:cNvPr id="6" name="文本框 5">
                <a:extLst>
                  <a:ext uri="{FF2B5EF4-FFF2-40B4-BE49-F238E27FC236}">
                    <a16:creationId xmlns:a16="http://schemas.microsoft.com/office/drawing/2014/main" id="{0276390B-692C-7BAB-51F4-C2DD75A1DF9F}"/>
                  </a:ext>
                </a:extLst>
              </p:cNvPr>
              <p:cNvSpPr txBox="1">
                <a:spLocks noRot="1" noChangeAspect="1" noMove="1" noResize="1" noEditPoints="1" noAdjustHandles="1" noChangeArrowheads="1" noChangeShapeType="1" noTextEdit="1"/>
              </p:cNvSpPr>
              <p:nvPr/>
            </p:nvSpPr>
            <p:spPr>
              <a:xfrm>
                <a:off x="876299" y="1795221"/>
                <a:ext cx="9196388" cy="1292662"/>
              </a:xfrm>
              <a:prstGeom prst="rect">
                <a:avLst/>
              </a:prstGeom>
              <a:blipFill>
                <a:blip r:embed="rId4"/>
                <a:stretch>
                  <a:fillRect l="-1061" t="-37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944BC55E-43D5-E3EB-427F-87045E404B8D}"/>
                  </a:ext>
                </a:extLst>
              </p:cNvPr>
              <p:cNvSpPr txBox="1"/>
              <p:nvPr/>
            </p:nvSpPr>
            <p:spPr>
              <a:xfrm>
                <a:off x="876299" y="2842624"/>
                <a:ext cx="7558089" cy="490519"/>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通常</a:t>
                </a:r>
                <a14:m>
                  <m:oMath xmlns:m="http://schemas.openxmlformats.org/officeDocument/2006/math">
                    <m:sSub>
                      <m:sSubPr>
                        <m:ctrlPr>
                          <a:rPr lang="zh-CN" altLang="zh-CN" sz="2400" b="1" i="1">
                            <a:latin typeface="Cambria Math" panose="02040503050406030204" pitchFamily="18" charset="0"/>
                          </a:rPr>
                        </m:ctrlPr>
                      </m:sSubPr>
                      <m:e>
                        <m:acc>
                          <m:accPr>
                            <m:chr m:val="̇"/>
                            <m:ctrlPr>
                              <a:rPr lang="zh-CN" altLang="zh-CN" sz="2400" b="1" i="1">
                                <a:latin typeface="Cambria Math" panose="02040503050406030204" pitchFamily="18" charset="0"/>
                              </a:rPr>
                            </m:ctrlPr>
                          </m:accPr>
                          <m:e>
                            <m:acc>
                              <m:accPr>
                                <m:chr m:val="̃"/>
                                <m:ctrlPr>
                                  <a:rPr lang="zh-CN" altLang="zh-CN" sz="2400" b="1" i="1">
                                    <a:latin typeface="Cambria Math" panose="02040503050406030204" pitchFamily="18" charset="0"/>
                                  </a:rPr>
                                </m:ctrlPr>
                              </m:accPr>
                              <m:e>
                                <m:r>
                                  <a:rPr lang="en-US" altLang="zh-CN" sz="2400" b="1" i="1">
                                    <a:latin typeface="Cambria Math" panose="02040503050406030204" pitchFamily="18" charset="0"/>
                                  </a:rPr>
                                  <m:t>𝒑</m:t>
                                </m:r>
                              </m:e>
                            </m:acc>
                          </m:e>
                        </m:acc>
                      </m:e>
                      <m:sub>
                        <m:r>
                          <a:rPr lang="en-US" altLang="zh-CN" sz="2400" b="1" i="1">
                            <a:latin typeface="Cambria Math" panose="02040503050406030204" pitchFamily="18" charset="0"/>
                          </a:rPr>
                          <m:t>𝟎</m:t>
                        </m:r>
                      </m:sub>
                    </m:sSub>
                    <m:r>
                      <a:rPr lang="en-US" altLang="zh-CN" sz="2400" b="1" i="1">
                        <a:latin typeface="Cambria Math" panose="02040503050406030204" pitchFamily="18" charset="0"/>
                      </a:rPr>
                      <m:t>=</m:t>
                    </m:r>
                    <m:sSub>
                      <m:sSubPr>
                        <m:ctrlPr>
                          <a:rPr lang="zh-CN" altLang="zh-CN" sz="2400" b="1" i="1">
                            <a:latin typeface="Cambria Math" panose="02040503050406030204" pitchFamily="18" charset="0"/>
                          </a:rPr>
                        </m:ctrlPr>
                      </m:sSubPr>
                      <m:e>
                        <m:acc>
                          <m:accPr>
                            <m:chr m:val="̇"/>
                            <m:ctrlPr>
                              <a:rPr lang="zh-CN" altLang="zh-CN" sz="2400" b="1" i="1">
                                <a:latin typeface="Cambria Math" panose="02040503050406030204" pitchFamily="18" charset="0"/>
                              </a:rPr>
                            </m:ctrlPr>
                          </m:accPr>
                          <m:e>
                            <m:acc>
                              <m:accPr>
                                <m:chr m:val="̂"/>
                                <m:ctrlPr>
                                  <a:rPr lang="zh-CN" altLang="zh-CN" sz="2400" b="1" i="1">
                                    <a:latin typeface="Cambria Math" panose="02040503050406030204" pitchFamily="18" charset="0"/>
                                  </a:rPr>
                                </m:ctrlPr>
                              </m:accPr>
                              <m:e>
                                <m:r>
                                  <a:rPr lang="en-US" altLang="zh-CN" sz="2400" b="1" i="1">
                                    <a:latin typeface="Cambria Math" panose="02040503050406030204" pitchFamily="18" charset="0"/>
                                  </a:rPr>
                                  <m:t>𝒑</m:t>
                                </m:r>
                              </m:e>
                            </m:acc>
                          </m:e>
                        </m:acc>
                      </m:e>
                      <m:sub>
                        <m:r>
                          <a:rPr lang="en-US" altLang="zh-CN" sz="2400" b="1" i="1">
                            <a:latin typeface="Cambria Math" panose="02040503050406030204" pitchFamily="18" charset="0"/>
                          </a:rPr>
                          <m:t>𝟎</m:t>
                        </m:r>
                      </m:sub>
                    </m:sSub>
                  </m:oMath>
                </a14:m>
                <a:r>
                  <a:rPr lang="zh-CN" altLang="zh-CN" dirty="0"/>
                  <a:t>。</a:t>
                </a:r>
                <a:endParaRPr lang="zh-CN" altLang="en-US" sz="2400" dirty="0"/>
              </a:p>
            </p:txBody>
          </p:sp>
        </mc:Choice>
        <mc:Fallback xmlns="">
          <p:sp>
            <p:nvSpPr>
              <p:cNvPr id="12" name="文本框 11">
                <a:extLst>
                  <a:ext uri="{FF2B5EF4-FFF2-40B4-BE49-F238E27FC236}">
                    <a16:creationId xmlns:a16="http://schemas.microsoft.com/office/drawing/2014/main" id="{944BC55E-43D5-E3EB-427F-87045E404B8D}"/>
                  </a:ext>
                </a:extLst>
              </p:cNvPr>
              <p:cNvSpPr txBox="1">
                <a:spLocks noRot="1" noChangeAspect="1" noMove="1" noResize="1" noEditPoints="1" noAdjustHandles="1" noChangeArrowheads="1" noChangeShapeType="1" noTextEdit="1"/>
              </p:cNvSpPr>
              <p:nvPr/>
            </p:nvSpPr>
            <p:spPr>
              <a:xfrm>
                <a:off x="876299" y="2842624"/>
                <a:ext cx="7558089" cy="490519"/>
              </a:xfrm>
              <a:prstGeom prst="rect">
                <a:avLst/>
              </a:prstGeom>
              <a:blipFill>
                <a:blip r:embed="rId5"/>
                <a:stretch>
                  <a:fillRect l="-1290" t="-3704" b="-27160"/>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92B3940D-FCE3-E648-CDC8-1C71A1EF6E77}"/>
              </a:ext>
            </a:extLst>
          </p:cNvPr>
          <p:cNvSpPr txBox="1"/>
          <p:nvPr/>
        </p:nvSpPr>
        <p:spPr>
          <a:xfrm>
            <a:off x="876299" y="3524858"/>
            <a:ext cx="9629775" cy="830997"/>
          </a:xfrm>
          <a:prstGeom prst="rect">
            <a:avLst/>
          </a:prstGeom>
          <a:noFill/>
        </p:spPr>
        <p:txBody>
          <a:bodyPr wrap="square">
            <a:spAutoFit/>
          </a:bodyPr>
          <a:lstStyle/>
          <a:p>
            <a:pPr algn="just"/>
            <a:r>
              <a:rPr lang="zh-CN" altLang="zh-CN" sz="2400" b="1" kern="1000" spc="-10" dirty="0">
                <a:effectLst/>
                <a:latin typeface="微软雅黑" panose="020B0503020204020204" pitchFamily="34" charset="-122"/>
                <a:ea typeface="微软雅黑" panose="020B0503020204020204" pitchFamily="34" charset="-122"/>
              </a:rPr>
              <a:t>将式</a:t>
            </a:r>
            <a:r>
              <a:rPr lang="en-US" altLang="zh-CN" sz="2400" b="1" kern="1000" spc="-10" dirty="0">
                <a:effectLst/>
                <a:latin typeface="微软雅黑" panose="020B0503020204020204" pitchFamily="34" charset="-122"/>
                <a:ea typeface="微软雅黑" panose="020B0503020204020204" pitchFamily="34" charset="-122"/>
              </a:rPr>
              <a:t>(7.17)</a:t>
            </a:r>
            <a:r>
              <a:rPr lang="zh-CN" altLang="zh-CN" sz="2400" b="1" kern="1000" spc="-10" dirty="0">
                <a:effectLst/>
                <a:latin typeface="微软雅黑" panose="020B0503020204020204" pitchFamily="34" charset="-122"/>
                <a:ea typeface="微软雅黑" panose="020B0503020204020204" pitchFamily="34" charset="-122"/>
              </a:rPr>
              <a:t>和式</a:t>
            </a:r>
            <a:r>
              <a:rPr lang="en-US" altLang="zh-CN" sz="2400" b="1" kern="1000" spc="-10" dirty="0">
                <a:effectLst/>
                <a:latin typeface="微软雅黑" panose="020B0503020204020204" pitchFamily="34" charset="-122"/>
                <a:ea typeface="微软雅黑" panose="020B0503020204020204" pitchFamily="34" charset="-122"/>
              </a:rPr>
              <a:t>(7.19)</a:t>
            </a:r>
            <a:r>
              <a:rPr lang="zh-CN" altLang="zh-CN" sz="2400" b="1" kern="1000" spc="-10" dirty="0">
                <a:effectLst/>
                <a:latin typeface="微软雅黑" panose="020B0503020204020204" pitchFamily="34" charset="-122"/>
                <a:ea typeface="微软雅黑" panose="020B0503020204020204" pitchFamily="34" charset="-122"/>
              </a:rPr>
              <a:t>所示的自适应控制律代入式</a:t>
            </a:r>
            <a:r>
              <a:rPr lang="en-US" altLang="zh-CN" sz="2400" b="1" kern="1000" spc="-10" dirty="0">
                <a:effectLst/>
                <a:latin typeface="微软雅黑" panose="020B0503020204020204" pitchFamily="34" charset="-122"/>
                <a:ea typeface="微软雅黑" panose="020B0503020204020204" pitchFamily="34" charset="-122"/>
              </a:rPr>
              <a:t>(7.3)</a:t>
            </a:r>
            <a:r>
              <a:rPr lang="zh-CN" altLang="zh-CN" sz="2400" b="1" kern="1000" spc="-10" dirty="0">
                <a:effectLst/>
                <a:latin typeface="微软雅黑" panose="020B0503020204020204" pitchFamily="34" charset="-122"/>
                <a:ea typeface="微软雅黑" panose="020B0503020204020204" pitchFamily="34" charset="-122"/>
              </a:rPr>
              <a:t>，可得闭环系</a:t>
            </a:r>
            <a:r>
              <a:rPr lang="en-US" altLang="zh-CN" sz="2400" b="1" kern="1000" spc="-10" dirty="0">
                <a:effectLst/>
                <a:latin typeface="微软雅黑" panose="020B0503020204020204" pitchFamily="34" charset="-122"/>
                <a:ea typeface="微软雅黑" panose="020B0503020204020204" pitchFamily="34" charset="-122"/>
              </a:rPr>
              <a:t>    </a:t>
            </a:r>
            <a:r>
              <a:rPr lang="zh-CN" altLang="zh-CN" sz="2400" b="1" kern="1000" spc="-10" dirty="0">
                <a:effectLst/>
                <a:latin typeface="微软雅黑" panose="020B0503020204020204" pitchFamily="34" charset="-122"/>
                <a:ea typeface="微软雅黑" panose="020B0503020204020204" pitchFamily="34" charset="-122"/>
              </a:rPr>
              <a:t>统的动力学方程为</a:t>
            </a:r>
            <a:endParaRPr lang="zh-CN" altLang="zh-CN" sz="2400" b="1" kern="1000" dirty="0">
              <a:effectLst/>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5" name="对象 10">
                <a:extLst>
                  <a:ext uri="{FF2B5EF4-FFF2-40B4-BE49-F238E27FC236}">
                    <a16:creationId xmlns:a16="http://schemas.microsoft.com/office/drawing/2014/main" id="{EEFEDCF8-92A2-F432-1E63-E42419639E16}"/>
                  </a:ext>
                </a:extLst>
              </p:cNvPr>
              <p:cNvSpPr txBox="1"/>
              <p:nvPr/>
            </p:nvSpPr>
            <p:spPr bwMode="auto">
              <a:xfrm>
                <a:off x="495301" y="4477551"/>
                <a:ext cx="11582398" cy="460375"/>
              </a:xfrm>
              <a:prstGeom prst="rect">
                <a:avLst/>
              </a:prstGeom>
              <a:solidFill>
                <a:schemeClr val="bg1"/>
              </a:solidFill>
              <a:ln>
                <a:solidFill>
                  <a:schemeClr val="bg1"/>
                </a:solidFill>
              </a:ln>
            </p:spPr>
            <p:txBody>
              <a:bodyPr>
                <a:noAutofit/>
              </a:bodyPr>
              <a:lstStyle/>
              <a:p>
                <a14:m>
                  <m:oMath xmlns:m="http://schemas.openxmlformats.org/officeDocument/2006/math">
                    <m:r>
                      <a:rPr lang="zh-CN" altLang="en-US" sz="2400" b="1" i="1" smtClean="0">
                        <a:solidFill>
                          <a:srgbClr val="000000"/>
                        </a:solidFill>
                        <a:latin typeface="Cambria Math" panose="02040503050406030204" pitchFamily="18" charset="0"/>
                      </a:rPr>
                      <m:t>𝑴</m:t>
                    </m:r>
                    <m:d>
                      <m:dPr>
                        <m:ctrlPr>
                          <a:rPr lang="zh-CN" altLang="en-US" sz="2400" b="1" i="1">
                            <a:solidFill>
                              <a:srgbClr val="000000"/>
                            </a:solidFill>
                            <a:latin typeface="Cambria Math" panose="02040503050406030204" pitchFamily="18" charset="0"/>
                          </a:rPr>
                        </m:ctrlPr>
                      </m:dPr>
                      <m:e>
                        <m:r>
                          <a:rPr lang="zh-CN" altLang="en-US" sz="2400" b="1" i="1">
                            <a:solidFill>
                              <a:srgbClr val="000000"/>
                            </a:solidFill>
                            <a:latin typeface="Cambria Math" panose="02040503050406030204" pitchFamily="18" charset="0"/>
                          </a:rPr>
                          <m:t>𝜽</m:t>
                        </m:r>
                      </m:e>
                    </m:d>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𝒔</m:t>
                        </m:r>
                      </m:e>
                    </m:acc>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𝑪</m:t>
                    </m:r>
                    <m:d>
                      <m:dPr>
                        <m:ctrlPr>
                          <a:rPr lang="zh-CN" altLang="en-US" sz="2400" b="1" i="1">
                            <a:solidFill>
                              <a:srgbClr val="000000"/>
                            </a:solidFill>
                            <a:latin typeface="Cambria Math" panose="02040503050406030204" pitchFamily="18" charset="0"/>
                          </a:rPr>
                        </m:ctrlPr>
                      </m:dPr>
                      <m:e>
                        <m:r>
                          <a:rPr lang="zh-CN" altLang="en-US" sz="2400" b="1" i="1">
                            <a:solidFill>
                              <a:srgbClr val="000000"/>
                            </a:solidFill>
                            <a:latin typeface="Cambria Math" panose="02040503050406030204" pitchFamily="18" charset="0"/>
                          </a:rPr>
                          <m:t>𝜽</m:t>
                        </m:r>
                        <m:r>
                          <a:rPr lang="zh-CN" altLang="en-US" sz="2400" b="1" i="1">
                            <a:solidFill>
                              <a:srgbClr val="000000"/>
                            </a:solidFill>
                            <a:latin typeface="Cambria Math" panose="02040503050406030204" pitchFamily="18" charset="0"/>
                          </a:rPr>
                          <m:t>,</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d>
                    <m:r>
                      <a:rPr lang="zh-CN" altLang="en-US" sz="2400" b="1" i="1">
                        <a:solidFill>
                          <a:srgbClr val="000000"/>
                        </a:solidFill>
                        <a:latin typeface="Cambria Math" panose="02040503050406030204" pitchFamily="18" charset="0"/>
                      </a:rPr>
                      <m:t>𝒔</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𝑲𝒔</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𝑴</m:t>
                    </m:r>
                    <m:d>
                      <m:dPr>
                        <m:ctrlPr>
                          <a:rPr lang="zh-CN" altLang="en-US" sz="2400" b="1" i="1">
                            <a:solidFill>
                              <a:srgbClr val="000000"/>
                            </a:solidFill>
                            <a:latin typeface="Cambria Math" panose="02040503050406030204" pitchFamily="18" charset="0"/>
                          </a:rPr>
                        </m:ctrlPr>
                      </m:dPr>
                      <m:e>
                        <m:r>
                          <a:rPr lang="zh-CN" altLang="en-US" sz="2400" b="1" i="1">
                            <a:solidFill>
                              <a:srgbClr val="000000"/>
                            </a:solidFill>
                            <a:latin typeface="Cambria Math" panose="02040503050406030204" pitchFamily="18" charset="0"/>
                          </a:rPr>
                          <m:t>𝜽</m:t>
                        </m:r>
                      </m:e>
                    </m:d>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b>
                        <m:r>
                          <a:rPr lang="zh-CN" altLang="en-US" sz="2400" b="1" i="1">
                            <a:solidFill>
                              <a:srgbClr val="000000"/>
                            </a:solidFill>
                            <a:latin typeface="Cambria Math" panose="02040503050406030204" pitchFamily="18" charset="0"/>
                          </a:rPr>
                          <m:t>𝒓</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𝑪</m:t>
                    </m:r>
                    <m:d>
                      <m:dPr>
                        <m:ctrlPr>
                          <a:rPr lang="zh-CN" altLang="en-US" sz="2400" b="1" i="1">
                            <a:solidFill>
                              <a:srgbClr val="000000"/>
                            </a:solidFill>
                            <a:latin typeface="Cambria Math" panose="02040503050406030204" pitchFamily="18" charset="0"/>
                          </a:rPr>
                        </m:ctrlPr>
                      </m:dPr>
                      <m:e>
                        <m:r>
                          <a:rPr lang="zh-CN" altLang="en-US" sz="2400" b="1" i="1">
                            <a:solidFill>
                              <a:srgbClr val="000000"/>
                            </a:solidFill>
                            <a:latin typeface="Cambria Math" panose="02040503050406030204" pitchFamily="18" charset="0"/>
                          </a:rPr>
                          <m:t>𝜽</m:t>
                        </m:r>
                        <m:r>
                          <a:rPr lang="zh-CN" altLang="en-US" sz="2400" b="1" i="1">
                            <a:solidFill>
                              <a:srgbClr val="000000"/>
                            </a:solidFill>
                            <a:latin typeface="Cambria Math" panose="02040503050406030204" pitchFamily="18" charset="0"/>
                          </a:rPr>
                          <m:t>,</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d>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b>
                        <m:r>
                          <a:rPr lang="zh-CN" altLang="en-US" sz="2400" b="1" i="1">
                            <a:solidFill>
                              <a:srgbClr val="000000"/>
                            </a:solidFill>
                            <a:latin typeface="Cambria Math" panose="02040503050406030204" pitchFamily="18" charset="0"/>
                          </a:rPr>
                          <m:t>𝒓</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𝑮</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𝜽</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𝒀</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𝜽</m:t>
                    </m:r>
                    <m:r>
                      <a:rPr lang="zh-CN" altLang="en-US" sz="2400" b="1" i="1">
                        <a:solidFill>
                          <a:srgbClr val="000000"/>
                        </a:solidFill>
                        <a:latin typeface="Cambria Math" panose="02040503050406030204" pitchFamily="18" charset="0"/>
                      </a:rPr>
                      <m:t>,</m:t>
                    </m:r>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b>
                        <m:r>
                          <a:rPr lang="zh-CN" altLang="en-US" sz="2400" b="1" i="1">
                            <a:solidFill>
                              <a:srgbClr val="000000"/>
                            </a:solidFill>
                            <a:latin typeface="Cambria Math" panose="02040503050406030204" pitchFamily="18" charset="0"/>
                          </a:rPr>
                          <m:t>𝒓</m:t>
                        </m:r>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𝜽</m:t>
                            </m:r>
                          </m:e>
                        </m:acc>
                      </m:e>
                      <m:sub>
                        <m:r>
                          <a:rPr lang="zh-CN" altLang="en-US" sz="2400" b="1" i="1">
                            <a:solidFill>
                              <a:srgbClr val="000000"/>
                            </a:solidFill>
                            <a:latin typeface="Cambria Math" panose="02040503050406030204" pitchFamily="18" charset="0"/>
                          </a:rPr>
                          <m:t>𝒓</m:t>
                        </m:r>
                      </m:sub>
                    </m:sSub>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𝒑</m:t>
                            </m:r>
                          </m:e>
                        </m:acc>
                      </m:e>
                      <m:sub>
                        <m:r>
                          <a:rPr lang="zh-CN" altLang="en-US" sz="2400" b="1" i="1">
                            <a:solidFill>
                              <a:srgbClr val="000000"/>
                            </a:solidFill>
                            <a:latin typeface="Cambria Math" panose="02040503050406030204" pitchFamily="18" charset="0"/>
                          </a:rPr>
                          <m:t>𝟎</m:t>
                        </m:r>
                      </m:sub>
                    </m:sSub>
                  </m:oMath>
                </a14:m>
                <a:r>
                  <a:rPr lang="zh-CN" altLang="en-US" sz="2400" b="1" dirty="0">
                    <a:latin typeface="微软雅黑" panose="020B0503020204020204" pitchFamily="34" charset="-122"/>
                    <a:ea typeface="微软雅黑" panose="020B0503020204020204" pitchFamily="34" charset="-122"/>
                  </a:rPr>
                  <a:t> （</a:t>
                </a:r>
                <a:r>
                  <a:rPr lang="en-US" altLang="zh-CN" sz="2400" b="1" dirty="0">
                    <a:latin typeface="微软雅黑" panose="020B0503020204020204" pitchFamily="34" charset="-122"/>
                    <a:ea typeface="微软雅黑" panose="020B0503020204020204" pitchFamily="34" charset="-122"/>
                  </a:rPr>
                  <a:t>7.21</a:t>
                </a:r>
                <a:r>
                  <a:rPr lang="zh-CN" altLang="en-US" sz="2400" b="1" dirty="0">
                    <a:latin typeface="微软雅黑" panose="020B0503020204020204" pitchFamily="34" charset="-122"/>
                    <a:ea typeface="微软雅黑" panose="020B0503020204020204" pitchFamily="34" charset="-122"/>
                  </a:rPr>
                  <a:t>）</a:t>
                </a:r>
              </a:p>
            </p:txBody>
          </p:sp>
        </mc:Choice>
        <mc:Fallback xmlns="">
          <p:sp>
            <p:nvSpPr>
              <p:cNvPr id="15" name="对象 10">
                <a:extLst>
                  <a:ext uri="{FF2B5EF4-FFF2-40B4-BE49-F238E27FC236}">
                    <a16:creationId xmlns:a16="http://schemas.microsoft.com/office/drawing/2014/main" id="{EEFEDCF8-92A2-F432-1E63-E42419639E16}"/>
                  </a:ext>
                </a:extLst>
              </p:cNvPr>
              <p:cNvSpPr txBox="1">
                <a:spLocks noRot="1" noChangeAspect="1" noMove="1" noResize="1" noEditPoints="1" noAdjustHandles="1" noChangeArrowheads="1" noChangeShapeType="1" noTextEdit="1"/>
              </p:cNvSpPr>
              <p:nvPr/>
            </p:nvSpPr>
            <p:spPr bwMode="auto">
              <a:xfrm>
                <a:off x="495301" y="4477551"/>
                <a:ext cx="11582398" cy="460375"/>
              </a:xfrm>
              <a:prstGeom prst="rect">
                <a:avLst/>
              </a:prstGeom>
              <a:blipFill>
                <a:blip r:embed="rId6"/>
                <a:stretch>
                  <a:fillRect t="-3896" b="-33766"/>
                </a:stretch>
              </a:blipFill>
              <a:ln>
                <a:solidFill>
                  <a:schemeClr val="bg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2F7B95D8-0E52-3EDE-6CB9-D8C539DED75B}"/>
                  </a:ext>
                </a:extLst>
              </p:cNvPr>
              <p:cNvSpPr txBox="1"/>
              <p:nvPr/>
            </p:nvSpPr>
            <p:spPr>
              <a:xfrm>
                <a:off x="609597" y="5182921"/>
                <a:ext cx="11306177" cy="899413"/>
              </a:xfrm>
              <a:prstGeom prst="rect">
                <a:avLst/>
              </a:prstGeom>
              <a:noFill/>
            </p:spPr>
            <p:txBody>
              <a:bodyPr wrap="square">
                <a:spAutoFit/>
              </a:bodyPr>
              <a:lstStyle/>
              <a:p>
                <a:pPr indent="269875" algn="just"/>
                <a:r>
                  <a:rPr lang="zh-CN" altLang="zh-CN" sz="2400" b="1" kern="1000" dirty="0">
                    <a:effectLst/>
                    <a:latin typeface="微软雅黑" panose="020B0503020204020204" pitchFamily="34" charset="-122"/>
                    <a:ea typeface="微软雅黑" panose="020B0503020204020204" pitchFamily="34" charset="-122"/>
                  </a:rPr>
                  <a:t>应用式</a:t>
                </a:r>
                <a:r>
                  <a:rPr lang="en-US" altLang="zh-CN" sz="2400" b="1" kern="1000" dirty="0">
                    <a:effectLst/>
                    <a:latin typeface="微软雅黑" panose="020B0503020204020204" pitchFamily="34" charset="-122"/>
                    <a:ea typeface="微软雅黑" panose="020B0503020204020204" pitchFamily="34" charset="-122"/>
                  </a:rPr>
                  <a:t>(7.16)</a:t>
                </a:r>
                <a:r>
                  <a:rPr lang="zh-CN" altLang="zh-CN" sz="2400" b="1" kern="1000" dirty="0">
                    <a:effectLst/>
                    <a:latin typeface="微软雅黑" panose="020B0503020204020204" pitchFamily="34" charset="-122"/>
                    <a:ea typeface="微软雅黑" panose="020B0503020204020204" pitchFamily="34" charset="-122"/>
                  </a:rPr>
                  <a:t>所示的回归矩阵和式</a:t>
                </a:r>
                <a:r>
                  <a:rPr lang="en-US" altLang="zh-CN" sz="2400" b="1" kern="1000" dirty="0">
                    <a:effectLst/>
                    <a:latin typeface="微软雅黑" panose="020B0503020204020204" pitchFamily="34" charset="-122"/>
                    <a:ea typeface="微软雅黑" panose="020B0503020204020204" pitchFamily="34" charset="-122"/>
                  </a:rPr>
                  <a:t>(7.20)</a:t>
                </a:r>
                <a:r>
                  <a:rPr lang="zh-CN" altLang="zh-CN" sz="2400" b="1" kern="1000" dirty="0">
                    <a:effectLst/>
                    <a:latin typeface="微软雅黑" panose="020B0503020204020204" pitchFamily="34" charset="-122"/>
                    <a:ea typeface="微软雅黑" panose="020B0503020204020204" pitchFamily="34" charset="-122"/>
                  </a:rPr>
                  <a:t>，可以得到如下闭环系统</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400" b="1" i="1" kern="1050" smtClean="0">
                        <a:effectLst/>
                        <a:latin typeface="Cambria Math" panose="02040503050406030204" pitchFamily="18" charset="0"/>
                        <a:ea typeface="宋体" panose="02010600030101010101" pitchFamily="2" charset="-122"/>
                      </a:rPr>
                      <m:t>𝑴</m:t>
                    </m:r>
                    <m:r>
                      <a:rPr lang="en-US" altLang="zh-CN" sz="2400" b="1" i="1" kern="1050" smtClean="0">
                        <a:effectLst/>
                        <a:latin typeface="Cambria Math" panose="02040503050406030204" pitchFamily="18" charset="0"/>
                        <a:ea typeface="宋体" panose="02010600030101010101" pitchFamily="2" charset="-122"/>
                      </a:rPr>
                      <m:t>(</m:t>
                    </m:r>
                    <m:r>
                      <a:rPr lang="en-US" altLang="zh-CN" sz="2400" b="1" i="1" kern="1050" smtClean="0">
                        <a:effectLst/>
                        <a:latin typeface="Cambria Math" panose="02040503050406030204" pitchFamily="18" charset="0"/>
                        <a:ea typeface="宋体" panose="02010600030101010101" pitchFamily="2" charset="-122"/>
                      </a:rPr>
                      <m:t>𝜽</m:t>
                    </m:r>
                    <m:r>
                      <a:rPr lang="en-US" altLang="zh-CN" sz="2400" b="1" i="1" kern="1050" smtClean="0">
                        <a:effectLst/>
                        <a:latin typeface="Cambria Math" panose="02040503050406030204" pitchFamily="18" charset="0"/>
                        <a:ea typeface="宋体" panose="02010600030101010101" pitchFamily="2" charset="-122"/>
                      </a:rPr>
                      <m:t>)</m:t>
                    </m:r>
                    <m:acc>
                      <m:accPr>
                        <m:chr m:val="̇"/>
                        <m:ctrlPr>
                          <a:rPr lang="zh-CN" altLang="zh-CN" sz="2400" b="1" i="1" kern="1050">
                            <a:effectLst/>
                            <a:latin typeface="Cambria Math" panose="02040503050406030204" pitchFamily="18" charset="0"/>
                            <a:ea typeface="Cambria Math" panose="02040503050406030204" pitchFamily="18" charset="0"/>
                          </a:rPr>
                        </m:ctrlPr>
                      </m:accPr>
                      <m:e>
                        <m:r>
                          <a:rPr lang="en-US" altLang="zh-CN" sz="2400" b="1" i="1" kern="1050" smtClean="0">
                            <a:effectLst/>
                            <a:latin typeface="Cambria Math" panose="02040503050406030204" pitchFamily="18" charset="0"/>
                            <a:ea typeface="宋体" panose="02010600030101010101" pitchFamily="2" charset="-122"/>
                          </a:rPr>
                          <m:t>𝒔</m:t>
                        </m:r>
                      </m:e>
                    </m:acc>
                    <m:r>
                      <a:rPr lang="en-US" altLang="zh-CN" sz="2400" b="1" i="1" kern="1050" smtClean="0">
                        <a:effectLst/>
                        <a:latin typeface="Cambria Math" panose="02040503050406030204" pitchFamily="18" charset="0"/>
                        <a:ea typeface="宋体" panose="02010600030101010101" pitchFamily="2" charset="-122"/>
                      </a:rPr>
                      <m:t>+</m:t>
                    </m:r>
                    <m:r>
                      <a:rPr lang="en-US" altLang="zh-CN" sz="2400" b="1" i="1" kern="1050" smtClean="0">
                        <a:effectLst/>
                        <a:latin typeface="Cambria Math" panose="02040503050406030204" pitchFamily="18" charset="0"/>
                        <a:ea typeface="宋体" panose="02010600030101010101" pitchFamily="2" charset="-122"/>
                      </a:rPr>
                      <m:t>𝑪</m:t>
                    </m:r>
                    <m:r>
                      <a:rPr lang="en-US" altLang="zh-CN" sz="2400" b="1" i="1" kern="1050" smtClean="0">
                        <a:effectLst/>
                        <a:latin typeface="Cambria Math" panose="02040503050406030204" pitchFamily="18" charset="0"/>
                        <a:ea typeface="宋体" panose="02010600030101010101" pitchFamily="2" charset="-122"/>
                      </a:rPr>
                      <m:t>(</m:t>
                    </m:r>
                    <m:r>
                      <a:rPr lang="en-US" altLang="zh-CN" sz="2400" b="1" i="1" kern="1050" smtClean="0">
                        <a:effectLst/>
                        <a:latin typeface="Cambria Math" panose="02040503050406030204" pitchFamily="18" charset="0"/>
                        <a:ea typeface="宋体" panose="02010600030101010101" pitchFamily="2" charset="-122"/>
                      </a:rPr>
                      <m:t>𝜽</m:t>
                    </m:r>
                    <m:r>
                      <a:rPr lang="en-US" altLang="zh-CN" sz="2400" b="1" i="1" kern="1050" smtClean="0">
                        <a:effectLst/>
                        <a:latin typeface="Cambria Math" panose="02040503050406030204" pitchFamily="18" charset="0"/>
                        <a:ea typeface="宋体" panose="02010600030101010101" pitchFamily="2" charset="-122"/>
                      </a:rPr>
                      <m:t>,</m:t>
                    </m:r>
                    <m:acc>
                      <m:accPr>
                        <m:chr m:val="̇"/>
                        <m:ctrlPr>
                          <a:rPr lang="zh-CN" altLang="zh-CN" sz="2400" b="1" i="1" kern="1050">
                            <a:effectLst/>
                            <a:latin typeface="Cambria Math" panose="02040503050406030204" pitchFamily="18" charset="0"/>
                            <a:ea typeface="Cambria Math" panose="02040503050406030204" pitchFamily="18" charset="0"/>
                          </a:rPr>
                        </m:ctrlPr>
                      </m:accPr>
                      <m:e>
                        <m:r>
                          <a:rPr lang="en-US" altLang="zh-CN" sz="2400" b="1" i="1" kern="1050" smtClean="0">
                            <a:effectLst/>
                            <a:latin typeface="Cambria Math" panose="02040503050406030204" pitchFamily="18" charset="0"/>
                            <a:ea typeface="宋体" panose="02010600030101010101" pitchFamily="2" charset="-122"/>
                          </a:rPr>
                          <m:t>𝜽</m:t>
                        </m:r>
                      </m:e>
                    </m:acc>
                    <m:r>
                      <a:rPr lang="en-US" altLang="zh-CN" sz="2400" b="1" i="1" kern="1050" smtClean="0">
                        <a:effectLst/>
                        <a:latin typeface="Cambria Math" panose="02040503050406030204" pitchFamily="18" charset="0"/>
                        <a:ea typeface="宋体" panose="02010600030101010101" pitchFamily="2" charset="-122"/>
                      </a:rPr>
                      <m:t>)</m:t>
                    </m:r>
                    <m:r>
                      <a:rPr lang="en-US" altLang="zh-CN" sz="2400" b="1" i="1" kern="1050" smtClean="0">
                        <a:effectLst/>
                        <a:latin typeface="Cambria Math" panose="02040503050406030204" pitchFamily="18" charset="0"/>
                        <a:ea typeface="宋体" panose="02010600030101010101" pitchFamily="2" charset="-122"/>
                      </a:rPr>
                      <m:t>𝒔</m:t>
                    </m:r>
                    <m:r>
                      <a:rPr lang="en-US" altLang="zh-CN" sz="2400" b="1" i="1" kern="1050" smtClean="0">
                        <a:effectLst/>
                        <a:latin typeface="Cambria Math" panose="02040503050406030204" pitchFamily="18" charset="0"/>
                        <a:ea typeface="宋体" panose="02010600030101010101" pitchFamily="2" charset="-122"/>
                      </a:rPr>
                      <m:t>+</m:t>
                    </m:r>
                    <m:r>
                      <a:rPr lang="en-US" altLang="zh-CN" sz="2400" b="1" i="1" kern="1050" smtClean="0">
                        <a:effectLst/>
                        <a:latin typeface="Cambria Math" panose="02040503050406030204" pitchFamily="18" charset="0"/>
                        <a:ea typeface="宋体" panose="02010600030101010101" pitchFamily="2" charset="-122"/>
                      </a:rPr>
                      <m:t>𝑲𝒔</m:t>
                    </m:r>
                    <m:r>
                      <a:rPr lang="en-US" altLang="zh-CN" sz="2400" b="1" i="1" kern="1050" smtClean="0">
                        <a:effectLst/>
                        <a:latin typeface="Cambria Math" panose="02040503050406030204" pitchFamily="18" charset="0"/>
                        <a:ea typeface="宋体" panose="02010600030101010101" pitchFamily="2" charset="-122"/>
                      </a:rPr>
                      <m:t>=</m:t>
                    </m:r>
                    <m:r>
                      <a:rPr lang="en-US" altLang="zh-CN" sz="2400" b="1" i="1" kern="1050" smtClean="0">
                        <a:effectLst/>
                        <a:latin typeface="Cambria Math" panose="02040503050406030204" pitchFamily="18" charset="0"/>
                        <a:ea typeface="宋体" panose="02010600030101010101" pitchFamily="2" charset="-122"/>
                      </a:rPr>
                      <m:t>𝒀</m:t>
                    </m:r>
                    <m:r>
                      <a:rPr lang="en-US" altLang="zh-CN" sz="2400" b="1" i="1" kern="1050" smtClean="0">
                        <a:effectLst/>
                        <a:latin typeface="Cambria Math" panose="02040503050406030204" pitchFamily="18" charset="0"/>
                        <a:ea typeface="宋体" panose="02010600030101010101" pitchFamily="2" charset="-122"/>
                      </a:rPr>
                      <m:t>(</m:t>
                    </m:r>
                    <m:r>
                      <a:rPr lang="en-US" altLang="zh-CN" sz="2400" b="1" i="1" kern="1050" smtClean="0">
                        <a:effectLst/>
                        <a:latin typeface="Cambria Math" panose="02040503050406030204" pitchFamily="18" charset="0"/>
                        <a:ea typeface="宋体" panose="02010600030101010101" pitchFamily="2" charset="-122"/>
                      </a:rPr>
                      <m:t>𝜽</m:t>
                    </m:r>
                    <m:r>
                      <a:rPr lang="en-US" altLang="zh-CN" sz="2400" b="1" i="1" kern="1050" smtClean="0">
                        <a:effectLst/>
                        <a:latin typeface="Cambria Math" panose="02040503050406030204" pitchFamily="18" charset="0"/>
                        <a:ea typeface="宋体" panose="02010600030101010101" pitchFamily="2" charset="-122"/>
                      </a:rPr>
                      <m:t>,</m:t>
                    </m:r>
                    <m:acc>
                      <m:accPr>
                        <m:chr m:val="̇"/>
                        <m:ctrlPr>
                          <a:rPr lang="zh-CN" altLang="zh-CN" sz="2400" b="1" i="1" kern="1050">
                            <a:effectLst/>
                            <a:latin typeface="Cambria Math" panose="02040503050406030204" pitchFamily="18" charset="0"/>
                            <a:ea typeface="Cambria Math" panose="02040503050406030204" pitchFamily="18" charset="0"/>
                          </a:rPr>
                        </m:ctrlPr>
                      </m:accPr>
                      <m:e>
                        <m:r>
                          <a:rPr lang="en-US" altLang="zh-CN" sz="2400" b="1" i="1" kern="1050" smtClean="0">
                            <a:effectLst/>
                            <a:latin typeface="Cambria Math" panose="02040503050406030204" pitchFamily="18" charset="0"/>
                            <a:ea typeface="宋体" panose="02010600030101010101" pitchFamily="2" charset="-122"/>
                          </a:rPr>
                          <m:t>𝜽</m:t>
                        </m:r>
                      </m:e>
                    </m:acc>
                    <m:r>
                      <a:rPr lang="en-US" altLang="zh-CN" sz="2400" b="1" i="1" kern="1050" smtClean="0">
                        <a:effectLst/>
                        <a:latin typeface="Cambria Math" panose="02040503050406030204" pitchFamily="18" charset="0"/>
                        <a:ea typeface="宋体" panose="02010600030101010101" pitchFamily="2" charset="-122"/>
                      </a:rPr>
                      <m:t>,</m:t>
                    </m:r>
                    <m:sSub>
                      <m:sSubPr>
                        <m:ctrlPr>
                          <a:rPr lang="zh-CN" altLang="zh-CN" sz="2400" b="1" i="1" kern="1050">
                            <a:effectLst/>
                            <a:latin typeface="Cambria Math" panose="02040503050406030204" pitchFamily="18" charset="0"/>
                            <a:ea typeface="Cambria Math" panose="02040503050406030204" pitchFamily="18" charset="0"/>
                          </a:rPr>
                        </m:ctrlPr>
                      </m:sSubPr>
                      <m:e>
                        <m:acc>
                          <m:accPr>
                            <m:chr m:val="̇"/>
                            <m:ctrlPr>
                              <a:rPr lang="zh-CN" altLang="zh-CN" sz="2400" b="1" i="1" kern="1050">
                                <a:effectLst/>
                                <a:latin typeface="Cambria Math" panose="02040503050406030204" pitchFamily="18" charset="0"/>
                                <a:ea typeface="Cambria Math" panose="02040503050406030204" pitchFamily="18" charset="0"/>
                              </a:rPr>
                            </m:ctrlPr>
                          </m:accPr>
                          <m:e>
                            <m:r>
                              <a:rPr lang="en-US" altLang="zh-CN" sz="2400" b="1" i="1" kern="1050" smtClean="0">
                                <a:effectLst/>
                                <a:latin typeface="Cambria Math" panose="02040503050406030204" pitchFamily="18" charset="0"/>
                                <a:ea typeface="宋体" panose="02010600030101010101" pitchFamily="2" charset="-122"/>
                              </a:rPr>
                              <m:t>𝜽</m:t>
                            </m:r>
                          </m:e>
                        </m:acc>
                      </m:e>
                      <m:sub>
                        <m:r>
                          <a:rPr lang="en-US" altLang="zh-CN" sz="2400" b="1" i="1" kern="1050" smtClean="0">
                            <a:effectLst/>
                            <a:latin typeface="Cambria Math" panose="02040503050406030204" pitchFamily="18" charset="0"/>
                            <a:ea typeface="宋体" panose="02010600030101010101" pitchFamily="2" charset="-122"/>
                          </a:rPr>
                          <m:t>𝒓</m:t>
                        </m:r>
                      </m:sub>
                    </m:sSub>
                    <m:r>
                      <a:rPr lang="en-US" altLang="zh-CN" sz="2400" b="1" i="1" kern="1050" smtClean="0">
                        <a:effectLst/>
                        <a:latin typeface="Cambria Math" panose="02040503050406030204" pitchFamily="18" charset="0"/>
                        <a:ea typeface="宋体" panose="02010600030101010101" pitchFamily="2" charset="-122"/>
                      </a:rPr>
                      <m:t>,</m:t>
                    </m:r>
                    <m:sSub>
                      <m:sSubPr>
                        <m:ctrlPr>
                          <a:rPr lang="zh-CN" altLang="zh-CN" sz="2400" b="1" i="1" kern="1050">
                            <a:effectLst/>
                            <a:latin typeface="Cambria Math" panose="02040503050406030204" pitchFamily="18" charset="0"/>
                            <a:ea typeface="Cambria Math" panose="02040503050406030204" pitchFamily="18" charset="0"/>
                          </a:rPr>
                        </m:ctrlPr>
                      </m:sSubPr>
                      <m:e>
                        <m:acc>
                          <m:accPr>
                            <m:chr m:val="̈"/>
                            <m:ctrlPr>
                              <a:rPr lang="zh-CN" altLang="zh-CN" sz="2400" b="1" i="1" kern="1050">
                                <a:effectLst/>
                                <a:latin typeface="Cambria Math" panose="02040503050406030204" pitchFamily="18" charset="0"/>
                                <a:ea typeface="Cambria Math" panose="02040503050406030204" pitchFamily="18" charset="0"/>
                              </a:rPr>
                            </m:ctrlPr>
                          </m:accPr>
                          <m:e>
                            <m:r>
                              <a:rPr lang="en-US" altLang="zh-CN" sz="2400" b="1" i="1" kern="1050" smtClean="0">
                                <a:effectLst/>
                                <a:latin typeface="Cambria Math" panose="02040503050406030204" pitchFamily="18" charset="0"/>
                                <a:ea typeface="宋体" panose="02010600030101010101" pitchFamily="2" charset="-122"/>
                              </a:rPr>
                              <m:t>𝜽</m:t>
                            </m:r>
                          </m:e>
                        </m:acc>
                      </m:e>
                      <m:sub>
                        <m:r>
                          <a:rPr lang="en-US" altLang="zh-CN" sz="2400" b="1" i="1" kern="1050" smtClean="0">
                            <a:effectLst/>
                            <a:latin typeface="Cambria Math" panose="02040503050406030204" pitchFamily="18" charset="0"/>
                            <a:ea typeface="宋体" panose="02010600030101010101" pitchFamily="2" charset="-122"/>
                          </a:rPr>
                          <m:t>𝒓</m:t>
                        </m:r>
                      </m:sub>
                    </m:sSub>
                    <m:r>
                      <a:rPr lang="en-US" altLang="zh-CN" sz="2400" b="1" i="1" kern="1050" smtClean="0">
                        <a:effectLst/>
                        <a:latin typeface="Cambria Math" panose="02040503050406030204" pitchFamily="18" charset="0"/>
                        <a:ea typeface="宋体" panose="02010600030101010101" pitchFamily="2" charset="-122"/>
                      </a:rPr>
                      <m:t>)</m:t>
                    </m:r>
                    <m:sSub>
                      <m:sSubPr>
                        <m:ctrlPr>
                          <a:rPr lang="zh-CN" altLang="zh-CN" sz="2400" b="1" i="1" kern="1050">
                            <a:effectLst/>
                            <a:latin typeface="Cambria Math" panose="02040503050406030204" pitchFamily="18" charset="0"/>
                            <a:ea typeface="Cambria Math" panose="02040503050406030204" pitchFamily="18" charset="0"/>
                          </a:rPr>
                        </m:ctrlPr>
                      </m:sSubPr>
                      <m:e>
                        <m:acc>
                          <m:accPr>
                            <m:chr m:val="̃"/>
                            <m:ctrlPr>
                              <a:rPr lang="zh-CN" altLang="zh-CN" sz="2400" b="1" i="1" kern="1050">
                                <a:effectLst/>
                                <a:latin typeface="Cambria Math" panose="02040503050406030204" pitchFamily="18" charset="0"/>
                                <a:ea typeface="Cambria Math" panose="02040503050406030204" pitchFamily="18" charset="0"/>
                              </a:rPr>
                            </m:ctrlPr>
                          </m:accPr>
                          <m:e>
                            <m:r>
                              <a:rPr lang="en-US" altLang="zh-CN" sz="2400" b="1" i="1" kern="1050" smtClean="0">
                                <a:effectLst/>
                                <a:latin typeface="Cambria Math" panose="02040503050406030204" pitchFamily="18" charset="0"/>
                                <a:ea typeface="宋体" panose="02010600030101010101" pitchFamily="2" charset="-122"/>
                              </a:rPr>
                              <m:t>𝒑</m:t>
                            </m:r>
                          </m:e>
                        </m:acc>
                      </m:e>
                      <m:sub>
                        <m:r>
                          <a:rPr lang="en-US" altLang="zh-CN" sz="2400" b="1" i="1" kern="1050" smtClean="0">
                            <a:effectLst/>
                            <a:latin typeface="Cambria Math" panose="02040503050406030204" pitchFamily="18" charset="0"/>
                            <a:ea typeface="宋体" panose="02010600030101010101" pitchFamily="2" charset="-122"/>
                          </a:rPr>
                          <m:t>𝟎</m:t>
                        </m:r>
                      </m:sub>
                    </m:sSub>
                  </m:oMath>
                </a14:m>
                <a:r>
                  <a:rPr lang="en-US" altLang="zh-CN" sz="2400" b="1" kern="1050" dirty="0">
                    <a:effectLst/>
                    <a:latin typeface="微软雅黑" panose="020B0503020204020204" pitchFamily="34" charset="-122"/>
                    <a:ea typeface="微软雅黑" panose="020B0503020204020204" pitchFamily="34" charset="-122"/>
                  </a:rPr>
                  <a:t>	                                          (7.22)</a:t>
                </a:r>
                <a:endParaRPr lang="zh-CN" altLang="zh-CN" sz="2400" b="1" kern="1050" dirty="0">
                  <a:effectLst/>
                  <a:latin typeface="微软雅黑" panose="020B0503020204020204" pitchFamily="34" charset="-122"/>
                  <a:ea typeface="微软雅黑" panose="020B0503020204020204" pitchFamily="34" charset="-122"/>
                </a:endParaRPr>
              </a:p>
            </p:txBody>
          </p:sp>
        </mc:Choice>
        <mc:Fallback xmlns="">
          <p:sp>
            <p:nvSpPr>
              <p:cNvPr id="24" name="文本框 23">
                <a:extLst>
                  <a:ext uri="{FF2B5EF4-FFF2-40B4-BE49-F238E27FC236}">
                    <a16:creationId xmlns:a16="http://schemas.microsoft.com/office/drawing/2014/main" id="{2F7B95D8-0E52-3EDE-6CB9-D8C539DED75B}"/>
                  </a:ext>
                </a:extLst>
              </p:cNvPr>
              <p:cNvSpPr txBox="1">
                <a:spLocks noRot="1" noChangeAspect="1" noMove="1" noResize="1" noEditPoints="1" noAdjustHandles="1" noChangeArrowheads="1" noChangeShapeType="1" noTextEdit="1"/>
              </p:cNvSpPr>
              <p:nvPr/>
            </p:nvSpPr>
            <p:spPr>
              <a:xfrm>
                <a:off x="609597" y="5182921"/>
                <a:ext cx="11306177" cy="899413"/>
              </a:xfrm>
              <a:prstGeom prst="rect">
                <a:avLst/>
              </a:prstGeom>
              <a:blipFill>
                <a:blip r:embed="rId7"/>
                <a:stretch>
                  <a:fillRect t="-5405" r="-431" b="-14189"/>
                </a:stretch>
              </a:blipFill>
            </p:spPr>
            <p:txBody>
              <a:bodyPr/>
              <a:lstStyle/>
              <a:p>
                <a:r>
                  <a:rPr lang="zh-CN" altLang="en-US">
                    <a:noFill/>
                  </a:rPr>
                  <a:t> </a:t>
                </a:r>
              </a:p>
            </p:txBody>
          </p:sp>
        </mc:Fallback>
      </mc:AlternateContent>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348D898-BF8F-265F-B505-D4434C97B631}"/>
              </a:ext>
            </a:extLst>
          </p:cNvPr>
          <p:cNvSpPr txBox="1"/>
          <p:nvPr>
            <p:custDataLst>
              <p:tags r:id="rId1"/>
            </p:custDataLst>
          </p:nvPr>
        </p:nvSpPr>
        <p:spPr>
          <a:xfrm>
            <a:off x="1357313" y="128685"/>
            <a:ext cx="8158162" cy="523220"/>
          </a:xfrm>
          <a:prstGeom prst="rect">
            <a:avLst/>
          </a:prstGeom>
          <a:noFill/>
        </p:spPr>
        <p:txBody>
          <a:bodyPr wrap="square" rtlCol="0">
            <a:spAutoFit/>
          </a:bodyPr>
          <a:lstStyle/>
          <a:p>
            <a:r>
              <a:rPr lang="en-US" altLang="zh-CN" sz="2800" b="1" dirty="0">
                <a:latin typeface="微软雅黑" panose="020B0503020204020204" pitchFamily="34" charset="-122"/>
                <a:ea typeface="微软雅黑" panose="020B0503020204020204" pitchFamily="34" charset="-122"/>
                <a:cs typeface="微软雅黑" panose="020B0503020204020204" pitchFamily="34" charset="-122"/>
              </a:rPr>
              <a:t>7.2.2</a:t>
            </a:r>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 机器人控制方法和控制器设计</a:t>
            </a: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AFA8D100-2524-D22C-6996-68E742D27CA1}"/>
                  </a:ext>
                </a:extLst>
              </p:cNvPr>
              <p:cNvSpPr txBox="1"/>
              <p:nvPr/>
            </p:nvSpPr>
            <p:spPr>
              <a:xfrm>
                <a:off x="819150" y="1181593"/>
                <a:ext cx="10229850" cy="2499787"/>
              </a:xfrm>
              <a:prstGeom prst="rect">
                <a:avLst/>
              </a:prstGeom>
              <a:noFill/>
            </p:spPr>
            <p:txBody>
              <a:bodyPr wrap="square">
                <a:spAutoFit/>
              </a:bodyPr>
              <a:lstStyle/>
              <a:p>
                <a:pPr indent="269875" algn="just"/>
                <a:r>
                  <a:rPr lang="zh-CN" altLang="zh-CN" sz="2400" b="1" kern="1000" dirty="0">
                    <a:effectLst/>
                    <a:latin typeface="微软雅黑" panose="020B0503020204020204" pitchFamily="34" charset="-122"/>
                    <a:ea typeface="微软雅黑" panose="020B0503020204020204" pitchFamily="34" charset="-122"/>
                  </a:rPr>
                  <a:t>这里可以应用</a:t>
                </a:r>
                <a:r>
                  <a:rPr lang="en-US" altLang="zh-CN" sz="2400" b="1" kern="1000" dirty="0">
                    <a:effectLst/>
                    <a:latin typeface="微软雅黑" panose="020B0503020204020204" pitchFamily="34" charset="-122"/>
                    <a:ea typeface="微软雅黑" panose="020B0503020204020204" pitchFamily="34" charset="-122"/>
                  </a:rPr>
                  <a:t>Lyapunov</a:t>
                </a:r>
                <a:r>
                  <a:rPr lang="zh-CN" altLang="zh-CN" sz="2400" b="1" kern="1000" dirty="0">
                    <a:effectLst/>
                    <a:latin typeface="微软雅黑" panose="020B0503020204020204" pitchFamily="34" charset="-122"/>
                    <a:ea typeface="微软雅黑" panose="020B0503020204020204" pitchFamily="34" charset="-122"/>
                  </a:rPr>
                  <a:t>稳定性理论对闭环系统进行稳定性分析，显然根据式</a:t>
                </a:r>
                <a:r>
                  <a:rPr lang="en-US" altLang="zh-CN" sz="2400" b="1" kern="1000" dirty="0">
                    <a:effectLst/>
                    <a:latin typeface="微软雅黑" panose="020B0503020204020204" pitchFamily="34" charset="-122"/>
                    <a:ea typeface="微软雅黑" panose="020B0503020204020204" pitchFamily="34" charset="-122"/>
                  </a:rPr>
                  <a:t>(7.22)</a:t>
                </a:r>
                <a:r>
                  <a:rPr lang="zh-CN" altLang="zh-CN" sz="2400" b="1" kern="1000" dirty="0">
                    <a:effectLst/>
                    <a:latin typeface="微软雅黑" panose="020B0503020204020204" pitchFamily="34" charset="-122"/>
                    <a:ea typeface="微软雅黑" panose="020B0503020204020204" pitchFamily="34" charset="-122"/>
                  </a:rPr>
                  <a:t>，系统的平衡点为零。因此，考虑以下</a:t>
                </a:r>
                <a:r>
                  <a:rPr lang="en-US" altLang="zh-CN" sz="2400" b="1" kern="1000" dirty="0">
                    <a:effectLst/>
                    <a:latin typeface="微软雅黑" panose="020B0503020204020204" pitchFamily="34" charset="-122"/>
                    <a:ea typeface="微软雅黑" panose="020B0503020204020204" pitchFamily="34" charset="-122"/>
                  </a:rPr>
                  <a:t>Lyapunov</a:t>
                </a:r>
                <a:r>
                  <a:rPr lang="zh-CN" altLang="zh-CN" sz="2400" b="1" kern="1000" dirty="0">
                    <a:effectLst/>
                    <a:latin typeface="微软雅黑" panose="020B0503020204020204" pitchFamily="34" charset="-122"/>
                    <a:ea typeface="微软雅黑" panose="020B0503020204020204" pitchFamily="34" charset="-122"/>
                  </a:rPr>
                  <a:t>候选函数</a:t>
                </a:r>
                <a:endParaRPr lang="en-US" altLang="zh-CN" sz="2400" b="1" kern="1000" dirty="0">
                  <a:effectLst/>
                  <a:latin typeface="微软雅黑" panose="020B0503020204020204" pitchFamily="34" charset="-122"/>
                  <a:ea typeface="微软雅黑" panose="020B0503020204020204" pitchFamily="34" charset="-122"/>
                </a:endParaRPr>
              </a:p>
              <a:p>
                <a:pPr indent="269875" algn="just"/>
                <a14:m>
                  <m:oMath xmlns:m="http://schemas.openxmlformats.org/officeDocument/2006/math">
                    <m:r>
                      <a:rPr lang="en-US" altLang="zh-CN" sz="2400" b="1" i="1" kern="1050" smtClean="0">
                        <a:effectLst/>
                        <a:latin typeface="Cambria Math" panose="02040503050406030204" pitchFamily="18" charset="0"/>
                        <a:ea typeface="宋体" panose="02010600030101010101" pitchFamily="2" charset="-122"/>
                      </a:rPr>
                      <m:t>𝑽</m:t>
                    </m:r>
                    <m:r>
                      <a:rPr lang="en-US" altLang="zh-CN" sz="2400" b="1" i="1" kern="1050" smtClean="0">
                        <a:effectLst/>
                        <a:latin typeface="Cambria Math" panose="02040503050406030204" pitchFamily="18" charset="0"/>
                        <a:ea typeface="宋体" panose="02010600030101010101" pitchFamily="2" charset="-122"/>
                      </a:rPr>
                      <m:t>=</m:t>
                    </m:r>
                    <m:f>
                      <m:fPr>
                        <m:ctrlPr>
                          <a:rPr lang="zh-CN" altLang="zh-CN" sz="2400" b="1" i="1" kern="1050">
                            <a:effectLst/>
                            <a:latin typeface="Cambria Math" panose="02040503050406030204" pitchFamily="18" charset="0"/>
                            <a:ea typeface="Cambria Math" panose="02040503050406030204" pitchFamily="18" charset="0"/>
                          </a:rPr>
                        </m:ctrlPr>
                      </m:fPr>
                      <m:num>
                        <m:r>
                          <a:rPr lang="en-US" altLang="zh-CN" sz="2400" b="1" i="1" kern="1050" smtClean="0">
                            <a:effectLst/>
                            <a:latin typeface="Cambria Math" panose="02040503050406030204" pitchFamily="18" charset="0"/>
                            <a:ea typeface="宋体" panose="02010600030101010101" pitchFamily="2" charset="-122"/>
                          </a:rPr>
                          <m:t>𝟏</m:t>
                        </m:r>
                      </m:num>
                      <m:den>
                        <m:r>
                          <a:rPr lang="en-US" altLang="zh-CN" sz="2400" b="1" i="1" kern="1050" smtClean="0">
                            <a:effectLst/>
                            <a:latin typeface="Cambria Math" panose="02040503050406030204" pitchFamily="18" charset="0"/>
                            <a:ea typeface="宋体" panose="02010600030101010101" pitchFamily="2" charset="-122"/>
                          </a:rPr>
                          <m:t>𝟐</m:t>
                        </m:r>
                      </m:den>
                    </m:f>
                    <m:sSup>
                      <m:sSupPr>
                        <m:ctrlPr>
                          <a:rPr lang="zh-CN" altLang="zh-CN" sz="2400" b="1" i="1" kern="1050">
                            <a:effectLst/>
                            <a:latin typeface="Cambria Math" panose="02040503050406030204" pitchFamily="18" charset="0"/>
                            <a:ea typeface="Cambria Math" panose="02040503050406030204" pitchFamily="18" charset="0"/>
                          </a:rPr>
                        </m:ctrlPr>
                      </m:sSupPr>
                      <m:e>
                        <m:r>
                          <a:rPr lang="en-US" altLang="zh-CN" sz="2400" b="1" i="1" kern="1050" smtClean="0">
                            <a:effectLst/>
                            <a:latin typeface="Cambria Math" panose="02040503050406030204" pitchFamily="18" charset="0"/>
                            <a:ea typeface="宋体" panose="02010600030101010101" pitchFamily="2" charset="-122"/>
                          </a:rPr>
                          <m:t>𝒔</m:t>
                        </m:r>
                      </m:e>
                      <m:sup>
                        <m:r>
                          <a:rPr lang="en-US" altLang="zh-CN" sz="2400" b="1" i="1" kern="1050" smtClean="0">
                            <a:effectLst/>
                            <a:latin typeface="Cambria Math" panose="02040503050406030204" pitchFamily="18" charset="0"/>
                            <a:ea typeface="宋体" panose="02010600030101010101" pitchFamily="2" charset="-122"/>
                          </a:rPr>
                          <m:t>𝑻</m:t>
                        </m:r>
                      </m:sup>
                    </m:sSup>
                    <m:r>
                      <a:rPr lang="en-US" altLang="zh-CN" sz="2400" b="1" i="1" kern="1050" smtClean="0">
                        <a:effectLst/>
                        <a:latin typeface="Cambria Math" panose="02040503050406030204" pitchFamily="18" charset="0"/>
                        <a:ea typeface="宋体" panose="02010600030101010101" pitchFamily="2" charset="-122"/>
                      </a:rPr>
                      <m:t>𝑴</m:t>
                    </m:r>
                    <m:r>
                      <a:rPr lang="en-US" altLang="zh-CN" sz="2400" b="1" i="1" kern="1050" smtClean="0">
                        <a:effectLst/>
                        <a:latin typeface="Cambria Math" panose="02040503050406030204" pitchFamily="18" charset="0"/>
                        <a:ea typeface="宋体" panose="02010600030101010101" pitchFamily="2" charset="-122"/>
                      </a:rPr>
                      <m:t>(</m:t>
                    </m:r>
                    <m:r>
                      <a:rPr lang="en-US" altLang="zh-CN" sz="2400" b="1" i="1" kern="1050" smtClean="0">
                        <a:effectLst/>
                        <a:latin typeface="Cambria Math" panose="02040503050406030204" pitchFamily="18" charset="0"/>
                        <a:ea typeface="宋体" panose="02010600030101010101" pitchFamily="2" charset="-122"/>
                      </a:rPr>
                      <m:t>𝜽</m:t>
                    </m:r>
                    <m:r>
                      <a:rPr lang="en-US" altLang="zh-CN" sz="2400" b="1" i="1" kern="1050" smtClean="0">
                        <a:effectLst/>
                        <a:latin typeface="Cambria Math" panose="02040503050406030204" pitchFamily="18" charset="0"/>
                        <a:ea typeface="宋体" panose="02010600030101010101" pitchFamily="2" charset="-122"/>
                      </a:rPr>
                      <m:t>)</m:t>
                    </m:r>
                    <m:r>
                      <a:rPr lang="en-US" altLang="zh-CN" sz="2400" b="1" i="1" kern="1050" smtClean="0">
                        <a:effectLst/>
                        <a:latin typeface="Cambria Math" panose="02040503050406030204" pitchFamily="18" charset="0"/>
                        <a:ea typeface="宋体" panose="02010600030101010101" pitchFamily="2" charset="-122"/>
                      </a:rPr>
                      <m:t>𝒔</m:t>
                    </m:r>
                    <m:r>
                      <a:rPr lang="en-US" altLang="zh-CN" sz="2400" b="1" i="1" kern="1050" smtClean="0">
                        <a:effectLst/>
                        <a:latin typeface="Cambria Math" panose="02040503050406030204" pitchFamily="18" charset="0"/>
                        <a:ea typeface="宋体" panose="02010600030101010101" pitchFamily="2" charset="-122"/>
                      </a:rPr>
                      <m:t>+</m:t>
                    </m:r>
                    <m:f>
                      <m:fPr>
                        <m:ctrlPr>
                          <a:rPr lang="zh-CN" altLang="zh-CN" sz="2400" b="1" i="1" kern="1050">
                            <a:effectLst/>
                            <a:latin typeface="Cambria Math" panose="02040503050406030204" pitchFamily="18" charset="0"/>
                            <a:ea typeface="Cambria Math" panose="02040503050406030204" pitchFamily="18" charset="0"/>
                          </a:rPr>
                        </m:ctrlPr>
                      </m:fPr>
                      <m:num>
                        <m:r>
                          <a:rPr lang="en-US" altLang="zh-CN" sz="2400" b="1" i="1" kern="1050" smtClean="0">
                            <a:effectLst/>
                            <a:latin typeface="Cambria Math" panose="02040503050406030204" pitchFamily="18" charset="0"/>
                            <a:ea typeface="宋体" panose="02010600030101010101" pitchFamily="2" charset="-122"/>
                          </a:rPr>
                          <m:t>𝟏</m:t>
                        </m:r>
                      </m:num>
                      <m:den>
                        <m:r>
                          <a:rPr lang="en-US" altLang="zh-CN" sz="2400" b="1" i="1" kern="1050" smtClean="0">
                            <a:effectLst/>
                            <a:latin typeface="Cambria Math" panose="02040503050406030204" pitchFamily="18" charset="0"/>
                            <a:ea typeface="宋体" panose="02010600030101010101" pitchFamily="2" charset="-122"/>
                          </a:rPr>
                          <m:t>𝟐</m:t>
                        </m:r>
                      </m:den>
                    </m:f>
                    <m:sSup>
                      <m:sSupPr>
                        <m:ctrlPr>
                          <a:rPr lang="zh-CN" altLang="zh-CN" sz="2400" b="1" i="1" kern="1050">
                            <a:effectLst/>
                            <a:latin typeface="Cambria Math" panose="02040503050406030204" pitchFamily="18" charset="0"/>
                            <a:ea typeface="Cambria Math" panose="02040503050406030204" pitchFamily="18" charset="0"/>
                          </a:rPr>
                        </m:ctrlPr>
                      </m:sSupPr>
                      <m:e>
                        <m:sSub>
                          <m:sSubPr>
                            <m:ctrlPr>
                              <a:rPr lang="zh-CN" altLang="zh-CN" sz="2400" b="1" i="1" kern="1050">
                                <a:effectLst/>
                                <a:latin typeface="Cambria Math" panose="02040503050406030204" pitchFamily="18" charset="0"/>
                                <a:ea typeface="Cambria Math" panose="02040503050406030204" pitchFamily="18" charset="0"/>
                              </a:rPr>
                            </m:ctrlPr>
                          </m:sSubPr>
                          <m:e>
                            <m:acc>
                              <m:accPr>
                                <m:chr m:val="̃"/>
                                <m:ctrlPr>
                                  <a:rPr lang="zh-CN" altLang="zh-CN" sz="2400" b="1" i="1" kern="1050">
                                    <a:effectLst/>
                                    <a:latin typeface="Cambria Math" panose="02040503050406030204" pitchFamily="18" charset="0"/>
                                    <a:ea typeface="Cambria Math" panose="02040503050406030204" pitchFamily="18" charset="0"/>
                                  </a:rPr>
                                </m:ctrlPr>
                              </m:accPr>
                              <m:e>
                                <m:r>
                                  <a:rPr lang="en-US" altLang="zh-CN" sz="2400" b="1" i="1" kern="1050" smtClean="0">
                                    <a:effectLst/>
                                    <a:latin typeface="Cambria Math" panose="02040503050406030204" pitchFamily="18" charset="0"/>
                                    <a:ea typeface="宋体" panose="02010600030101010101" pitchFamily="2" charset="-122"/>
                                  </a:rPr>
                                  <m:t>𝒑</m:t>
                                </m:r>
                              </m:e>
                            </m:acc>
                          </m:e>
                          <m:sub>
                            <m:r>
                              <a:rPr lang="en-US" altLang="zh-CN" sz="2400" b="1" i="1" kern="1050" smtClean="0">
                                <a:effectLst/>
                                <a:latin typeface="Cambria Math" panose="02040503050406030204" pitchFamily="18" charset="0"/>
                                <a:ea typeface="宋体" panose="02010600030101010101" pitchFamily="2" charset="-122"/>
                              </a:rPr>
                              <m:t>𝟎</m:t>
                            </m:r>
                          </m:sub>
                        </m:sSub>
                      </m:e>
                      <m:sup>
                        <m:r>
                          <a:rPr lang="en-US" altLang="zh-CN" sz="2400" b="1" i="1" kern="1050" smtClean="0">
                            <a:effectLst/>
                            <a:latin typeface="Cambria Math" panose="02040503050406030204" pitchFamily="18" charset="0"/>
                            <a:ea typeface="宋体" panose="02010600030101010101" pitchFamily="2" charset="-122"/>
                          </a:rPr>
                          <m:t>𝑻</m:t>
                        </m:r>
                      </m:sup>
                    </m:sSup>
                    <m:sSup>
                      <m:sSupPr>
                        <m:ctrlPr>
                          <a:rPr lang="zh-CN" altLang="zh-CN" sz="2400" b="1" i="1" kern="1050">
                            <a:effectLst/>
                            <a:latin typeface="Cambria Math" panose="02040503050406030204" pitchFamily="18" charset="0"/>
                            <a:ea typeface="Cambria Math" panose="02040503050406030204" pitchFamily="18" charset="0"/>
                          </a:rPr>
                        </m:ctrlPr>
                      </m:sSupPr>
                      <m:e>
                        <m:r>
                          <a:rPr lang="en-US" altLang="zh-CN" sz="2400" b="1" i="1" kern="1050" smtClean="0">
                            <a:effectLst/>
                            <a:latin typeface="Cambria Math" panose="02040503050406030204" pitchFamily="18" charset="0"/>
                            <a:ea typeface="宋体" panose="02010600030101010101" pitchFamily="2" charset="-122"/>
                          </a:rPr>
                          <m:t>𝜞</m:t>
                        </m:r>
                      </m:e>
                      <m:sup>
                        <m:r>
                          <a:rPr lang="en-US" altLang="zh-CN" sz="2400" b="1" i="1" kern="1050" smtClean="0">
                            <a:effectLst/>
                            <a:latin typeface="Cambria Math" panose="02040503050406030204" pitchFamily="18" charset="0"/>
                            <a:ea typeface="宋体" panose="02010600030101010101" pitchFamily="2" charset="-122"/>
                          </a:rPr>
                          <m:t>−</m:t>
                        </m:r>
                        <m:r>
                          <a:rPr lang="en-US" altLang="zh-CN" sz="2400" b="1" i="1" kern="1050" smtClean="0">
                            <a:effectLst/>
                            <a:latin typeface="Cambria Math" panose="02040503050406030204" pitchFamily="18" charset="0"/>
                            <a:ea typeface="宋体" panose="02010600030101010101" pitchFamily="2" charset="-122"/>
                          </a:rPr>
                          <m:t>𝟏</m:t>
                        </m:r>
                      </m:sup>
                    </m:sSup>
                    <m:sSub>
                      <m:sSubPr>
                        <m:ctrlPr>
                          <a:rPr lang="zh-CN" altLang="zh-CN" sz="2400" b="1" i="1" kern="1050">
                            <a:effectLst/>
                            <a:latin typeface="Cambria Math" panose="02040503050406030204" pitchFamily="18" charset="0"/>
                            <a:ea typeface="Cambria Math" panose="02040503050406030204" pitchFamily="18" charset="0"/>
                          </a:rPr>
                        </m:ctrlPr>
                      </m:sSubPr>
                      <m:e>
                        <m:acc>
                          <m:accPr>
                            <m:chr m:val="̃"/>
                            <m:ctrlPr>
                              <a:rPr lang="zh-CN" altLang="zh-CN" sz="2400" b="1" i="1" kern="1050">
                                <a:effectLst/>
                                <a:latin typeface="Cambria Math" panose="02040503050406030204" pitchFamily="18" charset="0"/>
                                <a:ea typeface="Cambria Math" panose="02040503050406030204" pitchFamily="18" charset="0"/>
                              </a:rPr>
                            </m:ctrlPr>
                          </m:accPr>
                          <m:e>
                            <m:r>
                              <a:rPr lang="en-US" altLang="zh-CN" sz="2400" b="1" i="1" kern="1050" smtClean="0">
                                <a:effectLst/>
                                <a:latin typeface="Cambria Math" panose="02040503050406030204" pitchFamily="18" charset="0"/>
                                <a:ea typeface="宋体" panose="02010600030101010101" pitchFamily="2" charset="-122"/>
                              </a:rPr>
                              <m:t>𝒑</m:t>
                            </m:r>
                          </m:e>
                        </m:acc>
                      </m:e>
                      <m:sub>
                        <m:r>
                          <a:rPr lang="en-US" altLang="zh-CN" sz="2400" b="1" i="1" kern="1050" smtClean="0">
                            <a:effectLst/>
                            <a:latin typeface="Cambria Math" panose="02040503050406030204" pitchFamily="18" charset="0"/>
                            <a:ea typeface="宋体" panose="02010600030101010101" pitchFamily="2" charset="-122"/>
                          </a:rPr>
                          <m:t>𝟎</m:t>
                        </m:r>
                      </m:sub>
                    </m:sSub>
                  </m:oMath>
                </a14:m>
                <a:r>
                  <a:rPr lang="en-US" altLang="zh-CN" sz="2400" b="1" kern="1050" dirty="0">
                    <a:effectLst/>
                    <a:latin typeface="微软雅黑" panose="020B0503020204020204" pitchFamily="34" charset="-122"/>
                    <a:ea typeface="微软雅黑" panose="020B0503020204020204" pitchFamily="34" charset="-122"/>
                  </a:rPr>
                  <a:t>	                     (7.23)</a:t>
                </a:r>
                <a:endParaRPr lang="zh-CN" altLang="zh-CN" sz="2400" b="1" kern="1050" dirty="0">
                  <a:effectLst/>
                  <a:latin typeface="微软雅黑" panose="020B0503020204020204" pitchFamily="34" charset="-122"/>
                  <a:ea typeface="微软雅黑" panose="020B0503020204020204" pitchFamily="34" charset="-122"/>
                </a:endParaRPr>
              </a:p>
              <a:p>
                <a:pPr indent="269875" algn="just">
                  <a:lnSpc>
                    <a:spcPct val="150000"/>
                  </a:lnSpc>
                </a:pPr>
                <a:r>
                  <a:rPr lang="zh-CN" altLang="zh-CN" sz="2400" b="1" kern="1000" dirty="0">
                    <a:effectLst/>
                    <a:latin typeface="微软雅黑" panose="020B0503020204020204" pitchFamily="34" charset="-122"/>
                    <a:ea typeface="微软雅黑" panose="020B0503020204020204" pitchFamily="34" charset="-122"/>
                  </a:rPr>
                  <a:t>其沿闭环系统轨迹的微分为</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zh-CN" altLang="zh-CN" sz="2400" b="1" i="1" kern="1050">
                            <a:effectLst/>
                            <a:latin typeface="Cambria Math" panose="02040503050406030204" pitchFamily="18" charset="0"/>
                            <a:ea typeface="Cambria Math" panose="02040503050406030204" pitchFamily="18" charset="0"/>
                          </a:rPr>
                        </m:ctrlPr>
                      </m:accPr>
                      <m:e>
                        <m:r>
                          <a:rPr lang="en-US" altLang="zh-CN" sz="2400" b="1" i="1" kern="1050" smtClean="0">
                            <a:effectLst/>
                            <a:latin typeface="Cambria Math" panose="02040503050406030204" pitchFamily="18" charset="0"/>
                            <a:ea typeface="宋体" panose="02010600030101010101" pitchFamily="2" charset="-122"/>
                          </a:rPr>
                          <m:t>𝑽</m:t>
                        </m:r>
                      </m:e>
                    </m:acc>
                    <m:r>
                      <a:rPr lang="en-US" altLang="zh-CN" sz="2400" b="1" i="1" kern="1050" smtClean="0">
                        <a:effectLst/>
                        <a:latin typeface="Cambria Math" panose="02040503050406030204" pitchFamily="18" charset="0"/>
                        <a:ea typeface="宋体" panose="02010600030101010101" pitchFamily="2" charset="-122"/>
                      </a:rPr>
                      <m:t>=</m:t>
                    </m:r>
                    <m:f>
                      <m:fPr>
                        <m:ctrlPr>
                          <a:rPr lang="zh-CN" altLang="zh-CN" sz="2400" b="1" i="1" kern="1050">
                            <a:effectLst/>
                            <a:latin typeface="Cambria Math" panose="02040503050406030204" pitchFamily="18" charset="0"/>
                            <a:ea typeface="Cambria Math" panose="02040503050406030204" pitchFamily="18" charset="0"/>
                          </a:rPr>
                        </m:ctrlPr>
                      </m:fPr>
                      <m:num>
                        <m:r>
                          <a:rPr lang="en-US" altLang="zh-CN" sz="2400" b="1" i="1" kern="1050" smtClean="0">
                            <a:effectLst/>
                            <a:latin typeface="Cambria Math" panose="02040503050406030204" pitchFamily="18" charset="0"/>
                            <a:ea typeface="宋体" panose="02010600030101010101" pitchFamily="2" charset="-122"/>
                          </a:rPr>
                          <m:t>𝟏</m:t>
                        </m:r>
                      </m:num>
                      <m:den>
                        <m:r>
                          <a:rPr lang="en-US" altLang="zh-CN" sz="2400" b="1" i="1" kern="1050" smtClean="0">
                            <a:effectLst/>
                            <a:latin typeface="Cambria Math" panose="02040503050406030204" pitchFamily="18" charset="0"/>
                            <a:ea typeface="宋体" panose="02010600030101010101" pitchFamily="2" charset="-122"/>
                          </a:rPr>
                          <m:t>𝟐</m:t>
                        </m:r>
                      </m:den>
                    </m:f>
                    <m:sSup>
                      <m:sSupPr>
                        <m:ctrlPr>
                          <a:rPr lang="zh-CN" altLang="zh-CN" sz="2400" b="1" i="1" kern="1050">
                            <a:effectLst/>
                            <a:latin typeface="Cambria Math" panose="02040503050406030204" pitchFamily="18" charset="0"/>
                            <a:ea typeface="Cambria Math" panose="02040503050406030204" pitchFamily="18" charset="0"/>
                          </a:rPr>
                        </m:ctrlPr>
                      </m:sSupPr>
                      <m:e>
                        <m:r>
                          <a:rPr lang="en-US" altLang="zh-CN" sz="2400" b="1" i="1" kern="1050" smtClean="0">
                            <a:effectLst/>
                            <a:latin typeface="Cambria Math" panose="02040503050406030204" pitchFamily="18" charset="0"/>
                            <a:ea typeface="宋体" panose="02010600030101010101" pitchFamily="2" charset="-122"/>
                          </a:rPr>
                          <m:t>𝒔</m:t>
                        </m:r>
                      </m:e>
                      <m:sup>
                        <m:r>
                          <a:rPr lang="en-US" altLang="zh-CN" sz="2400" b="1" i="1" kern="1050" smtClean="0">
                            <a:effectLst/>
                            <a:latin typeface="Cambria Math" panose="02040503050406030204" pitchFamily="18" charset="0"/>
                            <a:ea typeface="宋体" panose="02010600030101010101" pitchFamily="2" charset="-122"/>
                          </a:rPr>
                          <m:t>𝑻</m:t>
                        </m:r>
                      </m:sup>
                    </m:sSup>
                    <m:acc>
                      <m:accPr>
                        <m:chr m:val="̇"/>
                        <m:ctrlPr>
                          <a:rPr lang="zh-CN" altLang="zh-CN" sz="2400" b="1" i="1" kern="1050">
                            <a:effectLst/>
                            <a:latin typeface="Cambria Math" panose="02040503050406030204" pitchFamily="18" charset="0"/>
                            <a:ea typeface="Cambria Math" panose="02040503050406030204" pitchFamily="18" charset="0"/>
                          </a:rPr>
                        </m:ctrlPr>
                      </m:accPr>
                      <m:e>
                        <m:r>
                          <a:rPr lang="en-US" altLang="zh-CN" sz="2400" b="1" i="1" kern="1050" smtClean="0">
                            <a:effectLst/>
                            <a:latin typeface="Cambria Math" panose="02040503050406030204" pitchFamily="18" charset="0"/>
                            <a:ea typeface="宋体" panose="02010600030101010101" pitchFamily="2" charset="-122"/>
                          </a:rPr>
                          <m:t>𝑴</m:t>
                        </m:r>
                      </m:e>
                    </m:acc>
                    <m:r>
                      <a:rPr lang="en-US" altLang="zh-CN" sz="2400" b="1" i="1" kern="1050" smtClean="0">
                        <a:effectLst/>
                        <a:latin typeface="Cambria Math" panose="02040503050406030204" pitchFamily="18" charset="0"/>
                        <a:ea typeface="宋体" panose="02010600030101010101" pitchFamily="2" charset="-122"/>
                      </a:rPr>
                      <m:t>(</m:t>
                    </m:r>
                    <m:r>
                      <a:rPr lang="en-US" altLang="zh-CN" sz="2400" b="1" i="1" kern="1050" smtClean="0">
                        <a:effectLst/>
                        <a:latin typeface="Cambria Math" panose="02040503050406030204" pitchFamily="18" charset="0"/>
                        <a:ea typeface="宋体" panose="02010600030101010101" pitchFamily="2" charset="-122"/>
                      </a:rPr>
                      <m:t>𝜽</m:t>
                    </m:r>
                    <m:r>
                      <a:rPr lang="en-US" altLang="zh-CN" sz="2400" b="1" i="1" kern="1050" smtClean="0">
                        <a:effectLst/>
                        <a:latin typeface="Cambria Math" panose="02040503050406030204" pitchFamily="18" charset="0"/>
                        <a:ea typeface="宋体" panose="02010600030101010101" pitchFamily="2" charset="-122"/>
                      </a:rPr>
                      <m:t>)</m:t>
                    </m:r>
                    <m:r>
                      <a:rPr lang="en-US" altLang="zh-CN" sz="2400" b="1" i="1" kern="1050" smtClean="0">
                        <a:effectLst/>
                        <a:latin typeface="Cambria Math" panose="02040503050406030204" pitchFamily="18" charset="0"/>
                        <a:ea typeface="宋体" panose="02010600030101010101" pitchFamily="2" charset="-122"/>
                      </a:rPr>
                      <m:t>𝒔</m:t>
                    </m:r>
                    <m:r>
                      <a:rPr lang="en-US" altLang="zh-CN" sz="2400" b="1" i="1" kern="1050" smtClean="0">
                        <a:effectLst/>
                        <a:latin typeface="Cambria Math" panose="02040503050406030204" pitchFamily="18" charset="0"/>
                        <a:ea typeface="宋体" panose="02010600030101010101" pitchFamily="2" charset="-122"/>
                      </a:rPr>
                      <m:t>+</m:t>
                    </m:r>
                    <m:sSup>
                      <m:sSupPr>
                        <m:ctrlPr>
                          <a:rPr lang="zh-CN" altLang="zh-CN" sz="2400" b="1" i="1" kern="1050">
                            <a:effectLst/>
                            <a:latin typeface="Cambria Math" panose="02040503050406030204" pitchFamily="18" charset="0"/>
                            <a:ea typeface="Cambria Math" panose="02040503050406030204" pitchFamily="18" charset="0"/>
                          </a:rPr>
                        </m:ctrlPr>
                      </m:sSupPr>
                      <m:e>
                        <m:r>
                          <a:rPr lang="en-US" altLang="zh-CN" sz="2400" b="1" i="1" kern="1050" smtClean="0">
                            <a:effectLst/>
                            <a:latin typeface="Cambria Math" panose="02040503050406030204" pitchFamily="18" charset="0"/>
                            <a:ea typeface="宋体" panose="02010600030101010101" pitchFamily="2" charset="-122"/>
                          </a:rPr>
                          <m:t>𝒔</m:t>
                        </m:r>
                      </m:e>
                      <m:sup>
                        <m:r>
                          <a:rPr lang="en-US" altLang="zh-CN" sz="2400" b="1" i="1" kern="1050" smtClean="0">
                            <a:effectLst/>
                            <a:latin typeface="Cambria Math" panose="02040503050406030204" pitchFamily="18" charset="0"/>
                            <a:ea typeface="宋体" panose="02010600030101010101" pitchFamily="2" charset="-122"/>
                          </a:rPr>
                          <m:t>𝑻</m:t>
                        </m:r>
                      </m:sup>
                    </m:sSup>
                    <m:r>
                      <a:rPr lang="en-US" altLang="zh-CN" sz="2400" b="1" i="1" kern="1050" smtClean="0">
                        <a:effectLst/>
                        <a:latin typeface="Cambria Math" panose="02040503050406030204" pitchFamily="18" charset="0"/>
                        <a:ea typeface="宋体" panose="02010600030101010101" pitchFamily="2" charset="-122"/>
                      </a:rPr>
                      <m:t>𝑴</m:t>
                    </m:r>
                    <m:r>
                      <a:rPr lang="en-US" altLang="zh-CN" sz="2400" b="1" i="1" kern="1050" smtClean="0">
                        <a:effectLst/>
                        <a:latin typeface="Cambria Math" panose="02040503050406030204" pitchFamily="18" charset="0"/>
                        <a:ea typeface="宋体" panose="02010600030101010101" pitchFamily="2" charset="-122"/>
                      </a:rPr>
                      <m:t>(</m:t>
                    </m:r>
                    <m:r>
                      <a:rPr lang="en-US" altLang="zh-CN" sz="2400" b="1" i="1" kern="1050" smtClean="0">
                        <a:effectLst/>
                        <a:latin typeface="Cambria Math" panose="02040503050406030204" pitchFamily="18" charset="0"/>
                        <a:ea typeface="宋体" panose="02010600030101010101" pitchFamily="2" charset="-122"/>
                      </a:rPr>
                      <m:t>𝜽</m:t>
                    </m:r>
                    <m:r>
                      <a:rPr lang="en-US" altLang="zh-CN" sz="2400" b="1" i="1" kern="1050" smtClean="0">
                        <a:effectLst/>
                        <a:latin typeface="Cambria Math" panose="02040503050406030204" pitchFamily="18" charset="0"/>
                        <a:ea typeface="宋体" panose="02010600030101010101" pitchFamily="2" charset="-122"/>
                      </a:rPr>
                      <m:t>)</m:t>
                    </m:r>
                    <m:acc>
                      <m:accPr>
                        <m:chr m:val="̇"/>
                        <m:ctrlPr>
                          <a:rPr lang="zh-CN" altLang="zh-CN" sz="2400" b="1" i="1" kern="1050">
                            <a:effectLst/>
                            <a:latin typeface="Cambria Math" panose="02040503050406030204" pitchFamily="18" charset="0"/>
                            <a:ea typeface="Cambria Math" panose="02040503050406030204" pitchFamily="18" charset="0"/>
                          </a:rPr>
                        </m:ctrlPr>
                      </m:accPr>
                      <m:e>
                        <m:r>
                          <a:rPr lang="en-US" altLang="zh-CN" sz="2400" b="1" i="1" kern="1050" smtClean="0">
                            <a:effectLst/>
                            <a:latin typeface="Cambria Math" panose="02040503050406030204" pitchFamily="18" charset="0"/>
                            <a:ea typeface="宋体" panose="02010600030101010101" pitchFamily="2" charset="-122"/>
                          </a:rPr>
                          <m:t>𝒔</m:t>
                        </m:r>
                      </m:e>
                    </m:acc>
                    <m:r>
                      <a:rPr lang="en-US" altLang="zh-CN" sz="2400" b="1" i="1" kern="1050" smtClean="0">
                        <a:effectLst/>
                        <a:latin typeface="Cambria Math" panose="02040503050406030204" pitchFamily="18" charset="0"/>
                        <a:ea typeface="宋体" panose="02010600030101010101" pitchFamily="2" charset="-122"/>
                      </a:rPr>
                      <m:t>+</m:t>
                    </m:r>
                    <m:sSup>
                      <m:sSupPr>
                        <m:ctrlPr>
                          <a:rPr lang="zh-CN" altLang="zh-CN" sz="2400" b="1" i="1" kern="1050">
                            <a:effectLst/>
                            <a:latin typeface="Cambria Math" panose="02040503050406030204" pitchFamily="18" charset="0"/>
                            <a:ea typeface="Cambria Math" panose="02040503050406030204" pitchFamily="18" charset="0"/>
                          </a:rPr>
                        </m:ctrlPr>
                      </m:sSupPr>
                      <m:e>
                        <m:sSub>
                          <m:sSubPr>
                            <m:ctrlPr>
                              <a:rPr lang="zh-CN" altLang="zh-CN" sz="2400" b="1" i="1" kern="1050">
                                <a:effectLst/>
                                <a:latin typeface="Cambria Math" panose="02040503050406030204" pitchFamily="18" charset="0"/>
                                <a:ea typeface="Cambria Math" panose="02040503050406030204" pitchFamily="18" charset="0"/>
                              </a:rPr>
                            </m:ctrlPr>
                          </m:sSubPr>
                          <m:e>
                            <m:acc>
                              <m:accPr>
                                <m:chr m:val="̃"/>
                                <m:ctrlPr>
                                  <a:rPr lang="zh-CN" altLang="zh-CN" sz="2400" b="1" i="1" kern="1050">
                                    <a:effectLst/>
                                    <a:latin typeface="Cambria Math" panose="02040503050406030204" pitchFamily="18" charset="0"/>
                                    <a:ea typeface="Cambria Math" panose="02040503050406030204" pitchFamily="18" charset="0"/>
                                  </a:rPr>
                                </m:ctrlPr>
                              </m:accPr>
                              <m:e>
                                <m:r>
                                  <a:rPr lang="en-US" altLang="zh-CN" sz="2400" b="1" i="1" kern="1050" smtClean="0">
                                    <a:effectLst/>
                                    <a:latin typeface="Cambria Math" panose="02040503050406030204" pitchFamily="18" charset="0"/>
                                    <a:ea typeface="宋体" panose="02010600030101010101" pitchFamily="2" charset="-122"/>
                                  </a:rPr>
                                  <m:t>𝒑</m:t>
                                </m:r>
                              </m:e>
                            </m:acc>
                          </m:e>
                          <m:sub>
                            <m:r>
                              <a:rPr lang="en-US" altLang="zh-CN" sz="2400" b="1" i="1" kern="1050" smtClean="0">
                                <a:effectLst/>
                                <a:latin typeface="Cambria Math" panose="02040503050406030204" pitchFamily="18" charset="0"/>
                                <a:ea typeface="宋体" panose="02010600030101010101" pitchFamily="2" charset="-122"/>
                              </a:rPr>
                              <m:t>𝟎</m:t>
                            </m:r>
                          </m:sub>
                        </m:sSub>
                      </m:e>
                      <m:sup>
                        <m:r>
                          <a:rPr lang="en-US" altLang="zh-CN" sz="2400" b="1" i="1" kern="1050" smtClean="0">
                            <a:effectLst/>
                            <a:latin typeface="Cambria Math" panose="02040503050406030204" pitchFamily="18" charset="0"/>
                            <a:ea typeface="宋体" panose="02010600030101010101" pitchFamily="2" charset="-122"/>
                          </a:rPr>
                          <m:t>𝑻</m:t>
                        </m:r>
                      </m:sup>
                    </m:sSup>
                    <m:sSup>
                      <m:sSupPr>
                        <m:ctrlPr>
                          <a:rPr lang="zh-CN" altLang="zh-CN" sz="2400" b="1" i="1" kern="1050">
                            <a:effectLst/>
                            <a:latin typeface="Cambria Math" panose="02040503050406030204" pitchFamily="18" charset="0"/>
                            <a:ea typeface="Cambria Math" panose="02040503050406030204" pitchFamily="18" charset="0"/>
                          </a:rPr>
                        </m:ctrlPr>
                      </m:sSupPr>
                      <m:e>
                        <m:r>
                          <a:rPr lang="en-US" altLang="zh-CN" sz="2400" b="1" i="1" kern="1050" smtClean="0">
                            <a:effectLst/>
                            <a:latin typeface="Cambria Math" panose="02040503050406030204" pitchFamily="18" charset="0"/>
                            <a:ea typeface="宋体" panose="02010600030101010101" pitchFamily="2" charset="-122"/>
                          </a:rPr>
                          <m:t>𝜞</m:t>
                        </m:r>
                      </m:e>
                      <m:sup>
                        <m:r>
                          <a:rPr lang="en-US" altLang="zh-CN" sz="2400" b="1" i="1" kern="1050" smtClean="0">
                            <a:effectLst/>
                            <a:latin typeface="Cambria Math" panose="02040503050406030204" pitchFamily="18" charset="0"/>
                            <a:ea typeface="宋体" panose="02010600030101010101" pitchFamily="2" charset="-122"/>
                          </a:rPr>
                          <m:t>−</m:t>
                        </m:r>
                        <m:r>
                          <a:rPr lang="en-US" altLang="zh-CN" sz="2400" b="1" i="1" kern="1050" smtClean="0">
                            <a:effectLst/>
                            <a:latin typeface="Cambria Math" panose="02040503050406030204" pitchFamily="18" charset="0"/>
                            <a:ea typeface="宋体" panose="02010600030101010101" pitchFamily="2" charset="-122"/>
                          </a:rPr>
                          <m:t>𝟏</m:t>
                        </m:r>
                      </m:sup>
                    </m:sSup>
                    <m:sSub>
                      <m:sSubPr>
                        <m:ctrlPr>
                          <a:rPr lang="zh-CN" altLang="zh-CN" sz="2400" b="1" i="1" kern="1050">
                            <a:effectLst/>
                            <a:latin typeface="Cambria Math" panose="02040503050406030204" pitchFamily="18" charset="0"/>
                            <a:ea typeface="Cambria Math" panose="02040503050406030204" pitchFamily="18" charset="0"/>
                          </a:rPr>
                        </m:ctrlPr>
                      </m:sSubPr>
                      <m:e>
                        <m:acc>
                          <m:accPr>
                            <m:chr m:val="̇"/>
                            <m:ctrlPr>
                              <a:rPr lang="zh-CN" altLang="zh-CN" sz="2400" b="1" i="1" kern="1050">
                                <a:effectLst/>
                                <a:latin typeface="Cambria Math" panose="02040503050406030204" pitchFamily="18" charset="0"/>
                                <a:ea typeface="Cambria Math" panose="02040503050406030204" pitchFamily="18" charset="0"/>
                              </a:rPr>
                            </m:ctrlPr>
                          </m:accPr>
                          <m:e>
                            <m:acc>
                              <m:accPr>
                                <m:chr m:val="̃"/>
                                <m:ctrlPr>
                                  <a:rPr lang="zh-CN" altLang="zh-CN" sz="2400" b="1" i="1" kern="1050">
                                    <a:effectLst/>
                                    <a:latin typeface="Cambria Math" panose="02040503050406030204" pitchFamily="18" charset="0"/>
                                    <a:ea typeface="Cambria Math" panose="02040503050406030204" pitchFamily="18" charset="0"/>
                                  </a:rPr>
                                </m:ctrlPr>
                              </m:accPr>
                              <m:e>
                                <m:r>
                                  <a:rPr lang="en-US" altLang="zh-CN" sz="2400" b="1" i="1" kern="1050" smtClean="0">
                                    <a:effectLst/>
                                    <a:latin typeface="Cambria Math" panose="02040503050406030204" pitchFamily="18" charset="0"/>
                                    <a:ea typeface="宋体" panose="02010600030101010101" pitchFamily="2" charset="-122"/>
                                  </a:rPr>
                                  <m:t>𝒑</m:t>
                                </m:r>
                              </m:e>
                            </m:acc>
                          </m:e>
                        </m:acc>
                      </m:e>
                      <m:sub>
                        <m:r>
                          <a:rPr lang="en-US" altLang="zh-CN" sz="2400" b="1" i="1" kern="1050" smtClean="0">
                            <a:effectLst/>
                            <a:latin typeface="Cambria Math" panose="02040503050406030204" pitchFamily="18" charset="0"/>
                            <a:ea typeface="宋体" panose="02010600030101010101" pitchFamily="2" charset="-122"/>
                          </a:rPr>
                          <m:t>𝟎</m:t>
                        </m:r>
                      </m:sub>
                    </m:sSub>
                  </m:oMath>
                </a14:m>
                <a:r>
                  <a:rPr lang="en-US" altLang="zh-CN" sz="2400" b="1" kern="1050" dirty="0">
                    <a:effectLst/>
                    <a:latin typeface="微软雅黑" panose="020B0503020204020204" pitchFamily="34" charset="-122"/>
                    <a:ea typeface="微软雅黑" panose="020B0503020204020204" pitchFamily="34" charset="-122"/>
                  </a:rPr>
                  <a:t>	           (7.24) </a:t>
                </a:r>
                <a:endParaRPr lang="zh-CN" altLang="zh-CN" sz="2400" b="1" kern="1050" dirty="0">
                  <a:effectLst/>
                  <a:latin typeface="微软雅黑" panose="020B0503020204020204" pitchFamily="34" charset="-122"/>
                  <a:ea typeface="微软雅黑" panose="020B0503020204020204" pitchFamily="34" charset="-122"/>
                </a:endParaRPr>
              </a:p>
            </p:txBody>
          </p:sp>
        </mc:Choice>
        <mc:Fallback xmlns="">
          <p:sp>
            <p:nvSpPr>
              <p:cNvPr id="9" name="文本框 8">
                <a:extLst>
                  <a:ext uri="{FF2B5EF4-FFF2-40B4-BE49-F238E27FC236}">
                    <a16:creationId xmlns:a16="http://schemas.microsoft.com/office/drawing/2014/main" id="{AFA8D100-2524-D22C-6996-68E742D27CA1}"/>
                  </a:ext>
                </a:extLst>
              </p:cNvPr>
              <p:cNvSpPr txBox="1">
                <a:spLocks noRot="1" noChangeAspect="1" noMove="1" noResize="1" noEditPoints="1" noAdjustHandles="1" noChangeArrowheads="1" noChangeShapeType="1" noTextEdit="1"/>
              </p:cNvSpPr>
              <p:nvPr/>
            </p:nvSpPr>
            <p:spPr>
              <a:xfrm>
                <a:off x="819150" y="1181593"/>
                <a:ext cx="10229850" cy="2499787"/>
              </a:xfrm>
              <a:prstGeom prst="rect">
                <a:avLst/>
              </a:prstGeom>
              <a:blipFill>
                <a:blip r:embed="rId3"/>
                <a:stretch>
                  <a:fillRect l="-893" t="-1951" r="-893" b="-14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50AD6208-C870-2FAD-528C-4241D41DCE39}"/>
                  </a:ext>
                </a:extLst>
              </p:cNvPr>
              <p:cNvSpPr txBox="1"/>
              <p:nvPr/>
            </p:nvSpPr>
            <p:spPr>
              <a:xfrm>
                <a:off x="912017" y="3876786"/>
                <a:ext cx="10367963" cy="49051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2400" b="1" i="0" u="none" strike="noStrike" kern="10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将由式</a:t>
                </a:r>
                <a:r>
                  <a:rPr kumimoji="0" lang="en-US" altLang="zh-CN" sz="2400" b="1" i="0" u="none" strike="noStrike" kern="10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2400" b="1" i="0" u="none" strike="noStrike" kern="10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7.22</a:t>
                </a:r>
                <a:r>
                  <a:rPr kumimoji="0" lang="en-US" altLang="zh-CN" sz="2400" b="1" i="0" u="none" strike="noStrike" kern="10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zh-CN" sz="2400" b="1" i="0" u="none" strike="noStrike" kern="10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求得的</a:t>
                </a:r>
                <a14:m>
                  <m:oMath xmlns:m="http://schemas.openxmlformats.org/officeDocument/2006/math">
                    <m:acc>
                      <m:accPr>
                        <m:chr m:val="̇"/>
                        <m:ctrlPr>
                          <a:rPr kumimoji="0" lang="zh-CN" altLang="en-US" sz="2400" b="1" i="1" u="none" strike="noStrike" kern="1200" cap="none" spc="0" normalizeH="0" baseline="0" noProof="0" smtClean="0">
                            <a:ln>
                              <a:noFill/>
                            </a:ln>
                            <a:solidFill>
                              <a:srgbClr val="000000"/>
                            </a:solidFill>
                            <a:effectLst/>
                            <a:uLnTx/>
                            <a:uFillTx/>
                            <a:latin typeface="Cambria Math" panose="02040503050406030204" pitchFamily="18" charset="0"/>
                            <a:cs typeface="+mn-cs"/>
                          </a:rPr>
                        </m:ctrlPr>
                      </m:accPr>
                      <m:e>
                        <m:r>
                          <a:rPr kumimoji="0" lang="zh-CN" altLang="en-US" sz="2400" b="1" i="1" u="none" strike="noStrike" kern="1200" cap="none" spc="0" normalizeH="0" baseline="0" noProof="0">
                            <a:ln>
                              <a:noFill/>
                            </a:ln>
                            <a:solidFill>
                              <a:srgbClr val="000000"/>
                            </a:solidFill>
                            <a:effectLst/>
                            <a:uLnTx/>
                            <a:uFillTx/>
                            <a:latin typeface="Cambria Math" panose="02040503050406030204" pitchFamily="18" charset="0"/>
                            <a:cs typeface="+mn-cs"/>
                          </a:rPr>
                          <m:t>𝑴</m:t>
                        </m:r>
                      </m:e>
                    </m:acc>
                    <m:r>
                      <a:rPr kumimoji="0" lang="zh-CN" altLang="en-US" sz="2400" b="1"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zh-CN" altLang="en-US" sz="2400" b="1" i="1" u="none" strike="noStrike" kern="1200" cap="none" spc="0" normalizeH="0" baseline="0" noProof="0">
                        <a:ln>
                          <a:noFill/>
                        </a:ln>
                        <a:solidFill>
                          <a:srgbClr val="000000"/>
                        </a:solidFill>
                        <a:effectLst/>
                        <a:uLnTx/>
                        <a:uFillTx/>
                        <a:latin typeface="Cambria Math" panose="02040503050406030204" pitchFamily="18" charset="0"/>
                        <a:cs typeface="+mn-cs"/>
                      </a:rPr>
                      <m:t>𝜽</m:t>
                    </m:r>
                    <m:r>
                      <a:rPr kumimoji="0" lang="zh-CN" altLang="en-US" sz="2400" b="1" i="1" u="none" strike="noStrike" kern="1200" cap="none" spc="0" normalizeH="0" baseline="0" noProof="0">
                        <a:ln>
                          <a:noFill/>
                        </a:ln>
                        <a:solidFill>
                          <a:srgbClr val="000000"/>
                        </a:solidFill>
                        <a:effectLst/>
                        <a:uLnTx/>
                        <a:uFillTx/>
                        <a:latin typeface="Cambria Math" panose="02040503050406030204" pitchFamily="18" charset="0"/>
                        <a:cs typeface="+mn-cs"/>
                      </a:rPr>
                      <m:t>)</m:t>
                    </m:r>
                    <m:r>
                      <a:rPr kumimoji="0" lang="zh-CN" altLang="en-US" sz="2400" b="1" i="1" u="none" strike="noStrike" kern="1200" cap="none" spc="0" normalizeH="0" baseline="0" noProof="0">
                        <a:ln>
                          <a:noFill/>
                        </a:ln>
                        <a:solidFill>
                          <a:srgbClr val="000000"/>
                        </a:solidFill>
                        <a:effectLst/>
                        <a:uLnTx/>
                        <a:uFillTx/>
                        <a:latin typeface="Cambria Math" panose="02040503050406030204" pitchFamily="18" charset="0"/>
                        <a:cs typeface="+mn-cs"/>
                      </a:rPr>
                      <m:t>𝒔</m:t>
                    </m:r>
                  </m:oMath>
                </a14:m>
                <a:r>
                  <a:rPr kumimoji="0" lang="zh-CN"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和由式</a:t>
                </a:r>
                <a:r>
                  <a:rPr kumimoji="0" lang="en-US"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(7.20)</a:t>
                </a:r>
                <a:r>
                  <a:rPr kumimoji="0" lang="zh-CN" altLang="zh-CN"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求得的</a:t>
                </a:r>
                <a14:m>
                  <m:oMath xmlns:m="http://schemas.openxmlformats.org/officeDocument/2006/math">
                    <m:sSub>
                      <m:sSubPr>
                        <m:ctrlPr>
                          <a:rPr kumimoji="0" lang="zh-CN" altLang="zh-CN"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acc>
                          <m:accPr>
                            <m:chr m:val="̇"/>
                            <m:ctrlPr>
                              <a:rPr kumimoji="0" lang="zh-CN" altLang="zh-CN"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acc>
                              <m:accPr>
                                <m:chr m:val="̃"/>
                                <m:ctrlPr>
                                  <a:rPr kumimoji="0" lang="zh-CN" altLang="zh-CN"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r>
                                  <a:rPr kumimoji="0" lang="en-US" altLang="zh-CN" sz="2400" b="1" i="1" u="none" strike="noStrike" kern="1200" cap="none" spc="0" normalizeH="0" baseline="0" noProof="0">
                                    <a:ln>
                                      <a:noFill/>
                                    </a:ln>
                                    <a:solidFill>
                                      <a:prstClr val="black"/>
                                    </a:solidFill>
                                    <a:effectLst/>
                                    <a:uLnTx/>
                                    <a:uFillTx/>
                                    <a:latin typeface="Cambria Math" panose="02040503050406030204" pitchFamily="18" charset="0"/>
                                    <a:cs typeface="+mn-cs"/>
                                  </a:rPr>
                                  <m:t>𝒑</m:t>
                                </m:r>
                              </m:e>
                            </m:acc>
                          </m:e>
                        </m:acc>
                      </m:e>
                      <m:sub>
                        <m:r>
                          <a:rPr kumimoji="0" lang="en-US" altLang="zh-CN" sz="2400" b="1" i="1" u="none" strike="noStrike" kern="1200" cap="none" spc="0" normalizeH="0" baseline="0" noProof="0">
                            <a:ln>
                              <a:noFill/>
                            </a:ln>
                            <a:solidFill>
                              <a:prstClr val="black"/>
                            </a:solidFill>
                            <a:effectLst/>
                            <a:uLnTx/>
                            <a:uFillTx/>
                            <a:latin typeface="Cambria Math" panose="02040503050406030204" pitchFamily="18" charset="0"/>
                            <a:cs typeface="+mn-cs"/>
                          </a:rPr>
                          <m:t>𝟎</m:t>
                        </m:r>
                      </m:sub>
                    </m:sSub>
                    <m:r>
                      <a:rPr kumimoji="0" lang="en-US" altLang="zh-CN" sz="2400" b="1"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acc>
                          <m:accPr>
                            <m:chr m:val="̇"/>
                            <m:ctrlPr>
                              <a:rPr kumimoji="0" lang="zh-CN" altLang="zh-CN"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acc>
                              <m:accPr>
                                <m:chr m:val="̂"/>
                                <m:ctrlPr>
                                  <a:rPr kumimoji="0" lang="zh-CN" altLang="zh-CN" sz="2400" b="1" i="1" u="none" strike="noStrike" kern="1200" cap="none" spc="0" normalizeH="0" baseline="0" noProof="0">
                                    <a:ln>
                                      <a:noFill/>
                                    </a:ln>
                                    <a:solidFill>
                                      <a:prstClr val="black"/>
                                    </a:solidFill>
                                    <a:effectLst/>
                                    <a:uLnTx/>
                                    <a:uFillTx/>
                                    <a:latin typeface="Cambria Math" panose="02040503050406030204" pitchFamily="18" charset="0"/>
                                    <a:cs typeface="+mn-cs"/>
                                  </a:rPr>
                                </m:ctrlPr>
                              </m:accPr>
                              <m:e>
                                <m:r>
                                  <a:rPr kumimoji="0" lang="en-US" altLang="zh-CN" sz="2400" b="1" i="1" u="none" strike="noStrike" kern="1200" cap="none" spc="0" normalizeH="0" baseline="0" noProof="0">
                                    <a:ln>
                                      <a:noFill/>
                                    </a:ln>
                                    <a:solidFill>
                                      <a:prstClr val="black"/>
                                    </a:solidFill>
                                    <a:effectLst/>
                                    <a:uLnTx/>
                                    <a:uFillTx/>
                                    <a:latin typeface="Cambria Math" panose="02040503050406030204" pitchFamily="18" charset="0"/>
                                    <a:cs typeface="+mn-cs"/>
                                  </a:rPr>
                                  <m:t>𝒑</m:t>
                                </m:r>
                              </m:e>
                            </m:acc>
                          </m:e>
                        </m:acc>
                      </m:e>
                      <m:sub>
                        <m:r>
                          <a:rPr kumimoji="0" lang="en-US" altLang="zh-CN" sz="2400" b="1" i="1" u="none" strike="noStrike" kern="1200" cap="none" spc="0" normalizeH="0" baseline="0" noProof="0">
                            <a:ln>
                              <a:noFill/>
                            </a:ln>
                            <a:solidFill>
                              <a:prstClr val="black"/>
                            </a:solidFill>
                            <a:effectLst/>
                            <a:uLnTx/>
                            <a:uFillTx/>
                            <a:latin typeface="Cambria Math" panose="02040503050406030204" pitchFamily="18" charset="0"/>
                            <a:cs typeface="+mn-cs"/>
                          </a:rPr>
                          <m:t>𝟎</m:t>
                        </m:r>
                      </m:sub>
                    </m:sSub>
                  </m:oMath>
                </a14:m>
                <a:r>
                  <a:rPr kumimoji="0" lang="en-US" altLang="zh-CN" sz="2400" b="0" i="0" u="none" strike="noStrike" kern="1000" cap="none" spc="0" normalizeH="0" baseline="0" noProof="0" dirty="0">
                    <a:ln>
                      <a:noFill/>
                    </a:ln>
                    <a:solidFill>
                      <a:prstClr val="black"/>
                    </a:solidFill>
                    <a:effectLst/>
                    <a:uLnTx/>
                    <a:uFillTx/>
                    <a:latin typeface="宋体" panose="02010600030101010101" pitchFamily="2" charset="-122"/>
                    <a:ea typeface="宋体" panose="02010600030101010101" pitchFamily="2" charset="-122"/>
                    <a:cs typeface="+mn-cs"/>
                  </a:rPr>
                  <a:t> </a:t>
                </a:r>
                <a:r>
                  <a:rPr kumimoji="0" lang="en-US" altLang="zh-CN" sz="2400" b="1" i="0" u="none" strike="noStrike" kern="10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14:m>
                  <m:oMath xmlns:m="http://schemas.openxmlformats.org/officeDocument/2006/math">
                    <m:r>
                      <a:rPr kumimoji="0" lang="en-US" altLang="zh-CN" sz="2400" b="1" i="1" u="none" strike="noStrike" kern="10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𝜽</m:t>
                    </m:r>
                  </m:oMath>
                </a14:m>
                <a:r>
                  <a:rPr kumimoji="0" lang="zh-CN" altLang="zh-CN" sz="2400" b="1" i="0" u="none" strike="noStrike" kern="10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为未知恒定参数</a:t>
                </a:r>
                <a:r>
                  <a:rPr kumimoji="0" lang="en-US" altLang="zh-CN" sz="2400" b="1" i="0" u="none" strike="noStrike" kern="10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zh-CN" sz="2400" b="0" i="0" u="none" strike="noStrike" kern="10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mn-cs"/>
                  </a:rPr>
                  <a:t>，</a:t>
                </a:r>
                <a:endParaRPr kumimoji="0" lang="zh-CN" altLang="en-US" sz="24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mc:Choice>
        <mc:Fallback xmlns="">
          <p:sp>
            <p:nvSpPr>
              <p:cNvPr id="10" name="文本框 9">
                <a:extLst>
                  <a:ext uri="{FF2B5EF4-FFF2-40B4-BE49-F238E27FC236}">
                    <a16:creationId xmlns:a16="http://schemas.microsoft.com/office/drawing/2014/main" id="{50AD6208-C870-2FAD-528C-4241D41DCE39}"/>
                  </a:ext>
                </a:extLst>
              </p:cNvPr>
              <p:cNvSpPr txBox="1">
                <a:spLocks noRot="1" noChangeAspect="1" noMove="1" noResize="1" noEditPoints="1" noAdjustHandles="1" noChangeArrowheads="1" noChangeShapeType="1" noTextEdit="1"/>
              </p:cNvSpPr>
              <p:nvPr/>
            </p:nvSpPr>
            <p:spPr>
              <a:xfrm>
                <a:off x="912017" y="3876786"/>
                <a:ext cx="10367963" cy="490519"/>
              </a:xfrm>
              <a:prstGeom prst="rect">
                <a:avLst/>
              </a:prstGeom>
              <a:blipFill>
                <a:blip r:embed="rId4"/>
                <a:stretch>
                  <a:fillRect l="-941" t="-8750" r="-3941" b="-287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FF057929-26A6-10A8-059A-8300C2C71A68}"/>
                  </a:ext>
                </a:extLst>
              </p:cNvPr>
              <p:cNvSpPr txBox="1"/>
              <p:nvPr/>
            </p:nvSpPr>
            <p:spPr>
              <a:xfrm>
                <a:off x="733423" y="4472142"/>
                <a:ext cx="10725150" cy="940514"/>
              </a:xfrm>
              <a:prstGeom prst="rect">
                <a:avLst/>
              </a:prstGeom>
              <a:noFill/>
            </p:spPr>
            <p:txBody>
              <a:bodyPr wrap="square">
                <a:spAutoFit/>
              </a:bodyPr>
              <a:lstStyle/>
              <a:p>
                <a:pPr marL="0" marR="0" lvl="0" indent="269875" algn="just" defTabSz="914400" rtl="0" eaLnBrk="1" fontAlgn="auto" latinLnBrk="0" hangingPunct="1">
                  <a:lnSpc>
                    <a:spcPct val="100000"/>
                  </a:lnSpc>
                  <a:spcBef>
                    <a:spcPts val="0"/>
                  </a:spcBef>
                  <a:spcAft>
                    <a:spcPts val="0"/>
                  </a:spcAft>
                  <a:buClrTx/>
                  <a:buSzTx/>
                  <a:buFontTx/>
                  <a:buNone/>
                  <a:tabLst/>
                  <a:defRPr/>
                </a:pPr>
                <a:r>
                  <a:rPr kumimoji="0" lang="zh-CN" altLang="zh-CN" sz="2400" b="1" i="0" u="none" strike="noStrike" kern="10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并利用</a:t>
                </a:r>
                <a14:m>
                  <m:oMath xmlns:m="http://schemas.openxmlformats.org/officeDocument/2006/math">
                    <m:acc>
                      <m:accPr>
                        <m:chr m:val="̇"/>
                        <m:ctrlPr>
                          <a:rPr kumimoji="0" lang="zh-CN" altLang="zh-CN" sz="2400" b="1" i="1" u="none" strike="noStrike" kern="10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accPr>
                      <m:e>
                        <m:r>
                          <a:rPr kumimoji="0" lang="en-US" altLang="zh-CN" sz="2400" b="1" i="1" u="none" strike="noStrike" kern="10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𝑴</m:t>
                        </m:r>
                      </m:e>
                    </m:acc>
                    <m:r>
                      <a:rPr kumimoji="0" lang="en-US" altLang="zh-CN" sz="2400" b="1" i="1" u="none" strike="noStrike" kern="10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m:t>
                    </m:r>
                    <m:r>
                      <a:rPr kumimoji="0" lang="en-US" altLang="zh-CN" sz="2400" b="1" i="1" u="none" strike="noStrike" kern="10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𝜽</m:t>
                    </m:r>
                    <m:r>
                      <a:rPr kumimoji="0" lang="en-US" altLang="zh-CN" sz="2400" b="1" i="1" u="none" strike="noStrike" kern="10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m:t>
                    </m:r>
                    <m:r>
                      <a:rPr kumimoji="0" lang="en-US" altLang="zh-CN" sz="2400" b="1" i="1" u="none" strike="noStrike" kern="10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𝟐</m:t>
                    </m:r>
                    <m:r>
                      <a:rPr kumimoji="0" lang="en-US" altLang="zh-CN" sz="2400" b="1" i="1" u="none" strike="noStrike" kern="10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𝑪</m:t>
                    </m:r>
                    <m:r>
                      <a:rPr kumimoji="0" lang="en-US" altLang="zh-CN" sz="2400" b="1" i="1" u="none" strike="noStrike" kern="10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m:t>
                    </m:r>
                    <m:r>
                      <a:rPr kumimoji="0" lang="en-US" altLang="zh-CN" sz="2400" b="1" i="1" u="none" strike="noStrike" kern="10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𝜽</m:t>
                    </m:r>
                    <m:r>
                      <a:rPr kumimoji="0" lang="en-US" altLang="zh-CN" sz="2400" b="1" i="1" u="none" strike="noStrike" kern="10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m:t>
                    </m:r>
                    <m:acc>
                      <m:accPr>
                        <m:chr m:val="̇"/>
                        <m:ctrlPr>
                          <a:rPr kumimoji="0" lang="zh-CN" altLang="zh-CN" sz="2400" b="1" i="1" u="none" strike="noStrike" kern="10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accPr>
                      <m:e>
                        <m:r>
                          <a:rPr kumimoji="0" lang="en-US" altLang="zh-CN" sz="2400" b="1" i="1" u="none" strike="noStrike" kern="10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𝜽</m:t>
                        </m:r>
                      </m:e>
                    </m:acc>
                    <m:r>
                      <a:rPr kumimoji="0" lang="en-US" altLang="zh-CN" sz="2400" b="1" i="1" u="none" strike="noStrike" kern="100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m:t>
                    </m:r>
                  </m:oMath>
                </a14:m>
                <a:r>
                  <a:rPr kumimoji="0" lang="zh-CN" altLang="zh-CN" sz="2400" b="1" i="0" u="none" strike="noStrike" kern="10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为反对称矩阵的特性，可得</a:t>
                </a:r>
              </a:p>
              <a:p>
                <a:pPr marL="0" marR="0" lvl="0" indent="0" algn="just" defTabSz="914400" rtl="0" eaLnBrk="1" fontAlgn="auto" latinLnBrk="0" hangingPunct="1">
                  <a:lnSpc>
                    <a:spcPct val="100000"/>
                  </a:lnSpc>
                  <a:spcBef>
                    <a:spcPts val="400"/>
                  </a:spcBef>
                  <a:spcAft>
                    <a:spcPts val="400"/>
                  </a:spcAft>
                  <a:buClrTx/>
                  <a:buSzTx/>
                  <a:buFontTx/>
                  <a:buNone/>
                  <a:tabLst>
                    <a:tab pos="5364480" algn="r"/>
                  </a:tabLst>
                  <a:defRPr/>
                </a:pPr>
                <a:r>
                  <a:rPr kumimoji="0" lang="en-US" altLang="zh-CN" sz="2400" b="1" i="0" u="none" strike="noStrike" kern="105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14:m>
                  <m:oMath xmlns:m="http://schemas.openxmlformats.org/officeDocument/2006/math">
                    <m:acc>
                      <m:accPr>
                        <m:chr m:val="̇"/>
                        <m:ctrlPr>
                          <a:rPr kumimoji="0" lang="zh-CN" altLang="zh-CN" sz="2400" b="1" i="1" u="none" strike="noStrike" kern="105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accPr>
                      <m:e>
                        <m:r>
                          <a:rPr kumimoji="0" lang="en-US" altLang="zh-CN" sz="2400" b="1" i="1" u="none" strike="noStrike" kern="105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𝑽</m:t>
                        </m:r>
                      </m:e>
                    </m:acc>
                    <m:r>
                      <a:rPr kumimoji="0" lang="en-US" altLang="zh-CN" sz="2400" b="1" i="1" u="none" strike="noStrike" kern="105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m:t>
                    </m:r>
                    <m:sSup>
                      <m:sSupPr>
                        <m:ctrlPr>
                          <a:rPr kumimoji="0" lang="zh-CN" altLang="zh-CN" sz="2400" b="1" i="1" u="none" strike="noStrike" kern="105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pPr>
                      <m:e>
                        <m:r>
                          <a:rPr kumimoji="0" lang="en-US" altLang="zh-CN" sz="2400" b="1" i="1" u="none" strike="noStrike" kern="105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𝒔</m:t>
                        </m:r>
                      </m:e>
                      <m:sup>
                        <m:r>
                          <a:rPr kumimoji="0" lang="en-US" altLang="zh-CN" sz="2400" b="1" i="1" u="none" strike="noStrike" kern="105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𝑻</m:t>
                        </m:r>
                      </m:sup>
                    </m:sSup>
                    <m:r>
                      <a:rPr kumimoji="0" lang="en-US" altLang="zh-CN" sz="2400" b="1" i="1" u="none" strike="noStrike" kern="105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𝒀</m:t>
                    </m:r>
                    <m:sSub>
                      <m:sSubPr>
                        <m:ctrlPr>
                          <a:rPr kumimoji="0" lang="zh-CN" altLang="zh-CN" sz="2400" b="1" i="1" u="none" strike="noStrike" kern="105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acc>
                          <m:accPr>
                            <m:chr m:val="̃"/>
                            <m:ctrlPr>
                              <a:rPr kumimoji="0" lang="zh-CN" altLang="zh-CN" sz="2400" b="1" i="1" u="none" strike="noStrike" kern="105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accPr>
                          <m:e>
                            <m:r>
                              <a:rPr kumimoji="0" lang="en-US" altLang="zh-CN" sz="2400" b="1" i="1" u="none" strike="noStrike" kern="105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𝒑</m:t>
                            </m:r>
                          </m:e>
                        </m:acc>
                      </m:e>
                      <m:sub>
                        <m:r>
                          <a:rPr kumimoji="0" lang="en-US" altLang="zh-CN" sz="2400" b="1" i="1" u="none" strike="noStrike" kern="105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𝟎</m:t>
                        </m:r>
                      </m:sub>
                    </m:sSub>
                    <m:r>
                      <a:rPr kumimoji="0" lang="en-US" altLang="zh-CN" sz="2400" b="1" i="1" u="none" strike="noStrike" kern="105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m:t>
                    </m:r>
                    <m:sSup>
                      <m:sSupPr>
                        <m:ctrlPr>
                          <a:rPr kumimoji="0" lang="zh-CN" altLang="zh-CN" sz="2400" b="1" i="1" u="none" strike="noStrike" kern="105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pPr>
                      <m:e>
                        <m:r>
                          <a:rPr kumimoji="0" lang="en-US" altLang="zh-CN" sz="2400" b="1" i="1" u="none" strike="noStrike" kern="105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𝒔</m:t>
                        </m:r>
                      </m:e>
                      <m:sup>
                        <m:r>
                          <a:rPr kumimoji="0" lang="en-US" altLang="zh-CN" sz="2400" b="1" i="1" u="none" strike="noStrike" kern="105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𝑻</m:t>
                        </m:r>
                      </m:sup>
                    </m:sSup>
                    <m:r>
                      <a:rPr kumimoji="0" lang="en-US" altLang="zh-CN" sz="2400" b="1" i="1" u="none" strike="noStrike" kern="105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m:t>
                    </m:r>
                    <m:r>
                      <a:rPr kumimoji="0" lang="en-US" altLang="zh-CN" sz="2400" b="1" i="1" u="none" strike="noStrike" kern="105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𝑲</m:t>
                    </m:r>
                    <m:r>
                      <a:rPr kumimoji="0" lang="en-US" altLang="zh-CN" sz="2400" b="1" i="1" u="none" strike="noStrike" kern="105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m:t>
                    </m:r>
                    <m:r>
                      <a:rPr kumimoji="0" lang="en-US" altLang="zh-CN" sz="2400" b="1" i="1" u="none" strike="noStrike" kern="105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𝑫</m:t>
                    </m:r>
                    <m:r>
                      <a:rPr kumimoji="0" lang="en-US" altLang="zh-CN" sz="2400" b="1" i="1" u="none" strike="noStrike" kern="105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m:t>
                    </m:r>
                    <m:r>
                      <a:rPr kumimoji="0" lang="en-US" altLang="zh-CN" sz="2400" b="1" i="1" u="none" strike="noStrike" kern="105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𝒔</m:t>
                    </m:r>
                    <m:r>
                      <a:rPr kumimoji="0" lang="en-US" altLang="zh-CN" sz="2400" b="1" i="1" u="none" strike="noStrike" kern="105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m:t>
                    </m:r>
                    <m:sSup>
                      <m:sSupPr>
                        <m:ctrlPr>
                          <a:rPr kumimoji="0" lang="zh-CN" altLang="zh-CN" sz="2400" b="1" i="1" u="none" strike="noStrike" kern="105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pPr>
                      <m:e>
                        <m:sSub>
                          <m:sSubPr>
                            <m:ctrlPr>
                              <a:rPr kumimoji="0" lang="zh-CN" altLang="zh-CN" sz="2400" b="1" i="1" u="none" strike="noStrike" kern="105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acc>
                              <m:accPr>
                                <m:chr m:val="̃"/>
                                <m:ctrlPr>
                                  <a:rPr kumimoji="0" lang="zh-CN" altLang="zh-CN" sz="2400" b="1" i="1" u="none" strike="noStrike" kern="105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accPr>
                              <m:e>
                                <m:r>
                                  <a:rPr kumimoji="0" lang="en-US" altLang="zh-CN" sz="2400" b="1" i="1" u="none" strike="noStrike" kern="105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𝒑</m:t>
                                </m:r>
                              </m:e>
                            </m:acc>
                          </m:e>
                          <m:sub>
                            <m:r>
                              <a:rPr kumimoji="0" lang="en-US" altLang="zh-CN" sz="2400" b="1" i="1" u="none" strike="noStrike" kern="105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𝟎</m:t>
                            </m:r>
                          </m:sub>
                        </m:sSub>
                      </m:e>
                      <m:sup>
                        <m:r>
                          <a:rPr kumimoji="0" lang="en-US" altLang="zh-CN" sz="2400" b="1" i="1" u="none" strike="noStrike" kern="105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𝑻</m:t>
                        </m:r>
                      </m:sup>
                    </m:sSup>
                    <m:sSup>
                      <m:sSupPr>
                        <m:ctrlPr>
                          <a:rPr kumimoji="0" lang="zh-CN" altLang="zh-CN" sz="2400" b="1" i="1" u="none" strike="noStrike" kern="105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pPr>
                      <m:e>
                        <m:r>
                          <a:rPr kumimoji="0" lang="en-US" altLang="zh-CN" sz="2400" b="1" i="1" u="none" strike="noStrike" kern="105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𝜞</m:t>
                        </m:r>
                      </m:e>
                      <m:sup>
                        <m:r>
                          <a:rPr kumimoji="0" lang="en-US" altLang="zh-CN" sz="2400" b="1" i="1" u="none" strike="noStrike" kern="105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m:t>
                        </m:r>
                        <m:r>
                          <a:rPr kumimoji="0" lang="en-US" altLang="zh-CN" sz="2400" b="1" i="1" u="none" strike="noStrike" kern="105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𝟏</m:t>
                        </m:r>
                      </m:sup>
                    </m:sSup>
                    <m:sSub>
                      <m:sSubPr>
                        <m:ctrlPr>
                          <a:rPr kumimoji="0" lang="zh-CN" altLang="zh-CN" sz="2400" b="1" i="1" u="none" strike="noStrike" kern="105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sSubPr>
                      <m:e>
                        <m:acc>
                          <m:accPr>
                            <m:chr m:val="̇"/>
                            <m:ctrlPr>
                              <a:rPr kumimoji="0" lang="zh-CN" altLang="zh-CN" sz="2400" b="1" i="1" u="none" strike="noStrike" kern="105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accPr>
                          <m:e>
                            <m:acc>
                              <m:accPr>
                                <m:chr m:val="̃"/>
                                <m:ctrlPr>
                                  <a:rPr kumimoji="0" lang="zh-CN" altLang="zh-CN" sz="2400" b="1" i="1" u="none" strike="noStrike" kern="105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ctrlPr>
                              </m:accPr>
                              <m:e>
                                <m:r>
                                  <a:rPr kumimoji="0" lang="en-US" altLang="zh-CN" sz="2400" b="1" i="1" u="none" strike="noStrike" kern="105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𝒑</m:t>
                                </m:r>
                              </m:e>
                            </m:acc>
                          </m:e>
                        </m:acc>
                      </m:e>
                      <m:sub>
                        <m:r>
                          <a:rPr kumimoji="0" lang="en-US" altLang="zh-CN" sz="2400" b="1" i="1" u="none" strike="noStrike" kern="1050" cap="none" spc="0" normalizeH="0" baseline="0" noProof="0">
                            <a:ln>
                              <a:noFill/>
                            </a:ln>
                            <a:solidFill>
                              <a:prstClr val="black"/>
                            </a:solidFill>
                            <a:effectLst/>
                            <a:uLnTx/>
                            <a:uFillTx/>
                            <a:latin typeface="Cambria Math" panose="02040503050406030204" pitchFamily="18" charset="0"/>
                            <a:ea typeface="宋体" panose="02010600030101010101" pitchFamily="2" charset="-122"/>
                            <a:cs typeface="+mn-cs"/>
                          </a:rPr>
                          <m:t>𝟎</m:t>
                        </m:r>
                      </m:sub>
                    </m:sSub>
                  </m:oMath>
                </a14:m>
                <a:r>
                  <a:rPr kumimoji="0" lang="en-US" altLang="zh-CN" sz="2400" b="1" i="0" u="none" strike="noStrike" kern="105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(7.25)</a:t>
                </a:r>
                <a:endParaRPr kumimoji="0" lang="zh-CN" altLang="zh-CN" sz="2400" b="1" i="0" u="none" strike="noStrike" kern="105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mc:Choice>
        <mc:Fallback xmlns="">
          <p:sp>
            <p:nvSpPr>
              <p:cNvPr id="11" name="文本框 10">
                <a:extLst>
                  <a:ext uri="{FF2B5EF4-FFF2-40B4-BE49-F238E27FC236}">
                    <a16:creationId xmlns:a16="http://schemas.microsoft.com/office/drawing/2014/main" id="{FF057929-26A6-10A8-059A-8300C2C71A68}"/>
                  </a:ext>
                </a:extLst>
              </p:cNvPr>
              <p:cNvSpPr txBox="1">
                <a:spLocks noRot="1" noChangeAspect="1" noMove="1" noResize="1" noEditPoints="1" noAdjustHandles="1" noChangeArrowheads="1" noChangeShapeType="1" noTextEdit="1"/>
              </p:cNvSpPr>
              <p:nvPr/>
            </p:nvSpPr>
            <p:spPr>
              <a:xfrm>
                <a:off x="733423" y="4472142"/>
                <a:ext cx="10725150" cy="940514"/>
              </a:xfrm>
              <a:prstGeom prst="rect">
                <a:avLst/>
              </a:prstGeom>
              <a:blipFill>
                <a:blip r:embed="rId5"/>
                <a:stretch>
                  <a:fillRect t="-3247" b="-1428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B843A218-B46C-9A05-8038-2A3B00F6C6E2}"/>
                  </a:ext>
                </a:extLst>
              </p:cNvPr>
              <p:cNvSpPr txBox="1"/>
              <p:nvPr/>
            </p:nvSpPr>
            <p:spPr>
              <a:xfrm>
                <a:off x="819150" y="5536050"/>
                <a:ext cx="10136982" cy="842538"/>
              </a:xfrm>
              <a:prstGeom prst="rect">
                <a:avLst/>
              </a:prstGeom>
              <a:noFill/>
            </p:spPr>
            <p:txBody>
              <a:bodyPr wrap="square">
                <a:spAutoFit/>
              </a:bodyPr>
              <a:lstStyle/>
              <a:p>
                <a:pPr indent="269875" algn="just"/>
                <a:r>
                  <a:rPr lang="zh-CN" altLang="zh-CN" sz="2400" b="1" kern="1000" dirty="0">
                    <a:effectLst/>
                    <a:latin typeface="微软雅黑" panose="020B0503020204020204" pitchFamily="34" charset="-122"/>
                    <a:ea typeface="微软雅黑" panose="020B0503020204020204" pitchFamily="34" charset="-122"/>
                  </a:rPr>
                  <a:t>应用参数自适应律，上式可重写为</a:t>
                </a:r>
                <a:endParaRPr lang="en-US" altLang="zh-CN" sz="2400" b="1" kern="1000" dirty="0">
                  <a:effectLst/>
                  <a:latin typeface="微软雅黑" panose="020B0503020204020204" pitchFamily="34" charset="-122"/>
                  <a:ea typeface="微软雅黑" panose="020B0503020204020204" pitchFamily="34" charset="-122"/>
                </a:endParaRPr>
              </a:p>
              <a:p>
                <a:pPr indent="269875" algn="just"/>
                <a14:m>
                  <m:oMath xmlns:m="http://schemas.openxmlformats.org/officeDocument/2006/math">
                    <m:acc>
                      <m:accPr>
                        <m:chr m:val="̇"/>
                        <m:ctrlPr>
                          <a:rPr lang="zh-CN" altLang="zh-CN" sz="2400" b="1" i="1" kern="1050" smtClean="0">
                            <a:effectLst/>
                            <a:latin typeface="Cambria Math" panose="02040503050406030204" pitchFamily="18" charset="0"/>
                            <a:ea typeface="Cambria Math" panose="02040503050406030204" pitchFamily="18" charset="0"/>
                          </a:rPr>
                        </m:ctrlPr>
                      </m:accPr>
                      <m:e>
                        <m:r>
                          <a:rPr lang="en-US" altLang="zh-CN" sz="2400" b="1" i="1" kern="1050" smtClean="0">
                            <a:effectLst/>
                            <a:latin typeface="Cambria Math" panose="02040503050406030204" pitchFamily="18" charset="0"/>
                            <a:ea typeface="宋体" panose="02010600030101010101" pitchFamily="2" charset="-122"/>
                          </a:rPr>
                          <m:t>𝑽</m:t>
                        </m:r>
                      </m:e>
                    </m:acc>
                    <m:r>
                      <a:rPr lang="en-US" altLang="zh-CN" sz="2400" b="1" i="1" kern="1050" smtClean="0">
                        <a:effectLst/>
                        <a:latin typeface="Cambria Math" panose="02040503050406030204" pitchFamily="18" charset="0"/>
                        <a:ea typeface="宋体" panose="02010600030101010101" pitchFamily="2" charset="-122"/>
                      </a:rPr>
                      <m:t>=−</m:t>
                    </m:r>
                    <m:sSup>
                      <m:sSupPr>
                        <m:ctrlPr>
                          <a:rPr lang="zh-CN" altLang="zh-CN" sz="2400" b="1" i="1" kern="1050">
                            <a:effectLst/>
                            <a:latin typeface="Cambria Math" panose="02040503050406030204" pitchFamily="18" charset="0"/>
                            <a:ea typeface="Cambria Math" panose="02040503050406030204" pitchFamily="18" charset="0"/>
                          </a:rPr>
                        </m:ctrlPr>
                      </m:sSupPr>
                      <m:e>
                        <m:r>
                          <a:rPr lang="en-US" altLang="zh-CN" sz="2400" b="1" i="1" kern="1050" smtClean="0">
                            <a:effectLst/>
                            <a:latin typeface="Cambria Math" panose="02040503050406030204" pitchFamily="18" charset="0"/>
                            <a:ea typeface="宋体" panose="02010600030101010101" pitchFamily="2" charset="-122"/>
                          </a:rPr>
                          <m:t>𝒔</m:t>
                        </m:r>
                      </m:e>
                      <m:sup>
                        <m:r>
                          <a:rPr lang="en-US" altLang="zh-CN" sz="2400" b="1" i="1" kern="1050" smtClean="0">
                            <a:effectLst/>
                            <a:latin typeface="Cambria Math" panose="02040503050406030204" pitchFamily="18" charset="0"/>
                            <a:ea typeface="宋体" panose="02010600030101010101" pitchFamily="2" charset="-122"/>
                          </a:rPr>
                          <m:t>𝑻</m:t>
                        </m:r>
                      </m:sup>
                    </m:sSup>
                    <m:r>
                      <a:rPr lang="en-US" altLang="zh-CN" sz="2400" b="1" i="1" kern="1050" smtClean="0">
                        <a:effectLst/>
                        <a:latin typeface="Cambria Math" panose="02040503050406030204" pitchFamily="18" charset="0"/>
                        <a:ea typeface="宋体" panose="02010600030101010101" pitchFamily="2" charset="-122"/>
                      </a:rPr>
                      <m:t>(</m:t>
                    </m:r>
                    <m:r>
                      <a:rPr lang="en-US" altLang="zh-CN" sz="2400" b="1" i="1" kern="1050" smtClean="0">
                        <a:effectLst/>
                        <a:latin typeface="Cambria Math" panose="02040503050406030204" pitchFamily="18" charset="0"/>
                        <a:ea typeface="宋体" panose="02010600030101010101" pitchFamily="2" charset="-122"/>
                      </a:rPr>
                      <m:t>𝑲</m:t>
                    </m:r>
                    <m:r>
                      <a:rPr lang="en-US" altLang="zh-CN" sz="2400" b="1" i="1" kern="1050" smtClean="0">
                        <a:effectLst/>
                        <a:latin typeface="Cambria Math" panose="02040503050406030204" pitchFamily="18" charset="0"/>
                        <a:ea typeface="宋体" panose="02010600030101010101" pitchFamily="2" charset="-122"/>
                      </a:rPr>
                      <m:t>+</m:t>
                    </m:r>
                    <m:r>
                      <a:rPr lang="en-US" altLang="zh-CN" sz="2400" b="1" i="1" kern="1050" smtClean="0">
                        <a:effectLst/>
                        <a:latin typeface="Cambria Math" panose="02040503050406030204" pitchFamily="18" charset="0"/>
                        <a:ea typeface="宋体" panose="02010600030101010101" pitchFamily="2" charset="-122"/>
                      </a:rPr>
                      <m:t>𝑫</m:t>
                    </m:r>
                    <m:r>
                      <a:rPr lang="en-US" altLang="zh-CN" sz="2400" b="1" i="1" kern="1050" smtClean="0">
                        <a:effectLst/>
                        <a:latin typeface="Cambria Math" panose="02040503050406030204" pitchFamily="18" charset="0"/>
                        <a:ea typeface="宋体" panose="02010600030101010101" pitchFamily="2" charset="-122"/>
                      </a:rPr>
                      <m:t>)</m:t>
                    </m:r>
                    <m:r>
                      <a:rPr lang="en-US" altLang="zh-CN" sz="2400" b="1" i="1" kern="1050" smtClean="0">
                        <a:effectLst/>
                        <a:latin typeface="Cambria Math" panose="02040503050406030204" pitchFamily="18" charset="0"/>
                        <a:ea typeface="宋体" panose="02010600030101010101" pitchFamily="2" charset="-122"/>
                      </a:rPr>
                      <m:t>𝒔</m:t>
                    </m:r>
                  </m:oMath>
                </a14:m>
                <a:r>
                  <a:rPr lang="en-US" altLang="zh-CN" sz="2400" b="1" kern="1050" dirty="0">
                    <a:effectLst/>
                    <a:latin typeface="微软雅黑" panose="020B0503020204020204" pitchFamily="34" charset="-122"/>
                    <a:ea typeface="微软雅黑" panose="020B0503020204020204" pitchFamily="34" charset="-122"/>
                  </a:rPr>
                  <a:t>	                                         (7.26)</a:t>
                </a:r>
                <a:endParaRPr lang="zh-CN" altLang="zh-CN" sz="2400" b="1" kern="1050" dirty="0">
                  <a:effectLst/>
                  <a:latin typeface="微软雅黑" panose="020B0503020204020204" pitchFamily="34" charset="-122"/>
                  <a:ea typeface="微软雅黑" panose="020B0503020204020204" pitchFamily="34" charset="-122"/>
                </a:endParaRPr>
              </a:p>
            </p:txBody>
          </p:sp>
        </mc:Choice>
        <mc:Fallback xmlns="">
          <p:sp>
            <p:nvSpPr>
              <p:cNvPr id="13" name="文本框 12">
                <a:extLst>
                  <a:ext uri="{FF2B5EF4-FFF2-40B4-BE49-F238E27FC236}">
                    <a16:creationId xmlns:a16="http://schemas.microsoft.com/office/drawing/2014/main" id="{B843A218-B46C-9A05-8038-2A3B00F6C6E2}"/>
                  </a:ext>
                </a:extLst>
              </p:cNvPr>
              <p:cNvSpPr txBox="1">
                <a:spLocks noRot="1" noChangeAspect="1" noMove="1" noResize="1" noEditPoints="1" noAdjustHandles="1" noChangeArrowheads="1" noChangeShapeType="1" noTextEdit="1"/>
              </p:cNvSpPr>
              <p:nvPr/>
            </p:nvSpPr>
            <p:spPr>
              <a:xfrm>
                <a:off x="819150" y="5536050"/>
                <a:ext cx="10136982" cy="842538"/>
              </a:xfrm>
              <a:prstGeom prst="rect">
                <a:avLst/>
              </a:prstGeom>
              <a:blipFill>
                <a:blip r:embed="rId6"/>
                <a:stretch>
                  <a:fillRect t="-5797" b="-15942"/>
                </a:stretch>
              </a:blipFill>
            </p:spPr>
            <p:txBody>
              <a:bodyPr/>
              <a:lstStyle/>
              <a:p>
                <a:r>
                  <a:rPr lang="zh-CN" altLang="en-US">
                    <a:noFill/>
                  </a:rPr>
                  <a:t> </a:t>
                </a:r>
              </a:p>
            </p:txBody>
          </p:sp>
        </mc:Fallback>
      </mc:AlternateContent>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521925A-2B93-9425-BD97-368159E433C4}"/>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7.2.2</a:t>
            </a: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机器人控制方法和控制器设计</a:t>
            </a:r>
          </a:p>
        </p:txBody>
      </p:sp>
      <p:sp>
        <p:nvSpPr>
          <p:cNvPr id="6" name="文本框 5">
            <a:extLst>
              <a:ext uri="{FF2B5EF4-FFF2-40B4-BE49-F238E27FC236}">
                <a16:creationId xmlns:a16="http://schemas.microsoft.com/office/drawing/2014/main" id="{706E0F06-11BF-2BB9-4814-92009AEA90F1}"/>
              </a:ext>
            </a:extLst>
          </p:cNvPr>
          <p:cNvSpPr txBox="1"/>
          <p:nvPr/>
        </p:nvSpPr>
        <p:spPr>
          <a:xfrm>
            <a:off x="1028700" y="1933575"/>
            <a:ext cx="8158162" cy="505523"/>
          </a:xfrm>
          <a:prstGeom prst="rect">
            <a:avLst/>
          </a:prstGeom>
          <a:noFill/>
        </p:spPr>
        <p:txBody>
          <a:bodyPr wrap="square">
            <a:spAutoFit/>
          </a:bodyPr>
          <a:lstStyle/>
          <a:p>
            <a:pPr indent="269875" algn="just">
              <a:lnSpc>
                <a:spcPts val="1595"/>
              </a:lnSpc>
            </a:pPr>
            <a:endParaRPr lang="zh-CN" altLang="zh-CN" sz="1800" kern="1000" dirty="0">
              <a:effectLst/>
              <a:latin typeface="Times New Roman" panose="02020603050405020304" pitchFamily="18" charset="0"/>
              <a:ea typeface="宋体" panose="02010600030101010101" pitchFamily="2" charset="-122"/>
            </a:endParaRPr>
          </a:p>
          <a:p>
            <a:pPr indent="269875" algn="just">
              <a:lnSpc>
                <a:spcPts val="1595"/>
              </a:lnSpc>
            </a:pPr>
            <a:endParaRPr lang="zh-CN" altLang="zh-CN" sz="1800" kern="1050" dirty="0">
              <a:effectLst/>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81F9E8FB-6237-5704-70FB-C86DF65A225B}"/>
                  </a:ext>
                </a:extLst>
              </p:cNvPr>
              <p:cNvSpPr txBox="1"/>
              <p:nvPr/>
            </p:nvSpPr>
            <p:spPr>
              <a:xfrm>
                <a:off x="800100" y="1200151"/>
                <a:ext cx="10715625" cy="5090881"/>
              </a:xfrm>
              <a:prstGeom prst="rect">
                <a:avLst/>
              </a:prstGeom>
              <a:noFill/>
            </p:spPr>
            <p:txBody>
              <a:bodyPr wrap="square" rtlCol="0">
                <a:spAutoFit/>
              </a:bodyPr>
              <a:lstStyle/>
              <a:p>
                <a:r>
                  <a:rPr lang="en-US"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即前述所定义的</a:t>
                </a:r>
                <a:r>
                  <a:rPr lang="en-US" altLang="zh-CN" sz="2400" b="1" kern="1000" dirty="0" err="1">
                    <a:effectLst/>
                    <a:latin typeface="微软雅黑" panose="020B0503020204020204" pitchFamily="34" charset="-122"/>
                    <a:ea typeface="微软雅黑" panose="020B0503020204020204" pitchFamily="34" charset="-122"/>
                  </a:rPr>
                  <a:t>Lypunov</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函数是正定正则的，其沿闭环系统轨迹的微分</a:t>
                </a:r>
                <a14:m>
                  <m:oMath xmlns:m="http://schemas.openxmlformats.org/officeDocument/2006/math">
                    <m:acc>
                      <m:accPr>
                        <m:chr m:val="̇"/>
                        <m:ctrlPr>
                          <a:rPr lang="zh-CN" altLang="zh-CN" sz="2400" b="1" i="1">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𝑽</m:t>
                        </m:r>
                      </m:e>
                    </m:acc>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是半负定的。这也可以说</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𝒔</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𝒊</m:t>
                        </m:r>
                      </m:sub>
                    </m:s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𝑳</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𝑳</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sub>
                    </m:sSub>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及</a:t>
                </a:r>
                <a14:m>
                  <m:oMath xmlns:m="http://schemas.openxmlformats.org/officeDocument/2006/math">
                    <m:acc>
                      <m:accPr>
                        <m:chr m:val="̃"/>
                        <m:ctrlPr>
                          <a:rPr lang="zh-CN" altLang="zh-CN" sz="2400" b="1" i="1">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𝜽</m:t>
                        </m:r>
                      </m:e>
                    </m:acc>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𝑳</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sub>
                    </m:sSub>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endParaRPr>
              </a:p>
              <a:p>
                <a:r>
                  <a:rPr lang="en-US"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利用拉格朗日系统的有界性，有</a:t>
                </a:r>
                <a14:m>
                  <m:oMath xmlns:m="http://schemas.openxmlformats.org/officeDocument/2006/math">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𝑴</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latin typeface="Cambria Math" panose="02040503050406030204" pitchFamily="18" charset="0"/>
                        <a:ea typeface="宋体" panose="02010600030101010101" pitchFamily="2" charset="-122"/>
                      </a:rPr>
                      <m:t>𝜽</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latin typeface="Cambria Math" panose="02040503050406030204" pitchFamily="18" charset="0"/>
                            <a:ea typeface="Cambria Math" panose="02040503050406030204" pitchFamily="18" charset="0"/>
                          </a:rPr>
                        </m:ctrlPr>
                      </m:sSubPr>
                      <m:e>
                        <m:acc>
                          <m:accPr>
                            <m:chr m:val="̈"/>
                            <m:ctrlPr>
                              <a:rPr lang="zh-CN" altLang="zh-CN" sz="2400" b="1" i="1">
                                <a:latin typeface="Cambria Math" panose="02040503050406030204" pitchFamily="18" charset="0"/>
                                <a:ea typeface="Cambria Math" panose="02040503050406030204" pitchFamily="18" charset="0"/>
                              </a:rPr>
                            </m:ctrlPr>
                          </m:accPr>
                          <m:e>
                            <m:r>
                              <a:rPr lang="en-US" altLang="zh-CN" sz="2400" b="1" i="1" kern="1000">
                                <a:latin typeface="Cambria Math" panose="02040503050406030204" pitchFamily="18" charset="0"/>
                                <a:ea typeface="宋体" panose="02010600030101010101" pitchFamily="2" charset="-122"/>
                              </a:rPr>
                              <m:t>𝜽</m:t>
                            </m:r>
                          </m:e>
                        </m:acc>
                      </m:e>
                      <m: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𝒓</m:t>
                        </m:r>
                      </m:sub>
                    </m:s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𝑪</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latin typeface="Cambria Math" panose="02040503050406030204" pitchFamily="18" charset="0"/>
                        <a:ea typeface="宋体" panose="02010600030101010101" pitchFamily="2" charset="-122"/>
                      </a:rPr>
                      <m:t>𝜽</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acc>
                      <m:accPr>
                        <m:chr m:val="̇"/>
                        <m:ctrlPr>
                          <a:rPr lang="zh-CN" altLang="zh-CN" sz="2400" b="1" i="1">
                            <a:latin typeface="Cambria Math" panose="02040503050406030204" pitchFamily="18" charset="0"/>
                            <a:ea typeface="Cambria Math" panose="02040503050406030204" pitchFamily="18" charset="0"/>
                          </a:rPr>
                        </m:ctrlPr>
                      </m:accPr>
                      <m:e>
                        <m:r>
                          <a:rPr lang="en-US" altLang="zh-CN" sz="2400" b="1" i="1" kern="1000">
                            <a:latin typeface="Cambria Math" panose="02040503050406030204" pitchFamily="18" charset="0"/>
                            <a:ea typeface="宋体" panose="02010600030101010101" pitchFamily="2" charset="-122"/>
                          </a:rPr>
                          <m:t>𝜽</m:t>
                        </m:r>
                      </m:e>
                    </m:acc>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latin typeface="Cambria Math" panose="02040503050406030204" pitchFamily="18" charset="0"/>
                            <a:ea typeface="Cambria Math" panose="02040503050406030204" pitchFamily="18" charset="0"/>
                          </a:rPr>
                        </m:ctrlPr>
                      </m:sSubPr>
                      <m:e>
                        <m:acc>
                          <m:accPr>
                            <m:chr m:val="̇"/>
                            <m:ctrlPr>
                              <a:rPr lang="zh-CN" altLang="zh-CN" sz="2400" b="1" i="1">
                                <a:latin typeface="Cambria Math" panose="02040503050406030204" pitchFamily="18" charset="0"/>
                                <a:ea typeface="Cambria Math" panose="02040503050406030204" pitchFamily="18" charset="0"/>
                              </a:rPr>
                            </m:ctrlPr>
                          </m:accPr>
                          <m:e>
                            <m:r>
                              <a:rPr lang="en-US" altLang="zh-CN" sz="2400" b="1" i="1" kern="1000">
                                <a:latin typeface="Cambria Math" panose="02040503050406030204" pitchFamily="18" charset="0"/>
                                <a:ea typeface="宋体" panose="02010600030101010101" pitchFamily="2" charset="-122"/>
                              </a:rPr>
                              <m:t>𝜽</m:t>
                            </m:r>
                          </m:e>
                        </m:acc>
                      </m:e>
                      <m: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𝒓</m:t>
                        </m:r>
                      </m:sub>
                    </m:s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oMath>
                </a14:m>
                <a:r>
                  <a:rPr lang="en-US" altLang="zh-CN" sz="2400" b="1" kern="1000" dirty="0">
                    <a:latin typeface="微软雅黑" panose="020B0503020204020204" pitchFamily="34" charset="-122"/>
                    <a:ea typeface="微软雅黑" panose="020B0503020204020204" pitchFamily="34" charset="-122"/>
                  </a:rPr>
                  <a:t> </a:t>
                </a:r>
                <a14:m>
                  <m:oMath xmlns:m="http://schemas.openxmlformats.org/officeDocument/2006/math">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𝑮</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latin typeface="Cambria Math" panose="02040503050406030204" pitchFamily="18" charset="0"/>
                        <a:ea typeface="宋体" panose="02010600030101010101" pitchFamily="2" charset="-122"/>
                      </a:rPr>
                      <m:t>𝜽</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𝒀</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latin typeface="Cambria Math" panose="02040503050406030204" pitchFamily="18" charset="0"/>
                        <a:ea typeface="宋体" panose="02010600030101010101" pitchFamily="2" charset="-122"/>
                      </a:rPr>
                      <m:t>𝜽</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acc>
                      <m:accPr>
                        <m:chr m:val="̇"/>
                        <m:ctrlPr>
                          <a:rPr lang="zh-CN" altLang="zh-CN" sz="2400" b="1" i="1">
                            <a:latin typeface="Cambria Math" panose="02040503050406030204" pitchFamily="18" charset="0"/>
                            <a:ea typeface="Cambria Math" panose="02040503050406030204" pitchFamily="18" charset="0"/>
                          </a:rPr>
                        </m:ctrlPr>
                      </m:accPr>
                      <m:e>
                        <m:r>
                          <a:rPr lang="en-US" altLang="zh-CN" sz="2400" b="1" i="1" kern="1000">
                            <a:latin typeface="Cambria Math" panose="02040503050406030204" pitchFamily="18" charset="0"/>
                            <a:ea typeface="宋体" panose="02010600030101010101" pitchFamily="2" charset="-122"/>
                          </a:rPr>
                          <m:t>𝜽</m:t>
                        </m:r>
                      </m:e>
                    </m:acc>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latin typeface="Cambria Math" panose="02040503050406030204" pitchFamily="18" charset="0"/>
                            <a:ea typeface="Cambria Math" panose="02040503050406030204" pitchFamily="18" charset="0"/>
                          </a:rPr>
                        </m:ctrlPr>
                      </m:sSubPr>
                      <m:e>
                        <m:acc>
                          <m:accPr>
                            <m:chr m:val="̇"/>
                            <m:ctrlPr>
                              <a:rPr lang="zh-CN" altLang="zh-CN" sz="2400" b="1" i="1">
                                <a:latin typeface="Cambria Math" panose="02040503050406030204" pitchFamily="18" charset="0"/>
                                <a:ea typeface="Cambria Math" panose="02040503050406030204" pitchFamily="18" charset="0"/>
                              </a:rPr>
                            </m:ctrlPr>
                          </m:accPr>
                          <m:e>
                            <m:r>
                              <a:rPr lang="en-US" altLang="zh-CN" sz="2400" b="1" i="1" kern="1000">
                                <a:latin typeface="Cambria Math" panose="02040503050406030204" pitchFamily="18" charset="0"/>
                                <a:ea typeface="宋体" panose="02010600030101010101" pitchFamily="2" charset="-122"/>
                              </a:rPr>
                              <m:t>𝜽</m:t>
                            </m:r>
                          </m:e>
                        </m:acc>
                      </m:e>
                      <m: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𝒓</m:t>
                        </m:r>
                      </m:sub>
                    </m:s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latin typeface="Cambria Math" panose="02040503050406030204" pitchFamily="18" charset="0"/>
                            <a:ea typeface="Cambria Math" panose="02040503050406030204" pitchFamily="18" charset="0"/>
                          </a:rPr>
                        </m:ctrlPr>
                      </m:sSubPr>
                      <m:e>
                        <m:acc>
                          <m:accPr>
                            <m:chr m:val="̈"/>
                            <m:ctrlPr>
                              <a:rPr lang="zh-CN" altLang="zh-CN" sz="2400" b="1" i="1">
                                <a:latin typeface="Cambria Math" panose="02040503050406030204" pitchFamily="18" charset="0"/>
                                <a:ea typeface="Cambria Math" panose="02040503050406030204" pitchFamily="18" charset="0"/>
                              </a:rPr>
                            </m:ctrlPr>
                          </m:accPr>
                          <m:e>
                            <m:r>
                              <a:rPr lang="en-US" altLang="zh-CN" sz="2400" b="1" i="1" kern="1000">
                                <a:latin typeface="Cambria Math" panose="02040503050406030204" pitchFamily="18" charset="0"/>
                                <a:ea typeface="宋体" panose="02010600030101010101" pitchFamily="2" charset="-122"/>
                              </a:rPr>
                              <m:t>𝜽</m:t>
                            </m:r>
                          </m:e>
                        </m:acc>
                      </m:e>
                      <m: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𝒓</m:t>
                        </m:r>
                      </m:sub>
                    </m:s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latin typeface="Cambria Math" panose="02040503050406030204" pitchFamily="18" charset="0"/>
                            <a:ea typeface="Cambria Math" panose="02040503050406030204" pitchFamily="18" charset="0"/>
                          </a:rPr>
                        </m:ctrlPr>
                      </m:sSubPr>
                      <m:e>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𝒑</m:t>
                        </m:r>
                      </m:e>
                      <m: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𝟎</m:t>
                        </m:r>
                      </m:sub>
                    </m:sSub>
                  </m:oMath>
                </a14:m>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，可以得出回归矩阵</a:t>
                </a:r>
                <a14:m>
                  <m:oMath xmlns:m="http://schemas.openxmlformats.org/officeDocument/2006/math">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𝒀</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𝜽</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acc>
                      <m:accPr>
                        <m:chr m:val="̇"/>
                        <m:ctrlPr>
                          <a:rPr lang="zh-CN" altLang="zh-CN" sz="2400" b="1" i="1">
                            <a:latin typeface="Cambria Math" panose="02040503050406030204" pitchFamily="18" charset="0"/>
                            <a:ea typeface="Cambria Math" panose="02040503050406030204" pitchFamily="18" charset="0"/>
                          </a:rPr>
                        </m:ctrlPr>
                      </m:accPr>
                      <m:e>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𝜽</m:t>
                        </m:r>
                      </m:e>
                    </m:acc>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latin typeface="Cambria Math" panose="02040503050406030204" pitchFamily="18" charset="0"/>
                            <a:ea typeface="Cambria Math" panose="02040503050406030204" pitchFamily="18" charset="0"/>
                          </a:rPr>
                        </m:ctrlPr>
                      </m:sSubPr>
                      <m:e>
                        <m:acc>
                          <m:accPr>
                            <m:chr m:val="̇"/>
                            <m:ctrlPr>
                              <a:rPr lang="zh-CN" altLang="zh-CN" sz="2400" b="1" i="1">
                                <a:latin typeface="Cambria Math" panose="02040503050406030204" pitchFamily="18" charset="0"/>
                                <a:ea typeface="Cambria Math" panose="02040503050406030204" pitchFamily="18" charset="0"/>
                              </a:rPr>
                            </m:ctrlPr>
                          </m:accPr>
                          <m:e>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𝜽</m:t>
                            </m:r>
                          </m:e>
                        </m:acc>
                      </m:e>
                      <m: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𝒓</m:t>
                        </m:r>
                      </m:sub>
                    </m:s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latin typeface="Cambria Math" panose="02040503050406030204" pitchFamily="18" charset="0"/>
                            <a:ea typeface="Cambria Math" panose="02040503050406030204" pitchFamily="18" charset="0"/>
                          </a:rPr>
                        </m:ctrlPr>
                      </m:sSubPr>
                      <m:e>
                        <m:acc>
                          <m:accPr>
                            <m:chr m:val="̈"/>
                            <m:ctrlPr>
                              <a:rPr lang="zh-CN" altLang="zh-CN" sz="2400" b="1" i="1">
                                <a:latin typeface="Cambria Math" panose="02040503050406030204" pitchFamily="18" charset="0"/>
                                <a:ea typeface="Cambria Math" panose="02040503050406030204" pitchFamily="18" charset="0"/>
                              </a:rPr>
                            </m:ctrlPr>
                          </m:accPr>
                          <m:e>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𝜽</m:t>
                            </m:r>
                          </m:e>
                        </m:acc>
                      </m:e>
                      <m: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𝒓</m:t>
                        </m:r>
                      </m:sub>
                    </m:s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是有界的</a:t>
                </a:r>
                <a:r>
                  <a:rPr lang="en-US"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因为</a:t>
                </a:r>
                <a14:m>
                  <m:oMath xmlns:m="http://schemas.openxmlformats.org/officeDocument/2006/math">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𝑴</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𝜽</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𝑪</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𝜽</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acc>
                      <m:accPr>
                        <m:chr m:val="̇"/>
                        <m:ctrlPr>
                          <a:rPr lang="zh-CN" altLang="zh-CN" sz="2400" b="1" i="1">
                            <a:latin typeface="Cambria Math" panose="02040503050406030204" pitchFamily="18" charset="0"/>
                            <a:ea typeface="Cambria Math" panose="02040503050406030204" pitchFamily="18" charset="0"/>
                          </a:rPr>
                        </m:ctrlPr>
                      </m:accPr>
                      <m:e>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𝜽</m:t>
                        </m:r>
                      </m:e>
                    </m:acc>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𝑮</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𝜽</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sSub>
                      <m:sSubPr>
                        <m:ctrlPr>
                          <a:rPr lang="zh-CN" altLang="zh-CN" sz="2400" b="1" i="1">
                            <a:latin typeface="Cambria Math" panose="02040503050406030204" pitchFamily="18" charset="0"/>
                            <a:ea typeface="Cambria Math" panose="02040503050406030204" pitchFamily="18" charset="0"/>
                          </a:rPr>
                        </m:ctrlPr>
                      </m:sSubPr>
                      <m:e>
                        <m:acc>
                          <m:accPr>
                            <m:chr m:val="̈"/>
                            <m:ctrlPr>
                              <a:rPr lang="zh-CN" altLang="zh-CN" sz="2400" b="1" i="1">
                                <a:latin typeface="Cambria Math" panose="02040503050406030204" pitchFamily="18" charset="0"/>
                                <a:ea typeface="Cambria Math" panose="02040503050406030204" pitchFamily="18" charset="0"/>
                              </a:rPr>
                            </m:ctrlPr>
                          </m:accPr>
                          <m:e>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𝜽</m:t>
                            </m:r>
                          </m:e>
                        </m:acc>
                      </m:e>
                      <m: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𝒓</m:t>
                        </m:r>
                      </m:sub>
                    </m:sSub>
                  </m:oMath>
                </a14:m>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sSub>
                      <m:sSubPr>
                        <m:ctrlPr>
                          <a:rPr lang="zh-CN" altLang="zh-CN" sz="2400" b="1" i="1">
                            <a:latin typeface="Cambria Math" panose="02040503050406030204" pitchFamily="18" charset="0"/>
                            <a:ea typeface="Cambria Math" panose="02040503050406030204" pitchFamily="18" charset="0"/>
                          </a:rPr>
                        </m:ctrlPr>
                      </m:sSubPr>
                      <m:e>
                        <m:acc>
                          <m:accPr>
                            <m:chr m:val="̇"/>
                            <m:ctrlPr>
                              <a:rPr lang="zh-CN" altLang="zh-CN" sz="2400" b="1" i="1">
                                <a:latin typeface="Cambria Math" panose="02040503050406030204" pitchFamily="18" charset="0"/>
                                <a:ea typeface="Cambria Math" panose="02040503050406030204" pitchFamily="18" charset="0"/>
                              </a:rPr>
                            </m:ctrlPr>
                          </m:accPr>
                          <m:e>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𝜽</m:t>
                            </m:r>
                          </m:e>
                        </m:acc>
                      </m:e>
                      <m: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𝒓</m:t>
                        </m:r>
                      </m:sub>
                    </m:sSub>
                  </m:oMath>
                </a14:m>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是有界的</a:t>
                </a:r>
                <a:r>
                  <a:rPr lang="en-US"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b="1" kern="1000" dirty="0">
                  <a:latin typeface="微软雅黑" panose="020B0503020204020204" pitchFamily="34" charset="-122"/>
                  <a:ea typeface="微软雅黑" panose="020B0503020204020204" pitchFamily="34" charset="-122"/>
                  <a:cs typeface="Times New Roman" panose="02020603050405020304" pitchFamily="18" charset="0"/>
                </a:endParaRPr>
              </a:p>
              <a:p>
                <a:r>
                  <a:rPr lang="en-US"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进而观察式</a:t>
                </a:r>
                <a:r>
                  <a:rPr lang="en-US"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b="1" kern="1000" dirty="0">
                    <a:latin typeface="微软雅黑" panose="020B0503020204020204" pitchFamily="34" charset="-122"/>
                    <a:ea typeface="微软雅黑" panose="020B0503020204020204" pitchFamily="34" charset="-122"/>
                  </a:rPr>
                  <a:t>7.22</a:t>
                </a:r>
                <a:r>
                  <a:rPr lang="en-US"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可得</a:t>
                </a:r>
                <a14:m>
                  <m:oMath xmlns:m="http://schemas.openxmlformats.org/officeDocument/2006/math">
                    <m:acc>
                      <m:accPr>
                        <m:chr m:val="̇"/>
                        <m:ctrlPr>
                          <a:rPr lang="zh-CN" altLang="zh-CN" sz="2400" b="1" i="1">
                            <a:latin typeface="Cambria Math" panose="02040503050406030204" pitchFamily="18" charset="0"/>
                            <a:ea typeface="Cambria Math" panose="02040503050406030204" pitchFamily="18" charset="0"/>
                          </a:rPr>
                        </m:ctrlPr>
                      </m:accPr>
                      <m:e>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𝒔</m:t>
                        </m:r>
                      </m:e>
                    </m:acc>
                  </m:oMath>
                </a14:m>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是有界的，从而得到</a:t>
                </a:r>
                <a14:m>
                  <m:oMath xmlns:m="http://schemas.openxmlformats.org/officeDocument/2006/math">
                    <m:acc>
                      <m:accPr>
                        <m:chr m:val="̈"/>
                        <m:ctrlPr>
                          <a:rPr lang="zh-CN" altLang="zh-CN" sz="2400" b="1" i="1">
                            <a:latin typeface="Cambria Math" panose="02040503050406030204" pitchFamily="18" charset="0"/>
                            <a:ea typeface="Cambria Math" panose="02040503050406030204" pitchFamily="18" charset="0"/>
                          </a:rPr>
                        </m:ctrlPr>
                      </m:accPr>
                      <m:e>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𝑽</m:t>
                        </m:r>
                      </m:e>
                    </m:acc>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𝟐</m:t>
                    </m:r>
                    <m:sSup>
                      <m:sSupPr>
                        <m:ctrlPr>
                          <a:rPr lang="zh-CN" altLang="zh-CN" sz="2400" b="1" i="1">
                            <a:latin typeface="Cambria Math" panose="02040503050406030204" pitchFamily="18" charset="0"/>
                            <a:ea typeface="Cambria Math" panose="02040503050406030204" pitchFamily="18" charset="0"/>
                          </a:rPr>
                        </m:ctrlPr>
                      </m:sSupPr>
                      <m:e>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𝒔</m:t>
                        </m:r>
                      </m:e>
                      <m:sup>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𝑻</m:t>
                        </m:r>
                      </m:sup>
                    </m:sSup>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𝑲</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𝑫</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acc>
                      <m:accPr>
                        <m:chr m:val="̇"/>
                        <m:ctrlPr>
                          <a:rPr lang="zh-CN" altLang="zh-CN" sz="2400" b="1" i="1">
                            <a:latin typeface="Cambria Math" panose="02040503050406030204" pitchFamily="18" charset="0"/>
                            <a:ea typeface="Cambria Math" panose="02040503050406030204" pitchFamily="18" charset="0"/>
                          </a:rPr>
                        </m:ctrlPr>
                      </m:accPr>
                      <m:e>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𝒔</m:t>
                        </m:r>
                      </m:e>
                    </m:acc>
                  </m:oMath>
                </a14:m>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有界，因此</a:t>
                </a:r>
                <a14:m>
                  <m:oMath xmlns:m="http://schemas.openxmlformats.org/officeDocument/2006/math">
                    <m:acc>
                      <m:accPr>
                        <m:chr m:val="̇"/>
                        <m:ctrlPr>
                          <a:rPr lang="zh-CN" altLang="zh-CN" sz="2400" b="1" i="1">
                            <a:latin typeface="Cambria Math" panose="02040503050406030204" pitchFamily="18" charset="0"/>
                            <a:ea typeface="Cambria Math" panose="02040503050406030204" pitchFamily="18" charset="0"/>
                          </a:rPr>
                        </m:ctrlPr>
                      </m:accPr>
                      <m:e>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𝑽</m:t>
                        </m:r>
                      </m:e>
                    </m:acc>
                  </m:oMath>
                </a14:m>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一致连续。由</a:t>
                </a:r>
                <a:r>
                  <a:rPr lang="en-US" altLang="zh-CN" sz="2400" b="1" kern="1000" dirty="0" err="1">
                    <a:latin typeface="微软雅黑" panose="020B0503020204020204" pitchFamily="34" charset="-122"/>
                    <a:ea typeface="微软雅黑" panose="020B0503020204020204" pitchFamily="34" charset="-122"/>
                  </a:rPr>
                  <a:t>Barbalat</a:t>
                </a:r>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引理，推出当</a:t>
                </a:r>
                <a14:m>
                  <m:oMath xmlns:m="http://schemas.openxmlformats.org/officeDocument/2006/math">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𝒕</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时，</a:t>
                </a:r>
                <a14:m>
                  <m:oMath xmlns:m="http://schemas.openxmlformats.org/officeDocument/2006/math">
                    <m:acc>
                      <m:accPr>
                        <m:chr m:val="̇"/>
                        <m:ctrlPr>
                          <a:rPr lang="zh-CN" altLang="zh-CN" sz="2400" b="1" i="1">
                            <a:latin typeface="Cambria Math" panose="02040503050406030204" pitchFamily="18" charset="0"/>
                            <a:ea typeface="Cambria Math" panose="02040503050406030204" pitchFamily="18" charset="0"/>
                          </a:rPr>
                        </m:ctrlPr>
                      </m:accPr>
                      <m:e>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𝑽</m:t>
                        </m:r>
                      </m:e>
                    </m:acc>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𝟎</m:t>
                    </m:r>
                  </m:oMath>
                </a14:m>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，因此当</a:t>
                </a:r>
                <a14:m>
                  <m:oMath xmlns:m="http://schemas.openxmlformats.org/officeDocument/2006/math">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𝒕</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时，</a:t>
                </a:r>
                <a14:m>
                  <m:oMath xmlns:m="http://schemas.openxmlformats.org/officeDocument/2006/math">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𝒔</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𝟎</m:t>
                    </m:r>
                  </m:oMath>
                </a14:m>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。下面进一步分析当</a:t>
                </a:r>
                <a14:m>
                  <m:oMath xmlns:m="http://schemas.openxmlformats.org/officeDocument/2006/math">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𝒕</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时，</a:t>
                </a:r>
                <a14:m>
                  <m:oMath xmlns:m="http://schemas.openxmlformats.org/officeDocument/2006/math">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𝜽</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latin typeface="Cambria Math" panose="02040503050406030204" pitchFamily="18" charset="0"/>
                            <a:ea typeface="Cambria Math" panose="02040503050406030204" pitchFamily="18" charset="0"/>
                          </a:rPr>
                        </m:ctrlPr>
                      </m:sSubPr>
                      <m:e>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𝜽</m:t>
                        </m:r>
                      </m:e>
                      <m: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𝒅</m:t>
                        </m:r>
                      </m:sub>
                    </m:sSub>
                  </m:oMath>
                </a14:m>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b="1" kern="1000" dirty="0">
                  <a:latin typeface="微软雅黑" panose="020B0503020204020204" pitchFamily="34" charset="-122"/>
                  <a:ea typeface="微软雅黑" panose="020B0503020204020204" pitchFamily="34" charset="-122"/>
                  <a:cs typeface="Times New Roman" panose="02020603050405020304" pitchFamily="18" charset="0"/>
                </a:endParaRPr>
              </a:p>
              <a:p>
                <a:r>
                  <a:rPr lang="en-US"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由式</a:t>
                </a:r>
                <a14:m>
                  <m:oMath xmlns:m="http://schemas.openxmlformats.org/officeDocument/2006/math">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𝒔</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acc>
                      <m:accPr>
                        <m:chr m:val="̇"/>
                        <m:ctrlPr>
                          <a:rPr lang="zh-CN" altLang="zh-CN" sz="2400" b="1" i="1">
                            <a:latin typeface="Cambria Math" panose="02040503050406030204" pitchFamily="18" charset="0"/>
                            <a:ea typeface="Cambria Math" panose="02040503050406030204" pitchFamily="18" charset="0"/>
                          </a:rPr>
                        </m:ctrlPr>
                      </m:accPr>
                      <m:e>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𝒆</m:t>
                        </m:r>
                      </m:e>
                    </m:acc>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𝝀</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𝒆</m:t>
                    </m:r>
                  </m:oMath>
                </a14:m>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可知，</a:t>
                </a:r>
                <a14:m>
                  <m:oMath xmlns:m="http://schemas.openxmlformats.org/officeDocument/2006/math">
                    <m:acc>
                      <m:accPr>
                        <m:chr m:val="̇"/>
                        <m:ctrlPr>
                          <a:rPr lang="zh-CN" altLang="zh-CN" sz="2400" b="1" i="1">
                            <a:latin typeface="Cambria Math" panose="02040503050406030204" pitchFamily="18" charset="0"/>
                            <a:ea typeface="Cambria Math" panose="02040503050406030204" pitchFamily="18" charset="0"/>
                          </a:rPr>
                        </m:ctrlPr>
                      </m:accPr>
                      <m:e>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𝒆</m:t>
                        </m:r>
                      </m:e>
                    </m:acc>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𝝀</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𝒆</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𝒔</m:t>
                    </m:r>
                  </m:oMath>
                </a14:m>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，因为</a:t>
                </a:r>
                <a14:m>
                  <m:oMath xmlns:m="http://schemas.openxmlformats.org/officeDocument/2006/math">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𝝀</m:t>
                    </m:r>
                  </m:oMath>
                </a14:m>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是正常数，系统是输入</a:t>
                </a:r>
                <a:r>
                  <a:rPr lang="en-US" altLang="zh-CN" sz="2400" b="1" kern="1000" dirty="0">
                    <a:latin typeface="微软雅黑" panose="020B0503020204020204" pitchFamily="34" charset="-122"/>
                    <a:ea typeface="微软雅黑" panose="020B0503020204020204" pitchFamily="34" charset="-122"/>
                  </a:rPr>
                  <a:t>/</a:t>
                </a:r>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输出稳定的，所以当</a:t>
                </a:r>
                <a14:m>
                  <m:oMath xmlns:m="http://schemas.openxmlformats.org/officeDocument/2006/math">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𝒕</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时，</a:t>
                </a:r>
                <a14:m>
                  <m:oMath xmlns:m="http://schemas.openxmlformats.org/officeDocument/2006/math">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𝒆</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𝟎</m:t>
                    </m:r>
                  </m:oMath>
                </a14:m>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b="1" kern="1000" dirty="0">
                  <a:latin typeface="微软雅黑" panose="020B0503020204020204" pitchFamily="34" charset="-122"/>
                  <a:ea typeface="微软雅黑" panose="020B0503020204020204" pitchFamily="34" charset="-122"/>
                  <a:cs typeface="Times New Roman" panose="02020603050405020304" pitchFamily="18" charset="0"/>
                </a:endParaRPr>
              </a:p>
              <a:p>
                <a:r>
                  <a:rPr lang="en-US"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从而，</a:t>
                </a:r>
                <a14:m>
                  <m:oMath xmlns:m="http://schemas.openxmlformats.org/officeDocument/2006/math">
                    <m:limLow>
                      <m:limLowPr>
                        <m:ctrlPr>
                          <a:rPr lang="zh-CN" altLang="zh-CN" sz="2400" b="1" i="1">
                            <a:latin typeface="Cambria Math" panose="02040503050406030204" pitchFamily="18" charset="0"/>
                            <a:ea typeface="Cambria Math" panose="02040503050406030204" pitchFamily="18" charset="0"/>
                          </a:rPr>
                        </m:ctrlPr>
                      </m:limLowPr>
                      <m:e>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𝒍𝒊𝒎</m:t>
                        </m:r>
                      </m:e>
                      <m:lim>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𝒕</m:t>
                        </m:r>
                        <m:r>
                          <a:rPr lang="en-US" altLang="zh-CN" sz="2400" b="1" i="1" kern="1000">
                            <a:latin typeface="Cambria Math" panose="02040503050406030204" pitchFamily="18" charset="0"/>
                            <a:ea typeface="宋体" panose="02010600030101010101" pitchFamily="2" charset="-122"/>
                          </a:rPr>
                          <m:t>→∞</m:t>
                        </m:r>
                      </m:lim>
                    </m:limLow>
                    <m:d>
                      <m:dPr>
                        <m:begChr m:val="‖"/>
                        <m:endChr m:val="‖"/>
                        <m:ctrlPr>
                          <a:rPr lang="zh-CN" altLang="zh-CN" sz="2400" b="1" i="1">
                            <a:latin typeface="Cambria Math" panose="02040503050406030204" pitchFamily="18" charset="0"/>
                            <a:ea typeface="Cambria Math" panose="02040503050406030204" pitchFamily="18" charset="0"/>
                          </a:rPr>
                        </m:ctrlPr>
                      </m:dPr>
                      <m:e>
                        <m:r>
                          <a:rPr lang="en-US" altLang="zh-CN" sz="2400" b="1" i="1" kern="1000">
                            <a:latin typeface="Cambria Math" panose="02040503050406030204" pitchFamily="18" charset="0"/>
                            <a:ea typeface="宋体" panose="02010600030101010101" pitchFamily="2" charset="-122"/>
                          </a:rPr>
                          <m:t>𝜽</m:t>
                        </m:r>
                        <m:r>
                          <a:rPr lang="en-US" altLang="zh-CN" sz="2400" b="1" i="1" kern="1000">
                            <a:latin typeface="Cambria Math" panose="02040503050406030204" pitchFamily="18" charset="0"/>
                            <a:ea typeface="宋体" panose="02010600030101010101" pitchFamily="2" charset="-122"/>
                          </a:rPr>
                          <m:t>−</m:t>
                        </m:r>
                        <m:sSub>
                          <m:sSubPr>
                            <m:ctrlPr>
                              <a:rPr lang="zh-CN" altLang="zh-CN" sz="2400" b="1" i="1">
                                <a:latin typeface="Cambria Math" panose="02040503050406030204" pitchFamily="18" charset="0"/>
                                <a:ea typeface="Cambria Math" panose="02040503050406030204" pitchFamily="18" charset="0"/>
                              </a:rPr>
                            </m:ctrlPr>
                          </m:sSubPr>
                          <m:e>
                            <m:r>
                              <a:rPr lang="en-US" altLang="zh-CN" sz="2400" b="1" i="1" kern="1000">
                                <a:latin typeface="Cambria Math" panose="02040503050406030204" pitchFamily="18" charset="0"/>
                                <a:ea typeface="宋体" panose="02010600030101010101" pitchFamily="2" charset="-122"/>
                              </a:rPr>
                              <m:t>𝜽</m:t>
                            </m:r>
                          </m:e>
                          <m:sub>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𝒅</m:t>
                            </m:r>
                          </m:sub>
                        </m:sSub>
                      </m:e>
                    </m:d>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latin typeface="Cambria Math" panose="02040503050406030204" pitchFamily="18" charset="0"/>
                        <a:ea typeface="宋体" panose="02010600030101010101" pitchFamily="2" charset="-122"/>
                        <a:cs typeface="Times New Roman" panose="02020603050405020304" pitchFamily="18" charset="0"/>
                      </a:rPr>
                      <m:t>𝟎</m:t>
                    </m:r>
                  </m:oMath>
                </a14:m>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注意，这是一个非线性时变系统，因此我们不能应用</a:t>
                </a:r>
                <a:r>
                  <a:rPr lang="en-US" altLang="zh-CN" sz="2400" b="1" kern="1000" dirty="0">
                    <a:latin typeface="微软雅黑" panose="020B0503020204020204" pitchFamily="34" charset="-122"/>
                    <a:ea typeface="微软雅黑" panose="020B0503020204020204" pitchFamily="34" charset="-122"/>
                  </a:rPr>
                  <a:t>LaSalle</a:t>
                </a:r>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不变性原理来进行系统的闭环渐近稳定性分析，只能应用</a:t>
                </a:r>
                <a:r>
                  <a:rPr lang="en-US" altLang="zh-CN" sz="2400" b="1" kern="1000" dirty="0" err="1">
                    <a:latin typeface="微软雅黑" panose="020B0503020204020204" pitchFamily="34" charset="-122"/>
                    <a:ea typeface="微软雅黑" panose="020B0503020204020204" pitchFamily="34" charset="-122"/>
                  </a:rPr>
                  <a:t>Barbalat</a:t>
                </a:r>
                <a:r>
                  <a:rPr lang="zh-CN"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引理来获得闭环系统是否渐近稳定的结论</a:t>
                </a:r>
                <a:r>
                  <a:rPr lang="en-US" altLang="zh-CN" sz="2400" b="1" kern="1000" dirty="0">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400" b="1" dirty="0">
                  <a:latin typeface="微软雅黑" panose="020B0503020204020204" pitchFamily="34" charset="-122"/>
                  <a:ea typeface="微软雅黑" panose="020B0503020204020204" pitchFamily="34" charset="-122"/>
                </a:endParaRPr>
              </a:p>
            </p:txBody>
          </p:sp>
        </mc:Choice>
        <mc:Fallback xmlns="">
          <p:sp>
            <p:nvSpPr>
              <p:cNvPr id="9" name="文本框 8">
                <a:extLst>
                  <a:ext uri="{FF2B5EF4-FFF2-40B4-BE49-F238E27FC236}">
                    <a16:creationId xmlns:a16="http://schemas.microsoft.com/office/drawing/2014/main" id="{81F9E8FB-6237-5704-70FB-C86DF65A225B}"/>
                  </a:ext>
                </a:extLst>
              </p:cNvPr>
              <p:cNvSpPr txBox="1">
                <a:spLocks noRot="1" noChangeAspect="1" noMove="1" noResize="1" noEditPoints="1" noAdjustHandles="1" noChangeArrowheads="1" noChangeShapeType="1" noTextEdit="1"/>
              </p:cNvSpPr>
              <p:nvPr/>
            </p:nvSpPr>
            <p:spPr>
              <a:xfrm>
                <a:off x="800100" y="1200151"/>
                <a:ext cx="10715625" cy="5090881"/>
              </a:xfrm>
              <a:prstGeom prst="rect">
                <a:avLst/>
              </a:prstGeom>
              <a:blipFill>
                <a:blip r:embed="rId3"/>
                <a:stretch>
                  <a:fillRect l="-853" t="-719" b="-215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663084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8C7135E-71FE-45C1-C760-7CD51DC8F304}"/>
                  </a:ext>
                </a:extLst>
              </p:cNvPr>
              <p:cNvSpPr txBox="1"/>
              <p:nvPr/>
            </p:nvSpPr>
            <p:spPr>
              <a:xfrm>
                <a:off x="800100" y="1838180"/>
                <a:ext cx="10591800" cy="2483372"/>
              </a:xfrm>
              <a:prstGeom prst="rect">
                <a:avLst/>
              </a:prstGeom>
              <a:noFill/>
            </p:spPr>
            <p:txBody>
              <a:bodyPr wrap="square">
                <a:spAutoFit/>
              </a:bodyPr>
              <a:lstStyle/>
              <a:p>
                <a:pPr indent="269875" algn="just">
                  <a:spcBef>
                    <a:spcPts val="600"/>
                  </a:spcBef>
                </a:pPr>
                <a:r>
                  <a:rPr lang="en-US"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在机器人的仿真实现中，参数取值与上一节相同，期望运动轨迹</a:t>
                </a:r>
                <a:r>
                  <a:rPr lang="en-US"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单位</a:t>
                </a:r>
                <a:r>
                  <a:rPr lang="en-US" altLang="zh-CN" sz="2400" b="1" kern="1000" dirty="0">
                    <a:effectLst/>
                    <a:latin typeface="微软雅黑" panose="020B0503020204020204" pitchFamily="34" charset="-122"/>
                    <a:ea typeface="微软雅黑" panose="020B0503020204020204" pitchFamily="34" charset="-122"/>
                  </a:rPr>
                  <a:t>rad</a:t>
                </a:r>
                <a:r>
                  <a:rPr lang="en-US"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同样为</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𝒒</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𝒅</m:t>
                        </m:r>
                      </m:sub>
                    </m:s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𝟎</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𝟐</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𝟐</m:t>
                    </m:r>
                    <m:func>
                      <m:funcPr>
                        <m:ctrlPr>
                          <a:rPr lang="zh-CN" altLang="zh-CN" sz="2400" b="1" i="1">
                            <a:effectLst/>
                            <a:latin typeface="Cambria Math" panose="02040503050406030204" pitchFamily="18" charset="0"/>
                            <a:ea typeface="Cambria Math" panose="02040503050406030204" pitchFamily="18" charset="0"/>
                          </a:rPr>
                        </m:ctrlPr>
                      </m:funcPr>
                      <m:fNa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𝒔𝒊𝒏</m:t>
                        </m:r>
                      </m:fName>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e>
                    </m:func>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𝟐</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𝒕</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r>
                      <m:rPr>
                        <m:nor/>
                      </m:rPr>
                      <a:rPr lang="en-US" altLang="zh-CN" sz="2400" b="1" kern="1000">
                        <a:effectLst/>
                        <a:latin typeface="微软雅黑" panose="020B0503020204020204" pitchFamily="34" charset="-122"/>
                        <a:ea typeface="微软雅黑" panose="020B0503020204020204" pitchFamily="34" charset="-122"/>
                        <a:cs typeface="Times New Roman" panose="02020603050405020304" pitchFamily="18" charset="0"/>
                      </a:rPr>
                      <m:t>  </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𝟏</m:t>
                    </m:r>
                    <m:r>
                      <a:rPr lang="en-US" altLang="zh-CN" sz="2400" b="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𝟕</m:t>
                    </m:r>
                    <m:r>
                      <a:rPr lang="en-US" altLang="zh-CN" sz="2400" b="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𝟏</m:t>
                    </m:r>
                    <m:r>
                      <a:rPr lang="en-US" altLang="zh-CN" sz="2400" b="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𝟖</m:t>
                    </m:r>
                    <m:func>
                      <m:funcPr>
                        <m:ctrlPr>
                          <a:rPr lang="zh-CN" altLang="zh-CN" sz="2400" b="1" i="1">
                            <a:effectLst/>
                            <a:latin typeface="Cambria Math" panose="02040503050406030204" pitchFamily="18" charset="0"/>
                            <a:ea typeface="Cambria Math" panose="02040503050406030204" pitchFamily="18" charset="0"/>
                          </a:rPr>
                        </m:ctrlPr>
                      </m:funcPr>
                      <m:fNa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𝒄𝒐𝒔</m:t>
                        </m:r>
                      </m:fName>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e>
                    </m:func>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𝟐</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𝒕</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r>
                      <m:rPr>
                        <m:nor/>
                      </m:rPr>
                      <a:rPr lang="en-US" altLang="zh-CN" sz="2400" b="1" kern="1000">
                        <a:effectLst/>
                        <a:latin typeface="微软雅黑" panose="020B0503020204020204" pitchFamily="34" charset="-122"/>
                        <a:ea typeface="微软雅黑" panose="020B0503020204020204" pitchFamily="34" charset="-122"/>
                        <a:cs typeface="Times New Roman" panose="02020603050405020304" pitchFamily="18" charset="0"/>
                      </a:rPr>
                      <m:t>  </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𝟏</m:t>
                    </m:r>
                    <m:r>
                      <a:rPr lang="en-US" altLang="zh-CN" sz="2400" b="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𝟓</m:t>
                    </m:r>
                    <m:r>
                      <a:rPr lang="en-US" altLang="zh-CN" sz="2400" b="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𝟎</m:t>
                    </m:r>
                    <m:r>
                      <a:rPr lang="en-US" altLang="zh-CN" sz="2400" b="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𝟖</m:t>
                    </m:r>
                    <m:func>
                      <m:funcPr>
                        <m:ctrlPr>
                          <a:rPr lang="zh-CN" altLang="zh-CN" sz="2400" b="1" i="1">
                            <a:effectLst/>
                            <a:latin typeface="Cambria Math" panose="02040503050406030204" pitchFamily="18" charset="0"/>
                            <a:ea typeface="Cambria Math" panose="02040503050406030204" pitchFamily="18" charset="0"/>
                          </a:rPr>
                        </m:ctrlPr>
                      </m:funcPr>
                      <m:fNa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𝒔𝒊𝒏</m:t>
                        </m:r>
                      </m:fName>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e>
                    </m:func>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𝟒</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𝒕</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b="1" i="1">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e>
                      <m:sup>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𝑻</m:t>
                        </m:r>
                      </m:sup>
                    </m:sSup>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初始位置</a:t>
                </a:r>
                <a:r>
                  <a:rPr lang="en-US"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单位</a:t>
                </a:r>
                <a:r>
                  <a:rPr lang="en-US" altLang="zh-CN" sz="2400" b="1" kern="1000" dirty="0">
                    <a:effectLst/>
                    <a:latin typeface="微软雅黑" panose="020B0503020204020204" pitchFamily="34" charset="-122"/>
                    <a:ea typeface="微软雅黑" panose="020B0503020204020204" pitchFamily="34" charset="-122"/>
                  </a:rPr>
                  <a:t>rad</a:t>
                </a:r>
                <a:r>
                  <a:rPr lang="en-US"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为</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𝒒</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𝟎</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𝟎</m:t>
                    </m:r>
                    <m:r>
                      <m:rPr>
                        <m:nor/>
                      </m:rPr>
                      <a:rPr lang="en-US" altLang="zh-CN" sz="2400" b="1" kern="1000">
                        <a:effectLst/>
                        <a:latin typeface="微软雅黑" panose="020B0503020204020204" pitchFamily="34" charset="-122"/>
                        <a:ea typeface="微软雅黑" panose="020B0503020204020204" pitchFamily="34" charset="-122"/>
                        <a:cs typeface="Times New Roman" panose="02020603050405020304" pitchFamily="18" charset="0"/>
                      </a:rPr>
                      <m:t>  </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𝟎</m:t>
                    </m:r>
                  </m:oMath>
                </a14:m>
                <a:r>
                  <a:rPr lang="en-US" altLang="zh-CN" sz="2400" b="1" kern="100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𝟎</m:t>
                    </m:r>
                    <m:sSup>
                      <m:sSupPr>
                        <m:ctrlPr>
                          <a:rPr lang="zh-CN" altLang="zh-CN" sz="2400" b="1" i="1">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e>
                      <m:sup>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𝑻</m:t>
                        </m:r>
                      </m:sup>
                    </m:sSup>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，初始速度</a:t>
                </a:r>
                <a:r>
                  <a:rPr lang="en-US"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单位</a:t>
                </a:r>
                <a:r>
                  <a:rPr lang="en-US" altLang="zh-CN" sz="2400" b="1" kern="1000" dirty="0">
                    <a:effectLst/>
                    <a:latin typeface="微软雅黑" panose="020B0503020204020204" pitchFamily="34" charset="-122"/>
                    <a:ea typeface="微软雅黑" panose="020B0503020204020204" pitchFamily="34" charset="-122"/>
                  </a:rPr>
                  <a:t>rad/s</a:t>
                </a:r>
                <a:r>
                  <a:rPr lang="en-US"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为</a:t>
                </a:r>
                <a14:m>
                  <m:oMath xmlns:m="http://schemas.openxmlformats.org/officeDocument/2006/math">
                    <m:acc>
                      <m:accPr>
                        <m:chr m:val="̇"/>
                        <m:ctrlPr>
                          <a:rPr lang="zh-CN" altLang="zh-CN" sz="2400" b="1" i="1">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𝒒</m:t>
                        </m:r>
                      </m:e>
                    </m:acc>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𝟎</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𝟎</m:t>
                    </m:r>
                    <m:r>
                      <m:rPr>
                        <m:nor/>
                      </m:rPr>
                      <a:rPr lang="en-US" altLang="zh-CN" sz="2400" b="1" kern="1000">
                        <a:effectLst/>
                        <a:latin typeface="微软雅黑" panose="020B0503020204020204" pitchFamily="34" charset="-122"/>
                        <a:ea typeface="微软雅黑" panose="020B0503020204020204" pitchFamily="34" charset="-122"/>
                        <a:cs typeface="Times New Roman" panose="02020603050405020304" pitchFamily="18" charset="0"/>
                      </a:rPr>
                      <m:t>  </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𝟎</m:t>
                    </m:r>
                    <m:r>
                      <m:rPr>
                        <m:nor/>
                      </m:rPr>
                      <a:rPr lang="en-US" altLang="zh-CN" sz="2400" b="1" kern="1000">
                        <a:effectLst/>
                        <a:latin typeface="微软雅黑" panose="020B0503020204020204" pitchFamily="34" charset="-122"/>
                        <a:ea typeface="微软雅黑" panose="020B0503020204020204" pitchFamily="34" charset="-122"/>
                        <a:cs typeface="Times New Roman" panose="02020603050405020304" pitchFamily="18" charset="0"/>
                      </a:rPr>
                      <m:t>  </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𝟎</m:t>
                    </m:r>
                    <m:sSup>
                      <m:sSupPr>
                        <m:ctrlPr>
                          <a:rPr lang="zh-CN" altLang="zh-CN" sz="2400" b="1" i="1">
                            <a:effectLst/>
                            <a:latin typeface="Cambria Math" panose="02040503050406030204" pitchFamily="18" charset="0"/>
                            <a:ea typeface="Cambria Math" panose="02040503050406030204" pitchFamily="18" charset="0"/>
                          </a:rPr>
                        </m:ctrlPr>
                      </m:sSupPr>
                      <m:e>
                        <m:r>
                          <a:rPr lang="en-US" altLang="zh-CN" sz="2400" b="1" kern="1000">
                            <a:effectLst/>
                            <a:latin typeface="Cambria Math" panose="02040503050406030204" pitchFamily="18" charset="0"/>
                            <a:ea typeface="宋体" panose="02010600030101010101" pitchFamily="2" charset="-122"/>
                            <a:cs typeface="Times New Roman" panose="02020603050405020304" pitchFamily="18" charset="0"/>
                          </a:rPr>
                          <m:t>]</m:t>
                        </m:r>
                      </m:e>
                      <m:sup>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𝑻</m:t>
                        </m:r>
                      </m:sup>
                    </m:sSup>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，增益</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𝑲</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r>
                      <m:rPr>
                        <m:nor/>
                      </m:rPr>
                      <a:rPr lang="en-US" altLang="zh-CN" sz="2400" b="1" kern="1000">
                        <a:effectLst/>
                        <a:latin typeface="微软雅黑" panose="020B0503020204020204" pitchFamily="34" charset="-122"/>
                        <a:ea typeface="微软雅黑" panose="020B0503020204020204" pitchFamily="34" charset="-122"/>
                        <a:cs typeface="Times New Roman" panose="02020603050405020304" pitchFamily="18" charset="0"/>
                      </a:rPr>
                      <m:t>diag</m:t>
                    </m:r>
                    <m:r>
                      <a:rPr lang="en-US" altLang="zh-CN" sz="2400" b="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𝟐𝟎</m:t>
                    </m:r>
                    <m:r>
                      <a:rPr lang="en-US" altLang="zh-CN" sz="2400" b="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𝟐𝟎</m:t>
                    </m:r>
                    <m:r>
                      <a:rPr lang="en-US" altLang="zh-CN" sz="2400" b="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𝟏𝟎</m:t>
                    </m:r>
                    <m:r>
                      <a:rPr lang="en-US" altLang="zh-CN" sz="2400" b="1" kern="1000">
                        <a:effectLst/>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endParaRPr>
              </a:p>
              <a:p>
                <a:pPr indent="269875" algn="just">
                  <a:spcBef>
                    <a:spcPts val="600"/>
                  </a:spcBef>
                </a:pPr>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针对本节自适应滑模控制算法，相应的回归矩阵、估计参数等如下：</a:t>
                </a:r>
              </a:p>
              <a:p>
                <a:pPr indent="269875" algn="just">
                  <a:spcBef>
                    <a:spcPts val="600"/>
                  </a:spcBef>
                </a:pPr>
                <a:endParaRPr lang="zh-CN" altLang="en-US" sz="2400" b="1" dirty="0">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28C7135E-71FE-45C1-C760-7CD51DC8F304}"/>
                  </a:ext>
                </a:extLst>
              </p:cNvPr>
              <p:cNvSpPr txBox="1">
                <a:spLocks noRot="1" noChangeAspect="1" noMove="1" noResize="1" noEditPoints="1" noAdjustHandles="1" noChangeArrowheads="1" noChangeShapeType="1" noTextEdit="1"/>
              </p:cNvSpPr>
              <p:nvPr/>
            </p:nvSpPr>
            <p:spPr>
              <a:xfrm>
                <a:off x="800100" y="1838180"/>
                <a:ext cx="10591800" cy="2483372"/>
              </a:xfrm>
              <a:prstGeom prst="rect">
                <a:avLst/>
              </a:prstGeom>
              <a:blipFill>
                <a:blip r:embed="rId3"/>
                <a:stretch>
                  <a:fillRect l="-863" t="-1966" r="-2014"/>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684D3AFE-AF41-5B3B-5EBB-8DE8583F8A3C}"/>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7.2.2</a:t>
            </a: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机器人控制方法和控制器设计</a:t>
            </a:r>
          </a:p>
        </p:txBody>
      </p:sp>
      <p:sp>
        <p:nvSpPr>
          <p:cNvPr id="5" name="文本框 4">
            <a:extLst>
              <a:ext uri="{FF2B5EF4-FFF2-40B4-BE49-F238E27FC236}">
                <a16:creationId xmlns:a16="http://schemas.microsoft.com/office/drawing/2014/main" id="{AB4F2A0E-2C5B-DD43-A5E3-25D2EDF685D4}"/>
              </a:ext>
            </a:extLst>
          </p:cNvPr>
          <p:cNvSpPr txBox="1"/>
          <p:nvPr/>
        </p:nvSpPr>
        <p:spPr>
          <a:xfrm>
            <a:off x="1095375" y="1323975"/>
            <a:ext cx="5200650" cy="738664"/>
          </a:xfrm>
          <a:prstGeom prst="rect">
            <a:avLst/>
          </a:prstGeom>
          <a:noFill/>
        </p:spPr>
        <p:txBody>
          <a:bodyPr wrap="square" rtlCol="0">
            <a:spAutoFit/>
          </a:bodyPr>
          <a:lstStyle/>
          <a:p>
            <a:r>
              <a:rPr lang="en-US" altLang="zh-CN" sz="2400" b="1" kern="0" dirty="0">
                <a:effectLst/>
                <a:latin typeface="微软雅黑" panose="020B0503020204020204" pitchFamily="34" charset="-122"/>
                <a:ea typeface="微软雅黑" panose="020B0503020204020204" pitchFamily="34" charset="-122"/>
              </a:rPr>
              <a:t>2)</a:t>
            </a:r>
            <a:r>
              <a:rPr lang="zh-CN" altLang="zh-CN" sz="2400" b="1" kern="1050" dirty="0">
                <a:effectLst/>
                <a:latin typeface="微软雅黑" panose="020B0503020204020204" pitchFamily="34" charset="-122"/>
                <a:ea typeface="微软雅黑" panose="020B0503020204020204" pitchFamily="34" charset="-122"/>
              </a:rPr>
              <a:t>仿真实现</a:t>
            </a:r>
          </a:p>
          <a:p>
            <a:endParaRPr lang="zh-CN" altLang="en-US" dirty="0"/>
          </a:p>
        </p:txBody>
      </p:sp>
      <mc:AlternateContent xmlns:mc="http://schemas.openxmlformats.org/markup-compatibility/2006">
        <mc:Choice xmlns:a14="http://schemas.microsoft.com/office/drawing/2010/main" Requires="a14">
          <p:sp>
            <p:nvSpPr>
              <p:cNvPr id="6" name="对象 4">
                <a:extLst>
                  <a:ext uri="{FF2B5EF4-FFF2-40B4-BE49-F238E27FC236}">
                    <a16:creationId xmlns:a16="http://schemas.microsoft.com/office/drawing/2014/main" id="{DC151C3A-CFD1-850B-B66C-A2CD19C88519}"/>
                  </a:ext>
                </a:extLst>
              </p:cNvPr>
              <p:cNvSpPr txBox="1"/>
              <p:nvPr/>
            </p:nvSpPr>
            <p:spPr bwMode="auto">
              <a:xfrm>
                <a:off x="1095375" y="4321552"/>
                <a:ext cx="10682287" cy="2197662"/>
              </a:xfrm>
              <a:prstGeom prst="rect">
                <a:avLst/>
              </a:prstGeom>
              <a:solidFill>
                <a:schemeClr val="bg1"/>
              </a:solidFill>
              <a:ln>
                <a:solidFill>
                  <a:schemeClr val="bg1"/>
                </a:solidFill>
              </a:ln>
            </p:spPr>
            <p:txBody>
              <a:bodyPr>
                <a:noAutofit/>
              </a:bodyPr>
              <a:lstStyle/>
              <a:p>
                <a:pPr/>
                <a14:m>
                  <m:oMathPara xmlns:m="http://schemas.openxmlformats.org/officeDocument/2006/math">
                    <m:oMathParaPr>
                      <m:jc m:val="left"/>
                    </m:oMathParaPr>
                    <m:oMath xmlns:m="http://schemas.openxmlformats.org/officeDocument/2006/math">
                      <m:r>
                        <a:rPr lang="zh-CN" altLang="en-US" sz="2000" b="1" i="1" smtClean="0">
                          <a:solidFill>
                            <a:srgbClr val="000000"/>
                          </a:solidFill>
                          <a:latin typeface="Cambria Math" panose="02040503050406030204" pitchFamily="18" charset="0"/>
                        </a:rPr>
                        <m:t>𝒀</m:t>
                      </m:r>
                      <m:r>
                        <a:rPr lang="zh-CN" altLang="en-US" sz="2000" b="1" i="1" smtClean="0">
                          <a:solidFill>
                            <a:srgbClr val="000000"/>
                          </a:solidFill>
                          <a:latin typeface="Cambria Math" panose="02040503050406030204" pitchFamily="18" charset="0"/>
                        </a:rPr>
                        <m:t>(</m:t>
                      </m:r>
                      <m:r>
                        <a:rPr lang="zh-CN" altLang="en-US" sz="2000" b="1" i="1" smtClean="0">
                          <a:solidFill>
                            <a:srgbClr val="000000"/>
                          </a:solidFill>
                          <a:latin typeface="Cambria Math" panose="02040503050406030204" pitchFamily="18" charset="0"/>
                        </a:rPr>
                        <m:t>𝜽</m:t>
                      </m:r>
                      <m:r>
                        <a:rPr lang="zh-CN" altLang="en-US" sz="2000" b="1" i="1" smtClean="0">
                          <a:solidFill>
                            <a:srgbClr val="000000"/>
                          </a:solidFill>
                          <a:latin typeface="Cambria Math" panose="02040503050406030204" pitchFamily="18" charset="0"/>
                        </a:rPr>
                        <m:t>,</m:t>
                      </m:r>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𝒓</m:t>
                          </m:r>
                        </m:sub>
                      </m:sSub>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𝜽</m:t>
                              </m:r>
                            </m:e>
                          </m:acc>
                        </m:e>
                        <m:sub>
                          <m:r>
                            <a:rPr lang="zh-CN" altLang="en-US" sz="2000" b="1" i="1">
                              <a:solidFill>
                                <a:srgbClr val="000000"/>
                              </a:solidFill>
                              <a:latin typeface="Cambria Math" panose="02040503050406030204" pitchFamily="18" charset="0"/>
                            </a:rPr>
                            <m:t>𝒓</m:t>
                          </m:r>
                        </m:sub>
                      </m:sSub>
                      <m:r>
                        <a:rPr lang="zh-CN" altLang="en-US" sz="2000" b="1" i="1">
                          <a:solidFill>
                            <a:srgbClr val="000000"/>
                          </a:solidFill>
                          <a:latin typeface="Cambria Math" panose="02040503050406030204" pitchFamily="18" charset="0"/>
                        </a:rPr>
                        <m:t>)</m:t>
                      </m:r>
                    </m:oMath>
                  </m:oMathPara>
                </a14:m>
                <a:br>
                  <a:rPr lang="zh-CN" altLang="en-US" sz="2000" b="1" i="1" dirty="0">
                    <a:solidFill>
                      <a:srgbClr val="000000"/>
                    </a:solidFill>
                    <a:latin typeface="微软雅黑" panose="020B0503020204020204" pitchFamily="34" charset="-122"/>
                    <a:ea typeface="微软雅黑" panose="020B0503020204020204" pitchFamily="34" charset="-122"/>
                  </a:rPr>
                </a:br>
                <a14:m>
                  <m:oMath xmlns:m="http://schemas.openxmlformats.org/officeDocument/2006/math">
                    <m:r>
                      <a:rPr lang="zh-CN" altLang="en-US" b="1" i="1">
                        <a:solidFill>
                          <a:srgbClr val="000000"/>
                        </a:solidFill>
                        <a:latin typeface="Cambria Math" panose="02040503050406030204" pitchFamily="18" charset="0"/>
                      </a:rPr>
                      <m:t>=</m:t>
                    </m:r>
                    <m:d>
                      <m:dPr>
                        <m:begChr m:val="["/>
                        <m:endChr m:val="]"/>
                        <m:ctrlPr>
                          <a:rPr lang="zh-CN" altLang="en-US" b="1" i="1">
                            <a:solidFill>
                              <a:srgbClr val="000000"/>
                            </a:solidFill>
                            <a:latin typeface="Cambria Math" panose="02040503050406030204" pitchFamily="18" charset="0"/>
                          </a:rPr>
                        </m:ctrlPr>
                      </m:dPr>
                      <m:e>
                        <m:m>
                          <m:mPr>
                            <m:plcHide m:val="on"/>
                            <m:mcs>
                              <m:mc>
                                <m:mcPr>
                                  <m:count m:val="8"/>
                                  <m:mcJc m:val="center"/>
                                </m:mcPr>
                              </m:mc>
                            </m:mcs>
                            <m:ctrlPr>
                              <a:rPr lang="zh-CN" altLang="en-US" b="1" i="1">
                                <a:solidFill>
                                  <a:srgbClr val="000000"/>
                                </a:solidFill>
                                <a:latin typeface="Cambria Math" panose="02040503050406030204" pitchFamily="18" charset="0"/>
                              </a:rPr>
                            </m:ctrlPr>
                          </m:mPr>
                          <m:mr>
                            <m:e>
                              <m:sSub>
                                <m:sSubPr>
                                  <m:ctrlPr>
                                    <a:rPr lang="zh-CN" altLang="en-US" b="1" i="1">
                                      <a:solidFill>
                                        <a:srgbClr val="000000"/>
                                      </a:solidFill>
                                      <a:latin typeface="Cambria Math" panose="02040503050406030204" pitchFamily="18" charset="0"/>
                                    </a:rPr>
                                  </m:ctrlPr>
                                </m:sSubPr>
                                <m:e>
                                  <m:acc>
                                    <m:accPr>
                                      <m:chr m:val="̈"/>
                                      <m:ctrlPr>
                                        <a:rPr lang="zh-CN" altLang="en-US" b="1" i="1">
                                          <a:solidFill>
                                            <a:srgbClr val="000000"/>
                                          </a:solidFill>
                                          <a:latin typeface="Cambria Math" panose="02040503050406030204" pitchFamily="18" charset="0"/>
                                        </a:rPr>
                                      </m:ctrlPr>
                                    </m:accPr>
                                    <m:e>
                                      <m:r>
                                        <a:rPr lang="zh-CN" altLang="en-US" b="1" i="1">
                                          <a:solidFill>
                                            <a:srgbClr val="000000"/>
                                          </a:solidFill>
                                          <a:latin typeface="Cambria Math" panose="02040503050406030204" pitchFamily="18" charset="0"/>
                                        </a:rPr>
                                        <m:t>𝜽</m:t>
                                      </m:r>
                                    </m:e>
                                  </m:acc>
                                </m:e>
                                <m:sub>
                                  <m:r>
                                    <a:rPr lang="zh-CN" altLang="en-US" b="1" i="1">
                                      <a:solidFill>
                                        <a:srgbClr val="000000"/>
                                      </a:solidFill>
                                      <a:latin typeface="Cambria Math" panose="02040503050406030204" pitchFamily="18" charset="0"/>
                                    </a:rPr>
                                    <m:t>𝒓</m:t>
                                  </m:r>
                                  <m:r>
                                    <a:rPr lang="zh-CN" altLang="en-US" b="1" i="1">
                                      <a:solidFill>
                                        <a:srgbClr val="000000"/>
                                      </a:solidFill>
                                      <a:latin typeface="Cambria Math" panose="02040503050406030204" pitchFamily="18" charset="0"/>
                                    </a:rPr>
                                    <m:t>𝟏</m:t>
                                  </m:r>
                                </m:sub>
                              </m:sSub>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e>
                              <m:sSub>
                                <m:sSubPr>
                                  <m:ctrlPr>
                                    <a:rPr lang="zh-CN" altLang="en-US" b="1"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𝒙</m:t>
                                  </m:r>
                                </m:e>
                                <m:sub>
                                  <m:r>
                                    <a:rPr lang="zh-CN" altLang="en-US" b="1" i="1">
                                      <a:solidFill>
                                        <a:srgbClr val="000000"/>
                                      </a:solidFill>
                                      <a:latin typeface="Cambria Math" panose="02040503050406030204" pitchFamily="18" charset="0"/>
                                    </a:rPr>
                                    <m:t>𝟏</m:t>
                                  </m:r>
                                </m:sub>
                              </m:sSub>
                            </m:e>
                            <m:e>
                              <m:sSub>
                                <m:sSubPr>
                                  <m:ctrlPr>
                                    <a:rPr lang="zh-CN" altLang="en-US" b="1"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𝒙</m:t>
                                  </m:r>
                                </m:e>
                                <m:sub>
                                  <m:r>
                                    <a:rPr lang="zh-CN" altLang="en-US" b="1" i="1">
                                      <a:solidFill>
                                        <a:srgbClr val="000000"/>
                                      </a:solidFill>
                                      <a:latin typeface="Cambria Math" panose="02040503050406030204" pitchFamily="18" charset="0"/>
                                    </a:rPr>
                                    <m:t>𝟐</m:t>
                                  </m:r>
                                </m:sub>
                              </m:sSub>
                            </m:e>
                            <m:e>
                              <m:sSub>
                                <m:sSubPr>
                                  <m:ctrlPr>
                                    <a:rPr lang="zh-CN" altLang="en-US" b="1"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𝒙</m:t>
                                  </m:r>
                                </m:e>
                                <m:sub>
                                  <m:r>
                                    <a:rPr lang="zh-CN" altLang="en-US" b="1" i="1">
                                      <a:solidFill>
                                        <a:srgbClr val="000000"/>
                                      </a:solidFill>
                                      <a:latin typeface="Cambria Math" panose="02040503050406030204" pitchFamily="18" charset="0"/>
                                    </a:rPr>
                                    <m:t>𝟑</m:t>
                                  </m:r>
                                </m:sub>
                              </m:sSub>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mr>
                          <m:mr>
                            <m:e>
                              <m:r>
                                <a:rPr lang="zh-CN" altLang="en-US" b="1" i="1">
                                  <a:solidFill>
                                    <a:srgbClr val="000000"/>
                                  </a:solidFill>
                                  <a:latin typeface="Cambria Math" panose="02040503050406030204" pitchFamily="18" charset="0"/>
                                </a:rPr>
                                <m:t>𝟎</m:t>
                              </m:r>
                            </m:e>
                            <m:e>
                              <m:sSub>
                                <m:sSubPr>
                                  <m:ctrlPr>
                                    <a:rPr lang="zh-CN" altLang="en-US" b="1" i="1">
                                      <a:solidFill>
                                        <a:srgbClr val="000000"/>
                                      </a:solidFill>
                                      <a:latin typeface="Cambria Math" panose="02040503050406030204" pitchFamily="18" charset="0"/>
                                    </a:rPr>
                                  </m:ctrlPr>
                                </m:sSubPr>
                                <m:e>
                                  <m:acc>
                                    <m:accPr>
                                      <m:chr m:val="̈"/>
                                      <m:ctrlPr>
                                        <a:rPr lang="zh-CN" altLang="en-US" b="1" i="1">
                                          <a:solidFill>
                                            <a:srgbClr val="000000"/>
                                          </a:solidFill>
                                          <a:latin typeface="Cambria Math" panose="02040503050406030204" pitchFamily="18" charset="0"/>
                                        </a:rPr>
                                      </m:ctrlPr>
                                    </m:accPr>
                                    <m:e>
                                      <m:r>
                                        <a:rPr lang="zh-CN" altLang="en-US" b="1" i="1">
                                          <a:solidFill>
                                            <a:srgbClr val="000000"/>
                                          </a:solidFill>
                                          <a:latin typeface="Cambria Math" panose="02040503050406030204" pitchFamily="18" charset="0"/>
                                        </a:rPr>
                                        <m:t>𝜽</m:t>
                                      </m:r>
                                    </m:e>
                                  </m:acc>
                                </m:e>
                                <m:sub>
                                  <m:r>
                                    <a:rPr lang="zh-CN" altLang="en-US" b="1" i="1">
                                      <a:solidFill>
                                        <a:srgbClr val="000000"/>
                                      </a:solidFill>
                                      <a:latin typeface="Cambria Math" panose="02040503050406030204" pitchFamily="18" charset="0"/>
                                    </a:rPr>
                                    <m:t>𝒓</m:t>
                                  </m:r>
                                  <m:r>
                                    <a:rPr lang="zh-CN" altLang="en-US" b="1" i="1">
                                      <a:solidFill>
                                        <a:srgbClr val="000000"/>
                                      </a:solidFill>
                                      <a:latin typeface="Cambria Math" panose="02040503050406030204" pitchFamily="18" charset="0"/>
                                    </a:rPr>
                                    <m:t>𝟐</m:t>
                                  </m:r>
                                </m:sub>
                              </m:sSub>
                            </m:e>
                            <m:e>
                              <m:r>
                                <a:rPr lang="zh-CN" altLang="en-US" b="1" i="1">
                                  <a:solidFill>
                                    <a:srgbClr val="000000"/>
                                  </a:solidFill>
                                  <a:latin typeface="Cambria Math" panose="02040503050406030204" pitchFamily="18" charset="0"/>
                                </a:rPr>
                                <m:t>(</m:t>
                              </m:r>
                              <m:sSub>
                                <m:sSubPr>
                                  <m:ctrlPr>
                                    <a:rPr lang="zh-CN" altLang="en-US" b="1" i="1">
                                      <a:solidFill>
                                        <a:srgbClr val="000000"/>
                                      </a:solidFill>
                                      <a:latin typeface="Cambria Math" panose="02040503050406030204" pitchFamily="18" charset="0"/>
                                    </a:rPr>
                                  </m:ctrlPr>
                                </m:sSubPr>
                                <m:e>
                                  <m:acc>
                                    <m:accPr>
                                      <m:chr m:val="̈"/>
                                      <m:ctrlPr>
                                        <a:rPr lang="zh-CN" altLang="en-US" b="1" i="1">
                                          <a:solidFill>
                                            <a:srgbClr val="000000"/>
                                          </a:solidFill>
                                          <a:latin typeface="Cambria Math" panose="02040503050406030204" pitchFamily="18" charset="0"/>
                                        </a:rPr>
                                      </m:ctrlPr>
                                    </m:accPr>
                                    <m:e>
                                      <m:r>
                                        <a:rPr lang="zh-CN" altLang="en-US" b="1" i="1">
                                          <a:solidFill>
                                            <a:srgbClr val="000000"/>
                                          </a:solidFill>
                                          <a:latin typeface="Cambria Math" panose="02040503050406030204" pitchFamily="18" charset="0"/>
                                        </a:rPr>
                                        <m:t>𝜽</m:t>
                                      </m:r>
                                    </m:e>
                                  </m:acc>
                                </m:e>
                                <m:sub>
                                  <m:r>
                                    <a:rPr lang="zh-CN" altLang="en-US" b="1" i="1">
                                      <a:solidFill>
                                        <a:srgbClr val="000000"/>
                                      </a:solidFill>
                                      <a:latin typeface="Cambria Math" panose="02040503050406030204" pitchFamily="18" charset="0"/>
                                    </a:rPr>
                                    <m:t>𝒓</m:t>
                                  </m:r>
                                  <m:r>
                                    <a:rPr lang="zh-CN" altLang="en-US" b="1" i="1">
                                      <a:solidFill>
                                        <a:srgbClr val="000000"/>
                                      </a:solidFill>
                                      <a:latin typeface="Cambria Math" panose="02040503050406030204" pitchFamily="18" charset="0"/>
                                    </a:rPr>
                                    <m:t>𝟐</m:t>
                                  </m:r>
                                </m:sub>
                              </m:sSub>
                              <m:r>
                                <a:rPr lang="zh-CN" altLang="en-US" b="1" i="1">
                                  <a:solidFill>
                                    <a:srgbClr val="000000"/>
                                  </a:solidFill>
                                  <a:latin typeface="Cambria Math" panose="02040503050406030204" pitchFamily="18" charset="0"/>
                                </a:rPr>
                                <m:t>+</m:t>
                              </m:r>
                              <m:sSub>
                                <m:sSubPr>
                                  <m:ctrlPr>
                                    <a:rPr lang="zh-CN" altLang="en-US" b="1" i="1">
                                      <a:solidFill>
                                        <a:srgbClr val="000000"/>
                                      </a:solidFill>
                                      <a:latin typeface="Cambria Math" panose="02040503050406030204" pitchFamily="18" charset="0"/>
                                    </a:rPr>
                                  </m:ctrlPr>
                                </m:sSubPr>
                                <m:e>
                                  <m:acc>
                                    <m:accPr>
                                      <m:chr m:val="̈"/>
                                      <m:ctrlPr>
                                        <a:rPr lang="zh-CN" altLang="en-US" b="1" i="1">
                                          <a:solidFill>
                                            <a:srgbClr val="000000"/>
                                          </a:solidFill>
                                          <a:latin typeface="Cambria Math" panose="02040503050406030204" pitchFamily="18" charset="0"/>
                                        </a:rPr>
                                      </m:ctrlPr>
                                    </m:accPr>
                                    <m:e>
                                      <m:r>
                                        <a:rPr lang="zh-CN" altLang="en-US" b="1" i="1">
                                          <a:solidFill>
                                            <a:srgbClr val="000000"/>
                                          </a:solidFill>
                                          <a:latin typeface="Cambria Math" panose="02040503050406030204" pitchFamily="18" charset="0"/>
                                        </a:rPr>
                                        <m:t>𝜽</m:t>
                                      </m:r>
                                    </m:e>
                                  </m:acc>
                                </m:e>
                                <m:sub>
                                  <m:r>
                                    <a:rPr lang="zh-CN" altLang="en-US" b="1" i="1">
                                      <a:solidFill>
                                        <a:srgbClr val="000000"/>
                                      </a:solidFill>
                                      <a:latin typeface="Cambria Math" panose="02040503050406030204" pitchFamily="18" charset="0"/>
                                    </a:rPr>
                                    <m:t>𝒓</m:t>
                                  </m:r>
                                  <m:r>
                                    <a:rPr lang="zh-CN" altLang="en-US" b="1" i="1">
                                      <a:solidFill>
                                        <a:srgbClr val="000000"/>
                                      </a:solidFill>
                                      <a:latin typeface="Cambria Math" panose="02040503050406030204" pitchFamily="18" charset="0"/>
                                    </a:rPr>
                                    <m:t>𝟑</m:t>
                                  </m:r>
                                </m:sub>
                              </m:sSub>
                              <m:r>
                                <a:rPr lang="zh-CN" altLang="en-US" b="1" i="1">
                                  <a:solidFill>
                                    <a:srgbClr val="000000"/>
                                  </a:solidFill>
                                  <a:latin typeface="Cambria Math" panose="02040503050406030204" pitchFamily="18" charset="0"/>
                                </a:rPr>
                                <m:t>)</m:t>
                              </m:r>
                            </m:e>
                            <m:e>
                              <m:sSub>
                                <m:sSubPr>
                                  <m:ctrlPr>
                                    <a:rPr lang="zh-CN" altLang="en-US" b="1"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𝒙</m:t>
                                  </m:r>
                                </m:e>
                                <m:sub>
                                  <m:r>
                                    <a:rPr lang="zh-CN" altLang="en-US" b="1" i="1">
                                      <a:solidFill>
                                        <a:srgbClr val="000000"/>
                                      </a:solidFill>
                                      <a:latin typeface="Cambria Math" panose="02040503050406030204" pitchFamily="18" charset="0"/>
                                    </a:rPr>
                                    <m:t>𝟒</m:t>
                                  </m:r>
                                </m:sub>
                              </m:sSub>
                            </m:e>
                            <m:e>
                              <m:func>
                                <m:funcPr>
                                  <m:ctrlPr>
                                    <a:rPr lang="zh-CN" altLang="en-US" b="1" i="1">
                                      <a:solidFill>
                                        <a:srgbClr val="000000"/>
                                      </a:solidFill>
                                      <a:latin typeface="Cambria Math" panose="02040503050406030204" pitchFamily="18" charset="0"/>
                                    </a:rPr>
                                  </m:ctrlPr>
                                </m:funcPr>
                                <m:fName>
                                  <m:r>
                                    <a:rPr lang="zh-CN" altLang="en-US" b="1" i="0">
                                      <a:solidFill>
                                        <a:srgbClr val="000000"/>
                                      </a:solidFill>
                                      <a:latin typeface="Cambria Math" panose="02040503050406030204" pitchFamily="18" charset="0"/>
                                    </a:rPr>
                                    <m:t>𝐬𝐢𝐧</m:t>
                                  </m:r>
                                </m:fName>
                                <m:e>
                                  <m:sSub>
                                    <m:sSubPr>
                                      <m:ctrlPr>
                                        <a:rPr lang="zh-CN" altLang="en-US" b="1"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𝜽</m:t>
                                      </m:r>
                                    </m:e>
                                    <m:sub>
                                      <m:r>
                                        <a:rPr lang="zh-CN" altLang="en-US" b="1" i="1">
                                          <a:solidFill>
                                            <a:srgbClr val="000000"/>
                                          </a:solidFill>
                                          <a:latin typeface="Cambria Math" panose="02040503050406030204" pitchFamily="18" charset="0"/>
                                        </a:rPr>
                                        <m:t>𝟐</m:t>
                                      </m:r>
                                    </m:sub>
                                  </m:sSub>
                                </m:e>
                              </m:func>
                              <m:func>
                                <m:funcPr>
                                  <m:ctrlPr>
                                    <a:rPr lang="zh-CN" altLang="en-US" b="1" i="1">
                                      <a:solidFill>
                                        <a:srgbClr val="000000"/>
                                      </a:solidFill>
                                      <a:latin typeface="Cambria Math" panose="02040503050406030204" pitchFamily="18" charset="0"/>
                                    </a:rPr>
                                  </m:ctrlPr>
                                </m:funcPr>
                                <m:fName>
                                  <m:r>
                                    <a:rPr lang="zh-CN" altLang="en-US" b="1" i="0">
                                      <a:solidFill>
                                        <a:srgbClr val="000000"/>
                                      </a:solidFill>
                                      <a:latin typeface="Cambria Math" panose="02040503050406030204" pitchFamily="18" charset="0"/>
                                    </a:rPr>
                                    <m:t>𝐜𝐨𝐬</m:t>
                                  </m:r>
                                </m:fName>
                                <m:e>
                                  <m:sSub>
                                    <m:sSubPr>
                                      <m:ctrlPr>
                                        <a:rPr lang="zh-CN" altLang="en-US" b="1"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𝜽</m:t>
                                      </m:r>
                                    </m:e>
                                    <m:sub>
                                      <m:r>
                                        <a:rPr lang="zh-CN" altLang="en-US" b="1" i="1">
                                          <a:solidFill>
                                            <a:srgbClr val="000000"/>
                                          </a:solidFill>
                                          <a:latin typeface="Cambria Math" panose="02040503050406030204" pitchFamily="18" charset="0"/>
                                        </a:rPr>
                                        <m:t>𝟐</m:t>
                                      </m:r>
                                    </m:sub>
                                  </m:sSub>
                                </m:e>
                              </m:func>
                              <m:sSubSup>
                                <m:sSubSupPr>
                                  <m:ctrlPr>
                                    <a:rPr lang="zh-CN" altLang="en-US" b="1" i="1">
                                      <a:solidFill>
                                        <a:srgbClr val="000000"/>
                                      </a:solidFill>
                                      <a:latin typeface="Cambria Math" panose="02040503050406030204" pitchFamily="18" charset="0"/>
                                    </a:rPr>
                                  </m:ctrlPr>
                                </m:sSubSupPr>
                                <m:e>
                                  <m:acc>
                                    <m:accPr>
                                      <m:chr m:val="̇"/>
                                      <m:ctrlPr>
                                        <a:rPr lang="zh-CN" altLang="en-US" b="1" i="1">
                                          <a:solidFill>
                                            <a:srgbClr val="000000"/>
                                          </a:solidFill>
                                          <a:latin typeface="Cambria Math" panose="02040503050406030204" pitchFamily="18" charset="0"/>
                                        </a:rPr>
                                      </m:ctrlPr>
                                    </m:accPr>
                                    <m:e>
                                      <m:r>
                                        <a:rPr lang="zh-CN" altLang="en-US" b="1" i="1">
                                          <a:solidFill>
                                            <a:srgbClr val="000000"/>
                                          </a:solidFill>
                                          <a:latin typeface="Cambria Math" panose="02040503050406030204" pitchFamily="18" charset="0"/>
                                        </a:rPr>
                                        <m:t>𝜽</m:t>
                                      </m:r>
                                    </m:e>
                                  </m:acc>
                                </m:e>
                                <m:sub>
                                  <m:r>
                                    <a:rPr lang="zh-CN" altLang="en-US" b="1" i="1">
                                      <a:solidFill>
                                        <a:srgbClr val="000000"/>
                                      </a:solidFill>
                                      <a:latin typeface="Cambria Math" panose="02040503050406030204" pitchFamily="18" charset="0"/>
                                    </a:rPr>
                                    <m:t>𝒓</m:t>
                                  </m:r>
                                  <m:r>
                                    <a:rPr lang="zh-CN" altLang="en-US" b="1" i="1">
                                      <a:solidFill>
                                        <a:srgbClr val="000000"/>
                                      </a:solidFill>
                                      <a:latin typeface="Cambria Math" panose="02040503050406030204" pitchFamily="18" charset="0"/>
                                    </a:rPr>
                                    <m:t>𝟏</m:t>
                                  </m:r>
                                </m:sub>
                                <m:sup>
                                  <m:r>
                                    <a:rPr lang="zh-CN" altLang="en-US" b="1" i="1">
                                      <a:solidFill>
                                        <a:srgbClr val="000000"/>
                                      </a:solidFill>
                                      <a:latin typeface="Cambria Math" panose="02040503050406030204" pitchFamily="18" charset="0"/>
                                    </a:rPr>
                                    <m:t>𝟐</m:t>
                                  </m:r>
                                </m:sup>
                              </m:sSubSup>
                            </m:e>
                            <m:e>
                              <m:sSub>
                                <m:sSubPr>
                                  <m:ctrlPr>
                                    <a:rPr lang="zh-CN" altLang="en-US" b="1"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𝒙</m:t>
                                  </m:r>
                                </m:e>
                                <m:sub>
                                  <m:r>
                                    <a:rPr lang="zh-CN" altLang="en-US" b="1" i="1">
                                      <a:solidFill>
                                        <a:srgbClr val="000000"/>
                                      </a:solidFill>
                                      <a:latin typeface="Cambria Math" panose="02040503050406030204" pitchFamily="18" charset="0"/>
                                    </a:rPr>
                                    <m:t>𝟓</m:t>
                                  </m:r>
                                </m:sub>
                              </m:sSub>
                            </m:e>
                            <m:e>
                              <m:func>
                                <m:funcPr>
                                  <m:ctrlPr>
                                    <a:rPr lang="zh-CN" altLang="en-US" b="1" i="1" smtClean="0">
                                      <a:solidFill>
                                        <a:srgbClr val="000000"/>
                                      </a:solidFill>
                                      <a:latin typeface="Cambria Math" panose="02040503050406030204" pitchFamily="18" charset="0"/>
                                    </a:rPr>
                                  </m:ctrlPr>
                                </m:funcPr>
                                <m:fName>
                                  <m:r>
                                    <a:rPr lang="zh-CN" altLang="en-US" b="1" i="0">
                                      <a:solidFill>
                                        <a:srgbClr val="000000"/>
                                      </a:solidFill>
                                      <a:latin typeface="Cambria Math" panose="02040503050406030204" pitchFamily="18" charset="0"/>
                                    </a:rPr>
                                    <m:t>𝐜𝐨𝐬</m:t>
                                  </m:r>
                                </m:fName>
                                <m:e>
                                  <m:sSub>
                                    <m:sSubPr>
                                      <m:ctrlPr>
                                        <a:rPr lang="zh-CN" altLang="en-US" b="1"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𝜽</m:t>
                                      </m:r>
                                    </m:e>
                                    <m:sub>
                                      <m:r>
                                        <a:rPr lang="zh-CN" altLang="en-US" b="1" i="1">
                                          <a:solidFill>
                                            <a:srgbClr val="000000"/>
                                          </a:solidFill>
                                          <a:latin typeface="Cambria Math" panose="02040503050406030204" pitchFamily="18" charset="0"/>
                                        </a:rPr>
                                        <m:t>𝟐</m:t>
                                      </m:r>
                                    </m:sub>
                                  </m:sSub>
                                </m:e>
                              </m:func>
                              <m:r>
                                <a:rPr lang="zh-CN" altLang="en-US" b="1" i="1">
                                  <a:solidFill>
                                    <a:srgbClr val="000000"/>
                                  </a:solidFill>
                                  <a:latin typeface="Cambria Math" panose="02040503050406030204" pitchFamily="18" charset="0"/>
                                </a:rPr>
                                <m:t>𝒈</m:t>
                              </m:r>
                            </m:e>
                            <m:e>
                              <m:func>
                                <m:funcPr>
                                  <m:ctrlPr>
                                    <a:rPr lang="zh-CN" altLang="en-US" b="1" i="1">
                                      <a:solidFill>
                                        <a:srgbClr val="000000"/>
                                      </a:solidFill>
                                      <a:latin typeface="Cambria Math" panose="02040503050406030204" pitchFamily="18" charset="0"/>
                                    </a:rPr>
                                  </m:ctrlPr>
                                </m:funcPr>
                                <m:fName>
                                  <m:r>
                                    <a:rPr lang="zh-CN" altLang="en-US" b="1" i="0">
                                      <a:solidFill>
                                        <a:srgbClr val="000000"/>
                                      </a:solidFill>
                                      <a:latin typeface="Cambria Math" panose="02040503050406030204" pitchFamily="18" charset="0"/>
                                    </a:rPr>
                                    <m:t>𝐜𝐨𝐬</m:t>
                                  </m:r>
                                </m:fName>
                                <m:e>
                                  <m:sSub>
                                    <m:sSubPr>
                                      <m:ctrlPr>
                                        <a:rPr lang="zh-CN" altLang="en-US" b="1"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𝜽</m:t>
                                      </m:r>
                                    </m:e>
                                    <m:sub>
                                      <m:r>
                                        <a:rPr lang="zh-CN" altLang="en-US" b="1" i="1">
                                          <a:solidFill>
                                            <a:srgbClr val="000000"/>
                                          </a:solidFill>
                                          <a:latin typeface="Cambria Math" panose="02040503050406030204" pitchFamily="18" charset="0"/>
                                        </a:rPr>
                                        <m:t>𝟐</m:t>
                                      </m:r>
                                    </m:sub>
                                  </m:sSub>
                                </m:e>
                              </m:func>
                              <m:r>
                                <a:rPr lang="zh-CN" altLang="en-US" b="1" i="1">
                                  <a:solidFill>
                                    <a:srgbClr val="000000"/>
                                  </a:solidFill>
                                  <a:latin typeface="Cambria Math" panose="02040503050406030204" pitchFamily="18" charset="0"/>
                                </a:rPr>
                                <m:t>+</m:t>
                              </m:r>
                              <m:sSub>
                                <m:sSubPr>
                                  <m:ctrlPr>
                                    <a:rPr lang="zh-CN" altLang="en-US" b="1"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𝜽</m:t>
                                  </m:r>
                                </m:e>
                                <m:sub>
                                  <m:r>
                                    <a:rPr lang="zh-CN" altLang="en-US" b="1" i="1">
                                      <a:solidFill>
                                        <a:srgbClr val="000000"/>
                                      </a:solidFill>
                                      <a:latin typeface="Cambria Math" panose="02040503050406030204" pitchFamily="18" charset="0"/>
                                    </a:rPr>
                                    <m:t>𝟑</m:t>
                                  </m:r>
                                </m:sub>
                              </m:sSub>
                              <m:r>
                                <a:rPr lang="zh-CN" altLang="en-US" b="1" i="1">
                                  <a:solidFill>
                                    <a:srgbClr val="000000"/>
                                  </a:solidFill>
                                  <a:latin typeface="Cambria Math" panose="02040503050406030204" pitchFamily="18" charset="0"/>
                                </a:rPr>
                                <m:t>𝒈</m:t>
                              </m:r>
                            </m:e>
                          </m:mr>
                          <m:mr>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e>
                              <m:r>
                                <a:rPr lang="zh-CN" altLang="en-US" b="1" i="1">
                                  <a:solidFill>
                                    <a:srgbClr val="000000"/>
                                  </a:solidFill>
                                  <a:latin typeface="Cambria Math" panose="02040503050406030204" pitchFamily="18" charset="0"/>
                                </a:rPr>
                                <m:t>𝟎</m:t>
                              </m:r>
                            </m:e>
                            <m:e>
                              <m:sSub>
                                <m:sSubPr>
                                  <m:ctrlPr>
                                    <a:rPr lang="zh-CN" altLang="en-US" b="1"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𝒙</m:t>
                                  </m:r>
                                </m:e>
                                <m:sub>
                                  <m:r>
                                    <a:rPr lang="zh-CN" altLang="en-US" b="1" i="1">
                                      <a:solidFill>
                                        <a:srgbClr val="000000"/>
                                      </a:solidFill>
                                      <a:latin typeface="Cambria Math" panose="02040503050406030204" pitchFamily="18" charset="0"/>
                                    </a:rPr>
                                    <m:t>𝟔</m:t>
                                  </m:r>
                                </m:sub>
                              </m:sSub>
                            </m:e>
                            <m:e>
                              <m:r>
                                <a:rPr lang="zh-CN" altLang="en-US" b="1" i="1">
                                  <a:solidFill>
                                    <a:srgbClr val="000000"/>
                                  </a:solidFill>
                                  <a:latin typeface="Cambria Math" panose="02040503050406030204" pitchFamily="18" charset="0"/>
                                </a:rPr>
                                <m:t>𝟎</m:t>
                              </m:r>
                            </m:e>
                            <m:e>
                              <m:sSub>
                                <m:sSubPr>
                                  <m:ctrlPr>
                                    <a:rPr lang="zh-CN" altLang="en-US" b="1"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𝒙</m:t>
                                  </m:r>
                                </m:e>
                                <m:sub>
                                  <m:r>
                                    <a:rPr lang="zh-CN" altLang="en-US" b="1" i="1">
                                      <a:solidFill>
                                        <a:srgbClr val="000000"/>
                                      </a:solidFill>
                                      <a:latin typeface="Cambria Math" panose="02040503050406030204" pitchFamily="18" charset="0"/>
                                    </a:rPr>
                                    <m:t>𝟕</m:t>
                                  </m:r>
                                </m:sub>
                              </m:sSub>
                            </m:e>
                            <m:e>
                              <m:r>
                                <a:rPr lang="zh-CN" altLang="en-US" b="1" i="1">
                                  <a:solidFill>
                                    <a:srgbClr val="000000"/>
                                  </a:solidFill>
                                  <a:latin typeface="Cambria Math" panose="02040503050406030204" pitchFamily="18" charset="0"/>
                                </a:rPr>
                                <m:t>𝟎</m:t>
                              </m:r>
                            </m:e>
                            <m:e>
                              <m:func>
                                <m:funcPr>
                                  <m:ctrlPr>
                                    <a:rPr lang="zh-CN" altLang="en-US" b="1" i="1">
                                      <a:solidFill>
                                        <a:srgbClr val="000000"/>
                                      </a:solidFill>
                                      <a:latin typeface="Cambria Math" panose="02040503050406030204" pitchFamily="18" charset="0"/>
                                    </a:rPr>
                                  </m:ctrlPr>
                                </m:funcPr>
                                <m:fName>
                                  <m:r>
                                    <a:rPr lang="zh-CN" altLang="en-US" b="1" i="0">
                                      <a:solidFill>
                                        <a:srgbClr val="000000"/>
                                      </a:solidFill>
                                      <a:latin typeface="Cambria Math" panose="02040503050406030204" pitchFamily="18" charset="0"/>
                                    </a:rPr>
                                    <m:t>𝐜𝐨𝐬</m:t>
                                  </m:r>
                                </m:fName>
                                <m:e>
                                  <m:sSub>
                                    <m:sSubPr>
                                      <m:ctrlPr>
                                        <a:rPr lang="zh-CN" altLang="en-US" b="1"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𝜽</m:t>
                                      </m:r>
                                    </m:e>
                                    <m:sub>
                                      <m:r>
                                        <a:rPr lang="zh-CN" altLang="en-US" b="1" i="1">
                                          <a:solidFill>
                                            <a:srgbClr val="000000"/>
                                          </a:solidFill>
                                          <a:latin typeface="Cambria Math" panose="02040503050406030204" pitchFamily="18" charset="0"/>
                                        </a:rPr>
                                        <m:t>𝟐</m:t>
                                      </m:r>
                                    </m:sub>
                                  </m:sSub>
                                </m:e>
                              </m:func>
                              <m:r>
                                <a:rPr lang="zh-CN" altLang="en-US" b="1" i="1">
                                  <a:solidFill>
                                    <a:srgbClr val="000000"/>
                                  </a:solidFill>
                                  <a:latin typeface="Cambria Math" panose="02040503050406030204" pitchFamily="18" charset="0"/>
                                </a:rPr>
                                <m:t>+</m:t>
                              </m:r>
                              <m:sSub>
                                <m:sSubPr>
                                  <m:ctrlPr>
                                    <a:rPr lang="zh-CN" altLang="en-US" b="1" i="1">
                                      <a:solidFill>
                                        <a:srgbClr val="000000"/>
                                      </a:solidFill>
                                      <a:latin typeface="Cambria Math" panose="02040503050406030204" pitchFamily="18" charset="0"/>
                                    </a:rPr>
                                  </m:ctrlPr>
                                </m:sSubPr>
                                <m:e>
                                  <m:r>
                                    <a:rPr lang="zh-CN" altLang="en-US" b="1" i="1">
                                      <a:solidFill>
                                        <a:srgbClr val="000000"/>
                                      </a:solidFill>
                                      <a:latin typeface="Cambria Math" panose="02040503050406030204" pitchFamily="18" charset="0"/>
                                    </a:rPr>
                                    <m:t>𝜽</m:t>
                                  </m:r>
                                </m:e>
                                <m:sub>
                                  <m:r>
                                    <a:rPr lang="zh-CN" altLang="en-US" b="1" i="1">
                                      <a:solidFill>
                                        <a:srgbClr val="000000"/>
                                      </a:solidFill>
                                      <a:latin typeface="Cambria Math" panose="02040503050406030204" pitchFamily="18" charset="0"/>
                                    </a:rPr>
                                    <m:t>𝟑</m:t>
                                  </m:r>
                                </m:sub>
                              </m:sSub>
                              <m:r>
                                <a:rPr lang="zh-CN" altLang="en-US" b="1" i="1">
                                  <a:solidFill>
                                    <a:srgbClr val="000000"/>
                                  </a:solidFill>
                                  <a:latin typeface="Cambria Math" panose="02040503050406030204" pitchFamily="18" charset="0"/>
                                </a:rPr>
                                <m:t>𝒈</m:t>
                              </m:r>
                            </m:e>
                          </m:mr>
                        </m:m>
                        <m:r>
                          <a:rPr lang="en-US" altLang="zh-CN" b="1" i="1" smtClean="0">
                            <a:solidFill>
                              <a:srgbClr val="000000"/>
                            </a:solidFill>
                            <a:latin typeface="Cambria Math" panose="02040503050406030204" pitchFamily="18" charset="0"/>
                          </a:rPr>
                          <m:t>   </m:t>
                        </m:r>
                        <m:m>
                          <m:mPr>
                            <m:plcHide m:val="on"/>
                            <m:mcs>
                              <m:mc>
                                <m:mcPr>
                                  <m:count m:val="1"/>
                                  <m:mcJc m:val="center"/>
                                </m:mcPr>
                              </m:mc>
                            </m:mcs>
                            <m:ctrlPr>
                              <a:rPr lang="zh-CN" altLang="en-US" b="1" i="1">
                                <a:solidFill>
                                  <a:srgbClr val="000000"/>
                                </a:solidFill>
                                <a:latin typeface="Cambria Math" panose="02040503050406030204" pitchFamily="18" charset="0"/>
                              </a:rPr>
                            </m:ctrlPr>
                          </m:mPr>
                          <m:mr>
                            <m:e/>
                          </m:mr>
                          <m:mr>
                            <m:e/>
                          </m:mr>
                          <m:mr>
                            <m:e/>
                          </m:mr>
                        </m:m>
                        <m:m>
                          <m:mPr>
                            <m:plcHide m:val="on"/>
                            <m:mcs>
                              <m:mc>
                                <m:mcPr>
                                  <m:count m:val="1"/>
                                  <m:mcJc m:val="center"/>
                                </m:mcPr>
                              </m:mc>
                            </m:mcs>
                            <m:ctrlPr>
                              <a:rPr lang="zh-CN" altLang="en-US" b="1" i="1">
                                <a:solidFill>
                                  <a:srgbClr val="000000"/>
                                </a:solidFill>
                                <a:latin typeface="Cambria Math" panose="02040503050406030204" pitchFamily="18" charset="0"/>
                              </a:rPr>
                            </m:ctrlPr>
                          </m:mPr>
                          <m:mr>
                            <m:e>
                              <m:r>
                                <a:rPr lang="zh-CN" altLang="en-US" b="1" i="1">
                                  <a:solidFill>
                                    <a:srgbClr val="000000"/>
                                  </a:solidFill>
                                  <a:latin typeface="Cambria Math" panose="02040503050406030204" pitchFamily="18" charset="0"/>
                                </a:rPr>
                                <m:t>𝟎</m:t>
                              </m:r>
                            </m:e>
                          </m:mr>
                          <m:mr>
                            <m:e>
                              <m:sSub>
                                <m:sSubPr>
                                  <m:ctrlPr>
                                    <a:rPr lang="zh-CN" altLang="en-US" b="1" i="1">
                                      <a:solidFill>
                                        <a:srgbClr val="000000"/>
                                      </a:solidFill>
                                      <a:latin typeface="Cambria Math" panose="02040503050406030204" pitchFamily="18" charset="0"/>
                                    </a:rPr>
                                  </m:ctrlPr>
                                </m:sSubPr>
                                <m:e>
                                  <m:acc>
                                    <m:accPr>
                                      <m:chr m:val="̈"/>
                                      <m:ctrlPr>
                                        <a:rPr lang="zh-CN" altLang="en-US" b="1" i="1">
                                          <a:solidFill>
                                            <a:srgbClr val="000000"/>
                                          </a:solidFill>
                                          <a:latin typeface="Cambria Math" panose="02040503050406030204" pitchFamily="18" charset="0"/>
                                        </a:rPr>
                                      </m:ctrlPr>
                                    </m:accPr>
                                    <m:e>
                                      <m:r>
                                        <a:rPr lang="zh-CN" altLang="en-US" b="1" i="1">
                                          <a:solidFill>
                                            <a:srgbClr val="000000"/>
                                          </a:solidFill>
                                          <a:latin typeface="Cambria Math" panose="02040503050406030204" pitchFamily="18" charset="0"/>
                                        </a:rPr>
                                        <m:t>𝜽</m:t>
                                      </m:r>
                                    </m:e>
                                  </m:acc>
                                </m:e>
                                <m:sub>
                                  <m:r>
                                    <a:rPr lang="zh-CN" altLang="en-US" b="1" i="1">
                                      <a:solidFill>
                                        <a:srgbClr val="000000"/>
                                      </a:solidFill>
                                      <a:latin typeface="Cambria Math" panose="02040503050406030204" pitchFamily="18" charset="0"/>
                                    </a:rPr>
                                    <m:t>𝒓</m:t>
                                  </m:r>
                                  <m:r>
                                    <a:rPr lang="zh-CN" altLang="en-US" b="1" i="1">
                                      <a:solidFill>
                                        <a:srgbClr val="000000"/>
                                      </a:solidFill>
                                      <a:latin typeface="Cambria Math" panose="02040503050406030204" pitchFamily="18" charset="0"/>
                                    </a:rPr>
                                    <m:t>𝟐</m:t>
                                  </m:r>
                                </m:sub>
                              </m:sSub>
                            </m:e>
                          </m:mr>
                          <m:mr>
                            <m:e>
                              <m:r>
                                <a:rPr lang="zh-CN" altLang="en-US" b="1" i="1">
                                  <a:solidFill>
                                    <a:srgbClr val="000000"/>
                                  </a:solidFill>
                                  <a:latin typeface="Cambria Math" panose="02040503050406030204" pitchFamily="18" charset="0"/>
                                </a:rPr>
                                <m:t>𝟎</m:t>
                              </m:r>
                            </m:e>
                          </m:mr>
                        </m:m>
                      </m:e>
                    </m:d>
                  </m:oMath>
                </a14:m>
                <a:r>
                  <a:rPr lang="zh-CN" altLang="en-US" b="1" dirty="0">
                    <a:latin typeface="微软雅黑" panose="020B0503020204020204" pitchFamily="34" charset="-122"/>
                    <a:ea typeface="微软雅黑" panose="020B0503020204020204" pitchFamily="34" charset="-122"/>
                  </a:rPr>
                  <a:t>  （</a:t>
                </a:r>
                <a:r>
                  <a:rPr lang="en-US" altLang="zh-CN" b="1" dirty="0">
                    <a:latin typeface="微软雅黑" panose="020B0503020204020204" pitchFamily="34" charset="-122"/>
                    <a:ea typeface="微软雅黑" panose="020B0503020204020204" pitchFamily="34" charset="-122"/>
                  </a:rPr>
                  <a:t>7.27</a:t>
                </a:r>
                <a:r>
                  <a:rPr lang="zh-CN" altLang="en-US" b="1" dirty="0">
                    <a:latin typeface="微软雅黑" panose="020B0503020204020204" pitchFamily="34" charset="-122"/>
                    <a:ea typeface="微软雅黑" panose="020B0503020204020204" pitchFamily="34" charset="-122"/>
                  </a:rPr>
                  <a:t>）</a:t>
                </a:r>
              </a:p>
            </p:txBody>
          </p:sp>
        </mc:Choice>
        <mc:Fallback>
          <p:sp>
            <p:nvSpPr>
              <p:cNvPr id="6" name="对象 4">
                <a:extLst>
                  <a:ext uri="{FF2B5EF4-FFF2-40B4-BE49-F238E27FC236}">
                    <a16:creationId xmlns:a16="http://schemas.microsoft.com/office/drawing/2014/main" id="{DC151C3A-CFD1-850B-B66C-A2CD19C88519}"/>
                  </a:ext>
                </a:extLst>
              </p:cNvPr>
              <p:cNvSpPr txBox="1">
                <a:spLocks noRot="1" noChangeAspect="1" noMove="1" noResize="1" noEditPoints="1" noAdjustHandles="1" noChangeArrowheads="1" noChangeShapeType="1" noTextEdit="1"/>
              </p:cNvSpPr>
              <p:nvPr/>
            </p:nvSpPr>
            <p:spPr bwMode="auto">
              <a:xfrm>
                <a:off x="1095375" y="4321552"/>
                <a:ext cx="10682287" cy="2197662"/>
              </a:xfrm>
              <a:prstGeom prst="rect">
                <a:avLst/>
              </a:prstGeom>
              <a:blipFill>
                <a:blip r:embed="rId4"/>
                <a:stretch>
                  <a:fillRect/>
                </a:stretch>
              </a:blipFill>
              <a:ln>
                <a:solidFill>
                  <a:schemeClr val="bg1"/>
                </a:solidFill>
              </a:ln>
            </p:spPr>
            <p:txBody>
              <a:bodyPr/>
              <a:lstStyle/>
              <a:p>
                <a:r>
                  <a:rPr lang="zh-CN" altLang="en-US">
                    <a:noFill/>
                  </a:rPr>
                  <a:t> </a:t>
                </a:r>
              </a:p>
            </p:txBody>
          </p:sp>
        </mc:Fallback>
      </mc:AlternateContent>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3E1EFB7-95E4-A0E9-169A-98ED7501A937}"/>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7.2.2</a:t>
            </a: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机器人控制方法和控制器设计</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7F62C0D-A18D-2334-DFAE-A0F6DDA773F8}"/>
                  </a:ext>
                </a:extLst>
              </p:cNvPr>
              <p:cNvSpPr txBox="1"/>
              <p:nvPr/>
            </p:nvSpPr>
            <p:spPr>
              <a:xfrm>
                <a:off x="773905" y="1187438"/>
                <a:ext cx="9324975" cy="638636"/>
              </a:xfrm>
              <a:prstGeom prst="rect">
                <a:avLst/>
              </a:prstGeom>
              <a:noFill/>
            </p:spPr>
            <p:txBody>
              <a:bodyPr wrap="square">
                <a:spAutoFit/>
              </a:bodyPr>
              <a:lstStyle/>
              <a:p>
                <a:pPr indent="269875" algn="just">
                  <a:lnSpc>
                    <a:spcPts val="1595"/>
                  </a:lnSpc>
                </a:pPr>
                <a:r>
                  <a:rPr lang="zh-CN" altLang="zh-CN" sz="2400" b="1" kern="1000" dirty="0">
                    <a:effectLst/>
                    <a:latin typeface="微软雅黑" panose="020B0503020204020204" pitchFamily="34" charset="-122"/>
                    <a:ea typeface="微软雅黑" panose="020B0503020204020204" pitchFamily="34" charset="-122"/>
                  </a:rPr>
                  <a:t>其中</a:t>
                </a:r>
                <a:r>
                  <a:rPr lang="zh-CN" altLang="en-US" sz="2400" b="1" kern="1000" dirty="0">
                    <a:effectLst/>
                    <a:latin typeface="微软雅黑" panose="020B0503020204020204" pitchFamily="34" charset="-122"/>
                    <a:ea typeface="微软雅黑" panose="020B0503020204020204" pitchFamily="34" charset="-122"/>
                  </a:rPr>
                  <a:t>：</a:t>
                </a:r>
                <a:endParaRPr lang="zh-CN" altLang="zh-CN" sz="2400" b="1" kern="1000" dirty="0">
                  <a:effectLst/>
                  <a:latin typeface="微软雅黑" panose="020B0503020204020204" pitchFamily="34" charset="-122"/>
                  <a:ea typeface="微软雅黑" panose="020B0503020204020204" pitchFamily="34" charset="-122"/>
                </a:endParaRPr>
              </a:p>
              <a:p>
                <a:pPr algn="ctr">
                  <a:spcBef>
                    <a:spcPts val="400"/>
                  </a:spcBef>
                  <a:spcAft>
                    <a:spcPts val="400"/>
                  </a:spcAft>
                  <a:tabLst>
                    <a:tab pos="5364480" algn="r"/>
                  </a:tabLst>
                </a:pPr>
                <a14:m>
                  <m:oMath xmlns:m="http://schemas.openxmlformats.org/officeDocument/2006/math">
                    <m:sSub>
                      <m:sSubPr>
                        <m:ctrlPr>
                          <a:rPr lang="zh-CN" altLang="zh-CN" b="1" i="1" kern="1050">
                            <a:effectLst/>
                            <a:latin typeface="Cambria Math" panose="02040503050406030204" pitchFamily="18" charset="0"/>
                            <a:ea typeface="Cambria Math" panose="02040503050406030204" pitchFamily="18" charset="0"/>
                          </a:rPr>
                        </m:ctrlPr>
                      </m:sSubPr>
                      <m:e>
                        <m:acc>
                          <m:accPr>
                            <m:chr m:val="̇"/>
                            <m:ctrlPr>
                              <a:rPr lang="zh-CN" altLang="zh-CN" b="1" i="1" kern="1050">
                                <a:effectLst/>
                                <a:latin typeface="Cambria Math" panose="02040503050406030204" pitchFamily="18" charset="0"/>
                                <a:ea typeface="Cambria Math" panose="02040503050406030204" pitchFamily="18" charset="0"/>
                              </a:rPr>
                            </m:ctrlPr>
                          </m:accPr>
                          <m:e>
                            <m:r>
                              <a:rPr lang="en-US" altLang="zh-CN" b="1" i="1" kern="1050" smtClean="0">
                                <a:effectLst/>
                                <a:latin typeface="Cambria Math" panose="02040503050406030204" pitchFamily="18" charset="0"/>
                                <a:ea typeface="宋体" panose="02010600030101010101" pitchFamily="2" charset="-122"/>
                              </a:rPr>
                              <m:t>𝜽</m:t>
                            </m:r>
                          </m:e>
                        </m:acc>
                      </m:e>
                      <m:sub>
                        <m:r>
                          <a:rPr lang="en-US" altLang="zh-CN" b="1" i="1" kern="1050" smtClean="0">
                            <a:effectLst/>
                            <a:latin typeface="Cambria Math" panose="02040503050406030204" pitchFamily="18" charset="0"/>
                            <a:ea typeface="宋体" panose="02010600030101010101" pitchFamily="2" charset="-122"/>
                          </a:rPr>
                          <m:t>𝒓𝒊</m:t>
                        </m:r>
                      </m:sub>
                    </m:sSub>
                    <m:r>
                      <a:rPr lang="en-US" altLang="zh-CN" b="1" i="1" kern="1050" smtClean="0">
                        <a:effectLst/>
                        <a:latin typeface="Cambria Math" panose="02040503050406030204" pitchFamily="18" charset="0"/>
                        <a:ea typeface="宋体" panose="02010600030101010101" pitchFamily="2" charset="-122"/>
                      </a:rPr>
                      <m:t>=</m:t>
                    </m:r>
                    <m:sSub>
                      <m:sSubPr>
                        <m:ctrlPr>
                          <a:rPr lang="zh-CN" altLang="zh-CN" b="1" i="1" kern="1050">
                            <a:effectLst/>
                            <a:latin typeface="Cambria Math" panose="02040503050406030204" pitchFamily="18" charset="0"/>
                            <a:ea typeface="Cambria Math" panose="02040503050406030204" pitchFamily="18" charset="0"/>
                          </a:rPr>
                        </m:ctrlPr>
                      </m:sSubPr>
                      <m:e>
                        <m:acc>
                          <m:accPr>
                            <m:chr m:val="̇"/>
                            <m:ctrlPr>
                              <a:rPr lang="zh-CN" altLang="zh-CN" b="1" i="1" kern="1050">
                                <a:effectLst/>
                                <a:latin typeface="Cambria Math" panose="02040503050406030204" pitchFamily="18" charset="0"/>
                                <a:ea typeface="Cambria Math" panose="02040503050406030204" pitchFamily="18" charset="0"/>
                              </a:rPr>
                            </m:ctrlPr>
                          </m:accPr>
                          <m:e>
                            <m:r>
                              <a:rPr lang="en-US" altLang="zh-CN" b="1" i="1" kern="1050" smtClean="0">
                                <a:effectLst/>
                                <a:latin typeface="Cambria Math" panose="02040503050406030204" pitchFamily="18" charset="0"/>
                                <a:ea typeface="宋体" panose="02010600030101010101" pitchFamily="2" charset="-122"/>
                              </a:rPr>
                              <m:t>𝜽</m:t>
                            </m:r>
                          </m:e>
                        </m:acc>
                      </m:e>
                      <m:sub>
                        <m:r>
                          <a:rPr lang="en-US" altLang="zh-CN" b="1" i="1" kern="1050" smtClean="0">
                            <a:effectLst/>
                            <a:latin typeface="Cambria Math" panose="02040503050406030204" pitchFamily="18" charset="0"/>
                            <a:ea typeface="宋体" panose="02010600030101010101" pitchFamily="2" charset="-122"/>
                          </a:rPr>
                          <m:t>𝒅𝒊</m:t>
                        </m:r>
                      </m:sub>
                    </m:sSub>
                    <m:r>
                      <a:rPr lang="en-US" altLang="zh-CN" b="1" i="1" kern="1050" smtClean="0">
                        <a:effectLst/>
                        <a:latin typeface="Cambria Math" panose="02040503050406030204" pitchFamily="18" charset="0"/>
                        <a:ea typeface="宋体" panose="02010600030101010101" pitchFamily="2" charset="-122"/>
                      </a:rPr>
                      <m:t>−</m:t>
                    </m:r>
                    <m:r>
                      <a:rPr lang="en-US" altLang="zh-CN" b="1" i="1" kern="1050" smtClean="0">
                        <a:effectLst/>
                        <a:latin typeface="Cambria Math" panose="02040503050406030204" pitchFamily="18" charset="0"/>
                        <a:ea typeface="宋体" panose="02010600030101010101" pitchFamily="2" charset="-122"/>
                      </a:rPr>
                      <m:t>𝝀</m:t>
                    </m:r>
                    <m:sSub>
                      <m:sSubPr>
                        <m:ctrlPr>
                          <a:rPr lang="zh-CN" altLang="zh-CN" b="1" i="1" kern="1050">
                            <a:effectLst/>
                            <a:latin typeface="Cambria Math" panose="02040503050406030204" pitchFamily="18" charset="0"/>
                            <a:ea typeface="Cambria Math" panose="02040503050406030204" pitchFamily="18" charset="0"/>
                          </a:rPr>
                        </m:ctrlPr>
                      </m:sSubPr>
                      <m:e>
                        <m:r>
                          <a:rPr lang="en-US" altLang="zh-CN" b="1" i="1" kern="1050" smtClean="0">
                            <a:effectLst/>
                            <a:latin typeface="Cambria Math" panose="02040503050406030204" pitchFamily="18" charset="0"/>
                            <a:ea typeface="宋体" panose="02010600030101010101" pitchFamily="2" charset="-122"/>
                          </a:rPr>
                          <m:t>𝒆</m:t>
                        </m:r>
                      </m:e>
                      <m:sub>
                        <m:r>
                          <a:rPr lang="en-US" altLang="zh-CN" b="1" i="1" kern="1050" smtClean="0">
                            <a:effectLst/>
                            <a:latin typeface="Cambria Math" panose="02040503050406030204" pitchFamily="18" charset="0"/>
                            <a:ea typeface="宋体" panose="02010600030101010101" pitchFamily="2" charset="-122"/>
                          </a:rPr>
                          <m:t>𝒊</m:t>
                        </m:r>
                      </m:sub>
                    </m:sSub>
                  </m:oMath>
                </a14:m>
                <a:r>
                  <a:rPr lang="zh-CN" altLang="zh-CN" b="1" kern="1050" dirty="0">
                    <a:effectLst/>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b="1" i="1" kern="1050">
                            <a:effectLst/>
                            <a:latin typeface="Cambria Math" panose="02040503050406030204" pitchFamily="18" charset="0"/>
                            <a:ea typeface="Cambria Math" panose="02040503050406030204" pitchFamily="18" charset="0"/>
                          </a:rPr>
                        </m:ctrlPr>
                      </m:sSubPr>
                      <m:e>
                        <m:acc>
                          <m:accPr>
                            <m:chr m:val="̈"/>
                            <m:ctrlPr>
                              <a:rPr lang="zh-CN" altLang="zh-CN" b="1" i="1" kern="1050">
                                <a:effectLst/>
                                <a:latin typeface="Cambria Math" panose="02040503050406030204" pitchFamily="18" charset="0"/>
                                <a:ea typeface="Cambria Math" panose="02040503050406030204" pitchFamily="18" charset="0"/>
                              </a:rPr>
                            </m:ctrlPr>
                          </m:accPr>
                          <m:e>
                            <m:r>
                              <a:rPr lang="en-US" altLang="zh-CN" b="1" i="1" kern="1050" smtClean="0">
                                <a:effectLst/>
                                <a:latin typeface="Cambria Math" panose="02040503050406030204" pitchFamily="18" charset="0"/>
                                <a:ea typeface="宋体" panose="02010600030101010101" pitchFamily="2" charset="-122"/>
                              </a:rPr>
                              <m:t>𝜽</m:t>
                            </m:r>
                          </m:e>
                        </m:acc>
                      </m:e>
                      <m:sub>
                        <m:r>
                          <a:rPr lang="en-US" altLang="zh-CN" b="1" i="1" kern="1050" smtClean="0">
                            <a:effectLst/>
                            <a:latin typeface="Cambria Math" panose="02040503050406030204" pitchFamily="18" charset="0"/>
                            <a:ea typeface="宋体" panose="02010600030101010101" pitchFamily="2" charset="-122"/>
                          </a:rPr>
                          <m:t>𝒓𝒊</m:t>
                        </m:r>
                      </m:sub>
                    </m:sSub>
                    <m:r>
                      <a:rPr lang="en-US" altLang="zh-CN" b="1" i="1" kern="1050" smtClean="0">
                        <a:effectLst/>
                        <a:latin typeface="Cambria Math" panose="02040503050406030204" pitchFamily="18" charset="0"/>
                        <a:ea typeface="宋体" panose="02010600030101010101" pitchFamily="2" charset="-122"/>
                      </a:rPr>
                      <m:t>=</m:t>
                    </m:r>
                    <m:sSub>
                      <m:sSubPr>
                        <m:ctrlPr>
                          <a:rPr lang="zh-CN" altLang="zh-CN" b="1" i="1" kern="1050">
                            <a:effectLst/>
                            <a:latin typeface="Cambria Math" panose="02040503050406030204" pitchFamily="18" charset="0"/>
                            <a:ea typeface="Cambria Math" panose="02040503050406030204" pitchFamily="18" charset="0"/>
                          </a:rPr>
                        </m:ctrlPr>
                      </m:sSubPr>
                      <m:e>
                        <m:acc>
                          <m:accPr>
                            <m:chr m:val="̈"/>
                            <m:ctrlPr>
                              <a:rPr lang="zh-CN" altLang="zh-CN" b="1" i="1" kern="1050">
                                <a:effectLst/>
                                <a:latin typeface="Cambria Math" panose="02040503050406030204" pitchFamily="18" charset="0"/>
                                <a:ea typeface="Cambria Math" panose="02040503050406030204" pitchFamily="18" charset="0"/>
                              </a:rPr>
                            </m:ctrlPr>
                          </m:accPr>
                          <m:e>
                            <m:r>
                              <a:rPr lang="en-US" altLang="zh-CN" b="1" i="1" kern="1050" smtClean="0">
                                <a:effectLst/>
                                <a:latin typeface="Cambria Math" panose="02040503050406030204" pitchFamily="18" charset="0"/>
                                <a:ea typeface="宋体" panose="02010600030101010101" pitchFamily="2" charset="-122"/>
                              </a:rPr>
                              <m:t>𝜽</m:t>
                            </m:r>
                          </m:e>
                        </m:acc>
                      </m:e>
                      <m:sub>
                        <m:r>
                          <a:rPr lang="en-US" altLang="zh-CN" b="1" i="1" kern="1050" smtClean="0">
                            <a:effectLst/>
                            <a:latin typeface="Cambria Math" panose="02040503050406030204" pitchFamily="18" charset="0"/>
                            <a:ea typeface="宋体" panose="02010600030101010101" pitchFamily="2" charset="-122"/>
                          </a:rPr>
                          <m:t>𝒅𝒊</m:t>
                        </m:r>
                      </m:sub>
                    </m:sSub>
                    <m:r>
                      <a:rPr lang="en-US" altLang="zh-CN" b="1" i="1" kern="1050" smtClean="0">
                        <a:effectLst/>
                        <a:latin typeface="Cambria Math" panose="02040503050406030204" pitchFamily="18" charset="0"/>
                        <a:ea typeface="宋体" panose="02010600030101010101" pitchFamily="2" charset="-122"/>
                      </a:rPr>
                      <m:t>−</m:t>
                    </m:r>
                    <m:r>
                      <a:rPr lang="en-US" altLang="zh-CN" b="1" i="1" kern="1050" smtClean="0">
                        <a:effectLst/>
                        <a:latin typeface="Cambria Math" panose="02040503050406030204" pitchFamily="18" charset="0"/>
                        <a:ea typeface="宋体" panose="02010600030101010101" pitchFamily="2" charset="-122"/>
                      </a:rPr>
                      <m:t>𝝀</m:t>
                    </m:r>
                    <m:sSub>
                      <m:sSubPr>
                        <m:ctrlPr>
                          <a:rPr lang="zh-CN" altLang="zh-CN" b="1" i="1" kern="1050">
                            <a:effectLst/>
                            <a:latin typeface="Cambria Math" panose="02040503050406030204" pitchFamily="18" charset="0"/>
                            <a:ea typeface="Cambria Math" panose="02040503050406030204" pitchFamily="18" charset="0"/>
                          </a:rPr>
                        </m:ctrlPr>
                      </m:sSubPr>
                      <m:e>
                        <m:acc>
                          <m:accPr>
                            <m:chr m:val="̇"/>
                            <m:ctrlPr>
                              <a:rPr lang="zh-CN" altLang="zh-CN" b="1" i="1" kern="1050">
                                <a:effectLst/>
                                <a:latin typeface="Cambria Math" panose="02040503050406030204" pitchFamily="18" charset="0"/>
                                <a:ea typeface="Cambria Math" panose="02040503050406030204" pitchFamily="18" charset="0"/>
                              </a:rPr>
                            </m:ctrlPr>
                          </m:accPr>
                          <m:e>
                            <m:r>
                              <a:rPr lang="en-US" altLang="zh-CN" b="1" i="1" kern="1050" smtClean="0">
                                <a:effectLst/>
                                <a:latin typeface="Cambria Math" panose="02040503050406030204" pitchFamily="18" charset="0"/>
                                <a:ea typeface="宋体" panose="02010600030101010101" pitchFamily="2" charset="-122"/>
                              </a:rPr>
                              <m:t>𝒆</m:t>
                            </m:r>
                          </m:e>
                        </m:acc>
                      </m:e>
                      <m:sub>
                        <m:r>
                          <a:rPr lang="en-US" altLang="zh-CN" b="1" i="1" kern="1050" smtClean="0">
                            <a:effectLst/>
                            <a:latin typeface="Cambria Math" panose="02040503050406030204" pitchFamily="18" charset="0"/>
                            <a:ea typeface="宋体" panose="02010600030101010101" pitchFamily="2" charset="-122"/>
                          </a:rPr>
                          <m:t>𝒊</m:t>
                        </m:r>
                      </m:sub>
                    </m:sSub>
                    <m:r>
                      <a:rPr lang="en-US" altLang="zh-CN" b="1" i="1" kern="1050" smtClean="0">
                        <a:effectLst/>
                        <a:latin typeface="Cambria Math" panose="02040503050406030204" pitchFamily="18" charset="0"/>
                        <a:ea typeface="宋体" panose="02010600030101010101" pitchFamily="2" charset="-122"/>
                      </a:rPr>
                      <m:t>,(</m:t>
                    </m:r>
                    <m:r>
                      <a:rPr lang="en-US" altLang="zh-CN" b="1" i="1" kern="1050" smtClean="0">
                        <a:effectLst/>
                        <a:latin typeface="Cambria Math" panose="02040503050406030204" pitchFamily="18" charset="0"/>
                        <a:ea typeface="宋体" panose="02010600030101010101" pitchFamily="2" charset="-122"/>
                      </a:rPr>
                      <m:t>𝒊</m:t>
                    </m:r>
                    <m:r>
                      <a:rPr lang="en-US" altLang="zh-CN" b="1" i="1" kern="1050" smtClean="0">
                        <a:effectLst/>
                        <a:latin typeface="Cambria Math" panose="02040503050406030204" pitchFamily="18" charset="0"/>
                        <a:ea typeface="宋体" panose="02010600030101010101" pitchFamily="2" charset="-122"/>
                      </a:rPr>
                      <m:t>=</m:t>
                    </m:r>
                    <m:r>
                      <a:rPr lang="en-US" altLang="zh-CN" b="1" i="1" kern="1050" smtClean="0">
                        <a:effectLst/>
                        <a:latin typeface="Cambria Math" panose="02040503050406030204" pitchFamily="18" charset="0"/>
                        <a:ea typeface="宋体" panose="02010600030101010101" pitchFamily="2" charset="-122"/>
                      </a:rPr>
                      <m:t>𝟏</m:t>
                    </m:r>
                    <m:r>
                      <a:rPr lang="en-US" altLang="zh-CN" b="1" i="1" kern="1050" smtClean="0">
                        <a:effectLst/>
                        <a:latin typeface="Cambria Math" panose="02040503050406030204" pitchFamily="18" charset="0"/>
                        <a:ea typeface="宋体" panose="02010600030101010101" pitchFamily="2" charset="-122"/>
                      </a:rPr>
                      <m:t>,</m:t>
                    </m:r>
                    <m:r>
                      <a:rPr lang="en-US" altLang="zh-CN" b="1" i="1" kern="1050" smtClean="0">
                        <a:effectLst/>
                        <a:latin typeface="Cambria Math" panose="02040503050406030204" pitchFamily="18" charset="0"/>
                        <a:ea typeface="宋体" panose="02010600030101010101" pitchFamily="2" charset="-122"/>
                      </a:rPr>
                      <m:t>𝟐</m:t>
                    </m:r>
                    <m:r>
                      <a:rPr lang="en-US" altLang="zh-CN" b="1" i="1" kern="1050" smtClean="0">
                        <a:effectLst/>
                        <a:latin typeface="Cambria Math" panose="02040503050406030204" pitchFamily="18" charset="0"/>
                        <a:ea typeface="宋体" panose="02010600030101010101" pitchFamily="2" charset="-122"/>
                      </a:rPr>
                      <m:t>,</m:t>
                    </m:r>
                    <m:r>
                      <a:rPr lang="en-US" altLang="zh-CN" b="1" i="1" kern="1050" smtClean="0">
                        <a:effectLst/>
                        <a:latin typeface="Cambria Math" panose="02040503050406030204" pitchFamily="18" charset="0"/>
                        <a:ea typeface="宋体" panose="02010600030101010101" pitchFamily="2" charset="-122"/>
                      </a:rPr>
                      <m:t>𝟑</m:t>
                    </m:r>
                    <m:r>
                      <a:rPr lang="en-US" altLang="zh-CN" b="1" i="1" kern="1050" smtClean="0">
                        <a:effectLst/>
                        <a:latin typeface="Cambria Math" panose="02040503050406030204" pitchFamily="18" charset="0"/>
                        <a:ea typeface="宋体" panose="02010600030101010101" pitchFamily="2" charset="-122"/>
                      </a:rPr>
                      <m:t>)</m:t>
                    </m:r>
                  </m:oMath>
                </a14:m>
                <a:endParaRPr lang="zh-CN" altLang="zh-CN" b="1" kern="1050" dirty="0">
                  <a:effectLst/>
                  <a:latin typeface="Times New Roman" panose="02020603050405020304" pitchFamily="18" charset="0"/>
                  <a:ea typeface="宋体" panose="02010600030101010101" pitchFamily="2" charset="-122"/>
                </a:endParaRPr>
              </a:p>
            </p:txBody>
          </p:sp>
        </mc:Choice>
        <mc:Fallback xmlns="">
          <p:sp>
            <p:nvSpPr>
              <p:cNvPr id="3" name="文本框 2">
                <a:extLst>
                  <a:ext uri="{FF2B5EF4-FFF2-40B4-BE49-F238E27FC236}">
                    <a16:creationId xmlns:a16="http://schemas.microsoft.com/office/drawing/2014/main" id="{07F62C0D-A18D-2334-DFAE-A0F6DDA773F8}"/>
                  </a:ext>
                </a:extLst>
              </p:cNvPr>
              <p:cNvSpPr txBox="1">
                <a:spLocks noRot="1" noChangeAspect="1" noMove="1" noResize="1" noEditPoints="1" noAdjustHandles="1" noChangeArrowheads="1" noChangeShapeType="1" noTextEdit="1"/>
              </p:cNvSpPr>
              <p:nvPr/>
            </p:nvSpPr>
            <p:spPr>
              <a:xfrm>
                <a:off x="773905" y="1187438"/>
                <a:ext cx="9324975" cy="638636"/>
              </a:xfrm>
              <a:prstGeom prst="rect">
                <a:avLst/>
              </a:prstGeom>
              <a:blipFill>
                <a:blip r:embed="rId3"/>
                <a:stretch>
                  <a:fillRect t="-29524" b="-1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对象 10">
                <a:extLst>
                  <a:ext uri="{FF2B5EF4-FFF2-40B4-BE49-F238E27FC236}">
                    <a16:creationId xmlns:a16="http://schemas.microsoft.com/office/drawing/2014/main" id="{F48C2FE3-A245-D259-BE0D-365E7EC3C361}"/>
                  </a:ext>
                </a:extLst>
              </p:cNvPr>
              <p:cNvSpPr txBox="1"/>
              <p:nvPr/>
            </p:nvSpPr>
            <p:spPr bwMode="auto">
              <a:xfrm>
                <a:off x="545305" y="2195513"/>
                <a:ext cx="11522870" cy="3195637"/>
              </a:xfrm>
              <a:prstGeom prst="rect">
                <a:avLst/>
              </a:prstGeom>
              <a:solidFill>
                <a:schemeClr val="bg1"/>
              </a:solidFill>
              <a:ln>
                <a:noFill/>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sSup>
                            <m:sSupPr>
                              <m:ctrlPr>
                                <a:rPr lang="zh-CN" altLang="en-US" i="1">
                                  <a:solidFill>
                                    <a:srgbClr val="000000"/>
                                  </a:solidFill>
                                  <a:latin typeface="Cambria Math" panose="02040503050406030204" pitchFamily="18" charset="0"/>
                                </a:rPr>
                              </m:ctrlPr>
                            </m:sSupPr>
                            <m:e>
                              <m:r>
                                <m:rPr>
                                  <m:sty m:val="p"/>
                                </m:rPr>
                                <a:rPr lang="zh-CN" altLang="en-US" i="0">
                                  <a:solidFill>
                                    <a:srgbClr val="000000"/>
                                  </a:solidFill>
                                  <a:latin typeface="Cambria Math" panose="02040503050406030204" pitchFamily="18" charset="0"/>
                                </a:rPr>
                                <m:t>cos</m:t>
                              </m:r>
                            </m:e>
                            <m:sup>
                              <m:r>
                                <a:rPr lang="zh-CN" altLang="en-US" i="1">
                                  <a:solidFill>
                                    <a:srgbClr val="000000"/>
                                  </a:solidFill>
                                  <a:latin typeface="Cambria Math" panose="02040503050406030204" pitchFamily="18" charset="0"/>
                                </a:rPr>
                                <m:t>2</m:t>
                              </m:r>
                            </m:sup>
                          </m:sSup>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−2</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oMath>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sSup>
                            <m:sSupPr>
                              <m:ctrlPr>
                                <a:rPr lang="zh-CN" altLang="en-US" i="1">
                                  <a:solidFill>
                                    <a:srgbClr val="000000"/>
                                  </a:solidFill>
                                  <a:latin typeface="Cambria Math" panose="02040503050406030204" pitchFamily="18" charset="0"/>
                                </a:rPr>
                              </m:ctrlPr>
                            </m:sSupPr>
                            <m:e>
                              <m:r>
                                <m:rPr>
                                  <m:sty m:val="p"/>
                                </m:rPr>
                                <a:rPr lang="zh-CN" altLang="en-US" i="0">
                                  <a:solidFill>
                                    <a:srgbClr val="000000"/>
                                  </a:solidFill>
                                  <a:latin typeface="Cambria Math" panose="02040503050406030204" pitchFamily="18" charset="0"/>
                                </a:rPr>
                                <m:t>cos</m:t>
                              </m:r>
                            </m:e>
                            <m:sup>
                              <m:r>
                                <a:rPr lang="zh-CN" altLang="en-US" i="1">
                                  <a:solidFill>
                                    <a:srgbClr val="000000"/>
                                  </a:solidFill>
                                  <a:latin typeface="Cambria Math" panose="02040503050406030204" pitchFamily="18" charset="0"/>
                                </a:rPr>
                                <m:t>2</m:t>
                              </m:r>
                            </m:sup>
                          </m:sSup>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−2</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2</m:t>
                          </m:r>
                        </m:sub>
                      </m:sSub>
                    </m:oMath>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=2</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−2</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𝑞</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−2</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𝑞</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oMath>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4</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2</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3</m:t>
                          </m:r>
                        </m:sub>
                      </m:sSub>
                    </m:oMath>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5</m:t>
                          </m:r>
                        </m:sub>
                      </m:sSub>
                      <m:r>
                        <a:rPr lang="zh-CN" altLang="en-US" i="1">
                          <a:solidFill>
                            <a:srgbClr val="000000"/>
                          </a:solidFill>
                          <a:latin typeface="Cambria Math" panose="02040503050406030204" pitchFamily="18" charset="0"/>
                        </a:rPr>
                        <m:t>=2</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2</m:t>
                          </m:r>
                        </m:sup>
                      </m:sSubSup>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2</m:t>
                          </m:r>
                        </m:sup>
                      </m:sSubSup>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3</m:t>
                          </m:r>
                        </m:sub>
                        <m:sup>
                          <m:r>
                            <a:rPr lang="zh-CN" altLang="en-US" i="1">
                              <a:solidFill>
                                <a:srgbClr val="000000"/>
                              </a:solidFill>
                              <a:latin typeface="Cambria Math" panose="02040503050406030204" pitchFamily="18" charset="0"/>
                            </a:rPr>
                            <m:t>2</m:t>
                          </m:r>
                        </m:sup>
                      </m:sSubSup>
                      <m:r>
                        <a:rPr lang="zh-CN" altLang="en-US" i="1">
                          <a:solidFill>
                            <a:srgbClr val="000000"/>
                          </a:solidFill>
                          <a:latin typeface="Cambria Math" panose="02040503050406030204" pitchFamily="18" charset="0"/>
                        </a:rPr>
                        <m:t>+2</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oMath>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6</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2</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2</m:t>
                          </m:r>
                        </m:sub>
                      </m:sSub>
                    </m:oMath>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7</m:t>
                          </m:r>
                        </m:sub>
                      </m:sSub>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2</m:t>
                          </m:r>
                        </m:sup>
                      </m:sSubSup>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2</m:t>
                          </m:r>
                        </m:sup>
                      </m:sSubSup>
                      <m:r>
                        <a:rPr lang="zh-CN" altLang="en-US" i="1">
                          <a:solidFill>
                            <a:srgbClr val="000000"/>
                          </a:solidFill>
                          <a:latin typeface="Cambria Math" panose="02040503050406030204" pitchFamily="18" charset="0"/>
                        </a:rPr>
                        <m:t>+</m:t>
                      </m:r>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cos</m:t>
                          </m:r>
                        </m:fName>
                        <m:e>
                          <m:r>
                            <a:rPr lang="zh-CN" altLang="en-US" i="1">
                              <a:solidFill>
                                <a:srgbClr val="000000"/>
                              </a:solidFill>
                              <a:latin typeface="Cambria Math" panose="02040503050406030204" pitchFamily="18" charset="0"/>
                            </a:rPr>
                            <m:t>(</m:t>
                          </m:r>
                        </m:e>
                      </m:func>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𝜃</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𝜃</m:t>
                              </m:r>
                            </m:e>
                          </m:acc>
                        </m:e>
                        <m:sub>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2</m:t>
                          </m:r>
                        </m:sub>
                      </m:sSub>
                    </m:oMath>
                  </m:oMathPara>
                </a14:m>
                <a:endParaRPr lang="zh-CN" altLang="en-US" dirty="0"/>
              </a:p>
            </p:txBody>
          </p:sp>
        </mc:Choice>
        <mc:Fallback xmlns="">
          <p:sp>
            <p:nvSpPr>
              <p:cNvPr id="4" name="对象 10">
                <a:extLst>
                  <a:ext uri="{FF2B5EF4-FFF2-40B4-BE49-F238E27FC236}">
                    <a16:creationId xmlns:a16="http://schemas.microsoft.com/office/drawing/2014/main" id="{F48C2FE3-A245-D259-BE0D-365E7EC3C361}"/>
                  </a:ext>
                </a:extLst>
              </p:cNvPr>
              <p:cNvSpPr txBox="1">
                <a:spLocks noRot="1" noChangeAspect="1" noMove="1" noResize="1" noEditPoints="1" noAdjustHandles="1" noChangeArrowheads="1" noChangeShapeType="1" noTextEdit="1"/>
              </p:cNvSpPr>
              <p:nvPr/>
            </p:nvSpPr>
            <p:spPr bwMode="auto">
              <a:xfrm>
                <a:off x="545305" y="2195513"/>
                <a:ext cx="11522870" cy="3195637"/>
              </a:xfrm>
              <a:prstGeom prst="rect">
                <a:avLst/>
              </a:prstGeom>
              <a:blipFill>
                <a:blip r:embed="rId4"/>
                <a:stretch>
                  <a:fillRect/>
                </a:stretch>
              </a:blipFill>
              <a:ln>
                <a:noFill/>
              </a:ln>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A3571945-F758-0E5C-C8E5-2327E9C01C6C}"/>
              </a:ext>
            </a:extLst>
          </p:cNvPr>
          <p:cNvSpPr txBox="1"/>
          <p:nvPr/>
        </p:nvSpPr>
        <p:spPr>
          <a:xfrm>
            <a:off x="919163" y="4492109"/>
            <a:ext cx="6124574" cy="461665"/>
          </a:xfrm>
          <a:prstGeom prst="rect">
            <a:avLst/>
          </a:prstGeom>
          <a:noFill/>
        </p:spPr>
        <p:txBody>
          <a:bodyPr wrap="square">
            <a:spAutoFit/>
          </a:bodyPr>
          <a:lstStyle/>
          <a:p>
            <a:pPr>
              <a:defRPr/>
            </a:pPr>
            <a:r>
              <a:rPr lang="zh-CN"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估计参数为</a:t>
            </a:r>
            <a:endParaRPr lang="zh-CN" altLang="en-US" sz="24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9" name="对象 4">
                <a:extLst>
                  <a:ext uri="{FF2B5EF4-FFF2-40B4-BE49-F238E27FC236}">
                    <a16:creationId xmlns:a16="http://schemas.microsoft.com/office/drawing/2014/main" id="{688209AE-54C0-A206-95A4-EE093BD8C444}"/>
                  </a:ext>
                </a:extLst>
              </p:cNvPr>
              <p:cNvSpPr txBox="1"/>
              <p:nvPr/>
            </p:nvSpPr>
            <p:spPr bwMode="auto">
              <a:xfrm>
                <a:off x="617538" y="5240338"/>
                <a:ext cx="8118475" cy="430212"/>
              </a:xfrm>
              <a:prstGeom prst="rect">
                <a:avLst/>
              </a:prstGeom>
              <a:solidFill>
                <a:schemeClr val="bg1"/>
              </a:solidFill>
              <a:ln>
                <a:solidFill>
                  <a:schemeClr val="bg1"/>
                </a:solidFill>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𝑝</m:t>
                          </m:r>
                        </m:e>
                        <m:sub>
                          <m:r>
                            <a:rPr lang="zh-CN" altLang="en-US" i="1">
                              <a:solidFill>
                                <a:srgbClr val="000000"/>
                              </a:solidFill>
                              <a:latin typeface="Cambria Math" panose="02040503050406030204" pitchFamily="18" charset="0"/>
                            </a:rPr>
                            <m:t>0</m:t>
                          </m:r>
                        </m:sub>
                      </m:sSub>
                      <m:r>
                        <a:rPr lang="zh-CN" altLang="en-US" i="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m>
                        <m:mPr>
                          <m:plcHide m:val="on"/>
                          <m:mcs>
                            <m:mc>
                              <m:mcPr>
                                <m:count m:val="8"/>
                                <m:mcJc m:val="center"/>
                              </m:mcPr>
                            </m:mc>
                          </m:mcs>
                          <m:ctrlPr>
                            <a:rPr lang="zh-CN" altLang="en-US" i="1">
                              <a:solidFill>
                                <a:srgbClr val="000000"/>
                              </a:solidFill>
                              <a:latin typeface="Cambria Math" panose="02040503050406030204" pitchFamily="18" charset="0"/>
                            </a:rPr>
                          </m:ctrlPr>
                        </m:mPr>
                        <m:m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𝐼</m:t>
                                </m:r>
                              </m:e>
                              <m:sub>
                                <m:r>
                                  <a:rPr lang="zh-CN" altLang="en-US" i="1">
                                    <a:solidFill>
                                      <a:srgbClr val="000000"/>
                                    </a:solidFill>
                                    <a:latin typeface="Cambria Math" panose="02040503050406030204" pitchFamily="18" charset="0"/>
                                  </a:rPr>
                                  <m:t>1</m:t>
                                </m:r>
                              </m:sub>
                            </m:sSub>
                          </m:e>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𝐼</m:t>
                                </m:r>
                              </m:e>
                              <m:sub>
                                <m:r>
                                  <a:rPr lang="zh-CN" altLang="en-US" i="1">
                                    <a:solidFill>
                                      <a:srgbClr val="000000"/>
                                    </a:solidFill>
                                    <a:latin typeface="Cambria Math" panose="02040503050406030204" pitchFamily="18" charset="0"/>
                                  </a:rPr>
                                  <m:t>2</m:t>
                                </m:r>
                              </m:sub>
                            </m:sSub>
                          </m:e>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𝐼</m:t>
                                </m:r>
                              </m:e>
                              <m:sub>
                                <m:r>
                                  <a:rPr lang="zh-CN" altLang="en-US" i="1">
                                    <a:solidFill>
                                      <a:srgbClr val="000000"/>
                                    </a:solidFill>
                                    <a:latin typeface="Cambria Math" panose="02040503050406030204" pitchFamily="18" charset="0"/>
                                  </a:rPr>
                                  <m:t>3</m:t>
                                </m:r>
                              </m:sub>
                            </m:sSub>
                          </m:e>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𝑙</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2</m:t>
                                </m:r>
                              </m:sup>
                            </m:sSub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e>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𝑙</m:t>
                                </m:r>
                              </m:e>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2</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e>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𝑙</m:t>
                                </m:r>
                              </m:e>
                              <m:sub>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𝑙</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e>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𝑙</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e>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𝑙</m:t>
                                </m:r>
                              </m:e>
                              <m:sub>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2</m:t>
                                </m:r>
                              </m:sub>
                            </m:sSub>
                            <m:m>
                              <m:mPr>
                                <m:plcHide m:val="on"/>
                                <m:mcs>
                                  <m:mc>
                                    <m:mcPr>
                                      <m:count m:val="2"/>
                                      <m:mcJc m:val="center"/>
                                    </m:mcPr>
                                  </m:mc>
                                </m:mcs>
                                <m:ctrlPr>
                                  <a:rPr lang="zh-CN" altLang="en-US" i="1">
                                    <a:solidFill>
                                      <a:srgbClr val="000000"/>
                                    </a:solidFill>
                                    <a:latin typeface="Cambria Math" panose="02040503050406030204" pitchFamily="18" charset="0"/>
                                  </a:rPr>
                                </m:ctrlPr>
                              </m:mPr>
                              <m:mr>
                                <m:e/>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𝑙</m:t>
                                      </m:r>
                                    </m:e>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2</m:t>
                                      </m:r>
                                    </m:sup>
                                  </m:sSub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𝑚</m:t>
                                      </m:r>
                                    </m:e>
                                    <m:sub>
                                      <m:r>
                                        <a:rPr lang="zh-CN" altLang="en-US" i="1">
                                          <a:solidFill>
                                            <a:srgbClr val="000000"/>
                                          </a:solidFill>
                                          <a:latin typeface="Cambria Math" panose="02040503050406030204" pitchFamily="18" charset="0"/>
                                        </a:rPr>
                                        <m:t>1</m:t>
                                      </m:r>
                                    </m:sub>
                                  </m:sSub>
                                </m:e>
                              </m:mr>
                            </m:m>
                          </m:e>
                        </m:mr>
                      </m:m>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m:rPr>
                              <m:sty m:val="p"/>
                            </m:rPr>
                            <a:rPr lang="zh-CN" altLang="en-US" i="0">
                              <a:solidFill>
                                <a:srgbClr val="000000"/>
                              </a:solidFill>
                              <a:latin typeface="Cambria Math" panose="02040503050406030204" pitchFamily="18" charset="0"/>
                            </a:rPr>
                            <m:t>T</m:t>
                          </m:r>
                        </m:sup>
                      </m:sSup>
                    </m:oMath>
                  </m:oMathPara>
                </a14:m>
                <a:endParaRPr lang="zh-CN" altLang="en-US" dirty="0"/>
              </a:p>
            </p:txBody>
          </p:sp>
        </mc:Choice>
        <mc:Fallback xmlns="">
          <p:sp>
            <p:nvSpPr>
              <p:cNvPr id="9" name="对象 4">
                <a:extLst>
                  <a:ext uri="{FF2B5EF4-FFF2-40B4-BE49-F238E27FC236}">
                    <a16:creationId xmlns:a16="http://schemas.microsoft.com/office/drawing/2014/main" id="{688209AE-54C0-A206-95A4-EE093BD8C444}"/>
                  </a:ext>
                </a:extLst>
              </p:cNvPr>
              <p:cNvSpPr txBox="1">
                <a:spLocks noRot="1" noChangeAspect="1" noMove="1" noResize="1" noEditPoints="1" noAdjustHandles="1" noChangeArrowheads="1" noChangeShapeType="1" noTextEdit="1"/>
              </p:cNvSpPr>
              <p:nvPr/>
            </p:nvSpPr>
            <p:spPr bwMode="auto">
              <a:xfrm>
                <a:off x="617538" y="5240338"/>
                <a:ext cx="8118475" cy="430212"/>
              </a:xfrm>
              <a:prstGeom prst="rect">
                <a:avLst/>
              </a:prstGeom>
              <a:blipFill>
                <a:blip r:embed="rId5"/>
                <a:stretch>
                  <a:fillRect b="-1389"/>
                </a:stretch>
              </a:blipFill>
              <a:ln>
                <a:solidFill>
                  <a:schemeClr val="bg1"/>
                </a:solidFill>
              </a:ln>
            </p:spPr>
            <p:txBody>
              <a:bodyPr/>
              <a:lstStyle/>
              <a:p>
                <a:r>
                  <a:rPr lang="zh-CN" altLang="en-US">
                    <a:noFill/>
                  </a:rPr>
                  <a:t> </a:t>
                </a:r>
              </a:p>
            </p:txBody>
          </p:sp>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F7ADFBE-2894-76FE-1122-A18851EF8173}"/>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7.2.2</a:t>
            </a: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机器人控制方法和控制器设计</a:t>
            </a:r>
          </a:p>
        </p:txBody>
      </p:sp>
      <p:sp>
        <p:nvSpPr>
          <p:cNvPr id="4" name="文本框 3">
            <a:extLst>
              <a:ext uri="{FF2B5EF4-FFF2-40B4-BE49-F238E27FC236}">
                <a16:creationId xmlns:a16="http://schemas.microsoft.com/office/drawing/2014/main" id="{11C902C2-483C-0A7C-C703-CDAB8D8CB4FD}"/>
              </a:ext>
            </a:extLst>
          </p:cNvPr>
          <p:cNvSpPr txBox="1"/>
          <p:nvPr/>
        </p:nvSpPr>
        <p:spPr>
          <a:xfrm>
            <a:off x="757238" y="1403817"/>
            <a:ext cx="6124574" cy="319446"/>
          </a:xfrm>
          <a:prstGeom prst="rect">
            <a:avLst/>
          </a:prstGeom>
          <a:noFill/>
        </p:spPr>
        <p:txBody>
          <a:bodyPr wrap="square">
            <a:spAutoFit/>
          </a:bodyPr>
          <a:lstStyle/>
          <a:p>
            <a:pPr indent="269875" algn="just">
              <a:lnSpc>
                <a:spcPts val="1595"/>
              </a:lnSpc>
            </a:pPr>
            <a:r>
              <a:rPr lang="zh-CN" altLang="zh-CN" sz="2400" b="1" kern="1000" dirty="0">
                <a:effectLst/>
                <a:latin typeface="微软雅黑" panose="020B0503020204020204" pitchFamily="34" charset="-122"/>
                <a:ea typeface="微软雅黑" panose="020B0503020204020204" pitchFamily="34" charset="-122"/>
              </a:rPr>
              <a:t>仿真结果如图</a:t>
            </a:r>
            <a:r>
              <a:rPr lang="en-US" altLang="zh-CN" sz="2400" b="1" kern="1000" dirty="0">
                <a:effectLst/>
                <a:latin typeface="微软雅黑" panose="020B0503020204020204" pitchFamily="34" charset="-122"/>
                <a:ea typeface="微软雅黑" panose="020B0503020204020204" pitchFamily="34" charset="-122"/>
              </a:rPr>
              <a:t>7.13</a:t>
            </a:r>
            <a:r>
              <a:rPr lang="zh-CN" altLang="zh-CN" sz="2400" b="1" kern="1000" dirty="0">
                <a:effectLst/>
                <a:latin typeface="微软雅黑" panose="020B0503020204020204" pitchFamily="34" charset="-122"/>
                <a:ea typeface="微软雅黑" panose="020B0503020204020204" pitchFamily="34" charset="-122"/>
              </a:rPr>
              <a:t>～图</a:t>
            </a:r>
            <a:r>
              <a:rPr lang="en-US" altLang="zh-CN" sz="2400" b="1" kern="1000" dirty="0">
                <a:effectLst/>
                <a:latin typeface="微软雅黑" panose="020B0503020204020204" pitchFamily="34" charset="-122"/>
                <a:ea typeface="微软雅黑" panose="020B0503020204020204" pitchFamily="34" charset="-122"/>
              </a:rPr>
              <a:t>7.19</a:t>
            </a:r>
            <a:r>
              <a:rPr lang="zh-CN" altLang="zh-CN" sz="2400" b="1" kern="1000" dirty="0">
                <a:effectLst/>
                <a:latin typeface="微软雅黑" panose="020B0503020204020204" pitchFamily="34" charset="-122"/>
                <a:ea typeface="微软雅黑" panose="020B0503020204020204" pitchFamily="34" charset="-122"/>
              </a:rPr>
              <a:t>所示。</a:t>
            </a:r>
          </a:p>
        </p:txBody>
      </p:sp>
      <p:grpSp>
        <p:nvGrpSpPr>
          <p:cNvPr id="5" name="组合 5">
            <a:extLst>
              <a:ext uri="{FF2B5EF4-FFF2-40B4-BE49-F238E27FC236}">
                <a16:creationId xmlns:a16="http://schemas.microsoft.com/office/drawing/2014/main" id="{1F7E902D-EC51-E6EA-E6F4-B4F6E619A343}"/>
              </a:ext>
            </a:extLst>
          </p:cNvPr>
          <p:cNvGrpSpPr>
            <a:grpSpLocks/>
          </p:cNvGrpSpPr>
          <p:nvPr/>
        </p:nvGrpSpPr>
        <p:grpSpPr bwMode="auto">
          <a:xfrm>
            <a:off x="3540125" y="1723263"/>
            <a:ext cx="5111750" cy="4791075"/>
            <a:chOff x="2015716" y="908720"/>
            <a:chExt cx="5112568" cy="4792598"/>
          </a:xfrm>
        </p:grpSpPr>
        <p:pic>
          <p:nvPicPr>
            <p:cNvPr id="6" name="图片 1">
              <a:extLst>
                <a:ext uri="{FF2B5EF4-FFF2-40B4-BE49-F238E27FC236}">
                  <a16:creationId xmlns:a16="http://schemas.microsoft.com/office/drawing/2014/main" id="{6FFF1412-5912-DBDD-789A-2FE9A07846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5716" y="908720"/>
              <a:ext cx="5112568" cy="4338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99E26A09-6F27-DB38-6C94-70DAE74EB06D}"/>
                </a:ext>
              </a:extLst>
            </p:cNvPr>
            <p:cNvSpPr txBox="1"/>
            <p:nvPr/>
          </p:nvSpPr>
          <p:spPr>
            <a:xfrm>
              <a:off x="2284047" y="5301141"/>
              <a:ext cx="4575907" cy="400177"/>
            </a:xfrm>
            <a:prstGeom prst="rect">
              <a:avLst/>
            </a:prstGeom>
            <a:noFill/>
          </p:spPr>
          <p:txBody>
            <a:bodyPr>
              <a:spAutoFit/>
            </a:bodyPr>
            <a:lstStyle/>
            <a:p>
              <a:pPr algn="ctr">
                <a:defRPr/>
              </a:pPr>
              <a:r>
                <a:rPr lang="zh-CN" altLang="zh-CN" sz="2000" kern="0" dirty="0">
                  <a:latin typeface="Times New Roman" panose="02020603050405020304" pitchFamily="18" charset="0"/>
                  <a:cs typeface="Times New Roman" panose="02020603050405020304" pitchFamily="18" charset="0"/>
                </a:rPr>
                <a:t>图</a:t>
              </a:r>
              <a:r>
                <a:rPr lang="en-US" altLang="zh-CN" sz="2000" kern="0" dirty="0">
                  <a:latin typeface="Times New Roman" panose="02020603050405020304" pitchFamily="18" charset="0"/>
                  <a:cs typeface="Times New Roman" panose="02020603050405020304" pitchFamily="18" charset="0"/>
                </a:rPr>
                <a:t>7-13 </a:t>
              </a:r>
              <a:r>
                <a:rPr lang="zh-CN" altLang="zh-CN" sz="2000" kern="0" dirty="0">
                  <a:latin typeface="Times New Roman" panose="02020603050405020304" pitchFamily="18" charset="0"/>
                  <a:cs typeface="Times New Roman" panose="02020603050405020304" pitchFamily="18" charset="0"/>
                </a:rPr>
                <a:t>基于自适应控制的控制力矩</a:t>
              </a:r>
              <a:endParaRPr lang="zh-CN" altLang="zh-CN" sz="2000" kern="100" dirty="0">
                <a:latin typeface="Calibri" panose="020F0502020204030204" pitchFamily="34" charset="0"/>
                <a:cs typeface="Times New Roman" panose="02020603050405020304" pitchFamily="18" charset="0"/>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A956156-2E0E-D226-7324-4229CC957AC0}"/>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7.2.2</a:t>
            </a: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机器人控制方法和控制器设计</a:t>
            </a:r>
          </a:p>
        </p:txBody>
      </p:sp>
      <p:grpSp>
        <p:nvGrpSpPr>
          <p:cNvPr id="3" name="组合 5">
            <a:extLst>
              <a:ext uri="{FF2B5EF4-FFF2-40B4-BE49-F238E27FC236}">
                <a16:creationId xmlns:a16="http://schemas.microsoft.com/office/drawing/2014/main" id="{9EC6D7F9-1E71-CB41-71A2-5940990F8187}"/>
              </a:ext>
            </a:extLst>
          </p:cNvPr>
          <p:cNvGrpSpPr>
            <a:grpSpLocks/>
          </p:cNvGrpSpPr>
          <p:nvPr/>
        </p:nvGrpSpPr>
        <p:grpSpPr bwMode="auto">
          <a:xfrm>
            <a:off x="2747962" y="1087438"/>
            <a:ext cx="6696075" cy="5153025"/>
            <a:chOff x="1619672" y="620688"/>
            <a:chExt cx="6696442" cy="5152638"/>
          </a:xfrm>
        </p:grpSpPr>
        <p:pic>
          <p:nvPicPr>
            <p:cNvPr id="4" name="图片 1">
              <a:extLst>
                <a:ext uri="{FF2B5EF4-FFF2-40B4-BE49-F238E27FC236}">
                  <a16:creationId xmlns:a16="http://schemas.microsoft.com/office/drawing/2014/main" id="{F689F4BD-6042-9A7D-9E85-49921D7434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990" y="620688"/>
              <a:ext cx="5616019" cy="4644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7BF9C263-189A-4ADD-06D9-658205D7EEAC}"/>
                </a:ext>
              </a:extLst>
            </p:cNvPr>
            <p:cNvSpPr txBox="1"/>
            <p:nvPr/>
          </p:nvSpPr>
          <p:spPr>
            <a:xfrm>
              <a:off x="1619672" y="5373306"/>
              <a:ext cx="6696442" cy="400020"/>
            </a:xfrm>
            <a:prstGeom prst="rect">
              <a:avLst/>
            </a:prstGeom>
            <a:noFill/>
          </p:spPr>
          <p:txBody>
            <a:bodyPr>
              <a:spAutoFit/>
            </a:bodyPr>
            <a:lstStyle/>
            <a:p>
              <a:pPr algn="ctr">
                <a:defRPr/>
              </a:pPr>
              <a:r>
                <a:rPr lang="zh-CN" altLang="zh-CN" sz="2000" kern="0" dirty="0">
                  <a:latin typeface="Times New Roman" panose="02020603050405020304" pitchFamily="18" charset="0"/>
                  <a:cs typeface="Times New Roman" panose="02020603050405020304" pitchFamily="18" charset="0"/>
                </a:rPr>
                <a:t>图</a:t>
              </a:r>
              <a:r>
                <a:rPr lang="en-US" altLang="zh-CN" sz="2000" kern="0" dirty="0">
                  <a:latin typeface="Times New Roman" panose="02020603050405020304" pitchFamily="18" charset="0"/>
                  <a:cs typeface="Times New Roman" panose="02020603050405020304" pitchFamily="18" charset="0"/>
                </a:rPr>
                <a:t>7-14</a:t>
              </a:r>
              <a:r>
                <a:rPr lang="zh-CN" altLang="zh-CN" sz="2000" kern="0" dirty="0">
                  <a:latin typeface="Times New Roman" panose="02020603050405020304" pitchFamily="18" charset="0"/>
                  <a:cs typeface="Times New Roman" panose="02020603050405020304" pitchFamily="18" charset="0"/>
                </a:rPr>
                <a:t>关节</a:t>
              </a:r>
              <a:r>
                <a:rPr lang="en-US" altLang="zh-CN" sz="2000" kern="0" dirty="0">
                  <a:latin typeface="Times New Roman" panose="02020603050405020304" pitchFamily="18" charset="0"/>
                  <a:cs typeface="Times New Roman" panose="02020603050405020304" pitchFamily="18" charset="0"/>
                </a:rPr>
                <a:t>1</a:t>
              </a:r>
              <a:r>
                <a:rPr lang="zh-CN" altLang="zh-CN" sz="2000" kern="0" dirty="0">
                  <a:latin typeface="Times New Roman" panose="02020603050405020304" pitchFamily="18" charset="0"/>
                  <a:cs typeface="Times New Roman" panose="02020603050405020304" pitchFamily="18" charset="0"/>
                </a:rPr>
                <a:t>基于自适应控制的位置轨迹跟踪曲线和误差</a:t>
              </a:r>
              <a:endParaRPr lang="zh-CN" altLang="zh-CN" sz="2000" kern="100" dirty="0">
                <a:latin typeface="Calibri" panose="020F0502020204030204" pitchFamily="34" charset="0"/>
                <a:cs typeface="Times New Roman" panose="02020603050405020304" pitchFamily="18" charset="0"/>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6D3AF60-7BB0-B73D-E019-EF41B7078CD8}"/>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7.2.2</a:t>
            </a: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机器人控制方法和控制器设计</a:t>
            </a:r>
          </a:p>
        </p:txBody>
      </p:sp>
      <p:grpSp>
        <p:nvGrpSpPr>
          <p:cNvPr id="3" name="组合 5">
            <a:extLst>
              <a:ext uri="{FF2B5EF4-FFF2-40B4-BE49-F238E27FC236}">
                <a16:creationId xmlns:a16="http://schemas.microsoft.com/office/drawing/2014/main" id="{8A569BDB-A60B-CC83-7F52-E3D0B36BFD84}"/>
              </a:ext>
            </a:extLst>
          </p:cNvPr>
          <p:cNvGrpSpPr>
            <a:grpSpLocks/>
          </p:cNvGrpSpPr>
          <p:nvPr/>
        </p:nvGrpSpPr>
        <p:grpSpPr bwMode="auto">
          <a:xfrm>
            <a:off x="2783681" y="1358900"/>
            <a:ext cx="6624638" cy="5108575"/>
            <a:chOff x="1403648" y="548680"/>
            <a:chExt cx="6624736" cy="5109803"/>
          </a:xfrm>
        </p:grpSpPr>
        <p:pic>
          <p:nvPicPr>
            <p:cNvPr id="4" name="图片 1">
              <a:extLst>
                <a:ext uri="{FF2B5EF4-FFF2-40B4-BE49-F238E27FC236}">
                  <a16:creationId xmlns:a16="http://schemas.microsoft.com/office/drawing/2014/main" id="{128B02B6-949D-F449-2D88-41C0806867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548680"/>
              <a:ext cx="5688027" cy="4500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2CCD9A18-0F44-1C88-D934-F484647A2701}"/>
                </a:ext>
              </a:extLst>
            </p:cNvPr>
            <p:cNvSpPr txBox="1"/>
            <p:nvPr/>
          </p:nvSpPr>
          <p:spPr>
            <a:xfrm>
              <a:off x="1403648" y="5156712"/>
              <a:ext cx="6624736" cy="501771"/>
            </a:xfrm>
            <a:prstGeom prst="rect">
              <a:avLst/>
            </a:prstGeom>
            <a:noFill/>
          </p:spPr>
          <p:txBody>
            <a:bodyPr>
              <a:spAutoFit/>
            </a:bodyPr>
            <a:lstStyle/>
            <a:p>
              <a:pPr algn="ctr">
                <a:lnSpc>
                  <a:spcPct val="150000"/>
                </a:lnSpc>
                <a:defRPr/>
              </a:pPr>
              <a:r>
                <a:rPr lang="zh-CN" altLang="zh-CN" sz="2000" kern="0" dirty="0">
                  <a:latin typeface="Times New Roman" panose="02020603050405020304" pitchFamily="18" charset="0"/>
                  <a:cs typeface="Times New Roman" panose="02020603050405020304" pitchFamily="18" charset="0"/>
                </a:rPr>
                <a:t>图</a:t>
              </a:r>
              <a:r>
                <a:rPr lang="en-US" altLang="zh-CN" sz="2000" kern="0" dirty="0">
                  <a:latin typeface="Times New Roman" panose="02020603050405020304" pitchFamily="18" charset="0"/>
                  <a:cs typeface="Times New Roman" panose="02020603050405020304" pitchFamily="18" charset="0"/>
                </a:rPr>
                <a:t>7-15</a:t>
              </a:r>
              <a:r>
                <a:rPr lang="zh-CN" altLang="zh-CN" sz="2000" kern="0" dirty="0">
                  <a:latin typeface="Times New Roman" panose="02020603050405020304" pitchFamily="18" charset="0"/>
                  <a:cs typeface="Times New Roman" panose="02020603050405020304" pitchFamily="18" charset="0"/>
                </a:rPr>
                <a:t>关节</a:t>
              </a:r>
              <a:r>
                <a:rPr lang="en-US" altLang="zh-CN" sz="2000" kern="0" dirty="0">
                  <a:latin typeface="Times New Roman" panose="02020603050405020304" pitchFamily="18" charset="0"/>
                  <a:cs typeface="Times New Roman" panose="02020603050405020304" pitchFamily="18" charset="0"/>
                </a:rPr>
                <a:t>1</a:t>
              </a:r>
              <a:r>
                <a:rPr lang="zh-CN" altLang="zh-CN" sz="2000" kern="0" dirty="0">
                  <a:latin typeface="Times New Roman" panose="02020603050405020304" pitchFamily="18" charset="0"/>
                  <a:cs typeface="Times New Roman" panose="02020603050405020304" pitchFamily="18" charset="0"/>
                </a:rPr>
                <a:t>基于自适应控制的速度轨迹跟踪曲线和误差</a:t>
              </a:r>
              <a:endParaRPr lang="zh-CN" altLang="zh-CN" sz="2000" kern="100" dirty="0">
                <a:latin typeface="Calibri" panose="020F0502020204030204" pitchFamily="34" charset="0"/>
                <a:cs typeface="Times New Roman" panose="02020603050405020304" pitchFamily="18" charset="0"/>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A3B76A0-956E-AA2F-2806-FCF5FB922C9A}"/>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7.2.2</a:t>
            </a: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机器人控制方法和控制器设计</a:t>
            </a:r>
          </a:p>
        </p:txBody>
      </p:sp>
      <p:grpSp>
        <p:nvGrpSpPr>
          <p:cNvPr id="3" name="组合 5">
            <a:extLst>
              <a:ext uri="{FF2B5EF4-FFF2-40B4-BE49-F238E27FC236}">
                <a16:creationId xmlns:a16="http://schemas.microsoft.com/office/drawing/2014/main" id="{BD49254B-704A-6FBA-3838-67C4832E3349}"/>
              </a:ext>
            </a:extLst>
          </p:cNvPr>
          <p:cNvGrpSpPr>
            <a:grpSpLocks/>
          </p:cNvGrpSpPr>
          <p:nvPr/>
        </p:nvGrpSpPr>
        <p:grpSpPr bwMode="auto">
          <a:xfrm>
            <a:off x="2891631" y="1220788"/>
            <a:ext cx="6408738" cy="5045075"/>
            <a:chOff x="1511357" y="620688"/>
            <a:chExt cx="6408712" cy="5044331"/>
          </a:xfrm>
        </p:grpSpPr>
        <p:pic>
          <p:nvPicPr>
            <p:cNvPr id="4" name="图片 1">
              <a:extLst>
                <a:ext uri="{FF2B5EF4-FFF2-40B4-BE49-F238E27FC236}">
                  <a16:creationId xmlns:a16="http://schemas.microsoft.com/office/drawing/2014/main" id="{C463BA0F-99D2-AA90-1529-08D14861AC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620688"/>
              <a:ext cx="6048067" cy="4644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71AB077D-DB3C-A852-440B-9BD403ED6CC0}"/>
                </a:ext>
              </a:extLst>
            </p:cNvPr>
            <p:cNvSpPr txBox="1"/>
            <p:nvPr/>
          </p:nvSpPr>
          <p:spPr>
            <a:xfrm>
              <a:off x="1511357" y="5265028"/>
              <a:ext cx="6408712" cy="399991"/>
            </a:xfrm>
            <a:prstGeom prst="rect">
              <a:avLst/>
            </a:prstGeom>
            <a:noFill/>
          </p:spPr>
          <p:txBody>
            <a:bodyPr>
              <a:spAutoFit/>
            </a:bodyPr>
            <a:lstStyle/>
            <a:p>
              <a:pPr algn="ctr">
                <a:defRPr/>
              </a:pPr>
              <a:r>
                <a:rPr lang="zh-CN" altLang="zh-CN" sz="2000" kern="0" dirty="0">
                  <a:latin typeface="Times New Roman" panose="02020603050405020304" pitchFamily="18" charset="0"/>
                  <a:cs typeface="Times New Roman" panose="02020603050405020304" pitchFamily="18" charset="0"/>
                </a:rPr>
                <a:t>图</a:t>
              </a:r>
              <a:r>
                <a:rPr lang="en-US" altLang="zh-CN" sz="2000" kern="0" dirty="0">
                  <a:latin typeface="Times New Roman" panose="02020603050405020304" pitchFamily="18" charset="0"/>
                  <a:cs typeface="Times New Roman" panose="02020603050405020304" pitchFamily="18" charset="0"/>
                </a:rPr>
                <a:t>7-16</a:t>
              </a:r>
              <a:r>
                <a:rPr lang="zh-CN" altLang="zh-CN" sz="2000" kern="0" dirty="0">
                  <a:latin typeface="Times New Roman" panose="02020603050405020304" pitchFamily="18" charset="0"/>
                  <a:cs typeface="Times New Roman" panose="02020603050405020304" pitchFamily="18" charset="0"/>
                </a:rPr>
                <a:t>关节</a:t>
              </a:r>
              <a:r>
                <a:rPr lang="en-US" altLang="zh-CN" sz="2000" kern="0" dirty="0">
                  <a:latin typeface="Times New Roman" panose="02020603050405020304" pitchFamily="18" charset="0"/>
                  <a:cs typeface="Times New Roman" panose="02020603050405020304" pitchFamily="18" charset="0"/>
                </a:rPr>
                <a:t>2</a:t>
              </a:r>
              <a:r>
                <a:rPr lang="zh-CN" altLang="zh-CN" sz="2000" kern="0" dirty="0">
                  <a:latin typeface="Times New Roman" panose="02020603050405020304" pitchFamily="18" charset="0"/>
                  <a:cs typeface="Times New Roman" panose="02020603050405020304" pitchFamily="18" charset="0"/>
                </a:rPr>
                <a:t>基于自适应控制的位置轨迹跟踪曲线和误差</a:t>
              </a:r>
              <a:endParaRPr lang="zh-CN" altLang="zh-CN" sz="2000" kern="100" dirty="0">
                <a:latin typeface="Calibri" panose="020F0502020204030204" pitchFamily="34" charset="0"/>
                <a:cs typeface="Times New Roman" panose="02020603050405020304" pitchFamily="18" charset="0"/>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6F869DF-C247-0DC5-0D3D-6A53C7340CA5}"/>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7.2.2</a:t>
            </a: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机器人控制方法和控制器设计</a:t>
            </a:r>
          </a:p>
        </p:txBody>
      </p:sp>
      <p:grpSp>
        <p:nvGrpSpPr>
          <p:cNvPr id="3" name="组合 5">
            <a:extLst>
              <a:ext uri="{FF2B5EF4-FFF2-40B4-BE49-F238E27FC236}">
                <a16:creationId xmlns:a16="http://schemas.microsoft.com/office/drawing/2014/main" id="{412C8F42-6EC0-DA62-7F5B-2D511185E071}"/>
              </a:ext>
            </a:extLst>
          </p:cNvPr>
          <p:cNvGrpSpPr>
            <a:grpSpLocks/>
          </p:cNvGrpSpPr>
          <p:nvPr/>
        </p:nvGrpSpPr>
        <p:grpSpPr bwMode="auto">
          <a:xfrm>
            <a:off x="2783681" y="1187450"/>
            <a:ext cx="6624637" cy="5253038"/>
            <a:chOff x="1439652" y="548680"/>
            <a:chExt cx="6624736" cy="5253819"/>
          </a:xfrm>
        </p:grpSpPr>
        <p:pic>
          <p:nvPicPr>
            <p:cNvPr id="4" name="图片 1">
              <a:extLst>
                <a:ext uri="{FF2B5EF4-FFF2-40B4-BE49-F238E27FC236}">
                  <a16:creationId xmlns:a16="http://schemas.microsoft.com/office/drawing/2014/main" id="{77FD62AD-D6DB-453F-C907-9E3ED542EA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4" y="548680"/>
              <a:ext cx="6408712" cy="4644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78B16176-8EAD-C9B5-D1CA-2ED2992F833B}"/>
                </a:ext>
              </a:extLst>
            </p:cNvPr>
            <p:cNvSpPr txBox="1"/>
            <p:nvPr/>
          </p:nvSpPr>
          <p:spPr>
            <a:xfrm>
              <a:off x="1439652" y="5300774"/>
              <a:ext cx="6624736" cy="501725"/>
            </a:xfrm>
            <a:prstGeom prst="rect">
              <a:avLst/>
            </a:prstGeom>
            <a:noFill/>
          </p:spPr>
          <p:txBody>
            <a:bodyPr>
              <a:spAutoFit/>
            </a:bodyPr>
            <a:lstStyle/>
            <a:p>
              <a:pPr algn="ctr">
                <a:lnSpc>
                  <a:spcPct val="150000"/>
                </a:lnSpc>
                <a:defRPr/>
              </a:pPr>
              <a:r>
                <a:rPr lang="zh-CN" altLang="zh-CN" sz="2000" kern="0" dirty="0">
                  <a:latin typeface="Times New Roman" panose="02020603050405020304" pitchFamily="18" charset="0"/>
                  <a:cs typeface="Times New Roman" panose="02020603050405020304" pitchFamily="18" charset="0"/>
                </a:rPr>
                <a:t>图</a:t>
              </a:r>
              <a:r>
                <a:rPr lang="en-US" altLang="zh-CN" sz="2000" kern="0" dirty="0">
                  <a:latin typeface="Times New Roman" panose="02020603050405020304" pitchFamily="18" charset="0"/>
                  <a:cs typeface="Times New Roman" panose="02020603050405020304" pitchFamily="18" charset="0"/>
                </a:rPr>
                <a:t>7-17</a:t>
              </a:r>
              <a:r>
                <a:rPr lang="zh-CN" altLang="zh-CN" sz="2000" kern="0" dirty="0">
                  <a:latin typeface="Times New Roman" panose="02020603050405020304" pitchFamily="18" charset="0"/>
                  <a:cs typeface="Times New Roman" panose="02020603050405020304" pitchFamily="18" charset="0"/>
                </a:rPr>
                <a:t>关节</a:t>
              </a:r>
              <a:r>
                <a:rPr lang="en-US" altLang="zh-CN" sz="2000" kern="0" dirty="0">
                  <a:latin typeface="Times New Roman" panose="02020603050405020304" pitchFamily="18" charset="0"/>
                  <a:cs typeface="Times New Roman" panose="02020603050405020304" pitchFamily="18" charset="0"/>
                </a:rPr>
                <a:t>2</a:t>
              </a:r>
              <a:r>
                <a:rPr lang="zh-CN" altLang="zh-CN" sz="2000" kern="0" dirty="0">
                  <a:latin typeface="Times New Roman" panose="02020603050405020304" pitchFamily="18" charset="0"/>
                  <a:cs typeface="Times New Roman" panose="02020603050405020304" pitchFamily="18" charset="0"/>
                </a:rPr>
                <a:t>基于自适应控制的速度轨迹跟踪曲线和误差</a:t>
              </a:r>
              <a:endParaRPr lang="zh-CN" altLang="zh-CN" sz="2000" kern="100" dirty="0">
                <a:latin typeface="Calibri" panose="020F0502020204030204" pitchFamily="34" charset="0"/>
                <a:cs typeface="Times New Roman" panose="02020603050405020304" pitchFamily="18" charset="0"/>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31F946A-EF75-1CE5-9DBD-138269F952B6}"/>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7.2.2</a:t>
            </a: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机器人控制方法和控制器设计</a:t>
            </a:r>
          </a:p>
        </p:txBody>
      </p:sp>
      <p:grpSp>
        <p:nvGrpSpPr>
          <p:cNvPr id="3" name="组合 5">
            <a:extLst>
              <a:ext uri="{FF2B5EF4-FFF2-40B4-BE49-F238E27FC236}">
                <a16:creationId xmlns:a16="http://schemas.microsoft.com/office/drawing/2014/main" id="{29A23341-C6EC-5578-81BE-3AF3FE403C07}"/>
              </a:ext>
            </a:extLst>
          </p:cNvPr>
          <p:cNvGrpSpPr>
            <a:grpSpLocks/>
          </p:cNvGrpSpPr>
          <p:nvPr/>
        </p:nvGrpSpPr>
        <p:grpSpPr bwMode="auto">
          <a:xfrm>
            <a:off x="2781300" y="1316038"/>
            <a:ext cx="6629400" cy="5045075"/>
            <a:chOff x="1763688" y="476672"/>
            <a:chExt cx="6629128" cy="5044331"/>
          </a:xfrm>
        </p:grpSpPr>
        <p:pic>
          <p:nvPicPr>
            <p:cNvPr id="4" name="图片 1">
              <a:extLst>
                <a:ext uri="{FF2B5EF4-FFF2-40B4-BE49-F238E27FC236}">
                  <a16:creationId xmlns:a16="http://schemas.microsoft.com/office/drawing/2014/main" id="{7870114F-4D5D-4F47-158A-6D6E583E4E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476672"/>
              <a:ext cx="5832043" cy="4644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E56E5C0F-30DB-35BF-8F24-5A1E8DFA00C6}"/>
                </a:ext>
              </a:extLst>
            </p:cNvPr>
            <p:cNvSpPr txBox="1"/>
            <p:nvPr/>
          </p:nvSpPr>
          <p:spPr>
            <a:xfrm>
              <a:off x="1763688" y="5121012"/>
              <a:ext cx="6629128" cy="399991"/>
            </a:xfrm>
            <a:prstGeom prst="rect">
              <a:avLst/>
            </a:prstGeom>
            <a:noFill/>
          </p:spPr>
          <p:txBody>
            <a:bodyPr>
              <a:spAutoFit/>
            </a:bodyPr>
            <a:lstStyle/>
            <a:p>
              <a:pPr algn="ctr">
                <a:defRPr/>
              </a:pPr>
              <a:r>
                <a:rPr lang="zh-CN" altLang="zh-CN" sz="2000" kern="0" dirty="0">
                  <a:latin typeface="Times New Roman" panose="02020603050405020304" pitchFamily="18" charset="0"/>
                  <a:cs typeface="Times New Roman" panose="02020603050405020304" pitchFamily="18" charset="0"/>
                </a:rPr>
                <a:t>图</a:t>
              </a:r>
              <a:r>
                <a:rPr lang="en-US" altLang="zh-CN" sz="2000" kern="0" dirty="0">
                  <a:latin typeface="Times New Roman" panose="02020603050405020304" pitchFamily="18" charset="0"/>
                  <a:cs typeface="Times New Roman" panose="02020603050405020304" pitchFamily="18" charset="0"/>
                </a:rPr>
                <a:t>7-18</a:t>
              </a:r>
              <a:r>
                <a:rPr lang="zh-CN" altLang="zh-CN" sz="2000" kern="0" dirty="0">
                  <a:latin typeface="Times New Roman" panose="02020603050405020304" pitchFamily="18" charset="0"/>
                  <a:cs typeface="Times New Roman" panose="02020603050405020304" pitchFamily="18" charset="0"/>
                </a:rPr>
                <a:t>关节</a:t>
              </a:r>
              <a:r>
                <a:rPr lang="en-US" altLang="zh-CN" sz="2000" kern="0" dirty="0">
                  <a:latin typeface="Times New Roman" panose="02020603050405020304" pitchFamily="18" charset="0"/>
                  <a:cs typeface="Times New Roman" panose="02020603050405020304" pitchFamily="18" charset="0"/>
                </a:rPr>
                <a:t>3</a:t>
              </a:r>
              <a:r>
                <a:rPr lang="zh-CN" altLang="zh-CN" sz="2000" kern="0" dirty="0">
                  <a:latin typeface="Times New Roman" panose="02020603050405020304" pitchFamily="18" charset="0"/>
                  <a:cs typeface="Times New Roman" panose="02020603050405020304" pitchFamily="18" charset="0"/>
                </a:rPr>
                <a:t>基于自适应控制的位置轨迹跟踪曲线和误差</a:t>
              </a:r>
              <a:endParaRPr lang="zh-CN" altLang="zh-CN" sz="2000" kern="100" dirty="0">
                <a:latin typeface="Calibri" panose="020F0502020204030204" pitchFamily="34" charset="0"/>
                <a:cs typeface="Times New Roman" panose="02020603050405020304" pitchFamily="18" charset="0"/>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606BEB00-3445-1AD2-9B7D-336D5A65D363}"/>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7.2.2</a:t>
            </a: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机器人控制方法和控制器设计</a:t>
            </a:r>
          </a:p>
        </p:txBody>
      </p:sp>
      <p:grpSp>
        <p:nvGrpSpPr>
          <p:cNvPr id="3" name="组合 5">
            <a:extLst>
              <a:ext uri="{FF2B5EF4-FFF2-40B4-BE49-F238E27FC236}">
                <a16:creationId xmlns:a16="http://schemas.microsoft.com/office/drawing/2014/main" id="{C835925B-0CFB-7752-C337-48FAA48886BB}"/>
              </a:ext>
            </a:extLst>
          </p:cNvPr>
          <p:cNvGrpSpPr>
            <a:grpSpLocks/>
          </p:cNvGrpSpPr>
          <p:nvPr/>
        </p:nvGrpSpPr>
        <p:grpSpPr bwMode="auto">
          <a:xfrm>
            <a:off x="2855118" y="1117600"/>
            <a:ext cx="6481763" cy="5076825"/>
            <a:chOff x="1691680" y="476672"/>
            <a:chExt cx="6481023" cy="5077147"/>
          </a:xfrm>
        </p:grpSpPr>
        <p:pic>
          <p:nvPicPr>
            <p:cNvPr id="4" name="图片 1">
              <a:extLst>
                <a:ext uri="{FF2B5EF4-FFF2-40B4-BE49-F238E27FC236}">
                  <a16:creationId xmlns:a16="http://schemas.microsoft.com/office/drawing/2014/main" id="{CC4958AC-1DC6-8132-4FAE-1B3BCC0BDE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476672"/>
              <a:ext cx="5616019" cy="457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60D39BF7-DEDB-F6AC-0CB1-52545C119952}"/>
                </a:ext>
              </a:extLst>
            </p:cNvPr>
            <p:cNvSpPr txBox="1"/>
            <p:nvPr/>
          </p:nvSpPr>
          <p:spPr>
            <a:xfrm>
              <a:off x="1691680" y="5052137"/>
              <a:ext cx="6481023" cy="501682"/>
            </a:xfrm>
            <a:prstGeom prst="rect">
              <a:avLst/>
            </a:prstGeom>
            <a:noFill/>
          </p:spPr>
          <p:txBody>
            <a:bodyPr>
              <a:spAutoFit/>
            </a:bodyPr>
            <a:lstStyle/>
            <a:p>
              <a:pPr algn="ctr">
                <a:lnSpc>
                  <a:spcPct val="150000"/>
                </a:lnSpc>
                <a:defRPr/>
              </a:pPr>
              <a:r>
                <a:rPr lang="zh-CN" altLang="zh-CN" sz="2000" kern="0" dirty="0">
                  <a:latin typeface="Times New Roman" panose="02020603050405020304" pitchFamily="18" charset="0"/>
                  <a:cs typeface="Times New Roman" panose="02020603050405020304" pitchFamily="18" charset="0"/>
                </a:rPr>
                <a:t>图</a:t>
              </a:r>
              <a:r>
                <a:rPr lang="en-US" altLang="zh-CN" sz="2000" kern="0" dirty="0">
                  <a:latin typeface="Times New Roman" panose="02020603050405020304" pitchFamily="18" charset="0"/>
                  <a:cs typeface="Times New Roman" panose="02020603050405020304" pitchFamily="18" charset="0"/>
                </a:rPr>
                <a:t>7-19</a:t>
              </a:r>
              <a:r>
                <a:rPr lang="zh-CN" altLang="zh-CN" sz="2000" kern="0" dirty="0">
                  <a:latin typeface="Times New Roman" panose="02020603050405020304" pitchFamily="18" charset="0"/>
                  <a:cs typeface="Times New Roman" panose="02020603050405020304" pitchFamily="18" charset="0"/>
                </a:rPr>
                <a:t>关节</a:t>
              </a:r>
              <a:r>
                <a:rPr lang="en-US" altLang="zh-CN" sz="2000" kern="0" dirty="0">
                  <a:latin typeface="Times New Roman" panose="02020603050405020304" pitchFamily="18" charset="0"/>
                  <a:cs typeface="Times New Roman" panose="02020603050405020304" pitchFamily="18" charset="0"/>
                </a:rPr>
                <a:t>3</a:t>
              </a:r>
              <a:r>
                <a:rPr lang="zh-CN" altLang="zh-CN" sz="2000" kern="0" dirty="0">
                  <a:latin typeface="Times New Roman" panose="02020603050405020304" pitchFamily="18" charset="0"/>
                  <a:cs typeface="Times New Roman" panose="02020603050405020304" pitchFamily="18" charset="0"/>
                </a:rPr>
                <a:t>基于自适应控制的速度轨迹跟踪曲线和误差</a:t>
              </a:r>
              <a:endParaRPr lang="zh-CN" altLang="zh-CN" sz="2000" kern="100" dirty="0">
                <a:latin typeface="Calibri" panose="020F0502020204030204" pitchFamily="34" charset="0"/>
                <a:cs typeface="Times New Roman" panose="02020603050405020304" pitchFamily="18" charset="0"/>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5255B72-B09E-49C7-771B-CC972FF910D6}"/>
              </a:ext>
            </a:extLst>
          </p:cNvPr>
          <p:cNvSpPr txBox="1"/>
          <p:nvPr>
            <p:custDataLst>
              <p:tags r:id="rId1"/>
            </p:custDataLst>
          </p:nvPr>
        </p:nvSpPr>
        <p:spPr>
          <a:xfrm>
            <a:off x="1357313" y="128685"/>
            <a:ext cx="8158162" cy="954107"/>
          </a:xfrm>
          <a:prstGeom prst="rect">
            <a:avLst/>
          </a:prstGeom>
          <a:noFill/>
        </p:spPr>
        <p:txBody>
          <a:bodyPr wrap="square" rtlCol="0">
            <a:spAutoFit/>
          </a:bodyPr>
          <a:lstStyle/>
          <a:p>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状态信息完全已知情况下的</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a:extLst>
              <a:ext uri="{FF2B5EF4-FFF2-40B4-BE49-F238E27FC236}">
                <a16:creationId xmlns:a16="http://schemas.microsoft.com/office/drawing/2014/main" id="{E61ACC6D-283A-2A14-EB32-1612B9D4DC7C}"/>
              </a:ext>
            </a:extLst>
          </p:cNvPr>
          <p:cNvSpPr txBox="1"/>
          <p:nvPr/>
        </p:nvSpPr>
        <p:spPr>
          <a:xfrm>
            <a:off x="914400" y="1069599"/>
            <a:ext cx="9748838" cy="1938992"/>
          </a:xfrm>
          <a:prstGeom prst="rect">
            <a:avLst/>
          </a:prstGeom>
          <a:noFill/>
        </p:spPr>
        <p:txBody>
          <a:bodyPr wrap="square">
            <a:spAutoFit/>
          </a:bodyPr>
          <a:lstStyle/>
          <a:p>
            <a:pPr indent="269875" algn="just"/>
            <a:r>
              <a:rPr lang="zh-CN" altLang="zh-CN" sz="2400" b="1" kern="0" dirty="0">
                <a:effectLst/>
                <a:latin typeface="微软雅黑" panose="020B0503020204020204" pitchFamily="34" charset="-122"/>
                <a:ea typeface="微软雅黑" panose="020B0503020204020204" pitchFamily="34" charset="-122"/>
              </a:rPr>
              <a:t>图</a:t>
            </a:r>
            <a:r>
              <a:rPr lang="en-US" altLang="zh-CN" sz="2400" b="1" kern="0" dirty="0">
                <a:effectLst/>
                <a:latin typeface="微软雅黑" panose="020B0503020204020204" pitchFamily="34" charset="-122"/>
                <a:ea typeface="微软雅黑" panose="020B0503020204020204" pitchFamily="34" charset="-122"/>
              </a:rPr>
              <a:t>7.13</a:t>
            </a:r>
            <a:r>
              <a:rPr lang="zh-CN" altLang="zh-CN" sz="2400" b="1" kern="0" dirty="0">
                <a:effectLst/>
                <a:latin typeface="微软雅黑" panose="020B0503020204020204" pitchFamily="34" charset="-122"/>
                <a:ea typeface="微软雅黑" panose="020B0503020204020204" pitchFamily="34" charset="-122"/>
              </a:rPr>
              <a:t>是各个关节的力矩控制示意图。图</a:t>
            </a:r>
            <a:r>
              <a:rPr lang="en-US" altLang="zh-CN" sz="2400" b="1" kern="0" dirty="0">
                <a:effectLst/>
                <a:latin typeface="微软雅黑" panose="020B0503020204020204" pitchFamily="34" charset="-122"/>
                <a:ea typeface="微软雅黑" panose="020B0503020204020204" pitchFamily="34" charset="-122"/>
              </a:rPr>
              <a:t>7.14</a:t>
            </a:r>
            <a:r>
              <a:rPr lang="zh-CN" altLang="zh-CN" sz="2400" b="1" kern="0" dirty="0">
                <a:effectLst/>
                <a:latin typeface="微软雅黑" panose="020B0503020204020204" pitchFamily="34" charset="-122"/>
                <a:ea typeface="微软雅黑" panose="020B0503020204020204" pitchFamily="34" charset="-122"/>
              </a:rPr>
              <a:t>～图</a:t>
            </a:r>
            <a:r>
              <a:rPr lang="en-US" altLang="zh-CN" sz="2400" b="1" kern="0" dirty="0">
                <a:effectLst/>
                <a:latin typeface="微软雅黑" panose="020B0503020204020204" pitchFamily="34" charset="-122"/>
                <a:ea typeface="微软雅黑" panose="020B0503020204020204" pitchFamily="34" charset="-122"/>
              </a:rPr>
              <a:t>7.19</a:t>
            </a:r>
            <a:r>
              <a:rPr lang="zh-CN" altLang="zh-CN" sz="2400" b="1" kern="0" dirty="0">
                <a:effectLst/>
                <a:latin typeface="微软雅黑" panose="020B0503020204020204" pitchFamily="34" charset="-122"/>
                <a:ea typeface="微软雅黑" panose="020B0503020204020204" pitchFamily="34" charset="-122"/>
              </a:rPr>
              <a:t>给出了各个关节的轨迹状态，速度响应及与期望轨迹与速度的误差图。从图中可以看出，应用自适应控制公式</a:t>
            </a:r>
            <a:r>
              <a:rPr lang="en-US" altLang="zh-CN" sz="2400" b="1" kern="0" dirty="0">
                <a:effectLst/>
                <a:latin typeface="微软雅黑" panose="020B0503020204020204" pitchFamily="34" charset="-122"/>
                <a:ea typeface="微软雅黑" panose="020B0503020204020204" pitchFamily="34" charset="-122"/>
              </a:rPr>
              <a:t>(7.17)</a:t>
            </a:r>
            <a:r>
              <a:rPr lang="zh-CN" altLang="zh-CN" sz="2400" b="1" kern="0" dirty="0">
                <a:effectLst/>
                <a:latin typeface="微软雅黑" panose="020B0503020204020204" pitchFamily="34" charset="-122"/>
                <a:ea typeface="微软雅黑" panose="020B0503020204020204" pitchFamily="34" charset="-122"/>
              </a:rPr>
              <a:t>和</a:t>
            </a:r>
            <a:r>
              <a:rPr lang="en-US" altLang="zh-CN" sz="2400" b="1" kern="0" dirty="0">
                <a:effectLst/>
                <a:latin typeface="微软雅黑" panose="020B0503020204020204" pitchFamily="34" charset="-122"/>
                <a:ea typeface="微软雅黑" panose="020B0503020204020204" pitchFamily="34" charset="-122"/>
              </a:rPr>
              <a:t>(7.19)</a:t>
            </a:r>
            <a:r>
              <a:rPr lang="zh-CN" altLang="zh-CN" sz="2400" b="1" kern="0" dirty="0">
                <a:effectLst/>
                <a:latin typeface="微软雅黑" panose="020B0503020204020204" pitchFamily="34" charset="-122"/>
                <a:ea typeface="微软雅黑" panose="020B0503020204020204" pitchFamily="34" charset="-122"/>
              </a:rPr>
              <a:t>，机器人各个关节均能追踪到预先给定的期望轨迹和期望速度，这说明本节提出的滑模自适应控制算法是非常有效的。</a:t>
            </a:r>
            <a:endParaRPr lang="zh-CN" altLang="zh-CN" sz="2400" b="1" kern="1000" dirty="0">
              <a:effectLst/>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00941FC7-CA70-3C24-0EA3-C9667A4B3957}"/>
              </a:ext>
            </a:extLst>
          </p:cNvPr>
          <p:cNvSpPr txBox="1"/>
          <p:nvPr/>
        </p:nvSpPr>
        <p:spPr>
          <a:xfrm>
            <a:off x="442913" y="3124007"/>
            <a:ext cx="7281862" cy="461665"/>
          </a:xfrm>
          <a:prstGeom prst="rect">
            <a:avLst/>
          </a:prstGeom>
          <a:noFill/>
        </p:spPr>
        <p:txBody>
          <a:bodyPr wrap="square">
            <a:spAutoFit/>
          </a:bodyPr>
          <a:lstStyle/>
          <a:p>
            <a:pPr indent="269875" algn="just">
              <a:spcBef>
                <a:spcPts val="600"/>
              </a:spcBef>
              <a:spcAft>
                <a:spcPts val="600"/>
              </a:spcAft>
            </a:pPr>
            <a:r>
              <a:rPr lang="en-US" altLang="zh-CN" sz="2400" b="1" kern="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400" b="1" kern="0" dirty="0">
                <a:effectLst/>
                <a:latin typeface="微软雅黑" panose="020B0503020204020204" pitchFamily="34" charset="-122"/>
                <a:ea typeface="微软雅黑" panose="020B0503020204020204" pitchFamily="34" charset="-122"/>
                <a:cs typeface="Times New Roman" panose="02020603050405020304" pitchFamily="18" charset="0"/>
              </a:rPr>
              <a:t>．状态信息完全已知情况下的</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p:txBody>
      </p:sp>
      <p:sp>
        <p:nvSpPr>
          <p:cNvPr id="8" name="文本框 7">
            <a:extLst>
              <a:ext uri="{FF2B5EF4-FFF2-40B4-BE49-F238E27FC236}">
                <a16:creationId xmlns:a16="http://schemas.microsoft.com/office/drawing/2014/main" id="{D6570D93-BB8E-5E46-FCFD-A980A387A769}"/>
              </a:ext>
            </a:extLst>
          </p:cNvPr>
          <p:cNvSpPr txBox="1"/>
          <p:nvPr/>
        </p:nvSpPr>
        <p:spPr>
          <a:xfrm>
            <a:off x="914400" y="3677901"/>
            <a:ext cx="10120312" cy="2677656"/>
          </a:xfrm>
          <a:prstGeom prst="rect">
            <a:avLst/>
          </a:prstGeom>
          <a:noFill/>
        </p:spPr>
        <p:txBody>
          <a:bodyPr wrap="square">
            <a:spAutoFit/>
          </a:bodyPr>
          <a:lstStyle/>
          <a:p>
            <a:pPr indent="269875" algn="just">
              <a:spcBef>
                <a:spcPts val="600"/>
              </a:spcBef>
            </a:pPr>
            <a:r>
              <a:rPr lang="en-US" altLang="zh-CN" sz="2400" b="1" kern="0" dirty="0">
                <a:effectLst/>
                <a:latin typeface="微软雅黑" panose="020B0503020204020204" pitchFamily="34" charset="-122"/>
                <a:ea typeface="微软雅黑" panose="020B0503020204020204" pitchFamily="34" charset="-122"/>
              </a:rPr>
              <a:t>1)</a:t>
            </a:r>
            <a:r>
              <a:rPr lang="zh-CN" altLang="zh-CN" sz="2400" b="1" kern="0" dirty="0">
                <a:effectLst/>
                <a:latin typeface="微软雅黑" panose="020B0503020204020204" pitchFamily="34" charset="-122"/>
                <a:ea typeface="微软雅黑" panose="020B0503020204020204" pitchFamily="34" charset="-122"/>
              </a:rPr>
              <a:t>基本原理</a:t>
            </a:r>
            <a:endParaRPr lang="zh-CN" altLang="zh-CN" sz="2400" b="1" kern="1050" dirty="0">
              <a:effectLst/>
              <a:latin typeface="微软雅黑" panose="020B0503020204020204" pitchFamily="34" charset="-122"/>
              <a:ea typeface="微软雅黑" panose="020B0503020204020204" pitchFamily="34" charset="-122"/>
            </a:endParaRPr>
          </a:p>
          <a:p>
            <a:pPr indent="269875" algn="just"/>
            <a:r>
              <a:rPr lang="zh-CN" altLang="zh-CN" sz="2400" b="1" kern="1000" dirty="0">
                <a:effectLst/>
                <a:latin typeface="微软雅黑" panose="020B0503020204020204" pitchFamily="34" charset="-122"/>
                <a:ea typeface="微软雅黑" panose="020B0503020204020204" pitchFamily="34" charset="-122"/>
              </a:rPr>
              <a:t>在控制工程中，径向基函数</a:t>
            </a:r>
            <a:r>
              <a:rPr lang="en-US" altLang="zh-CN" sz="2400" b="1" kern="1000" dirty="0">
                <a:effectLst/>
                <a:latin typeface="微软雅黑" panose="020B0503020204020204" pitchFamily="34" charset="-122"/>
                <a:ea typeface="微软雅黑" panose="020B0503020204020204" pitchFamily="34" charset="-122"/>
              </a:rPr>
              <a:t>(RBF)</a:t>
            </a:r>
            <a:r>
              <a:rPr lang="zh-CN" altLang="zh-CN" sz="2400" b="1" kern="1000" dirty="0">
                <a:effectLst/>
                <a:latin typeface="微软雅黑" panose="020B0503020204020204" pitchFamily="34" charset="-122"/>
                <a:ea typeface="微软雅黑" panose="020B0503020204020204" pitchFamily="34" charset="-122"/>
              </a:rPr>
              <a:t>神经网络由于具有良好的函数逼近能力，常被作为系统建模的工具。该神经网络由三层组成，输入层节点的作用是传递信号到隐层；隐层节点由径向基函数构成；输出层节点通常是简单的线性函数。在径向基函数神经网络中，从输入层到隐层的变换是非线性的，隐层的作用是对输入向量进行非线性变换，而从隐层到输出层的变换是线性的，也就是网络的输出是隐节点输出的线性加权和。</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8">
            <a:extLst>
              <a:ext uri="{FF2B5EF4-FFF2-40B4-BE49-F238E27FC236}">
                <a16:creationId xmlns:a16="http://schemas.microsoft.com/office/drawing/2014/main" id="{594A6B7B-50F8-E68A-70A8-15A3E985D0D1}"/>
              </a:ext>
            </a:extLst>
          </p:cNvPr>
          <p:cNvGrpSpPr>
            <a:grpSpLocks/>
          </p:cNvGrpSpPr>
          <p:nvPr/>
        </p:nvGrpSpPr>
        <p:grpSpPr bwMode="auto">
          <a:xfrm>
            <a:off x="3413125" y="1047750"/>
            <a:ext cx="5365750" cy="5010150"/>
            <a:chOff x="1889832" y="548680"/>
            <a:chExt cx="5364336" cy="5008622"/>
          </a:xfrm>
        </p:grpSpPr>
        <p:pic>
          <p:nvPicPr>
            <p:cNvPr id="6" name="图片 4">
              <a:extLst>
                <a:ext uri="{FF2B5EF4-FFF2-40B4-BE49-F238E27FC236}">
                  <a16:creationId xmlns:a16="http://schemas.microsoft.com/office/drawing/2014/main" id="{00F05447-414C-EAFE-E0C2-8C96E5C698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9832" y="548680"/>
              <a:ext cx="5364336" cy="4339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56F03801-DF1A-9D5C-CDC9-A2C94979F333}"/>
                </a:ext>
              </a:extLst>
            </p:cNvPr>
            <p:cNvSpPr txBox="1"/>
            <p:nvPr/>
          </p:nvSpPr>
          <p:spPr>
            <a:xfrm>
              <a:off x="2123134" y="5157374"/>
              <a:ext cx="4577143" cy="399928"/>
            </a:xfrm>
            <a:prstGeom prst="rect">
              <a:avLst/>
            </a:prstGeom>
            <a:noFill/>
          </p:spPr>
          <p:txBody>
            <a:bodyPr>
              <a:spAutoFit/>
            </a:bodyPr>
            <a:lstStyle/>
            <a:p>
              <a:pPr algn="ctr">
                <a:defRPr/>
              </a:pPr>
              <a:r>
                <a:rPr lang="zh-CN" altLang="zh-CN" sz="2000" kern="100" dirty="0">
                  <a:latin typeface="Times New Roman" panose="02020603050405020304" pitchFamily="18" charset="0"/>
                  <a:cs typeface="Times New Roman" panose="02020603050405020304" pitchFamily="18" charset="0"/>
                </a:rPr>
                <a:t>图</a:t>
              </a:r>
              <a:r>
                <a:rPr lang="en-US" altLang="zh-CN" sz="2000" kern="100" dirty="0">
                  <a:latin typeface="Times New Roman" panose="02020603050405020304" pitchFamily="18" charset="0"/>
                  <a:cs typeface="Times New Roman" panose="02020603050405020304" pitchFamily="18" charset="0"/>
                </a:rPr>
                <a:t>7.20 RBF</a:t>
              </a:r>
              <a:r>
                <a:rPr lang="zh-CN" altLang="zh-CN" sz="2000" kern="100" dirty="0">
                  <a:latin typeface="Times New Roman" panose="02020603050405020304" pitchFamily="18" charset="0"/>
                  <a:cs typeface="Times New Roman" panose="02020603050405020304" pitchFamily="18" charset="0"/>
                </a:rPr>
                <a:t>神经网络基本结构</a:t>
              </a:r>
            </a:p>
          </p:txBody>
        </p:sp>
      </p:grpSp>
      <p:sp>
        <p:nvSpPr>
          <p:cNvPr id="8" name="文本框 7">
            <a:extLst>
              <a:ext uri="{FF2B5EF4-FFF2-40B4-BE49-F238E27FC236}">
                <a16:creationId xmlns:a16="http://schemas.microsoft.com/office/drawing/2014/main" id="{FD8ECED8-A51A-65E2-0A48-B2949FCCCCCB}"/>
              </a:ext>
            </a:extLst>
          </p:cNvPr>
          <p:cNvSpPr txBox="1"/>
          <p:nvPr>
            <p:custDataLst>
              <p:tags r:id="rId1"/>
            </p:custDataLst>
          </p:nvPr>
        </p:nvSpPr>
        <p:spPr>
          <a:xfrm>
            <a:off x="1357313" y="128685"/>
            <a:ext cx="8158162" cy="954107"/>
          </a:xfrm>
          <a:prstGeom prst="rect">
            <a:avLst/>
          </a:prstGeom>
          <a:noFill/>
        </p:spPr>
        <p:txBody>
          <a:bodyPr wrap="square" rtlCol="0">
            <a:spAutoFit/>
          </a:bodyPr>
          <a:lstStyle/>
          <a:p>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状态信息完全已知情况下的</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37263379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68EA45A5-A51D-0F89-5FCD-88420E6B15CA}"/>
                  </a:ext>
                </a:extLst>
              </p:cNvPr>
              <p:cNvSpPr txBox="1"/>
              <p:nvPr/>
            </p:nvSpPr>
            <p:spPr>
              <a:xfrm>
                <a:off x="714376" y="1116285"/>
                <a:ext cx="10182224" cy="6050311"/>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本书的</a:t>
                </a:r>
                <a:r>
                  <a:rPr lang="en-US" altLang="zh-CN" sz="2400" b="1" kern="1000" dirty="0">
                    <a:effectLst/>
                    <a:latin typeface="微软雅黑" panose="020B0503020204020204" pitchFamily="34" charset="-122"/>
                    <a:ea typeface="微软雅黑" panose="020B0503020204020204" pitchFamily="34" charset="-122"/>
                  </a:rPr>
                  <a:t>RBF</a:t>
                </a:r>
                <a:r>
                  <a:rPr lang="zh-CN" altLang="zh-CN" sz="2400" b="1" kern="1000" dirty="0">
                    <a:effectLst/>
                    <a:latin typeface="微软雅黑" panose="020B0503020204020204" pitchFamily="34" charset="-122"/>
                    <a:ea typeface="微软雅黑" panose="020B0503020204020204" pitchFamily="34" charset="-122"/>
                  </a:rPr>
                  <a:t>神经网络用于近似连续函数</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𝒉</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𝒁</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𝑹</m:t>
                        </m:r>
                      </m:e>
                      <m:sup>
                        <m:r>
                          <a:rPr lang="en-US" altLang="zh-CN" sz="2400" b="1" i="1" kern="1000">
                            <a:effectLst/>
                            <a:latin typeface="Cambria Math" panose="02040503050406030204" pitchFamily="18" charset="0"/>
                            <a:ea typeface="宋体" panose="02010600030101010101" pitchFamily="2" charset="-122"/>
                          </a:rPr>
                          <m:t>𝒏</m:t>
                        </m:r>
                      </m:sup>
                    </m:sSup>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𝑹</m:t>
                    </m:r>
                  </m:oMath>
                </a14:m>
                <a:r>
                  <a:rPr lang="zh-CN" altLang="zh-CN" sz="2400" b="1" kern="1000" dirty="0">
                    <a:effectLst/>
                    <a:latin typeface="微软雅黑" panose="020B0503020204020204" pitchFamily="34" charset="-122"/>
                    <a:ea typeface="微软雅黑" panose="020B0503020204020204" pitchFamily="34" charset="-122"/>
                  </a:rPr>
                  <a:t>。</a:t>
                </a:r>
              </a:p>
              <a:p>
                <a:pPr algn="just">
                  <a:lnSpc>
                    <a:spcPct val="150000"/>
                  </a:lnSpc>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400" b="1" i="1" kern="1050">
                        <a:effectLst/>
                        <a:latin typeface="Cambria Math" panose="02040503050406030204" pitchFamily="18" charset="0"/>
                        <a:ea typeface="宋体" panose="02010600030101010101" pitchFamily="2" charset="-122"/>
                      </a:rPr>
                      <m:t>𝒉</m:t>
                    </m:r>
                    <m:r>
                      <a:rPr lang="en-US" altLang="zh-CN" sz="2400" b="1" i="1" kern="1050">
                        <a:effectLst/>
                        <a:latin typeface="Cambria Math" panose="02040503050406030204" pitchFamily="18" charset="0"/>
                        <a:ea typeface="宋体" panose="02010600030101010101" pitchFamily="2" charset="-122"/>
                      </a:rPr>
                      <m:t>(</m:t>
                    </m:r>
                    <m:r>
                      <a:rPr lang="en-US" altLang="zh-CN" sz="2400" b="1" i="1" kern="1050">
                        <a:effectLst/>
                        <a:latin typeface="Cambria Math" panose="02040503050406030204" pitchFamily="18" charset="0"/>
                        <a:ea typeface="宋体" panose="02010600030101010101" pitchFamily="2" charset="-122"/>
                      </a:rPr>
                      <m:t>𝒁</m:t>
                    </m:r>
                    <m:r>
                      <a:rPr lang="en-US" altLang="zh-CN" sz="2400" b="1" i="1" kern="1050">
                        <a:effectLst/>
                        <a:latin typeface="Cambria Math" panose="02040503050406030204" pitchFamily="18" charset="0"/>
                        <a:ea typeface="宋体" panose="02010600030101010101" pitchFamily="2" charset="-122"/>
                      </a:rPr>
                      <m:t>)=</m:t>
                    </m:r>
                    <m:sSup>
                      <m:sSupPr>
                        <m:ctrlPr>
                          <a:rPr lang="zh-CN" altLang="zh-CN" sz="2400" b="1" i="1" kern="1050">
                            <a:effectLst/>
                            <a:latin typeface="Cambria Math" panose="02040503050406030204" pitchFamily="18" charset="0"/>
                            <a:ea typeface="Cambria Math" panose="02040503050406030204" pitchFamily="18" charset="0"/>
                          </a:rPr>
                        </m:ctrlPr>
                      </m:sSupPr>
                      <m:e>
                        <m:acc>
                          <m:accPr>
                            <m:chr m:val="̂"/>
                            <m:ctrlPr>
                              <a:rPr lang="zh-CN" altLang="zh-CN" sz="2400" b="1" i="1" kern="1050">
                                <a:effectLst/>
                                <a:latin typeface="Cambria Math" panose="02040503050406030204" pitchFamily="18" charset="0"/>
                                <a:ea typeface="Cambria Math" panose="02040503050406030204" pitchFamily="18" charset="0"/>
                              </a:rPr>
                            </m:ctrlPr>
                          </m:accPr>
                          <m:e>
                            <m:r>
                              <a:rPr lang="en-US" altLang="zh-CN" sz="2400" b="1" i="1" kern="1050">
                                <a:effectLst/>
                                <a:latin typeface="Cambria Math" panose="02040503050406030204" pitchFamily="18" charset="0"/>
                                <a:ea typeface="宋体" panose="02010600030101010101" pitchFamily="2" charset="-122"/>
                              </a:rPr>
                              <m:t>𝑾</m:t>
                            </m:r>
                          </m:e>
                        </m:acc>
                      </m:e>
                      <m:sup>
                        <m:r>
                          <a:rPr lang="en-US" altLang="zh-CN" sz="2400" b="1" i="1" kern="1050">
                            <a:effectLst/>
                            <a:latin typeface="Cambria Math" panose="02040503050406030204" pitchFamily="18" charset="0"/>
                            <a:ea typeface="宋体" panose="02010600030101010101" pitchFamily="2" charset="-122"/>
                          </a:rPr>
                          <m:t>𝑻</m:t>
                        </m:r>
                      </m:sup>
                    </m:sSup>
                    <m:r>
                      <a:rPr lang="en-US" altLang="zh-CN" sz="2400" b="1" i="1" kern="1050">
                        <a:effectLst/>
                        <a:latin typeface="Cambria Math" panose="02040503050406030204" pitchFamily="18" charset="0"/>
                        <a:ea typeface="宋体" panose="02010600030101010101" pitchFamily="2" charset="-122"/>
                      </a:rPr>
                      <m:t>𝑺</m:t>
                    </m:r>
                    <m:r>
                      <a:rPr lang="en-US" altLang="zh-CN" sz="2400" b="1" i="1" kern="1050">
                        <a:effectLst/>
                        <a:latin typeface="Cambria Math" panose="02040503050406030204" pitchFamily="18" charset="0"/>
                        <a:ea typeface="宋体" panose="02010600030101010101" pitchFamily="2" charset="-122"/>
                      </a:rPr>
                      <m:t>(</m:t>
                    </m:r>
                    <m:r>
                      <a:rPr lang="en-US" altLang="zh-CN" sz="2400" b="1" i="1" kern="1050">
                        <a:effectLst/>
                        <a:latin typeface="Cambria Math" panose="02040503050406030204" pitchFamily="18" charset="0"/>
                        <a:ea typeface="宋体" panose="02010600030101010101" pitchFamily="2" charset="-122"/>
                      </a:rPr>
                      <m:t>𝒁</m:t>
                    </m:r>
                    <m:r>
                      <a:rPr lang="en-US" altLang="zh-CN" sz="2400" b="1" i="1" kern="1050">
                        <a:effectLst/>
                        <a:latin typeface="Cambria Math" panose="02040503050406030204" pitchFamily="18" charset="0"/>
                        <a:ea typeface="宋体" panose="02010600030101010101" pitchFamily="2" charset="-122"/>
                      </a:rPr>
                      <m:t>)</m:t>
                    </m:r>
                  </m:oMath>
                </a14:m>
                <a:r>
                  <a:rPr lang="en-US" altLang="zh-CN" sz="2400" b="1" kern="1050" dirty="0">
                    <a:effectLst/>
                    <a:latin typeface="微软雅黑" panose="020B0503020204020204" pitchFamily="34" charset="-122"/>
                    <a:ea typeface="微软雅黑" panose="020B0503020204020204" pitchFamily="34" charset="-122"/>
                  </a:rPr>
                  <a:t>	                            (7.28)</a:t>
                </a:r>
                <a:endParaRPr lang="zh-CN" altLang="zh-CN" sz="24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𝒁</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𝜴</m:t>
                        </m:r>
                      </m:e>
                      <m:sub>
                        <m:r>
                          <a:rPr lang="en-US" altLang="zh-CN" sz="2400" b="1" i="1" kern="1000">
                            <a:effectLst/>
                            <a:latin typeface="Cambria Math" panose="02040503050406030204" pitchFamily="18" charset="0"/>
                            <a:ea typeface="宋体" panose="02010600030101010101" pitchFamily="2" charset="-122"/>
                          </a:rPr>
                          <m:t>𝒁</m:t>
                        </m:r>
                      </m:sub>
                    </m:sSub>
                  </m:oMath>
                </a14:m>
                <a:r>
                  <a:rPr lang="zh-CN" altLang="zh-CN" sz="2400" b="1" kern="1000" dirty="0">
                    <a:effectLst/>
                    <a:latin typeface="微软雅黑" panose="020B0503020204020204" pitchFamily="34" charset="-122"/>
                    <a:ea typeface="微软雅黑" panose="020B0503020204020204" pitchFamily="34" charset="-122"/>
                  </a:rPr>
                  <a:t>是输入变量，</a:t>
                </a:r>
                <a14:m>
                  <m:oMath xmlns:m="http://schemas.openxmlformats.org/officeDocument/2006/math">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𝑾</m:t>
                        </m:r>
                      </m:e>
                    </m:acc>
                    <m:r>
                      <a:rPr lang="en-US" altLang="zh-CN" sz="2400" b="1" i="1" kern="1000">
                        <a:effectLst/>
                        <a:latin typeface="Cambria Math" panose="02040503050406030204" pitchFamily="18" charset="0"/>
                        <a:ea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𝑹</m:t>
                        </m:r>
                      </m:e>
                      <m:sup>
                        <m:r>
                          <a:rPr lang="en-US" altLang="zh-CN" sz="2400" b="1" i="1" kern="1000">
                            <a:effectLst/>
                            <a:latin typeface="Cambria Math" panose="02040503050406030204" pitchFamily="18" charset="0"/>
                            <a:ea typeface="宋体" panose="02010600030101010101" pitchFamily="2" charset="-122"/>
                          </a:rPr>
                          <m:t>𝒍</m:t>
                        </m:r>
                      </m:sup>
                    </m:sSup>
                  </m:oMath>
                </a14:m>
                <a:r>
                  <a:rPr lang="zh-CN" altLang="zh-CN" sz="2400" b="1" kern="1000" dirty="0">
                    <a:effectLst/>
                    <a:latin typeface="微软雅黑" panose="020B0503020204020204" pitchFamily="34" charset="-122"/>
                    <a:ea typeface="微软雅黑" panose="020B0503020204020204" pitchFamily="34" charset="-122"/>
                  </a:rPr>
                  <a:t>是权重，</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𝑺</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𝒁</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𝒔</m:t>
                        </m:r>
                      </m:e>
                      <m:sub>
                        <m:r>
                          <a:rPr lang="en-US" altLang="zh-CN" sz="2400" b="1" i="1" kern="1000">
                            <a:effectLst/>
                            <a:latin typeface="Cambria Math" panose="02040503050406030204" pitchFamily="18" charset="0"/>
                            <a:ea typeface="宋体" panose="02010600030101010101" pitchFamily="2" charset="-122"/>
                          </a:rPr>
                          <m:t>𝟏</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𝒁</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𝒔</m:t>
                        </m:r>
                      </m:e>
                      <m:sub>
                        <m:r>
                          <a:rPr lang="en-US" altLang="zh-CN" sz="2400" b="1" i="1" kern="1000">
                            <a:effectLst/>
                            <a:latin typeface="Cambria Math" panose="02040503050406030204" pitchFamily="18" charset="0"/>
                            <a:ea typeface="宋体" panose="02010600030101010101" pitchFamily="2" charset="-122"/>
                          </a:rPr>
                          <m:t>𝒍</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𝒁</m:t>
                    </m:r>
                    <m:r>
                      <a:rPr lang="en-US" altLang="zh-CN" sz="2400" b="1" i="1" kern="1000">
                        <a:effectLst/>
                        <a:latin typeface="Cambria Math" panose="02040503050406030204" pitchFamily="18" charset="0"/>
                        <a:ea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m:t>
                        </m:r>
                      </m:e>
                      <m:sup>
                        <m:r>
                          <a:rPr lang="en-US" altLang="zh-CN" sz="2400" b="1" i="1" kern="1000">
                            <a:effectLst/>
                            <a:latin typeface="Cambria Math" panose="02040503050406030204" pitchFamily="18" charset="0"/>
                            <a:ea typeface="宋体" panose="02010600030101010101" pitchFamily="2" charset="-122"/>
                          </a:rPr>
                          <m:t>𝑻</m:t>
                        </m:r>
                      </m:sup>
                    </m:sSup>
                  </m:oMath>
                </a14:m>
                <a:r>
                  <a:rPr lang="zh-CN" altLang="zh-CN" sz="2400" b="1" kern="1000" dirty="0">
                    <a:effectLst/>
                    <a:latin typeface="微软雅黑" panose="020B0503020204020204" pitchFamily="34" charset="-122"/>
                    <a:ea typeface="微软雅黑" panose="020B0503020204020204" pitchFamily="34" charset="-122"/>
                  </a:rPr>
                  <a:t>是基函数，</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𝒍</m:t>
                    </m:r>
                  </m:oMath>
                </a14:m>
                <a:r>
                  <a:rPr lang="zh-CN" altLang="zh-CN" sz="2400" b="1" kern="1000" dirty="0">
                    <a:effectLst/>
                    <a:latin typeface="微软雅黑" panose="020B0503020204020204" pitchFamily="34" charset="-122"/>
                    <a:ea typeface="微软雅黑" panose="020B0503020204020204" pitchFamily="34" charset="-122"/>
                  </a:rPr>
                  <a:t>是神经元的数量，选取常用的高斯函数形式为</a:t>
                </a:r>
              </a:p>
              <a:p>
                <a:pPr algn="just">
                  <a:lnSpc>
                    <a:spcPct val="150000"/>
                  </a:lnSpc>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400" b="1" i="1" kern="1050">
                            <a:effectLst/>
                            <a:latin typeface="Cambria Math" panose="02040503050406030204" pitchFamily="18" charset="0"/>
                            <a:ea typeface="Cambria Math" panose="02040503050406030204" pitchFamily="18" charset="0"/>
                          </a:rPr>
                        </m:ctrlPr>
                      </m:sSubPr>
                      <m:e>
                        <m:r>
                          <a:rPr lang="en-US" altLang="zh-CN" sz="2400" b="1" i="1" kern="1050">
                            <a:effectLst/>
                            <a:latin typeface="Cambria Math" panose="02040503050406030204" pitchFamily="18" charset="0"/>
                            <a:ea typeface="宋体" panose="02010600030101010101" pitchFamily="2" charset="-122"/>
                          </a:rPr>
                          <m:t>𝒔</m:t>
                        </m:r>
                      </m:e>
                      <m:sub>
                        <m:r>
                          <a:rPr lang="en-US" altLang="zh-CN" sz="2400" b="1" i="1" kern="1050">
                            <a:effectLst/>
                            <a:latin typeface="Cambria Math" panose="02040503050406030204" pitchFamily="18" charset="0"/>
                            <a:ea typeface="宋体" panose="02010600030101010101" pitchFamily="2" charset="-122"/>
                          </a:rPr>
                          <m:t>𝒊</m:t>
                        </m:r>
                      </m:sub>
                    </m:sSub>
                    <m:r>
                      <a:rPr lang="en-US" altLang="zh-CN" sz="2400" b="1" i="1" kern="1050">
                        <a:effectLst/>
                        <a:latin typeface="Cambria Math" panose="02040503050406030204" pitchFamily="18" charset="0"/>
                        <a:ea typeface="宋体" panose="02010600030101010101" pitchFamily="2" charset="-122"/>
                      </a:rPr>
                      <m:t>(</m:t>
                    </m:r>
                    <m:r>
                      <a:rPr lang="en-US" altLang="zh-CN" sz="2400" b="1" i="1" kern="1050">
                        <a:effectLst/>
                        <a:latin typeface="Cambria Math" panose="02040503050406030204" pitchFamily="18" charset="0"/>
                        <a:ea typeface="宋体" panose="02010600030101010101" pitchFamily="2" charset="-122"/>
                      </a:rPr>
                      <m:t>𝒁</m:t>
                    </m:r>
                    <m:r>
                      <a:rPr lang="en-US" altLang="zh-CN" sz="2400" b="1" i="1" kern="1050">
                        <a:effectLst/>
                        <a:latin typeface="Cambria Math" panose="02040503050406030204" pitchFamily="18" charset="0"/>
                        <a:ea typeface="宋体" panose="02010600030101010101" pitchFamily="2" charset="-122"/>
                      </a:rPr>
                      <m:t>)=</m:t>
                    </m:r>
                    <m:func>
                      <m:funcPr>
                        <m:ctrlPr>
                          <a:rPr lang="zh-CN" altLang="zh-CN" sz="2400" b="1" i="1" kern="1050">
                            <a:effectLst/>
                            <a:latin typeface="Cambria Math" panose="02040503050406030204" pitchFamily="18" charset="0"/>
                            <a:ea typeface="Cambria Math" panose="02040503050406030204" pitchFamily="18" charset="0"/>
                          </a:rPr>
                        </m:ctrlPr>
                      </m:funcPr>
                      <m:fName>
                        <m:r>
                          <a:rPr lang="en-US" altLang="zh-CN" sz="2400" b="1" i="1" kern="1050">
                            <a:effectLst/>
                            <a:latin typeface="Cambria Math" panose="02040503050406030204" pitchFamily="18" charset="0"/>
                            <a:ea typeface="宋体" panose="02010600030101010101" pitchFamily="2" charset="-122"/>
                          </a:rPr>
                          <m:t>𝒆𝒙𝒑</m:t>
                        </m:r>
                      </m:fName>
                      <m:e>
                        <m:d>
                          <m:dPr>
                            <m:ctrlPr>
                              <a:rPr lang="zh-CN" altLang="zh-CN" sz="2400" b="1" i="1" kern="1050">
                                <a:effectLst/>
                                <a:latin typeface="Cambria Math" panose="02040503050406030204" pitchFamily="18" charset="0"/>
                                <a:ea typeface="Cambria Math" panose="02040503050406030204" pitchFamily="18" charset="0"/>
                              </a:rPr>
                            </m:ctrlPr>
                          </m:dPr>
                          <m:e>
                            <m:f>
                              <m:fPr>
                                <m:ctrlPr>
                                  <a:rPr lang="zh-CN" altLang="zh-CN" sz="2400" b="1" i="1" kern="1050">
                                    <a:effectLst/>
                                    <a:latin typeface="Cambria Math" panose="02040503050406030204" pitchFamily="18" charset="0"/>
                                    <a:ea typeface="Cambria Math" panose="02040503050406030204" pitchFamily="18" charset="0"/>
                                  </a:rPr>
                                </m:ctrlPr>
                              </m:fPr>
                              <m:num>
                                <m:r>
                                  <a:rPr lang="en-US" altLang="zh-CN" sz="2400" b="1" i="1" kern="1050">
                                    <a:effectLst/>
                                    <a:latin typeface="Cambria Math" panose="02040503050406030204" pitchFamily="18" charset="0"/>
                                    <a:ea typeface="宋体" panose="02010600030101010101" pitchFamily="2" charset="-122"/>
                                  </a:rPr>
                                  <m:t>−(</m:t>
                                </m:r>
                                <m:r>
                                  <a:rPr lang="en-US" altLang="zh-CN" sz="2400" b="1" i="1" kern="1050">
                                    <a:effectLst/>
                                    <a:latin typeface="Cambria Math" panose="02040503050406030204" pitchFamily="18" charset="0"/>
                                    <a:ea typeface="宋体" panose="02010600030101010101" pitchFamily="2" charset="-122"/>
                                  </a:rPr>
                                  <m:t>𝒁</m:t>
                                </m:r>
                                <m:r>
                                  <a:rPr lang="en-US" altLang="zh-CN" sz="2400" b="1" i="1" kern="1050">
                                    <a:effectLst/>
                                    <a:latin typeface="Cambria Math" panose="02040503050406030204" pitchFamily="18" charset="0"/>
                                    <a:ea typeface="宋体" panose="02010600030101010101" pitchFamily="2" charset="-122"/>
                                  </a:rPr>
                                  <m:t>−</m:t>
                                </m:r>
                                <m:sSub>
                                  <m:sSubPr>
                                    <m:ctrlPr>
                                      <a:rPr lang="zh-CN" altLang="zh-CN" sz="2400" b="1" i="1" kern="1050">
                                        <a:effectLst/>
                                        <a:latin typeface="Cambria Math" panose="02040503050406030204" pitchFamily="18" charset="0"/>
                                        <a:ea typeface="Cambria Math" panose="02040503050406030204" pitchFamily="18" charset="0"/>
                                      </a:rPr>
                                    </m:ctrlPr>
                                  </m:sSubPr>
                                  <m:e>
                                    <m:r>
                                      <a:rPr lang="en-US" altLang="zh-CN" sz="2400" b="1" i="1" kern="1050">
                                        <a:effectLst/>
                                        <a:latin typeface="Cambria Math" panose="02040503050406030204" pitchFamily="18" charset="0"/>
                                        <a:ea typeface="宋体" panose="02010600030101010101" pitchFamily="2" charset="-122"/>
                                      </a:rPr>
                                      <m:t>𝒗</m:t>
                                    </m:r>
                                  </m:e>
                                  <m:sub>
                                    <m:r>
                                      <a:rPr lang="en-US" altLang="zh-CN" sz="2400" b="1" i="1" kern="1050">
                                        <a:effectLst/>
                                        <a:latin typeface="Cambria Math" panose="02040503050406030204" pitchFamily="18" charset="0"/>
                                        <a:ea typeface="宋体" panose="02010600030101010101" pitchFamily="2" charset="-122"/>
                                      </a:rPr>
                                      <m:t>𝒊</m:t>
                                    </m:r>
                                  </m:sub>
                                </m:sSub>
                                <m:sSup>
                                  <m:sSupPr>
                                    <m:ctrlPr>
                                      <a:rPr lang="zh-CN" altLang="zh-CN" sz="2400" b="1" i="1" kern="1050">
                                        <a:effectLst/>
                                        <a:latin typeface="Cambria Math" panose="02040503050406030204" pitchFamily="18" charset="0"/>
                                        <a:ea typeface="Cambria Math" panose="02040503050406030204" pitchFamily="18" charset="0"/>
                                      </a:rPr>
                                    </m:ctrlPr>
                                  </m:sSupPr>
                                  <m:e>
                                    <m:r>
                                      <a:rPr lang="en-US" altLang="zh-CN" sz="2400" b="1" i="1" kern="1050">
                                        <a:effectLst/>
                                        <a:latin typeface="Cambria Math" panose="02040503050406030204" pitchFamily="18" charset="0"/>
                                        <a:ea typeface="宋体" panose="02010600030101010101" pitchFamily="2" charset="-122"/>
                                      </a:rPr>
                                      <m:t>)</m:t>
                                    </m:r>
                                  </m:e>
                                  <m:sup>
                                    <m:r>
                                      <a:rPr lang="en-US" altLang="zh-CN" sz="2400" b="1" i="1" kern="1050">
                                        <a:effectLst/>
                                        <a:latin typeface="Cambria Math" panose="02040503050406030204" pitchFamily="18" charset="0"/>
                                        <a:ea typeface="宋体" panose="02010600030101010101" pitchFamily="2" charset="-122"/>
                                      </a:rPr>
                                      <m:t>𝑻</m:t>
                                    </m:r>
                                  </m:sup>
                                </m:sSup>
                                <m:r>
                                  <a:rPr lang="en-US" altLang="zh-CN" sz="2400" b="1" i="1" kern="1050">
                                    <a:effectLst/>
                                    <a:latin typeface="Cambria Math" panose="02040503050406030204" pitchFamily="18" charset="0"/>
                                    <a:ea typeface="宋体" panose="02010600030101010101" pitchFamily="2" charset="-122"/>
                                  </a:rPr>
                                  <m:t>(</m:t>
                                </m:r>
                                <m:r>
                                  <a:rPr lang="en-US" altLang="zh-CN" sz="2400" b="1" i="1" kern="1050">
                                    <a:effectLst/>
                                    <a:latin typeface="Cambria Math" panose="02040503050406030204" pitchFamily="18" charset="0"/>
                                    <a:ea typeface="宋体" panose="02010600030101010101" pitchFamily="2" charset="-122"/>
                                  </a:rPr>
                                  <m:t>𝒁</m:t>
                                </m:r>
                                <m:r>
                                  <a:rPr lang="en-US" altLang="zh-CN" sz="2400" b="1" i="1" kern="1050">
                                    <a:effectLst/>
                                    <a:latin typeface="Cambria Math" panose="02040503050406030204" pitchFamily="18" charset="0"/>
                                    <a:ea typeface="宋体" panose="02010600030101010101" pitchFamily="2" charset="-122"/>
                                  </a:rPr>
                                  <m:t>−</m:t>
                                </m:r>
                                <m:sSub>
                                  <m:sSubPr>
                                    <m:ctrlPr>
                                      <a:rPr lang="zh-CN" altLang="zh-CN" sz="2400" b="1" i="1" kern="1050">
                                        <a:effectLst/>
                                        <a:latin typeface="Cambria Math" panose="02040503050406030204" pitchFamily="18" charset="0"/>
                                        <a:ea typeface="Cambria Math" panose="02040503050406030204" pitchFamily="18" charset="0"/>
                                      </a:rPr>
                                    </m:ctrlPr>
                                  </m:sSubPr>
                                  <m:e>
                                    <m:r>
                                      <a:rPr lang="en-US" altLang="zh-CN" sz="2400" b="1" i="1" kern="1050">
                                        <a:effectLst/>
                                        <a:latin typeface="Cambria Math" panose="02040503050406030204" pitchFamily="18" charset="0"/>
                                        <a:ea typeface="宋体" panose="02010600030101010101" pitchFamily="2" charset="-122"/>
                                      </a:rPr>
                                      <m:t>𝒗</m:t>
                                    </m:r>
                                  </m:e>
                                  <m:sub>
                                    <m:r>
                                      <a:rPr lang="en-US" altLang="zh-CN" sz="2400" b="1" i="1" kern="1050">
                                        <a:effectLst/>
                                        <a:latin typeface="Cambria Math" panose="02040503050406030204" pitchFamily="18" charset="0"/>
                                        <a:ea typeface="宋体" panose="02010600030101010101" pitchFamily="2" charset="-122"/>
                                      </a:rPr>
                                      <m:t>𝒊</m:t>
                                    </m:r>
                                  </m:sub>
                                </m:sSub>
                                <m:r>
                                  <a:rPr lang="en-US" altLang="zh-CN" sz="2400" b="1" i="1" kern="1050">
                                    <a:effectLst/>
                                    <a:latin typeface="Cambria Math" panose="02040503050406030204" pitchFamily="18" charset="0"/>
                                    <a:ea typeface="宋体" panose="02010600030101010101" pitchFamily="2" charset="-122"/>
                                  </a:rPr>
                                  <m:t>)</m:t>
                                </m:r>
                              </m:num>
                              <m:den>
                                <m:sSubSup>
                                  <m:sSubSupPr>
                                    <m:ctrlPr>
                                      <a:rPr lang="zh-CN" altLang="zh-CN" sz="2400" b="1" i="1" kern="1050">
                                        <a:effectLst/>
                                        <a:latin typeface="Cambria Math" panose="02040503050406030204" pitchFamily="18" charset="0"/>
                                        <a:ea typeface="Cambria Math" panose="02040503050406030204" pitchFamily="18" charset="0"/>
                                      </a:rPr>
                                    </m:ctrlPr>
                                  </m:sSubSupPr>
                                  <m:e>
                                    <m:r>
                                      <a:rPr lang="en-US" altLang="zh-CN" sz="2400" b="1" i="1" kern="1050">
                                        <a:effectLst/>
                                        <a:latin typeface="Cambria Math" panose="02040503050406030204" pitchFamily="18" charset="0"/>
                                        <a:ea typeface="宋体" panose="02010600030101010101" pitchFamily="2" charset="-122"/>
                                      </a:rPr>
                                      <m:t>𝝋</m:t>
                                    </m:r>
                                  </m:e>
                                  <m:sub>
                                    <m:r>
                                      <a:rPr lang="en-US" altLang="zh-CN" sz="2400" b="1" i="1" kern="1050">
                                        <a:effectLst/>
                                        <a:latin typeface="Cambria Math" panose="02040503050406030204" pitchFamily="18" charset="0"/>
                                        <a:ea typeface="宋体" panose="02010600030101010101" pitchFamily="2" charset="-122"/>
                                      </a:rPr>
                                      <m:t>𝒊</m:t>
                                    </m:r>
                                  </m:sub>
                                  <m:sup>
                                    <m:r>
                                      <a:rPr lang="en-US" altLang="zh-CN" sz="2400" b="1" i="1" kern="1050">
                                        <a:effectLst/>
                                        <a:latin typeface="Cambria Math" panose="02040503050406030204" pitchFamily="18" charset="0"/>
                                        <a:ea typeface="宋体" panose="02010600030101010101" pitchFamily="2" charset="-122"/>
                                      </a:rPr>
                                      <m:t>𝟐</m:t>
                                    </m:r>
                                  </m:sup>
                                </m:sSubSup>
                              </m:den>
                            </m:f>
                          </m:e>
                        </m:d>
                      </m:e>
                    </m:func>
                    <m:r>
                      <a:rPr lang="en-US" altLang="zh-CN" sz="2400" b="1" i="1" kern="1050">
                        <a:effectLst/>
                        <a:latin typeface="Cambria Math" panose="02040503050406030204" pitchFamily="18" charset="0"/>
                        <a:ea typeface="宋体" panose="02010600030101010101" pitchFamily="2" charset="-122"/>
                      </a:rPr>
                      <m:t>,</m:t>
                    </m:r>
                    <m:r>
                      <a:rPr lang="en-US" altLang="zh-CN" sz="2400" b="1" i="1" kern="1050">
                        <a:effectLst/>
                        <a:latin typeface="Cambria Math" panose="02040503050406030204" pitchFamily="18" charset="0"/>
                        <a:ea typeface="宋体" panose="02010600030101010101" pitchFamily="2" charset="-122"/>
                      </a:rPr>
                      <m:t>𝒊</m:t>
                    </m:r>
                    <m:r>
                      <a:rPr lang="en-US" altLang="zh-CN" sz="2400" b="1" i="1" kern="1050">
                        <a:effectLst/>
                        <a:latin typeface="Cambria Math" panose="02040503050406030204" pitchFamily="18" charset="0"/>
                        <a:ea typeface="宋体" panose="02010600030101010101" pitchFamily="2" charset="-122"/>
                      </a:rPr>
                      <m:t>=</m:t>
                    </m:r>
                    <m:r>
                      <a:rPr lang="en-US" altLang="zh-CN" sz="2400" b="1" i="1" kern="1050">
                        <a:effectLst/>
                        <a:latin typeface="Cambria Math" panose="02040503050406030204" pitchFamily="18" charset="0"/>
                        <a:ea typeface="宋体" panose="02010600030101010101" pitchFamily="2" charset="-122"/>
                      </a:rPr>
                      <m:t>𝟏</m:t>
                    </m:r>
                    <m:r>
                      <a:rPr lang="en-US" altLang="zh-CN" sz="2400" b="1" i="1" kern="1050">
                        <a:effectLst/>
                        <a:latin typeface="Cambria Math" panose="02040503050406030204" pitchFamily="18" charset="0"/>
                        <a:ea typeface="宋体" panose="02010600030101010101" pitchFamily="2" charset="-122"/>
                      </a:rPr>
                      <m:t>,</m:t>
                    </m:r>
                    <m:r>
                      <a:rPr lang="en-US" altLang="zh-CN" sz="2400" b="1" i="1" kern="1050">
                        <a:effectLst/>
                        <a:latin typeface="Cambria Math" panose="02040503050406030204" pitchFamily="18" charset="0"/>
                        <a:ea typeface="宋体" panose="02010600030101010101" pitchFamily="2" charset="-122"/>
                      </a:rPr>
                      <m:t>𝟐</m:t>
                    </m:r>
                    <m:r>
                      <a:rPr lang="en-US" altLang="zh-CN" sz="2400" b="1" i="1" kern="1050">
                        <a:effectLst/>
                        <a:latin typeface="Cambria Math" panose="02040503050406030204" pitchFamily="18" charset="0"/>
                        <a:ea typeface="宋体" panose="02010600030101010101" pitchFamily="2" charset="-122"/>
                      </a:rPr>
                      <m:t>,⋯,</m:t>
                    </m:r>
                    <m:r>
                      <a:rPr lang="en-US" altLang="zh-CN" sz="2400" b="1" i="1" kern="1050">
                        <a:effectLst/>
                        <a:latin typeface="Cambria Math" panose="02040503050406030204" pitchFamily="18" charset="0"/>
                        <a:ea typeface="宋体" panose="02010600030101010101" pitchFamily="2" charset="-122"/>
                      </a:rPr>
                      <m:t>𝒍</m:t>
                    </m:r>
                  </m:oMath>
                </a14:m>
                <a:r>
                  <a:rPr lang="en-US" altLang="zh-CN" sz="2400" b="1" kern="1050" dirty="0">
                    <a:effectLst/>
                    <a:latin typeface="微软雅黑" panose="020B0503020204020204" pitchFamily="34" charset="-122"/>
                    <a:ea typeface="微软雅黑" panose="020B0503020204020204" pitchFamily="34" charset="-122"/>
                  </a:rPr>
                  <a:t>	                   (7.29)</a:t>
                </a:r>
                <a:endParaRPr lang="zh-CN" altLang="zh-CN" sz="2400" b="1" kern="1050" dirty="0">
                  <a:effectLst/>
                  <a:latin typeface="微软雅黑" panose="020B0503020204020204" pitchFamily="34" charset="-122"/>
                  <a:ea typeface="微软雅黑" panose="020B0503020204020204" pitchFamily="34" charset="-122"/>
                </a:endParaRPr>
              </a:p>
              <a:p>
                <a:pPr algn="just">
                  <a:lnSpc>
                    <a:spcPct val="150000"/>
                  </a:lnSpc>
                </a:pPr>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𝒗</m:t>
                        </m:r>
                      </m:e>
                      <m:sub>
                        <m:r>
                          <a:rPr lang="en-US" altLang="zh-CN" sz="2400" b="1" i="1" kern="1000">
                            <a:effectLst/>
                            <a:latin typeface="Cambria Math" panose="02040503050406030204" pitchFamily="18" charset="0"/>
                            <a:ea typeface="宋体" panose="02010600030101010101" pitchFamily="2" charset="-122"/>
                          </a:rPr>
                          <m:t>𝒊</m:t>
                        </m:r>
                      </m:sub>
                    </m:sSub>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𝒗</m:t>
                        </m:r>
                      </m:e>
                      <m:sub>
                        <m:r>
                          <a:rPr lang="en-US" altLang="zh-CN" sz="2400" b="1" i="1" kern="1000">
                            <a:effectLst/>
                            <a:latin typeface="Cambria Math" panose="02040503050406030204" pitchFamily="18" charset="0"/>
                            <a:ea typeface="宋体" panose="02010600030101010101" pitchFamily="2" charset="-122"/>
                          </a:rPr>
                          <m:t>𝒊</m:t>
                        </m:r>
                        <m:r>
                          <a:rPr lang="en-US" altLang="zh-CN" sz="2400" b="1" i="1" kern="1000">
                            <a:effectLst/>
                            <a:latin typeface="Cambria Math" panose="02040503050406030204" pitchFamily="18" charset="0"/>
                            <a:ea typeface="宋体" panose="02010600030101010101" pitchFamily="2" charset="-122"/>
                          </a:rPr>
                          <m:t>𝟏</m:t>
                        </m:r>
                      </m:sub>
                    </m:sSub>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𝒗</m:t>
                        </m:r>
                      </m:e>
                      <m:sub>
                        <m:r>
                          <a:rPr lang="en-US" altLang="zh-CN" sz="2400" b="1" i="1" kern="1000">
                            <a:effectLst/>
                            <a:latin typeface="Cambria Math" panose="02040503050406030204" pitchFamily="18" charset="0"/>
                            <a:ea typeface="宋体" panose="02010600030101010101" pitchFamily="2" charset="-122"/>
                          </a:rPr>
                          <m:t>𝒊</m:t>
                        </m:r>
                        <m:r>
                          <a:rPr lang="en-US" altLang="zh-CN" sz="2400" b="1" i="1" kern="1000">
                            <a:effectLst/>
                            <a:latin typeface="Cambria Math" panose="02040503050406030204" pitchFamily="18" charset="0"/>
                            <a:ea typeface="宋体" panose="02010600030101010101" pitchFamily="2" charset="-122"/>
                          </a:rPr>
                          <m:t>𝟐</m:t>
                        </m:r>
                      </m:sub>
                    </m:sSub>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𝒗</m:t>
                        </m:r>
                      </m:e>
                      <m:sub>
                        <m:r>
                          <a:rPr lang="en-US" altLang="zh-CN" sz="2400" b="1" i="1" kern="1000">
                            <a:effectLst/>
                            <a:latin typeface="Cambria Math" panose="02040503050406030204" pitchFamily="18" charset="0"/>
                            <a:ea typeface="宋体" panose="02010600030101010101" pitchFamily="2" charset="-122"/>
                          </a:rPr>
                          <m:t>𝒊𝒏</m:t>
                        </m:r>
                      </m:sub>
                    </m:sSub>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m:t>
                        </m:r>
                      </m:e>
                      <m:sup>
                        <m:r>
                          <a:rPr lang="en-US" altLang="zh-CN" sz="2400" b="1" i="1" kern="1000">
                            <a:effectLst/>
                            <a:latin typeface="Cambria Math" panose="02040503050406030204" pitchFamily="18" charset="0"/>
                            <a:ea typeface="宋体" panose="02010600030101010101" pitchFamily="2" charset="-122"/>
                          </a:rPr>
                          <m:t>𝑻</m:t>
                        </m:r>
                      </m:sup>
                    </m:sSup>
                  </m:oMath>
                </a14:m>
                <a:r>
                  <a:rPr lang="zh-CN" altLang="zh-CN" sz="2400" b="1" kern="1000" dirty="0">
                    <a:effectLst/>
                    <a:latin typeface="微软雅黑" panose="020B0503020204020204" pitchFamily="34" charset="-122"/>
                    <a:ea typeface="微软雅黑" panose="020B0503020204020204" pitchFamily="34" charset="-122"/>
                  </a:rPr>
                  <a:t>是感受野的中心，</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𝝋</m:t>
                        </m:r>
                      </m:e>
                      <m:sub>
                        <m:r>
                          <a:rPr lang="en-US" altLang="zh-CN" sz="2400" b="1" i="1" kern="1000">
                            <a:effectLst/>
                            <a:latin typeface="Cambria Math" panose="02040503050406030204" pitchFamily="18" charset="0"/>
                            <a:ea typeface="宋体" panose="02010600030101010101" pitchFamily="2" charset="-122"/>
                          </a:rPr>
                          <m:t>𝒊</m:t>
                        </m:r>
                      </m:sub>
                    </m:sSub>
                  </m:oMath>
                </a14:m>
                <a:r>
                  <a:rPr lang="zh-CN" altLang="zh-CN" sz="2400" b="1" kern="1000" dirty="0">
                    <a:effectLst/>
                    <a:latin typeface="微软雅黑" panose="020B0503020204020204" pitchFamily="34" charset="-122"/>
                    <a:ea typeface="微软雅黑" panose="020B0503020204020204" pitchFamily="34" charset="-122"/>
                  </a:rPr>
                  <a:t>是高斯函数的宽度。</a:t>
                </a:r>
              </a:p>
              <a:p>
                <a:pPr algn="just"/>
                <a:r>
                  <a:rPr lang="zh-CN" altLang="zh-CN" sz="2400" b="1" kern="1000" dirty="0">
                    <a:effectLst/>
                    <a:latin typeface="微软雅黑" panose="020B0503020204020204" pitchFamily="34" charset="-122"/>
                    <a:ea typeface="微软雅黑" panose="020B0503020204020204" pitchFamily="34" charset="-122"/>
                  </a:rPr>
                  <a:t>众所周知，</a:t>
                </a:r>
                <a:r>
                  <a:rPr lang="en-US" altLang="zh-CN" sz="2400" b="1" kern="1000" dirty="0">
                    <a:effectLst/>
                    <a:latin typeface="微软雅黑" panose="020B0503020204020204" pitchFamily="34" charset="-122"/>
                    <a:ea typeface="微软雅黑" panose="020B0503020204020204" pitchFamily="34" charset="-122"/>
                  </a:rPr>
                  <a:t>RBF</a:t>
                </a:r>
                <a:r>
                  <a:rPr lang="zh-CN" altLang="zh-CN" sz="2400" b="1" kern="1000" dirty="0">
                    <a:effectLst/>
                    <a:latin typeface="微软雅黑" panose="020B0503020204020204" pitchFamily="34" charset="-122"/>
                    <a:ea typeface="微软雅黑" panose="020B0503020204020204" pitchFamily="34" charset="-122"/>
                  </a:rPr>
                  <a:t>神经网络可以将一个连续函数在一个紧集</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𝜴</m:t>
                        </m:r>
                      </m:e>
                      <m:sub>
                        <m:r>
                          <a:rPr lang="en-US" altLang="zh-CN" sz="2400" b="1" i="1" kern="1000">
                            <a:effectLst/>
                            <a:latin typeface="Cambria Math" panose="02040503050406030204" pitchFamily="18" charset="0"/>
                            <a:ea typeface="宋体" panose="02010600030101010101" pitchFamily="2" charset="-122"/>
                          </a:rPr>
                          <m:t>𝒁</m:t>
                        </m:r>
                      </m:sub>
                    </m:sSub>
                  </m:oMath>
                </a14:m>
                <a:r>
                  <a:rPr lang="zh-CN" altLang="zh-CN" sz="2400" b="1" kern="1000" dirty="0">
                    <a:effectLst/>
                    <a:latin typeface="微软雅黑" panose="020B0503020204020204" pitchFamily="34" charset="-122"/>
                    <a:ea typeface="微软雅黑" panose="020B0503020204020204" pitchFamily="34" charset="-122"/>
                  </a:rPr>
                  <a:t>内近似到任意期望的精度，如下所示</a:t>
                </a:r>
                <a:r>
                  <a:rPr lang="zh-CN" altLang="zh-CN" sz="1800" kern="1000" dirty="0">
                    <a:effectLst/>
                    <a:latin typeface="Times New Roman" panose="02020603050405020304" pitchFamily="18" charset="0"/>
                    <a:ea typeface="宋体" panose="02010600030101010101" pitchFamily="2" charset="-122"/>
                  </a:rPr>
                  <a:t>。</a:t>
                </a:r>
                <a:endParaRPr lang="en-US" altLang="zh-CN" sz="1800" kern="1000" dirty="0">
                  <a:effectLst/>
                  <a:latin typeface="Times New Roman" panose="02020603050405020304" pitchFamily="18" charset="0"/>
                  <a:ea typeface="宋体" panose="02010600030101010101" pitchFamily="2" charset="-122"/>
                </a:endParaRPr>
              </a:p>
              <a:p>
                <a:pPr indent="269875" algn="just">
                  <a:lnSpc>
                    <a:spcPct val="150000"/>
                  </a:lnSpc>
                </a:pPr>
                <a14:m>
                  <m:oMath xmlns:m="http://schemas.openxmlformats.org/officeDocument/2006/math">
                    <m:r>
                      <a:rPr lang="en-US" altLang="zh-CN" sz="2400" b="1" i="1" kern="1050" smtClean="0">
                        <a:effectLst/>
                        <a:latin typeface="Cambria Math" panose="02040503050406030204" pitchFamily="18" charset="0"/>
                        <a:ea typeface="宋体" panose="02010600030101010101" pitchFamily="2" charset="-122"/>
                      </a:rPr>
                      <m:t>𝒉</m:t>
                    </m:r>
                    <m:r>
                      <a:rPr lang="en-US" altLang="zh-CN" sz="2400" b="1" i="1" kern="1050" smtClean="0">
                        <a:effectLst/>
                        <a:latin typeface="Cambria Math" panose="02040503050406030204" pitchFamily="18" charset="0"/>
                        <a:ea typeface="宋体" panose="02010600030101010101" pitchFamily="2" charset="-122"/>
                      </a:rPr>
                      <m:t>(</m:t>
                    </m:r>
                    <m:r>
                      <a:rPr lang="en-US" altLang="zh-CN" sz="2400" b="1" i="1" kern="1050" smtClean="0">
                        <a:effectLst/>
                        <a:latin typeface="Cambria Math" panose="02040503050406030204" pitchFamily="18" charset="0"/>
                        <a:ea typeface="宋体" panose="02010600030101010101" pitchFamily="2" charset="-122"/>
                      </a:rPr>
                      <m:t>𝒁</m:t>
                    </m:r>
                    <m:r>
                      <a:rPr lang="en-US" altLang="zh-CN" sz="2400" b="1" i="1" kern="1050" smtClean="0">
                        <a:effectLst/>
                        <a:latin typeface="Cambria Math" panose="02040503050406030204" pitchFamily="18" charset="0"/>
                        <a:ea typeface="宋体" panose="02010600030101010101" pitchFamily="2" charset="-122"/>
                      </a:rPr>
                      <m:t>)=</m:t>
                    </m:r>
                    <m:sSup>
                      <m:sSupPr>
                        <m:ctrlPr>
                          <a:rPr lang="zh-CN" altLang="zh-CN" sz="2400" b="1" i="1" kern="1050">
                            <a:effectLst/>
                            <a:latin typeface="Cambria Math" panose="02040503050406030204" pitchFamily="18" charset="0"/>
                            <a:ea typeface="Cambria Math" panose="02040503050406030204" pitchFamily="18" charset="0"/>
                          </a:rPr>
                        </m:ctrlPr>
                      </m:sSupPr>
                      <m:e>
                        <m:r>
                          <a:rPr lang="en-US" altLang="zh-CN" sz="2400" b="1" i="1" kern="1050">
                            <a:effectLst/>
                            <a:latin typeface="Cambria Math" panose="02040503050406030204" pitchFamily="18" charset="0"/>
                            <a:ea typeface="宋体" panose="02010600030101010101" pitchFamily="2" charset="-122"/>
                          </a:rPr>
                          <m:t>𝑾</m:t>
                        </m:r>
                      </m:e>
                      <m:sup>
                        <m:r>
                          <a:rPr lang="zh-CN" altLang="en-US" sz="2400" b="1" i="1" kern="1050">
                            <a:effectLst/>
                            <a:latin typeface="Cambria Math" panose="02040503050406030204" pitchFamily="18" charset="0"/>
                            <a:ea typeface="MS Gothic" panose="020B0609070205080204" pitchFamily="49" charset="-128"/>
                            <a:cs typeface="MS Gothic" panose="020B0609070205080204" pitchFamily="49" charset="-128"/>
                          </a:rPr>
                          <m:t>∗</m:t>
                        </m:r>
                        <m:r>
                          <a:rPr lang="en-US" altLang="zh-CN" sz="2400" b="1" i="1" kern="1050">
                            <a:effectLst/>
                            <a:latin typeface="Cambria Math" panose="02040503050406030204" pitchFamily="18" charset="0"/>
                            <a:ea typeface="宋体" panose="02010600030101010101" pitchFamily="2" charset="-122"/>
                          </a:rPr>
                          <m:t>𝑻</m:t>
                        </m:r>
                      </m:sup>
                    </m:sSup>
                    <m:r>
                      <a:rPr lang="en-US" altLang="zh-CN" sz="2400" b="1" i="1" kern="1050">
                        <a:effectLst/>
                        <a:latin typeface="Cambria Math" panose="02040503050406030204" pitchFamily="18" charset="0"/>
                        <a:ea typeface="宋体" panose="02010600030101010101" pitchFamily="2" charset="-122"/>
                      </a:rPr>
                      <m:t>𝑺</m:t>
                    </m:r>
                    <m:r>
                      <a:rPr lang="en-US" altLang="zh-CN" sz="2400" b="1" i="1" kern="1050">
                        <a:effectLst/>
                        <a:latin typeface="Cambria Math" panose="02040503050406030204" pitchFamily="18" charset="0"/>
                        <a:ea typeface="宋体" panose="02010600030101010101" pitchFamily="2" charset="-122"/>
                      </a:rPr>
                      <m:t>(</m:t>
                    </m:r>
                    <m:r>
                      <a:rPr lang="en-US" altLang="zh-CN" sz="2400" b="1" i="1" kern="1050">
                        <a:effectLst/>
                        <a:latin typeface="Cambria Math" panose="02040503050406030204" pitchFamily="18" charset="0"/>
                        <a:ea typeface="宋体" panose="02010600030101010101" pitchFamily="2" charset="-122"/>
                      </a:rPr>
                      <m:t>𝒁</m:t>
                    </m:r>
                    <m:r>
                      <a:rPr lang="en-US" altLang="zh-CN" sz="2400" b="1" i="1" kern="1050">
                        <a:effectLst/>
                        <a:latin typeface="Cambria Math" panose="02040503050406030204" pitchFamily="18" charset="0"/>
                        <a:ea typeface="宋体" panose="02010600030101010101" pitchFamily="2" charset="-122"/>
                      </a:rPr>
                      <m:t>)+</m:t>
                    </m:r>
                    <m:r>
                      <a:rPr lang="en-US" altLang="zh-CN" sz="2400" b="1" i="1" kern="1050">
                        <a:effectLst/>
                        <a:latin typeface="Cambria Math" panose="02040503050406030204" pitchFamily="18" charset="0"/>
                        <a:ea typeface="宋体" panose="02010600030101010101" pitchFamily="2" charset="-122"/>
                      </a:rPr>
                      <m:t>𝜹</m:t>
                    </m:r>
                    <m:r>
                      <a:rPr lang="en-US" altLang="zh-CN" sz="2400" b="1" i="1" kern="1050">
                        <a:effectLst/>
                        <a:latin typeface="Cambria Math" panose="02040503050406030204" pitchFamily="18" charset="0"/>
                        <a:ea typeface="宋体" panose="02010600030101010101" pitchFamily="2" charset="-122"/>
                      </a:rPr>
                      <m:t>,∀</m:t>
                    </m:r>
                    <m:r>
                      <a:rPr lang="en-US" altLang="zh-CN" sz="2400" b="1" i="1" kern="1050">
                        <a:effectLst/>
                        <a:latin typeface="Cambria Math" panose="02040503050406030204" pitchFamily="18" charset="0"/>
                        <a:ea typeface="宋体" panose="02010600030101010101" pitchFamily="2" charset="-122"/>
                      </a:rPr>
                      <m:t>𝒁</m:t>
                    </m:r>
                    <m:r>
                      <a:rPr lang="zh-CN" altLang="zh-CN" sz="2400" b="1" i="1" kern="105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50">
                            <a:effectLst/>
                            <a:latin typeface="Cambria Math" panose="02040503050406030204" pitchFamily="18" charset="0"/>
                            <a:ea typeface="Cambria Math" panose="02040503050406030204" pitchFamily="18" charset="0"/>
                          </a:rPr>
                        </m:ctrlPr>
                      </m:sSubPr>
                      <m:e>
                        <m:r>
                          <a:rPr lang="en-US" altLang="zh-CN" sz="2400" b="1" i="1" kern="1050">
                            <a:effectLst/>
                            <a:latin typeface="Cambria Math" panose="02040503050406030204" pitchFamily="18" charset="0"/>
                            <a:ea typeface="宋体" panose="02010600030101010101" pitchFamily="2" charset="-122"/>
                          </a:rPr>
                          <m:t>𝜴</m:t>
                        </m:r>
                      </m:e>
                      <m:sub>
                        <m:r>
                          <a:rPr lang="en-US" altLang="zh-CN" sz="2400" b="1" i="1" kern="1050">
                            <a:effectLst/>
                            <a:latin typeface="Cambria Math" panose="02040503050406030204" pitchFamily="18" charset="0"/>
                            <a:ea typeface="宋体" panose="02010600030101010101" pitchFamily="2" charset="-122"/>
                          </a:rPr>
                          <m:t>𝒁</m:t>
                        </m:r>
                      </m:sub>
                    </m:sSub>
                  </m:oMath>
                </a14:m>
                <a:r>
                  <a:rPr lang="en-US" altLang="zh-CN" sz="2400" b="1" kern="1050" dirty="0">
                    <a:effectLst/>
                    <a:latin typeface="微软雅黑" panose="020B0503020204020204" pitchFamily="34" charset="-122"/>
                    <a:ea typeface="微软雅黑" panose="020B0503020204020204" pitchFamily="34" charset="-122"/>
                  </a:rPr>
                  <a:t>	                                        (7.30)</a:t>
                </a:r>
              </a:p>
              <a:p>
                <a:pPr algn="just">
                  <a:lnSpc>
                    <a:spcPct val="150000"/>
                  </a:lnSpc>
                </a:pPr>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𝑾</m:t>
                        </m:r>
                      </m:e>
                      <m:sup>
                        <m:r>
                          <a:rPr lang="en-US" altLang="zh-CN" sz="2400" b="1" i="1" kern="1000">
                            <a:effectLst/>
                            <a:latin typeface="Cambria Math" panose="02040503050406030204" pitchFamily="18" charset="0"/>
                            <a:ea typeface="宋体" panose="02010600030101010101" pitchFamily="2" charset="-122"/>
                          </a:rPr>
                          <m:t>∗</m:t>
                        </m:r>
                      </m:sup>
                    </m:sSup>
                  </m:oMath>
                </a14:m>
                <a:r>
                  <a:rPr lang="zh-CN" altLang="zh-CN" sz="2400" b="1" kern="1000" dirty="0">
                    <a:effectLst/>
                    <a:latin typeface="微软雅黑" panose="020B0503020204020204" pitchFamily="34" charset="-122"/>
                    <a:ea typeface="微软雅黑" panose="020B0503020204020204" pitchFamily="34" charset="-122"/>
                  </a:rPr>
                  <a:t>是理想最优权重，且</a:t>
                </a:r>
                <a14:m>
                  <m:oMath xmlns:m="http://schemas.openxmlformats.org/officeDocument/2006/math">
                    <m:d>
                      <m:dPr>
                        <m:begChr m:val="‖"/>
                        <m:endChr m:val="‖"/>
                        <m:ctrlPr>
                          <a:rPr lang="zh-CN" altLang="zh-CN" sz="2400" b="1" i="1" kern="1000">
                            <a:effectLst/>
                            <a:latin typeface="Cambria Math" panose="02040503050406030204" pitchFamily="18" charset="0"/>
                            <a:ea typeface="Cambria Math" panose="02040503050406030204" pitchFamily="18" charset="0"/>
                          </a:rPr>
                        </m:ctrlPr>
                      </m:dPr>
                      <m:e>
                        <m:r>
                          <a:rPr lang="en-US" altLang="zh-CN" sz="2400" b="1" i="1" kern="1000">
                            <a:effectLst/>
                            <a:latin typeface="Cambria Math" panose="02040503050406030204" pitchFamily="18" charset="0"/>
                            <a:ea typeface="宋体" panose="02010600030101010101" pitchFamily="2" charset="-122"/>
                          </a:rPr>
                          <m:t>𝜹</m:t>
                        </m:r>
                      </m:e>
                    </m:d>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𝜺</m:t>
                    </m:r>
                  </m:oMath>
                </a14:m>
                <a:r>
                  <a:rPr lang="zh-CN" altLang="zh-CN" sz="2400" b="1" kern="1000" dirty="0">
                    <a:effectLst/>
                    <a:latin typeface="微软雅黑" panose="020B0503020204020204" pitchFamily="34" charset="-122"/>
                    <a:ea typeface="微软雅黑" panose="020B0503020204020204" pitchFamily="34" charset="-122"/>
                  </a:rPr>
                  <a:t>是逼近误差，</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𝜺</m:t>
                    </m:r>
                    <m:r>
                      <a:rPr lang="en-US" altLang="zh-CN" sz="2400" b="1" i="1" kern="1000">
                        <a:effectLst/>
                        <a:latin typeface="Cambria Math" panose="02040503050406030204" pitchFamily="18" charset="0"/>
                        <a:ea typeface="宋体" panose="02010600030101010101" pitchFamily="2" charset="-122"/>
                      </a:rPr>
                      <m:t>&gt;</m:t>
                    </m:r>
                    <m:r>
                      <a:rPr lang="en-US" altLang="zh-CN" sz="2400" b="1" i="1" kern="1000">
                        <a:effectLst/>
                        <a:latin typeface="Cambria Math" panose="02040503050406030204" pitchFamily="18" charset="0"/>
                        <a:ea typeface="宋体" panose="02010600030101010101" pitchFamily="2" charset="-122"/>
                      </a:rPr>
                      <m:t>𝟎</m:t>
                    </m:r>
                  </m:oMath>
                </a14:m>
                <a:r>
                  <a:rPr lang="zh-CN" altLang="zh-CN" sz="2400" b="1" kern="1000" dirty="0">
                    <a:effectLst/>
                    <a:latin typeface="微软雅黑" panose="020B0503020204020204" pitchFamily="34" charset="-122"/>
                    <a:ea typeface="微软雅黑" panose="020B0503020204020204" pitchFamily="34" charset="-122"/>
                  </a:rPr>
                  <a:t>是一个常数。</a:t>
                </a:r>
              </a:p>
              <a:p>
                <a:pPr indent="269875" algn="just"/>
                <a:endParaRPr lang="zh-CN" altLang="zh-CN" sz="2400" b="1" kern="1050" dirty="0">
                  <a:effectLst/>
                  <a:latin typeface="微软雅黑" panose="020B0503020204020204" pitchFamily="34" charset="-122"/>
                  <a:ea typeface="微软雅黑" panose="020B0503020204020204" pitchFamily="34" charset="-122"/>
                </a:endParaRPr>
              </a:p>
              <a:p>
                <a:pPr indent="269875" algn="just"/>
                <a:endParaRPr lang="zh-CN" altLang="zh-CN" sz="1800" kern="1000" dirty="0">
                  <a:effectLst/>
                  <a:latin typeface="Times New Roman" panose="02020603050405020304" pitchFamily="18" charset="0"/>
                  <a:ea typeface="宋体" panose="02010600030101010101" pitchFamily="2" charset="-122"/>
                </a:endParaRPr>
              </a:p>
            </p:txBody>
          </p:sp>
        </mc:Choice>
        <mc:Fallback xmlns="">
          <p:sp>
            <p:nvSpPr>
              <p:cNvPr id="4" name="文本框 3">
                <a:extLst>
                  <a:ext uri="{FF2B5EF4-FFF2-40B4-BE49-F238E27FC236}">
                    <a16:creationId xmlns:a16="http://schemas.microsoft.com/office/drawing/2014/main" id="{68EA45A5-A51D-0F89-5FCD-88420E6B15CA}"/>
                  </a:ext>
                </a:extLst>
              </p:cNvPr>
              <p:cNvSpPr txBox="1">
                <a:spLocks noRot="1" noChangeAspect="1" noMove="1" noResize="1" noEditPoints="1" noAdjustHandles="1" noChangeArrowheads="1" noChangeShapeType="1" noTextEdit="1"/>
              </p:cNvSpPr>
              <p:nvPr/>
            </p:nvSpPr>
            <p:spPr>
              <a:xfrm>
                <a:off x="714376" y="1116285"/>
                <a:ext cx="10182224" cy="6050311"/>
              </a:xfrm>
              <a:prstGeom prst="rect">
                <a:avLst/>
              </a:prstGeom>
              <a:blipFill>
                <a:blip r:embed="rId3"/>
                <a:stretch>
                  <a:fillRect l="-898" t="-806" r="-898"/>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48683624-B6B3-2318-4E45-96A9CCDDF3A2}"/>
              </a:ext>
            </a:extLst>
          </p:cNvPr>
          <p:cNvSpPr txBox="1"/>
          <p:nvPr>
            <p:custDataLst>
              <p:tags r:id="rId1"/>
            </p:custDataLst>
          </p:nvPr>
        </p:nvSpPr>
        <p:spPr>
          <a:xfrm>
            <a:off x="1357313" y="128685"/>
            <a:ext cx="8158162" cy="954107"/>
          </a:xfrm>
          <a:prstGeom prst="rect">
            <a:avLst/>
          </a:prstGeom>
          <a:noFill/>
        </p:spPr>
        <p:txBody>
          <a:bodyPr wrap="square" rtlCol="0">
            <a:spAutoFit/>
          </a:bodyPr>
          <a:lstStyle/>
          <a:p>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状态信息完全已知情况下的</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CBCF619B-C6FC-0BD8-2D9C-B667CB067CFD}"/>
                  </a:ext>
                </a:extLst>
              </p:cNvPr>
              <p:cNvSpPr txBox="1"/>
              <p:nvPr/>
            </p:nvSpPr>
            <p:spPr>
              <a:xfrm>
                <a:off x="1009651" y="1247775"/>
                <a:ext cx="9363074" cy="1705532"/>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事实上，理想的神经网络权值矩阵</a:t>
                </a:r>
                <a14:m>
                  <m:oMath xmlns:m="http://schemas.openxmlformats.org/officeDocument/2006/math">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𝑾</m:t>
                        </m:r>
                      </m:e>
                      <m:sup>
                        <m:r>
                          <a:rPr lang="en-US" altLang="zh-CN" sz="2400" b="1" i="1" kern="1000">
                            <a:effectLst/>
                            <a:latin typeface="Cambria Math" panose="02040503050406030204" pitchFamily="18" charset="0"/>
                            <a:ea typeface="宋体" panose="02010600030101010101" pitchFamily="2" charset="-122"/>
                          </a:rPr>
                          <m:t>∗</m:t>
                        </m:r>
                      </m:sup>
                    </m:sSup>
                  </m:oMath>
                </a14:m>
                <a:r>
                  <a:rPr lang="zh-CN" altLang="zh-CN" sz="2400" b="1" kern="1000" dirty="0">
                    <a:effectLst/>
                    <a:latin typeface="微软雅黑" panose="020B0503020204020204" pitchFamily="34" charset="-122"/>
                    <a:ea typeface="微软雅黑" panose="020B0503020204020204" pitchFamily="34" charset="-122"/>
                  </a:rPr>
                  <a:t>只是一个用于分析的“人工”量，需要在控制设计中进行估计。</a:t>
                </a:r>
                <a14:m>
                  <m:oMath xmlns:m="http://schemas.openxmlformats.org/officeDocument/2006/math">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𝑾</m:t>
                        </m:r>
                      </m:e>
                      <m:sup>
                        <m:r>
                          <a:rPr lang="zh-CN" altLang="en-US" sz="2400" b="1" i="1" kern="1000">
                            <a:effectLst/>
                            <a:latin typeface="Cambria Math" panose="02040503050406030204" pitchFamily="18" charset="0"/>
                            <a:ea typeface="MS Gothic" panose="020B0609070205080204" pitchFamily="49" charset="-128"/>
                            <a:cs typeface="MS Gothic" panose="020B0609070205080204" pitchFamily="49" charset="-128"/>
                          </a:rPr>
                          <m:t>∗</m:t>
                        </m:r>
                      </m:sup>
                    </m:sSup>
                  </m:oMath>
                </a14:m>
                <a:r>
                  <a:rPr lang="zh-CN" altLang="zh-CN" sz="2400" b="1" kern="1000" dirty="0">
                    <a:effectLst/>
                    <a:latin typeface="微软雅黑" panose="020B0503020204020204" pitchFamily="34" charset="-122"/>
                    <a:ea typeface="微软雅黑" panose="020B0503020204020204" pitchFamily="34" charset="-122"/>
                  </a:rPr>
                  <a:t>被定义为</a:t>
                </a:r>
              </a:p>
              <a:p>
                <a:pPr algn="just">
                  <a:lnSpc>
                    <a:spcPct val="150000"/>
                  </a:lnSpc>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𝑾</m:t>
                        </m:r>
                      </m:e>
                      <m:sup>
                        <m:r>
                          <a:rPr lang="zh-CN" altLang="en-US" sz="2000" b="1" i="1" kern="1050">
                            <a:effectLst/>
                            <a:latin typeface="Cambria Math" panose="02040503050406030204" pitchFamily="18" charset="0"/>
                            <a:ea typeface="MS Gothic" panose="020B0609070205080204" pitchFamily="49" charset="-128"/>
                            <a:cs typeface="MS Gothic" panose="020B0609070205080204" pitchFamily="49" charset="-128"/>
                          </a:rPr>
                          <m:t>∗</m:t>
                        </m:r>
                      </m:sup>
                    </m:sSup>
                    <m:r>
                      <a:rPr lang="zh-CN" altLang="zh-CN" sz="2000" b="1" i="1" kern="1050">
                        <a:effectLst/>
                        <a:latin typeface="Cambria Math" panose="02040503050406030204" pitchFamily="18" charset="0"/>
                        <a:ea typeface="MS Gothic" panose="020B0609070205080204" pitchFamily="49" charset="-128"/>
                        <a:cs typeface="MS Gothic" panose="020B0609070205080204" pitchFamily="49" charset="-128"/>
                      </a:rPr>
                      <m:t>≜</m:t>
                    </m:r>
                    <m:func>
                      <m:funcPr>
                        <m:ctrlPr>
                          <a:rPr lang="zh-CN" altLang="zh-CN" sz="2000" b="1" i="1" kern="1050">
                            <a:effectLst/>
                            <a:latin typeface="Cambria Math" panose="02040503050406030204" pitchFamily="18" charset="0"/>
                            <a:ea typeface="Cambria Math" panose="02040503050406030204" pitchFamily="18" charset="0"/>
                          </a:rPr>
                        </m:ctrlPr>
                      </m:funcPr>
                      <m:fName>
                        <m:r>
                          <a:rPr lang="en-US" altLang="zh-CN" sz="2000" b="1" i="1" kern="1050">
                            <a:effectLst/>
                            <a:latin typeface="Cambria Math" panose="02040503050406030204" pitchFamily="18" charset="0"/>
                            <a:ea typeface="宋体" panose="02010600030101010101" pitchFamily="2" charset="-122"/>
                          </a:rPr>
                          <m:t>𝒂𝒓𝒈</m:t>
                        </m:r>
                      </m:fName>
                      <m:e>
                        <m:limLow>
                          <m:limLowPr>
                            <m:ctrlPr>
                              <a:rPr lang="zh-CN" altLang="zh-CN" sz="2000" b="1" i="1" kern="1050">
                                <a:effectLst/>
                                <a:latin typeface="Cambria Math" panose="02040503050406030204" pitchFamily="18" charset="0"/>
                                <a:ea typeface="Cambria Math" panose="02040503050406030204" pitchFamily="18" charset="0"/>
                              </a:rPr>
                            </m:ctrlPr>
                          </m:limLowPr>
                          <m:e>
                            <m:r>
                              <a:rPr lang="en-US" altLang="zh-CN" sz="2000" b="1" i="1" kern="1050">
                                <a:effectLst/>
                                <a:latin typeface="Cambria Math" panose="02040503050406030204" pitchFamily="18" charset="0"/>
                                <a:ea typeface="宋体" panose="02010600030101010101" pitchFamily="2" charset="-122"/>
                              </a:rPr>
                              <m:t>𝒎𝒊𝒏</m:t>
                            </m:r>
                          </m:e>
                          <m:lim>
                            <m:r>
                              <a:rPr lang="en-US" altLang="zh-CN" sz="2000" b="1" i="1" kern="1050">
                                <a:effectLst/>
                                <a:latin typeface="Cambria Math" panose="02040503050406030204" pitchFamily="18" charset="0"/>
                                <a:ea typeface="宋体" panose="02010600030101010101" pitchFamily="2" charset="-122"/>
                              </a:rPr>
                              <m:t>𝑾</m:t>
                            </m:r>
                            <m:r>
                              <a:rPr lang="zh-CN" altLang="zh-CN" sz="2000" b="1" i="1" kern="105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𝑹</m:t>
                                </m:r>
                              </m:e>
                              <m:sup>
                                <m:r>
                                  <a:rPr lang="en-US" altLang="zh-CN" sz="2000" b="1" i="1" kern="1050">
                                    <a:effectLst/>
                                    <a:latin typeface="Cambria Math" panose="02040503050406030204" pitchFamily="18" charset="0"/>
                                    <a:ea typeface="宋体" panose="02010600030101010101" pitchFamily="2" charset="-122"/>
                                  </a:rPr>
                                  <m:t>𝒍</m:t>
                                </m:r>
                              </m:sup>
                            </m:sSup>
                          </m:lim>
                        </m:limLow>
                      </m:e>
                    </m:func>
                    <m:d>
                      <m:dPr>
                        <m:begChr m:val="{"/>
                        <m:endChr m:val="}"/>
                        <m:ctrlPr>
                          <a:rPr lang="zh-CN" altLang="zh-CN" sz="2000" b="1" i="1" kern="1050">
                            <a:effectLst/>
                            <a:latin typeface="Cambria Math" panose="02040503050406030204" pitchFamily="18" charset="0"/>
                            <a:ea typeface="Cambria Math" panose="02040503050406030204" pitchFamily="18" charset="0"/>
                          </a:rPr>
                        </m:ctrlPr>
                      </m:dPr>
                      <m:e>
                        <m:limLow>
                          <m:limLowPr>
                            <m:ctrlPr>
                              <a:rPr lang="zh-CN" altLang="zh-CN" sz="2000" b="1" i="1" kern="1050">
                                <a:effectLst/>
                                <a:latin typeface="Cambria Math" panose="02040503050406030204" pitchFamily="18" charset="0"/>
                                <a:ea typeface="Cambria Math" panose="02040503050406030204" pitchFamily="18" charset="0"/>
                              </a:rPr>
                            </m:ctrlPr>
                          </m:limLowPr>
                          <m:e>
                            <m:r>
                              <a:rPr lang="en-US" altLang="zh-CN" sz="2000" b="1" i="1" kern="1050">
                                <a:effectLst/>
                                <a:latin typeface="Cambria Math" panose="02040503050406030204" pitchFamily="18" charset="0"/>
                                <a:ea typeface="宋体" panose="02010600030101010101" pitchFamily="2" charset="-122"/>
                              </a:rPr>
                              <m:t>𝒔𝒖𝒑</m:t>
                            </m:r>
                          </m:e>
                          <m:lim>
                            <m:r>
                              <a:rPr lang="en-US" altLang="zh-CN" sz="2000" b="1" i="1" kern="1050">
                                <a:effectLst/>
                                <a:latin typeface="Cambria Math" panose="02040503050406030204" pitchFamily="18" charset="0"/>
                                <a:ea typeface="宋体" panose="02010600030101010101" pitchFamily="2" charset="-122"/>
                              </a:rPr>
                              <m:t>𝒁</m:t>
                            </m:r>
                            <m:r>
                              <a:rPr lang="zh-CN" altLang="zh-CN" sz="2000" b="1" i="1" kern="1050">
                                <a:effectLst/>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𝜴</m:t>
                                </m:r>
                              </m:e>
                              <m:sub>
                                <m:r>
                                  <a:rPr lang="en-US" altLang="zh-CN" sz="2000" b="1" i="1" kern="1050">
                                    <a:effectLst/>
                                    <a:latin typeface="Cambria Math" panose="02040503050406030204" pitchFamily="18" charset="0"/>
                                    <a:ea typeface="宋体" panose="02010600030101010101" pitchFamily="2" charset="-122"/>
                                  </a:rPr>
                                  <m:t>𝒁</m:t>
                                </m:r>
                              </m:sub>
                            </m:sSub>
                          </m:lim>
                        </m:limLow>
                        <m:d>
                          <m:dPr>
                            <m:begChr m:val="|"/>
                            <m:endChr m:val="|"/>
                            <m:ctrlPr>
                              <a:rPr lang="zh-CN" altLang="zh-CN" sz="2000" b="1" i="1" kern="1050">
                                <a:effectLst/>
                                <a:latin typeface="Cambria Math" panose="02040503050406030204" pitchFamily="18" charset="0"/>
                                <a:ea typeface="Cambria Math" panose="02040503050406030204" pitchFamily="18" charset="0"/>
                              </a:rPr>
                            </m:ctrlPr>
                          </m:dPr>
                          <m:e>
                            <m:r>
                              <a:rPr lang="en-US" altLang="zh-CN" sz="2000" b="1" i="1" kern="1050">
                                <a:effectLst/>
                                <a:latin typeface="Cambria Math" panose="02040503050406030204" pitchFamily="18" charset="0"/>
                                <a:ea typeface="宋体" panose="02010600030101010101" pitchFamily="2" charset="-122"/>
                              </a:rPr>
                              <m:t>𝒉</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𝒁</m:t>
                            </m:r>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𝑾</m:t>
                                </m:r>
                              </m:e>
                              <m:sup>
                                <m:r>
                                  <a:rPr lang="en-US" altLang="zh-CN" sz="2000" b="1" i="1" kern="1050">
                                    <a:effectLst/>
                                    <a:latin typeface="Cambria Math" panose="02040503050406030204" pitchFamily="18" charset="0"/>
                                    <a:ea typeface="宋体" panose="02010600030101010101" pitchFamily="2" charset="-122"/>
                                  </a:rPr>
                                  <m:t>𝑻</m:t>
                                </m:r>
                              </m:sup>
                            </m:sSup>
                            <m:r>
                              <a:rPr lang="en-US" altLang="zh-CN" sz="2000" b="1" i="1" kern="1050">
                                <a:effectLst/>
                                <a:latin typeface="Cambria Math" panose="02040503050406030204" pitchFamily="18" charset="0"/>
                                <a:ea typeface="宋体" panose="02010600030101010101" pitchFamily="2" charset="-122"/>
                              </a:rPr>
                              <m:t>𝑺</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𝒁</m:t>
                            </m:r>
                            <m:r>
                              <a:rPr lang="en-US" altLang="zh-CN" sz="2000" b="1" i="1" kern="1050">
                                <a:effectLst/>
                                <a:latin typeface="Cambria Math" panose="02040503050406030204" pitchFamily="18" charset="0"/>
                                <a:ea typeface="宋体" panose="02010600030101010101" pitchFamily="2" charset="-122"/>
                              </a:rPr>
                              <m:t>)</m:t>
                            </m:r>
                          </m:e>
                        </m:d>
                      </m:e>
                    </m:d>
                  </m:oMath>
                </a14:m>
                <a:r>
                  <a:rPr lang="en-US" altLang="zh-CN" sz="2000" b="1" kern="1050" dirty="0">
                    <a:effectLst/>
                    <a:latin typeface="微软雅黑" panose="020B0503020204020204" pitchFamily="34" charset="-122"/>
                    <a:ea typeface="微软雅黑" panose="020B0503020204020204" pitchFamily="34" charset="-122"/>
                  </a:rPr>
                  <a:t>	                                 (7.31)</a:t>
                </a:r>
                <a:endParaRPr lang="zh-CN" altLang="zh-CN" sz="2000" b="1" kern="1050" dirty="0">
                  <a:effectLst/>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CBCF619B-C6FC-0BD8-2D9C-B667CB067CFD}"/>
                  </a:ext>
                </a:extLst>
              </p:cNvPr>
              <p:cNvSpPr txBox="1">
                <a:spLocks noRot="1" noChangeAspect="1" noMove="1" noResize="1" noEditPoints="1" noAdjustHandles="1" noChangeArrowheads="1" noChangeShapeType="1" noTextEdit="1"/>
              </p:cNvSpPr>
              <p:nvPr/>
            </p:nvSpPr>
            <p:spPr>
              <a:xfrm>
                <a:off x="1009651" y="1247775"/>
                <a:ext cx="9363074" cy="1705532"/>
              </a:xfrm>
              <a:prstGeom prst="rect">
                <a:avLst/>
              </a:prstGeom>
              <a:blipFill>
                <a:blip r:embed="rId3"/>
                <a:stretch>
                  <a:fillRect l="-1042" t="-2867" r="-9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B6A7B2F-F6CD-1F42-C8C5-96F7F8731334}"/>
                  </a:ext>
                </a:extLst>
              </p:cNvPr>
              <p:cNvSpPr txBox="1"/>
              <p:nvPr/>
            </p:nvSpPr>
            <p:spPr>
              <a:xfrm>
                <a:off x="933451" y="3079739"/>
                <a:ext cx="9877424" cy="2255105"/>
              </a:xfrm>
              <a:prstGeom prst="rect">
                <a:avLst/>
              </a:prstGeom>
              <a:noFill/>
            </p:spPr>
            <p:txBody>
              <a:bodyPr wrap="square">
                <a:spAutoFit/>
              </a:bodyPr>
              <a:lstStyle/>
              <a:p>
                <a:pPr algn="just">
                  <a:lnSpc>
                    <a:spcPct val="150000"/>
                  </a:lnSpc>
                </a:pPr>
                <a:r>
                  <a:rPr lang="zh-CN" altLang="zh-CN" sz="2400" b="1" kern="1000" dirty="0">
                    <a:effectLst/>
                    <a:latin typeface="微软雅黑" panose="020B0503020204020204" pitchFamily="34" charset="-122"/>
                    <a:ea typeface="微软雅黑" panose="020B0503020204020204" pitchFamily="34" charset="-122"/>
                  </a:rPr>
                  <a:t>当机器人的动力学方程考虑外界时变扰动时，则可以写成如下的形式</a:t>
                </a:r>
              </a:p>
              <a:p>
                <a:pPr algn="just">
                  <a:lnSpc>
                    <a:spcPct val="150000"/>
                  </a:lnSpc>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000" b="1" i="1" kern="1050" smtClean="0">
                        <a:effectLst/>
                        <a:latin typeface="Cambria Math" panose="02040503050406030204" pitchFamily="18" charset="0"/>
                        <a:ea typeface="宋体" panose="02010600030101010101" pitchFamily="2" charset="-122"/>
                      </a:rPr>
                      <m:t>𝑴</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𝜽</m:t>
                        </m:r>
                      </m:e>
                    </m:acc>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𝑪</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𝜽</m:t>
                        </m:r>
                      </m:e>
                    </m:acc>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𝜽</m:t>
                        </m:r>
                      </m:e>
                    </m:acc>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𝑮</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𝝉</m:t>
                    </m:r>
                    <m:r>
                      <a:rPr lang="en-US" altLang="zh-CN" sz="2000" b="1" i="1" kern="1050" smtClean="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smtClean="0">
                            <a:effectLst/>
                            <a:latin typeface="Cambria Math" panose="02040503050406030204" pitchFamily="18" charset="0"/>
                            <a:ea typeface="宋体" panose="02010600030101010101" pitchFamily="2" charset="-122"/>
                          </a:rPr>
                          <m:t>𝑱</m:t>
                        </m:r>
                      </m:e>
                      <m:sup>
                        <m:r>
                          <a:rPr lang="en-US" altLang="zh-CN" sz="2000" b="1" i="1" kern="1050" smtClean="0">
                            <a:effectLst/>
                            <a:latin typeface="Cambria Math" panose="02040503050406030204" pitchFamily="18" charset="0"/>
                            <a:ea typeface="宋体" panose="02010600030101010101" pitchFamily="2" charset="-122"/>
                          </a:rPr>
                          <m:t>𝑻</m:t>
                        </m:r>
                      </m:sup>
                    </m:sSup>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𝒇</m:t>
                    </m:r>
                  </m:oMath>
                </a14:m>
                <a:r>
                  <a:rPr lang="en-US" altLang="zh-CN" sz="2000" b="1" kern="1050" dirty="0">
                    <a:effectLst/>
                    <a:latin typeface="微软雅黑" panose="020B0503020204020204" pitchFamily="34" charset="-122"/>
                    <a:ea typeface="微软雅黑" panose="020B0503020204020204" pitchFamily="34" charset="-122"/>
                  </a:rPr>
                  <a:t>	                                   (7.32)</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r>
                      <a:rPr lang="en-US" altLang="zh-CN" sz="2400" b="1" i="1" kern="1000" smtClean="0">
                        <a:effectLst/>
                        <a:latin typeface="Cambria Math" panose="02040503050406030204" pitchFamily="18" charset="0"/>
                        <a:ea typeface="宋体" panose="02010600030101010101" pitchFamily="2" charset="-122"/>
                      </a:rPr>
                      <m:t>𝒇</m:t>
                    </m:r>
                  </m:oMath>
                </a14:m>
                <a:r>
                  <a:rPr lang="zh-CN" altLang="zh-CN" sz="2400" b="1" kern="1000" dirty="0">
                    <a:effectLst/>
                    <a:latin typeface="微软雅黑" panose="020B0503020204020204" pitchFamily="34" charset="-122"/>
                    <a:ea typeface="微软雅黑" panose="020B0503020204020204" pitchFamily="34" charset="-122"/>
                  </a:rPr>
                  <a:t>为机器人受到的外界扰动。令</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𝒙</m:t>
                        </m:r>
                      </m:e>
                      <m:sub>
                        <m:r>
                          <a:rPr lang="en-US" altLang="zh-CN" sz="2400" b="1" i="1" kern="1000" smtClean="0">
                            <a:effectLst/>
                            <a:latin typeface="Cambria Math" panose="02040503050406030204" pitchFamily="18" charset="0"/>
                            <a:ea typeface="宋体" panose="02010600030101010101" pitchFamily="2" charset="-122"/>
                          </a:rPr>
                          <m:t>𝟏</m:t>
                        </m:r>
                      </m:sub>
                    </m:sSub>
                    <m:r>
                      <a:rPr lang="en-US" altLang="zh-CN" sz="2400" b="1" i="1" kern="1000" smtClean="0">
                        <a:effectLst/>
                        <a:latin typeface="Cambria Math" panose="02040503050406030204" pitchFamily="18" charset="0"/>
                        <a:ea typeface="宋体" panose="02010600030101010101" pitchFamily="2" charset="-122"/>
                      </a:rPr>
                      <m:t>=</m:t>
                    </m:r>
                    <m:r>
                      <a:rPr lang="en-US" altLang="zh-CN" sz="2400" b="1" i="1" kern="1000" smtClean="0">
                        <a:effectLst/>
                        <a:latin typeface="Cambria Math" panose="02040503050406030204" pitchFamily="18" charset="0"/>
                        <a:ea typeface="宋体" panose="02010600030101010101" pitchFamily="2" charset="-122"/>
                      </a:rPr>
                      <m:t>𝜽</m:t>
                    </m:r>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𝒙</m:t>
                        </m:r>
                      </m:e>
                      <m:sub>
                        <m:r>
                          <a:rPr lang="en-US" altLang="zh-CN" sz="2400" b="1" i="1" kern="1000" smtClean="0">
                            <a:effectLst/>
                            <a:latin typeface="Cambria Math" panose="02040503050406030204" pitchFamily="18" charset="0"/>
                            <a:ea typeface="宋体" panose="02010600030101010101" pitchFamily="2" charset="-122"/>
                          </a:rPr>
                          <m:t>𝟐</m:t>
                        </m:r>
                      </m:sub>
                    </m:sSub>
                    <m:r>
                      <a:rPr lang="en-US" altLang="zh-CN" sz="2400" b="1" i="1" kern="1000" smtClean="0">
                        <a:effectLst/>
                        <a:latin typeface="Cambria Math" panose="02040503050406030204" pitchFamily="18" charset="0"/>
                        <a:ea typeface="宋体" panose="02010600030101010101" pitchFamily="2" charset="-122"/>
                      </a:rPr>
                      <m:t>=</m:t>
                    </m:r>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smtClean="0">
                            <a:effectLst/>
                            <a:latin typeface="Cambria Math" panose="02040503050406030204" pitchFamily="18" charset="0"/>
                            <a:ea typeface="宋体" panose="02010600030101010101" pitchFamily="2" charset="-122"/>
                          </a:rPr>
                          <m:t>𝜽</m:t>
                        </m:r>
                      </m:e>
                    </m:acc>
                  </m:oMath>
                </a14:m>
                <a:r>
                  <a:rPr lang="zh-CN" altLang="zh-CN" sz="2400" b="1" kern="1000" dirty="0">
                    <a:effectLst/>
                    <a:latin typeface="微软雅黑" panose="020B0503020204020204" pitchFamily="34" charset="-122"/>
                    <a:ea typeface="微软雅黑" panose="020B0503020204020204" pitchFamily="34" charset="-122"/>
                  </a:rPr>
                  <a:t>，且</a:t>
                </a:r>
              </a:p>
              <a:p>
                <a:pPr algn="just">
                  <a:lnSpc>
                    <a:spcPct val="150000"/>
                  </a:lnSpc>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endParaRPr lang="zh-CN" altLang="en-US" sz="2400" b="1" dirty="0">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2B6A7B2F-F6CD-1F42-C8C5-96F7F8731334}"/>
                  </a:ext>
                </a:extLst>
              </p:cNvPr>
              <p:cNvSpPr txBox="1">
                <a:spLocks noRot="1" noChangeAspect="1" noMove="1" noResize="1" noEditPoints="1" noAdjustHandles="1" noChangeArrowheads="1" noChangeShapeType="1" noTextEdit="1"/>
              </p:cNvSpPr>
              <p:nvPr/>
            </p:nvSpPr>
            <p:spPr>
              <a:xfrm>
                <a:off x="933451" y="3079739"/>
                <a:ext cx="9877424" cy="2255105"/>
              </a:xfrm>
              <a:prstGeom prst="rect">
                <a:avLst/>
              </a:prstGeom>
              <a:blipFill>
                <a:blip r:embed="rId4"/>
                <a:stretch>
                  <a:fillRect l="-926"/>
                </a:stretch>
              </a:blipFill>
            </p:spPr>
            <p:txBody>
              <a:bodyPr/>
              <a:lstStyle/>
              <a:p>
                <a:r>
                  <a:rPr lang="zh-CN" altLang="en-US">
                    <a:noFill/>
                  </a:rPr>
                  <a:t> </a:t>
                </a:r>
              </a:p>
            </p:txBody>
          </p:sp>
        </mc:Fallback>
      </mc:AlternateContent>
      <p:grpSp>
        <p:nvGrpSpPr>
          <p:cNvPr id="7" name="组合 19">
            <a:extLst>
              <a:ext uri="{FF2B5EF4-FFF2-40B4-BE49-F238E27FC236}">
                <a16:creationId xmlns:a16="http://schemas.microsoft.com/office/drawing/2014/main" id="{B12421E7-9DEE-A6E1-2662-3541BB51EB26}"/>
              </a:ext>
            </a:extLst>
          </p:cNvPr>
          <p:cNvGrpSpPr>
            <a:grpSpLocks/>
          </p:cNvGrpSpPr>
          <p:nvPr/>
        </p:nvGrpSpPr>
        <p:grpSpPr bwMode="auto">
          <a:xfrm>
            <a:off x="1733548" y="4949803"/>
            <a:ext cx="9620251" cy="1276350"/>
            <a:chOff x="1382824" y="4365104"/>
            <a:chExt cx="5605166" cy="1275960"/>
          </a:xfrm>
        </p:grpSpPr>
        <mc:AlternateContent xmlns:mc="http://schemas.openxmlformats.org/markup-compatibility/2006" xmlns:a14="http://schemas.microsoft.com/office/drawing/2010/main">
          <mc:Choice Requires="a14">
            <p:sp>
              <p:nvSpPr>
                <p:cNvPr id="8" name="对象 7">
                  <a:extLst>
                    <a:ext uri="{FF2B5EF4-FFF2-40B4-BE49-F238E27FC236}">
                      <a16:creationId xmlns:a16="http://schemas.microsoft.com/office/drawing/2014/main" id="{11D31CFC-30F0-ACF5-3DD7-F7A1797D3D7E}"/>
                    </a:ext>
                  </a:extLst>
                </p:cNvPr>
                <p:cNvSpPr txBox="1"/>
                <p:nvPr/>
              </p:nvSpPr>
              <p:spPr bwMode="auto">
                <a:xfrm>
                  <a:off x="1757402" y="4365104"/>
                  <a:ext cx="5230588" cy="504671"/>
                </a:xfrm>
                <a:prstGeom prst="rect">
                  <a:avLst/>
                </a:prstGeom>
                <a:solidFill>
                  <a:schemeClr val="bg1"/>
                </a:solidFill>
                <a:ln>
                  <a:solidFill>
                    <a:schemeClr val="bg1"/>
                  </a:solidFill>
                </a:ln>
              </p:spPr>
              <p:txBody>
                <a:bodyPr>
                  <a:normAutofit/>
                </a:bodyPr>
                <a:lstStyle/>
                <a:p>
                  <a14:m>
                    <m:oMath xmlns:m="http://schemas.openxmlformats.org/officeDocument/2006/math">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𝒙</m:t>
                              </m:r>
                            </m:e>
                          </m:acc>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𝟐</m:t>
                          </m:r>
                        </m:sub>
                      </m:sSub>
                    </m:oMath>
                  </a14:m>
                  <a:r>
                    <a:rPr lang="en-US" altLang="zh-CN" sz="2000" b="1" kern="1050" dirty="0">
                      <a:latin typeface="微软雅黑" panose="020B0503020204020204" pitchFamily="34" charset="-122"/>
                      <a:ea typeface="微软雅黑" panose="020B0503020204020204" pitchFamily="34" charset="-122"/>
                    </a:rPr>
                    <a:t>                                                                             (7.33)</a:t>
                  </a:r>
                  <a:endParaRPr lang="zh-CN" altLang="en-US" sz="2000" dirty="0"/>
                </a:p>
              </p:txBody>
            </p:sp>
          </mc:Choice>
          <mc:Fallback xmlns="">
            <p:sp>
              <p:nvSpPr>
                <p:cNvPr id="8" name="对象 7">
                  <a:extLst>
                    <a:ext uri="{FF2B5EF4-FFF2-40B4-BE49-F238E27FC236}">
                      <a16:creationId xmlns:a16="http://schemas.microsoft.com/office/drawing/2014/main" id="{11D31CFC-30F0-ACF5-3DD7-F7A1797D3D7E}"/>
                    </a:ext>
                  </a:extLst>
                </p:cNvPr>
                <p:cNvSpPr txBox="1">
                  <a:spLocks noRot="1" noChangeAspect="1" noMove="1" noResize="1" noEditPoints="1" noAdjustHandles="1" noChangeArrowheads="1" noChangeShapeType="1" noTextEdit="1"/>
                </p:cNvSpPr>
                <p:nvPr/>
              </p:nvSpPr>
              <p:spPr bwMode="auto">
                <a:xfrm>
                  <a:off x="1757402" y="4365104"/>
                  <a:ext cx="5230588" cy="504671"/>
                </a:xfrm>
                <a:prstGeom prst="rect">
                  <a:avLst/>
                </a:prstGeom>
                <a:blipFill>
                  <a:blip r:embed="rId5"/>
                  <a:stretch>
                    <a:fillRect t="-7059"/>
                  </a:stretch>
                </a:blipFill>
                <a:ln>
                  <a:solidFill>
                    <a:schemeClr val="bg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对象 10">
                  <a:extLst>
                    <a:ext uri="{FF2B5EF4-FFF2-40B4-BE49-F238E27FC236}">
                      <a16:creationId xmlns:a16="http://schemas.microsoft.com/office/drawing/2014/main" id="{6A401006-C84E-E98F-9DA6-94956D3D7FA7}"/>
                    </a:ext>
                  </a:extLst>
                </p:cNvPr>
                <p:cNvSpPr txBox="1"/>
                <p:nvPr/>
              </p:nvSpPr>
              <p:spPr bwMode="auto">
                <a:xfrm>
                  <a:off x="1778036" y="5136393"/>
                  <a:ext cx="4880618" cy="504671"/>
                </a:xfrm>
                <a:prstGeom prst="rect">
                  <a:avLst/>
                </a:prstGeom>
                <a:solidFill>
                  <a:schemeClr val="bg1"/>
                </a:solidFill>
                <a:ln>
                  <a:solidFill>
                    <a:schemeClr val="bg1"/>
                  </a:solidFill>
                </a:ln>
              </p:spPr>
              <p:txBody>
                <a:bodyPr>
                  <a:noAutofit/>
                </a:bodyPr>
                <a:lstStyle/>
                <a:p>
                  <a14:m>
                    <m:oMath xmlns:m="http://schemas.openxmlformats.org/officeDocument/2006/math">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𝒙</m:t>
                              </m:r>
                            </m:e>
                          </m:acc>
                        </m:e>
                        <m:sub>
                          <m:r>
                            <a:rPr lang="zh-CN" altLang="en-US" sz="2000" b="1" i="1">
                              <a:solidFill>
                                <a:srgbClr val="000000"/>
                              </a:solidFill>
                              <a:latin typeface="Cambria Math" panose="02040503050406030204" pitchFamily="18" charset="0"/>
                            </a:rPr>
                            <m:t>𝟐</m:t>
                          </m:r>
                        </m:sub>
                      </m:sSub>
                      <m:r>
                        <a:rPr lang="zh-CN" altLang="en-US" sz="2000" b="1" i="1">
                          <a:solidFill>
                            <a:srgbClr val="000000"/>
                          </a:solidFill>
                          <a:latin typeface="Cambria Math" panose="02040503050406030204" pitchFamily="18" charset="0"/>
                        </a:rPr>
                        <m:t>=</m:t>
                      </m:r>
                      <m:sSup>
                        <m:sSupPr>
                          <m:ctrlPr>
                            <a:rPr lang="zh-CN" altLang="en-US" sz="2000" b="1" i="1">
                              <a:solidFill>
                                <a:srgbClr val="000000"/>
                              </a:solidFill>
                              <a:latin typeface="Cambria Math" panose="02040503050406030204" pitchFamily="18" charset="0"/>
                            </a:rPr>
                          </m:ctrlPr>
                        </m:sSupPr>
                        <m:e>
                          <m:r>
                            <a:rPr lang="zh-CN" altLang="en-US" sz="2000" b="1" i="1">
                              <a:solidFill>
                                <a:srgbClr val="000000"/>
                              </a:solidFill>
                              <a:latin typeface="Cambria Math" panose="02040503050406030204" pitchFamily="18" charset="0"/>
                            </a:rPr>
                            <m:t>𝑴</m:t>
                          </m:r>
                        </m:e>
                        <m:sup>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𝟏</m:t>
                          </m:r>
                        </m:sup>
                      </m:sSup>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d>
                        <m:dPr>
                          <m:begChr m:val="["/>
                          <m:endChr m:val="]"/>
                          <m:ctrlPr>
                            <a:rPr lang="zh-CN" altLang="en-US" sz="2000" b="1" i="1">
                              <a:solidFill>
                                <a:srgbClr val="000000"/>
                              </a:solidFill>
                              <a:latin typeface="Cambria Math" panose="02040503050406030204" pitchFamily="18" charset="0"/>
                            </a:rPr>
                          </m:ctrlPr>
                        </m:dPr>
                        <m:e>
                          <m:r>
                            <a:rPr lang="zh-CN" altLang="en-US" sz="2000" b="1" i="1">
                              <a:solidFill>
                                <a:srgbClr val="000000"/>
                              </a:solidFill>
                              <a:latin typeface="Cambria Math" panose="02040503050406030204" pitchFamily="18" charset="0"/>
                            </a:rPr>
                            <m:t>𝝉</m:t>
                          </m:r>
                          <m:r>
                            <a:rPr lang="zh-CN" altLang="en-US" sz="2000" b="1" i="1">
                              <a:solidFill>
                                <a:srgbClr val="000000"/>
                              </a:solidFill>
                              <a:latin typeface="Cambria Math" panose="02040503050406030204" pitchFamily="18" charset="0"/>
                            </a:rPr>
                            <m:t>−</m:t>
                          </m:r>
                          <m:sSup>
                            <m:sSupPr>
                              <m:ctrlPr>
                                <a:rPr lang="zh-CN" altLang="en-US" sz="2000" b="1" i="1">
                                  <a:solidFill>
                                    <a:srgbClr val="000000"/>
                                  </a:solidFill>
                                  <a:latin typeface="Cambria Math" panose="02040503050406030204" pitchFamily="18" charset="0"/>
                                </a:rPr>
                              </m:ctrlPr>
                            </m:sSupPr>
                            <m:e>
                              <m:r>
                                <a:rPr lang="zh-CN" altLang="en-US" sz="2000" b="1" i="1">
                                  <a:solidFill>
                                    <a:srgbClr val="000000"/>
                                  </a:solidFill>
                                  <a:latin typeface="Cambria Math" panose="02040503050406030204" pitchFamily="18" charset="0"/>
                                </a:rPr>
                                <m:t>𝑱</m:t>
                              </m:r>
                            </m:e>
                            <m:sup>
                              <m:r>
                                <a:rPr lang="zh-CN" altLang="en-US" sz="2000" b="1" i="1">
                                  <a:solidFill>
                                    <a:srgbClr val="000000"/>
                                  </a:solidFill>
                                  <a:latin typeface="Cambria Math" panose="02040503050406030204" pitchFamily="18" charset="0"/>
                                </a:rPr>
                                <m:t>𝑻</m:t>
                              </m:r>
                            </m:sup>
                          </m:sSup>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𝒇</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𝑪</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𝟐</m:t>
                              </m:r>
                            </m:sub>
                          </m:sSub>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𝟐</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𝑮</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e>
                      </m:d>
                    </m:oMath>
                  </a14:m>
                  <a:r>
                    <a:rPr lang="zh-CN" altLang="en-US" sz="2000" b="1" dirty="0">
                      <a:latin typeface="微软雅黑" panose="020B0503020204020204" pitchFamily="34" charset="-122"/>
                      <a:ea typeface="微软雅黑" panose="020B0503020204020204" pitchFamily="34" charset="-122"/>
                    </a:rPr>
                    <a:t>                </a:t>
                  </a:r>
                  <a:r>
                    <a:rPr lang="en-US" altLang="zh-CN" sz="2000" b="1" kern="1050" dirty="0">
                      <a:latin typeface="微软雅黑" panose="020B0503020204020204" pitchFamily="34" charset="-122"/>
                      <a:ea typeface="微软雅黑" panose="020B0503020204020204" pitchFamily="34" charset="-122"/>
                    </a:rPr>
                    <a:t>(7.34)</a:t>
                  </a:r>
                  <a:endParaRPr lang="zh-CN" altLang="en-US" sz="2000" dirty="0"/>
                </a:p>
              </p:txBody>
            </p:sp>
          </mc:Choice>
          <mc:Fallback xmlns="">
            <p:sp>
              <p:nvSpPr>
                <p:cNvPr id="9" name="对象 10">
                  <a:extLst>
                    <a:ext uri="{FF2B5EF4-FFF2-40B4-BE49-F238E27FC236}">
                      <a16:creationId xmlns:a16="http://schemas.microsoft.com/office/drawing/2014/main" id="{6A401006-C84E-E98F-9DA6-94956D3D7FA7}"/>
                    </a:ext>
                  </a:extLst>
                </p:cNvPr>
                <p:cNvSpPr txBox="1">
                  <a:spLocks noRot="1" noChangeAspect="1" noMove="1" noResize="1" noEditPoints="1" noAdjustHandles="1" noChangeArrowheads="1" noChangeShapeType="1" noTextEdit="1"/>
                </p:cNvSpPr>
                <p:nvPr/>
              </p:nvSpPr>
              <p:spPr bwMode="auto">
                <a:xfrm>
                  <a:off x="1778036" y="5136393"/>
                  <a:ext cx="4880618" cy="504671"/>
                </a:xfrm>
                <a:prstGeom prst="rect">
                  <a:avLst/>
                </a:prstGeom>
                <a:blipFill>
                  <a:blip r:embed="rId6"/>
                  <a:stretch>
                    <a:fillRect t="-5952"/>
                  </a:stretch>
                </a:blipFill>
                <a:ln>
                  <a:solidFill>
                    <a:schemeClr val="bg1"/>
                  </a:solidFill>
                </a:ln>
              </p:spPr>
              <p:txBody>
                <a:bodyPr/>
                <a:lstStyle/>
                <a:p>
                  <a:r>
                    <a:rPr lang="zh-CN" altLang="en-US">
                      <a:noFill/>
                    </a:rPr>
                    <a:t> </a:t>
                  </a:r>
                </a:p>
              </p:txBody>
            </p:sp>
          </mc:Fallback>
        </mc:AlternateContent>
        <p:sp>
          <p:nvSpPr>
            <p:cNvPr id="10" name="左大括号 16">
              <a:extLst>
                <a:ext uri="{FF2B5EF4-FFF2-40B4-BE49-F238E27FC236}">
                  <a16:creationId xmlns:a16="http://schemas.microsoft.com/office/drawing/2014/main" id="{6BEA0F44-D81E-8F25-3168-3155C4E23E7B}"/>
                </a:ext>
              </a:extLst>
            </p:cNvPr>
            <p:cNvSpPr>
              <a:spLocks/>
            </p:cNvSpPr>
            <p:nvPr/>
          </p:nvSpPr>
          <p:spPr bwMode="auto">
            <a:xfrm>
              <a:off x="1382824" y="4365104"/>
              <a:ext cx="194113" cy="1275960"/>
            </a:xfrm>
            <a:prstGeom prst="leftBrace">
              <a:avLst>
                <a:gd name="adj1" fmla="val 8338"/>
                <a:gd name="adj2" fmla="val 50000"/>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grpSp>
      <p:sp>
        <p:nvSpPr>
          <p:cNvPr id="17" name="文本框 16">
            <a:extLst>
              <a:ext uri="{FF2B5EF4-FFF2-40B4-BE49-F238E27FC236}">
                <a16:creationId xmlns:a16="http://schemas.microsoft.com/office/drawing/2014/main" id="{152DA8A7-AA87-86BA-D6C4-D6C9A5C7AB0D}"/>
              </a:ext>
            </a:extLst>
          </p:cNvPr>
          <p:cNvSpPr txBox="1"/>
          <p:nvPr>
            <p:custDataLst>
              <p:tags r:id="rId1"/>
            </p:custDataLst>
          </p:nvPr>
        </p:nvSpPr>
        <p:spPr>
          <a:xfrm>
            <a:off x="1357313" y="128685"/>
            <a:ext cx="8158162" cy="954107"/>
          </a:xfrm>
          <a:prstGeom prst="rect">
            <a:avLst/>
          </a:prstGeom>
          <a:noFill/>
        </p:spPr>
        <p:txBody>
          <a:bodyPr wrap="square" rtlCol="0">
            <a:spAutoFit/>
          </a:bodyPr>
          <a:lstStyle/>
          <a:p>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状态信息完全已知情况下的</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B786E984-E6AA-F0C0-DE1D-05D8C5B893F7}"/>
                  </a:ext>
                </a:extLst>
              </p:cNvPr>
              <p:cNvSpPr txBox="1"/>
              <p:nvPr/>
            </p:nvSpPr>
            <p:spPr>
              <a:xfrm>
                <a:off x="766762" y="1323974"/>
                <a:ext cx="10658475" cy="3237233"/>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为了设计控制力矩使得系统能够实现较好的目标跟踪，设参考轨迹</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𝒓</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𝒕</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可以表示为</a:t>
                </a:r>
                <a14:m>
                  <m:oMath xmlns:m="http://schemas.openxmlformats.org/officeDocument/2006/math">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𝒙</m:t>
                        </m:r>
                      </m:e>
                      <m:sub>
                        <m:r>
                          <a:rPr lang="zh-CN" altLang="en-US" sz="2400" b="1" i="1">
                            <a:solidFill>
                              <a:srgbClr val="000000"/>
                            </a:solidFill>
                            <a:latin typeface="Cambria Math" panose="02040503050406030204" pitchFamily="18" charset="0"/>
                          </a:rPr>
                          <m:t>𝒓</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𝒕</m:t>
                    </m:r>
                    <m:r>
                      <a:rPr lang="zh-CN" altLang="en-US" sz="2400" b="1" i="1">
                        <a:solidFill>
                          <a:srgbClr val="000000"/>
                        </a:solidFill>
                        <a:latin typeface="Cambria Math" panose="02040503050406030204" pitchFamily="18" charset="0"/>
                      </a:rPr>
                      <m:t>)=</m:t>
                    </m:r>
                    <m:sSup>
                      <m:sSupPr>
                        <m:ctrlPr>
                          <a:rPr lang="zh-CN" altLang="en-US" sz="2400" b="1" i="1">
                            <a:solidFill>
                              <a:srgbClr val="000000"/>
                            </a:solidFill>
                            <a:latin typeface="Cambria Math" panose="02040503050406030204" pitchFamily="18" charset="0"/>
                          </a:rPr>
                        </m:ctrlPr>
                      </m:sSupPr>
                      <m:e>
                        <m:d>
                          <m:dPr>
                            <m:begChr m:val="["/>
                            <m:endChr m:val="]"/>
                            <m:ctrlPr>
                              <a:rPr lang="zh-CN" altLang="en-US" sz="2400" b="1" i="1">
                                <a:solidFill>
                                  <a:srgbClr val="000000"/>
                                </a:solidFill>
                                <a:latin typeface="Cambria Math" panose="02040503050406030204" pitchFamily="18" charset="0"/>
                              </a:rPr>
                            </m:ctrlPr>
                          </m:dPr>
                          <m:e>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𝜽</m:t>
                                </m:r>
                              </m:e>
                              <m:sub>
                                <m:r>
                                  <a:rPr lang="zh-CN" altLang="en-US" sz="2400" b="1" i="1">
                                    <a:solidFill>
                                      <a:srgbClr val="000000"/>
                                    </a:solidFill>
                                    <a:latin typeface="Cambria Math" panose="02040503050406030204" pitchFamily="18" charset="0"/>
                                  </a:rPr>
                                  <m:t>𝟏</m:t>
                                </m:r>
                                <m:r>
                                  <a:rPr lang="zh-CN" altLang="en-US" sz="2400" b="1" i="1">
                                    <a:solidFill>
                                      <a:srgbClr val="000000"/>
                                    </a:solidFill>
                                    <a:latin typeface="Cambria Math" panose="02040503050406030204" pitchFamily="18" charset="0"/>
                                  </a:rPr>
                                  <m:t>𝒓</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𝒕</m:t>
                            </m:r>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𝜽</m:t>
                                </m:r>
                              </m:e>
                              <m:sub>
                                <m:r>
                                  <a:rPr lang="zh-CN" altLang="en-US" sz="2400" b="1" i="1">
                                    <a:solidFill>
                                      <a:srgbClr val="000000"/>
                                    </a:solidFill>
                                    <a:latin typeface="Cambria Math" panose="02040503050406030204" pitchFamily="18" charset="0"/>
                                  </a:rPr>
                                  <m:t>𝟐</m:t>
                                </m:r>
                                <m:r>
                                  <a:rPr lang="zh-CN" altLang="en-US" sz="2400" b="1" i="1">
                                    <a:solidFill>
                                      <a:srgbClr val="000000"/>
                                    </a:solidFill>
                                    <a:latin typeface="Cambria Math" panose="02040503050406030204" pitchFamily="18" charset="0"/>
                                  </a:rPr>
                                  <m:t>𝒓</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𝒕</m:t>
                            </m:r>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𝜽</m:t>
                                </m:r>
                              </m:e>
                              <m:sub>
                                <m:r>
                                  <a:rPr lang="zh-CN" altLang="en-US" sz="2400" b="1" i="1">
                                    <a:solidFill>
                                      <a:srgbClr val="000000"/>
                                    </a:solidFill>
                                    <a:latin typeface="Cambria Math" panose="02040503050406030204" pitchFamily="18" charset="0"/>
                                  </a:rPr>
                                  <m:t>𝟑</m:t>
                                </m:r>
                                <m:r>
                                  <a:rPr lang="zh-CN" altLang="en-US" sz="2400" b="1" i="1">
                                    <a:solidFill>
                                      <a:srgbClr val="000000"/>
                                    </a:solidFill>
                                    <a:latin typeface="Cambria Math" panose="02040503050406030204" pitchFamily="18" charset="0"/>
                                  </a:rPr>
                                  <m:t>𝒓</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𝒕</m:t>
                            </m:r>
                            <m:r>
                              <a:rPr lang="zh-CN" altLang="en-US" sz="2400" b="1" i="1">
                                <a:solidFill>
                                  <a:srgbClr val="000000"/>
                                </a:solidFill>
                                <a:latin typeface="Cambria Math" panose="02040503050406030204" pitchFamily="18" charset="0"/>
                              </a:rPr>
                              <m:t>)</m:t>
                            </m:r>
                          </m:e>
                        </m:d>
                      </m:e>
                      <m:sup>
                        <m:r>
                          <a:rPr lang="zh-CN" altLang="en-US" sz="2400" b="1" i="1">
                            <a:solidFill>
                              <a:srgbClr val="000000"/>
                            </a:solidFill>
                            <a:latin typeface="Cambria Math" panose="02040503050406030204" pitchFamily="18" charset="0"/>
                          </a:rPr>
                          <m:t>𝑻</m:t>
                        </m:r>
                      </m:sup>
                    </m:sSup>
                    <m:r>
                      <a:rPr lang="zh-CN" altLang="en-US" sz="2400" b="1" i="1">
                        <a:solidFill>
                          <a:srgbClr val="000000"/>
                        </a:solidFill>
                        <a:latin typeface="Cambria Math" panose="02040503050406030204" pitchFamily="18" charset="0"/>
                      </a:rPr>
                      <m:t>。</m:t>
                    </m:r>
                  </m:oMath>
                </a14:m>
                <a:r>
                  <a:rPr lang="zh-CN" altLang="zh-CN" sz="2400" b="1" kern="1000" dirty="0">
                    <a:effectLst/>
                    <a:latin typeface="微软雅黑" panose="020B0503020204020204" pitchFamily="34" charset="-122"/>
                    <a:ea typeface="微软雅黑" panose="020B0503020204020204" pitchFamily="34" charset="-122"/>
                  </a:rPr>
                  <a:t>在状态信息</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𝟏</m:t>
                        </m:r>
                      </m:sub>
                    </m:sSub>
                  </m:oMath>
                </a14:m>
                <a:r>
                  <a:rPr lang="zh-CN" altLang="zh-CN" sz="2400" b="1" kern="1000" dirty="0">
                    <a:effectLst/>
                    <a:latin typeface="微软雅黑" panose="020B0503020204020204" pitchFamily="34" charset="-122"/>
                    <a:ea typeface="微软雅黑" panose="020B0503020204020204" pitchFamily="34" charset="-122"/>
                  </a:rPr>
                  <a:t>和</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𝟐</m:t>
                        </m:r>
                      </m:sub>
                    </m:sSub>
                  </m:oMath>
                </a14:m>
                <a:r>
                  <a:rPr lang="zh-CN" altLang="zh-CN" sz="2400" b="1" kern="1000" dirty="0">
                    <a:effectLst/>
                    <a:latin typeface="微软雅黑" panose="020B0503020204020204" pitchFamily="34" charset="-122"/>
                    <a:ea typeface="微软雅黑" panose="020B0503020204020204" pitchFamily="34" charset="-122"/>
                  </a:rPr>
                  <a:t>完全已知的情况下，定义一个广义的跟踪误差</a:t>
                </a:r>
                <a14:m>
                  <m:oMath xmlns:m="http://schemas.openxmlformats.org/officeDocument/2006/math">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𝒛</m:t>
                        </m:r>
                      </m:e>
                      <m:sub>
                        <m:r>
                          <a:rPr lang="zh-CN" altLang="en-US" sz="2400" b="1" i="1">
                            <a:solidFill>
                              <a:srgbClr val="000000"/>
                            </a:solidFill>
                            <a:latin typeface="Cambria Math" panose="02040503050406030204" pitchFamily="18" charset="0"/>
                          </a:rPr>
                          <m:t>𝟏</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𝒕</m:t>
                    </m:r>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𝒙</m:t>
                        </m:r>
                      </m:e>
                      <m:sub>
                        <m:r>
                          <a:rPr lang="zh-CN" altLang="en-US" sz="2400" b="1" i="1">
                            <a:solidFill>
                              <a:srgbClr val="000000"/>
                            </a:solidFill>
                            <a:latin typeface="Cambria Math" panose="02040503050406030204" pitchFamily="18" charset="0"/>
                          </a:rPr>
                          <m:t>𝟏</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𝒕</m:t>
                    </m:r>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𝒙</m:t>
                        </m:r>
                      </m:e>
                      <m:sub>
                        <m:r>
                          <a:rPr lang="zh-CN" altLang="en-US" sz="2400" b="1" i="1">
                            <a:solidFill>
                              <a:srgbClr val="000000"/>
                            </a:solidFill>
                            <a:latin typeface="Cambria Math" panose="02040503050406030204" pitchFamily="18" charset="0"/>
                          </a:rPr>
                          <m:t>𝒓</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𝒕</m:t>
                    </m:r>
                    <m:r>
                      <a:rPr lang="zh-CN" altLang="en-US" sz="2400" b="1" i="1">
                        <a:solidFill>
                          <a:srgbClr val="000000"/>
                        </a:solidFill>
                        <a:latin typeface="Cambria Math" panose="02040503050406030204" pitchFamily="18" charset="0"/>
                      </a:rPr>
                      <m:t>)</m:t>
                    </m:r>
                  </m:oMath>
                </a14:m>
                <a:r>
                  <a:rPr lang="zh-CN" altLang="zh-CN" sz="2400" b="1" kern="1000" dirty="0">
                    <a:effectLst/>
                    <a:latin typeface="微软雅黑" panose="020B0503020204020204" pitchFamily="34" charset="-122"/>
                    <a:ea typeface="微软雅黑" panose="020B0503020204020204" pitchFamily="34" charset="-122"/>
                  </a:rPr>
                  <a:t>，且</a:t>
                </a:r>
                <a14:m>
                  <m:oMath xmlns:m="http://schemas.openxmlformats.org/officeDocument/2006/math">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𝒛</m:t>
                            </m:r>
                          </m:e>
                        </m:acc>
                      </m:e>
                      <m:sub>
                        <m:r>
                          <a:rPr lang="zh-CN" altLang="en-US" sz="2400" b="1" i="1">
                            <a:solidFill>
                              <a:srgbClr val="000000"/>
                            </a:solidFill>
                            <a:latin typeface="Cambria Math" panose="02040503050406030204" pitchFamily="18" charset="0"/>
                          </a:rPr>
                          <m:t>𝟏</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𝒕</m:t>
                    </m:r>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𝒙</m:t>
                        </m:r>
                      </m:e>
                      <m:sub>
                        <m:r>
                          <a:rPr lang="zh-CN" altLang="en-US" sz="2400" b="1" i="1">
                            <a:solidFill>
                              <a:srgbClr val="000000"/>
                            </a:solidFill>
                            <a:latin typeface="Cambria Math" panose="02040503050406030204" pitchFamily="18" charset="0"/>
                          </a:rPr>
                          <m:t>𝟐</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𝒕</m:t>
                    </m:r>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𝒙</m:t>
                            </m:r>
                          </m:e>
                        </m:acc>
                      </m:e>
                      <m:sub>
                        <m:r>
                          <a:rPr lang="zh-CN" altLang="en-US" sz="2400" b="1" i="1">
                            <a:solidFill>
                              <a:srgbClr val="000000"/>
                            </a:solidFill>
                            <a:latin typeface="Cambria Math" panose="02040503050406030204" pitchFamily="18" charset="0"/>
                          </a:rPr>
                          <m:t>𝒓</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𝒕</m:t>
                    </m:r>
                    <m:r>
                      <a:rPr lang="zh-CN" altLang="en-US" sz="2400" b="1" i="1">
                        <a:solidFill>
                          <a:srgbClr val="000000"/>
                        </a:solidFill>
                        <a:latin typeface="Cambria Math" panose="02040503050406030204" pitchFamily="18" charset="0"/>
                      </a:rPr>
                      <m:t>)</m:t>
                    </m:r>
                  </m:oMath>
                </a14:m>
                <a:r>
                  <a:rPr lang="zh-CN" altLang="zh-CN" sz="2400" b="1" kern="1000" dirty="0">
                    <a:effectLst/>
                    <a:latin typeface="微软雅黑" panose="020B0503020204020204" pitchFamily="34" charset="-122"/>
                    <a:ea typeface="微软雅黑" panose="020B0503020204020204" pitchFamily="34" charset="-122"/>
                  </a:rPr>
                  <a:t>。通过引入一个虚拟控制</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𝜶</m:t>
                        </m:r>
                      </m:e>
                      <m:sub>
                        <m:r>
                          <a:rPr lang="en-US" altLang="zh-CN" sz="2400" b="1" i="1" kern="1000">
                            <a:effectLst/>
                            <a:latin typeface="Cambria Math" panose="02040503050406030204" pitchFamily="18" charset="0"/>
                            <a:ea typeface="宋体" panose="02010600030101010101" pitchFamily="2" charset="-122"/>
                          </a:rPr>
                          <m:t>𝟏</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𝒕</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和第二个错误变量定义为</a:t>
                </a:r>
                <a14:m>
                  <m:oMath xmlns:m="http://schemas.openxmlformats.org/officeDocument/2006/math">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𝒛</m:t>
                        </m:r>
                      </m:e>
                      <m:sub>
                        <m:r>
                          <a:rPr lang="zh-CN" altLang="en-US" sz="2400" b="1" i="1">
                            <a:solidFill>
                              <a:srgbClr val="000000"/>
                            </a:solidFill>
                            <a:latin typeface="Cambria Math" panose="02040503050406030204" pitchFamily="18" charset="0"/>
                          </a:rPr>
                          <m:t>𝟐</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𝒕</m:t>
                    </m:r>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𝒙</m:t>
                        </m:r>
                      </m:e>
                      <m:sub>
                        <m:r>
                          <a:rPr lang="zh-CN" altLang="en-US" sz="2400" b="1" i="1">
                            <a:solidFill>
                              <a:srgbClr val="000000"/>
                            </a:solidFill>
                            <a:latin typeface="Cambria Math" panose="02040503050406030204" pitchFamily="18" charset="0"/>
                          </a:rPr>
                          <m:t>𝟐</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𝒕</m:t>
                    </m:r>
                    <m:r>
                      <a:rPr lang="zh-CN" altLang="en-US" sz="2400" b="1" i="1">
                        <a:solidFill>
                          <a:srgbClr val="000000"/>
                        </a:solidFill>
                        <a:latin typeface="Cambria Math" panose="02040503050406030204" pitchFamily="18" charset="0"/>
                      </a:rPr>
                      <m:t>)−</m:t>
                    </m:r>
                    <m:sSub>
                      <m:sSubPr>
                        <m:ctrlPr>
                          <a:rPr lang="zh-CN" altLang="en-US" sz="2400" b="1"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𝜶</m:t>
                        </m:r>
                      </m:e>
                      <m:sub>
                        <m:r>
                          <a:rPr lang="zh-CN" altLang="en-US" sz="2400" b="1" i="1">
                            <a:solidFill>
                              <a:srgbClr val="000000"/>
                            </a:solidFill>
                            <a:latin typeface="Cambria Math" panose="02040503050406030204" pitchFamily="18" charset="0"/>
                          </a:rPr>
                          <m:t>𝟏</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𝒕</m:t>
                    </m:r>
                    <m:r>
                      <a:rPr lang="zh-CN" altLang="en-US" sz="2400" b="1" i="1">
                        <a:solidFill>
                          <a:srgbClr val="000000"/>
                        </a:solidFill>
                        <a:latin typeface="Cambria Math" panose="02040503050406030204" pitchFamily="18" charset="0"/>
                      </a:rPr>
                      <m:t>)</m:t>
                    </m:r>
                  </m:oMath>
                </a14:m>
                <a:r>
                  <a:rPr lang="zh-CN" altLang="zh-CN" sz="2400" b="1" kern="1000" dirty="0">
                    <a:effectLst/>
                    <a:latin typeface="微软雅黑" panose="020B0503020204020204" pitchFamily="34" charset="-122"/>
                    <a:ea typeface="微软雅黑" panose="020B0503020204020204" pitchFamily="34" charset="-122"/>
                  </a:rPr>
                  <a:t>。</a:t>
                </a:r>
                <a:endParaRPr lang="en-US" altLang="zh-CN" sz="2400" b="1" kern="100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选择</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𝜶</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𝟏</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𝒙</m:t>
                            </m:r>
                          </m:e>
                        </m:acc>
                      </m:e>
                      <m:sub>
                        <m:r>
                          <a:rPr lang="en-US" altLang="zh-CN" sz="2000" b="1" i="1" kern="1050">
                            <a:effectLst/>
                            <a:latin typeface="Cambria Math" panose="02040503050406030204" pitchFamily="18" charset="0"/>
                            <a:ea typeface="宋体" panose="02010600030101010101" pitchFamily="2" charset="-122"/>
                          </a:rPr>
                          <m:t>𝒓</m:t>
                        </m:r>
                      </m:sub>
                    </m:sSub>
                  </m:oMath>
                </a14:m>
                <a:r>
                  <a:rPr lang="en-US" altLang="zh-CN" sz="2000" b="1" kern="1050" dirty="0">
                    <a:effectLst/>
                    <a:latin typeface="微软雅黑" panose="020B0503020204020204" pitchFamily="34" charset="-122"/>
                    <a:ea typeface="微软雅黑" panose="020B0503020204020204" pitchFamily="34" charset="-122"/>
                  </a:rPr>
                  <a:t>	                                   (7.35)</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这里的增益矩阵</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𝑲</m:t>
                        </m:r>
                      </m:e>
                      <m:sub>
                        <m:r>
                          <a:rPr lang="en-US" altLang="zh-CN" sz="2400" b="1" i="1" kern="1000">
                            <a:effectLst/>
                            <a:latin typeface="Cambria Math" panose="02040503050406030204" pitchFamily="18" charset="0"/>
                            <a:ea typeface="宋体" panose="02010600030101010101" pitchFamily="2" charset="-122"/>
                          </a:rPr>
                          <m:t>𝟏</m:t>
                        </m:r>
                      </m:sub>
                    </m:sSub>
                    <m:r>
                      <a:rPr lang="en-US" altLang="zh-CN" sz="2400" b="1" i="1" kern="1000">
                        <a:effectLst/>
                        <a:latin typeface="Cambria Math" panose="02040503050406030204" pitchFamily="18" charset="0"/>
                        <a:ea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𝑲</m:t>
                            </m:r>
                          </m:e>
                          <m:sub>
                            <m:r>
                              <a:rPr lang="en-US" altLang="zh-CN" sz="2400" b="1" i="1" kern="1000">
                                <a:effectLst/>
                                <a:latin typeface="Cambria Math" panose="02040503050406030204" pitchFamily="18" charset="0"/>
                                <a:ea typeface="宋体" panose="02010600030101010101" pitchFamily="2" charset="-122"/>
                              </a:rPr>
                              <m:t>𝟏</m:t>
                            </m:r>
                          </m:sub>
                        </m:sSub>
                      </m:e>
                      <m:sup>
                        <m:r>
                          <a:rPr lang="en-US" altLang="zh-CN" sz="2400" b="1" i="1" kern="1000">
                            <a:effectLst/>
                            <a:latin typeface="Cambria Math" panose="02040503050406030204" pitchFamily="18" charset="0"/>
                            <a:ea typeface="宋体" panose="02010600030101010101" pitchFamily="2" charset="-122"/>
                          </a:rPr>
                          <m:t>𝑻</m:t>
                        </m:r>
                      </m:sup>
                    </m:sSup>
                    <m:r>
                      <a:rPr lang="en-US" altLang="zh-CN" sz="2400" b="1" i="1" kern="1000">
                        <a:effectLst/>
                        <a:latin typeface="Cambria Math" panose="02040503050406030204" pitchFamily="18" charset="0"/>
                        <a:ea typeface="宋体" panose="02010600030101010101" pitchFamily="2" charset="-122"/>
                      </a:rPr>
                      <m:t>&gt;</m:t>
                    </m:r>
                    <m:r>
                      <a:rPr lang="en-US" altLang="zh-CN" sz="2400" b="1" i="1" kern="1000">
                        <a:effectLst/>
                        <a:latin typeface="Cambria Math" panose="02040503050406030204" pitchFamily="18" charset="0"/>
                        <a:ea typeface="宋体" panose="02010600030101010101" pitchFamily="2" charset="-122"/>
                      </a:rPr>
                      <m:t>𝟎</m:t>
                    </m:r>
                  </m:oMath>
                </a14:m>
                <a:r>
                  <a:rPr lang="zh-CN" altLang="zh-CN" sz="2400" b="1" kern="1000" dirty="0">
                    <a:effectLst/>
                    <a:latin typeface="微软雅黑" panose="020B0503020204020204" pitchFamily="34" charset="-122"/>
                    <a:ea typeface="微软雅黑" panose="020B0503020204020204" pitchFamily="34" charset="-122"/>
                  </a:rPr>
                  <a:t>，于是有</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𝒛</m:t>
                            </m:r>
                          </m:e>
                        </m:acc>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𝟐</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𝜶</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𝒙</m:t>
                            </m:r>
                          </m:e>
                        </m:acc>
                      </m:e>
                      <m:sub>
                        <m:r>
                          <a:rPr lang="en-US" altLang="zh-CN" sz="2000" b="1" i="1" kern="1050">
                            <a:effectLst/>
                            <a:latin typeface="Cambria Math" panose="02040503050406030204" pitchFamily="18" charset="0"/>
                            <a:ea typeface="宋体" panose="02010600030101010101" pitchFamily="2" charset="-122"/>
                          </a:rPr>
                          <m:t>𝒓</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𝟐</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𝟏</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𝟏</m:t>
                        </m:r>
                      </m:sub>
                    </m:sSub>
                  </m:oMath>
                </a14:m>
                <a:r>
                  <a:rPr lang="en-US" altLang="zh-CN" sz="2000" b="1" kern="1050" dirty="0">
                    <a:effectLst/>
                    <a:latin typeface="微软雅黑" panose="020B0503020204020204" pitchFamily="34" charset="-122"/>
                    <a:ea typeface="微软雅黑" panose="020B0503020204020204" pitchFamily="34" charset="-122"/>
                  </a:rPr>
                  <a:t>	                                    (7.36)</a:t>
                </a:r>
                <a:endParaRPr lang="zh-CN" altLang="zh-CN" sz="2000" b="1" kern="1050" dirty="0">
                  <a:effectLst/>
                  <a:latin typeface="微软雅黑" panose="020B0503020204020204" pitchFamily="34" charset="-122"/>
                  <a:ea typeface="微软雅黑" panose="020B0503020204020204" pitchFamily="34" charset="-122"/>
                </a:endParaRPr>
              </a:p>
            </p:txBody>
          </p:sp>
        </mc:Choice>
        <mc:Fallback xmlns="">
          <p:sp>
            <p:nvSpPr>
              <p:cNvPr id="4" name="文本框 3">
                <a:extLst>
                  <a:ext uri="{FF2B5EF4-FFF2-40B4-BE49-F238E27FC236}">
                    <a16:creationId xmlns:a16="http://schemas.microsoft.com/office/drawing/2014/main" id="{B786E984-E6AA-F0C0-DE1D-05D8C5B893F7}"/>
                  </a:ext>
                </a:extLst>
              </p:cNvPr>
              <p:cNvSpPr txBox="1">
                <a:spLocks noRot="1" noChangeAspect="1" noMove="1" noResize="1" noEditPoints="1" noAdjustHandles="1" noChangeArrowheads="1" noChangeShapeType="1" noTextEdit="1"/>
              </p:cNvSpPr>
              <p:nvPr/>
            </p:nvSpPr>
            <p:spPr>
              <a:xfrm>
                <a:off x="766762" y="1323974"/>
                <a:ext cx="10658475" cy="3237233"/>
              </a:xfrm>
              <a:prstGeom prst="rect">
                <a:avLst/>
              </a:prstGeom>
              <a:blipFill>
                <a:blip r:embed="rId3"/>
                <a:stretch>
                  <a:fillRect l="-915" t="-1507" r="-858" b="-20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B090312-0756-9A7D-F2A6-D9A565F10B2D}"/>
                  </a:ext>
                </a:extLst>
              </p:cNvPr>
              <p:cNvSpPr txBox="1"/>
              <p:nvPr/>
            </p:nvSpPr>
            <p:spPr>
              <a:xfrm>
                <a:off x="766762" y="4667249"/>
                <a:ext cx="10244138" cy="1742785"/>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将</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𝒛</m:t>
                        </m:r>
                      </m:e>
                      <m:sub>
                        <m:r>
                          <a:rPr lang="en-US" altLang="zh-CN" sz="2400" b="1" i="1" kern="1000">
                            <a:effectLst/>
                            <a:latin typeface="Cambria Math" panose="02040503050406030204" pitchFamily="18" charset="0"/>
                            <a:ea typeface="宋体" panose="02010600030101010101" pitchFamily="2" charset="-122"/>
                          </a:rPr>
                          <m:t>𝟐</m:t>
                        </m:r>
                      </m:sub>
                    </m:sSub>
                  </m:oMath>
                </a14:m>
                <a:r>
                  <a:rPr lang="zh-CN" altLang="zh-CN" sz="2400" b="1" kern="1000" dirty="0">
                    <a:effectLst/>
                    <a:latin typeface="微软雅黑" panose="020B0503020204020204" pitchFamily="34" charset="-122"/>
                    <a:ea typeface="微软雅黑" panose="020B0503020204020204" pitchFamily="34" charset="-122"/>
                  </a:rPr>
                  <a:t>对时间进行求导得</a:t>
                </a:r>
              </a:p>
              <a:p>
                <a:pPr algn="just">
                  <a:spcBef>
                    <a:spcPts val="400"/>
                  </a:spcBef>
                  <a:spcAft>
                    <a:spcPts val="4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𝒛</m:t>
                            </m:r>
                          </m:e>
                        </m:acc>
                      </m:e>
                      <m:sub>
                        <m:r>
                          <a:rPr lang="en-US" altLang="zh-CN" sz="2000" b="1" i="1" kern="1050">
                            <a:effectLst/>
                            <a:latin typeface="Cambria Math" panose="02040503050406030204" pitchFamily="18" charset="0"/>
                            <a:ea typeface="宋体" panose="02010600030101010101" pitchFamily="2" charset="-122"/>
                          </a:rPr>
                          <m:t>𝟐</m:t>
                        </m:r>
                      </m:sub>
                    </m:sSub>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𝑴</m:t>
                        </m:r>
                      </m:e>
                      <m: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sup>
                    </m:sSup>
                    <m:d>
                      <m:dPr>
                        <m:ctrlPr>
                          <a:rPr lang="en-US" altLang="zh-CN" sz="2000" b="1" i="1" kern="1050">
                            <a:effectLst/>
                            <a:latin typeface="Cambria Math" panose="02040503050406030204" pitchFamily="18" charset="0"/>
                            <a:ea typeface="宋体" panose="02010600030101010101" pitchFamily="2" charset="-122"/>
                          </a:rPr>
                        </m:ctrlPr>
                      </m:dP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𝟏</m:t>
                            </m:r>
                          </m:sub>
                        </m:sSub>
                      </m:e>
                    </m:d>
                    <m:d>
                      <m:dPr>
                        <m:begChr m:val="["/>
                        <m:endChr m:val="]"/>
                        <m:ctrlPr>
                          <a:rPr lang="en-US" altLang="zh-CN" sz="2000" b="1" i="1" kern="1050">
                            <a:effectLst/>
                            <a:latin typeface="Cambria Math" panose="02040503050406030204" pitchFamily="18" charset="0"/>
                            <a:ea typeface="宋体" panose="02010600030101010101" pitchFamily="2" charset="-122"/>
                          </a:rPr>
                        </m:ctrlPr>
                      </m:dPr>
                      <m:e>
                        <m:r>
                          <a:rPr lang="en-US" altLang="zh-CN" sz="2000" b="1" i="1" kern="1050">
                            <a:effectLst/>
                            <a:latin typeface="Cambria Math" panose="02040503050406030204" pitchFamily="18" charset="0"/>
                            <a:ea typeface="宋体" panose="02010600030101010101" pitchFamily="2" charset="-122"/>
                          </a:rPr>
                          <m:t>𝝉</m:t>
                        </m:r>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𝑱</m:t>
                            </m:r>
                          </m:e>
                          <m:sup>
                            <m:r>
                              <a:rPr lang="en-US" altLang="zh-CN" sz="2000" b="1" i="1" kern="1050">
                                <a:effectLst/>
                                <a:latin typeface="Cambria Math" panose="02040503050406030204" pitchFamily="18" charset="0"/>
                                <a:ea typeface="宋体" panose="02010600030101010101" pitchFamily="2" charset="-122"/>
                              </a:rPr>
                              <m:t>𝑻</m:t>
                            </m:r>
                          </m:sup>
                        </m:sSup>
                        <m:d>
                          <m:dPr>
                            <m:ctrlPr>
                              <a:rPr lang="en-US" altLang="zh-CN" sz="2000" b="1" i="1" kern="1050">
                                <a:effectLst/>
                                <a:latin typeface="Cambria Math" panose="02040503050406030204" pitchFamily="18" charset="0"/>
                                <a:ea typeface="宋体" panose="02010600030101010101" pitchFamily="2" charset="-122"/>
                              </a:rPr>
                            </m:ctrlPr>
                          </m:dP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𝟏</m:t>
                                </m:r>
                              </m:sub>
                            </m:sSub>
                          </m:e>
                        </m:d>
                        <m:r>
                          <a:rPr lang="en-US" altLang="zh-CN" sz="2000" b="1" i="1" kern="1050">
                            <a:effectLst/>
                            <a:latin typeface="Cambria Math" panose="02040503050406030204" pitchFamily="18" charset="0"/>
                            <a:ea typeface="宋体" panose="02010600030101010101" pitchFamily="2" charset="-122"/>
                          </a:rPr>
                          <m:t>𝒇</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𝑪</m:t>
                        </m:r>
                        <m:d>
                          <m:dPr>
                            <m:ctrlPr>
                              <a:rPr lang="en-US" altLang="zh-CN" sz="2000" b="1" i="1" kern="1050">
                                <a:effectLst/>
                                <a:latin typeface="Cambria Math" panose="02040503050406030204" pitchFamily="18" charset="0"/>
                                <a:ea typeface="宋体" panose="02010600030101010101" pitchFamily="2" charset="-122"/>
                              </a:rPr>
                            </m:ctrlPr>
                          </m:dP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𝟐</m:t>
                                </m:r>
                              </m:sub>
                            </m:sSub>
                          </m:e>
                        </m:d>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𝟐</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𝑮</m:t>
                        </m:r>
                        <m:d>
                          <m:dPr>
                            <m:ctrlPr>
                              <a:rPr lang="en-US" altLang="zh-CN" sz="2000" b="1" i="1" kern="1050">
                                <a:effectLst/>
                                <a:latin typeface="Cambria Math" panose="02040503050406030204" pitchFamily="18" charset="0"/>
                                <a:ea typeface="宋体" panose="02010600030101010101" pitchFamily="2" charset="-122"/>
                              </a:rPr>
                            </m:ctrlPr>
                          </m:dP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𝟏</m:t>
                                </m:r>
                              </m:sub>
                            </m:sSub>
                          </m:e>
                        </m:d>
                      </m:e>
                    </m:d>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𝜶</m:t>
                            </m:r>
                          </m:e>
                        </m:acc>
                      </m:e>
                      <m:sub>
                        <m:r>
                          <a:rPr lang="en-US" altLang="zh-CN" sz="2000" b="1" i="1" kern="1050">
                            <a:effectLst/>
                            <a:latin typeface="Cambria Math" panose="02040503050406030204" pitchFamily="18" charset="0"/>
                            <a:ea typeface="宋体" panose="02010600030101010101" pitchFamily="2" charset="-122"/>
                          </a:rPr>
                          <m:t>𝟏</m:t>
                        </m:r>
                      </m:sub>
                    </m:sSub>
                    <m:d>
                      <m:dPr>
                        <m:ctrlPr>
                          <a:rPr lang="en-US" altLang="zh-CN" sz="2000" b="1" i="1" kern="1050">
                            <a:effectLst/>
                            <a:latin typeface="Cambria Math" panose="02040503050406030204" pitchFamily="18" charset="0"/>
                            <a:ea typeface="宋体" panose="02010600030101010101" pitchFamily="2" charset="-122"/>
                          </a:rPr>
                        </m:ctrlPr>
                      </m:dPr>
                      <m:e>
                        <m:r>
                          <a:rPr lang="en-US" altLang="zh-CN" sz="2000" b="1" i="1" kern="1050">
                            <a:effectLst/>
                            <a:latin typeface="Cambria Math" panose="02040503050406030204" pitchFamily="18" charset="0"/>
                            <a:ea typeface="宋体" panose="02010600030101010101" pitchFamily="2" charset="-122"/>
                          </a:rPr>
                          <m:t>𝒕</m:t>
                        </m:r>
                      </m:e>
                    </m:d>
                    <m:r>
                      <a:rPr lang="en-US" altLang="zh-CN" sz="2000" b="1" i="1" kern="1050" smtClean="0">
                        <a:effectLst/>
                        <a:latin typeface="Cambria Math" panose="02040503050406030204" pitchFamily="18" charset="0"/>
                        <a:ea typeface="宋体" panose="02010600030101010101" pitchFamily="2" charset="-122"/>
                      </a:rPr>
                      <m:t> </m:t>
                    </m:r>
                  </m:oMath>
                </a14:m>
                <a:r>
                  <a:rPr lang="en-US" altLang="zh-CN" sz="2000" b="1" kern="1050" dirty="0">
                    <a:effectLst/>
                    <a:latin typeface="微软雅黑" panose="020B0503020204020204" pitchFamily="34" charset="-122"/>
                    <a:ea typeface="微软雅黑" panose="020B0503020204020204" pitchFamily="34" charset="-122"/>
                  </a:rPr>
                  <a:t>              (7.37)</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考虑一个</a:t>
                </a:r>
                <a:r>
                  <a:rPr lang="zh-CN" altLang="zh-CN" sz="2400" b="1" kern="0" dirty="0">
                    <a:effectLst/>
                    <a:latin typeface="微软雅黑" panose="020B0503020204020204" pitchFamily="34" charset="-122"/>
                    <a:ea typeface="微软雅黑" panose="020B0503020204020204" pitchFamily="34" charset="-122"/>
                  </a:rPr>
                  <a:t>李亚普诺夫候选函数：</a:t>
                </a:r>
                <a:r>
                  <a:rPr lang="zh-CN" altLang="zh-CN" sz="2400" b="1" kern="1000" dirty="0">
                    <a:effectLst/>
                    <a:latin typeface="微软雅黑" panose="020B0503020204020204" pitchFamily="34" charset="-122"/>
                    <a:ea typeface="微软雅黑" panose="020B0503020204020204" pitchFamily="34" charset="-122"/>
                  </a:rPr>
                  <a:t> </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000" b="1" i="0" kern="1050" smtClean="0">
                        <a:effectLst/>
                        <a:latin typeface="Cambria Math" panose="02040503050406030204" pitchFamily="18" charset="0"/>
                        <a:ea typeface="Cambria Math" panose="02040503050406030204" pitchFamily="18" charset="0"/>
                      </a:rPr>
                      <m:t> </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𝑽</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a:effectLst/>
                            <a:latin typeface="Cambria Math" panose="02040503050406030204" pitchFamily="18" charset="0"/>
                            <a:ea typeface="宋体" panose="02010600030101010101" pitchFamily="2" charset="-122"/>
                          </a:rPr>
                          <m:t>𝟏</m:t>
                        </m:r>
                      </m:num>
                      <m:den>
                        <m:r>
                          <a:rPr lang="en-US" altLang="zh-CN" sz="2000" b="1" i="1" kern="1050">
                            <a:effectLst/>
                            <a:latin typeface="Cambria Math" panose="02040503050406030204" pitchFamily="18" charset="0"/>
                            <a:ea typeface="宋体" panose="02010600030101010101" pitchFamily="2" charset="-122"/>
                          </a:rPr>
                          <m:t>𝟐</m:t>
                        </m:r>
                      </m:den>
                    </m:f>
                    <m:sSup>
                      <m:sSupPr>
                        <m:ctrlPr>
                          <a:rPr lang="zh-CN" altLang="zh-CN" sz="2000" b="1" i="1" kern="1050">
                            <a:effectLst/>
                            <a:latin typeface="Cambria Math" panose="02040503050406030204" pitchFamily="18" charset="0"/>
                            <a:ea typeface="Cambria Math" panose="02040503050406030204" pitchFamily="18" charset="0"/>
                          </a:rPr>
                        </m:ctrlPr>
                      </m:sSupP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𝟏</m:t>
                            </m:r>
                          </m:sub>
                        </m:sSub>
                      </m:e>
                      <m:sup>
                        <m:r>
                          <a:rPr lang="en-US" altLang="zh-CN" sz="2000" b="1" i="1" kern="1050">
                            <a:effectLst/>
                            <a:latin typeface="Cambria Math" panose="02040503050406030204" pitchFamily="18" charset="0"/>
                            <a:ea typeface="宋体" panose="02010600030101010101" pitchFamily="2" charset="-122"/>
                          </a:rPr>
                          <m:t>𝑻</m:t>
                        </m:r>
                      </m:sup>
                    </m:s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𝟏</m:t>
                        </m:r>
                      </m:sub>
                    </m:sSub>
                  </m:oMath>
                </a14:m>
                <a:r>
                  <a:rPr lang="en-US" altLang="zh-CN" sz="2000" b="1" kern="1050" dirty="0">
                    <a:effectLst/>
                    <a:latin typeface="微软雅黑" panose="020B0503020204020204" pitchFamily="34" charset="-122"/>
                    <a:ea typeface="微软雅黑" panose="020B0503020204020204" pitchFamily="34" charset="-122"/>
                  </a:rPr>
                  <a:t>              </a:t>
                </a:r>
                <a:r>
                  <a:rPr lang="en-US" altLang="zh-CN" sz="2000" b="1" kern="1050" dirty="0">
                    <a:latin typeface="微软雅黑" panose="020B0503020204020204" pitchFamily="34" charset="-122"/>
                    <a:ea typeface="微软雅黑" panose="020B0503020204020204" pitchFamily="34" charset="-122"/>
                  </a:rPr>
                  <a:t>                                                                   </a:t>
                </a:r>
                <a:r>
                  <a:rPr lang="en-US" altLang="zh-CN" sz="2000" b="1" kern="1050" dirty="0">
                    <a:effectLst/>
                    <a:latin typeface="微软雅黑" panose="020B0503020204020204" pitchFamily="34" charset="-122"/>
                    <a:ea typeface="微软雅黑" panose="020B0503020204020204" pitchFamily="34" charset="-122"/>
                  </a:rPr>
                  <a:t>(7.38)</a:t>
                </a:r>
                <a:endParaRPr lang="zh-CN" altLang="zh-CN" sz="2000" b="1" kern="1050" dirty="0">
                  <a:effectLst/>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AB090312-0756-9A7D-F2A6-D9A565F10B2D}"/>
                  </a:ext>
                </a:extLst>
              </p:cNvPr>
              <p:cNvSpPr txBox="1">
                <a:spLocks noRot="1" noChangeAspect="1" noMove="1" noResize="1" noEditPoints="1" noAdjustHandles="1" noChangeArrowheads="1" noChangeShapeType="1" noTextEdit="1"/>
              </p:cNvSpPr>
              <p:nvPr/>
            </p:nvSpPr>
            <p:spPr>
              <a:xfrm>
                <a:off x="766762" y="4667249"/>
                <a:ext cx="10244138" cy="1742785"/>
              </a:xfrm>
              <a:prstGeom prst="rect">
                <a:avLst/>
              </a:prstGeom>
              <a:blipFill>
                <a:blip r:embed="rId4"/>
                <a:stretch>
                  <a:fillRect l="-952" t="-2797" b="-1399"/>
                </a:stretch>
              </a:blipFill>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FA983398-265C-24A6-7885-4E5695488AE5}"/>
              </a:ext>
            </a:extLst>
          </p:cNvPr>
          <p:cNvSpPr txBox="1"/>
          <p:nvPr>
            <p:custDataLst>
              <p:tags r:id="rId1"/>
            </p:custDataLst>
          </p:nvPr>
        </p:nvSpPr>
        <p:spPr>
          <a:xfrm>
            <a:off x="1357313" y="128685"/>
            <a:ext cx="8158162" cy="954107"/>
          </a:xfrm>
          <a:prstGeom prst="rect">
            <a:avLst/>
          </a:prstGeom>
          <a:noFill/>
        </p:spPr>
        <p:txBody>
          <a:bodyPr wrap="square" rtlCol="0">
            <a:spAutoFit/>
          </a:bodyPr>
          <a:lstStyle/>
          <a:p>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状态信息完全已知情况下的</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7703B7FA-0D42-509D-ADB2-0198284E314E}"/>
                  </a:ext>
                </a:extLst>
              </p:cNvPr>
              <p:cNvSpPr txBox="1"/>
              <p:nvPr/>
            </p:nvSpPr>
            <p:spPr>
              <a:xfrm>
                <a:off x="914400" y="1280748"/>
                <a:ext cx="9348788" cy="2217979"/>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结合式</a:t>
                </a:r>
                <a:r>
                  <a:rPr lang="en-US" altLang="zh-CN" sz="2400" b="1" kern="1000" dirty="0">
                    <a:effectLst/>
                    <a:latin typeface="微软雅黑" panose="020B0503020204020204" pitchFamily="34" charset="-122"/>
                    <a:ea typeface="微软雅黑" panose="020B0503020204020204" pitchFamily="34" charset="-122"/>
                  </a:rPr>
                  <a:t>(7.36)</a:t>
                </a:r>
                <a:r>
                  <a:rPr lang="zh-CN" altLang="zh-CN" sz="2400" b="1" kern="1000" dirty="0">
                    <a:effectLst/>
                    <a:latin typeface="微软雅黑" panose="020B0503020204020204" pitchFamily="34" charset="-122"/>
                    <a:ea typeface="微软雅黑" panose="020B0503020204020204" pitchFamily="34" charset="-122"/>
                  </a:rPr>
                  <a:t>对</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𝑽</m:t>
                        </m:r>
                      </m:e>
                      <m:sub>
                        <m:r>
                          <a:rPr lang="en-US" altLang="zh-CN" sz="2400" b="1" i="1" kern="1000">
                            <a:effectLst/>
                            <a:latin typeface="Cambria Math" panose="02040503050406030204" pitchFamily="18" charset="0"/>
                            <a:ea typeface="宋体" panose="02010600030101010101" pitchFamily="2" charset="-122"/>
                          </a:rPr>
                          <m:t>𝟏</m:t>
                        </m:r>
                      </m:sub>
                    </m:sSub>
                  </m:oMath>
                </a14:m>
                <a:r>
                  <a:rPr lang="zh-CN" altLang="zh-CN" sz="2400" b="1" kern="1000" dirty="0">
                    <a:effectLst/>
                    <a:latin typeface="微软雅黑" panose="020B0503020204020204" pitchFamily="34" charset="-122"/>
                    <a:ea typeface="微软雅黑" panose="020B0503020204020204" pitchFamily="34" charset="-122"/>
                  </a:rPr>
                  <a:t>求时间导数：</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𝑽</m:t>
                            </m:r>
                          </m:e>
                        </m:acc>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𝟏</m:t>
                            </m:r>
                          </m:sub>
                        </m:sSub>
                      </m:e>
                      <m:sup>
                        <m:r>
                          <a:rPr lang="en-US" altLang="zh-CN" sz="2000" b="1" i="1" kern="1050">
                            <a:effectLst/>
                            <a:latin typeface="Cambria Math" panose="02040503050406030204" pitchFamily="18" charset="0"/>
                            <a:ea typeface="宋体" panose="02010600030101010101" pitchFamily="2" charset="-122"/>
                          </a:rPr>
                          <m:t>𝑻</m:t>
                        </m:r>
                      </m:sup>
                    </m:s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𝟏</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𝟏</m:t>
                            </m:r>
                          </m:sub>
                        </m:sSub>
                      </m:e>
                      <m:sup>
                        <m:r>
                          <a:rPr lang="en-US" altLang="zh-CN" sz="2000" b="1" i="1" kern="1050">
                            <a:effectLst/>
                            <a:latin typeface="Cambria Math" panose="02040503050406030204" pitchFamily="18" charset="0"/>
                            <a:ea typeface="宋体" panose="02010600030101010101" pitchFamily="2" charset="-122"/>
                          </a:rPr>
                          <m:t>𝑻</m:t>
                        </m:r>
                      </m:sup>
                    </m:s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𝟐</m:t>
                        </m:r>
                      </m:sub>
                    </m:sSub>
                  </m:oMath>
                </a14:m>
                <a:r>
                  <a:rPr lang="en-US" altLang="zh-CN" sz="2000" b="1" kern="1050" dirty="0">
                    <a:effectLst/>
                    <a:latin typeface="微软雅黑" panose="020B0503020204020204" pitchFamily="34" charset="-122"/>
                    <a:ea typeface="微软雅黑" panose="020B0503020204020204" pitchFamily="34" charset="-122"/>
                  </a:rPr>
                  <a:t>	</a:t>
                </a:r>
                <a:r>
                  <a:rPr lang="en-US" altLang="zh-CN" sz="2000" b="1" kern="1050" dirty="0">
                    <a:latin typeface="微软雅黑" panose="020B0503020204020204" pitchFamily="34" charset="-122"/>
                    <a:ea typeface="微软雅黑" panose="020B0503020204020204" pitchFamily="34" charset="-122"/>
                  </a:rPr>
                  <a:t>             </a:t>
                </a:r>
                <a:r>
                  <a:rPr lang="en-US" altLang="zh-CN" sz="2000" b="1" kern="1050" dirty="0">
                    <a:effectLst/>
                    <a:latin typeface="微软雅黑" panose="020B0503020204020204" pitchFamily="34" charset="-122"/>
                    <a:ea typeface="微软雅黑" panose="020B0503020204020204" pitchFamily="34" charset="-122"/>
                  </a:rPr>
                  <a:t>(7.39)</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之后考虑</a:t>
                </a:r>
                <a:r>
                  <a:rPr lang="zh-CN" altLang="zh-CN" sz="2400" b="1" kern="0" dirty="0">
                    <a:effectLst/>
                    <a:latin typeface="微软雅黑" panose="020B0503020204020204" pitchFamily="34" charset="-122"/>
                    <a:ea typeface="微软雅黑" panose="020B0503020204020204" pitchFamily="34" charset="-122"/>
                  </a:rPr>
                  <a:t>李亚普诺夫候选函数：</a:t>
                </a:r>
                <a:r>
                  <a:rPr lang="zh-CN" altLang="zh-CN" sz="2400" b="1" kern="1000" dirty="0">
                    <a:effectLst/>
                    <a:latin typeface="微软雅黑" panose="020B0503020204020204" pitchFamily="34" charset="-122"/>
                    <a:ea typeface="微软雅黑" panose="020B0503020204020204" pitchFamily="34" charset="-122"/>
                  </a:rPr>
                  <a:t> </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𝑽</m:t>
                        </m:r>
                      </m:e>
                      <m:sub>
                        <m:r>
                          <a:rPr lang="en-US" altLang="zh-CN" sz="2000" b="1" i="1" kern="1050">
                            <a:effectLst/>
                            <a:latin typeface="Cambria Math" panose="02040503050406030204" pitchFamily="18" charset="0"/>
                            <a:ea typeface="宋体" panose="02010600030101010101" pitchFamily="2" charset="-122"/>
                          </a:rPr>
                          <m:t>𝟐</m:t>
                        </m:r>
                      </m:sub>
                    </m:sSub>
                    <m:r>
                      <a:rPr lang="en-US" altLang="zh-CN" sz="2000" b="1" i="1" kern="105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a:effectLst/>
                            <a:latin typeface="Cambria Math" panose="02040503050406030204" pitchFamily="18" charset="0"/>
                            <a:ea typeface="宋体" panose="02010600030101010101" pitchFamily="2" charset="-122"/>
                          </a:rPr>
                          <m:t>𝟏</m:t>
                        </m:r>
                      </m:num>
                      <m:den>
                        <m:r>
                          <a:rPr lang="en-US" altLang="zh-CN" sz="2000" b="1" i="1" kern="1050">
                            <a:effectLst/>
                            <a:latin typeface="Cambria Math" panose="02040503050406030204" pitchFamily="18" charset="0"/>
                            <a:ea typeface="宋体" panose="02010600030101010101" pitchFamily="2" charset="-122"/>
                          </a:rPr>
                          <m:t>𝟐</m:t>
                        </m:r>
                      </m:den>
                    </m:f>
                    <m:sSup>
                      <m:sSupPr>
                        <m:ctrlPr>
                          <a:rPr lang="zh-CN" altLang="zh-CN" sz="2000" b="1" i="1" kern="1050">
                            <a:effectLst/>
                            <a:latin typeface="Cambria Math" panose="02040503050406030204" pitchFamily="18" charset="0"/>
                            <a:ea typeface="Cambria Math" panose="02040503050406030204" pitchFamily="18" charset="0"/>
                          </a:rPr>
                        </m:ctrlPr>
                      </m:sSupP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𝟏</m:t>
                            </m:r>
                          </m:sub>
                        </m:sSub>
                      </m:e>
                      <m:sup>
                        <m:r>
                          <a:rPr lang="en-US" altLang="zh-CN" sz="2000" b="1" i="1" kern="1050">
                            <a:effectLst/>
                            <a:latin typeface="Cambria Math" panose="02040503050406030204" pitchFamily="18" charset="0"/>
                            <a:ea typeface="宋体" panose="02010600030101010101" pitchFamily="2" charset="-122"/>
                          </a:rPr>
                          <m:t>𝑻</m:t>
                        </m:r>
                      </m:sup>
                    </m:s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a:effectLst/>
                            <a:latin typeface="Cambria Math" panose="02040503050406030204" pitchFamily="18" charset="0"/>
                            <a:ea typeface="宋体" panose="02010600030101010101" pitchFamily="2" charset="-122"/>
                          </a:rPr>
                          <m:t>𝟏</m:t>
                        </m:r>
                      </m:num>
                      <m:den>
                        <m:r>
                          <a:rPr lang="en-US" altLang="zh-CN" sz="2000" b="1" i="1" kern="1050">
                            <a:effectLst/>
                            <a:latin typeface="Cambria Math" panose="02040503050406030204" pitchFamily="18" charset="0"/>
                            <a:ea typeface="宋体" panose="02010600030101010101" pitchFamily="2" charset="-122"/>
                          </a:rPr>
                          <m:t>𝟐</m:t>
                        </m:r>
                      </m:den>
                    </m:f>
                    <m:sSup>
                      <m:sSupPr>
                        <m:ctrlPr>
                          <a:rPr lang="zh-CN" altLang="zh-CN" sz="2000" b="1" i="1" kern="1050">
                            <a:effectLst/>
                            <a:latin typeface="Cambria Math" panose="02040503050406030204" pitchFamily="18" charset="0"/>
                            <a:ea typeface="Cambria Math" panose="02040503050406030204" pitchFamily="18" charset="0"/>
                          </a:rPr>
                        </m:ctrlPr>
                      </m:sSupP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𝟐</m:t>
                            </m:r>
                          </m:sub>
                        </m:sSub>
                      </m:e>
                      <m:sup>
                        <m:r>
                          <a:rPr lang="en-US" altLang="zh-CN" sz="2000" b="1" i="1" kern="1050">
                            <a:effectLst/>
                            <a:latin typeface="Cambria Math" panose="02040503050406030204" pitchFamily="18" charset="0"/>
                            <a:ea typeface="宋体" panose="02010600030101010101" pitchFamily="2" charset="-122"/>
                          </a:rPr>
                          <m:t>𝑻</m:t>
                        </m:r>
                      </m:sup>
                    </m:sSup>
                    <m:r>
                      <a:rPr lang="en-US" altLang="zh-CN" sz="2000" b="1" i="1" kern="1050">
                        <a:effectLst/>
                        <a:latin typeface="Cambria Math" panose="02040503050406030204" pitchFamily="18" charset="0"/>
                        <a:ea typeface="宋体" panose="02010600030101010101" pitchFamily="2" charset="-122"/>
                      </a:rPr>
                      <m:t>𝑴</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𝟐</m:t>
                        </m:r>
                      </m:sub>
                    </m:sSub>
                  </m:oMath>
                </a14:m>
                <a:r>
                  <a:rPr lang="en-US" altLang="zh-CN" sz="2000" b="1" kern="1050" dirty="0">
                    <a:effectLst/>
                    <a:latin typeface="微软雅黑" panose="020B0503020204020204" pitchFamily="34" charset="-122"/>
                    <a:ea typeface="微软雅黑" panose="020B0503020204020204" pitchFamily="34" charset="-122"/>
                  </a:rPr>
                  <a:t>	             (7.40)</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上式对时间求导得</a:t>
                </a:r>
              </a:p>
            </p:txBody>
          </p:sp>
        </mc:Choice>
        <mc:Fallback xmlns="">
          <p:sp>
            <p:nvSpPr>
              <p:cNvPr id="4" name="文本框 3">
                <a:extLst>
                  <a:ext uri="{FF2B5EF4-FFF2-40B4-BE49-F238E27FC236}">
                    <a16:creationId xmlns:a16="http://schemas.microsoft.com/office/drawing/2014/main" id="{7703B7FA-0D42-509D-ADB2-0198284E314E}"/>
                  </a:ext>
                </a:extLst>
              </p:cNvPr>
              <p:cNvSpPr txBox="1">
                <a:spLocks noRot="1" noChangeAspect="1" noMove="1" noResize="1" noEditPoints="1" noAdjustHandles="1" noChangeArrowheads="1" noChangeShapeType="1" noTextEdit="1"/>
              </p:cNvSpPr>
              <p:nvPr/>
            </p:nvSpPr>
            <p:spPr>
              <a:xfrm>
                <a:off x="914400" y="1280748"/>
                <a:ext cx="9348788" cy="2217979"/>
              </a:xfrm>
              <a:prstGeom prst="rect">
                <a:avLst/>
              </a:prstGeom>
              <a:blipFill>
                <a:blip r:embed="rId3"/>
                <a:stretch>
                  <a:fillRect l="-978" t="-2198" b="-522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对象 2">
                <a:extLst>
                  <a:ext uri="{FF2B5EF4-FFF2-40B4-BE49-F238E27FC236}">
                    <a16:creationId xmlns:a16="http://schemas.microsoft.com/office/drawing/2014/main" id="{D09840F8-6563-D30B-DD87-F233267BFAAF}"/>
                  </a:ext>
                </a:extLst>
              </p:cNvPr>
              <p:cNvSpPr txBox="1"/>
              <p:nvPr/>
            </p:nvSpPr>
            <p:spPr bwMode="auto">
              <a:xfrm>
                <a:off x="914400" y="3657600"/>
                <a:ext cx="10887075" cy="2905125"/>
              </a:xfrm>
              <a:prstGeom prst="rect">
                <a:avLst/>
              </a:prstGeom>
              <a:solidFill>
                <a:schemeClr val="bg1"/>
              </a:solidFill>
              <a:ln>
                <a:solidFill>
                  <a:schemeClr val="bg1"/>
                </a:solidFill>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000" b="1" i="1" smtClean="0">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𝑽</m:t>
                              </m:r>
                            </m:e>
                          </m:acc>
                        </m:e>
                        <m:sub>
                          <m:r>
                            <a:rPr lang="zh-CN" altLang="en-US" sz="2000" b="1" i="1">
                              <a:solidFill>
                                <a:srgbClr val="000000"/>
                              </a:solidFill>
                              <a:latin typeface="Cambria Math" panose="02040503050406030204" pitchFamily="18" charset="0"/>
                            </a:rPr>
                            <m:t>𝟐</m:t>
                          </m:r>
                        </m:sub>
                      </m:sSub>
                      <m:r>
                        <a:rPr lang="zh-CN" altLang="en-US" sz="2000" b="1" i="1">
                          <a:solidFill>
                            <a:srgbClr val="000000"/>
                          </a:solidFill>
                          <a:latin typeface="Cambria Math" panose="02040503050406030204" pitchFamily="18" charset="0"/>
                        </a:rPr>
                        <m:t>=−</m:t>
                      </m:r>
                      <m:sSup>
                        <m:sSupPr>
                          <m:ctrlPr>
                            <a:rPr lang="zh-CN" altLang="en-US" sz="2000" b="1" i="1">
                              <a:solidFill>
                                <a:srgbClr val="000000"/>
                              </a:solidFill>
                              <a:latin typeface="Cambria Math" panose="02040503050406030204" pitchFamily="18" charset="0"/>
                            </a:rPr>
                          </m:ctrlPr>
                        </m:sSupPr>
                        <m:e>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𝒛</m:t>
                              </m:r>
                            </m:e>
                            <m:sub>
                              <m:r>
                                <a:rPr lang="zh-CN" altLang="en-US" sz="2000" b="1" i="1">
                                  <a:solidFill>
                                    <a:srgbClr val="000000"/>
                                  </a:solidFill>
                                  <a:latin typeface="Cambria Math" panose="02040503050406030204" pitchFamily="18" charset="0"/>
                                </a:rPr>
                                <m:t>𝟏</m:t>
                              </m:r>
                            </m:sub>
                          </m:sSub>
                        </m:e>
                        <m:sup>
                          <m:r>
                            <a:rPr lang="zh-CN" altLang="en-US" sz="2000" b="1" i="1">
                              <a:solidFill>
                                <a:srgbClr val="000000"/>
                              </a:solidFill>
                              <a:latin typeface="Cambria Math" panose="02040503050406030204" pitchFamily="18" charset="0"/>
                            </a:rPr>
                            <m:t>𝑻</m:t>
                          </m:r>
                        </m:sup>
                      </m:sSup>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𝑲</m:t>
                          </m:r>
                        </m:e>
                        <m:sub>
                          <m:r>
                            <a:rPr lang="zh-CN" altLang="en-US" sz="2000" b="1" i="1">
                              <a:solidFill>
                                <a:srgbClr val="000000"/>
                              </a:solidFill>
                              <a:latin typeface="Cambria Math" panose="02040503050406030204" pitchFamily="18" charset="0"/>
                            </a:rPr>
                            <m:t>𝟏</m:t>
                          </m:r>
                        </m:sub>
                      </m:sSub>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𝒛</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sSup>
                        <m:sSupPr>
                          <m:ctrlPr>
                            <a:rPr lang="zh-CN" altLang="en-US" sz="2000" b="1" i="1">
                              <a:solidFill>
                                <a:srgbClr val="000000"/>
                              </a:solidFill>
                              <a:latin typeface="Cambria Math" panose="02040503050406030204" pitchFamily="18" charset="0"/>
                            </a:rPr>
                          </m:ctrlPr>
                        </m:sSupPr>
                        <m:e>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𝒛</m:t>
                              </m:r>
                            </m:e>
                            <m:sub>
                              <m:r>
                                <a:rPr lang="zh-CN" altLang="en-US" sz="2000" b="1" i="1">
                                  <a:solidFill>
                                    <a:srgbClr val="000000"/>
                                  </a:solidFill>
                                  <a:latin typeface="Cambria Math" panose="02040503050406030204" pitchFamily="18" charset="0"/>
                                </a:rPr>
                                <m:t>𝟏</m:t>
                              </m:r>
                            </m:sub>
                          </m:sSub>
                        </m:e>
                        <m:sup>
                          <m:r>
                            <a:rPr lang="zh-CN" altLang="en-US" sz="2000" b="1" i="1">
                              <a:solidFill>
                                <a:srgbClr val="000000"/>
                              </a:solidFill>
                              <a:latin typeface="Cambria Math" panose="02040503050406030204" pitchFamily="18" charset="0"/>
                            </a:rPr>
                            <m:t>𝑻</m:t>
                          </m:r>
                        </m:sup>
                      </m:sSup>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𝒛</m:t>
                          </m:r>
                        </m:e>
                        <m:sub>
                          <m:r>
                            <a:rPr lang="zh-CN" altLang="en-US" sz="2000" b="1" i="1">
                              <a:solidFill>
                                <a:srgbClr val="000000"/>
                              </a:solidFill>
                              <a:latin typeface="Cambria Math" panose="02040503050406030204" pitchFamily="18" charset="0"/>
                            </a:rPr>
                            <m:t>𝟐</m:t>
                          </m:r>
                        </m:sub>
                      </m:sSub>
                      <m:r>
                        <a:rPr lang="zh-CN" altLang="en-US" sz="2000" b="1" i="1">
                          <a:solidFill>
                            <a:srgbClr val="000000"/>
                          </a:solidFill>
                          <a:latin typeface="Cambria Math" panose="02040503050406030204" pitchFamily="18" charset="0"/>
                        </a:rPr>
                        <m:t>+</m:t>
                      </m:r>
                    </m:oMath>
                  </m:oMathPara>
                </a14:m>
                <a:endParaRPr lang="en-US" altLang="zh-CN" sz="2000" b="1" i="1" dirty="0">
                  <a:solidFill>
                    <a:srgbClr val="000000"/>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p>
                        <m:sSupPr>
                          <m:ctrlPr>
                            <a:rPr lang="zh-CN" altLang="en-US" sz="2000" b="1" i="1">
                              <a:solidFill>
                                <a:srgbClr val="000000"/>
                              </a:solidFill>
                              <a:latin typeface="Cambria Math" panose="02040503050406030204" pitchFamily="18" charset="0"/>
                            </a:rPr>
                          </m:ctrlPr>
                        </m:sSupPr>
                        <m:e>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𝒛</m:t>
                              </m:r>
                            </m:e>
                            <m:sub>
                              <m:r>
                                <a:rPr lang="zh-CN" altLang="en-US" sz="2000" b="1" i="1">
                                  <a:solidFill>
                                    <a:srgbClr val="000000"/>
                                  </a:solidFill>
                                  <a:latin typeface="Cambria Math" panose="02040503050406030204" pitchFamily="18" charset="0"/>
                                </a:rPr>
                                <m:t>𝟐</m:t>
                              </m:r>
                            </m:sub>
                          </m:sSub>
                        </m:e>
                        <m:sup>
                          <m:r>
                            <a:rPr lang="zh-CN" altLang="en-US" sz="2000" b="1" i="1">
                              <a:solidFill>
                                <a:srgbClr val="000000"/>
                              </a:solidFill>
                              <a:latin typeface="Cambria Math" panose="02040503050406030204" pitchFamily="18" charset="0"/>
                            </a:rPr>
                            <m:t>𝑻</m:t>
                          </m:r>
                        </m:sup>
                      </m:sSup>
                      <m:d>
                        <m:dPr>
                          <m:begChr m:val="["/>
                          <m:endChr m:val="]"/>
                          <m:ctrlPr>
                            <a:rPr lang="zh-CN" altLang="en-US" sz="2000" b="1" i="1">
                              <a:solidFill>
                                <a:srgbClr val="000000"/>
                              </a:solidFill>
                              <a:latin typeface="Cambria Math" panose="02040503050406030204" pitchFamily="18" charset="0"/>
                            </a:rPr>
                          </m:ctrlPr>
                        </m:dPr>
                        <m:e>
                          <m:r>
                            <a:rPr lang="zh-CN" altLang="en-US" sz="2000" b="1" i="1">
                              <a:solidFill>
                                <a:srgbClr val="000000"/>
                              </a:solidFill>
                              <a:latin typeface="Cambria Math" panose="02040503050406030204" pitchFamily="18" charset="0"/>
                            </a:rPr>
                            <m:t>𝝉</m:t>
                          </m:r>
                          <m:r>
                            <a:rPr lang="zh-CN" altLang="en-US" sz="2000" b="1" i="1">
                              <a:solidFill>
                                <a:srgbClr val="000000"/>
                              </a:solidFill>
                              <a:latin typeface="Cambria Math" panose="02040503050406030204" pitchFamily="18" charset="0"/>
                            </a:rPr>
                            <m:t>−</m:t>
                          </m:r>
                          <m:sSup>
                            <m:sSupPr>
                              <m:ctrlPr>
                                <a:rPr lang="zh-CN" altLang="en-US" sz="2000" b="1" i="1">
                                  <a:solidFill>
                                    <a:srgbClr val="000000"/>
                                  </a:solidFill>
                                  <a:latin typeface="Cambria Math" panose="02040503050406030204" pitchFamily="18" charset="0"/>
                                </a:rPr>
                              </m:ctrlPr>
                            </m:sSupPr>
                            <m:e>
                              <m:r>
                                <a:rPr lang="zh-CN" altLang="en-US" sz="2000" b="1" i="1">
                                  <a:solidFill>
                                    <a:srgbClr val="000000"/>
                                  </a:solidFill>
                                  <a:latin typeface="Cambria Math" panose="02040503050406030204" pitchFamily="18" charset="0"/>
                                </a:rPr>
                                <m:t>𝑱</m:t>
                              </m:r>
                            </m:e>
                            <m:sup>
                              <m:r>
                                <a:rPr lang="zh-CN" altLang="en-US" sz="2000" b="1" i="1">
                                  <a:solidFill>
                                    <a:srgbClr val="000000"/>
                                  </a:solidFill>
                                  <a:latin typeface="Cambria Math" panose="02040503050406030204" pitchFamily="18" charset="0"/>
                                </a:rPr>
                                <m:t>𝑻</m:t>
                              </m:r>
                            </m:sup>
                          </m:sSup>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𝒇</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𝑪</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𝟐</m:t>
                              </m:r>
                            </m:sub>
                          </m:sSub>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𝟐</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𝑮</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𝑴</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𝜶</m:t>
                                  </m:r>
                                </m:e>
                              </m:acc>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𝒕</m:t>
                          </m:r>
                          <m:r>
                            <a:rPr lang="zh-CN" altLang="en-US" sz="2000" b="1" i="1">
                              <a:solidFill>
                                <a:srgbClr val="000000"/>
                              </a:solidFill>
                              <a:latin typeface="Cambria Math" panose="02040503050406030204" pitchFamily="18" charset="0"/>
                            </a:rPr>
                            <m:t>)</m:t>
                          </m:r>
                        </m:e>
                      </m:d>
                      <m:r>
                        <a:rPr lang="zh-CN" altLang="en-US" sz="2000" b="1" i="1">
                          <a:solidFill>
                            <a:srgbClr val="000000"/>
                          </a:solidFill>
                          <a:latin typeface="Cambria Math" panose="02040503050406030204" pitchFamily="18" charset="0"/>
                        </a:rPr>
                        <m:t>+</m:t>
                      </m:r>
                      <m:f>
                        <m:fPr>
                          <m:ctrlPr>
                            <a:rPr lang="zh-CN" altLang="en-US" sz="2000" b="1" i="1">
                              <a:solidFill>
                                <a:srgbClr val="000000"/>
                              </a:solidFill>
                              <a:latin typeface="Cambria Math" panose="02040503050406030204" pitchFamily="18" charset="0"/>
                            </a:rPr>
                          </m:ctrlPr>
                        </m:fPr>
                        <m:num>
                          <m:r>
                            <a:rPr lang="zh-CN" altLang="en-US" sz="2000" b="1" i="1">
                              <a:solidFill>
                                <a:srgbClr val="000000"/>
                              </a:solidFill>
                              <a:latin typeface="Cambria Math" panose="02040503050406030204" pitchFamily="18" charset="0"/>
                            </a:rPr>
                            <m:t>𝟏</m:t>
                          </m:r>
                        </m:num>
                        <m:den>
                          <m:r>
                            <a:rPr lang="zh-CN" altLang="en-US" sz="2000" b="1" i="1">
                              <a:solidFill>
                                <a:srgbClr val="000000"/>
                              </a:solidFill>
                              <a:latin typeface="Cambria Math" panose="02040503050406030204" pitchFamily="18" charset="0"/>
                            </a:rPr>
                            <m:t>𝟐</m:t>
                          </m:r>
                        </m:den>
                      </m:f>
                      <m:sSup>
                        <m:sSupPr>
                          <m:ctrlPr>
                            <a:rPr lang="zh-CN" altLang="en-US" sz="2000" b="1" i="1">
                              <a:solidFill>
                                <a:srgbClr val="000000"/>
                              </a:solidFill>
                              <a:latin typeface="Cambria Math" panose="02040503050406030204" pitchFamily="18" charset="0"/>
                            </a:rPr>
                          </m:ctrlPr>
                        </m:sSupPr>
                        <m:e>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𝒛</m:t>
                              </m:r>
                            </m:e>
                            <m:sub>
                              <m:r>
                                <a:rPr lang="zh-CN" altLang="en-US" sz="2000" b="1" i="1">
                                  <a:solidFill>
                                    <a:srgbClr val="000000"/>
                                  </a:solidFill>
                                  <a:latin typeface="Cambria Math" panose="02040503050406030204" pitchFamily="18" charset="0"/>
                                </a:rPr>
                                <m:t>𝟐</m:t>
                              </m:r>
                            </m:sub>
                          </m:sSub>
                        </m:e>
                        <m:sup>
                          <m:r>
                            <a:rPr lang="zh-CN" altLang="en-US" sz="2000" b="1" i="1">
                              <a:solidFill>
                                <a:srgbClr val="000000"/>
                              </a:solidFill>
                              <a:latin typeface="Cambria Math" panose="02040503050406030204" pitchFamily="18" charset="0"/>
                            </a:rPr>
                            <m:t>𝑻</m:t>
                          </m:r>
                        </m:sup>
                      </m:sSup>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𝑴</m:t>
                          </m:r>
                        </m:e>
                      </m:acc>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𝒛</m:t>
                          </m:r>
                        </m:e>
                        <m:sub>
                          <m:r>
                            <a:rPr lang="zh-CN" altLang="en-US" sz="2000" b="1" i="1">
                              <a:solidFill>
                                <a:srgbClr val="000000"/>
                              </a:solidFill>
                              <a:latin typeface="Cambria Math" panose="02040503050406030204" pitchFamily="18" charset="0"/>
                            </a:rPr>
                            <m:t>𝟐</m:t>
                          </m:r>
                        </m:sub>
                      </m:sSub>
                    </m:oMath>
                    <m:oMath xmlns:m="http://schemas.openxmlformats.org/officeDocument/2006/math">
                      <m:r>
                        <a:rPr lang="zh-CN" altLang="en-US" sz="2000" b="1" i="1">
                          <a:solidFill>
                            <a:srgbClr val="000000"/>
                          </a:solidFill>
                          <a:latin typeface="Cambria Math" panose="02040503050406030204" pitchFamily="18" charset="0"/>
                        </a:rPr>
                        <m:t>=−</m:t>
                      </m:r>
                      <m:sSup>
                        <m:sSupPr>
                          <m:ctrlPr>
                            <a:rPr lang="zh-CN" altLang="en-US" sz="2000" b="1" i="1">
                              <a:solidFill>
                                <a:srgbClr val="000000"/>
                              </a:solidFill>
                              <a:latin typeface="Cambria Math" panose="02040503050406030204" pitchFamily="18" charset="0"/>
                            </a:rPr>
                          </m:ctrlPr>
                        </m:sSupPr>
                        <m:e>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𝒛</m:t>
                              </m:r>
                            </m:e>
                            <m:sub>
                              <m:r>
                                <a:rPr lang="zh-CN" altLang="en-US" sz="2000" b="1" i="1">
                                  <a:solidFill>
                                    <a:srgbClr val="000000"/>
                                  </a:solidFill>
                                  <a:latin typeface="Cambria Math" panose="02040503050406030204" pitchFamily="18" charset="0"/>
                                </a:rPr>
                                <m:t>𝟏</m:t>
                              </m:r>
                            </m:sub>
                          </m:sSub>
                        </m:e>
                        <m:sup>
                          <m:r>
                            <a:rPr lang="zh-CN" altLang="en-US" sz="2000" b="1" i="1">
                              <a:solidFill>
                                <a:srgbClr val="000000"/>
                              </a:solidFill>
                              <a:latin typeface="Cambria Math" panose="02040503050406030204" pitchFamily="18" charset="0"/>
                            </a:rPr>
                            <m:t>𝑻</m:t>
                          </m:r>
                        </m:sup>
                      </m:sSup>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𝑲</m:t>
                          </m:r>
                        </m:e>
                        <m:sub>
                          <m:r>
                            <a:rPr lang="zh-CN" altLang="en-US" sz="2000" b="1" i="1">
                              <a:solidFill>
                                <a:srgbClr val="000000"/>
                              </a:solidFill>
                              <a:latin typeface="Cambria Math" panose="02040503050406030204" pitchFamily="18" charset="0"/>
                            </a:rPr>
                            <m:t>𝟏</m:t>
                          </m:r>
                        </m:sub>
                      </m:sSub>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𝒛</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sSup>
                        <m:sSupPr>
                          <m:ctrlPr>
                            <a:rPr lang="zh-CN" altLang="en-US" sz="2000" b="1" i="1">
                              <a:solidFill>
                                <a:srgbClr val="000000"/>
                              </a:solidFill>
                              <a:latin typeface="Cambria Math" panose="02040503050406030204" pitchFamily="18" charset="0"/>
                            </a:rPr>
                          </m:ctrlPr>
                        </m:sSupPr>
                        <m:e>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𝒛</m:t>
                              </m:r>
                            </m:e>
                            <m:sub>
                              <m:r>
                                <a:rPr lang="zh-CN" altLang="en-US" sz="2000" b="1" i="1">
                                  <a:solidFill>
                                    <a:srgbClr val="000000"/>
                                  </a:solidFill>
                                  <a:latin typeface="Cambria Math" panose="02040503050406030204" pitchFamily="18" charset="0"/>
                                </a:rPr>
                                <m:t>𝟏</m:t>
                              </m:r>
                            </m:sub>
                          </m:sSub>
                        </m:e>
                        <m:sup>
                          <m:r>
                            <a:rPr lang="zh-CN" altLang="en-US" sz="2000" b="1" i="1">
                              <a:solidFill>
                                <a:srgbClr val="000000"/>
                              </a:solidFill>
                              <a:latin typeface="Cambria Math" panose="02040503050406030204" pitchFamily="18" charset="0"/>
                            </a:rPr>
                            <m:t>𝑻</m:t>
                          </m:r>
                        </m:sup>
                      </m:sSup>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𝒛</m:t>
                          </m:r>
                        </m:e>
                        <m:sub>
                          <m:r>
                            <a:rPr lang="zh-CN" altLang="en-US" sz="2000" b="1" i="1">
                              <a:solidFill>
                                <a:srgbClr val="000000"/>
                              </a:solidFill>
                              <a:latin typeface="Cambria Math" panose="02040503050406030204" pitchFamily="18" charset="0"/>
                            </a:rPr>
                            <m:t>𝟐</m:t>
                          </m:r>
                        </m:sub>
                      </m:sSub>
                      <m:r>
                        <a:rPr lang="zh-CN" altLang="en-US" sz="2000" b="1" i="1">
                          <a:solidFill>
                            <a:srgbClr val="000000"/>
                          </a:solidFill>
                          <a:latin typeface="Cambria Math" panose="02040503050406030204" pitchFamily="18" charset="0"/>
                        </a:rPr>
                        <m:t>+</m:t>
                      </m:r>
                    </m:oMath>
                    <m:oMath xmlns:m="http://schemas.openxmlformats.org/officeDocument/2006/math">
                      <m:sSup>
                        <m:sSupPr>
                          <m:ctrlPr>
                            <a:rPr lang="zh-CN" altLang="en-US" sz="2000" b="1" i="1">
                              <a:solidFill>
                                <a:srgbClr val="000000"/>
                              </a:solidFill>
                              <a:latin typeface="Cambria Math" panose="02040503050406030204" pitchFamily="18" charset="0"/>
                            </a:rPr>
                          </m:ctrlPr>
                        </m:sSupPr>
                        <m:e>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𝒛</m:t>
                              </m:r>
                            </m:e>
                            <m:sub>
                              <m:r>
                                <a:rPr lang="zh-CN" altLang="en-US" sz="2000" b="1" i="1">
                                  <a:solidFill>
                                    <a:srgbClr val="000000"/>
                                  </a:solidFill>
                                  <a:latin typeface="Cambria Math" panose="02040503050406030204" pitchFamily="18" charset="0"/>
                                </a:rPr>
                                <m:t>𝟐</m:t>
                              </m:r>
                            </m:sub>
                          </m:sSub>
                        </m:e>
                        <m:sup>
                          <m:r>
                            <a:rPr lang="zh-CN" altLang="en-US" sz="2000" b="1" i="1">
                              <a:solidFill>
                                <a:srgbClr val="000000"/>
                              </a:solidFill>
                              <a:latin typeface="Cambria Math" panose="02040503050406030204" pitchFamily="18" charset="0"/>
                            </a:rPr>
                            <m:t>𝑻</m:t>
                          </m:r>
                        </m:sup>
                      </m:sSup>
                      <m:d>
                        <m:dPr>
                          <m:begChr m:val="["/>
                          <m:endChr m:val="]"/>
                          <m:ctrlPr>
                            <a:rPr lang="zh-CN" altLang="en-US" sz="2000" b="1" i="1">
                              <a:solidFill>
                                <a:srgbClr val="000000"/>
                              </a:solidFill>
                              <a:latin typeface="Cambria Math" panose="02040503050406030204" pitchFamily="18" charset="0"/>
                            </a:rPr>
                          </m:ctrlPr>
                        </m:dPr>
                        <m:e>
                          <m:r>
                            <a:rPr lang="zh-CN" altLang="en-US" sz="2000" b="1" i="1">
                              <a:solidFill>
                                <a:srgbClr val="000000"/>
                              </a:solidFill>
                              <a:latin typeface="Cambria Math" panose="02040503050406030204" pitchFamily="18" charset="0"/>
                            </a:rPr>
                            <m:t>𝝉</m:t>
                          </m:r>
                          <m:r>
                            <a:rPr lang="zh-CN" altLang="en-US" sz="2000" b="1" i="1">
                              <a:solidFill>
                                <a:srgbClr val="000000"/>
                              </a:solidFill>
                              <a:latin typeface="Cambria Math" panose="02040503050406030204" pitchFamily="18" charset="0"/>
                            </a:rPr>
                            <m:t>−</m:t>
                          </m:r>
                          <m:sSup>
                            <m:sSupPr>
                              <m:ctrlPr>
                                <a:rPr lang="zh-CN" altLang="en-US" sz="2000" b="1" i="1">
                                  <a:solidFill>
                                    <a:srgbClr val="000000"/>
                                  </a:solidFill>
                                  <a:latin typeface="Cambria Math" panose="02040503050406030204" pitchFamily="18" charset="0"/>
                                </a:rPr>
                              </m:ctrlPr>
                            </m:sSupPr>
                            <m:e>
                              <m:r>
                                <a:rPr lang="zh-CN" altLang="en-US" sz="2000" b="1" i="1">
                                  <a:solidFill>
                                    <a:srgbClr val="000000"/>
                                  </a:solidFill>
                                  <a:latin typeface="Cambria Math" panose="02040503050406030204" pitchFamily="18" charset="0"/>
                                </a:rPr>
                                <m:t>𝑱</m:t>
                              </m:r>
                            </m:e>
                            <m:sup>
                              <m:r>
                                <a:rPr lang="zh-CN" altLang="en-US" sz="2000" b="1" i="1">
                                  <a:solidFill>
                                    <a:srgbClr val="000000"/>
                                  </a:solidFill>
                                  <a:latin typeface="Cambria Math" panose="02040503050406030204" pitchFamily="18" charset="0"/>
                                </a:rPr>
                                <m:t>𝑻</m:t>
                              </m:r>
                            </m:sup>
                          </m:sSup>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𝒇</m:t>
                          </m:r>
                          <m:r>
                            <a:rPr lang="zh-CN" altLang="en-US" sz="2000" b="1" i="1">
                              <a:solidFill>
                                <a:srgbClr val="000000"/>
                              </a:solidFill>
                              <a:latin typeface="Cambria Math" panose="02040503050406030204" pitchFamily="18" charset="0"/>
                            </a:rPr>
                            <m:t>+</m:t>
                          </m:r>
                          <m:f>
                            <m:fPr>
                              <m:ctrlPr>
                                <a:rPr lang="zh-CN" altLang="en-US" sz="2000" b="1" i="1">
                                  <a:solidFill>
                                    <a:srgbClr val="000000"/>
                                  </a:solidFill>
                                  <a:latin typeface="Cambria Math" panose="02040503050406030204" pitchFamily="18" charset="0"/>
                                </a:rPr>
                              </m:ctrlPr>
                            </m:fPr>
                            <m:num>
                              <m:r>
                                <a:rPr lang="zh-CN" altLang="en-US" sz="2000" b="1" i="1">
                                  <a:solidFill>
                                    <a:srgbClr val="000000"/>
                                  </a:solidFill>
                                  <a:latin typeface="Cambria Math" panose="02040503050406030204" pitchFamily="18" charset="0"/>
                                </a:rPr>
                                <m:t>𝟏</m:t>
                              </m:r>
                            </m:num>
                            <m:den>
                              <m:r>
                                <a:rPr lang="zh-CN" altLang="en-US" sz="2000" b="1" i="1">
                                  <a:solidFill>
                                    <a:srgbClr val="000000"/>
                                  </a:solidFill>
                                  <a:latin typeface="Cambria Math" panose="02040503050406030204" pitchFamily="18" charset="0"/>
                                </a:rPr>
                                <m:t>𝟐</m:t>
                              </m:r>
                            </m:den>
                          </m:f>
                          <m:r>
                            <a:rPr lang="zh-CN" altLang="en-US" sz="2000" b="1" i="1">
                              <a:solidFill>
                                <a:srgbClr val="000000"/>
                              </a:solidFill>
                              <a:latin typeface="Cambria Math" panose="02040503050406030204" pitchFamily="18" charset="0"/>
                            </a:rPr>
                            <m:t>(</m:t>
                          </m:r>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𝑴</m:t>
                              </m:r>
                            </m:e>
                          </m:acc>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𝟐</m:t>
                          </m:r>
                          <m:r>
                            <a:rPr lang="zh-CN" altLang="en-US" sz="2000" b="1" i="1">
                              <a:solidFill>
                                <a:srgbClr val="000000"/>
                              </a:solidFill>
                              <a:latin typeface="Cambria Math" panose="02040503050406030204" pitchFamily="18" charset="0"/>
                            </a:rPr>
                            <m:t>𝑪</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𝟐</m:t>
                              </m:r>
                            </m:sub>
                          </m:sSub>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𝒛</m:t>
                              </m:r>
                            </m:e>
                            <m:sub>
                              <m:r>
                                <a:rPr lang="zh-CN" altLang="en-US" sz="2000" b="1" i="1">
                                  <a:solidFill>
                                    <a:srgbClr val="000000"/>
                                  </a:solidFill>
                                  <a:latin typeface="Cambria Math" panose="02040503050406030204" pitchFamily="18" charset="0"/>
                                </a:rPr>
                                <m:t>𝟐</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𝑮</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𝑪</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𝟐</m:t>
                              </m:r>
                            </m:sub>
                          </m:sSub>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𝜶</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𝒕</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𝑮</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𝑴</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𝜶</m:t>
                                  </m:r>
                                </m:e>
                              </m:acc>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𝒕</m:t>
                          </m:r>
                          <m:r>
                            <a:rPr lang="zh-CN" altLang="en-US" sz="2000" b="1" i="1">
                              <a:solidFill>
                                <a:srgbClr val="000000"/>
                              </a:solidFill>
                              <a:latin typeface="Cambria Math" panose="02040503050406030204" pitchFamily="18" charset="0"/>
                            </a:rPr>
                            <m:t>)</m:t>
                          </m:r>
                        </m:e>
                      </m:d>
                    </m:oMath>
                    <m:oMath xmlns:m="http://schemas.openxmlformats.org/officeDocument/2006/math">
                      <m:r>
                        <a:rPr lang="zh-CN" altLang="en-US" sz="2000" b="1" i="1">
                          <a:solidFill>
                            <a:srgbClr val="000000"/>
                          </a:solidFill>
                          <a:latin typeface="Cambria Math" panose="02040503050406030204" pitchFamily="18" charset="0"/>
                        </a:rPr>
                        <m:t>=−</m:t>
                      </m:r>
                      <m:sSup>
                        <m:sSupPr>
                          <m:ctrlPr>
                            <a:rPr lang="zh-CN" altLang="en-US" sz="2000" b="1" i="1">
                              <a:solidFill>
                                <a:srgbClr val="000000"/>
                              </a:solidFill>
                              <a:latin typeface="Cambria Math" panose="02040503050406030204" pitchFamily="18" charset="0"/>
                            </a:rPr>
                          </m:ctrlPr>
                        </m:sSupPr>
                        <m:e>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𝒛</m:t>
                              </m:r>
                            </m:e>
                            <m:sub>
                              <m:r>
                                <a:rPr lang="zh-CN" altLang="en-US" sz="2000" b="1" i="1">
                                  <a:solidFill>
                                    <a:srgbClr val="000000"/>
                                  </a:solidFill>
                                  <a:latin typeface="Cambria Math" panose="02040503050406030204" pitchFamily="18" charset="0"/>
                                </a:rPr>
                                <m:t>𝟏</m:t>
                              </m:r>
                            </m:sub>
                          </m:sSub>
                        </m:e>
                        <m:sup>
                          <m:r>
                            <a:rPr lang="zh-CN" altLang="en-US" sz="2000" b="1" i="1">
                              <a:solidFill>
                                <a:srgbClr val="000000"/>
                              </a:solidFill>
                              <a:latin typeface="Cambria Math" panose="02040503050406030204" pitchFamily="18" charset="0"/>
                            </a:rPr>
                            <m:t>𝑻</m:t>
                          </m:r>
                        </m:sup>
                      </m:sSup>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𝑲</m:t>
                          </m:r>
                        </m:e>
                        <m:sub>
                          <m:r>
                            <a:rPr lang="zh-CN" altLang="en-US" sz="2000" b="1" i="1">
                              <a:solidFill>
                                <a:srgbClr val="000000"/>
                              </a:solidFill>
                              <a:latin typeface="Cambria Math" panose="02040503050406030204" pitchFamily="18" charset="0"/>
                            </a:rPr>
                            <m:t>𝟏</m:t>
                          </m:r>
                        </m:sub>
                      </m:sSub>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𝒛</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sSup>
                        <m:sSupPr>
                          <m:ctrlPr>
                            <a:rPr lang="zh-CN" altLang="en-US" sz="2000" b="1" i="1">
                              <a:solidFill>
                                <a:srgbClr val="000000"/>
                              </a:solidFill>
                              <a:latin typeface="Cambria Math" panose="02040503050406030204" pitchFamily="18" charset="0"/>
                            </a:rPr>
                          </m:ctrlPr>
                        </m:sSupPr>
                        <m:e>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𝒛</m:t>
                              </m:r>
                            </m:e>
                            <m:sub>
                              <m:r>
                                <a:rPr lang="zh-CN" altLang="en-US" sz="2000" b="1" i="1">
                                  <a:solidFill>
                                    <a:srgbClr val="000000"/>
                                  </a:solidFill>
                                  <a:latin typeface="Cambria Math" panose="02040503050406030204" pitchFamily="18" charset="0"/>
                                </a:rPr>
                                <m:t>𝟏</m:t>
                              </m:r>
                            </m:sub>
                          </m:sSub>
                        </m:e>
                        <m:sup>
                          <m:r>
                            <a:rPr lang="zh-CN" altLang="en-US" sz="2000" b="1" i="1">
                              <a:solidFill>
                                <a:srgbClr val="000000"/>
                              </a:solidFill>
                              <a:latin typeface="Cambria Math" panose="02040503050406030204" pitchFamily="18" charset="0"/>
                            </a:rPr>
                            <m:t>𝑻</m:t>
                          </m:r>
                        </m:sup>
                      </m:sSup>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𝒛</m:t>
                          </m:r>
                        </m:e>
                        <m:sub>
                          <m:r>
                            <a:rPr lang="zh-CN" altLang="en-US" sz="2000" b="1" i="1">
                              <a:solidFill>
                                <a:srgbClr val="000000"/>
                              </a:solidFill>
                              <a:latin typeface="Cambria Math" panose="02040503050406030204" pitchFamily="18" charset="0"/>
                            </a:rPr>
                            <m:t>𝟐</m:t>
                          </m:r>
                        </m:sub>
                      </m:sSub>
                      <m:r>
                        <a:rPr lang="zh-CN" altLang="en-US" sz="2000" b="1" i="1">
                          <a:solidFill>
                            <a:srgbClr val="000000"/>
                          </a:solidFill>
                          <a:latin typeface="Cambria Math" panose="02040503050406030204" pitchFamily="18" charset="0"/>
                        </a:rPr>
                        <m:t>+</m:t>
                      </m:r>
                      <m:sSup>
                        <m:sSupPr>
                          <m:ctrlPr>
                            <a:rPr lang="zh-CN" altLang="en-US" sz="2000" b="1" i="1">
                              <a:solidFill>
                                <a:srgbClr val="000000"/>
                              </a:solidFill>
                              <a:latin typeface="Cambria Math" panose="02040503050406030204" pitchFamily="18" charset="0"/>
                            </a:rPr>
                          </m:ctrlPr>
                        </m:sSupPr>
                        <m:e>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𝒛</m:t>
                              </m:r>
                            </m:e>
                            <m:sub>
                              <m:r>
                                <a:rPr lang="zh-CN" altLang="en-US" sz="2000" b="1" i="1">
                                  <a:solidFill>
                                    <a:srgbClr val="000000"/>
                                  </a:solidFill>
                                  <a:latin typeface="Cambria Math" panose="02040503050406030204" pitchFamily="18" charset="0"/>
                                </a:rPr>
                                <m:t>𝟐</m:t>
                              </m:r>
                            </m:sub>
                          </m:sSub>
                        </m:e>
                        <m:sup>
                          <m:r>
                            <a:rPr lang="zh-CN" altLang="en-US" sz="2000" b="1" i="1">
                              <a:solidFill>
                                <a:srgbClr val="000000"/>
                              </a:solidFill>
                              <a:latin typeface="Cambria Math" panose="02040503050406030204" pitchFamily="18" charset="0"/>
                            </a:rPr>
                            <m:t>𝑻</m:t>
                          </m:r>
                        </m:sup>
                      </m:sSup>
                      <m:d>
                        <m:dPr>
                          <m:begChr m:val="["/>
                          <m:endChr m:val="]"/>
                          <m:ctrlPr>
                            <a:rPr lang="zh-CN" altLang="en-US" sz="2000" b="1" i="1">
                              <a:solidFill>
                                <a:srgbClr val="000000"/>
                              </a:solidFill>
                              <a:latin typeface="Cambria Math" panose="02040503050406030204" pitchFamily="18" charset="0"/>
                            </a:rPr>
                          </m:ctrlPr>
                        </m:dPr>
                        <m:e>
                          <m:r>
                            <a:rPr lang="zh-CN" altLang="en-US" sz="2000" b="1" i="1">
                              <a:solidFill>
                                <a:srgbClr val="000000"/>
                              </a:solidFill>
                              <a:latin typeface="Cambria Math" panose="02040503050406030204" pitchFamily="18" charset="0"/>
                            </a:rPr>
                            <m:t>𝝉</m:t>
                          </m:r>
                          <m:r>
                            <a:rPr lang="zh-CN" altLang="en-US" sz="2000" b="1" i="1">
                              <a:solidFill>
                                <a:srgbClr val="000000"/>
                              </a:solidFill>
                              <a:latin typeface="Cambria Math" panose="02040503050406030204" pitchFamily="18" charset="0"/>
                            </a:rPr>
                            <m:t>−</m:t>
                          </m:r>
                          <m:sSup>
                            <m:sSupPr>
                              <m:ctrlPr>
                                <a:rPr lang="zh-CN" altLang="en-US" sz="2000" b="1" i="1">
                                  <a:solidFill>
                                    <a:srgbClr val="000000"/>
                                  </a:solidFill>
                                  <a:latin typeface="Cambria Math" panose="02040503050406030204" pitchFamily="18" charset="0"/>
                                </a:rPr>
                              </m:ctrlPr>
                            </m:sSupPr>
                            <m:e>
                              <m:r>
                                <a:rPr lang="zh-CN" altLang="en-US" sz="2000" b="1" i="1">
                                  <a:solidFill>
                                    <a:srgbClr val="000000"/>
                                  </a:solidFill>
                                  <a:latin typeface="Cambria Math" panose="02040503050406030204" pitchFamily="18" charset="0"/>
                                </a:rPr>
                                <m:t>𝑱</m:t>
                              </m:r>
                            </m:e>
                            <m:sup>
                              <m:r>
                                <a:rPr lang="zh-CN" altLang="en-US" sz="2000" b="1" i="1">
                                  <a:solidFill>
                                    <a:srgbClr val="000000"/>
                                  </a:solidFill>
                                  <a:latin typeface="Cambria Math" panose="02040503050406030204" pitchFamily="18" charset="0"/>
                                </a:rPr>
                                <m:t>𝑻</m:t>
                              </m:r>
                            </m:sup>
                          </m:sSup>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𝒇</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𝑪</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𝟐</m:t>
                              </m:r>
                            </m:sub>
                          </m:sSub>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𝜶</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𝒕</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𝑮</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𝑴</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𝜶</m:t>
                                  </m:r>
                                </m:e>
                              </m:acc>
                            </m:e>
                            <m:sub>
                              <m:r>
                                <a:rPr lang="zh-CN" altLang="en-US" sz="2000" b="1" i="1">
                                  <a:solidFill>
                                    <a:srgbClr val="000000"/>
                                  </a:solidFill>
                                  <a:latin typeface="Cambria Math" panose="02040503050406030204" pitchFamily="18" charset="0"/>
                                </a:rPr>
                                <m:t>𝟏</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𝒕</m:t>
                          </m:r>
                          <m:r>
                            <a:rPr lang="zh-CN" altLang="en-US" sz="2000" b="1" i="1">
                              <a:solidFill>
                                <a:srgbClr val="000000"/>
                              </a:solidFill>
                              <a:latin typeface="Cambria Math" panose="02040503050406030204" pitchFamily="18" charset="0"/>
                            </a:rPr>
                            <m:t>)</m:t>
                          </m:r>
                        </m:e>
                      </m:d>
                    </m:oMath>
                  </m:oMathPara>
                </a14:m>
                <a:endParaRPr lang="zh-CN" altLang="en-US" sz="2000" b="1" dirty="0"/>
              </a:p>
            </p:txBody>
          </p:sp>
        </mc:Choice>
        <mc:Fallback xmlns="">
          <p:sp>
            <p:nvSpPr>
              <p:cNvPr id="5" name="对象 2">
                <a:extLst>
                  <a:ext uri="{FF2B5EF4-FFF2-40B4-BE49-F238E27FC236}">
                    <a16:creationId xmlns:a16="http://schemas.microsoft.com/office/drawing/2014/main" id="{D09840F8-6563-D30B-DD87-F233267BFAAF}"/>
                  </a:ext>
                </a:extLst>
              </p:cNvPr>
              <p:cNvSpPr txBox="1">
                <a:spLocks noRot="1" noChangeAspect="1" noMove="1" noResize="1" noEditPoints="1" noAdjustHandles="1" noChangeArrowheads="1" noChangeShapeType="1" noTextEdit="1"/>
              </p:cNvSpPr>
              <p:nvPr/>
            </p:nvSpPr>
            <p:spPr bwMode="auto">
              <a:xfrm>
                <a:off x="914400" y="3657600"/>
                <a:ext cx="10887075" cy="2905125"/>
              </a:xfrm>
              <a:prstGeom prst="rect">
                <a:avLst/>
              </a:prstGeom>
              <a:blipFill>
                <a:blip r:embed="rId4"/>
                <a:stretch>
                  <a:fillRect/>
                </a:stretch>
              </a:blipFill>
              <a:ln>
                <a:solidFill>
                  <a:schemeClr val="bg1"/>
                </a:solidFill>
              </a:ln>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09EE3A69-B687-EA52-1233-43798C5B217F}"/>
              </a:ext>
            </a:extLst>
          </p:cNvPr>
          <p:cNvSpPr txBox="1"/>
          <p:nvPr>
            <p:custDataLst>
              <p:tags r:id="rId1"/>
            </p:custDataLst>
          </p:nvPr>
        </p:nvSpPr>
        <p:spPr>
          <a:xfrm>
            <a:off x="1357313" y="128685"/>
            <a:ext cx="8158162" cy="954107"/>
          </a:xfrm>
          <a:prstGeom prst="rect">
            <a:avLst/>
          </a:prstGeom>
          <a:noFill/>
        </p:spPr>
        <p:txBody>
          <a:bodyPr wrap="square" rtlCol="0">
            <a:spAutoFit/>
          </a:bodyPr>
          <a:lstStyle/>
          <a:p>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状态信息完全已知情况下的</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90D593AF-9516-A1CB-D48A-F25EE0725EFB}"/>
                  </a:ext>
                </a:extLst>
              </p:cNvPr>
              <p:cNvSpPr txBox="1"/>
              <p:nvPr/>
            </p:nvSpPr>
            <p:spPr>
              <a:xfrm>
                <a:off x="942975" y="1209676"/>
                <a:ext cx="10563225" cy="1697324"/>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从而基于模型的控制率可以设计如下：</a:t>
                </a:r>
              </a:p>
              <a:p>
                <a:pPr algn="just">
                  <a:spcBef>
                    <a:spcPts val="400"/>
                  </a:spcBef>
                  <a:spcAft>
                    <a:spcPts val="4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𝝉</m:t>
                        </m:r>
                      </m:e>
                      <m:sub>
                        <m:r>
                          <a:rPr lang="en-US" altLang="zh-CN" sz="2000" b="1" i="1" kern="1050" smtClean="0">
                            <a:effectLst/>
                            <a:latin typeface="Cambria Math" panose="02040503050406030204" pitchFamily="18" charset="0"/>
                            <a:ea typeface="宋体" panose="02010600030101010101" pitchFamily="2" charset="-122"/>
                          </a:rPr>
                          <m:t>𝟎</m:t>
                        </m:r>
                      </m:sub>
                    </m:sSub>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𝟏</m:t>
                        </m:r>
                      </m:sub>
                    </m:sSub>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𝑲</m:t>
                        </m:r>
                      </m:e>
                      <m:sub>
                        <m:r>
                          <a:rPr lang="en-US" altLang="zh-CN" sz="2000" b="1" i="1" kern="1050" smtClean="0">
                            <a:effectLst/>
                            <a:latin typeface="Cambria Math" panose="02040503050406030204" pitchFamily="18" charset="0"/>
                            <a:ea typeface="宋体" panose="02010600030101010101" pitchFamily="2" charset="-122"/>
                          </a:rPr>
                          <m:t>𝟐</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𝟐</m:t>
                        </m:r>
                      </m:sub>
                    </m:sSub>
                    <m:r>
                      <a:rPr lang="en-US" altLang="zh-CN" sz="2000" b="1" i="1" kern="1050" smtClean="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smtClean="0">
                            <a:effectLst/>
                            <a:latin typeface="Cambria Math" panose="02040503050406030204" pitchFamily="18" charset="0"/>
                            <a:ea typeface="宋体" panose="02010600030101010101" pitchFamily="2" charset="-122"/>
                          </a:rPr>
                          <m:t>𝑱</m:t>
                        </m:r>
                      </m:e>
                      <m:sup>
                        <m:r>
                          <a:rPr lang="en-US" altLang="zh-CN" sz="2000" b="1" i="1" kern="1050" smtClean="0">
                            <a:effectLst/>
                            <a:latin typeface="Cambria Math" panose="02040503050406030204" pitchFamily="18" charset="0"/>
                            <a:ea typeface="宋体" panose="02010600030101010101" pitchFamily="2" charset="-122"/>
                          </a:rPr>
                          <m:t>𝑻</m:t>
                        </m:r>
                      </m:sup>
                    </m:sSup>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𝒙</m:t>
                        </m:r>
                      </m:e>
                      <m:sub>
                        <m:r>
                          <a:rPr lang="en-US" altLang="zh-CN" sz="2000" b="1" i="1" kern="1050" smtClean="0">
                            <a:effectLst/>
                            <a:latin typeface="Cambria Math" panose="02040503050406030204" pitchFamily="18" charset="0"/>
                            <a:ea typeface="宋体" panose="02010600030101010101" pitchFamily="2" charset="-122"/>
                          </a:rPr>
                          <m:t>𝟏</m:t>
                        </m:r>
                      </m:sub>
                    </m:sSub>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𝒇</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𝑪</m:t>
                    </m:r>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𝒙</m:t>
                        </m:r>
                      </m:e>
                      <m:sub>
                        <m:r>
                          <a:rPr lang="en-US" altLang="zh-CN" sz="2000" b="1" i="1" kern="1050" smtClean="0">
                            <a:effectLst/>
                            <a:latin typeface="Cambria Math" panose="02040503050406030204" pitchFamily="18" charset="0"/>
                            <a:ea typeface="宋体" panose="02010600030101010101" pitchFamily="2" charset="-122"/>
                          </a:rPr>
                          <m:t>𝟏</m:t>
                        </m:r>
                      </m:sub>
                    </m:sSub>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𝒙</m:t>
                        </m:r>
                      </m:e>
                      <m:sub>
                        <m:r>
                          <a:rPr lang="en-US" altLang="zh-CN" sz="2000" b="1" i="1" kern="1050" smtClean="0">
                            <a:effectLst/>
                            <a:latin typeface="Cambria Math" panose="02040503050406030204" pitchFamily="18" charset="0"/>
                            <a:ea typeface="宋体" panose="02010600030101010101" pitchFamily="2" charset="-122"/>
                          </a:rPr>
                          <m:t>𝟐</m:t>
                        </m:r>
                      </m:sub>
                    </m:sSub>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𝜶</m:t>
                        </m:r>
                      </m:e>
                      <m:sub>
                        <m:r>
                          <a:rPr lang="en-US" altLang="zh-CN" sz="2000" b="1" i="1" kern="1050" smtClean="0">
                            <a:effectLst/>
                            <a:latin typeface="Cambria Math" panose="02040503050406030204" pitchFamily="18" charset="0"/>
                            <a:ea typeface="宋体" panose="02010600030101010101" pitchFamily="2" charset="-122"/>
                          </a:rPr>
                          <m:t>𝟏</m:t>
                        </m:r>
                      </m:sub>
                    </m:sSub>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𝒕</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𝑮</m:t>
                    </m:r>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𝒙</m:t>
                        </m:r>
                      </m:e>
                      <m:sub>
                        <m:r>
                          <a:rPr lang="en-US" altLang="zh-CN" sz="2000" b="1" i="1" kern="1050" smtClean="0">
                            <a:effectLst/>
                            <a:latin typeface="Cambria Math" panose="02040503050406030204" pitchFamily="18" charset="0"/>
                            <a:ea typeface="宋体" panose="02010600030101010101" pitchFamily="2" charset="-122"/>
                          </a:rPr>
                          <m:t>𝟏</m:t>
                        </m:r>
                      </m:sub>
                    </m:sSub>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𝑴</m:t>
                    </m:r>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𝒙</m:t>
                        </m:r>
                      </m:e>
                      <m:sub>
                        <m:r>
                          <a:rPr lang="en-US" altLang="zh-CN" sz="2000" b="1" i="1" kern="1050" smtClean="0">
                            <a:effectLst/>
                            <a:latin typeface="Cambria Math" panose="02040503050406030204" pitchFamily="18" charset="0"/>
                            <a:ea typeface="宋体" panose="02010600030101010101" pitchFamily="2" charset="-122"/>
                          </a:rPr>
                          <m:t>𝟏</m:t>
                        </m:r>
                      </m:sub>
                    </m:sSub>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𝜶</m:t>
                            </m:r>
                          </m:e>
                        </m:acc>
                      </m:e>
                      <m:sub>
                        <m:r>
                          <a:rPr lang="en-US" altLang="zh-CN" sz="2000" b="1" i="1" kern="1050" smtClean="0">
                            <a:effectLst/>
                            <a:latin typeface="Cambria Math" panose="02040503050406030204" pitchFamily="18" charset="0"/>
                            <a:ea typeface="宋体" panose="02010600030101010101" pitchFamily="2" charset="-122"/>
                          </a:rPr>
                          <m:t>𝟏</m:t>
                        </m:r>
                      </m:sub>
                    </m:sSub>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𝒕</m:t>
                    </m:r>
                    <m:r>
                      <a:rPr lang="en-US" altLang="zh-CN" sz="2000" b="1" i="1" kern="1050" smtClean="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(7.41)</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这里的增益矩阵</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𝑲</m:t>
                        </m:r>
                      </m:e>
                      <m:sub>
                        <m:r>
                          <a:rPr lang="en-US" altLang="zh-CN" sz="2400" b="1" i="1" kern="1000" smtClean="0">
                            <a:effectLst/>
                            <a:latin typeface="Cambria Math" panose="02040503050406030204" pitchFamily="18" charset="0"/>
                            <a:ea typeface="宋体" panose="02010600030101010101" pitchFamily="2" charset="-122"/>
                          </a:rPr>
                          <m:t>𝟐</m:t>
                        </m:r>
                      </m:sub>
                    </m:sSub>
                    <m:r>
                      <a:rPr lang="en-US" altLang="zh-CN" sz="2400" b="1" i="1" kern="1000" smtClean="0">
                        <a:effectLst/>
                        <a:latin typeface="Cambria Math" panose="02040503050406030204" pitchFamily="18" charset="0"/>
                        <a:ea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𝑲</m:t>
                            </m:r>
                          </m:e>
                          <m:sub>
                            <m:r>
                              <a:rPr lang="en-US" altLang="zh-CN" sz="2400" b="1" i="1" kern="1000" smtClean="0">
                                <a:effectLst/>
                                <a:latin typeface="Cambria Math" panose="02040503050406030204" pitchFamily="18" charset="0"/>
                                <a:ea typeface="宋体" panose="02010600030101010101" pitchFamily="2" charset="-122"/>
                              </a:rPr>
                              <m:t>𝟐</m:t>
                            </m:r>
                          </m:sub>
                        </m:sSub>
                      </m:e>
                      <m:sup>
                        <m:r>
                          <a:rPr lang="en-US" altLang="zh-CN" sz="2400" b="1" i="1" kern="1000" smtClean="0">
                            <a:effectLst/>
                            <a:latin typeface="Cambria Math" panose="02040503050406030204" pitchFamily="18" charset="0"/>
                            <a:ea typeface="宋体" panose="02010600030101010101" pitchFamily="2" charset="-122"/>
                          </a:rPr>
                          <m:t>𝑻</m:t>
                        </m:r>
                      </m:sup>
                    </m:sSup>
                    <m:r>
                      <a:rPr lang="en-US" altLang="zh-CN" sz="2400" b="1" i="1" kern="1000" smtClean="0">
                        <a:effectLst/>
                        <a:latin typeface="Cambria Math" panose="02040503050406030204" pitchFamily="18" charset="0"/>
                        <a:ea typeface="宋体" panose="02010600030101010101" pitchFamily="2" charset="-122"/>
                      </a:rPr>
                      <m:t>&gt;</m:t>
                    </m:r>
                    <m:r>
                      <a:rPr lang="en-US" altLang="zh-CN" sz="2400" b="1" i="1" kern="1000" smtClean="0">
                        <a:effectLst/>
                        <a:latin typeface="Cambria Math" panose="02040503050406030204" pitchFamily="18" charset="0"/>
                        <a:ea typeface="宋体" panose="02010600030101010101" pitchFamily="2" charset="-122"/>
                      </a:rPr>
                      <m:t>𝟎</m:t>
                    </m:r>
                  </m:oMath>
                </a14:m>
                <a:r>
                  <a:rPr lang="zh-CN" altLang="zh-CN" sz="2400" b="1" kern="1000" dirty="0">
                    <a:effectLst/>
                    <a:latin typeface="微软雅黑" panose="020B0503020204020204" pitchFamily="34" charset="-122"/>
                    <a:ea typeface="微软雅黑" panose="020B0503020204020204" pitchFamily="34" charset="-122"/>
                  </a:rPr>
                  <a:t>，将式</a:t>
                </a:r>
                <a:r>
                  <a:rPr lang="en-US" altLang="zh-CN" sz="2400" b="1" kern="1000" dirty="0">
                    <a:effectLst/>
                    <a:latin typeface="微软雅黑" panose="020B0503020204020204" pitchFamily="34" charset="-122"/>
                    <a:ea typeface="微软雅黑" panose="020B0503020204020204" pitchFamily="34" charset="-122"/>
                  </a:rPr>
                  <a:t>(7.41)</a:t>
                </a:r>
                <a:r>
                  <a:rPr lang="zh-CN" altLang="zh-CN" sz="2400" b="1" kern="1000" dirty="0">
                    <a:effectLst/>
                    <a:latin typeface="微软雅黑" panose="020B0503020204020204" pitchFamily="34" charset="-122"/>
                    <a:ea typeface="微软雅黑" panose="020B0503020204020204" pitchFamily="34" charset="-122"/>
                  </a:rPr>
                  <a:t>代入</a:t>
                </a:r>
                <a:r>
                  <a:rPr lang="zh-CN" altLang="zh-CN" sz="2400" b="1" kern="0" dirty="0">
                    <a:effectLst/>
                    <a:latin typeface="微软雅黑" panose="020B0503020204020204" pitchFamily="34" charset="-122"/>
                    <a:ea typeface="微软雅黑" panose="020B0503020204020204" pitchFamily="34" charset="-122"/>
                  </a:rPr>
                  <a:t>李亚普诺夫候选函数</a:t>
                </a:r>
                <a:r>
                  <a:rPr lang="zh-CN" altLang="zh-CN" sz="2400" b="1" kern="1000" dirty="0">
                    <a:effectLst/>
                    <a:latin typeface="微软雅黑" panose="020B0503020204020204" pitchFamily="34" charset="-122"/>
                    <a:ea typeface="微软雅黑" panose="020B0503020204020204" pitchFamily="34" charset="-122"/>
                  </a:rPr>
                  <a:t>可得：</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𝑽</m:t>
                            </m:r>
                          </m:e>
                        </m:acc>
                      </m:e>
                      <m:sub>
                        <m:r>
                          <a:rPr lang="en-US" altLang="zh-CN" sz="2000" b="1" i="1" kern="1050" smtClean="0">
                            <a:effectLst/>
                            <a:latin typeface="Cambria Math" panose="02040503050406030204" pitchFamily="18" charset="0"/>
                            <a:ea typeface="宋体" panose="02010600030101010101" pitchFamily="2" charset="-122"/>
                          </a:rPr>
                          <m:t>𝟐</m:t>
                        </m:r>
                      </m:sub>
                    </m:sSub>
                    <m:r>
                      <a:rPr lang="en-US" altLang="zh-CN" sz="2000" b="1" i="1" kern="1050" smtClean="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𝟏</m:t>
                            </m:r>
                          </m:sub>
                        </m:sSub>
                      </m:e>
                      <m:sup>
                        <m:r>
                          <a:rPr lang="en-US" altLang="zh-CN" sz="2000" b="1" i="1" kern="1050" smtClean="0">
                            <a:effectLst/>
                            <a:latin typeface="Cambria Math" panose="02040503050406030204" pitchFamily="18" charset="0"/>
                            <a:ea typeface="宋体" panose="02010600030101010101" pitchFamily="2" charset="-122"/>
                          </a:rPr>
                          <m:t>𝑻</m:t>
                        </m:r>
                      </m:sup>
                    </m:s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𝑲</m:t>
                        </m:r>
                      </m:e>
                      <m:sub>
                        <m:r>
                          <a:rPr lang="en-US" altLang="zh-CN" sz="2000" b="1" i="1" kern="1050" smtClean="0">
                            <a:effectLst/>
                            <a:latin typeface="Cambria Math" panose="02040503050406030204" pitchFamily="18" charset="0"/>
                            <a:ea typeface="宋体" panose="02010600030101010101" pitchFamily="2" charset="-122"/>
                          </a:rPr>
                          <m:t>𝟏</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𝟏</m:t>
                        </m:r>
                      </m:sub>
                    </m:sSub>
                    <m:r>
                      <a:rPr lang="en-US" altLang="zh-CN" sz="2000" b="1" i="1" kern="1050" smtClean="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𝟐</m:t>
                            </m:r>
                          </m:sub>
                        </m:sSub>
                      </m:e>
                      <m:sup>
                        <m:r>
                          <a:rPr lang="en-US" altLang="zh-CN" sz="2000" b="1" i="1" kern="1050" smtClean="0">
                            <a:effectLst/>
                            <a:latin typeface="Cambria Math" panose="02040503050406030204" pitchFamily="18" charset="0"/>
                            <a:ea typeface="宋体" panose="02010600030101010101" pitchFamily="2" charset="-122"/>
                          </a:rPr>
                          <m:t>𝑻</m:t>
                        </m:r>
                      </m:sup>
                    </m:s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𝑲</m:t>
                        </m:r>
                      </m:e>
                      <m:sub>
                        <m:r>
                          <a:rPr lang="en-US" altLang="zh-CN" sz="2000" b="1" i="1" kern="1050" smtClean="0">
                            <a:effectLst/>
                            <a:latin typeface="Cambria Math" panose="02040503050406030204" pitchFamily="18" charset="0"/>
                            <a:ea typeface="宋体" panose="02010600030101010101" pitchFamily="2" charset="-122"/>
                          </a:rPr>
                          <m:t>𝟐</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𝟐</m:t>
                        </m:r>
                      </m:sub>
                    </m:sSub>
                  </m:oMath>
                </a14:m>
                <a:r>
                  <a:rPr lang="en-US" altLang="zh-CN" sz="2000" b="1" kern="1050" dirty="0">
                    <a:effectLst/>
                    <a:latin typeface="微软雅黑" panose="020B0503020204020204" pitchFamily="34" charset="-122"/>
                    <a:ea typeface="微软雅黑" panose="020B0503020204020204" pitchFamily="34" charset="-122"/>
                  </a:rPr>
                  <a:t>	                                     (7.42)</a:t>
                </a:r>
                <a:endParaRPr lang="zh-CN" altLang="zh-CN" sz="2000" b="1" kern="1050" dirty="0">
                  <a:effectLst/>
                  <a:latin typeface="微软雅黑" panose="020B0503020204020204" pitchFamily="34" charset="-122"/>
                  <a:ea typeface="微软雅黑" panose="020B0503020204020204" pitchFamily="34" charset="-122"/>
                </a:endParaRPr>
              </a:p>
            </p:txBody>
          </p:sp>
        </mc:Choice>
        <mc:Fallback xmlns="">
          <p:sp>
            <p:nvSpPr>
              <p:cNvPr id="4" name="文本框 3">
                <a:extLst>
                  <a:ext uri="{FF2B5EF4-FFF2-40B4-BE49-F238E27FC236}">
                    <a16:creationId xmlns:a16="http://schemas.microsoft.com/office/drawing/2014/main" id="{90D593AF-9516-A1CB-D48A-F25EE0725EFB}"/>
                  </a:ext>
                </a:extLst>
              </p:cNvPr>
              <p:cNvSpPr txBox="1">
                <a:spLocks noRot="1" noChangeAspect="1" noMove="1" noResize="1" noEditPoints="1" noAdjustHandles="1" noChangeArrowheads="1" noChangeShapeType="1" noTextEdit="1"/>
              </p:cNvSpPr>
              <p:nvPr/>
            </p:nvSpPr>
            <p:spPr>
              <a:xfrm>
                <a:off x="942975" y="1209676"/>
                <a:ext cx="10563225" cy="1697324"/>
              </a:xfrm>
              <a:prstGeom prst="rect">
                <a:avLst/>
              </a:prstGeom>
              <a:blipFill>
                <a:blip r:embed="rId3"/>
                <a:stretch>
                  <a:fillRect l="-923" t="-2867" b="-46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E855A7DD-3852-36C2-3DD1-6FBC385CE182}"/>
                  </a:ext>
                </a:extLst>
              </p:cNvPr>
              <p:cNvSpPr txBox="1"/>
              <p:nvPr/>
            </p:nvSpPr>
            <p:spPr>
              <a:xfrm>
                <a:off x="942975" y="3031798"/>
                <a:ext cx="9720262" cy="3071225"/>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如果</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𝒇</m:t>
                    </m:r>
                  </m:oMath>
                </a14:m>
                <a:r>
                  <a:rPr lang="zh-CN" altLang="zh-CN" sz="2400" b="1" kern="1000" dirty="0">
                    <a:effectLst/>
                    <a:latin typeface="微软雅黑" panose="020B0503020204020204" pitchFamily="34" charset="-122"/>
                    <a:ea typeface="微软雅黑" panose="020B0503020204020204" pitchFamily="34" charset="-122"/>
                  </a:rPr>
                  <a:t>未知，我们假设存在一个正常数向量</a:t>
                </a:r>
                <a14:m>
                  <m:oMath xmlns:m="http://schemas.openxmlformats.org/officeDocument/2006/math">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𝒇</m:t>
                        </m:r>
                      </m:e>
                    </m:acc>
                  </m:oMath>
                </a14:m>
                <a:r>
                  <a:rPr lang="zh-CN" altLang="zh-CN" sz="2400" b="1" kern="1000" dirty="0">
                    <a:effectLst/>
                    <a:latin typeface="微软雅黑" panose="020B0503020204020204" pitchFamily="34" charset="-122"/>
                    <a:ea typeface="微软雅黑" panose="020B0503020204020204" pitchFamily="34" charset="-122"/>
                  </a:rPr>
                  <a:t>，当</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𝒕</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𝟎</m:t>
                    </m:r>
                  </m:oMath>
                </a14:m>
                <a:r>
                  <a:rPr lang="zh-CN" altLang="zh-CN" sz="2400" b="1" kern="1000" dirty="0">
                    <a:effectLst/>
                    <a:latin typeface="微软雅黑" panose="020B0503020204020204" pitchFamily="34" charset="-122"/>
                    <a:ea typeface="微软雅黑" panose="020B0503020204020204" pitchFamily="34" charset="-122"/>
                  </a:rPr>
                  <a:t>时，有</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𝒇</m:t>
                    </m:r>
                    <m:r>
                      <a:rPr lang="en-US" altLang="zh-CN" sz="2400" b="1" i="1" kern="1000">
                        <a:effectLst/>
                        <a:latin typeface="Cambria Math" panose="02040503050406030204" pitchFamily="18" charset="0"/>
                        <a:ea typeface="宋体" panose="02010600030101010101" pitchFamily="2" charset="-122"/>
                      </a:rPr>
                      <m:t>≤</m:t>
                    </m:r>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𝒇</m:t>
                        </m:r>
                      </m:e>
                    </m:acc>
                  </m:oMath>
                </a14:m>
                <a:r>
                  <a:rPr lang="zh-CN" altLang="zh-CN" sz="2400" b="1" kern="1000" dirty="0">
                    <a:effectLst/>
                    <a:latin typeface="微软雅黑" panose="020B0503020204020204" pitchFamily="34" charset="-122"/>
                    <a:ea typeface="微软雅黑" panose="020B0503020204020204" pitchFamily="34" charset="-122"/>
                  </a:rPr>
                  <a:t>。</a:t>
                </a:r>
              </a:p>
              <a:p>
                <a:pPr algn="just"/>
                <a:r>
                  <a:rPr lang="zh-CN" altLang="zh-CN" sz="2400" b="1" kern="1000" dirty="0">
                    <a:effectLst/>
                    <a:latin typeface="微软雅黑" panose="020B0503020204020204" pitchFamily="34" charset="-122"/>
                    <a:ea typeface="微软雅黑" panose="020B0503020204020204" pitchFamily="34" charset="-122"/>
                  </a:rPr>
                  <a:t>注意：这是一个合理的假设，因为时变扰动</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𝒇</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𝒕</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具有有限的能量，因此是有界的，即</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𝒇</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𝒕</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𝑳</m:t>
                        </m:r>
                      </m:e>
                      <m:sub>
                        <m:r>
                          <a:rPr lang="en-US" altLang="zh-CN" sz="2400" b="1" i="1" kern="1000">
                            <a:effectLst/>
                            <a:latin typeface="Cambria Math" panose="02040503050406030204" pitchFamily="18" charset="0"/>
                            <a:ea typeface="宋体" panose="02010600030101010101" pitchFamily="2" charset="-122"/>
                          </a:rPr>
                          <m:t>∞</m:t>
                        </m:r>
                      </m:sub>
                    </m:sSub>
                  </m:oMath>
                </a14:m>
                <a:r>
                  <a:rPr lang="zh-CN" altLang="zh-CN" sz="2400" b="1" kern="1000" dirty="0">
                    <a:effectLst/>
                    <a:latin typeface="微软雅黑" panose="020B0503020204020204" pitchFamily="34" charset="-122"/>
                    <a:ea typeface="微软雅黑" panose="020B0503020204020204" pitchFamily="34" charset="-122"/>
                  </a:rPr>
                  <a:t>。</a:t>
                </a:r>
              </a:p>
              <a:p>
                <a:pPr algn="just"/>
                <a:r>
                  <a:rPr lang="zh-CN" altLang="zh-CN" sz="2400" b="1" kern="1000" dirty="0">
                    <a:effectLst/>
                    <a:latin typeface="微软雅黑" panose="020B0503020204020204" pitchFamily="34" charset="-122"/>
                    <a:ea typeface="微软雅黑" panose="020B0503020204020204" pitchFamily="34" charset="-122"/>
                  </a:rPr>
                  <a:t>算子“</a:t>
                </a:r>
                <a14:m>
                  <m:oMath xmlns:m="http://schemas.openxmlformats.org/officeDocument/2006/math">
                    <m:r>
                      <a:rPr lang="zh-CN" altLang="zh-CN" sz="2400" b="1" i="1" kern="1000">
                        <a:effectLst/>
                        <a:latin typeface="Cambria Math" panose="02040503050406030204" pitchFamily="18" charset="0"/>
                        <a:ea typeface="宋体" panose="02010600030101010101" pitchFamily="2" charset="-122"/>
                        <a:cs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”定义：</a:t>
                </a:r>
                <a:endParaRPr lang="en-US" altLang="zh-CN" sz="2400" b="1" kern="1000" dirty="0">
                  <a:effectLst/>
                  <a:latin typeface="微软雅黑" panose="020B0503020204020204" pitchFamily="34" charset="-122"/>
                  <a:ea typeface="微软雅黑" panose="020B0503020204020204" pitchFamily="34" charset="-122"/>
                </a:endParaRPr>
              </a:p>
              <a:p>
                <a:pPr algn="just">
                  <a:spcBef>
                    <a:spcPts val="400"/>
                  </a:spcBef>
                  <a:spcAft>
                    <a:spcPts val="400"/>
                  </a:spcAft>
                  <a:tabLst>
                    <a:tab pos="5364480" algn="r"/>
                  </a:tabLst>
                </a:pPr>
                <a:r>
                  <a:rPr lang="en-US" altLang="zh-CN" sz="2000" b="1" kern="1050" dirty="0">
                    <a:effectLst/>
                    <a:ea typeface="宋体" panose="02010600030101010101" pitchFamily="2" charset="-122"/>
                  </a:rPr>
                  <a:t>                  </a:t>
                </a:r>
                <a14:m>
                  <m:oMath xmlns:m="http://schemas.openxmlformats.org/officeDocument/2006/math">
                    <m:r>
                      <a:rPr lang="en-US" altLang="zh-CN" sz="2000" b="1" i="1" kern="1050" smtClean="0">
                        <a:effectLst/>
                        <a:latin typeface="Cambria Math" panose="02040503050406030204" pitchFamily="18" charset="0"/>
                        <a:ea typeface="宋体" panose="02010600030101010101" pitchFamily="2" charset="-122"/>
                      </a:rPr>
                      <m:t>𝒂</m:t>
                    </m:r>
                    <m:r>
                      <a:rPr lang="zh-CN" altLang="zh-CN" sz="2000" b="1" i="1" kern="1050">
                        <a:effectLst/>
                        <a:latin typeface="Cambria Math" panose="02040503050406030204" pitchFamily="18" charset="0"/>
                        <a:ea typeface="宋体" panose="02010600030101010101" pitchFamily="2" charset="-122"/>
                        <a:cs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𝒃</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𝒂</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𝒂</m:t>
                        </m:r>
                      </m:e>
                      <m:sub>
                        <m:r>
                          <a:rPr lang="en-US" altLang="zh-CN" sz="2000" b="1" i="1" kern="1050">
                            <a:effectLst/>
                            <a:latin typeface="Cambria Math" panose="02040503050406030204" pitchFamily="18" charset="0"/>
                            <a:ea typeface="宋体" panose="02010600030101010101" pitchFamily="2" charset="-122"/>
                          </a:rPr>
                          <m:t>𝟐</m:t>
                        </m:r>
                      </m:sub>
                    </m:sSub>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m:t>
                        </m:r>
                      </m:e>
                      <m:sup>
                        <m:r>
                          <a:rPr lang="en-US" altLang="zh-CN" sz="2000" b="1" i="1" kern="1050">
                            <a:effectLst/>
                            <a:latin typeface="Cambria Math" panose="02040503050406030204" pitchFamily="18" charset="0"/>
                            <a:ea typeface="宋体" panose="02010600030101010101" pitchFamily="2" charset="-122"/>
                          </a:rPr>
                          <m:t>𝑻</m:t>
                        </m:r>
                      </m:sup>
                    </m:sSup>
                    <m:r>
                      <a:rPr lang="zh-CN" altLang="zh-CN" sz="2000" b="1" i="1" kern="1050">
                        <a:effectLst/>
                        <a:latin typeface="Cambria Math" panose="02040503050406030204" pitchFamily="18" charset="0"/>
                        <a:ea typeface="宋体" panose="02010600030101010101" pitchFamily="2" charset="-122"/>
                        <a:cs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𝒃</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𝒃</m:t>
                        </m:r>
                      </m:e>
                      <m:sub>
                        <m:r>
                          <a:rPr lang="en-US" altLang="zh-CN" sz="2000" b="1" i="1" kern="1050">
                            <a:effectLst/>
                            <a:latin typeface="Cambria Math" panose="02040503050406030204" pitchFamily="18" charset="0"/>
                            <a:ea typeface="宋体" panose="02010600030101010101" pitchFamily="2" charset="-122"/>
                          </a:rPr>
                          <m:t>𝟐</m:t>
                        </m:r>
                      </m:sub>
                    </m:sSub>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m:t>
                        </m:r>
                      </m:e>
                      <m:sup>
                        <m:r>
                          <a:rPr lang="en-US" altLang="zh-CN" sz="2000" b="1" i="1" kern="1050">
                            <a:effectLst/>
                            <a:latin typeface="Cambria Math" panose="02040503050406030204" pitchFamily="18" charset="0"/>
                            <a:ea typeface="宋体" panose="02010600030101010101" pitchFamily="2" charset="-122"/>
                          </a:rPr>
                          <m:t>𝑻</m:t>
                        </m:r>
                      </m:sup>
                    </m:sSup>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𝒂</m:t>
                        </m:r>
                      </m:e>
                      <m:sub>
                        <m:r>
                          <a:rPr lang="en-US" altLang="zh-CN" sz="2000" b="1" i="1" kern="1050">
                            <a:effectLst/>
                            <a:latin typeface="Cambria Math" panose="02040503050406030204" pitchFamily="18" charset="0"/>
                            <a:ea typeface="宋体" panose="02010600030101010101" pitchFamily="2" charset="-122"/>
                          </a:rPr>
                          <m:t>𝟏</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𝒃</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𝒂</m:t>
                        </m:r>
                      </m:e>
                      <m:sub>
                        <m:r>
                          <a:rPr lang="en-US" altLang="zh-CN" sz="2000" b="1" i="1" kern="1050">
                            <a:effectLst/>
                            <a:latin typeface="Cambria Math" panose="02040503050406030204" pitchFamily="18" charset="0"/>
                            <a:ea typeface="宋体" panose="02010600030101010101" pitchFamily="2" charset="-122"/>
                          </a:rPr>
                          <m:t>𝟐</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𝒃</m:t>
                        </m:r>
                      </m:e>
                      <m:sub>
                        <m:r>
                          <a:rPr lang="en-US" altLang="zh-CN" sz="2000" b="1" i="1" kern="1050">
                            <a:effectLst/>
                            <a:latin typeface="Cambria Math" panose="02040503050406030204" pitchFamily="18" charset="0"/>
                            <a:ea typeface="宋体" panose="02010600030101010101" pitchFamily="2" charset="-122"/>
                          </a:rPr>
                          <m:t>𝟐</m:t>
                        </m:r>
                      </m:sub>
                    </m:sSub>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m:t>
                        </m:r>
                      </m:e>
                      <m:sup>
                        <m:r>
                          <a:rPr lang="en-US" altLang="zh-CN" sz="2000" b="1" i="1" kern="1050">
                            <a:effectLst/>
                            <a:latin typeface="Cambria Math" panose="02040503050406030204" pitchFamily="18" charset="0"/>
                            <a:ea typeface="宋体" panose="02010600030101010101" pitchFamily="2" charset="-122"/>
                          </a:rPr>
                          <m:t>𝑻</m:t>
                        </m:r>
                      </m:sup>
                    </m:s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cs typeface="Cambria Math" panose="02040503050406030204" pitchFamily="18" charset="0"/>
                      </a:rPr>
                      <m:t>∀</m:t>
                    </m:r>
                    <m:r>
                      <a:rPr lang="en-US" altLang="zh-CN" sz="2000" b="1" i="1" kern="1050">
                        <a:effectLst/>
                        <a:latin typeface="Cambria Math" panose="02040503050406030204" pitchFamily="18" charset="0"/>
                        <a:ea typeface="宋体" panose="02010600030101010101" pitchFamily="2" charset="-122"/>
                      </a:rPr>
                      <m:t>𝒂</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𝒃</m:t>
                    </m:r>
                    <m:r>
                      <a:rPr lang="zh-CN" altLang="zh-CN" sz="2000" b="1" i="1" kern="105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𝑹</m:t>
                        </m:r>
                      </m:e>
                      <m:sup>
                        <m:r>
                          <a:rPr lang="en-US" altLang="zh-CN" sz="2000" b="1" i="1" kern="1050">
                            <a:effectLst/>
                            <a:latin typeface="Cambria Math" panose="02040503050406030204" pitchFamily="18" charset="0"/>
                            <a:ea typeface="宋体" panose="02010600030101010101" pitchFamily="2" charset="-122"/>
                          </a:rPr>
                          <m:t>𝟐</m:t>
                        </m:r>
                      </m:sup>
                    </m:sSup>
                  </m:oMath>
                </a14:m>
                <a:r>
                  <a:rPr lang="en-US" altLang="zh-CN" sz="2000" b="1" kern="1050" dirty="0">
                    <a:effectLst/>
                    <a:latin typeface="微软雅黑" panose="020B0503020204020204" pitchFamily="34" charset="-122"/>
                    <a:ea typeface="微软雅黑" panose="020B0503020204020204" pitchFamily="34" charset="-122"/>
                  </a:rPr>
                  <a:t>	 (7.43)</a:t>
                </a:r>
                <a:endParaRPr lang="zh-CN" altLang="zh-CN" sz="2000" b="1" kern="1050" dirty="0">
                  <a:effectLst/>
                  <a:latin typeface="微软雅黑" panose="020B0503020204020204" pitchFamily="34" charset="-122"/>
                  <a:ea typeface="微软雅黑" panose="020B0503020204020204" pitchFamily="34" charset="-122"/>
                </a:endParaRPr>
              </a:p>
              <a:p>
                <a:pPr algn="just">
                  <a:spcBef>
                    <a:spcPts val="400"/>
                  </a:spcBef>
                  <a:spcAft>
                    <a:spcPts val="4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a:effectLst/>
                            <a:latin typeface="Cambria Math" panose="02040503050406030204" pitchFamily="18" charset="0"/>
                            <a:ea typeface="宋体" panose="02010600030101010101" pitchFamily="2" charset="-122"/>
                          </a:rPr>
                          <m:t>𝟏</m:t>
                        </m:r>
                      </m:num>
                      <m:den>
                        <m:r>
                          <a:rPr lang="en-US" altLang="zh-CN" sz="2000" b="1" i="1" kern="1050">
                            <a:effectLst/>
                            <a:latin typeface="Cambria Math" panose="02040503050406030204" pitchFamily="18" charset="0"/>
                            <a:ea typeface="宋体" panose="02010600030101010101" pitchFamily="2" charset="-122"/>
                          </a:rPr>
                          <m:t>𝒂</m:t>
                        </m:r>
                      </m:den>
                    </m:f>
                    <m:r>
                      <a:rPr lang="zh-CN" altLang="zh-CN" sz="2000" b="1" i="1" kern="1050">
                        <a:effectLst/>
                        <a:latin typeface="Cambria Math" panose="02040503050406030204" pitchFamily="18" charset="0"/>
                        <a:ea typeface="宋体" panose="02010600030101010101" pitchFamily="2" charset="-122"/>
                        <a:cs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𝒃</m:t>
                    </m:r>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d>
                          <m:dPr>
                            <m:begChr m:val="["/>
                            <m:endChr m:val="]"/>
                            <m:ctrlPr>
                              <a:rPr lang="zh-CN" altLang="zh-CN" sz="2000" b="1" i="1" kern="1050">
                                <a:effectLst/>
                                <a:latin typeface="Cambria Math" panose="02040503050406030204" pitchFamily="18" charset="0"/>
                                <a:ea typeface="Cambria Math" panose="02040503050406030204" pitchFamily="18" charset="0"/>
                              </a:rPr>
                            </m:ctrlPr>
                          </m:dPr>
                          <m:e>
                            <m:f>
                              <m:fPr>
                                <m:ctrlPr>
                                  <a:rPr lang="zh-CN" altLang="zh-CN" sz="2000" b="1" i="1" kern="1050">
                                    <a:effectLst/>
                                    <a:latin typeface="Cambria Math" panose="02040503050406030204" pitchFamily="18" charset="0"/>
                                    <a:ea typeface="Cambria Math" panose="02040503050406030204" pitchFamily="18" charset="0"/>
                                  </a:rPr>
                                </m:ctrlPr>
                              </m:fPr>
                              <m:num>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𝒃</m:t>
                                    </m:r>
                                  </m:e>
                                  <m:sub>
                                    <m:r>
                                      <a:rPr lang="en-US" altLang="zh-CN" sz="2000" b="1" i="1" kern="1050">
                                        <a:effectLst/>
                                        <a:latin typeface="Cambria Math" panose="02040503050406030204" pitchFamily="18" charset="0"/>
                                        <a:ea typeface="宋体" panose="02010600030101010101" pitchFamily="2" charset="-122"/>
                                      </a:rPr>
                                      <m:t>𝟏</m:t>
                                    </m:r>
                                  </m:sub>
                                </m:sSub>
                              </m:num>
                              <m:den>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𝒂</m:t>
                                    </m:r>
                                  </m:e>
                                  <m:sub>
                                    <m:r>
                                      <a:rPr lang="en-US" altLang="zh-CN" sz="2000" b="1" i="1" kern="1050">
                                        <a:effectLst/>
                                        <a:latin typeface="Cambria Math" panose="02040503050406030204" pitchFamily="18" charset="0"/>
                                        <a:ea typeface="宋体" panose="02010600030101010101" pitchFamily="2" charset="-122"/>
                                      </a:rPr>
                                      <m:t>𝟏</m:t>
                                    </m:r>
                                  </m:sub>
                                </m:sSub>
                              </m:den>
                            </m:f>
                            <m:r>
                              <a:rPr lang="en-US" altLang="zh-CN" sz="2000" b="1" i="1" kern="105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𝒃</m:t>
                                    </m:r>
                                  </m:e>
                                  <m:sub>
                                    <m:r>
                                      <a:rPr lang="en-US" altLang="zh-CN" sz="2000" b="1" i="1" kern="1050">
                                        <a:effectLst/>
                                        <a:latin typeface="Cambria Math" panose="02040503050406030204" pitchFamily="18" charset="0"/>
                                        <a:ea typeface="宋体" panose="02010600030101010101" pitchFamily="2" charset="-122"/>
                                      </a:rPr>
                                      <m:t>𝟐</m:t>
                                    </m:r>
                                  </m:sub>
                                </m:sSub>
                              </m:num>
                              <m:den>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𝒂</m:t>
                                    </m:r>
                                  </m:e>
                                  <m:sub>
                                    <m:r>
                                      <a:rPr lang="en-US" altLang="zh-CN" sz="2000" b="1" i="1" kern="1050">
                                        <a:effectLst/>
                                        <a:latin typeface="Cambria Math" panose="02040503050406030204" pitchFamily="18" charset="0"/>
                                        <a:ea typeface="宋体" panose="02010600030101010101" pitchFamily="2" charset="-122"/>
                                      </a:rPr>
                                      <m:t>𝟐</m:t>
                                    </m:r>
                                  </m:sub>
                                </m:sSub>
                              </m:den>
                            </m:f>
                          </m:e>
                        </m:d>
                      </m:e>
                      <m:sup>
                        <m:r>
                          <a:rPr lang="en-US" altLang="zh-CN" sz="2000" b="1" i="1" kern="1050">
                            <a:effectLst/>
                            <a:latin typeface="Cambria Math" panose="02040503050406030204" pitchFamily="18" charset="0"/>
                            <a:ea typeface="宋体" panose="02010600030101010101" pitchFamily="2" charset="-122"/>
                          </a:rPr>
                          <m:t>𝑻</m:t>
                        </m:r>
                      </m:sup>
                    </m:s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cs typeface="Cambria Math" panose="02040503050406030204" pitchFamily="18" charset="0"/>
                      </a:rPr>
                      <m:t>∀</m:t>
                    </m:r>
                    <m:r>
                      <a:rPr lang="en-US" altLang="zh-CN" sz="2000" b="1" i="1" kern="1050">
                        <a:effectLst/>
                        <a:latin typeface="Cambria Math" panose="02040503050406030204" pitchFamily="18" charset="0"/>
                        <a:ea typeface="宋体" panose="02010600030101010101" pitchFamily="2" charset="-122"/>
                      </a:rPr>
                      <m:t>𝒂</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𝒃</m:t>
                    </m:r>
                    <m:r>
                      <a:rPr lang="zh-CN" altLang="zh-CN" sz="2000" b="1" i="1" kern="105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𝑹</m:t>
                        </m:r>
                      </m:e>
                      <m:sup>
                        <m:r>
                          <a:rPr lang="en-US" altLang="zh-CN" sz="2000" b="1" i="1" kern="1050">
                            <a:effectLst/>
                            <a:latin typeface="Cambria Math" panose="02040503050406030204" pitchFamily="18" charset="0"/>
                            <a:ea typeface="宋体" panose="02010600030101010101" pitchFamily="2" charset="-122"/>
                          </a:rPr>
                          <m:t>𝟐</m:t>
                        </m:r>
                      </m:sup>
                    </m:sSup>
                  </m:oMath>
                </a14:m>
                <a:r>
                  <a:rPr lang="en-US" altLang="zh-CN" sz="2000" b="1" kern="1050" dirty="0">
                    <a:effectLst/>
                    <a:latin typeface="微软雅黑" panose="020B0503020204020204" pitchFamily="34" charset="-122"/>
                    <a:ea typeface="微软雅黑" panose="020B0503020204020204" pitchFamily="34" charset="-122"/>
                  </a:rPr>
                  <a:t>	                                     (7.44)</a:t>
                </a:r>
                <a:endParaRPr lang="zh-CN" altLang="zh-CN" sz="2000" b="1" kern="1050" dirty="0">
                  <a:effectLst/>
                  <a:latin typeface="微软雅黑" panose="020B0503020204020204" pitchFamily="34" charset="-122"/>
                  <a:ea typeface="微软雅黑" panose="020B0503020204020204" pitchFamily="34" charset="-122"/>
                </a:endParaRPr>
              </a:p>
              <a:p>
                <a:pPr algn="just"/>
                <a:endParaRPr lang="zh-CN" altLang="zh-CN" sz="2400" b="1" kern="1000" dirty="0">
                  <a:effectLst/>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E855A7DD-3852-36C2-3DD1-6FBC385CE182}"/>
                  </a:ext>
                </a:extLst>
              </p:cNvPr>
              <p:cNvSpPr txBox="1">
                <a:spLocks noRot="1" noChangeAspect="1" noMove="1" noResize="1" noEditPoints="1" noAdjustHandles="1" noChangeArrowheads="1" noChangeShapeType="1" noTextEdit="1"/>
              </p:cNvSpPr>
              <p:nvPr/>
            </p:nvSpPr>
            <p:spPr>
              <a:xfrm>
                <a:off x="942975" y="3031798"/>
                <a:ext cx="9720262" cy="3071225"/>
              </a:xfrm>
              <a:prstGeom prst="rect">
                <a:avLst/>
              </a:prstGeom>
              <a:blipFill>
                <a:blip r:embed="rId4"/>
                <a:stretch>
                  <a:fillRect l="-1004" t="-1190" r="-941"/>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3D0AAC4E-490B-EC6F-AF80-38F998E5AC1E}"/>
              </a:ext>
            </a:extLst>
          </p:cNvPr>
          <p:cNvSpPr txBox="1"/>
          <p:nvPr>
            <p:custDataLst>
              <p:tags r:id="rId1"/>
            </p:custDataLst>
          </p:nvPr>
        </p:nvSpPr>
        <p:spPr>
          <a:xfrm>
            <a:off x="1357313" y="128685"/>
            <a:ext cx="8158162" cy="954107"/>
          </a:xfrm>
          <a:prstGeom prst="rect">
            <a:avLst/>
          </a:prstGeom>
          <a:noFill/>
        </p:spPr>
        <p:txBody>
          <a:bodyPr wrap="square" rtlCol="0">
            <a:spAutoFit/>
          </a:bodyPr>
          <a:lstStyle/>
          <a:p>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状态信息完全已知情况下的</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5667C8F6-0638-8EC1-FA35-6228E3ADDF85}"/>
                  </a:ext>
                </a:extLst>
              </p:cNvPr>
              <p:cNvSpPr txBox="1"/>
              <p:nvPr/>
            </p:nvSpPr>
            <p:spPr>
              <a:xfrm>
                <a:off x="952500" y="1381125"/>
                <a:ext cx="11239500" cy="2630272"/>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这里的</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𝒂</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𝒂</m:t>
                        </m:r>
                      </m:e>
                      <m:sub>
                        <m:r>
                          <a:rPr lang="en-US" altLang="zh-CN" sz="2400" b="1" i="1" kern="1000">
                            <a:effectLst/>
                            <a:latin typeface="Cambria Math" panose="02040503050406030204" pitchFamily="18" charset="0"/>
                            <a:ea typeface="宋体" panose="02010600030101010101" pitchFamily="2" charset="-122"/>
                          </a:rPr>
                          <m:t>𝟏</m:t>
                        </m:r>
                      </m:sub>
                    </m:sSub>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𝒂</m:t>
                        </m:r>
                      </m:e>
                      <m:sub>
                        <m:r>
                          <a:rPr lang="en-US" altLang="zh-CN" sz="2400" b="1" i="1" kern="1000">
                            <a:effectLst/>
                            <a:latin typeface="Cambria Math" panose="02040503050406030204" pitchFamily="18" charset="0"/>
                            <a:ea typeface="宋体" panose="02010600030101010101" pitchFamily="2" charset="-122"/>
                          </a:rPr>
                          <m:t>𝟐</m:t>
                        </m:r>
                      </m:sub>
                    </m:sSub>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m:t>
                        </m:r>
                      </m:e>
                      <m:sup>
                        <m:r>
                          <a:rPr lang="en-US" altLang="zh-CN" sz="2400" b="1" i="1" kern="1000">
                            <a:effectLst/>
                            <a:latin typeface="Cambria Math" panose="02040503050406030204" pitchFamily="18" charset="0"/>
                            <a:ea typeface="宋体" panose="02010600030101010101" pitchFamily="2" charset="-122"/>
                          </a:rPr>
                          <m:t>𝑻</m:t>
                        </m:r>
                      </m:sup>
                    </m:sSup>
                  </m:oMath>
                </a14:m>
                <a:r>
                  <a:rPr lang="zh-CN" altLang="zh-CN" sz="2400" b="1" kern="1000" dirty="0">
                    <a:effectLst/>
                    <a:latin typeface="微软雅黑" panose="020B0503020204020204" pitchFamily="34" charset="-122"/>
                    <a:ea typeface="微软雅黑" panose="020B0503020204020204" pitchFamily="34" charset="-122"/>
                  </a:rPr>
                  <a:t>和</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𝒃</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𝒃</m:t>
                        </m:r>
                      </m:e>
                      <m:sub>
                        <m:r>
                          <a:rPr lang="en-US" altLang="zh-CN" sz="2400" b="1" i="1" kern="1000">
                            <a:effectLst/>
                            <a:latin typeface="Cambria Math" panose="02040503050406030204" pitchFamily="18" charset="0"/>
                            <a:ea typeface="宋体" panose="02010600030101010101" pitchFamily="2" charset="-122"/>
                          </a:rPr>
                          <m:t>𝟏</m:t>
                        </m:r>
                      </m:sub>
                    </m:sSub>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𝒃</m:t>
                        </m:r>
                      </m:e>
                      <m:sub>
                        <m:r>
                          <a:rPr lang="en-US" altLang="zh-CN" sz="2400" b="1" i="1" kern="1000">
                            <a:effectLst/>
                            <a:latin typeface="Cambria Math" panose="02040503050406030204" pitchFamily="18" charset="0"/>
                            <a:ea typeface="宋体" panose="02010600030101010101" pitchFamily="2" charset="-122"/>
                          </a:rPr>
                          <m:t>𝟐</m:t>
                        </m:r>
                      </m:sub>
                    </m:sSub>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m:t>
                        </m:r>
                      </m:e>
                      <m:sup>
                        <m:r>
                          <a:rPr lang="en-US" altLang="zh-CN" sz="2400" b="1" i="1" kern="1000">
                            <a:effectLst/>
                            <a:latin typeface="Cambria Math" panose="02040503050406030204" pitchFamily="18" charset="0"/>
                            <a:ea typeface="宋体" panose="02010600030101010101" pitchFamily="2" charset="-122"/>
                          </a:rPr>
                          <m:t>𝑻</m:t>
                        </m:r>
                      </m:sup>
                    </m:sSup>
                  </m:oMath>
                </a14:m>
                <a:r>
                  <a:rPr lang="zh-CN" altLang="zh-CN" sz="2400" b="1" kern="1000" dirty="0">
                    <a:effectLst/>
                    <a:latin typeface="微软雅黑" panose="020B0503020204020204" pitchFamily="34" charset="-122"/>
                    <a:ea typeface="微软雅黑" panose="020B0503020204020204" pitchFamily="34" charset="-122"/>
                  </a:rPr>
                  <a:t>是两个二维向量。</a:t>
                </a:r>
              </a:p>
              <a:p>
                <a:pPr algn="just"/>
                <a:r>
                  <a:rPr lang="zh-CN" altLang="zh-CN" sz="2400" b="1" kern="1000" dirty="0">
                    <a:effectLst/>
                    <a:latin typeface="微软雅黑" panose="020B0503020204020204" pitchFamily="34" charset="-122"/>
                    <a:ea typeface="微软雅黑" panose="020B0503020204020204" pitchFamily="34" charset="-122"/>
                  </a:rPr>
                  <a:t>基于上述模型建立控制器为</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𝝉</m:t>
                        </m:r>
                      </m:e>
                      <m:sup>
                        <m:r>
                          <a:rPr lang="en-US" altLang="zh-CN" sz="2000" b="1" i="1" kern="1050">
                            <a:effectLst/>
                            <a:latin typeface="Cambria Math" panose="02040503050406030204" pitchFamily="18" charset="0"/>
                            <a:ea typeface="宋体" panose="02010600030101010101" pitchFamily="2" charset="-122"/>
                          </a:rPr>
                          <m:t>′</m:t>
                        </m:r>
                      </m:sup>
                    </m:sSup>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𝟐</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𝟐</m:t>
                        </m:r>
                      </m:sub>
                    </m:sSub>
                    <m:r>
                      <a:rPr lang="en-US" altLang="zh-CN" sz="2000" b="1" i="1" kern="1050">
                        <a:effectLst/>
                        <a:latin typeface="Cambria Math" panose="02040503050406030204" pitchFamily="18" charset="0"/>
                        <a:ea typeface="宋体" panose="02010600030101010101" pitchFamily="2" charset="-122"/>
                      </a:rPr>
                      <m:t>−</m:t>
                    </m:r>
                    <m:func>
                      <m:funcPr>
                        <m:ctrlPr>
                          <a:rPr lang="zh-CN" altLang="zh-CN" sz="2000" b="1" i="1" kern="1050">
                            <a:effectLst/>
                            <a:latin typeface="Cambria Math" panose="02040503050406030204" pitchFamily="18" charset="0"/>
                            <a:ea typeface="Cambria Math" panose="02040503050406030204" pitchFamily="18" charset="0"/>
                          </a:rPr>
                        </m:ctrlPr>
                      </m:funcPr>
                      <m:fName>
                        <m:r>
                          <a:rPr lang="en-US" altLang="zh-CN" sz="2000" b="1" i="1" kern="1050">
                            <a:effectLst/>
                            <a:latin typeface="Cambria Math" panose="02040503050406030204" pitchFamily="18" charset="0"/>
                            <a:ea typeface="宋体" panose="02010600030101010101" pitchFamily="2" charset="-122"/>
                          </a:rPr>
                          <m:t>𝒔𝒈𝒏</m:t>
                        </m:r>
                      </m:fName>
                      <m:e>
                        <m:r>
                          <a:rPr lang="en-US" altLang="zh-CN" sz="2000" b="1" i="1" kern="1050">
                            <a:effectLst/>
                            <a:latin typeface="Cambria Math" panose="02040503050406030204" pitchFamily="18" charset="0"/>
                            <a:ea typeface="宋体" panose="02010600030101010101" pitchFamily="2" charset="-122"/>
                          </a:rPr>
                          <m:t>(</m:t>
                        </m:r>
                      </m:e>
                    </m:func>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𝟐</m:t>
                        </m:r>
                      </m:sub>
                      <m:sup>
                        <m:r>
                          <a:rPr lang="en-US" altLang="zh-CN" sz="2000" b="1" i="1" kern="1050">
                            <a:effectLst/>
                            <a:latin typeface="Cambria Math" panose="02040503050406030204" pitchFamily="18" charset="0"/>
                            <a:ea typeface="宋体" panose="02010600030101010101" pitchFamily="2" charset="-122"/>
                          </a:rPr>
                          <m:t>𝑻</m:t>
                        </m:r>
                      </m:sup>
                    </m:sSubSup>
                    <m:r>
                      <a:rPr lang="en-US" altLang="zh-CN" sz="2000" b="1" i="1" kern="1050">
                        <a:effectLst/>
                        <a:latin typeface="Cambria Math" panose="02040503050406030204" pitchFamily="18" charset="0"/>
                        <a:ea typeface="宋体" panose="02010600030101010101" pitchFamily="2" charset="-122"/>
                      </a:rPr>
                      <m:t>)</m:t>
                    </m:r>
                    <m:r>
                      <a:rPr lang="zh-CN" altLang="zh-CN" sz="2000" b="1" i="1" kern="105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𝑱</m:t>
                        </m:r>
                      </m:e>
                      <m:sup>
                        <m:r>
                          <a:rPr lang="en-US" altLang="zh-CN" sz="2000" b="1" i="1" kern="1050">
                            <a:effectLst/>
                            <a:latin typeface="Cambria Math" panose="02040503050406030204" pitchFamily="18" charset="0"/>
                            <a:ea typeface="宋体" panose="02010600030101010101" pitchFamily="2" charset="-122"/>
                          </a:rPr>
                          <m:t>𝑻</m:t>
                        </m:r>
                      </m:sup>
                    </m:sSup>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𝒇</m:t>
                        </m:r>
                      </m:e>
                    </m:acc>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𝑪</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𝟐</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𝜶</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𝒕</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𝑮</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𝑴</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smtClean="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𝜶</m:t>
                            </m:r>
                          </m:e>
                        </m:acc>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𝒕</m:t>
                    </m:r>
                    <m:r>
                      <a:rPr lang="en-US" altLang="zh-CN" sz="2000" b="1" i="1" kern="105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(7.45)</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这里的增益矩阵</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𝑲</m:t>
                        </m:r>
                      </m:e>
                      <m:sub>
                        <m:r>
                          <a:rPr lang="en-US" altLang="zh-CN" sz="2400" b="1" i="1" kern="1000">
                            <a:effectLst/>
                            <a:latin typeface="Cambria Math" panose="02040503050406030204" pitchFamily="18" charset="0"/>
                            <a:ea typeface="宋体" panose="02010600030101010101" pitchFamily="2" charset="-122"/>
                          </a:rPr>
                          <m:t>𝟐</m:t>
                        </m:r>
                      </m:sub>
                    </m:sSub>
                    <m:r>
                      <a:rPr lang="en-US" altLang="zh-CN" sz="2400" b="1" i="1" kern="1000">
                        <a:effectLst/>
                        <a:latin typeface="Cambria Math" panose="02040503050406030204" pitchFamily="18" charset="0"/>
                        <a:ea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𝑲</m:t>
                            </m:r>
                          </m:e>
                          <m:sub>
                            <m:r>
                              <a:rPr lang="en-US" altLang="zh-CN" sz="2400" b="1" i="1" kern="1000">
                                <a:effectLst/>
                                <a:latin typeface="Cambria Math" panose="02040503050406030204" pitchFamily="18" charset="0"/>
                                <a:ea typeface="宋体" panose="02010600030101010101" pitchFamily="2" charset="-122"/>
                              </a:rPr>
                              <m:t>𝟐</m:t>
                            </m:r>
                          </m:sub>
                        </m:sSub>
                      </m:e>
                      <m:sup>
                        <m:r>
                          <a:rPr lang="en-US" altLang="zh-CN" sz="2400" b="1" i="1" kern="1000">
                            <a:effectLst/>
                            <a:latin typeface="Cambria Math" panose="02040503050406030204" pitchFamily="18" charset="0"/>
                            <a:ea typeface="宋体" panose="02010600030101010101" pitchFamily="2" charset="-122"/>
                          </a:rPr>
                          <m:t>𝑻</m:t>
                        </m:r>
                      </m:sup>
                    </m:sSup>
                    <m:r>
                      <a:rPr lang="en-US" altLang="zh-CN" sz="2400" b="1" i="1" kern="1000">
                        <a:effectLst/>
                        <a:latin typeface="Cambria Math" panose="02040503050406030204" pitchFamily="18" charset="0"/>
                        <a:ea typeface="宋体" panose="02010600030101010101" pitchFamily="2" charset="-122"/>
                      </a:rPr>
                      <m:t>&gt;</m:t>
                    </m:r>
                    <m:r>
                      <a:rPr lang="en-US" altLang="zh-CN" sz="2400" b="1" i="1" kern="1000">
                        <a:effectLst/>
                        <a:latin typeface="Cambria Math" panose="02040503050406030204" pitchFamily="18" charset="0"/>
                        <a:ea typeface="宋体" panose="02010600030101010101" pitchFamily="2" charset="-122"/>
                      </a:rPr>
                      <m:t>𝟎</m:t>
                    </m:r>
                  </m:oMath>
                </a14:m>
                <a:r>
                  <a:rPr lang="zh-CN" altLang="zh-CN" sz="2400" b="1" kern="1000" dirty="0">
                    <a:effectLst/>
                    <a:latin typeface="微软雅黑" panose="020B0503020204020204" pitchFamily="34" charset="-122"/>
                    <a:ea typeface="微软雅黑" panose="020B0503020204020204" pitchFamily="34" charset="-122"/>
                  </a:rPr>
                  <a:t>，从而</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𝑽</m:t>
                            </m:r>
                          </m:e>
                        </m:acc>
                      </m:e>
                      <m:sub>
                        <m:r>
                          <a:rPr lang="en-US" altLang="zh-CN" sz="2000" b="1" i="1" kern="1050">
                            <a:effectLst/>
                            <a:latin typeface="Cambria Math" panose="02040503050406030204" pitchFamily="18" charset="0"/>
                            <a:ea typeface="宋体" panose="02010600030101010101" pitchFamily="2" charset="-122"/>
                          </a:rPr>
                          <m:t>𝟐</m:t>
                        </m:r>
                      </m:sub>
                    </m:sSub>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𝟏</m:t>
                            </m:r>
                          </m:sub>
                        </m:sSub>
                      </m:e>
                      <m:sup>
                        <m:r>
                          <a:rPr lang="en-US" altLang="zh-CN" sz="2000" b="1" i="1" kern="1050">
                            <a:effectLst/>
                            <a:latin typeface="Cambria Math" panose="02040503050406030204" pitchFamily="18" charset="0"/>
                            <a:ea typeface="宋体" panose="02010600030101010101" pitchFamily="2" charset="-122"/>
                          </a:rPr>
                          <m:t>𝑻</m:t>
                        </m:r>
                      </m:sup>
                    </m:s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𝟏</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𝟐</m:t>
                            </m:r>
                          </m:sub>
                        </m:sSub>
                      </m:e>
                      <m:sup>
                        <m:r>
                          <a:rPr lang="en-US" altLang="zh-CN" sz="2000" b="1" i="1" kern="1050">
                            <a:effectLst/>
                            <a:latin typeface="Cambria Math" panose="02040503050406030204" pitchFamily="18" charset="0"/>
                            <a:ea typeface="宋体" panose="02010600030101010101" pitchFamily="2" charset="-122"/>
                          </a:rPr>
                          <m:t>𝑻</m:t>
                        </m:r>
                      </m:sup>
                    </m:s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𝟐</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𝟐</m:t>
                        </m:r>
                      </m:sub>
                    </m:sSub>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𝟐</m:t>
                            </m:r>
                          </m:sub>
                        </m:sSub>
                      </m:e>
                      <m:sup>
                        <m:r>
                          <a:rPr lang="en-US" altLang="zh-CN" sz="2000" b="1" i="1" kern="1050">
                            <a:effectLst/>
                            <a:latin typeface="Cambria Math" panose="02040503050406030204" pitchFamily="18" charset="0"/>
                            <a:ea typeface="宋体" panose="02010600030101010101" pitchFamily="2" charset="-122"/>
                          </a:rPr>
                          <m:t>𝑻</m:t>
                        </m:r>
                      </m:sup>
                    </m:sSup>
                    <m:func>
                      <m:funcPr>
                        <m:ctrlPr>
                          <a:rPr lang="zh-CN" altLang="zh-CN" sz="2000" b="1" i="1" kern="1050">
                            <a:effectLst/>
                            <a:latin typeface="Cambria Math" panose="02040503050406030204" pitchFamily="18" charset="0"/>
                            <a:ea typeface="Cambria Math" panose="02040503050406030204" pitchFamily="18" charset="0"/>
                          </a:rPr>
                        </m:ctrlPr>
                      </m:funcPr>
                      <m:fName>
                        <m:r>
                          <a:rPr lang="en-US" altLang="zh-CN" sz="2000" b="1" i="1" kern="1050">
                            <a:effectLst/>
                            <a:latin typeface="Cambria Math" panose="02040503050406030204" pitchFamily="18" charset="0"/>
                            <a:ea typeface="宋体" panose="02010600030101010101" pitchFamily="2" charset="-122"/>
                          </a:rPr>
                          <m:t>𝒔𝒈𝒏</m:t>
                        </m:r>
                      </m:fName>
                      <m:e>
                        <m:r>
                          <a:rPr lang="zh-CN" altLang="zh-CN" sz="2000" b="1" i="1" kern="1050">
                            <a:effectLst/>
                            <a:latin typeface="Cambria Math" panose="02040503050406030204" pitchFamily="18" charset="0"/>
                            <a:ea typeface="宋体" panose="02010600030101010101" pitchFamily="2" charset="-122"/>
                            <a:cs typeface="宋体" panose="02010600030101010101" pitchFamily="2" charset="-122"/>
                          </a:rPr>
                          <m:t>⊙</m:t>
                        </m:r>
                      </m:e>
                    </m:func>
                    <m:r>
                      <a:rPr lang="en-US" altLang="zh-CN" sz="2000" b="1" i="1" kern="105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𝟐</m:t>
                        </m:r>
                      </m:sub>
                      <m:sup>
                        <m:r>
                          <a:rPr lang="en-US" altLang="zh-CN" sz="2000" b="1" i="1" kern="1050">
                            <a:effectLst/>
                            <a:latin typeface="Cambria Math" panose="02040503050406030204" pitchFamily="18" charset="0"/>
                            <a:ea typeface="宋体" panose="02010600030101010101" pitchFamily="2" charset="-122"/>
                          </a:rPr>
                          <m:t>𝑻</m:t>
                        </m:r>
                      </m:sup>
                    </m:sSubSup>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𝑱</m:t>
                        </m:r>
                      </m:e>
                      <m:sup>
                        <m:r>
                          <a:rPr lang="en-US" altLang="zh-CN" sz="2000" b="1" i="1" kern="1050">
                            <a:effectLst/>
                            <a:latin typeface="Cambria Math" panose="02040503050406030204" pitchFamily="18" charset="0"/>
                            <a:ea typeface="宋体" panose="02010600030101010101" pitchFamily="2" charset="-122"/>
                          </a:rPr>
                          <m:t>𝑻</m:t>
                        </m:r>
                      </m:sup>
                    </m:sSup>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𝒇</m:t>
                            </m:r>
                          </m:e>
                        </m:acc>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𝟐</m:t>
                            </m:r>
                          </m:sub>
                        </m:sSub>
                      </m:e>
                      <m:sup>
                        <m:r>
                          <a:rPr lang="en-US" altLang="zh-CN" sz="2000" b="1" i="1" kern="1050">
                            <a:effectLst/>
                            <a:latin typeface="Cambria Math" panose="02040503050406030204" pitchFamily="18" charset="0"/>
                            <a:ea typeface="宋体" panose="02010600030101010101" pitchFamily="2" charset="-122"/>
                          </a:rPr>
                          <m:t>𝑻</m:t>
                        </m:r>
                      </m:sup>
                    </m:sSup>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𝑱</m:t>
                        </m:r>
                      </m:e>
                      <m:sup>
                        <m:r>
                          <a:rPr lang="en-US" altLang="zh-CN" sz="2000" b="1" i="1" kern="1050">
                            <a:effectLst/>
                            <a:latin typeface="Cambria Math" panose="02040503050406030204" pitchFamily="18" charset="0"/>
                            <a:ea typeface="宋体" panose="02010600030101010101" pitchFamily="2" charset="-122"/>
                          </a:rPr>
                          <m:t>𝑻</m:t>
                        </m:r>
                      </m:sup>
                    </m:sSup>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𝒇</m:t>
                    </m:r>
                  </m:oMath>
                </a14:m>
                <a:r>
                  <a:rPr lang="en-US" altLang="zh-CN" sz="2000" b="1" kern="1050" dirty="0">
                    <a:effectLst/>
                    <a:latin typeface="微软雅黑" panose="020B0503020204020204" pitchFamily="34" charset="-122"/>
                    <a:ea typeface="微软雅黑" panose="020B0503020204020204" pitchFamily="34" charset="-122"/>
                  </a:rPr>
                  <a:t>	            (7.46)</a:t>
                </a:r>
                <a:endParaRPr lang="zh-CN" altLang="zh-CN" sz="2000" b="1" kern="1050" dirty="0">
                  <a:effectLst/>
                  <a:latin typeface="微软雅黑" panose="020B0503020204020204" pitchFamily="34" charset="-122"/>
                  <a:ea typeface="微软雅黑" panose="020B0503020204020204" pitchFamily="34" charset="-122"/>
                </a:endParaRPr>
              </a:p>
              <a:p>
                <a:pPr algn="just">
                  <a:spcBef>
                    <a:spcPts val="400"/>
                  </a:spcBef>
                  <a:spcAft>
                    <a:spcPts val="4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𝟏</m:t>
                            </m:r>
                          </m:sub>
                        </m:sSub>
                      </m:e>
                      <m:sup>
                        <m:r>
                          <a:rPr lang="en-US" altLang="zh-CN" sz="2000" b="1" i="1" kern="1050">
                            <a:effectLst/>
                            <a:latin typeface="Cambria Math" panose="02040503050406030204" pitchFamily="18" charset="0"/>
                            <a:ea typeface="宋体" panose="02010600030101010101" pitchFamily="2" charset="-122"/>
                          </a:rPr>
                          <m:t>𝑻</m:t>
                        </m:r>
                      </m:sup>
                    </m:s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𝟏</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𝟐</m:t>
                            </m:r>
                          </m:sub>
                        </m:sSub>
                      </m:e>
                      <m:sup>
                        <m:r>
                          <a:rPr lang="en-US" altLang="zh-CN" sz="2000" b="1" i="1" kern="1050">
                            <a:effectLst/>
                            <a:latin typeface="Cambria Math" panose="02040503050406030204" pitchFamily="18" charset="0"/>
                            <a:ea typeface="宋体" panose="02010600030101010101" pitchFamily="2" charset="-122"/>
                          </a:rPr>
                          <m:t>𝑻</m:t>
                        </m:r>
                      </m:sup>
                    </m:s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𝟐</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𝟐</m:t>
                        </m:r>
                      </m:sub>
                    </m:sSub>
                  </m:oMath>
                </a14:m>
                <a:r>
                  <a:rPr lang="en-US" altLang="zh-CN" sz="2000" b="1" kern="1050" dirty="0">
                    <a:effectLst/>
                    <a:latin typeface="微软雅黑" panose="020B0503020204020204" pitchFamily="34" charset="-122"/>
                    <a:ea typeface="微软雅黑" panose="020B0503020204020204" pitchFamily="34" charset="-122"/>
                  </a:rPr>
                  <a:t>	                                                (7.47)</a:t>
                </a:r>
                <a:endParaRPr lang="zh-CN" altLang="zh-CN" sz="2000" b="1" kern="1050" dirty="0">
                  <a:effectLst/>
                  <a:latin typeface="微软雅黑" panose="020B0503020204020204" pitchFamily="34" charset="-122"/>
                  <a:ea typeface="微软雅黑" panose="020B0503020204020204" pitchFamily="34" charset="-122"/>
                </a:endParaRPr>
              </a:p>
            </p:txBody>
          </p:sp>
        </mc:Choice>
        <mc:Fallback xmlns="">
          <p:sp>
            <p:nvSpPr>
              <p:cNvPr id="4" name="文本框 3">
                <a:extLst>
                  <a:ext uri="{FF2B5EF4-FFF2-40B4-BE49-F238E27FC236}">
                    <a16:creationId xmlns:a16="http://schemas.microsoft.com/office/drawing/2014/main" id="{5667C8F6-0638-8EC1-FA35-6228E3ADDF85}"/>
                  </a:ext>
                </a:extLst>
              </p:cNvPr>
              <p:cNvSpPr txBox="1">
                <a:spLocks noRot="1" noChangeAspect="1" noMove="1" noResize="1" noEditPoints="1" noAdjustHandles="1" noChangeArrowheads="1" noChangeShapeType="1" noTextEdit="1"/>
              </p:cNvSpPr>
              <p:nvPr/>
            </p:nvSpPr>
            <p:spPr>
              <a:xfrm>
                <a:off x="952500" y="1381125"/>
                <a:ext cx="11239500" cy="2630272"/>
              </a:xfrm>
              <a:prstGeom prst="rect">
                <a:avLst/>
              </a:prstGeom>
              <a:blipFill>
                <a:blip r:embed="rId3"/>
                <a:stretch>
                  <a:fillRect l="-813" t="-1624" b="-2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987FBDB1-02A3-C6B5-214A-1ECDC21FDF2C}"/>
                  </a:ext>
                </a:extLst>
              </p:cNvPr>
              <p:cNvSpPr txBox="1"/>
              <p:nvPr/>
            </p:nvSpPr>
            <p:spPr>
              <a:xfrm>
                <a:off x="952500" y="4245066"/>
                <a:ext cx="10306050" cy="1630575"/>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由于在参数</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𝑴</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𝟏</m:t>
                        </m:r>
                      </m:sub>
                    </m:sSub>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𝑪</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𝟏</m:t>
                        </m:r>
                      </m:sub>
                    </m:sSub>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𝟐</m:t>
                        </m:r>
                      </m:sub>
                    </m:sSub>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𝑮</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𝟏</m:t>
                        </m:r>
                      </m:sub>
                    </m:sSub>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𝒇</m:t>
                    </m:r>
                  </m:oMath>
                </a14:m>
                <a:r>
                  <a:rPr lang="zh-CN" altLang="zh-CN" sz="2400" b="1" kern="1000" dirty="0">
                    <a:effectLst/>
                    <a:latin typeface="微软雅黑" panose="020B0503020204020204" pitchFamily="34" charset="-122"/>
                    <a:ea typeface="微软雅黑" panose="020B0503020204020204" pitchFamily="34" charset="-122"/>
                  </a:rPr>
                  <a:t>中存在不确定性，利用</a:t>
                </a:r>
                <a:r>
                  <a:rPr lang="en-US" altLang="zh-CN" sz="2400" b="1" kern="1000" dirty="0">
                    <a:effectLst/>
                    <a:latin typeface="微软雅黑" panose="020B0503020204020204" pitchFamily="34" charset="-122"/>
                    <a:ea typeface="微软雅黑" panose="020B0503020204020204" pitchFamily="34" charset="-122"/>
                  </a:rPr>
                  <a:t>RBF</a:t>
                </a:r>
                <a:r>
                  <a:rPr lang="zh-CN" altLang="zh-CN" sz="2400" b="1" kern="1000" dirty="0">
                    <a:effectLst/>
                    <a:latin typeface="微软雅黑" panose="020B0503020204020204" pitchFamily="34" charset="-122"/>
                    <a:ea typeface="微软雅黑" panose="020B0503020204020204" pitchFamily="34" charset="-122"/>
                  </a:rPr>
                  <a:t>神经网络估计器来逼近机器人参数的不确定性，提高机器人的跟踪性能，将控制律重新设计为</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000" b="1" i="1" kern="1050">
                        <a:effectLst/>
                        <a:latin typeface="Cambria Math" panose="02040503050406030204" pitchFamily="18" charset="0"/>
                        <a:ea typeface="宋体" panose="02010600030101010101" pitchFamily="2" charset="-122"/>
                      </a:rPr>
                      <m:t>𝝉</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𝟐</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𝟐</m:t>
                        </m:r>
                      </m:sub>
                    </m:sSub>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𝑾</m:t>
                            </m:r>
                          </m:e>
                        </m:acc>
                      </m:e>
                      <m:sup>
                        <m:r>
                          <a:rPr lang="en-US" altLang="zh-CN" sz="2000" b="1" i="1" kern="1050">
                            <a:effectLst/>
                            <a:latin typeface="Cambria Math" panose="02040503050406030204" pitchFamily="18" charset="0"/>
                            <a:ea typeface="宋体" panose="02010600030101010101" pitchFamily="2" charset="-122"/>
                          </a:rPr>
                          <m:t>𝑻</m:t>
                        </m:r>
                      </m:sup>
                    </m:sSup>
                    <m:r>
                      <a:rPr lang="en-US" altLang="zh-CN" sz="2000" b="1" i="1" kern="1050">
                        <a:effectLst/>
                        <a:latin typeface="Cambria Math" panose="02040503050406030204" pitchFamily="18" charset="0"/>
                        <a:ea typeface="宋体" panose="02010600030101010101" pitchFamily="2" charset="-122"/>
                      </a:rPr>
                      <m:t>𝑺</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𝒁</m:t>
                    </m:r>
                    <m:r>
                      <a:rPr lang="en-US" altLang="zh-CN" sz="2000" b="1" i="1" kern="105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(7.48)</a:t>
                </a:r>
                <a:endParaRPr lang="zh-CN" altLang="zh-CN" sz="2000" b="1" kern="1050" dirty="0">
                  <a:effectLst/>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987FBDB1-02A3-C6B5-214A-1ECDC21FDF2C}"/>
                  </a:ext>
                </a:extLst>
              </p:cNvPr>
              <p:cNvSpPr txBox="1">
                <a:spLocks noRot="1" noChangeAspect="1" noMove="1" noResize="1" noEditPoints="1" noAdjustHandles="1" noChangeArrowheads="1" noChangeShapeType="1" noTextEdit="1"/>
              </p:cNvSpPr>
              <p:nvPr/>
            </p:nvSpPr>
            <p:spPr>
              <a:xfrm>
                <a:off x="952500" y="4245066"/>
                <a:ext cx="10306050" cy="1630575"/>
              </a:xfrm>
              <a:prstGeom prst="rect">
                <a:avLst/>
              </a:prstGeom>
              <a:blipFill>
                <a:blip r:embed="rId4"/>
                <a:stretch>
                  <a:fillRect l="-887" t="-2985" r="-887" b="-4104"/>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4FAA2A11-8843-2CA9-B978-3E6F7ACF022D}"/>
              </a:ext>
            </a:extLst>
          </p:cNvPr>
          <p:cNvSpPr txBox="1"/>
          <p:nvPr>
            <p:custDataLst>
              <p:tags r:id="rId1"/>
            </p:custDataLst>
          </p:nvPr>
        </p:nvSpPr>
        <p:spPr>
          <a:xfrm>
            <a:off x="1357313" y="128685"/>
            <a:ext cx="8158162" cy="954107"/>
          </a:xfrm>
          <a:prstGeom prst="rect">
            <a:avLst/>
          </a:prstGeom>
          <a:noFill/>
        </p:spPr>
        <p:txBody>
          <a:bodyPr wrap="square" rtlCol="0">
            <a:spAutoFit/>
          </a:bodyPr>
          <a:lstStyle/>
          <a:p>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状态信息完全已知情况下的</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B81BFDEE-7163-4B4F-5590-481E7EE53A1E}"/>
                  </a:ext>
                </a:extLst>
              </p:cNvPr>
              <p:cNvSpPr txBox="1"/>
              <p:nvPr/>
            </p:nvSpPr>
            <p:spPr>
              <a:xfrm>
                <a:off x="1195387" y="1393828"/>
                <a:ext cx="9910763" cy="3004477"/>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这里的</a:t>
                </a:r>
                <a14:m>
                  <m:oMath xmlns:m="http://schemas.openxmlformats.org/officeDocument/2006/math">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𝑾</m:t>
                        </m:r>
                      </m:e>
                    </m:acc>
                  </m:oMath>
                </a14:m>
                <a:r>
                  <a:rPr lang="zh-CN" altLang="zh-CN" sz="2400" b="1" kern="1000" dirty="0">
                    <a:effectLst/>
                    <a:latin typeface="微软雅黑" panose="020B0503020204020204" pitchFamily="34" charset="-122"/>
                    <a:ea typeface="微软雅黑" panose="020B0503020204020204" pitchFamily="34" charset="-122"/>
                  </a:rPr>
                  <a:t>是神经网络的权值，</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𝑺</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𝒛</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是基函数，此神经网路</a:t>
                </a:r>
                <a14:m>
                  <m:oMath xmlns:m="http://schemas.openxmlformats.org/officeDocument/2006/math">
                    <m:sSup>
                      <m:sSupPr>
                        <m:ctrlPr>
                          <a:rPr lang="zh-CN" altLang="zh-CN" sz="2400" b="1" i="1" kern="1000">
                            <a:effectLst/>
                            <a:latin typeface="Cambria Math" panose="02040503050406030204" pitchFamily="18" charset="0"/>
                            <a:ea typeface="Cambria Math" panose="02040503050406030204" pitchFamily="18" charset="0"/>
                          </a:rPr>
                        </m:ctrlPr>
                      </m:sSupPr>
                      <m:e>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𝑾</m:t>
                            </m:r>
                          </m:e>
                        </m:acc>
                      </m:e>
                      <m:sup>
                        <m:r>
                          <a:rPr lang="en-US" altLang="zh-CN" sz="2400" b="1" i="1" kern="1000">
                            <a:effectLst/>
                            <a:latin typeface="Cambria Math" panose="02040503050406030204" pitchFamily="18" charset="0"/>
                            <a:ea typeface="宋体" panose="02010600030101010101" pitchFamily="2" charset="-122"/>
                          </a:rPr>
                          <m:t>𝑻</m:t>
                        </m:r>
                      </m:sup>
                    </m:sSup>
                    <m:r>
                      <a:rPr lang="en-US" altLang="zh-CN" sz="2400" b="1" i="1" kern="1000">
                        <a:effectLst/>
                        <a:latin typeface="Cambria Math" panose="02040503050406030204" pitchFamily="18" charset="0"/>
                        <a:ea typeface="宋体" panose="02010600030101010101" pitchFamily="2" charset="-122"/>
                      </a:rPr>
                      <m:t>𝑺</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𝒁</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近似为</a:t>
                </a:r>
                <a14:m>
                  <m:oMath xmlns:m="http://schemas.openxmlformats.org/officeDocument/2006/math">
                    <m:sSup>
                      <m:sSupPr>
                        <m:ctrlPr>
                          <a:rPr lang="zh-CN" altLang="zh-CN" sz="2400" b="1" i="1" kern="1000">
                            <a:effectLst/>
                            <a:latin typeface="Cambria Math" panose="02040503050406030204" pitchFamily="18" charset="0"/>
                            <a:ea typeface="Cambria Math" panose="02040503050406030204" pitchFamily="18" charset="0"/>
                          </a:rPr>
                        </m:ctrlPr>
                      </m:sSupPr>
                      <m:e>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𝑾</m:t>
                            </m:r>
                          </m:e>
                          <m:sup>
                            <m:r>
                              <a:rPr lang="zh-CN" altLang="en-US" sz="2400" b="1" i="1" kern="1000">
                                <a:effectLst/>
                                <a:latin typeface="Cambria Math" panose="02040503050406030204" pitchFamily="18" charset="0"/>
                                <a:ea typeface="MS Gothic" panose="020B0609070205080204" pitchFamily="49" charset="-128"/>
                                <a:cs typeface="MS Gothic" panose="020B0609070205080204" pitchFamily="49" charset="-128"/>
                              </a:rPr>
                              <m:t>∗</m:t>
                            </m:r>
                          </m:sup>
                        </m:sSup>
                      </m:e>
                      <m:sup>
                        <m:r>
                          <a:rPr lang="en-US" altLang="zh-CN" sz="2400" b="1" i="1" kern="1000">
                            <a:effectLst/>
                            <a:latin typeface="Cambria Math" panose="02040503050406030204" pitchFamily="18" charset="0"/>
                            <a:ea typeface="宋体" panose="02010600030101010101" pitchFamily="2" charset="-122"/>
                          </a:rPr>
                          <m:t>𝑻</m:t>
                        </m:r>
                      </m:sup>
                    </m:sSup>
                    <m:r>
                      <a:rPr lang="en-US" altLang="zh-CN" sz="2400" b="1" i="1" kern="1000">
                        <a:effectLst/>
                        <a:latin typeface="Cambria Math" panose="02040503050406030204" pitchFamily="18" charset="0"/>
                        <a:ea typeface="宋体" panose="02010600030101010101" pitchFamily="2" charset="-122"/>
                      </a:rPr>
                      <m:t>𝑺</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𝒁</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。即</a:t>
                </a:r>
              </a:p>
              <a:p>
                <a:pPr algn="just">
                  <a:spcBef>
                    <a:spcPts val="400"/>
                  </a:spcBef>
                  <a:spcAft>
                    <a:spcPts val="4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sSup>
                      <m:sSupPr>
                        <m:ctrlPr>
                          <a:rPr lang="zh-CN" altLang="zh-CN" sz="2000" b="1" i="1" kern="1050">
                            <a:effectLst/>
                            <a:latin typeface="Cambria Math" panose="02040503050406030204" pitchFamily="18" charset="0"/>
                            <a:ea typeface="Cambria Math" panose="02040503050406030204" pitchFamily="18" charset="0"/>
                          </a:rPr>
                        </m:ctrlPr>
                      </m:sSupPr>
                      <m:e>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𝑾</m:t>
                            </m:r>
                          </m:e>
                          <m:sup>
                            <m:r>
                              <a:rPr lang="zh-CN" altLang="en-US" sz="2000" b="1" i="1" kern="1050">
                                <a:effectLst/>
                                <a:latin typeface="Cambria Math" panose="02040503050406030204" pitchFamily="18" charset="0"/>
                                <a:ea typeface="MS Gothic" panose="020B0609070205080204" pitchFamily="49" charset="-128"/>
                                <a:cs typeface="MS Gothic" panose="020B0609070205080204" pitchFamily="49" charset="-128"/>
                              </a:rPr>
                              <m:t>∗</m:t>
                            </m:r>
                          </m:sup>
                        </m:sSup>
                      </m:e>
                      <m:sup>
                        <m:r>
                          <a:rPr lang="en-US" altLang="zh-CN" sz="2000" b="1" i="1" kern="1050">
                            <a:effectLst/>
                            <a:latin typeface="Cambria Math" panose="02040503050406030204" pitchFamily="18" charset="0"/>
                            <a:ea typeface="宋体" panose="02010600030101010101" pitchFamily="2" charset="-122"/>
                          </a:rPr>
                          <m:t>𝑻</m:t>
                        </m:r>
                      </m:sup>
                    </m:sSup>
                    <m:r>
                      <a:rPr lang="en-US" altLang="zh-CN" sz="2000" b="1" i="1" kern="1050">
                        <a:effectLst/>
                        <a:latin typeface="Cambria Math" panose="02040503050406030204" pitchFamily="18" charset="0"/>
                        <a:ea typeface="宋体" panose="02010600030101010101" pitchFamily="2" charset="-122"/>
                      </a:rPr>
                      <m:t>𝑺</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𝒁</m:t>
                    </m:r>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𝑱</m:t>
                        </m:r>
                      </m:e>
                      <m:sup>
                        <m:r>
                          <a:rPr lang="en-US" altLang="zh-CN" sz="2000" b="1" i="1" kern="1050">
                            <a:effectLst/>
                            <a:latin typeface="Cambria Math" panose="02040503050406030204" pitchFamily="18" charset="0"/>
                            <a:ea typeface="宋体" panose="02010600030101010101" pitchFamily="2" charset="-122"/>
                          </a:rPr>
                          <m:t>𝑻</m:t>
                        </m:r>
                      </m:sup>
                    </m:sSup>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𝒇</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𝑪</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𝟐</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𝜶</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𝒕</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𝑮</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𝑴</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𝜶</m:t>
                            </m:r>
                          </m:e>
                        </m:acc>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𝒕</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𝜹</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𝒁</m:t>
                    </m:r>
                    <m:r>
                      <a:rPr lang="en-US" altLang="zh-CN" sz="2000" b="1" i="1" kern="105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(7.49)</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这里的</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𝒁</m:t>
                    </m:r>
                    <m:r>
                      <a:rPr lang="en-US" altLang="zh-CN" sz="2400" b="1" i="1" kern="1000">
                        <a:effectLst/>
                        <a:latin typeface="Cambria Math" panose="02040503050406030204" pitchFamily="18" charset="0"/>
                        <a:ea typeface="宋体" panose="02010600030101010101" pitchFamily="2" charset="-122"/>
                      </a:rPr>
                      <m:t>=[</m:t>
                    </m:r>
                    <m:sSubSup>
                      <m:sSubSupPr>
                        <m:ctrlPr>
                          <a:rPr lang="zh-CN" altLang="zh-CN" sz="2400" b="1" i="1" kern="1000">
                            <a:effectLst/>
                            <a:latin typeface="Cambria Math" panose="02040503050406030204" pitchFamily="18" charset="0"/>
                            <a:ea typeface="Cambria Math" panose="02040503050406030204" pitchFamily="18" charset="0"/>
                          </a:rPr>
                        </m:ctrlPr>
                      </m:sSubSup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𝟏</m:t>
                        </m:r>
                      </m:sub>
                      <m:sup>
                        <m:r>
                          <a:rPr lang="en-US" altLang="zh-CN" sz="2400" b="1" i="1" kern="1000">
                            <a:effectLst/>
                            <a:latin typeface="Cambria Math" panose="02040503050406030204" pitchFamily="18" charset="0"/>
                            <a:ea typeface="宋体" panose="02010600030101010101" pitchFamily="2" charset="-122"/>
                          </a:rPr>
                          <m:t>𝑻</m:t>
                        </m:r>
                      </m:sup>
                    </m:sSubSup>
                    <m:r>
                      <a:rPr lang="en-US" altLang="zh-CN" sz="2400" b="1" i="1" kern="1000">
                        <a:effectLst/>
                        <a:latin typeface="Cambria Math" panose="02040503050406030204" pitchFamily="18" charset="0"/>
                        <a:ea typeface="宋体" panose="02010600030101010101" pitchFamily="2" charset="-122"/>
                      </a:rPr>
                      <m:t>,</m:t>
                    </m:r>
                    <m:sSubSup>
                      <m:sSubSupPr>
                        <m:ctrlPr>
                          <a:rPr lang="zh-CN" altLang="zh-CN" sz="2400" b="1" i="1" kern="1000">
                            <a:effectLst/>
                            <a:latin typeface="Cambria Math" panose="02040503050406030204" pitchFamily="18" charset="0"/>
                            <a:ea typeface="Cambria Math" panose="02040503050406030204" pitchFamily="18" charset="0"/>
                          </a:rPr>
                        </m:ctrlPr>
                      </m:sSubSup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𝟐</m:t>
                        </m:r>
                      </m:sub>
                      <m:sup>
                        <m:r>
                          <a:rPr lang="en-US" altLang="zh-CN" sz="2400" b="1" i="1" kern="1000">
                            <a:effectLst/>
                            <a:latin typeface="Cambria Math" panose="02040503050406030204" pitchFamily="18" charset="0"/>
                            <a:ea typeface="宋体" panose="02010600030101010101" pitchFamily="2" charset="-122"/>
                          </a:rPr>
                          <m:t>𝑻</m:t>
                        </m:r>
                      </m:sup>
                    </m:sSubSup>
                    <m:r>
                      <a:rPr lang="en-US" altLang="zh-CN" sz="2400" b="1" i="1" kern="1000">
                        <a:effectLst/>
                        <a:latin typeface="Cambria Math" panose="02040503050406030204" pitchFamily="18" charset="0"/>
                        <a:ea typeface="宋体" panose="02010600030101010101" pitchFamily="2" charset="-122"/>
                      </a:rPr>
                      <m:t>,</m:t>
                    </m:r>
                    <m:sSubSup>
                      <m:sSubSupPr>
                        <m:ctrlPr>
                          <a:rPr lang="zh-CN" altLang="zh-CN" sz="2400" b="1" i="1" kern="1000">
                            <a:effectLst/>
                            <a:latin typeface="Cambria Math" panose="02040503050406030204" pitchFamily="18" charset="0"/>
                            <a:ea typeface="Cambria Math" panose="02040503050406030204" pitchFamily="18" charset="0"/>
                          </a:rPr>
                        </m:ctrlPr>
                      </m:sSubSupPr>
                      <m:e>
                        <m:r>
                          <a:rPr lang="en-US" altLang="zh-CN" sz="2400" b="1" i="1" kern="1000">
                            <a:effectLst/>
                            <a:latin typeface="Cambria Math" panose="02040503050406030204" pitchFamily="18" charset="0"/>
                            <a:ea typeface="宋体" panose="02010600030101010101" pitchFamily="2" charset="-122"/>
                          </a:rPr>
                          <m:t>𝜶</m:t>
                        </m:r>
                      </m:e>
                      <m:sub>
                        <m:r>
                          <a:rPr lang="en-US" altLang="zh-CN" sz="2400" b="1" i="1" kern="1000">
                            <a:effectLst/>
                            <a:latin typeface="Cambria Math" panose="02040503050406030204" pitchFamily="18" charset="0"/>
                            <a:ea typeface="宋体" panose="02010600030101010101" pitchFamily="2" charset="-122"/>
                          </a:rPr>
                          <m:t>𝟏</m:t>
                        </m:r>
                      </m:sub>
                      <m:sup>
                        <m:r>
                          <a:rPr lang="en-US" altLang="zh-CN" sz="2400" b="1" i="1" kern="1000">
                            <a:effectLst/>
                            <a:latin typeface="Cambria Math" panose="02040503050406030204" pitchFamily="18" charset="0"/>
                            <a:ea typeface="宋体" panose="02010600030101010101" pitchFamily="2" charset="-122"/>
                          </a:rPr>
                          <m:t>𝑻</m:t>
                        </m:r>
                      </m:sup>
                    </m:sSubSup>
                    <m:r>
                      <a:rPr lang="en-US" altLang="zh-CN" sz="2400" b="1" i="1" kern="1000">
                        <a:effectLst/>
                        <a:latin typeface="Cambria Math" panose="02040503050406030204" pitchFamily="18" charset="0"/>
                        <a:ea typeface="宋体" panose="02010600030101010101" pitchFamily="2" charset="-122"/>
                      </a:rPr>
                      <m:t>,</m:t>
                    </m:r>
                    <m:sSubSup>
                      <m:sSubSupPr>
                        <m:ctrlPr>
                          <a:rPr lang="zh-CN" altLang="zh-CN" sz="2400" b="1" i="1" kern="1000">
                            <a:effectLst/>
                            <a:latin typeface="Cambria Math" panose="02040503050406030204" pitchFamily="18" charset="0"/>
                            <a:ea typeface="Cambria Math" panose="02040503050406030204" pitchFamily="18" charset="0"/>
                          </a:rPr>
                        </m:ctrlPr>
                      </m:sSubSupPr>
                      <m:e>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𝜶</m:t>
                            </m:r>
                          </m:e>
                        </m:acc>
                      </m:e>
                      <m:sub>
                        <m:r>
                          <a:rPr lang="en-US" altLang="zh-CN" sz="2400" b="1" i="1" kern="1000">
                            <a:effectLst/>
                            <a:latin typeface="Cambria Math" panose="02040503050406030204" pitchFamily="18" charset="0"/>
                            <a:ea typeface="宋体" panose="02010600030101010101" pitchFamily="2" charset="-122"/>
                          </a:rPr>
                          <m:t>𝟏</m:t>
                        </m:r>
                      </m:sub>
                      <m:sup>
                        <m:r>
                          <a:rPr lang="en-US" altLang="zh-CN" sz="2400" b="1" i="1" kern="1000">
                            <a:effectLst/>
                            <a:latin typeface="Cambria Math" panose="02040503050406030204" pitchFamily="18" charset="0"/>
                            <a:ea typeface="宋体" panose="02010600030101010101" pitchFamily="2" charset="-122"/>
                          </a:rPr>
                          <m:t>𝑻</m:t>
                        </m:r>
                      </m:sup>
                    </m:sSubSup>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是输入变量来适应神经网络，</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𝜹</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𝒁</m:t>
                    </m:r>
                    <m:r>
                      <a:rPr lang="en-US" altLang="zh-CN" sz="2400" b="1" i="1" kern="1000">
                        <a:effectLst/>
                        <a:latin typeface="Cambria Math" panose="02040503050406030204" pitchFamily="18" charset="0"/>
                        <a:ea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𝑹</m:t>
                        </m:r>
                      </m:e>
                      <m:sup>
                        <m:r>
                          <a:rPr lang="en-US" altLang="zh-CN" sz="2400" b="1" i="1" kern="1000">
                            <a:effectLst/>
                            <a:latin typeface="Cambria Math" panose="02040503050406030204" pitchFamily="18" charset="0"/>
                            <a:ea typeface="宋体" panose="02010600030101010101" pitchFamily="2" charset="-122"/>
                          </a:rPr>
                          <m:t>𝒏</m:t>
                        </m:r>
                      </m:sup>
                    </m:sSup>
                  </m:oMath>
                </a14:m>
                <a:r>
                  <a:rPr lang="zh-CN" altLang="zh-CN" sz="2400" b="1" kern="1000" dirty="0">
                    <a:effectLst/>
                    <a:latin typeface="微软雅黑" panose="020B0503020204020204" pitchFamily="34" charset="-122"/>
                    <a:ea typeface="微软雅黑" panose="020B0503020204020204" pitchFamily="34" charset="-122"/>
                  </a:rPr>
                  <a:t>是近似误差，自适应律设计为</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𝑾</m:t>
                                </m:r>
                              </m:e>
                            </m:acc>
                          </m:e>
                        </m:acc>
                      </m:e>
                      <m:sub>
                        <m:r>
                          <a:rPr lang="en-US" altLang="zh-CN" sz="2000" b="1" i="1" kern="1050">
                            <a:effectLst/>
                            <a:latin typeface="Cambria Math" panose="02040503050406030204" pitchFamily="18" charset="0"/>
                            <a:ea typeface="宋体" panose="02010600030101010101" pitchFamily="2" charset="-122"/>
                          </a:rPr>
                          <m:t>𝒊</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𝜞</m:t>
                        </m:r>
                      </m:e>
                      <m:sub>
                        <m:r>
                          <a:rPr lang="en-US" altLang="zh-CN" sz="2000" b="1" i="1" kern="1050">
                            <a:effectLst/>
                            <a:latin typeface="Cambria Math" panose="02040503050406030204" pitchFamily="18" charset="0"/>
                            <a:ea typeface="宋体" panose="02010600030101010101" pitchFamily="2" charset="-122"/>
                          </a:rPr>
                          <m:t>𝒊</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𝑺</m:t>
                        </m:r>
                      </m:e>
                      <m:sub>
                        <m:r>
                          <a:rPr lang="en-US" altLang="zh-CN" sz="2000" b="1" i="1" kern="1050">
                            <a:effectLst/>
                            <a:latin typeface="Cambria Math" panose="02040503050406030204" pitchFamily="18" charset="0"/>
                            <a:ea typeface="宋体" panose="02010600030101010101" pitchFamily="2" charset="-122"/>
                          </a:rPr>
                          <m:t>𝒊</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𝒁</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𝟐</m:t>
                        </m:r>
                        <m:r>
                          <a:rPr lang="en-US" altLang="zh-CN" sz="2000" b="1" i="1" kern="1050">
                            <a:effectLst/>
                            <a:latin typeface="Cambria Math" panose="02040503050406030204" pitchFamily="18" charset="0"/>
                            <a:ea typeface="宋体" panose="02010600030101010101" pitchFamily="2" charset="-122"/>
                          </a:rPr>
                          <m:t>𝒊</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𝝈</m:t>
                        </m:r>
                      </m:e>
                      <m:sub>
                        <m:r>
                          <a:rPr lang="en-US" altLang="zh-CN" sz="2000" b="1" i="1" kern="1050">
                            <a:effectLst/>
                            <a:latin typeface="Cambria Math" panose="02040503050406030204" pitchFamily="18" charset="0"/>
                            <a:ea typeface="宋体" panose="02010600030101010101" pitchFamily="2" charset="-122"/>
                          </a:rPr>
                          <m:t>𝒊</m:t>
                        </m:r>
                      </m:sub>
                    </m:sSub>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𝑾</m:t>
                            </m:r>
                          </m:e>
                        </m:acc>
                      </m:e>
                      <m:sub>
                        <m:r>
                          <a:rPr lang="en-US" altLang="zh-CN" sz="2000" b="1" i="1" kern="1050">
                            <a:effectLst/>
                            <a:latin typeface="Cambria Math" panose="02040503050406030204" pitchFamily="18" charset="0"/>
                            <a:ea typeface="宋体" panose="02010600030101010101" pitchFamily="2" charset="-122"/>
                          </a:rPr>
                          <m:t>𝒊</m:t>
                        </m:r>
                      </m:sub>
                    </m:sSub>
                    <m:r>
                      <a:rPr lang="en-US" altLang="zh-CN" sz="2000" b="1" i="1" kern="105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(7.50)</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这里的</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𝜞</m:t>
                        </m:r>
                      </m:e>
                      <m:sub>
                        <m:r>
                          <a:rPr lang="en-US" altLang="zh-CN" sz="2400" b="1" i="1" kern="1000">
                            <a:effectLst/>
                            <a:latin typeface="Cambria Math" panose="02040503050406030204" pitchFamily="18" charset="0"/>
                            <a:ea typeface="宋体" panose="02010600030101010101" pitchFamily="2" charset="-122"/>
                          </a:rPr>
                          <m:t>𝒊</m:t>
                        </m:r>
                      </m:sub>
                    </m:sSub>
                  </m:oMath>
                </a14:m>
                <a:r>
                  <a:rPr lang="zh-CN" altLang="zh-CN" sz="2400" b="1" kern="1000" dirty="0">
                    <a:effectLst/>
                    <a:latin typeface="微软雅黑" panose="020B0503020204020204" pitchFamily="34" charset="-122"/>
                    <a:ea typeface="微软雅黑" panose="020B0503020204020204" pitchFamily="34" charset="-122"/>
                  </a:rPr>
                  <a:t>是常数增益矩阵，且</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𝝈</m:t>
                        </m:r>
                      </m:e>
                      <m:sub>
                        <m:r>
                          <a:rPr lang="en-US" altLang="zh-CN" sz="2400" b="1" i="1" kern="1000">
                            <a:effectLst/>
                            <a:latin typeface="Cambria Math" panose="02040503050406030204" pitchFamily="18" charset="0"/>
                            <a:ea typeface="宋体" panose="02010600030101010101" pitchFamily="2" charset="-122"/>
                          </a:rPr>
                          <m:t>𝒊</m:t>
                        </m:r>
                      </m:sub>
                    </m:sSub>
                    <m:r>
                      <a:rPr lang="en-US" altLang="zh-CN" sz="2400" b="1" i="1" kern="1000">
                        <a:effectLst/>
                        <a:latin typeface="Cambria Math" panose="02040503050406030204" pitchFamily="18" charset="0"/>
                        <a:ea typeface="宋体" panose="02010600030101010101" pitchFamily="2" charset="-122"/>
                      </a:rPr>
                      <m:t>&gt;</m:t>
                    </m:r>
                    <m:r>
                      <a:rPr lang="en-US" altLang="zh-CN" sz="2400" b="1" i="1" kern="1000">
                        <a:effectLst/>
                        <a:latin typeface="Cambria Math" panose="02040503050406030204" pitchFamily="18" charset="0"/>
                        <a:ea typeface="宋体" panose="02010600030101010101" pitchFamily="2" charset="-122"/>
                      </a:rPr>
                      <m:t>𝟎</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𝒊</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𝟏</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𝟐</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𝒏</m:t>
                    </m:r>
                  </m:oMath>
                </a14:m>
                <a:r>
                  <a:rPr lang="zh-CN" altLang="zh-CN" sz="2400" b="1" kern="1000" dirty="0">
                    <a:effectLst/>
                    <a:latin typeface="微软雅黑" panose="020B0503020204020204" pitchFamily="34" charset="-122"/>
                    <a:ea typeface="微软雅黑" panose="020B0503020204020204" pitchFamily="34" charset="-122"/>
                  </a:rPr>
                  <a:t>，是小值常数。</a:t>
                </a:r>
              </a:p>
            </p:txBody>
          </p:sp>
        </mc:Choice>
        <mc:Fallback xmlns="">
          <p:sp>
            <p:nvSpPr>
              <p:cNvPr id="4" name="文本框 3">
                <a:extLst>
                  <a:ext uri="{FF2B5EF4-FFF2-40B4-BE49-F238E27FC236}">
                    <a16:creationId xmlns:a16="http://schemas.microsoft.com/office/drawing/2014/main" id="{B81BFDEE-7163-4B4F-5590-481E7EE53A1E}"/>
                  </a:ext>
                </a:extLst>
              </p:cNvPr>
              <p:cNvSpPr txBox="1">
                <a:spLocks noRot="1" noChangeAspect="1" noMove="1" noResize="1" noEditPoints="1" noAdjustHandles="1" noChangeArrowheads="1" noChangeShapeType="1" noTextEdit="1"/>
              </p:cNvSpPr>
              <p:nvPr/>
            </p:nvSpPr>
            <p:spPr>
              <a:xfrm>
                <a:off x="1195387" y="1393828"/>
                <a:ext cx="9910763" cy="3004477"/>
              </a:xfrm>
              <a:prstGeom prst="rect">
                <a:avLst/>
              </a:prstGeom>
              <a:blipFill>
                <a:blip r:embed="rId3"/>
                <a:stretch>
                  <a:fillRect l="-923" t="-1217" r="-984" b="-1217"/>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96D7EC51-5E80-07BF-3A9F-B779A3E0D99F}"/>
              </a:ext>
            </a:extLst>
          </p:cNvPr>
          <p:cNvSpPr txBox="1"/>
          <p:nvPr>
            <p:custDataLst>
              <p:tags r:id="rId1"/>
            </p:custDataLst>
          </p:nvPr>
        </p:nvSpPr>
        <p:spPr>
          <a:xfrm>
            <a:off x="1357313" y="128685"/>
            <a:ext cx="8158162" cy="954107"/>
          </a:xfrm>
          <a:prstGeom prst="rect">
            <a:avLst/>
          </a:prstGeom>
          <a:noFill/>
        </p:spPr>
        <p:txBody>
          <a:bodyPr wrap="square" rtlCol="0">
            <a:spAutoFit/>
          </a:bodyPr>
          <a:lstStyle/>
          <a:p>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状态信息完全已知情况下的</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72E55304-F0DB-75B7-8EBC-4895494F1051}"/>
                  </a:ext>
                </a:extLst>
              </p:cNvPr>
              <p:cNvSpPr txBox="1"/>
              <p:nvPr/>
            </p:nvSpPr>
            <p:spPr>
              <a:xfrm>
                <a:off x="962024" y="896005"/>
                <a:ext cx="9858376" cy="3238707"/>
              </a:xfrm>
              <a:prstGeom prst="rect">
                <a:avLst/>
              </a:prstGeom>
              <a:noFill/>
            </p:spPr>
            <p:txBody>
              <a:bodyPr wrap="square">
                <a:spAutoFit/>
              </a:bodyPr>
              <a:lstStyle/>
              <a:p>
                <a:pPr algn="just">
                  <a:lnSpc>
                    <a:spcPct val="200000"/>
                  </a:lnSpc>
                  <a:spcBef>
                    <a:spcPts val="600"/>
                  </a:spcBef>
                </a:pPr>
                <a:r>
                  <a:rPr lang="en-US" altLang="zh-CN" sz="2400" b="1" kern="0" dirty="0">
                    <a:effectLst/>
                    <a:latin typeface="微软雅黑" panose="020B0503020204020204" pitchFamily="34" charset="-122"/>
                    <a:ea typeface="微软雅黑" panose="020B0503020204020204" pitchFamily="34" charset="-122"/>
                  </a:rPr>
                  <a:t>2)</a:t>
                </a:r>
                <a:r>
                  <a:rPr lang="zh-CN" altLang="zh-CN" sz="2400" b="1" kern="0" dirty="0">
                    <a:effectLst/>
                    <a:latin typeface="微软雅黑" panose="020B0503020204020204" pitchFamily="34" charset="-122"/>
                    <a:ea typeface="微软雅黑" panose="020B0503020204020204" pitchFamily="34" charset="-122"/>
                  </a:rPr>
                  <a:t>仿真实现</a:t>
                </a:r>
                <a:endParaRPr lang="zh-CN" altLang="zh-CN" sz="2400" b="1" kern="1050" dirty="0">
                  <a:effectLst/>
                  <a:latin typeface="微软雅黑" panose="020B0503020204020204" pitchFamily="34" charset="-122"/>
                  <a:ea typeface="微软雅黑" panose="020B0503020204020204" pitchFamily="34" charset="-122"/>
                </a:endParaRPr>
              </a:p>
              <a:p>
                <a:pPr algn="just"/>
                <a:r>
                  <a:rPr lang="zh-CN" altLang="zh-CN" sz="2400" b="1" kern="1000" spc="-20" dirty="0">
                    <a:effectLst/>
                    <a:latin typeface="微软雅黑" panose="020B0503020204020204" pitchFamily="34" charset="-122"/>
                    <a:ea typeface="微软雅黑" panose="020B0503020204020204" pitchFamily="34" charset="-122"/>
                  </a:rPr>
                  <a:t>仿真实现中，</a:t>
                </a:r>
                <a:r>
                  <a:rPr lang="en-US" altLang="zh-CN" sz="2400" b="1" kern="1000" spc="-20" dirty="0">
                    <a:effectLst/>
                    <a:latin typeface="微软雅黑" panose="020B0503020204020204" pitchFamily="34" charset="-122"/>
                    <a:ea typeface="微软雅黑" panose="020B0503020204020204" pitchFamily="34" charset="-122"/>
                  </a:rPr>
                  <a:t>RBF</a:t>
                </a:r>
                <a:r>
                  <a:rPr lang="zh-CN" altLang="zh-CN" sz="2400" b="1" kern="1000" spc="-20" dirty="0">
                    <a:effectLst/>
                    <a:latin typeface="微软雅黑" panose="020B0503020204020204" pitchFamily="34" charset="-122"/>
                    <a:ea typeface="微软雅黑" panose="020B0503020204020204" pitchFamily="34" charset="-122"/>
                  </a:rPr>
                  <a:t>神经网络的隐层神经元设为</a:t>
                </a:r>
                <a:r>
                  <a:rPr lang="en-US" altLang="zh-CN" sz="2400" b="1" kern="1000" spc="-20" dirty="0">
                    <a:effectLst/>
                    <a:latin typeface="微软雅黑" panose="020B0503020204020204" pitchFamily="34" charset="-122"/>
                    <a:ea typeface="微软雅黑" panose="020B0503020204020204" pitchFamily="34" charset="-122"/>
                  </a:rPr>
                  <a:t>256</a:t>
                </a:r>
                <a:r>
                  <a:rPr lang="zh-CN" altLang="zh-CN" sz="2400" b="1" kern="1000" spc="-20" dirty="0">
                    <a:effectLst/>
                    <a:latin typeface="微软雅黑" panose="020B0503020204020204" pitchFamily="34" charset="-122"/>
                    <a:ea typeface="微软雅黑" panose="020B0503020204020204" pitchFamily="34" charset="-122"/>
                  </a:rPr>
                  <a:t>个，中心取值为</a:t>
                </a:r>
                <a:r>
                  <a:rPr lang="en-US" altLang="zh-CN" sz="2400" b="1" kern="1000" spc="-20" dirty="0">
                    <a:effectLst/>
                    <a:latin typeface="微软雅黑" panose="020B0503020204020204" pitchFamily="34" charset="-122"/>
                    <a:ea typeface="微软雅黑" panose="020B0503020204020204" pitchFamily="34" charset="-122"/>
                  </a:rPr>
                  <a:t>1</a:t>
                </a:r>
                <a:r>
                  <a:rPr lang="zh-CN" altLang="zh-CN" sz="2400" b="1" kern="1000" spc="-20" dirty="0">
                    <a:effectLst/>
                    <a:latin typeface="微软雅黑" panose="020B0503020204020204" pitchFamily="34" charset="-122"/>
                    <a:ea typeface="微软雅黑" panose="020B0503020204020204" pitchFamily="34" charset="-122"/>
                  </a:rPr>
                  <a:t>，宽度取值为</a:t>
                </a:r>
                <a:r>
                  <a:rPr lang="en-US" altLang="zh-CN" sz="2400" b="1" kern="1000" spc="-20" dirty="0">
                    <a:effectLst/>
                    <a:latin typeface="微软雅黑" panose="020B0503020204020204" pitchFamily="34" charset="-122"/>
                    <a:ea typeface="微软雅黑" panose="020B0503020204020204" pitchFamily="34" charset="-122"/>
                  </a:rPr>
                  <a:t>0.02</a:t>
                </a:r>
                <a:r>
                  <a:rPr lang="zh-CN" altLang="zh-CN" sz="2400" b="1" kern="1000" spc="-20" dirty="0">
                    <a:effectLst/>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kern="1000" spc="-20" smtClean="0">
                        <a:effectLst/>
                        <a:latin typeface="Cambria Math" panose="02040503050406030204" pitchFamily="18" charset="0"/>
                        <a:ea typeface="宋体" panose="02010600030101010101" pitchFamily="2" charset="-122"/>
                      </a:rPr>
                      <m:t>𝜞</m:t>
                    </m:r>
                  </m:oMath>
                </a14:m>
                <a:r>
                  <a:rPr lang="zh-CN" altLang="zh-CN" sz="2400" b="1" kern="1000" spc="-20" dirty="0">
                    <a:effectLst/>
                    <a:latin typeface="微软雅黑" panose="020B0503020204020204" pitchFamily="34" charset="-122"/>
                    <a:ea typeface="微软雅黑" panose="020B0503020204020204" pitchFamily="34" charset="-122"/>
                  </a:rPr>
                  <a:t>取值为</a:t>
                </a:r>
                <a:r>
                  <a:rPr lang="en-US" altLang="zh-CN" sz="2400" b="1" kern="1000" spc="-20" dirty="0">
                    <a:effectLst/>
                    <a:latin typeface="微软雅黑" panose="020B0503020204020204" pitchFamily="34" charset="-122"/>
                    <a:ea typeface="微软雅黑" panose="020B0503020204020204" pitchFamily="34" charset="-122"/>
                  </a:rPr>
                  <a:t>10</a:t>
                </a:r>
                <a:r>
                  <a:rPr lang="zh-CN" altLang="zh-CN" sz="2400" b="1" kern="1000" spc="-20" dirty="0">
                    <a:effectLst/>
                    <a:latin typeface="微软雅黑" panose="020B0503020204020204" pitchFamily="34" charset="-122"/>
                    <a:ea typeface="微软雅黑" panose="020B0503020204020204" pitchFamily="34" charset="-122"/>
                  </a:rPr>
                  <a:t>，神经网络的初始权值为较小的随机数，初始位置为</a:t>
                </a:r>
                <a:r>
                  <a:rPr lang="en-US" altLang="zh-CN" sz="2400" b="1" kern="1000" spc="-20" dirty="0">
                    <a:effectLst/>
                    <a:latin typeface="微软雅黑" panose="020B0503020204020204" pitchFamily="34" charset="-122"/>
                    <a:ea typeface="微软雅黑" panose="020B0503020204020204" pitchFamily="34" charset="-122"/>
                  </a:rPr>
                  <a:t>0</a:t>
                </a:r>
                <a:r>
                  <a:rPr lang="zh-CN" altLang="zh-CN" sz="2400" b="1" kern="1000" spc="-2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spc="-20">
                            <a:effectLst/>
                            <a:latin typeface="Cambria Math" panose="02040503050406030204" pitchFamily="18" charset="0"/>
                            <a:ea typeface="Cambria Math" panose="02040503050406030204" pitchFamily="18" charset="0"/>
                          </a:rPr>
                        </m:ctrlPr>
                      </m:sSubPr>
                      <m:e>
                        <m:r>
                          <a:rPr lang="en-US" altLang="zh-CN" sz="2400" b="1" i="1" kern="1000" spc="-20" smtClean="0">
                            <a:effectLst/>
                            <a:latin typeface="Cambria Math" panose="02040503050406030204" pitchFamily="18" charset="0"/>
                            <a:ea typeface="宋体" panose="02010600030101010101" pitchFamily="2" charset="-122"/>
                          </a:rPr>
                          <m:t>𝑲</m:t>
                        </m:r>
                      </m:e>
                      <m:sub>
                        <m:r>
                          <a:rPr lang="en-US" altLang="zh-CN" sz="2400" b="1" i="1" kern="1000" spc="-20" smtClean="0">
                            <a:effectLst/>
                            <a:latin typeface="Cambria Math" panose="02040503050406030204" pitchFamily="18" charset="0"/>
                            <a:ea typeface="宋体" panose="02010600030101010101" pitchFamily="2" charset="-122"/>
                          </a:rPr>
                          <m:t>𝟏</m:t>
                        </m:r>
                      </m:sub>
                    </m:sSub>
                    <m:r>
                      <a:rPr lang="en-US" altLang="zh-CN" sz="2400" b="1" i="1" kern="1000" spc="-20" smtClean="0">
                        <a:effectLst/>
                        <a:latin typeface="Cambria Math" panose="02040503050406030204" pitchFamily="18" charset="0"/>
                        <a:ea typeface="宋体" panose="02010600030101010101" pitchFamily="2" charset="-122"/>
                      </a:rPr>
                      <m:t>=</m:t>
                    </m:r>
                    <m:sSub>
                      <m:sSubPr>
                        <m:ctrlPr>
                          <a:rPr lang="zh-CN" altLang="zh-CN" sz="2400" b="1" i="1" kern="1000" spc="-20">
                            <a:effectLst/>
                            <a:latin typeface="Cambria Math" panose="02040503050406030204" pitchFamily="18" charset="0"/>
                            <a:ea typeface="Cambria Math" panose="02040503050406030204" pitchFamily="18" charset="0"/>
                          </a:rPr>
                        </m:ctrlPr>
                      </m:sSubPr>
                      <m:e>
                        <m:r>
                          <a:rPr lang="en-US" altLang="zh-CN" sz="2400" b="1" i="1" kern="1000" spc="-20" smtClean="0">
                            <a:effectLst/>
                            <a:latin typeface="Cambria Math" panose="02040503050406030204" pitchFamily="18" charset="0"/>
                            <a:ea typeface="宋体" panose="02010600030101010101" pitchFamily="2" charset="-122"/>
                          </a:rPr>
                          <m:t>𝑲</m:t>
                        </m:r>
                      </m:e>
                      <m:sub>
                        <m:r>
                          <a:rPr lang="en-US" altLang="zh-CN" sz="2400" b="1" i="1" kern="1000" spc="-20" smtClean="0">
                            <a:effectLst/>
                            <a:latin typeface="Cambria Math" panose="02040503050406030204" pitchFamily="18" charset="0"/>
                            <a:ea typeface="宋体" panose="02010600030101010101" pitchFamily="2" charset="-122"/>
                          </a:rPr>
                          <m:t>𝟐</m:t>
                        </m:r>
                      </m:sub>
                    </m:sSub>
                    <m:r>
                      <a:rPr lang="en-US" altLang="zh-CN" sz="2400" b="1" i="1" kern="1000" spc="-20" smtClean="0">
                        <a:effectLst/>
                        <a:latin typeface="Cambria Math" panose="02040503050406030204" pitchFamily="18" charset="0"/>
                        <a:ea typeface="宋体" panose="02010600030101010101" pitchFamily="2" charset="-122"/>
                      </a:rPr>
                      <m:t>=</m:t>
                    </m:r>
                    <m:r>
                      <a:rPr lang="en-US" altLang="zh-CN" sz="2400" b="1" i="1" kern="1000" spc="-20" smtClean="0">
                        <a:effectLst/>
                        <a:latin typeface="Cambria Math" panose="02040503050406030204" pitchFamily="18" charset="0"/>
                        <a:ea typeface="宋体" panose="02010600030101010101" pitchFamily="2" charset="-122"/>
                      </a:rPr>
                      <m:t>𝟐𝟎</m:t>
                    </m:r>
                  </m:oMath>
                </a14:m>
                <a:r>
                  <a:rPr lang="zh-CN" altLang="zh-CN" sz="2400" b="1" kern="1000" spc="-20" dirty="0">
                    <a:effectLst/>
                    <a:latin typeface="微软雅黑" panose="020B0503020204020204" pitchFamily="34" charset="-122"/>
                    <a:ea typeface="微软雅黑" panose="020B0503020204020204" pitchFamily="34" charset="-122"/>
                  </a:rPr>
                  <a:t>，期望轨迹</a:t>
                </a:r>
                <a:endParaRPr lang="en-US" altLang="zh-CN" sz="2400" b="1" kern="1000" spc="-20" dirty="0">
                  <a:effectLst/>
                  <a:latin typeface="微软雅黑" panose="020B0503020204020204" pitchFamily="34" charset="-122"/>
                  <a:ea typeface="微软雅黑" panose="020B0503020204020204" pitchFamily="34" charset="-122"/>
                </a:endParaRPr>
              </a:p>
              <a:p>
                <a:pPr algn="just"/>
                <a14:m>
                  <m:oMath xmlns:m="http://schemas.openxmlformats.org/officeDocument/2006/math">
                    <m:sSub>
                      <m:sSubPr>
                        <m:ctrlPr>
                          <a:rPr lang="zh-CN" altLang="zh-CN" sz="2400" b="1" i="1" kern="1000" spc="-20">
                            <a:effectLst/>
                            <a:latin typeface="Cambria Math" panose="02040503050406030204" pitchFamily="18" charset="0"/>
                            <a:ea typeface="Cambria Math" panose="02040503050406030204" pitchFamily="18" charset="0"/>
                          </a:rPr>
                        </m:ctrlPr>
                      </m:sSubPr>
                      <m:e>
                        <m:r>
                          <a:rPr lang="en-US" altLang="zh-CN" sz="2400" b="1" i="1" kern="1000" spc="-20" smtClean="0">
                            <a:effectLst/>
                            <a:latin typeface="Cambria Math" panose="02040503050406030204" pitchFamily="18" charset="0"/>
                            <a:ea typeface="宋体" panose="02010600030101010101" pitchFamily="2" charset="-122"/>
                          </a:rPr>
                          <m:t>𝒙</m:t>
                        </m:r>
                      </m:e>
                      <m:sub>
                        <m:r>
                          <a:rPr lang="en-US" altLang="zh-CN" sz="2400" b="1" i="1" kern="1000" spc="-20" smtClean="0">
                            <a:effectLst/>
                            <a:latin typeface="Cambria Math" panose="02040503050406030204" pitchFamily="18" charset="0"/>
                            <a:ea typeface="宋体" panose="02010600030101010101" pitchFamily="2" charset="-122"/>
                          </a:rPr>
                          <m:t>𝒓</m:t>
                        </m:r>
                      </m:sub>
                    </m:sSub>
                    <m:r>
                      <a:rPr lang="en-US" altLang="zh-CN" sz="2400" b="1" i="1" kern="1000" spc="-20" smtClean="0">
                        <a:effectLst/>
                        <a:latin typeface="Cambria Math" panose="02040503050406030204" pitchFamily="18" charset="0"/>
                        <a:ea typeface="宋体" panose="02010600030101010101" pitchFamily="2" charset="-122"/>
                      </a:rPr>
                      <m:t>=[</m:t>
                    </m:r>
                    <m:r>
                      <a:rPr lang="en-US" altLang="zh-CN" sz="2400" b="1" i="1" kern="1000" spc="-20" smtClean="0">
                        <a:effectLst/>
                        <a:latin typeface="Cambria Math" panose="02040503050406030204" pitchFamily="18" charset="0"/>
                        <a:ea typeface="宋体" panose="02010600030101010101" pitchFamily="2" charset="-122"/>
                      </a:rPr>
                      <m:t>𝟎</m:t>
                    </m:r>
                    <m:r>
                      <a:rPr lang="en-US" altLang="zh-CN" sz="2400" b="1" i="1" kern="1000" spc="-20" smtClean="0">
                        <a:effectLst/>
                        <a:latin typeface="Cambria Math" panose="02040503050406030204" pitchFamily="18" charset="0"/>
                        <a:ea typeface="宋体" panose="02010600030101010101" pitchFamily="2" charset="-122"/>
                      </a:rPr>
                      <m:t>.</m:t>
                    </m:r>
                    <m:r>
                      <a:rPr lang="en-US" altLang="zh-CN" sz="2400" b="1" i="1" kern="1000" spc="-20" smtClean="0">
                        <a:effectLst/>
                        <a:latin typeface="Cambria Math" panose="02040503050406030204" pitchFamily="18" charset="0"/>
                        <a:ea typeface="宋体" panose="02010600030101010101" pitchFamily="2" charset="-122"/>
                      </a:rPr>
                      <m:t>𝟐</m:t>
                    </m:r>
                    <m:r>
                      <a:rPr lang="en-US" altLang="zh-CN" sz="2400" b="1" i="1" kern="1000" spc="-20" smtClean="0">
                        <a:effectLst/>
                        <a:latin typeface="Cambria Math" panose="02040503050406030204" pitchFamily="18" charset="0"/>
                        <a:ea typeface="宋体" panose="02010600030101010101" pitchFamily="2" charset="-122"/>
                      </a:rPr>
                      <m:t>+</m:t>
                    </m:r>
                    <m:r>
                      <a:rPr lang="en-US" altLang="zh-CN" sz="2400" b="1" i="1" kern="1000" spc="-20" smtClean="0">
                        <a:effectLst/>
                        <a:latin typeface="Cambria Math" panose="02040503050406030204" pitchFamily="18" charset="0"/>
                        <a:ea typeface="宋体" panose="02010600030101010101" pitchFamily="2" charset="-122"/>
                      </a:rPr>
                      <m:t>𝟐</m:t>
                    </m:r>
                    <m:func>
                      <m:funcPr>
                        <m:ctrlPr>
                          <a:rPr lang="zh-CN" altLang="zh-CN" sz="2400" b="1" i="1" kern="1000" spc="-20">
                            <a:effectLst/>
                            <a:latin typeface="Cambria Math" panose="02040503050406030204" pitchFamily="18" charset="0"/>
                            <a:ea typeface="Cambria Math" panose="02040503050406030204" pitchFamily="18" charset="0"/>
                          </a:rPr>
                        </m:ctrlPr>
                      </m:funcPr>
                      <m:fName>
                        <m:r>
                          <a:rPr lang="en-US" altLang="zh-CN" sz="2400" b="1" i="1" kern="1000" spc="-20" smtClean="0">
                            <a:effectLst/>
                            <a:latin typeface="Cambria Math" panose="02040503050406030204" pitchFamily="18" charset="0"/>
                            <a:ea typeface="宋体" panose="02010600030101010101" pitchFamily="2" charset="-122"/>
                          </a:rPr>
                          <m:t>𝒔𝒊𝒏</m:t>
                        </m:r>
                      </m:fName>
                      <m:e>
                        <m:r>
                          <a:rPr lang="en-US" altLang="zh-CN" sz="2400" b="1" i="1" kern="1000" spc="-20" smtClean="0">
                            <a:effectLst/>
                            <a:latin typeface="Cambria Math" panose="02040503050406030204" pitchFamily="18" charset="0"/>
                            <a:ea typeface="宋体" panose="02010600030101010101" pitchFamily="2" charset="-122"/>
                          </a:rPr>
                          <m:t>(</m:t>
                        </m:r>
                      </m:e>
                    </m:func>
                    <m:r>
                      <a:rPr lang="en-US" altLang="zh-CN" sz="2400" b="1" i="1" kern="1000" spc="-20" smtClean="0">
                        <a:effectLst/>
                        <a:latin typeface="Cambria Math" panose="02040503050406030204" pitchFamily="18" charset="0"/>
                        <a:ea typeface="宋体" panose="02010600030101010101" pitchFamily="2" charset="-122"/>
                      </a:rPr>
                      <m:t>𝟐</m:t>
                    </m:r>
                    <m:r>
                      <a:rPr lang="en-US" altLang="zh-CN" sz="2400" b="1" i="1" kern="1000" spc="-20" smtClean="0">
                        <a:effectLst/>
                        <a:latin typeface="Cambria Math" panose="02040503050406030204" pitchFamily="18" charset="0"/>
                        <a:ea typeface="宋体" panose="02010600030101010101" pitchFamily="2" charset="-122"/>
                      </a:rPr>
                      <m:t>𝒕</m:t>
                    </m:r>
                    <m:r>
                      <a:rPr lang="en-US" altLang="zh-CN" sz="2400" b="1" i="1" kern="1000" spc="-20" smtClean="0">
                        <a:effectLst/>
                        <a:latin typeface="Cambria Math" panose="02040503050406030204" pitchFamily="18" charset="0"/>
                        <a:ea typeface="宋体" panose="02010600030101010101" pitchFamily="2" charset="-122"/>
                      </a:rPr>
                      <m:t>)</m:t>
                    </m:r>
                    <m:r>
                      <m:rPr>
                        <m:nor/>
                      </m:rPr>
                      <a:rPr lang="en-US" altLang="zh-CN" sz="2400" b="1" kern="1000" spc="-20">
                        <a:effectLst/>
                        <a:latin typeface="微软雅黑" panose="020B0503020204020204" pitchFamily="34" charset="-122"/>
                        <a:ea typeface="微软雅黑" panose="020B0503020204020204" pitchFamily="34" charset="-122"/>
                      </a:rPr>
                      <m:t>  </m:t>
                    </m:r>
                    <m:r>
                      <a:rPr lang="en-US" altLang="zh-CN" sz="2400" b="1" i="1" kern="1000" spc="-20" smtClean="0">
                        <a:effectLst/>
                        <a:latin typeface="Cambria Math" panose="02040503050406030204" pitchFamily="18" charset="0"/>
                        <a:ea typeface="宋体" panose="02010600030101010101" pitchFamily="2" charset="-122"/>
                      </a:rPr>
                      <m:t>−</m:t>
                    </m:r>
                    <m:r>
                      <a:rPr lang="en-US" altLang="zh-CN" sz="2400" b="1" i="1" kern="1000" spc="-20" smtClean="0">
                        <a:effectLst/>
                        <a:latin typeface="Cambria Math" panose="02040503050406030204" pitchFamily="18" charset="0"/>
                        <a:ea typeface="宋体" panose="02010600030101010101" pitchFamily="2" charset="-122"/>
                      </a:rPr>
                      <m:t>𝟏</m:t>
                    </m:r>
                    <m:r>
                      <a:rPr lang="en-US" altLang="zh-CN" sz="2400" b="1" kern="1000" spc="-20" smtClean="0">
                        <a:effectLst/>
                        <a:latin typeface="Cambria Math" panose="02040503050406030204" pitchFamily="18" charset="0"/>
                        <a:ea typeface="宋体" panose="02010600030101010101" pitchFamily="2" charset="-122"/>
                      </a:rPr>
                      <m:t>.</m:t>
                    </m:r>
                    <m:r>
                      <a:rPr lang="en-US" altLang="zh-CN" sz="2400" b="1" i="1" kern="1000" spc="-20" smtClean="0">
                        <a:effectLst/>
                        <a:latin typeface="Cambria Math" panose="02040503050406030204" pitchFamily="18" charset="0"/>
                        <a:ea typeface="宋体" panose="02010600030101010101" pitchFamily="2" charset="-122"/>
                      </a:rPr>
                      <m:t>𝟕</m:t>
                    </m:r>
                    <m:r>
                      <a:rPr lang="en-US" altLang="zh-CN" sz="2400" b="1" kern="1000" spc="-20" smtClean="0">
                        <a:effectLst/>
                        <a:latin typeface="Cambria Math" panose="02040503050406030204" pitchFamily="18" charset="0"/>
                        <a:ea typeface="宋体" panose="02010600030101010101" pitchFamily="2" charset="-122"/>
                      </a:rPr>
                      <m:t>+</m:t>
                    </m:r>
                    <m:r>
                      <a:rPr lang="en-US" altLang="zh-CN" sz="2400" b="1" i="1" kern="1000" spc="-20" smtClean="0">
                        <a:effectLst/>
                        <a:latin typeface="Cambria Math" panose="02040503050406030204" pitchFamily="18" charset="0"/>
                        <a:ea typeface="宋体" panose="02010600030101010101" pitchFamily="2" charset="-122"/>
                      </a:rPr>
                      <m:t>𝟏</m:t>
                    </m:r>
                    <m:r>
                      <a:rPr lang="en-US" altLang="zh-CN" sz="2400" b="1" kern="1000" spc="-20" smtClean="0">
                        <a:effectLst/>
                        <a:latin typeface="Cambria Math" panose="02040503050406030204" pitchFamily="18" charset="0"/>
                        <a:ea typeface="宋体" panose="02010600030101010101" pitchFamily="2" charset="-122"/>
                      </a:rPr>
                      <m:t>.</m:t>
                    </m:r>
                    <m:r>
                      <a:rPr lang="en-US" altLang="zh-CN" sz="2400" b="1" i="1" kern="1000" spc="-20" smtClean="0">
                        <a:effectLst/>
                        <a:latin typeface="Cambria Math" panose="02040503050406030204" pitchFamily="18" charset="0"/>
                        <a:ea typeface="宋体" panose="02010600030101010101" pitchFamily="2" charset="-122"/>
                      </a:rPr>
                      <m:t>𝟖</m:t>
                    </m:r>
                    <m:func>
                      <m:funcPr>
                        <m:ctrlPr>
                          <a:rPr lang="zh-CN" altLang="zh-CN" sz="2400" b="1" i="1" kern="1000" spc="-20">
                            <a:effectLst/>
                            <a:latin typeface="Cambria Math" panose="02040503050406030204" pitchFamily="18" charset="0"/>
                            <a:ea typeface="Cambria Math" panose="02040503050406030204" pitchFamily="18" charset="0"/>
                          </a:rPr>
                        </m:ctrlPr>
                      </m:funcPr>
                      <m:fName>
                        <m:r>
                          <a:rPr lang="en-US" altLang="zh-CN" sz="2400" b="1" i="1" kern="1000" spc="-20" smtClean="0">
                            <a:effectLst/>
                            <a:latin typeface="Cambria Math" panose="02040503050406030204" pitchFamily="18" charset="0"/>
                            <a:ea typeface="宋体" panose="02010600030101010101" pitchFamily="2" charset="-122"/>
                          </a:rPr>
                          <m:t>𝒄𝒐𝒔</m:t>
                        </m:r>
                      </m:fName>
                      <m:e>
                        <m:r>
                          <a:rPr lang="en-US" altLang="zh-CN" sz="2400" b="1" i="1" kern="1000" spc="-20" smtClean="0">
                            <a:effectLst/>
                            <a:latin typeface="Cambria Math" panose="02040503050406030204" pitchFamily="18" charset="0"/>
                            <a:ea typeface="宋体" panose="02010600030101010101" pitchFamily="2" charset="-122"/>
                          </a:rPr>
                          <m:t>(</m:t>
                        </m:r>
                      </m:e>
                    </m:func>
                    <m:r>
                      <a:rPr lang="en-US" altLang="zh-CN" sz="2400" b="1" i="1" kern="1000" spc="-20" smtClean="0">
                        <a:effectLst/>
                        <a:latin typeface="Cambria Math" panose="02040503050406030204" pitchFamily="18" charset="0"/>
                        <a:ea typeface="宋体" panose="02010600030101010101" pitchFamily="2" charset="-122"/>
                      </a:rPr>
                      <m:t>𝟐</m:t>
                    </m:r>
                    <m:r>
                      <a:rPr lang="en-US" altLang="zh-CN" sz="2400" b="1" i="1" kern="1000" spc="-20" smtClean="0">
                        <a:effectLst/>
                        <a:latin typeface="Cambria Math" panose="02040503050406030204" pitchFamily="18" charset="0"/>
                        <a:ea typeface="宋体" panose="02010600030101010101" pitchFamily="2" charset="-122"/>
                      </a:rPr>
                      <m:t>𝒕</m:t>
                    </m:r>
                    <m:r>
                      <a:rPr lang="en-US" altLang="zh-CN" sz="2400" b="1" i="1" kern="1000" spc="-20" smtClean="0">
                        <a:effectLst/>
                        <a:latin typeface="Cambria Math" panose="02040503050406030204" pitchFamily="18" charset="0"/>
                        <a:ea typeface="宋体" panose="02010600030101010101" pitchFamily="2" charset="-122"/>
                      </a:rPr>
                      <m:t>)</m:t>
                    </m:r>
                    <m:r>
                      <m:rPr>
                        <m:nor/>
                      </m:rPr>
                      <a:rPr lang="en-US" altLang="zh-CN" sz="2400" b="1" kern="1000" spc="-20">
                        <a:effectLst/>
                        <a:latin typeface="微软雅黑" panose="020B0503020204020204" pitchFamily="34" charset="-122"/>
                        <a:ea typeface="微软雅黑" panose="020B0503020204020204" pitchFamily="34" charset="-122"/>
                      </a:rPr>
                      <m:t>  </m:t>
                    </m:r>
                    <m:r>
                      <a:rPr lang="en-US" altLang="zh-CN" sz="2400" b="1" i="1" kern="1000" spc="-20" smtClean="0">
                        <a:effectLst/>
                        <a:latin typeface="Cambria Math" panose="02040503050406030204" pitchFamily="18" charset="0"/>
                        <a:ea typeface="宋体" panose="02010600030101010101" pitchFamily="2" charset="-122"/>
                      </a:rPr>
                      <m:t>−</m:t>
                    </m:r>
                    <m:r>
                      <a:rPr lang="en-US" altLang="zh-CN" sz="2400" b="1" i="1" kern="1000" spc="-20" smtClean="0">
                        <a:effectLst/>
                        <a:latin typeface="Cambria Math" panose="02040503050406030204" pitchFamily="18" charset="0"/>
                        <a:ea typeface="宋体" panose="02010600030101010101" pitchFamily="2" charset="-122"/>
                      </a:rPr>
                      <m:t>𝟏</m:t>
                    </m:r>
                    <m:r>
                      <a:rPr lang="en-US" altLang="zh-CN" sz="2400" b="1" kern="1000" spc="-20" smtClean="0">
                        <a:effectLst/>
                        <a:latin typeface="Cambria Math" panose="02040503050406030204" pitchFamily="18" charset="0"/>
                        <a:ea typeface="宋体" panose="02010600030101010101" pitchFamily="2" charset="-122"/>
                      </a:rPr>
                      <m:t>.</m:t>
                    </m:r>
                    <m:r>
                      <a:rPr lang="en-US" altLang="zh-CN" sz="2400" b="1" i="1" kern="1000" spc="-20" smtClean="0">
                        <a:effectLst/>
                        <a:latin typeface="Cambria Math" panose="02040503050406030204" pitchFamily="18" charset="0"/>
                        <a:ea typeface="宋体" panose="02010600030101010101" pitchFamily="2" charset="-122"/>
                      </a:rPr>
                      <m:t>𝟓</m:t>
                    </m:r>
                    <m:r>
                      <a:rPr lang="en-US" altLang="zh-CN" sz="2400" b="1" kern="1000" spc="-20" smtClean="0">
                        <a:effectLst/>
                        <a:latin typeface="Cambria Math" panose="02040503050406030204" pitchFamily="18" charset="0"/>
                        <a:ea typeface="宋体" panose="02010600030101010101" pitchFamily="2" charset="-122"/>
                      </a:rPr>
                      <m:t>+</m:t>
                    </m:r>
                    <m:r>
                      <a:rPr lang="en-US" altLang="zh-CN" sz="2400" b="1" i="1" kern="1000" spc="-20" smtClean="0">
                        <a:effectLst/>
                        <a:latin typeface="Cambria Math" panose="02040503050406030204" pitchFamily="18" charset="0"/>
                        <a:ea typeface="宋体" panose="02010600030101010101" pitchFamily="2" charset="-122"/>
                      </a:rPr>
                      <m:t>𝟎</m:t>
                    </m:r>
                    <m:r>
                      <a:rPr lang="en-US" altLang="zh-CN" sz="2400" b="1" kern="1000" spc="-20" smtClean="0">
                        <a:effectLst/>
                        <a:latin typeface="Cambria Math" panose="02040503050406030204" pitchFamily="18" charset="0"/>
                        <a:ea typeface="宋体" panose="02010600030101010101" pitchFamily="2" charset="-122"/>
                      </a:rPr>
                      <m:t>.</m:t>
                    </m:r>
                    <m:r>
                      <a:rPr lang="en-US" altLang="zh-CN" sz="2400" b="1" i="1" kern="1000" spc="-20" smtClean="0">
                        <a:effectLst/>
                        <a:latin typeface="Cambria Math" panose="02040503050406030204" pitchFamily="18" charset="0"/>
                        <a:ea typeface="宋体" panose="02010600030101010101" pitchFamily="2" charset="-122"/>
                      </a:rPr>
                      <m:t>𝟖</m:t>
                    </m:r>
                    <m:func>
                      <m:funcPr>
                        <m:ctrlPr>
                          <a:rPr lang="zh-CN" altLang="zh-CN" sz="2400" b="1" i="1" kern="1000" spc="-20">
                            <a:effectLst/>
                            <a:latin typeface="Cambria Math" panose="02040503050406030204" pitchFamily="18" charset="0"/>
                            <a:ea typeface="Cambria Math" panose="02040503050406030204" pitchFamily="18" charset="0"/>
                          </a:rPr>
                        </m:ctrlPr>
                      </m:funcPr>
                      <m:fName>
                        <m:r>
                          <a:rPr lang="en-US" altLang="zh-CN" sz="2400" b="1" i="1" kern="1000" spc="-20" smtClean="0">
                            <a:effectLst/>
                            <a:latin typeface="Cambria Math" panose="02040503050406030204" pitchFamily="18" charset="0"/>
                            <a:ea typeface="宋体" panose="02010600030101010101" pitchFamily="2" charset="-122"/>
                          </a:rPr>
                          <m:t>𝒔𝒊𝒏</m:t>
                        </m:r>
                      </m:fName>
                      <m:e>
                        <m:r>
                          <a:rPr lang="en-US" altLang="zh-CN" sz="2400" b="1" i="1" kern="1000" spc="-20" smtClean="0">
                            <a:effectLst/>
                            <a:latin typeface="Cambria Math" panose="02040503050406030204" pitchFamily="18" charset="0"/>
                            <a:ea typeface="宋体" panose="02010600030101010101" pitchFamily="2" charset="-122"/>
                          </a:rPr>
                          <m:t>(</m:t>
                        </m:r>
                      </m:e>
                    </m:func>
                    <m:r>
                      <a:rPr lang="en-US" altLang="zh-CN" sz="2400" b="1" i="1" kern="1000" spc="-20" smtClean="0">
                        <a:effectLst/>
                        <a:latin typeface="Cambria Math" panose="02040503050406030204" pitchFamily="18" charset="0"/>
                        <a:ea typeface="宋体" panose="02010600030101010101" pitchFamily="2" charset="-122"/>
                      </a:rPr>
                      <m:t>𝟒</m:t>
                    </m:r>
                    <m:r>
                      <a:rPr lang="en-US" altLang="zh-CN" sz="2400" b="1" i="1" kern="1000" spc="-20" smtClean="0">
                        <a:effectLst/>
                        <a:latin typeface="Cambria Math" panose="02040503050406030204" pitchFamily="18" charset="0"/>
                        <a:ea typeface="宋体" panose="02010600030101010101" pitchFamily="2" charset="-122"/>
                      </a:rPr>
                      <m:t>𝒕</m:t>
                    </m:r>
                    <m:r>
                      <a:rPr lang="en-US" altLang="zh-CN" sz="2400" b="1" i="1" kern="1000" spc="-20" smtClean="0">
                        <a:effectLst/>
                        <a:latin typeface="Cambria Math" panose="02040503050406030204" pitchFamily="18" charset="0"/>
                        <a:ea typeface="宋体" panose="02010600030101010101" pitchFamily="2" charset="-122"/>
                      </a:rPr>
                      <m:t>)</m:t>
                    </m:r>
                    <m:sSup>
                      <m:sSupPr>
                        <m:ctrlPr>
                          <a:rPr lang="zh-CN" altLang="zh-CN" sz="2400" b="1" i="1" kern="1000" spc="-20">
                            <a:effectLst/>
                            <a:latin typeface="Cambria Math" panose="02040503050406030204" pitchFamily="18" charset="0"/>
                            <a:ea typeface="Cambria Math" panose="02040503050406030204" pitchFamily="18" charset="0"/>
                          </a:rPr>
                        </m:ctrlPr>
                      </m:sSupPr>
                      <m:e>
                        <m:r>
                          <a:rPr lang="en-US" altLang="zh-CN" sz="2400" b="1" i="1" kern="1000" spc="-20" smtClean="0">
                            <a:effectLst/>
                            <a:latin typeface="Cambria Math" panose="02040503050406030204" pitchFamily="18" charset="0"/>
                            <a:ea typeface="宋体" panose="02010600030101010101" pitchFamily="2" charset="-122"/>
                          </a:rPr>
                          <m:t>]</m:t>
                        </m:r>
                      </m:e>
                      <m:sup>
                        <m:r>
                          <a:rPr lang="en-US" altLang="zh-CN" sz="2400" b="1" i="1" kern="1000" spc="-20" smtClean="0">
                            <a:effectLst/>
                            <a:latin typeface="Cambria Math" panose="02040503050406030204" pitchFamily="18" charset="0"/>
                            <a:ea typeface="宋体" panose="02010600030101010101" pitchFamily="2" charset="-122"/>
                          </a:rPr>
                          <m:t>𝑻</m:t>
                        </m:r>
                      </m:sup>
                    </m:sSup>
                  </m:oMath>
                </a14:m>
                <a:r>
                  <a:rPr lang="zh-CN" altLang="zh-CN" sz="2400" b="1" kern="1000" spc="-20" dirty="0">
                    <a:effectLst/>
                    <a:latin typeface="微软雅黑" panose="020B0503020204020204" pitchFamily="34" charset="-122"/>
                    <a:ea typeface="微软雅黑" panose="020B0503020204020204" pitchFamily="34" charset="-122"/>
                  </a:rPr>
                  <a:t>。</a:t>
                </a:r>
                <a:endParaRPr lang="en-US" altLang="zh-CN" sz="2400" b="1" kern="1000" spc="-20" dirty="0">
                  <a:effectLst/>
                  <a:latin typeface="微软雅黑" panose="020B0503020204020204" pitchFamily="34" charset="-122"/>
                  <a:ea typeface="微软雅黑" panose="020B0503020204020204" pitchFamily="34" charset="-122"/>
                </a:endParaRPr>
              </a:p>
              <a:p>
                <a:pPr algn="just">
                  <a:lnSpc>
                    <a:spcPct val="150000"/>
                  </a:lnSpc>
                </a:pPr>
                <a:r>
                  <a:rPr lang="zh-CN" altLang="zh-CN" sz="2400" b="1" kern="1000" spc="-20" dirty="0">
                    <a:effectLst/>
                    <a:latin typeface="微软雅黑" panose="020B0503020204020204" pitchFamily="34" charset="-122"/>
                    <a:ea typeface="微软雅黑" panose="020B0503020204020204" pitchFamily="34" charset="-122"/>
                  </a:rPr>
                  <a:t>外界扰动为</a:t>
                </a:r>
                <a14:m>
                  <m:oMath xmlns:m="http://schemas.openxmlformats.org/officeDocument/2006/math">
                    <m:r>
                      <a:rPr lang="en-US" altLang="zh-CN" sz="2400" b="1" i="1" kern="1000" spc="-20" smtClean="0">
                        <a:effectLst/>
                        <a:latin typeface="Cambria Math" panose="02040503050406030204" pitchFamily="18" charset="0"/>
                        <a:ea typeface="宋体" panose="02010600030101010101" pitchFamily="2" charset="-122"/>
                      </a:rPr>
                      <m:t>𝒇</m:t>
                    </m:r>
                    <m:r>
                      <a:rPr lang="en-US" altLang="zh-CN" sz="2400" b="1" i="1" kern="1000" spc="-20" smtClean="0">
                        <a:effectLst/>
                        <a:latin typeface="Cambria Math" panose="02040503050406030204" pitchFamily="18" charset="0"/>
                        <a:ea typeface="宋体" panose="02010600030101010101" pitchFamily="2" charset="-122"/>
                      </a:rPr>
                      <m:t>=</m:t>
                    </m:r>
                    <m:func>
                      <m:funcPr>
                        <m:ctrlPr>
                          <a:rPr lang="zh-CN" altLang="zh-CN" sz="2400" b="1" i="1" kern="1000" spc="-20">
                            <a:effectLst/>
                            <a:latin typeface="Cambria Math" panose="02040503050406030204" pitchFamily="18" charset="0"/>
                            <a:ea typeface="Cambria Math" panose="02040503050406030204" pitchFamily="18" charset="0"/>
                          </a:rPr>
                        </m:ctrlPr>
                      </m:funcPr>
                      <m:fName>
                        <m:r>
                          <a:rPr lang="en-US" altLang="zh-CN" sz="2400" b="1" i="1" kern="1000" spc="-20" smtClean="0">
                            <a:effectLst/>
                            <a:latin typeface="Cambria Math" panose="02040503050406030204" pitchFamily="18" charset="0"/>
                            <a:ea typeface="宋体" panose="02010600030101010101" pitchFamily="2" charset="-122"/>
                          </a:rPr>
                          <m:t>𝒔𝒊𝒏</m:t>
                        </m:r>
                      </m:fName>
                      <m:e>
                        <m:r>
                          <a:rPr lang="en-US" altLang="zh-CN" sz="2400" b="1" i="1" kern="1000" spc="-20" smtClean="0">
                            <a:effectLst/>
                            <a:latin typeface="Cambria Math" panose="02040503050406030204" pitchFamily="18" charset="0"/>
                            <a:ea typeface="宋体" panose="02010600030101010101" pitchFamily="2" charset="-122"/>
                          </a:rPr>
                          <m:t>(</m:t>
                        </m:r>
                      </m:e>
                    </m:func>
                    <m:r>
                      <a:rPr lang="en-US" altLang="zh-CN" sz="2400" b="1" i="1" kern="1000" spc="-20" smtClean="0">
                        <a:effectLst/>
                        <a:latin typeface="Cambria Math" panose="02040503050406030204" pitchFamily="18" charset="0"/>
                        <a:ea typeface="宋体" panose="02010600030101010101" pitchFamily="2" charset="-122"/>
                      </a:rPr>
                      <m:t>𝝅</m:t>
                    </m:r>
                    <m:r>
                      <a:rPr lang="en-US" altLang="zh-CN" sz="2400" b="1" i="1" kern="1000" spc="-20" smtClean="0">
                        <a:effectLst/>
                        <a:latin typeface="Cambria Math" panose="02040503050406030204" pitchFamily="18" charset="0"/>
                        <a:ea typeface="宋体" panose="02010600030101010101" pitchFamily="2" charset="-122"/>
                      </a:rPr>
                      <m:t>𝒕</m:t>
                    </m:r>
                    <m:r>
                      <a:rPr lang="en-US" altLang="zh-CN" sz="2400" b="1" i="1" kern="1000" spc="-20" smtClean="0">
                        <a:effectLst/>
                        <a:latin typeface="Cambria Math" panose="02040503050406030204" pitchFamily="18" charset="0"/>
                        <a:ea typeface="宋体" panose="02010600030101010101" pitchFamily="2" charset="-122"/>
                      </a:rPr>
                      <m:t>)+</m:t>
                    </m:r>
                    <m:r>
                      <a:rPr lang="en-US" altLang="zh-CN" sz="2400" b="1" i="1" kern="1000" spc="-20" smtClean="0">
                        <a:effectLst/>
                        <a:latin typeface="Cambria Math" panose="02040503050406030204" pitchFamily="18" charset="0"/>
                        <a:ea typeface="宋体" panose="02010600030101010101" pitchFamily="2" charset="-122"/>
                      </a:rPr>
                      <m:t>𝟐</m:t>
                    </m:r>
                    <m:func>
                      <m:funcPr>
                        <m:ctrlPr>
                          <a:rPr lang="zh-CN" altLang="zh-CN" sz="2400" b="1" i="1" kern="1000" spc="-20">
                            <a:effectLst/>
                            <a:latin typeface="Cambria Math" panose="02040503050406030204" pitchFamily="18" charset="0"/>
                            <a:ea typeface="Cambria Math" panose="02040503050406030204" pitchFamily="18" charset="0"/>
                          </a:rPr>
                        </m:ctrlPr>
                      </m:funcPr>
                      <m:fName>
                        <m:r>
                          <a:rPr lang="en-US" altLang="zh-CN" sz="2400" b="1" i="1" kern="1000" spc="-20" smtClean="0">
                            <a:effectLst/>
                            <a:latin typeface="Cambria Math" panose="02040503050406030204" pitchFamily="18" charset="0"/>
                            <a:ea typeface="宋体" panose="02010600030101010101" pitchFamily="2" charset="-122"/>
                          </a:rPr>
                          <m:t>𝒔𝒊𝒏</m:t>
                        </m:r>
                      </m:fName>
                      <m:e>
                        <m:r>
                          <a:rPr lang="en-US" altLang="zh-CN" sz="2400" b="1" i="1" kern="1000" spc="-20" smtClean="0">
                            <a:effectLst/>
                            <a:latin typeface="Cambria Math" panose="02040503050406030204" pitchFamily="18" charset="0"/>
                            <a:ea typeface="宋体" panose="02010600030101010101" pitchFamily="2" charset="-122"/>
                          </a:rPr>
                          <m:t>(</m:t>
                        </m:r>
                      </m:e>
                    </m:func>
                    <m:r>
                      <a:rPr lang="en-US" altLang="zh-CN" sz="2400" b="1" i="1" kern="1000" spc="-20" smtClean="0">
                        <a:effectLst/>
                        <a:latin typeface="Cambria Math" panose="02040503050406030204" pitchFamily="18" charset="0"/>
                        <a:ea typeface="宋体" panose="02010600030101010101" pitchFamily="2" charset="-122"/>
                      </a:rPr>
                      <m:t>𝟐</m:t>
                    </m:r>
                    <m:r>
                      <a:rPr lang="en-US" altLang="zh-CN" sz="2400" b="1" i="1" kern="1000" spc="-20" smtClean="0">
                        <a:effectLst/>
                        <a:latin typeface="Cambria Math" panose="02040503050406030204" pitchFamily="18" charset="0"/>
                        <a:ea typeface="宋体" panose="02010600030101010101" pitchFamily="2" charset="-122"/>
                      </a:rPr>
                      <m:t>𝝅</m:t>
                    </m:r>
                    <m:r>
                      <a:rPr lang="en-US" altLang="zh-CN" sz="2400" b="1" i="1" kern="1000" spc="-20" smtClean="0">
                        <a:effectLst/>
                        <a:latin typeface="Cambria Math" panose="02040503050406030204" pitchFamily="18" charset="0"/>
                        <a:ea typeface="宋体" panose="02010600030101010101" pitchFamily="2" charset="-122"/>
                      </a:rPr>
                      <m:t>𝒕</m:t>
                    </m:r>
                    <m:r>
                      <a:rPr lang="en-US" altLang="zh-CN" sz="2400" b="1" i="1" kern="1000" spc="-20" smtClean="0">
                        <a:effectLst/>
                        <a:latin typeface="Cambria Math" panose="02040503050406030204" pitchFamily="18" charset="0"/>
                        <a:ea typeface="宋体" panose="02010600030101010101" pitchFamily="2" charset="-122"/>
                      </a:rPr>
                      <m:t>)+</m:t>
                    </m:r>
                  </m:oMath>
                </a14:m>
                <a:r>
                  <a:rPr lang="en-US" altLang="zh-CN" sz="2400" b="1" kern="1000" spc="-2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400" b="1" i="1" kern="1000" smtClean="0">
                        <a:effectLst/>
                        <a:latin typeface="Cambria Math" panose="02040503050406030204" pitchFamily="18" charset="0"/>
                        <a:ea typeface="宋体" panose="02010600030101010101" pitchFamily="2" charset="-122"/>
                      </a:rPr>
                      <m:t>𝟑</m:t>
                    </m:r>
                    <m:func>
                      <m:funcPr>
                        <m:ctrlPr>
                          <a:rPr lang="zh-CN" altLang="zh-CN" sz="2400" b="1" i="1" kern="1000">
                            <a:effectLst/>
                            <a:latin typeface="Cambria Math" panose="02040503050406030204" pitchFamily="18" charset="0"/>
                            <a:ea typeface="Cambria Math" panose="02040503050406030204" pitchFamily="18" charset="0"/>
                          </a:rPr>
                        </m:ctrlPr>
                      </m:funcPr>
                      <m:fName>
                        <m:r>
                          <a:rPr lang="en-US" altLang="zh-CN" sz="2400" b="1" i="1" kern="1000" smtClean="0">
                            <a:effectLst/>
                            <a:latin typeface="Cambria Math" panose="02040503050406030204" pitchFamily="18" charset="0"/>
                            <a:ea typeface="宋体" panose="02010600030101010101" pitchFamily="2" charset="-122"/>
                          </a:rPr>
                          <m:t>𝒔𝒊𝒏</m:t>
                        </m:r>
                      </m:fName>
                      <m:e>
                        <m:r>
                          <a:rPr lang="en-US" altLang="zh-CN" sz="2400" b="1" i="1" kern="1000" smtClean="0">
                            <a:effectLst/>
                            <a:latin typeface="Cambria Math" panose="02040503050406030204" pitchFamily="18" charset="0"/>
                            <a:ea typeface="宋体" panose="02010600030101010101" pitchFamily="2" charset="-122"/>
                          </a:rPr>
                          <m:t>(</m:t>
                        </m:r>
                      </m:e>
                    </m:func>
                    <m:r>
                      <a:rPr lang="en-US" altLang="zh-CN" sz="2400" b="1" i="1" kern="1000" smtClean="0">
                        <a:effectLst/>
                        <a:latin typeface="Cambria Math" panose="02040503050406030204" pitchFamily="18" charset="0"/>
                        <a:ea typeface="宋体" panose="02010600030101010101" pitchFamily="2" charset="-122"/>
                      </a:rPr>
                      <m:t>𝟑</m:t>
                    </m:r>
                    <m:r>
                      <a:rPr lang="en-US" altLang="zh-CN" sz="2400" b="1" i="1" kern="1000" smtClean="0">
                        <a:effectLst/>
                        <a:latin typeface="Cambria Math" panose="02040503050406030204" pitchFamily="18" charset="0"/>
                        <a:ea typeface="宋体" panose="02010600030101010101" pitchFamily="2" charset="-122"/>
                      </a:rPr>
                      <m:t>𝝅</m:t>
                    </m:r>
                    <m:r>
                      <a:rPr lang="en-US" altLang="zh-CN" sz="2400" b="1" i="1" kern="1000" smtClean="0">
                        <a:effectLst/>
                        <a:latin typeface="Cambria Math" panose="02040503050406030204" pitchFamily="18" charset="0"/>
                        <a:ea typeface="宋体" panose="02010600030101010101" pitchFamily="2" charset="-122"/>
                      </a:rPr>
                      <m:t>𝒕</m:t>
                    </m:r>
                    <m:r>
                      <a:rPr lang="en-US" altLang="zh-CN" sz="2400" b="1" i="1" kern="1000" smtClean="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a:t>
                </a:r>
              </a:p>
              <a:p>
                <a:pPr algn="just"/>
                <a:r>
                  <a:rPr lang="zh-CN" altLang="zh-CN" sz="2400" b="1" kern="1000" dirty="0">
                    <a:effectLst/>
                    <a:latin typeface="微软雅黑" panose="020B0503020204020204" pitchFamily="34" charset="-122"/>
                    <a:ea typeface="微软雅黑" panose="020B0503020204020204" pitchFamily="34" charset="-122"/>
                  </a:rPr>
                  <a:t>仿真结果如图</a:t>
                </a:r>
                <a:r>
                  <a:rPr lang="en-US" altLang="zh-CN" sz="2400" b="1" kern="1000" dirty="0">
                    <a:effectLst/>
                    <a:latin typeface="微软雅黑" panose="020B0503020204020204" pitchFamily="34" charset="-122"/>
                    <a:ea typeface="微软雅黑" panose="020B0503020204020204" pitchFamily="34" charset="-122"/>
                  </a:rPr>
                  <a:t>7.20</a:t>
                </a:r>
                <a:r>
                  <a:rPr lang="zh-CN" altLang="zh-CN" sz="2400" b="1" kern="1000" dirty="0">
                    <a:effectLst/>
                    <a:latin typeface="微软雅黑" panose="020B0503020204020204" pitchFamily="34" charset="-122"/>
                    <a:ea typeface="微软雅黑" panose="020B0503020204020204" pitchFamily="34" charset="-122"/>
                  </a:rPr>
                  <a:t>～图</a:t>
                </a:r>
                <a:r>
                  <a:rPr lang="en-US" altLang="zh-CN" sz="2400" b="1" kern="1000" dirty="0">
                    <a:effectLst/>
                    <a:latin typeface="微软雅黑" panose="020B0503020204020204" pitchFamily="34" charset="-122"/>
                    <a:ea typeface="微软雅黑" panose="020B0503020204020204" pitchFamily="34" charset="-122"/>
                  </a:rPr>
                  <a:t>7.27</a:t>
                </a:r>
                <a:r>
                  <a:rPr lang="zh-CN" altLang="zh-CN" sz="2400" b="1" kern="1000" dirty="0">
                    <a:effectLst/>
                    <a:latin typeface="微软雅黑" panose="020B0503020204020204" pitchFamily="34" charset="-122"/>
                    <a:ea typeface="微软雅黑" panose="020B0503020204020204" pitchFamily="34" charset="-122"/>
                  </a:rPr>
                  <a:t>所示。</a:t>
                </a:r>
              </a:p>
            </p:txBody>
          </p:sp>
        </mc:Choice>
        <mc:Fallback xmlns="">
          <p:sp>
            <p:nvSpPr>
              <p:cNvPr id="4" name="文本框 3">
                <a:extLst>
                  <a:ext uri="{FF2B5EF4-FFF2-40B4-BE49-F238E27FC236}">
                    <a16:creationId xmlns:a16="http://schemas.microsoft.com/office/drawing/2014/main" id="{72E55304-F0DB-75B7-8EBC-4895494F1051}"/>
                  </a:ext>
                </a:extLst>
              </p:cNvPr>
              <p:cNvSpPr txBox="1">
                <a:spLocks noRot="1" noChangeAspect="1" noMove="1" noResize="1" noEditPoints="1" noAdjustHandles="1" noChangeArrowheads="1" noChangeShapeType="1" noTextEdit="1"/>
              </p:cNvSpPr>
              <p:nvPr/>
            </p:nvSpPr>
            <p:spPr>
              <a:xfrm>
                <a:off x="962024" y="896005"/>
                <a:ext cx="9858376" cy="3238707"/>
              </a:xfrm>
              <a:prstGeom prst="rect">
                <a:avLst/>
              </a:prstGeom>
              <a:blipFill>
                <a:blip r:embed="rId3"/>
                <a:stretch>
                  <a:fillRect l="-989" r="-928" b="-3390"/>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960BE5CA-7C25-06C3-E2C6-98CCC372F9E8}"/>
              </a:ext>
            </a:extLst>
          </p:cNvPr>
          <p:cNvSpPr txBox="1"/>
          <p:nvPr/>
        </p:nvSpPr>
        <p:spPr>
          <a:xfrm>
            <a:off x="962024" y="4266337"/>
            <a:ext cx="10096501" cy="1938992"/>
          </a:xfrm>
          <a:prstGeom prst="rect">
            <a:avLst/>
          </a:prstGeom>
          <a:noFill/>
        </p:spPr>
        <p:txBody>
          <a:bodyPr wrap="square">
            <a:spAutoFit/>
          </a:bodyPr>
          <a:lstStyle/>
          <a:p>
            <a:pPr algn="just" fontAlgn="ctr">
              <a:defRPr/>
            </a:pPr>
            <a:r>
              <a:rPr lang="zh-CN"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图</a:t>
            </a:r>
            <a:r>
              <a:rPr lang="en-US"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7-21-</a:t>
            </a:r>
            <a:r>
              <a:rPr lang="zh-CN"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图</a:t>
            </a:r>
            <a:r>
              <a:rPr lang="en-US"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7-26</a:t>
            </a:r>
            <a:r>
              <a:rPr lang="zh-CN"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分别展示了机器人三个关节的位置轨迹、轨迹跟踪误差，速度状态与速度误差。图</a:t>
            </a:r>
            <a:r>
              <a:rPr lang="en-US"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7-27</a:t>
            </a:r>
            <a:r>
              <a:rPr lang="zh-CN"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是三个关节的控制输入，图</a:t>
            </a:r>
            <a:r>
              <a:rPr lang="en-US"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7-28</a:t>
            </a:r>
            <a:r>
              <a:rPr lang="zh-CN"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表示三个关节位置与速度的误差和。由以上仿真结果可以看出，基于</a:t>
            </a:r>
            <a:r>
              <a:rPr lang="en-US"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RBF</a:t>
            </a:r>
            <a:r>
              <a:rPr lang="zh-CN"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神经网络设计的控制率（</a:t>
            </a:r>
            <a:r>
              <a:rPr lang="en-US"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NN</a:t>
            </a:r>
            <a:r>
              <a:rPr lang="zh-CN"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控制）对实现机器人轨迹追踪行为是有效的，三个关节均能准确地追踪到预先给定的期望轨迹与期望速度。</a:t>
            </a:r>
          </a:p>
        </p:txBody>
      </p:sp>
      <p:sp>
        <p:nvSpPr>
          <p:cNvPr id="7" name="文本框 6">
            <a:extLst>
              <a:ext uri="{FF2B5EF4-FFF2-40B4-BE49-F238E27FC236}">
                <a16:creationId xmlns:a16="http://schemas.microsoft.com/office/drawing/2014/main" id="{BA92A35F-B189-9797-173D-734C304EC90C}"/>
              </a:ext>
            </a:extLst>
          </p:cNvPr>
          <p:cNvSpPr txBox="1"/>
          <p:nvPr>
            <p:custDataLst>
              <p:tags r:id="rId1"/>
            </p:custDataLst>
          </p:nvPr>
        </p:nvSpPr>
        <p:spPr>
          <a:xfrm>
            <a:off x="1357313" y="128685"/>
            <a:ext cx="8158162" cy="954107"/>
          </a:xfrm>
          <a:prstGeom prst="rect">
            <a:avLst/>
          </a:prstGeom>
          <a:noFill/>
        </p:spPr>
        <p:txBody>
          <a:bodyPr wrap="square" rtlCol="0">
            <a:spAutoFit/>
          </a:bodyPr>
          <a:lstStyle/>
          <a:p>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状态信息完全已知情况下的</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5">
            <a:extLst>
              <a:ext uri="{FF2B5EF4-FFF2-40B4-BE49-F238E27FC236}">
                <a16:creationId xmlns:a16="http://schemas.microsoft.com/office/drawing/2014/main" id="{452EF90F-0595-9FFC-9869-7994AB0D8982}"/>
              </a:ext>
            </a:extLst>
          </p:cNvPr>
          <p:cNvGrpSpPr>
            <a:grpSpLocks/>
          </p:cNvGrpSpPr>
          <p:nvPr/>
        </p:nvGrpSpPr>
        <p:grpSpPr bwMode="auto">
          <a:xfrm>
            <a:off x="2196306" y="1073150"/>
            <a:ext cx="6480175" cy="5349875"/>
            <a:chOff x="1187624" y="692696"/>
            <a:chExt cx="6480720" cy="5349696"/>
          </a:xfrm>
        </p:grpSpPr>
        <p:pic>
          <p:nvPicPr>
            <p:cNvPr id="4" name="图片 1">
              <a:extLst>
                <a:ext uri="{FF2B5EF4-FFF2-40B4-BE49-F238E27FC236}">
                  <a16:creationId xmlns:a16="http://schemas.microsoft.com/office/drawing/2014/main" id="{90423619-D13E-08BC-B9B6-39E7AA94FD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692696"/>
              <a:ext cx="6480720" cy="4949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D0A62B69-0BA4-D230-7446-7D2957BCA480}"/>
                </a:ext>
              </a:extLst>
            </p:cNvPr>
            <p:cNvSpPr txBox="1"/>
            <p:nvPr/>
          </p:nvSpPr>
          <p:spPr>
            <a:xfrm>
              <a:off x="1273356" y="5642355"/>
              <a:ext cx="6309256" cy="400037"/>
            </a:xfrm>
            <a:prstGeom prst="rect">
              <a:avLst/>
            </a:prstGeom>
            <a:noFill/>
          </p:spPr>
          <p:txBody>
            <a:bodyPr>
              <a:spAutoFit/>
            </a:bodyPr>
            <a:lstStyle/>
            <a:p>
              <a:pPr algn="ctr">
                <a:defRPr/>
              </a:pPr>
              <a:r>
                <a:rPr lang="zh-CN" altLang="zh-CN" sz="2000" kern="0" dirty="0">
                  <a:latin typeface="Times New Roman" panose="02020603050405020304" pitchFamily="18" charset="0"/>
                  <a:cs typeface="Times New Roman" panose="02020603050405020304" pitchFamily="18" charset="0"/>
                </a:rPr>
                <a:t>图</a:t>
              </a:r>
              <a:r>
                <a:rPr lang="en-US" altLang="zh-CN" sz="2000" kern="0" dirty="0">
                  <a:latin typeface="Times New Roman" panose="02020603050405020304" pitchFamily="18" charset="0"/>
                  <a:cs typeface="Times New Roman" panose="02020603050405020304" pitchFamily="18" charset="0"/>
                </a:rPr>
                <a:t>7-21</a:t>
              </a:r>
              <a:r>
                <a:rPr lang="zh-CN" altLang="zh-CN" sz="2000" kern="0" dirty="0">
                  <a:latin typeface="Times New Roman" panose="02020603050405020304" pitchFamily="18" charset="0"/>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关节</a:t>
              </a:r>
              <a:r>
                <a:rPr lang="en-US" altLang="zh-CN" sz="1800" dirty="0">
                  <a:effectLst/>
                  <a:latin typeface="Times New Roman" panose="02020603050405020304" pitchFamily="18" charset="0"/>
                  <a:ea typeface="宋体" panose="02010600030101010101" pitchFamily="2" charset="-122"/>
                </a:rPr>
                <a:t>1</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基于神经网络控制的位置跟踪曲线和跟踪误差</a:t>
              </a:r>
              <a:endParaRPr lang="zh-CN" altLang="zh-CN" sz="2000" kern="100" dirty="0">
                <a:latin typeface="Calibri" panose="020F0502020204030204" pitchFamily="34" charset="0"/>
                <a:cs typeface="Times New Roman" panose="02020603050405020304" pitchFamily="18" charset="0"/>
              </a:endParaRPr>
            </a:p>
          </p:txBody>
        </p:sp>
      </p:grpSp>
      <p:sp>
        <p:nvSpPr>
          <p:cNvPr id="6" name="文本框 5">
            <a:extLst>
              <a:ext uri="{FF2B5EF4-FFF2-40B4-BE49-F238E27FC236}">
                <a16:creationId xmlns:a16="http://schemas.microsoft.com/office/drawing/2014/main" id="{B26A0B5C-8D4E-5109-B557-167B83A0A7CA}"/>
              </a:ext>
            </a:extLst>
          </p:cNvPr>
          <p:cNvSpPr txBox="1"/>
          <p:nvPr>
            <p:custDataLst>
              <p:tags r:id="rId1"/>
            </p:custDataLst>
          </p:nvPr>
        </p:nvSpPr>
        <p:spPr>
          <a:xfrm>
            <a:off x="1357313" y="128685"/>
            <a:ext cx="8158162" cy="954107"/>
          </a:xfrm>
          <a:prstGeom prst="rect">
            <a:avLst/>
          </a:prstGeom>
          <a:noFill/>
        </p:spPr>
        <p:txBody>
          <a:bodyPr wrap="square" rtlCol="0">
            <a:spAutoFit/>
          </a:bodyPr>
          <a:lstStyle/>
          <a:p>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状态信息完全已知情况下的</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5">
            <a:extLst>
              <a:ext uri="{FF2B5EF4-FFF2-40B4-BE49-F238E27FC236}">
                <a16:creationId xmlns:a16="http://schemas.microsoft.com/office/drawing/2014/main" id="{3EDE2410-EF4B-830D-997C-04DB0DD8438C}"/>
              </a:ext>
            </a:extLst>
          </p:cNvPr>
          <p:cNvGrpSpPr>
            <a:grpSpLocks/>
          </p:cNvGrpSpPr>
          <p:nvPr/>
        </p:nvGrpSpPr>
        <p:grpSpPr bwMode="auto">
          <a:xfrm>
            <a:off x="2711449" y="1246188"/>
            <a:ext cx="7537451" cy="5008622"/>
            <a:chOff x="1259631" y="836712"/>
            <a:chExt cx="7537063" cy="5008682"/>
          </a:xfrm>
        </p:grpSpPr>
        <p:pic>
          <p:nvPicPr>
            <p:cNvPr id="4" name="图片 1">
              <a:extLst>
                <a:ext uri="{FF2B5EF4-FFF2-40B4-BE49-F238E27FC236}">
                  <a16:creationId xmlns:a16="http://schemas.microsoft.com/office/drawing/2014/main" id="{8C940CB1-FB4D-27F4-4586-F9193D2A60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4" y="836712"/>
              <a:ext cx="5904656" cy="4555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52976175-D5D9-E542-2AE3-DCC57FEC81F4}"/>
                </a:ext>
              </a:extLst>
            </p:cNvPr>
            <p:cNvSpPr txBox="1"/>
            <p:nvPr/>
          </p:nvSpPr>
          <p:spPr>
            <a:xfrm>
              <a:off x="1259631" y="5445279"/>
              <a:ext cx="7537063" cy="400115"/>
            </a:xfrm>
            <a:prstGeom prst="rect">
              <a:avLst/>
            </a:prstGeom>
            <a:noFill/>
          </p:spPr>
          <p:txBody>
            <a:bodyPr wrap="square">
              <a:spAutoFit/>
            </a:bodyPr>
            <a:lstStyle/>
            <a:p>
              <a:pPr algn="ctr">
                <a:defRPr/>
              </a:pPr>
              <a:r>
                <a:rPr lang="zh-CN" altLang="zh-CN" sz="2000" kern="0" dirty="0">
                  <a:latin typeface="Times New Roman" panose="02020603050405020304" pitchFamily="18" charset="0"/>
                  <a:cs typeface="Times New Roman" panose="02020603050405020304" pitchFamily="18" charset="0"/>
                </a:rPr>
                <a:t>图</a:t>
              </a:r>
              <a:r>
                <a:rPr lang="en-US" altLang="zh-CN" sz="2000" kern="0" dirty="0">
                  <a:latin typeface="Times New Roman" panose="02020603050405020304" pitchFamily="18" charset="0"/>
                  <a:cs typeface="Times New Roman" panose="02020603050405020304" pitchFamily="18" charset="0"/>
                </a:rPr>
                <a:t>7-22</a:t>
              </a:r>
              <a:r>
                <a:rPr lang="zh-CN" altLang="zh-CN" sz="2000" kern="0" dirty="0">
                  <a:latin typeface="Times New Roman" panose="02020603050405020304" pitchFamily="18" charset="0"/>
                  <a:cs typeface="Times New Roman" panose="02020603050405020304" pitchFamily="18" charset="0"/>
                </a:rPr>
                <a:t>：关节</a:t>
              </a:r>
              <a:r>
                <a:rPr lang="en-US" altLang="zh-CN" sz="2000" kern="0" dirty="0">
                  <a:latin typeface="Times New Roman" panose="02020603050405020304" pitchFamily="18" charset="0"/>
                  <a:cs typeface="Times New Roman" panose="02020603050405020304" pitchFamily="18" charset="0"/>
                </a:rPr>
                <a:t>1</a:t>
              </a:r>
              <a:r>
                <a:rPr lang="zh-CN" altLang="zh-CN" sz="2000" kern="0" dirty="0">
                  <a:latin typeface="Times New Roman" panose="02020603050405020304" pitchFamily="18" charset="0"/>
                  <a:cs typeface="Times New Roman" panose="02020603050405020304" pitchFamily="18" charset="0"/>
                </a:rPr>
                <a:t>基于神经网络控制的速度轨迹跟踪曲线和</a:t>
              </a:r>
              <a:r>
                <a:rPr lang="zh-CN" altLang="en-US" sz="2000" kern="0" dirty="0">
                  <a:latin typeface="Times New Roman" panose="02020603050405020304" pitchFamily="18" charset="0"/>
                  <a:cs typeface="Times New Roman" panose="02020603050405020304" pitchFamily="18" charset="0"/>
                </a:rPr>
                <a:t>跟踪</a:t>
              </a:r>
              <a:r>
                <a:rPr lang="zh-CN" altLang="zh-CN" sz="2000" kern="0" dirty="0">
                  <a:latin typeface="Times New Roman" panose="02020603050405020304" pitchFamily="18" charset="0"/>
                  <a:cs typeface="Times New Roman" panose="02020603050405020304" pitchFamily="18" charset="0"/>
                </a:rPr>
                <a:t>误差</a:t>
              </a:r>
              <a:endParaRPr lang="zh-CN" altLang="zh-CN" sz="2000" kern="100" dirty="0">
                <a:latin typeface="Calibri" panose="020F0502020204030204" pitchFamily="34" charset="0"/>
                <a:cs typeface="Times New Roman" panose="02020603050405020304" pitchFamily="18" charset="0"/>
              </a:endParaRPr>
            </a:p>
          </p:txBody>
        </p:sp>
      </p:grpSp>
      <p:sp>
        <p:nvSpPr>
          <p:cNvPr id="6" name="文本框 5">
            <a:extLst>
              <a:ext uri="{FF2B5EF4-FFF2-40B4-BE49-F238E27FC236}">
                <a16:creationId xmlns:a16="http://schemas.microsoft.com/office/drawing/2014/main" id="{A90AC14D-C412-B8DB-6030-7B4CBD8F72F7}"/>
              </a:ext>
            </a:extLst>
          </p:cNvPr>
          <p:cNvSpPr txBox="1"/>
          <p:nvPr>
            <p:custDataLst>
              <p:tags r:id="rId1"/>
            </p:custDataLst>
          </p:nvPr>
        </p:nvSpPr>
        <p:spPr>
          <a:xfrm>
            <a:off x="1357313" y="128685"/>
            <a:ext cx="8158162" cy="954107"/>
          </a:xfrm>
          <a:prstGeom prst="rect">
            <a:avLst/>
          </a:prstGeom>
          <a:noFill/>
        </p:spPr>
        <p:txBody>
          <a:bodyPr wrap="square" rtlCol="0">
            <a:spAutoFit/>
          </a:bodyPr>
          <a:lstStyle/>
          <a:p>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状态信息完全已知情况下的</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5">
            <a:extLst>
              <a:ext uri="{FF2B5EF4-FFF2-40B4-BE49-F238E27FC236}">
                <a16:creationId xmlns:a16="http://schemas.microsoft.com/office/drawing/2014/main" id="{03A81EA4-2D04-3676-55D3-0E0A8F867529}"/>
              </a:ext>
            </a:extLst>
          </p:cNvPr>
          <p:cNvGrpSpPr>
            <a:grpSpLocks/>
          </p:cNvGrpSpPr>
          <p:nvPr/>
        </p:nvGrpSpPr>
        <p:grpSpPr bwMode="auto">
          <a:xfrm>
            <a:off x="2928142" y="1208088"/>
            <a:ext cx="7460458" cy="4930835"/>
            <a:chOff x="1475655" y="836712"/>
            <a:chExt cx="7461624" cy="4930405"/>
          </a:xfrm>
        </p:grpSpPr>
        <p:pic>
          <p:nvPicPr>
            <p:cNvPr id="4" name="图片 1">
              <a:extLst>
                <a:ext uri="{FF2B5EF4-FFF2-40B4-BE49-F238E27FC236}">
                  <a16:creationId xmlns:a16="http://schemas.microsoft.com/office/drawing/2014/main" id="{B1D6A2F3-E4AC-655C-5DFD-C137093616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1439" y="836712"/>
              <a:ext cx="5681122" cy="4525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8A35B164-7A73-A40D-ACDC-B0EBE1E370C3}"/>
                </a:ext>
              </a:extLst>
            </p:cNvPr>
            <p:cNvSpPr txBox="1"/>
            <p:nvPr/>
          </p:nvSpPr>
          <p:spPr>
            <a:xfrm>
              <a:off x="1475655" y="5367042"/>
              <a:ext cx="7461624" cy="400075"/>
            </a:xfrm>
            <a:prstGeom prst="rect">
              <a:avLst/>
            </a:prstGeom>
            <a:noFill/>
          </p:spPr>
          <p:txBody>
            <a:bodyPr wrap="square">
              <a:spAutoFit/>
            </a:bodyPr>
            <a:lstStyle/>
            <a:p>
              <a:pPr algn="ctr">
                <a:defRPr/>
              </a:pPr>
              <a:r>
                <a:rPr lang="zh-CN" altLang="zh-CN" sz="2000" kern="0" dirty="0">
                  <a:latin typeface="Times New Roman" panose="02020603050405020304" pitchFamily="18" charset="0"/>
                  <a:cs typeface="Times New Roman" panose="02020603050405020304" pitchFamily="18" charset="0"/>
                </a:rPr>
                <a:t>图</a:t>
              </a:r>
              <a:r>
                <a:rPr lang="en-US" altLang="zh-CN" sz="2000" kern="0" dirty="0">
                  <a:latin typeface="Times New Roman" panose="02020603050405020304" pitchFamily="18" charset="0"/>
                  <a:cs typeface="Times New Roman" panose="02020603050405020304" pitchFamily="18" charset="0"/>
                </a:rPr>
                <a:t>7-23</a:t>
              </a:r>
              <a:r>
                <a:rPr lang="zh-CN" altLang="zh-CN" sz="2000" kern="0" dirty="0">
                  <a:latin typeface="Times New Roman" panose="02020603050405020304" pitchFamily="18" charset="0"/>
                  <a:cs typeface="Times New Roman" panose="02020603050405020304" pitchFamily="18" charset="0"/>
                </a:rPr>
                <a:t>：关节</a:t>
              </a:r>
              <a:r>
                <a:rPr lang="en-US" altLang="zh-CN" sz="2000" kern="0" dirty="0">
                  <a:latin typeface="Times New Roman" panose="02020603050405020304" pitchFamily="18" charset="0"/>
                  <a:cs typeface="Times New Roman" panose="02020603050405020304" pitchFamily="18" charset="0"/>
                </a:rPr>
                <a:t>2</a:t>
              </a:r>
              <a:r>
                <a:rPr lang="zh-CN" altLang="zh-CN" sz="2000" kern="0" dirty="0">
                  <a:latin typeface="Times New Roman" panose="02020603050405020304" pitchFamily="18" charset="0"/>
                  <a:cs typeface="Times New Roman" panose="02020603050405020304" pitchFamily="18" charset="0"/>
                </a:rPr>
                <a:t>基于神经网络控制的位置轨迹跟踪曲线和</a:t>
              </a:r>
              <a:r>
                <a:rPr lang="zh-CN" altLang="en-US" sz="2000" kern="0" dirty="0">
                  <a:latin typeface="Times New Roman" panose="02020603050405020304" pitchFamily="18" charset="0"/>
                  <a:cs typeface="Times New Roman" panose="02020603050405020304" pitchFamily="18" charset="0"/>
                </a:rPr>
                <a:t>跟踪</a:t>
              </a:r>
              <a:r>
                <a:rPr lang="zh-CN" altLang="zh-CN" sz="2000" kern="0" dirty="0">
                  <a:latin typeface="Times New Roman" panose="02020603050405020304" pitchFamily="18" charset="0"/>
                  <a:cs typeface="Times New Roman" panose="02020603050405020304" pitchFamily="18" charset="0"/>
                </a:rPr>
                <a:t>误差</a:t>
              </a:r>
              <a:endParaRPr lang="zh-CN" altLang="zh-CN" sz="2000" kern="100" dirty="0">
                <a:latin typeface="Calibri" panose="020F0502020204030204" pitchFamily="34" charset="0"/>
                <a:cs typeface="Times New Roman" panose="02020603050405020304" pitchFamily="18" charset="0"/>
              </a:endParaRPr>
            </a:p>
          </p:txBody>
        </p:sp>
      </p:grpSp>
      <p:sp>
        <p:nvSpPr>
          <p:cNvPr id="6" name="文本框 5">
            <a:extLst>
              <a:ext uri="{FF2B5EF4-FFF2-40B4-BE49-F238E27FC236}">
                <a16:creationId xmlns:a16="http://schemas.microsoft.com/office/drawing/2014/main" id="{C02B35E5-320F-17C6-A930-156060C0D239}"/>
              </a:ext>
            </a:extLst>
          </p:cNvPr>
          <p:cNvSpPr txBox="1"/>
          <p:nvPr>
            <p:custDataLst>
              <p:tags r:id="rId1"/>
            </p:custDataLst>
          </p:nvPr>
        </p:nvSpPr>
        <p:spPr>
          <a:xfrm>
            <a:off x="1357313" y="128685"/>
            <a:ext cx="8158162" cy="954107"/>
          </a:xfrm>
          <a:prstGeom prst="rect">
            <a:avLst/>
          </a:prstGeom>
          <a:noFill/>
        </p:spPr>
        <p:txBody>
          <a:bodyPr wrap="square" rtlCol="0">
            <a:spAutoFit/>
          </a:bodyPr>
          <a:lstStyle/>
          <a:p>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状态信息完全已知情况下的</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5">
            <a:extLst>
              <a:ext uri="{FF2B5EF4-FFF2-40B4-BE49-F238E27FC236}">
                <a16:creationId xmlns:a16="http://schemas.microsoft.com/office/drawing/2014/main" id="{FCE1FC76-3CFA-9D88-CA8C-B331F711E7A3}"/>
              </a:ext>
            </a:extLst>
          </p:cNvPr>
          <p:cNvGrpSpPr>
            <a:grpSpLocks/>
          </p:cNvGrpSpPr>
          <p:nvPr/>
        </p:nvGrpSpPr>
        <p:grpSpPr bwMode="auto">
          <a:xfrm>
            <a:off x="2819400" y="968375"/>
            <a:ext cx="7747000" cy="5511860"/>
            <a:chOff x="1475656" y="476672"/>
            <a:chExt cx="7746442" cy="5512738"/>
          </a:xfrm>
        </p:grpSpPr>
        <p:pic>
          <p:nvPicPr>
            <p:cNvPr id="4" name="图片 1">
              <a:extLst>
                <a:ext uri="{FF2B5EF4-FFF2-40B4-BE49-F238E27FC236}">
                  <a16:creationId xmlns:a16="http://schemas.microsoft.com/office/drawing/2014/main" id="{B1ECBD4A-D1DC-571D-3138-33205131E4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476672"/>
              <a:ext cx="6408712" cy="5039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12123850-A342-AFCE-9ABE-29A12C20B3B6}"/>
                </a:ext>
              </a:extLst>
            </p:cNvPr>
            <p:cNvSpPr txBox="1"/>
            <p:nvPr/>
          </p:nvSpPr>
          <p:spPr>
            <a:xfrm>
              <a:off x="1705827" y="5589236"/>
              <a:ext cx="7516271" cy="400174"/>
            </a:xfrm>
            <a:prstGeom prst="rect">
              <a:avLst/>
            </a:prstGeom>
            <a:noFill/>
          </p:spPr>
          <p:txBody>
            <a:bodyPr wrap="square">
              <a:spAutoFit/>
            </a:bodyPr>
            <a:lstStyle/>
            <a:p>
              <a:pPr algn="ctr">
                <a:defRPr/>
              </a:pPr>
              <a:r>
                <a:rPr lang="zh-CN" altLang="zh-CN" sz="2000" kern="0" dirty="0">
                  <a:latin typeface="Times New Roman" panose="02020603050405020304" pitchFamily="18" charset="0"/>
                  <a:cs typeface="Times New Roman" panose="02020603050405020304" pitchFamily="18" charset="0"/>
                </a:rPr>
                <a:t>图</a:t>
              </a:r>
              <a:r>
                <a:rPr lang="en-US" altLang="zh-CN" sz="2000" kern="0" dirty="0">
                  <a:latin typeface="Times New Roman" panose="02020603050405020304" pitchFamily="18" charset="0"/>
                  <a:cs typeface="Times New Roman" panose="02020603050405020304" pitchFamily="18" charset="0"/>
                </a:rPr>
                <a:t>7-24</a:t>
              </a:r>
              <a:r>
                <a:rPr lang="zh-CN" altLang="zh-CN" sz="2000" kern="0" dirty="0">
                  <a:latin typeface="Times New Roman" panose="02020603050405020304" pitchFamily="18" charset="0"/>
                  <a:cs typeface="Times New Roman" panose="02020603050405020304" pitchFamily="18" charset="0"/>
                </a:rPr>
                <a:t>：关节</a:t>
              </a:r>
              <a:r>
                <a:rPr lang="en-US" altLang="zh-CN" sz="2000" kern="0" dirty="0">
                  <a:latin typeface="Times New Roman" panose="02020603050405020304" pitchFamily="18" charset="0"/>
                  <a:cs typeface="Times New Roman" panose="02020603050405020304" pitchFamily="18" charset="0"/>
                </a:rPr>
                <a:t>2</a:t>
              </a:r>
              <a:r>
                <a:rPr lang="zh-CN" altLang="zh-CN" sz="2000" kern="0" dirty="0">
                  <a:latin typeface="Times New Roman" panose="02020603050405020304" pitchFamily="18" charset="0"/>
                  <a:cs typeface="Times New Roman" panose="02020603050405020304" pitchFamily="18" charset="0"/>
                </a:rPr>
                <a:t>基于神经网络控制的速度轨迹跟踪曲线和</a:t>
              </a:r>
              <a:r>
                <a:rPr lang="zh-CN" altLang="en-US" sz="2000" kern="0" dirty="0">
                  <a:latin typeface="Times New Roman" panose="02020603050405020304" pitchFamily="18" charset="0"/>
                  <a:cs typeface="Times New Roman" panose="02020603050405020304" pitchFamily="18" charset="0"/>
                </a:rPr>
                <a:t>跟踪</a:t>
              </a:r>
              <a:r>
                <a:rPr lang="zh-CN" altLang="zh-CN" sz="2000" kern="0" dirty="0">
                  <a:latin typeface="Times New Roman" panose="02020603050405020304" pitchFamily="18" charset="0"/>
                  <a:cs typeface="Times New Roman" panose="02020603050405020304" pitchFamily="18" charset="0"/>
                </a:rPr>
                <a:t>误差</a:t>
              </a:r>
              <a:endParaRPr lang="zh-CN" altLang="zh-CN" sz="2000" kern="100" dirty="0">
                <a:latin typeface="Calibri" panose="020F0502020204030204" pitchFamily="34" charset="0"/>
                <a:cs typeface="Times New Roman" panose="02020603050405020304" pitchFamily="18" charset="0"/>
              </a:endParaRPr>
            </a:p>
          </p:txBody>
        </p:sp>
      </p:grpSp>
      <p:sp>
        <p:nvSpPr>
          <p:cNvPr id="6" name="文本框 5">
            <a:extLst>
              <a:ext uri="{FF2B5EF4-FFF2-40B4-BE49-F238E27FC236}">
                <a16:creationId xmlns:a16="http://schemas.microsoft.com/office/drawing/2014/main" id="{000E85A4-1202-BE0B-C33B-2502E0C3C68F}"/>
              </a:ext>
            </a:extLst>
          </p:cNvPr>
          <p:cNvSpPr txBox="1"/>
          <p:nvPr>
            <p:custDataLst>
              <p:tags r:id="rId1"/>
            </p:custDataLst>
          </p:nvPr>
        </p:nvSpPr>
        <p:spPr>
          <a:xfrm>
            <a:off x="1357313" y="128685"/>
            <a:ext cx="8158162" cy="954107"/>
          </a:xfrm>
          <a:prstGeom prst="rect">
            <a:avLst/>
          </a:prstGeom>
          <a:noFill/>
        </p:spPr>
        <p:txBody>
          <a:bodyPr wrap="square" rtlCol="0">
            <a:spAutoFit/>
          </a:bodyPr>
          <a:lstStyle/>
          <a:p>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状态信息完全已知情况下的</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5">
            <a:extLst>
              <a:ext uri="{FF2B5EF4-FFF2-40B4-BE49-F238E27FC236}">
                <a16:creationId xmlns:a16="http://schemas.microsoft.com/office/drawing/2014/main" id="{ACE90994-B8A1-FB07-41E0-B1494938067E}"/>
              </a:ext>
            </a:extLst>
          </p:cNvPr>
          <p:cNvGrpSpPr>
            <a:grpSpLocks/>
          </p:cNvGrpSpPr>
          <p:nvPr/>
        </p:nvGrpSpPr>
        <p:grpSpPr bwMode="auto">
          <a:xfrm>
            <a:off x="2711450" y="1001713"/>
            <a:ext cx="7512050" cy="5368985"/>
            <a:chOff x="1187624" y="476672"/>
            <a:chExt cx="7511664" cy="5368722"/>
          </a:xfrm>
        </p:grpSpPr>
        <p:pic>
          <p:nvPicPr>
            <p:cNvPr id="4" name="图片 1">
              <a:extLst>
                <a:ext uri="{FF2B5EF4-FFF2-40B4-BE49-F238E27FC236}">
                  <a16:creationId xmlns:a16="http://schemas.microsoft.com/office/drawing/2014/main" id="{6759ED82-90D2-9979-6A7E-ED76468FD7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476672"/>
              <a:ext cx="6336704" cy="4878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78D8F549-E6E6-58AF-69E9-DBF94345C718}"/>
                </a:ext>
              </a:extLst>
            </p:cNvPr>
            <p:cNvSpPr txBox="1"/>
            <p:nvPr/>
          </p:nvSpPr>
          <p:spPr>
            <a:xfrm>
              <a:off x="1187624" y="5445304"/>
              <a:ext cx="7511664" cy="400090"/>
            </a:xfrm>
            <a:prstGeom prst="rect">
              <a:avLst/>
            </a:prstGeom>
            <a:noFill/>
          </p:spPr>
          <p:txBody>
            <a:bodyPr wrap="square">
              <a:spAutoFit/>
            </a:bodyPr>
            <a:lstStyle/>
            <a:p>
              <a:pPr algn="ctr">
                <a:defRPr/>
              </a:pPr>
              <a:r>
                <a:rPr lang="zh-CN" altLang="zh-CN" sz="2000" kern="0" dirty="0">
                  <a:latin typeface="Times New Roman" panose="02020603050405020304" pitchFamily="18" charset="0"/>
                  <a:cs typeface="Times New Roman" panose="02020603050405020304" pitchFamily="18" charset="0"/>
                </a:rPr>
                <a:t>图</a:t>
              </a:r>
              <a:r>
                <a:rPr lang="en-US" altLang="zh-CN" sz="2000" kern="0" dirty="0">
                  <a:latin typeface="Times New Roman" panose="02020603050405020304" pitchFamily="18" charset="0"/>
                  <a:cs typeface="Times New Roman" panose="02020603050405020304" pitchFamily="18" charset="0"/>
                </a:rPr>
                <a:t>7-25</a:t>
              </a:r>
              <a:r>
                <a:rPr lang="zh-CN" altLang="zh-CN" sz="2000" kern="0" dirty="0">
                  <a:latin typeface="Times New Roman" panose="02020603050405020304" pitchFamily="18" charset="0"/>
                  <a:cs typeface="Times New Roman" panose="02020603050405020304" pitchFamily="18" charset="0"/>
                </a:rPr>
                <a:t>：关节</a:t>
              </a:r>
              <a:r>
                <a:rPr lang="en-US" altLang="zh-CN" sz="2000" kern="0" dirty="0">
                  <a:latin typeface="Times New Roman" panose="02020603050405020304" pitchFamily="18" charset="0"/>
                  <a:cs typeface="Times New Roman" panose="02020603050405020304" pitchFamily="18" charset="0"/>
                </a:rPr>
                <a:t>3</a:t>
              </a:r>
              <a:r>
                <a:rPr lang="zh-CN" altLang="zh-CN" sz="2000" kern="0" dirty="0">
                  <a:latin typeface="Times New Roman" panose="02020603050405020304" pitchFamily="18" charset="0"/>
                  <a:cs typeface="Times New Roman" panose="02020603050405020304" pitchFamily="18" charset="0"/>
                </a:rPr>
                <a:t>基于</a:t>
              </a:r>
              <a:r>
                <a:rPr lang="zh-CN" altLang="en-US" sz="2000" kern="0" dirty="0">
                  <a:latin typeface="Times New Roman" panose="02020603050405020304" pitchFamily="18" charset="0"/>
                  <a:cs typeface="Times New Roman" panose="02020603050405020304" pitchFamily="18" charset="0"/>
                </a:rPr>
                <a:t>神经网络</a:t>
              </a:r>
              <a:r>
                <a:rPr lang="zh-CN" altLang="zh-CN" sz="2000" kern="0" dirty="0">
                  <a:latin typeface="Times New Roman" panose="02020603050405020304" pitchFamily="18" charset="0"/>
                  <a:cs typeface="Times New Roman" panose="02020603050405020304" pitchFamily="18" charset="0"/>
                </a:rPr>
                <a:t>控制的位置轨迹跟踪曲线和</a:t>
              </a:r>
              <a:r>
                <a:rPr lang="zh-CN" altLang="en-US" sz="2000" kern="0" dirty="0">
                  <a:latin typeface="Times New Roman" panose="02020603050405020304" pitchFamily="18" charset="0"/>
                  <a:cs typeface="Times New Roman" panose="02020603050405020304" pitchFamily="18" charset="0"/>
                </a:rPr>
                <a:t>跟踪</a:t>
              </a:r>
              <a:r>
                <a:rPr lang="zh-CN" altLang="zh-CN" sz="2000" kern="0" dirty="0">
                  <a:latin typeface="Times New Roman" panose="02020603050405020304" pitchFamily="18" charset="0"/>
                  <a:cs typeface="Times New Roman" panose="02020603050405020304" pitchFamily="18" charset="0"/>
                </a:rPr>
                <a:t>误差</a:t>
              </a:r>
              <a:endParaRPr lang="zh-CN" altLang="zh-CN" sz="2000" kern="100" dirty="0">
                <a:latin typeface="Calibri" panose="020F0502020204030204" pitchFamily="34" charset="0"/>
                <a:cs typeface="Times New Roman" panose="02020603050405020304" pitchFamily="18" charset="0"/>
              </a:endParaRPr>
            </a:p>
          </p:txBody>
        </p:sp>
      </p:grpSp>
      <p:sp>
        <p:nvSpPr>
          <p:cNvPr id="6" name="文本框 5">
            <a:extLst>
              <a:ext uri="{FF2B5EF4-FFF2-40B4-BE49-F238E27FC236}">
                <a16:creationId xmlns:a16="http://schemas.microsoft.com/office/drawing/2014/main" id="{5390BA37-401B-1E22-4C76-15F8C3887782}"/>
              </a:ext>
            </a:extLst>
          </p:cNvPr>
          <p:cNvSpPr txBox="1"/>
          <p:nvPr>
            <p:custDataLst>
              <p:tags r:id="rId1"/>
            </p:custDataLst>
          </p:nvPr>
        </p:nvSpPr>
        <p:spPr>
          <a:xfrm>
            <a:off x="1357313" y="128685"/>
            <a:ext cx="8158162" cy="954107"/>
          </a:xfrm>
          <a:prstGeom prst="rect">
            <a:avLst/>
          </a:prstGeom>
          <a:noFill/>
        </p:spPr>
        <p:txBody>
          <a:bodyPr wrap="square" rtlCol="0">
            <a:spAutoFit/>
          </a:bodyPr>
          <a:lstStyle/>
          <a:p>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状态信息完全已知情况下的</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5">
            <a:extLst>
              <a:ext uri="{FF2B5EF4-FFF2-40B4-BE49-F238E27FC236}">
                <a16:creationId xmlns:a16="http://schemas.microsoft.com/office/drawing/2014/main" id="{E6399B9C-E974-FB7D-569A-56A5FE1EDA59}"/>
              </a:ext>
            </a:extLst>
          </p:cNvPr>
          <p:cNvGrpSpPr>
            <a:grpSpLocks/>
          </p:cNvGrpSpPr>
          <p:nvPr/>
        </p:nvGrpSpPr>
        <p:grpSpPr bwMode="auto">
          <a:xfrm>
            <a:off x="2674938" y="925513"/>
            <a:ext cx="7421562" cy="5354697"/>
            <a:chOff x="1331640" y="548680"/>
            <a:chExt cx="7421804" cy="5354415"/>
          </a:xfrm>
        </p:grpSpPr>
        <p:pic>
          <p:nvPicPr>
            <p:cNvPr id="4" name="图片 1">
              <a:extLst>
                <a:ext uri="{FF2B5EF4-FFF2-40B4-BE49-F238E27FC236}">
                  <a16:creationId xmlns:a16="http://schemas.microsoft.com/office/drawing/2014/main" id="{28C90B36-DC4D-F3EB-8A50-0382DDA464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548680"/>
              <a:ext cx="6480720" cy="4954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65BBD767-6FAB-D636-4CE6-7665EFAB2EE2}"/>
                </a:ext>
              </a:extLst>
            </p:cNvPr>
            <p:cNvSpPr txBox="1"/>
            <p:nvPr/>
          </p:nvSpPr>
          <p:spPr>
            <a:xfrm>
              <a:off x="1331640" y="5503006"/>
              <a:ext cx="7421804" cy="400089"/>
            </a:xfrm>
            <a:prstGeom prst="rect">
              <a:avLst/>
            </a:prstGeom>
            <a:noFill/>
          </p:spPr>
          <p:txBody>
            <a:bodyPr wrap="square">
              <a:spAutoFit/>
            </a:bodyPr>
            <a:lstStyle/>
            <a:p>
              <a:pPr algn="ctr">
                <a:defRPr/>
              </a:pPr>
              <a:r>
                <a:rPr lang="zh-CN" altLang="zh-CN" sz="2000" kern="0" dirty="0">
                  <a:latin typeface="Times New Roman" panose="02020603050405020304" pitchFamily="18" charset="0"/>
                  <a:cs typeface="Times New Roman" panose="02020603050405020304" pitchFamily="18" charset="0"/>
                </a:rPr>
                <a:t>图</a:t>
              </a:r>
              <a:r>
                <a:rPr lang="en-US" altLang="zh-CN" sz="2000" kern="0" dirty="0">
                  <a:latin typeface="Times New Roman" panose="02020603050405020304" pitchFamily="18" charset="0"/>
                  <a:cs typeface="Times New Roman" panose="02020603050405020304" pitchFamily="18" charset="0"/>
                </a:rPr>
                <a:t>7-26</a:t>
              </a:r>
              <a:r>
                <a:rPr lang="zh-CN" altLang="zh-CN" sz="2000" kern="0" dirty="0">
                  <a:latin typeface="Times New Roman" panose="02020603050405020304" pitchFamily="18" charset="0"/>
                  <a:cs typeface="Times New Roman" panose="02020603050405020304" pitchFamily="18" charset="0"/>
                </a:rPr>
                <a:t>：关节</a:t>
              </a:r>
              <a:r>
                <a:rPr lang="en-US" altLang="zh-CN" sz="2000" kern="0" dirty="0">
                  <a:latin typeface="Times New Roman" panose="02020603050405020304" pitchFamily="18" charset="0"/>
                  <a:cs typeface="Times New Roman" panose="02020603050405020304" pitchFamily="18" charset="0"/>
                </a:rPr>
                <a:t>3</a:t>
              </a:r>
              <a:r>
                <a:rPr lang="zh-CN" altLang="zh-CN" sz="2000" kern="0" dirty="0">
                  <a:latin typeface="Times New Roman" panose="02020603050405020304" pitchFamily="18" charset="0"/>
                  <a:cs typeface="Times New Roman" panose="02020603050405020304" pitchFamily="18" charset="0"/>
                </a:rPr>
                <a:t>基于</a:t>
              </a:r>
              <a:r>
                <a:rPr lang="zh-CN" altLang="en-US" sz="2000" kern="0" dirty="0">
                  <a:latin typeface="Times New Roman" panose="02020603050405020304" pitchFamily="18" charset="0"/>
                  <a:cs typeface="Times New Roman" panose="02020603050405020304" pitchFamily="18" charset="0"/>
                </a:rPr>
                <a:t>神经网络</a:t>
              </a:r>
              <a:r>
                <a:rPr lang="zh-CN" altLang="zh-CN" sz="2000" kern="0" dirty="0">
                  <a:latin typeface="Times New Roman" panose="02020603050405020304" pitchFamily="18" charset="0"/>
                  <a:cs typeface="Times New Roman" panose="02020603050405020304" pitchFamily="18" charset="0"/>
                </a:rPr>
                <a:t>控制的速度轨迹跟踪曲线和</a:t>
              </a:r>
              <a:r>
                <a:rPr lang="zh-CN" altLang="en-US" sz="2000" kern="0" dirty="0">
                  <a:latin typeface="Times New Roman" panose="02020603050405020304" pitchFamily="18" charset="0"/>
                  <a:cs typeface="Times New Roman" panose="02020603050405020304" pitchFamily="18" charset="0"/>
                </a:rPr>
                <a:t>跟踪</a:t>
              </a:r>
              <a:r>
                <a:rPr lang="zh-CN" altLang="zh-CN" sz="2000" kern="0" dirty="0">
                  <a:latin typeface="Times New Roman" panose="02020603050405020304" pitchFamily="18" charset="0"/>
                  <a:cs typeface="Times New Roman" panose="02020603050405020304" pitchFamily="18" charset="0"/>
                </a:rPr>
                <a:t>误差</a:t>
              </a:r>
              <a:endParaRPr lang="zh-CN" altLang="zh-CN" sz="2000" kern="100" dirty="0">
                <a:latin typeface="Calibri" panose="020F0502020204030204" pitchFamily="34" charset="0"/>
                <a:cs typeface="Times New Roman" panose="02020603050405020304" pitchFamily="18" charset="0"/>
              </a:endParaRPr>
            </a:p>
          </p:txBody>
        </p:sp>
      </p:grpSp>
      <p:sp>
        <p:nvSpPr>
          <p:cNvPr id="6" name="文本框 5">
            <a:extLst>
              <a:ext uri="{FF2B5EF4-FFF2-40B4-BE49-F238E27FC236}">
                <a16:creationId xmlns:a16="http://schemas.microsoft.com/office/drawing/2014/main" id="{D5973F63-62CD-C9C3-47D9-A8FECCA80985}"/>
              </a:ext>
            </a:extLst>
          </p:cNvPr>
          <p:cNvSpPr txBox="1"/>
          <p:nvPr>
            <p:custDataLst>
              <p:tags r:id="rId1"/>
            </p:custDataLst>
          </p:nvPr>
        </p:nvSpPr>
        <p:spPr>
          <a:xfrm>
            <a:off x="1357313" y="128685"/>
            <a:ext cx="8158162" cy="954107"/>
          </a:xfrm>
          <a:prstGeom prst="rect">
            <a:avLst/>
          </a:prstGeom>
          <a:noFill/>
        </p:spPr>
        <p:txBody>
          <a:bodyPr wrap="square" rtlCol="0">
            <a:spAutoFit/>
          </a:bodyPr>
          <a:lstStyle/>
          <a:p>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状态信息完全已知情况下的</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5">
            <a:extLst>
              <a:ext uri="{FF2B5EF4-FFF2-40B4-BE49-F238E27FC236}">
                <a16:creationId xmlns:a16="http://schemas.microsoft.com/office/drawing/2014/main" id="{4763020B-13DE-40BA-3993-CEC8473BDA66}"/>
              </a:ext>
            </a:extLst>
          </p:cNvPr>
          <p:cNvGrpSpPr>
            <a:grpSpLocks/>
          </p:cNvGrpSpPr>
          <p:nvPr/>
        </p:nvGrpSpPr>
        <p:grpSpPr bwMode="auto">
          <a:xfrm>
            <a:off x="2819400" y="1069975"/>
            <a:ext cx="6553200" cy="5267385"/>
            <a:chOff x="1187624" y="764704"/>
            <a:chExt cx="6552728" cy="5268380"/>
          </a:xfrm>
        </p:grpSpPr>
        <p:pic>
          <p:nvPicPr>
            <p:cNvPr id="4" name="图片 1">
              <a:extLst>
                <a:ext uri="{FF2B5EF4-FFF2-40B4-BE49-F238E27FC236}">
                  <a16:creationId xmlns:a16="http://schemas.microsoft.com/office/drawing/2014/main" id="{18549A07-6C6B-00EB-72B2-B5233286DB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764704"/>
              <a:ext cx="6552728" cy="4852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6FB541CE-A65D-43C8-86BE-8A1B84C1DCCB}"/>
                </a:ext>
              </a:extLst>
            </p:cNvPr>
            <p:cNvSpPr txBox="1"/>
            <p:nvPr/>
          </p:nvSpPr>
          <p:spPr>
            <a:xfrm>
              <a:off x="2124182" y="5632898"/>
              <a:ext cx="4574845" cy="400186"/>
            </a:xfrm>
            <a:prstGeom prst="rect">
              <a:avLst/>
            </a:prstGeom>
            <a:noFill/>
          </p:spPr>
          <p:txBody>
            <a:bodyPr>
              <a:spAutoFit/>
            </a:bodyPr>
            <a:lstStyle/>
            <a:p>
              <a:pPr algn="ctr">
                <a:defRPr/>
              </a:pPr>
              <a:r>
                <a:rPr lang="zh-CN" altLang="zh-CN" sz="2000" kern="0" dirty="0">
                  <a:latin typeface="Times New Roman" panose="02020603050405020304" pitchFamily="18" charset="0"/>
                  <a:cs typeface="Times New Roman" panose="02020603050405020304" pitchFamily="18" charset="0"/>
                </a:rPr>
                <a:t>图</a:t>
              </a:r>
              <a:r>
                <a:rPr lang="en-US" altLang="zh-CN" sz="2000" kern="0" dirty="0">
                  <a:latin typeface="Times New Roman" panose="02020603050405020304" pitchFamily="18" charset="0"/>
                  <a:cs typeface="Times New Roman" panose="02020603050405020304" pitchFamily="18" charset="0"/>
                </a:rPr>
                <a:t>7-27</a:t>
              </a:r>
              <a:r>
                <a:rPr lang="zh-CN" altLang="zh-CN" sz="2000" kern="0" dirty="0">
                  <a:latin typeface="Times New Roman" panose="02020603050405020304" pitchFamily="18" charset="0"/>
                  <a:cs typeface="Times New Roman" panose="02020603050405020304" pitchFamily="18" charset="0"/>
                </a:rPr>
                <a:t>：基于</a:t>
              </a:r>
              <a:r>
                <a:rPr lang="zh-CN" altLang="en-US" sz="2000" kern="0" dirty="0">
                  <a:latin typeface="Times New Roman" panose="02020603050405020304" pitchFamily="18" charset="0"/>
                  <a:cs typeface="Times New Roman" panose="02020603050405020304" pitchFamily="18" charset="0"/>
                </a:rPr>
                <a:t>神经网络</a:t>
              </a:r>
              <a:r>
                <a:rPr lang="zh-CN" altLang="zh-CN" sz="2000" kern="0" dirty="0">
                  <a:latin typeface="Times New Roman" panose="02020603050405020304" pitchFamily="18" charset="0"/>
                  <a:cs typeface="Times New Roman" panose="02020603050405020304" pitchFamily="18" charset="0"/>
                </a:rPr>
                <a:t>算法的控制输入</a:t>
              </a:r>
              <a:endParaRPr lang="zh-CN" altLang="zh-CN" sz="2000" kern="100" dirty="0">
                <a:latin typeface="Calibri" panose="020F0502020204030204" pitchFamily="34" charset="0"/>
                <a:cs typeface="Times New Roman" panose="02020603050405020304" pitchFamily="18" charset="0"/>
              </a:endParaRPr>
            </a:p>
          </p:txBody>
        </p:sp>
      </p:grpSp>
      <p:sp>
        <p:nvSpPr>
          <p:cNvPr id="6" name="文本框 5">
            <a:extLst>
              <a:ext uri="{FF2B5EF4-FFF2-40B4-BE49-F238E27FC236}">
                <a16:creationId xmlns:a16="http://schemas.microsoft.com/office/drawing/2014/main" id="{A676CD9F-F27D-CBE8-F68C-78B546A9E561}"/>
              </a:ext>
            </a:extLst>
          </p:cNvPr>
          <p:cNvSpPr txBox="1"/>
          <p:nvPr>
            <p:custDataLst>
              <p:tags r:id="rId1"/>
            </p:custDataLst>
          </p:nvPr>
        </p:nvSpPr>
        <p:spPr>
          <a:xfrm>
            <a:off x="1357313" y="128685"/>
            <a:ext cx="8158162" cy="954107"/>
          </a:xfrm>
          <a:prstGeom prst="rect">
            <a:avLst/>
          </a:prstGeom>
          <a:noFill/>
        </p:spPr>
        <p:txBody>
          <a:bodyPr wrap="square" rtlCol="0">
            <a:spAutoFit/>
          </a:bodyPr>
          <a:lstStyle/>
          <a:p>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状态信息完全已知情况下的</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5">
            <a:extLst>
              <a:ext uri="{FF2B5EF4-FFF2-40B4-BE49-F238E27FC236}">
                <a16:creationId xmlns:a16="http://schemas.microsoft.com/office/drawing/2014/main" id="{BA4CE7F9-1822-5772-6CE4-D44301CB723D}"/>
              </a:ext>
            </a:extLst>
          </p:cNvPr>
          <p:cNvGrpSpPr>
            <a:grpSpLocks/>
          </p:cNvGrpSpPr>
          <p:nvPr/>
        </p:nvGrpSpPr>
        <p:grpSpPr bwMode="auto">
          <a:xfrm>
            <a:off x="2783681" y="1211263"/>
            <a:ext cx="6624637" cy="5224462"/>
            <a:chOff x="1115616" y="620688"/>
            <a:chExt cx="6624736" cy="5224646"/>
          </a:xfrm>
        </p:grpSpPr>
        <p:pic>
          <p:nvPicPr>
            <p:cNvPr id="4" name="图片 1">
              <a:extLst>
                <a:ext uri="{FF2B5EF4-FFF2-40B4-BE49-F238E27FC236}">
                  <a16:creationId xmlns:a16="http://schemas.microsoft.com/office/drawing/2014/main" id="{0EDE0DA0-0989-B30A-0DC5-2067DCCB58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620688"/>
              <a:ext cx="6624736" cy="4679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D6985739-CE9A-6EE6-AACB-D69B3E295D5F}"/>
                </a:ext>
              </a:extLst>
            </p:cNvPr>
            <p:cNvSpPr txBox="1"/>
            <p:nvPr/>
          </p:nvSpPr>
          <p:spPr>
            <a:xfrm>
              <a:off x="2052255" y="5445270"/>
              <a:ext cx="4575243" cy="400064"/>
            </a:xfrm>
            <a:prstGeom prst="rect">
              <a:avLst/>
            </a:prstGeom>
            <a:noFill/>
          </p:spPr>
          <p:txBody>
            <a:bodyPr>
              <a:spAutoFit/>
            </a:bodyPr>
            <a:lstStyle/>
            <a:p>
              <a:pPr algn="ctr" fontAlgn="ctr">
                <a:defRPr/>
              </a:pPr>
              <a:r>
                <a:rPr lang="zh-CN" altLang="zh-CN" sz="2000" kern="100" dirty="0">
                  <a:latin typeface="Times New Roman" panose="02020603050405020304" pitchFamily="18" charset="0"/>
                  <a:cs typeface="Times New Roman" panose="02020603050405020304" pitchFamily="18" charset="0"/>
                </a:rPr>
                <a:t>图</a:t>
              </a:r>
              <a:r>
                <a:rPr lang="en-US" altLang="zh-CN" sz="2000" kern="100" dirty="0">
                  <a:latin typeface="Times New Roman" panose="02020603050405020304" pitchFamily="18" charset="0"/>
                  <a:cs typeface="Times New Roman" panose="02020603050405020304" pitchFamily="18" charset="0"/>
                </a:rPr>
                <a:t>7-28</a:t>
              </a:r>
              <a:r>
                <a:rPr lang="zh-CN" altLang="zh-CN" sz="2000" kern="100" dirty="0">
                  <a:latin typeface="Times New Roman" panose="02020603050405020304" pitchFamily="18" charset="0"/>
                  <a:cs typeface="Times New Roman" panose="02020603050405020304" pitchFamily="18" charset="0"/>
                </a:rPr>
                <a:t>位置与速度的误差和</a:t>
              </a:r>
              <a:r>
                <a:rPr lang="zh-CN" altLang="zh-CN" sz="2000" kern="100" dirty="0">
                  <a:latin typeface="Calibri" panose="020F0502020204030204" pitchFamily="34" charset="0"/>
                  <a:ea typeface="Times New Roman" panose="02020603050405020304" pitchFamily="18" charset="0"/>
                  <a:cs typeface="Times New Roman" panose="02020603050405020304" pitchFamily="18" charset="0"/>
                </a:rPr>
                <a:t> </a:t>
              </a:r>
              <a:endParaRPr lang="zh-CN" altLang="zh-CN" sz="2000" kern="100" dirty="0">
                <a:latin typeface="Calibri" panose="020F0502020204030204" pitchFamily="34" charset="0"/>
                <a:cs typeface="Times New Roman" panose="02020603050405020304" pitchFamily="18" charset="0"/>
              </a:endParaRPr>
            </a:p>
          </p:txBody>
        </p:sp>
      </p:grpSp>
      <p:sp>
        <p:nvSpPr>
          <p:cNvPr id="6" name="文本框 5">
            <a:extLst>
              <a:ext uri="{FF2B5EF4-FFF2-40B4-BE49-F238E27FC236}">
                <a16:creationId xmlns:a16="http://schemas.microsoft.com/office/drawing/2014/main" id="{F64AB9D4-750A-0520-34BE-B926DC0CC5B7}"/>
              </a:ext>
            </a:extLst>
          </p:cNvPr>
          <p:cNvSpPr txBox="1"/>
          <p:nvPr>
            <p:custDataLst>
              <p:tags r:id="rId1"/>
            </p:custDataLst>
          </p:nvPr>
        </p:nvSpPr>
        <p:spPr>
          <a:xfrm>
            <a:off x="1357313" y="128685"/>
            <a:ext cx="8158162" cy="954107"/>
          </a:xfrm>
          <a:prstGeom prst="rect">
            <a:avLst/>
          </a:prstGeom>
          <a:noFill/>
        </p:spPr>
        <p:txBody>
          <a:bodyPr wrap="square" rtlCol="0">
            <a:spAutoFit/>
          </a:bodyPr>
          <a:lstStyle/>
          <a:p>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3</a:t>
            </a:r>
            <a:r>
              <a:rPr lang="zh-CN"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状态信息完全已知情况下的</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4A52E83-399A-2736-DFEB-4CC2B589A34E}"/>
              </a:ext>
            </a:extLst>
          </p:cNvPr>
          <p:cNvSpPr txBox="1"/>
          <p:nvPr>
            <p:custDataLst>
              <p:tags r:id="rId1"/>
            </p:custDataLst>
          </p:nvPr>
        </p:nvSpPr>
        <p:spPr>
          <a:xfrm>
            <a:off x="1357313" y="128685"/>
            <a:ext cx="8158162" cy="954107"/>
          </a:xfrm>
          <a:prstGeom prst="rect">
            <a:avLst/>
          </a:prstGeom>
          <a:noFill/>
        </p:spPr>
        <p:txBody>
          <a:bodyPr wrap="square" rtlCol="0">
            <a:spAutoFit/>
          </a:bodyPr>
          <a:lstStyle/>
          <a:p>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部分状态信息未知情况下的</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211AAE3A-7564-3F71-B8BD-2A48B7ABE19D}"/>
                  </a:ext>
                </a:extLst>
              </p:cNvPr>
              <p:cNvSpPr txBox="1"/>
              <p:nvPr/>
            </p:nvSpPr>
            <p:spPr>
              <a:xfrm>
                <a:off x="1109662" y="1104047"/>
                <a:ext cx="9863137" cy="2102499"/>
              </a:xfrm>
              <a:prstGeom prst="rect">
                <a:avLst/>
              </a:prstGeom>
              <a:noFill/>
            </p:spPr>
            <p:txBody>
              <a:bodyPr wrap="square">
                <a:spAutoFit/>
              </a:bodyPr>
              <a:lstStyle/>
              <a:p>
                <a:pPr indent="269875" algn="just">
                  <a:spcBef>
                    <a:spcPts val="600"/>
                  </a:spcBef>
                  <a:spcAft>
                    <a:spcPts val="600"/>
                  </a:spcAft>
                </a:pPr>
                <a:r>
                  <a:rPr lang="en-US" altLang="zh-CN" sz="2400" b="1" kern="0" dirty="0">
                    <a:effectLst/>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400" b="1" kern="0" dirty="0">
                    <a:effectLst/>
                    <a:latin typeface="微软雅黑" panose="020B0503020204020204" pitchFamily="34" charset="-122"/>
                    <a:ea typeface="微软雅黑" panose="020B0503020204020204" pitchFamily="34" charset="-122"/>
                    <a:cs typeface="Times New Roman" panose="02020603050405020304" pitchFamily="18" charset="0"/>
                  </a:rPr>
                  <a:t>．部分状态信息未知情况下的</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a:p>
                <a:pPr indent="269875" algn="just">
                  <a:spcBef>
                    <a:spcPts val="600"/>
                  </a:spcBef>
                </a:pPr>
                <a:r>
                  <a:rPr lang="en-US" altLang="zh-CN" sz="2400" b="1" kern="1050" dirty="0">
                    <a:effectLst/>
                    <a:latin typeface="微软雅黑" panose="020B0503020204020204" pitchFamily="34" charset="-122"/>
                    <a:ea typeface="微软雅黑" panose="020B0503020204020204" pitchFamily="34" charset="-122"/>
                  </a:rPr>
                  <a:t>1)</a:t>
                </a:r>
                <a:r>
                  <a:rPr lang="zh-CN" altLang="zh-CN" sz="2400" b="1" kern="1050" dirty="0">
                    <a:effectLst/>
                    <a:latin typeface="微软雅黑" panose="020B0503020204020204" pitchFamily="34" charset="-122"/>
                    <a:ea typeface="微软雅黑" panose="020B0503020204020204" pitchFamily="34" charset="-122"/>
                  </a:rPr>
                  <a:t>基本原理</a:t>
                </a:r>
              </a:p>
              <a:p>
                <a:pPr algn="just"/>
                <a:r>
                  <a:rPr lang="zh-CN" altLang="zh-CN" sz="2400" b="1" kern="1000" dirty="0">
                    <a:effectLst/>
                    <a:latin typeface="微软雅黑" panose="020B0503020204020204" pitchFamily="34" charset="-122"/>
                    <a:ea typeface="微软雅黑" panose="020B0503020204020204" pitchFamily="34" charset="-122"/>
                  </a:rPr>
                  <a:t>第</a:t>
                </a:r>
                <a:r>
                  <a:rPr lang="en-US" altLang="zh-CN" sz="2400" b="1" kern="1000" dirty="0">
                    <a:effectLst/>
                    <a:latin typeface="微软雅黑" panose="020B0503020204020204" pitchFamily="34" charset="-122"/>
                    <a:ea typeface="微软雅黑" panose="020B0503020204020204" pitchFamily="34" charset="-122"/>
                  </a:rPr>
                  <a:t>3</a:t>
                </a:r>
                <a:r>
                  <a:rPr lang="zh-CN" altLang="zh-CN" sz="2400" b="1" kern="1000" dirty="0">
                    <a:effectLst/>
                    <a:latin typeface="微软雅黑" panose="020B0503020204020204" pitchFamily="34" charset="-122"/>
                    <a:ea typeface="微软雅黑" panose="020B0503020204020204" pitchFamily="34" charset="-122"/>
                  </a:rPr>
                  <a:t>部分设计的控制器</a:t>
                </a:r>
                <a14:m>
                  <m:oMath xmlns:m="http://schemas.openxmlformats.org/officeDocument/2006/math">
                    <m:r>
                      <a:rPr lang="en-US" altLang="zh-CN" sz="2400" b="1" i="1" kern="1000" smtClean="0">
                        <a:effectLst/>
                        <a:latin typeface="Cambria Math" panose="02040503050406030204" pitchFamily="18" charset="0"/>
                        <a:ea typeface="宋体" panose="02010600030101010101" pitchFamily="2" charset="-122"/>
                      </a:rPr>
                      <m:t>𝝉</m:t>
                    </m:r>
                    <m:r>
                      <a:rPr lang="en-US" altLang="zh-CN" sz="2400" b="1" i="1" kern="1000" smtClean="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𝒛</m:t>
                        </m:r>
                      </m:e>
                      <m:sub>
                        <m:r>
                          <a:rPr lang="en-US" altLang="zh-CN" sz="2400" b="1" i="1" kern="1000" smtClean="0">
                            <a:effectLst/>
                            <a:latin typeface="Cambria Math" panose="02040503050406030204" pitchFamily="18" charset="0"/>
                            <a:ea typeface="宋体" panose="02010600030101010101" pitchFamily="2" charset="-122"/>
                          </a:rPr>
                          <m:t>𝟏</m:t>
                        </m:r>
                      </m:sub>
                    </m:sSub>
                    <m:r>
                      <a:rPr lang="en-US" altLang="zh-CN" sz="2400" b="1" i="1" kern="1000" smtClean="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𝑲</m:t>
                        </m:r>
                      </m:e>
                      <m:sub>
                        <m:r>
                          <a:rPr lang="en-US" altLang="zh-CN" sz="2400" b="1" i="1" kern="1000" smtClean="0">
                            <a:effectLst/>
                            <a:latin typeface="Cambria Math" panose="02040503050406030204" pitchFamily="18" charset="0"/>
                            <a:ea typeface="宋体" panose="02010600030101010101" pitchFamily="2" charset="-122"/>
                          </a:rPr>
                          <m:t>𝟐</m:t>
                        </m:r>
                      </m:sub>
                    </m:sSub>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𝒛</m:t>
                        </m:r>
                      </m:e>
                      <m:sub>
                        <m:r>
                          <a:rPr lang="en-US" altLang="zh-CN" sz="2400" b="1" i="1" kern="1000" smtClean="0">
                            <a:effectLst/>
                            <a:latin typeface="Cambria Math" panose="02040503050406030204" pitchFamily="18" charset="0"/>
                            <a:ea typeface="宋体" panose="02010600030101010101" pitchFamily="2" charset="-122"/>
                          </a:rPr>
                          <m:t>𝟐</m:t>
                        </m:r>
                      </m:sub>
                    </m:sSub>
                    <m:r>
                      <a:rPr lang="en-US" altLang="zh-CN" sz="2400" b="1" i="1" kern="1000" smtClean="0">
                        <a:effectLst/>
                        <a:latin typeface="Cambria Math" panose="02040503050406030204" pitchFamily="18" charset="0"/>
                        <a:ea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smtClean="0">
                                <a:effectLst/>
                                <a:latin typeface="Cambria Math" panose="02040503050406030204" pitchFamily="18" charset="0"/>
                                <a:ea typeface="宋体" panose="02010600030101010101" pitchFamily="2" charset="-122"/>
                              </a:rPr>
                              <m:t>𝑾</m:t>
                            </m:r>
                          </m:e>
                        </m:acc>
                      </m:e>
                      <m:sup>
                        <m:r>
                          <a:rPr lang="en-US" altLang="zh-CN" sz="2400" b="1" i="1" kern="1000" smtClean="0">
                            <a:effectLst/>
                            <a:latin typeface="Cambria Math" panose="02040503050406030204" pitchFamily="18" charset="0"/>
                            <a:ea typeface="宋体" panose="02010600030101010101" pitchFamily="2" charset="-122"/>
                          </a:rPr>
                          <m:t>𝑻</m:t>
                        </m:r>
                      </m:sup>
                    </m:sSup>
                    <m:r>
                      <a:rPr lang="en-US" altLang="zh-CN" sz="2400" b="1" i="1" kern="1000" smtClean="0">
                        <a:effectLst/>
                        <a:latin typeface="Cambria Math" panose="02040503050406030204" pitchFamily="18" charset="0"/>
                        <a:ea typeface="宋体" panose="02010600030101010101" pitchFamily="2" charset="-122"/>
                      </a:rPr>
                      <m:t>𝑺</m:t>
                    </m:r>
                    <m:r>
                      <a:rPr lang="en-US" altLang="zh-CN" sz="2400" b="1" i="1" kern="1000" smtClean="0">
                        <a:effectLst/>
                        <a:latin typeface="Cambria Math" panose="02040503050406030204" pitchFamily="18" charset="0"/>
                        <a:ea typeface="宋体" panose="02010600030101010101" pitchFamily="2" charset="-122"/>
                      </a:rPr>
                      <m:t>(</m:t>
                    </m:r>
                    <m:r>
                      <a:rPr lang="en-US" altLang="zh-CN" sz="2400" b="1" i="1" kern="1000" smtClean="0">
                        <a:effectLst/>
                        <a:latin typeface="Cambria Math" panose="02040503050406030204" pitchFamily="18" charset="0"/>
                        <a:ea typeface="宋体" panose="02010600030101010101" pitchFamily="2" charset="-122"/>
                      </a:rPr>
                      <m:t>𝒁</m:t>
                    </m:r>
                    <m:r>
                      <a:rPr lang="en-US" altLang="zh-CN" sz="2400" b="1" i="1" kern="1000" smtClean="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需要执行完整的状态反馈</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𝒙</m:t>
                        </m:r>
                      </m:e>
                      <m:sub>
                        <m:r>
                          <a:rPr lang="en-US" altLang="zh-CN" sz="2400" b="1" i="1" kern="1000" smtClean="0">
                            <a:effectLst/>
                            <a:latin typeface="Cambria Math" panose="02040503050406030204" pitchFamily="18" charset="0"/>
                            <a:ea typeface="宋体" panose="02010600030101010101" pitchFamily="2" charset="-122"/>
                          </a:rPr>
                          <m:t>𝟏</m:t>
                        </m:r>
                      </m:sub>
                    </m:sSub>
                    <m:r>
                      <a:rPr lang="en-US" altLang="zh-CN" sz="2400" b="1" i="1" kern="1000" smtClean="0">
                        <a:effectLst/>
                        <a:latin typeface="Cambria Math" panose="02040503050406030204" pitchFamily="18" charset="0"/>
                        <a:ea typeface="宋体" panose="02010600030101010101" pitchFamily="2" charset="-122"/>
                      </a:rPr>
                      <m:t>(</m:t>
                    </m:r>
                    <m:r>
                      <a:rPr lang="en-US" altLang="zh-CN" sz="2400" b="1" i="1" kern="1000" smtClean="0">
                        <a:effectLst/>
                        <a:latin typeface="Cambria Math" panose="02040503050406030204" pitchFamily="18" charset="0"/>
                        <a:ea typeface="宋体" panose="02010600030101010101" pitchFamily="2" charset="-122"/>
                      </a:rPr>
                      <m:t>𝒕</m:t>
                    </m:r>
                    <m:r>
                      <a:rPr lang="en-US" altLang="zh-CN" sz="2400" b="1" i="1" kern="1000" smtClean="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和</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𝒙</m:t>
                        </m:r>
                      </m:e>
                      <m:sub>
                        <m:r>
                          <a:rPr lang="en-US" altLang="zh-CN" sz="2400" b="1" i="1" kern="1000" smtClean="0">
                            <a:effectLst/>
                            <a:latin typeface="Cambria Math" panose="02040503050406030204" pitchFamily="18" charset="0"/>
                            <a:ea typeface="宋体" panose="02010600030101010101" pitchFamily="2" charset="-122"/>
                          </a:rPr>
                          <m:t>𝟐</m:t>
                        </m:r>
                      </m:sub>
                    </m:sSub>
                    <m:r>
                      <a:rPr lang="en-US" altLang="zh-CN" sz="2400" b="1" i="1" kern="1000" smtClean="0">
                        <a:effectLst/>
                        <a:latin typeface="Cambria Math" panose="02040503050406030204" pitchFamily="18" charset="0"/>
                        <a:ea typeface="宋体" panose="02010600030101010101" pitchFamily="2" charset="-122"/>
                      </a:rPr>
                      <m:t>(</m:t>
                    </m:r>
                    <m:r>
                      <a:rPr lang="en-US" altLang="zh-CN" sz="2400" b="1" i="1" kern="1000" smtClean="0">
                        <a:effectLst/>
                        <a:latin typeface="Cambria Math" panose="02040503050406030204" pitchFamily="18" charset="0"/>
                        <a:ea typeface="宋体" panose="02010600030101010101" pitchFamily="2" charset="-122"/>
                      </a:rPr>
                      <m:t>𝒕</m:t>
                    </m:r>
                    <m:r>
                      <a:rPr lang="en-US" altLang="zh-CN" sz="2400" b="1" i="1" kern="1000" smtClean="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。当</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𝒙</m:t>
                        </m:r>
                      </m:e>
                      <m:sub>
                        <m:r>
                          <a:rPr lang="en-US" altLang="zh-CN" sz="2400" b="1" i="1" kern="1000" smtClean="0">
                            <a:effectLst/>
                            <a:latin typeface="Cambria Math" panose="02040503050406030204" pitchFamily="18" charset="0"/>
                            <a:ea typeface="宋体" panose="02010600030101010101" pitchFamily="2" charset="-122"/>
                          </a:rPr>
                          <m:t>𝟐</m:t>
                        </m:r>
                      </m:sub>
                    </m:sSub>
                    <m:r>
                      <a:rPr lang="en-US" altLang="zh-CN" sz="2400" b="1" i="1" kern="1000" smtClean="0">
                        <a:effectLst/>
                        <a:latin typeface="Cambria Math" panose="02040503050406030204" pitchFamily="18" charset="0"/>
                        <a:ea typeface="宋体" panose="02010600030101010101" pitchFamily="2" charset="-122"/>
                      </a:rPr>
                      <m:t>(</m:t>
                    </m:r>
                    <m:r>
                      <a:rPr lang="en-US" altLang="zh-CN" sz="2400" b="1" i="1" kern="1000" smtClean="0">
                        <a:effectLst/>
                        <a:latin typeface="Cambria Math" panose="02040503050406030204" pitchFamily="18" charset="0"/>
                        <a:ea typeface="宋体" panose="02010600030101010101" pitchFamily="2" charset="-122"/>
                      </a:rPr>
                      <m:t>𝒕</m:t>
                    </m:r>
                    <m:r>
                      <a:rPr lang="en-US" altLang="zh-CN" sz="2400" b="1" i="1" kern="1000" smtClean="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不确定时，可以利用确定性、等价性和分离原理，引入了一种高增益观测器来估计</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𝒙</m:t>
                        </m:r>
                      </m:e>
                      <m:sub>
                        <m:r>
                          <a:rPr lang="en-US" altLang="zh-CN" sz="2400" b="1" i="1" kern="1000" smtClean="0">
                            <a:effectLst/>
                            <a:latin typeface="Cambria Math" panose="02040503050406030204" pitchFamily="18" charset="0"/>
                            <a:ea typeface="宋体" panose="02010600030101010101" pitchFamily="2" charset="-122"/>
                          </a:rPr>
                          <m:t>𝟐</m:t>
                        </m:r>
                      </m:sub>
                    </m:sSub>
                    <m:r>
                      <a:rPr lang="en-US" altLang="zh-CN" sz="2400" b="1" i="1" kern="1000" smtClean="0">
                        <a:effectLst/>
                        <a:latin typeface="Cambria Math" panose="02040503050406030204" pitchFamily="18" charset="0"/>
                        <a:ea typeface="宋体" panose="02010600030101010101" pitchFamily="2" charset="-122"/>
                      </a:rPr>
                      <m:t>(</m:t>
                    </m:r>
                    <m:r>
                      <a:rPr lang="en-US" altLang="zh-CN" sz="2400" b="1" i="1" kern="1000" smtClean="0">
                        <a:effectLst/>
                        <a:latin typeface="Cambria Math" panose="02040503050406030204" pitchFamily="18" charset="0"/>
                        <a:ea typeface="宋体" panose="02010600030101010101" pitchFamily="2" charset="-122"/>
                      </a:rPr>
                      <m:t>𝒕</m:t>
                    </m:r>
                    <m:r>
                      <a:rPr lang="en-US" altLang="zh-CN" sz="2400" b="1" i="1" kern="1000" smtClean="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a:t>
                </a:r>
              </a:p>
            </p:txBody>
          </p:sp>
        </mc:Choice>
        <mc:Fallback xmlns="">
          <p:sp>
            <p:nvSpPr>
              <p:cNvPr id="4" name="文本框 3">
                <a:extLst>
                  <a:ext uri="{FF2B5EF4-FFF2-40B4-BE49-F238E27FC236}">
                    <a16:creationId xmlns:a16="http://schemas.microsoft.com/office/drawing/2014/main" id="{211AAE3A-7564-3F71-B8BD-2A48B7ABE19D}"/>
                  </a:ext>
                </a:extLst>
              </p:cNvPr>
              <p:cNvSpPr txBox="1">
                <a:spLocks noRot="1" noChangeAspect="1" noMove="1" noResize="1" noEditPoints="1" noAdjustHandles="1" noChangeArrowheads="1" noChangeShapeType="1" noTextEdit="1"/>
              </p:cNvSpPr>
              <p:nvPr/>
            </p:nvSpPr>
            <p:spPr>
              <a:xfrm>
                <a:off x="1109662" y="1104047"/>
                <a:ext cx="9863137" cy="2102499"/>
              </a:xfrm>
              <a:prstGeom prst="rect">
                <a:avLst/>
              </a:prstGeom>
              <a:blipFill>
                <a:blip r:embed="rId3"/>
                <a:stretch>
                  <a:fillRect l="-927" t="-2319" r="-989" b="-57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B290AC9-5EFF-2C39-A37C-7A19BCF1A625}"/>
                  </a:ext>
                </a:extLst>
              </p:cNvPr>
              <p:cNvSpPr txBox="1"/>
              <p:nvPr/>
            </p:nvSpPr>
            <p:spPr>
              <a:xfrm>
                <a:off x="1109662" y="3371850"/>
                <a:ext cx="10377487" cy="2944717"/>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引理</a:t>
                </a:r>
                <a:r>
                  <a:rPr lang="en-US" altLang="zh-CN" sz="2400" b="1" kern="1000" dirty="0">
                    <a:effectLst/>
                    <a:latin typeface="微软雅黑" panose="020B0503020204020204" pitchFamily="34" charset="-122"/>
                    <a:ea typeface="微软雅黑" panose="020B0503020204020204" pitchFamily="34" charset="-122"/>
                  </a:rPr>
                  <a:t>1</a:t>
                </a:r>
                <a:r>
                  <a:rPr lang="zh-CN" altLang="zh-CN" sz="2400" b="1" kern="1000" dirty="0">
                    <a:effectLst/>
                    <a:latin typeface="微软雅黑" panose="020B0503020204020204" pitchFamily="34" charset="-122"/>
                    <a:ea typeface="微软雅黑" panose="020B0503020204020204" pitchFamily="34" charset="-122"/>
                  </a:rPr>
                  <a:t>：假设一个系统输出</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𝒚</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𝒕</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及其前</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𝒏</m:t>
                    </m:r>
                  </m:oMath>
                </a14:m>
                <a:r>
                  <a:rPr lang="zh-CN" altLang="zh-CN" sz="2400" b="1" kern="1000" dirty="0">
                    <a:effectLst/>
                    <a:latin typeface="微软雅黑" panose="020B0503020204020204" pitchFamily="34" charset="-122"/>
                    <a:ea typeface="微软雅黑" panose="020B0503020204020204" pitchFamily="34" charset="-122"/>
                  </a:rPr>
                  <a:t>阶导数有界，使得</a:t>
                </a:r>
                <a14:m>
                  <m:oMath xmlns:m="http://schemas.openxmlformats.org/officeDocument/2006/math">
                    <m:d>
                      <m:dPr>
                        <m:begChr m:val="|"/>
                        <m:endChr m:val="|"/>
                        <m:ctrlPr>
                          <a:rPr lang="zh-CN" altLang="zh-CN" sz="2400" b="1" i="1" kern="1000">
                            <a:effectLst/>
                            <a:latin typeface="Cambria Math" panose="02040503050406030204" pitchFamily="18" charset="0"/>
                            <a:ea typeface="Cambria Math" panose="02040503050406030204" pitchFamily="18" charset="0"/>
                          </a:rPr>
                        </m:ctrlPr>
                      </m:dPr>
                      <m:e>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𝒚</m:t>
                            </m:r>
                          </m:e>
                          <m:sup>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𝒌</m:t>
                            </m:r>
                            <m:r>
                              <a:rPr lang="en-US" altLang="zh-CN" sz="2400" b="1" i="1" kern="1000">
                                <a:effectLst/>
                                <a:latin typeface="Cambria Math" panose="02040503050406030204" pitchFamily="18" charset="0"/>
                                <a:ea typeface="宋体" panose="02010600030101010101" pitchFamily="2" charset="-122"/>
                              </a:rPr>
                              <m:t>)</m:t>
                            </m:r>
                          </m:sup>
                        </m:sSup>
                      </m:e>
                    </m:d>
                    <m:r>
                      <a:rPr lang="en-US" altLang="zh-CN" sz="2400" b="1" i="1" kern="1000">
                        <a:effectLst/>
                        <a:latin typeface="Cambria Math" panose="02040503050406030204" pitchFamily="18" charset="0"/>
                        <a:ea typeface="宋体" panose="02010600030101010101" pitchFamily="2" charset="-122"/>
                      </a:rPr>
                      <m:t>&lt;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𝒀</m:t>
                        </m:r>
                      </m:e>
                      <m:sub>
                        <m:r>
                          <a:rPr lang="en-US" altLang="zh-CN" sz="2400" b="1" i="1" kern="1000">
                            <a:effectLst/>
                            <a:latin typeface="Cambria Math" panose="02040503050406030204" pitchFamily="18" charset="0"/>
                            <a:ea typeface="宋体" panose="02010600030101010101" pitchFamily="2" charset="-122"/>
                          </a:rPr>
                          <m:t>𝑲</m:t>
                        </m:r>
                      </m:sub>
                    </m:sSub>
                  </m:oMath>
                </a14:m>
                <a:r>
                  <a:rPr lang="zh-CN" altLang="zh-CN" sz="2400" b="1" kern="1000" dirty="0">
                    <a:effectLst/>
                    <a:latin typeface="微软雅黑" panose="020B0503020204020204" pitchFamily="34" charset="-122"/>
                    <a:ea typeface="微软雅黑" panose="020B0503020204020204" pitchFamily="34" charset="-122"/>
                  </a:rPr>
                  <a:t>且常数</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𝒀</m:t>
                        </m:r>
                      </m:e>
                      <m:sub>
                        <m:r>
                          <a:rPr lang="en-US" altLang="zh-CN" sz="2400" b="1" i="1" kern="1000">
                            <a:effectLst/>
                            <a:latin typeface="Cambria Math" panose="02040503050406030204" pitchFamily="18" charset="0"/>
                            <a:ea typeface="宋体" panose="02010600030101010101" pitchFamily="2" charset="-122"/>
                          </a:rPr>
                          <m:t>𝑲</m:t>
                        </m:r>
                      </m:sub>
                    </m:sSub>
                  </m:oMath>
                </a14:m>
                <a:r>
                  <a:rPr lang="zh-CN" altLang="zh-CN" sz="2400" b="1" kern="1000" dirty="0">
                    <a:effectLst/>
                    <a:latin typeface="微软雅黑" panose="020B0503020204020204" pitchFamily="34" charset="-122"/>
                    <a:ea typeface="微软雅黑" panose="020B0503020204020204" pitchFamily="34" charset="-122"/>
                  </a:rPr>
                  <a:t>为正，可以考虑以下线性系统</a:t>
                </a:r>
              </a:p>
              <a:p>
                <a:pPr algn="just">
                  <a:spcBef>
                    <a:spcPts val="300"/>
                  </a:spcBef>
                  <a:spcAft>
                    <a:spcPts val="3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000" b="1" i="1" kern="1050">
                        <a:effectLst/>
                        <a:latin typeface="Cambria Math" panose="02040503050406030204" pitchFamily="18" charset="0"/>
                        <a:ea typeface="宋体" panose="02010600030101010101" pitchFamily="2" charset="-122"/>
                      </a:rPr>
                      <m:t>𝜺</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𝝅</m:t>
                            </m:r>
                          </m:e>
                        </m:acc>
                      </m:e>
                      <m:sub>
                        <m:r>
                          <a:rPr lang="en-US" altLang="zh-CN" sz="2000" b="1" i="1" kern="1050">
                            <a:effectLst/>
                            <a:latin typeface="Cambria Math" panose="02040503050406030204" pitchFamily="18" charset="0"/>
                            <a:ea typeface="宋体" panose="02010600030101010101" pitchFamily="2" charset="-122"/>
                          </a:rPr>
                          <m:t>𝒊</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𝝅</m:t>
                        </m:r>
                      </m:e>
                      <m:sub>
                        <m:r>
                          <a:rPr lang="en-US" altLang="zh-CN" sz="2000" b="1" i="1" kern="1050">
                            <a:effectLst/>
                            <a:latin typeface="Cambria Math" panose="02040503050406030204" pitchFamily="18" charset="0"/>
                            <a:ea typeface="宋体" panose="02010600030101010101" pitchFamily="2" charset="-122"/>
                          </a:rPr>
                          <m:t>𝒊</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𝒊</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𝒏</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oMath>
                </a14:m>
                <a:endParaRPr lang="zh-CN" altLang="zh-CN" sz="2000" b="1" kern="1050" dirty="0">
                  <a:effectLst/>
                  <a:latin typeface="微软雅黑" panose="020B0503020204020204" pitchFamily="34" charset="-122"/>
                  <a:ea typeface="微软雅黑" panose="020B0503020204020204" pitchFamily="34" charset="-122"/>
                </a:endParaRPr>
              </a:p>
              <a:p>
                <a:pPr algn="just">
                  <a:spcBef>
                    <a:spcPts val="300"/>
                  </a:spcBef>
                  <a:spcAft>
                    <a:spcPts val="3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000" b="1" i="1" kern="1050">
                        <a:effectLst/>
                        <a:latin typeface="Cambria Math" panose="02040503050406030204" pitchFamily="18" charset="0"/>
                        <a:ea typeface="宋体" panose="02010600030101010101" pitchFamily="2" charset="-122"/>
                      </a:rPr>
                      <m:t>𝜺</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𝝅</m:t>
                            </m:r>
                          </m:e>
                        </m:acc>
                      </m:e>
                      <m:sub>
                        <m:r>
                          <a:rPr lang="en-US" altLang="zh-CN" sz="2000" b="1" i="1" kern="1050">
                            <a:effectLst/>
                            <a:latin typeface="Cambria Math" panose="02040503050406030204" pitchFamily="18" charset="0"/>
                            <a:ea typeface="宋体" panose="02010600030101010101" pitchFamily="2" charset="-122"/>
                          </a:rPr>
                          <m:t>𝒏</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𝝀</m:t>
                            </m:r>
                          </m:e>
                        </m:acc>
                      </m:e>
                      <m:sub>
                        <m:r>
                          <a:rPr lang="en-US" altLang="zh-CN" sz="2000" b="1" i="1" kern="1050">
                            <a:effectLst/>
                            <a:latin typeface="Cambria Math" panose="02040503050406030204" pitchFamily="18" charset="0"/>
                            <a:ea typeface="宋体" panose="02010600030101010101" pitchFamily="2" charset="-122"/>
                          </a:rPr>
                          <m:t>𝟏</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𝝅</m:t>
                        </m:r>
                      </m:e>
                      <m:sub>
                        <m:r>
                          <a:rPr lang="en-US" altLang="zh-CN" sz="2000" b="1" i="1" kern="1050">
                            <a:effectLst/>
                            <a:latin typeface="Cambria Math" panose="02040503050406030204" pitchFamily="18" charset="0"/>
                            <a:ea typeface="宋体" panose="02010600030101010101" pitchFamily="2" charset="-122"/>
                          </a:rPr>
                          <m:t>𝒏</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𝝀</m:t>
                            </m:r>
                          </m:e>
                        </m:acc>
                      </m:e>
                      <m:sub>
                        <m:r>
                          <a:rPr lang="en-US" altLang="zh-CN" sz="2000" b="1" i="1" kern="1050">
                            <a:effectLst/>
                            <a:latin typeface="Cambria Math" panose="02040503050406030204" pitchFamily="18" charset="0"/>
                            <a:ea typeface="宋体" panose="02010600030101010101" pitchFamily="2" charset="-122"/>
                          </a:rPr>
                          <m:t>𝟐</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𝝅</m:t>
                        </m:r>
                      </m:e>
                      <m:sub>
                        <m:r>
                          <a:rPr lang="en-US" altLang="zh-CN" sz="2000" b="1" i="1" kern="1050">
                            <a:effectLst/>
                            <a:latin typeface="Cambria Math" panose="02040503050406030204" pitchFamily="18" charset="0"/>
                            <a:ea typeface="宋体" panose="02010600030101010101" pitchFamily="2" charset="-122"/>
                          </a:rPr>
                          <m:t>𝒏</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r>
                      <a:rPr lang="zh-CN" altLang="zh-CN" sz="2000" b="1" i="1" kern="1050">
                        <a:effectLst/>
                        <a:latin typeface="Cambria Math" panose="02040503050406030204" pitchFamily="18" charset="0"/>
                        <a:ea typeface="MS Gothic" panose="020B0609070205080204" pitchFamily="49" charset="-128"/>
                        <a:cs typeface="MS Gothic" panose="020B0609070205080204" pitchFamily="49" charset="-128"/>
                      </a:rPr>
                      <m:t>⋯</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𝝀</m:t>
                            </m:r>
                          </m:e>
                        </m:acc>
                      </m:e>
                      <m:sub>
                        <m:r>
                          <a:rPr lang="en-US" altLang="zh-CN" sz="2000" b="1" i="1" kern="1050">
                            <a:effectLst/>
                            <a:latin typeface="Cambria Math" panose="02040503050406030204" pitchFamily="18" charset="0"/>
                            <a:ea typeface="宋体" panose="02010600030101010101" pitchFamily="2" charset="-122"/>
                          </a:rPr>
                          <m:t>𝒏</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𝝅</m:t>
                        </m:r>
                      </m:e>
                      <m:sub>
                        <m:r>
                          <a:rPr lang="en-US" altLang="zh-CN" sz="2000" b="1" i="1" kern="1050">
                            <a:effectLst/>
                            <a:latin typeface="Cambria Math" panose="02040503050406030204" pitchFamily="18" charset="0"/>
                            <a:ea typeface="宋体" panose="02010600030101010101" pitchFamily="2" charset="-122"/>
                          </a:rPr>
                          <m:t>𝟐</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𝝅</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𝒕</m:t>
                    </m:r>
                    <m:r>
                      <a:rPr lang="en-US" altLang="zh-CN" sz="2000" b="1" i="1" kern="105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(7.51)</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这里的</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𝜺</m:t>
                    </m:r>
                  </m:oMath>
                </a14:m>
                <a:r>
                  <a:rPr lang="zh-CN" altLang="zh-CN" sz="2400" b="1" kern="1000" dirty="0">
                    <a:effectLst/>
                    <a:latin typeface="微软雅黑" panose="020B0503020204020204" pitchFamily="34" charset="-122"/>
                    <a:ea typeface="微软雅黑" panose="020B0503020204020204" pitchFamily="34" charset="-122"/>
                  </a:rPr>
                  <a:t>是任意小的正常数，参数</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𝝀</m:t>
                            </m:r>
                          </m:e>
                        </m:acc>
                      </m:e>
                      <m:sub>
                        <m:r>
                          <a:rPr lang="en-US" altLang="zh-CN" sz="2400" b="1" i="1" kern="1000">
                            <a:effectLst/>
                            <a:latin typeface="Cambria Math" panose="02040503050406030204" pitchFamily="18" charset="0"/>
                            <a:ea typeface="宋体" panose="02010600030101010101" pitchFamily="2" charset="-122"/>
                          </a:rPr>
                          <m:t>𝟏</m:t>
                        </m:r>
                      </m:sub>
                    </m:sSub>
                  </m:oMath>
                </a14:m>
                <a:r>
                  <a:rPr lang="en-US" altLang="zh-CN" sz="2400" b="1" kern="1000" dirty="0">
                    <a:effectLst/>
                    <a:latin typeface="微软雅黑" panose="020B0503020204020204" pitchFamily="34" charset="-122"/>
                    <a:ea typeface="微软雅黑" panose="020B0503020204020204" pitchFamily="34" charset="-122"/>
                  </a:rPr>
                  <a:t>,</a:t>
                </a:r>
                <a:r>
                  <a:rPr lang="zh-CN" altLang="zh-CN" sz="2400" b="1" kern="1000" dirty="0">
                    <a:effectLst/>
                    <a:latin typeface="微软雅黑" panose="020B0503020204020204" pitchFamily="34" charset="-122"/>
                    <a:ea typeface="微软雅黑" panose="020B0503020204020204" pitchFamily="34" charset="-122"/>
                  </a:rPr>
                  <a:t>…</a:t>
                </a:r>
                <a:r>
                  <a:rPr lang="en-US"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𝝀</m:t>
                            </m:r>
                          </m:e>
                        </m:acc>
                      </m:e>
                      <m:sub>
                        <m:r>
                          <a:rPr lang="en-US" altLang="zh-CN" sz="2400" b="1" i="1" kern="1000">
                            <a:effectLst/>
                            <a:latin typeface="Cambria Math" panose="02040503050406030204" pitchFamily="18" charset="0"/>
                            <a:ea typeface="宋体" panose="02010600030101010101" pitchFamily="2" charset="-122"/>
                          </a:rPr>
                          <m:t>𝒏</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𝟏</m:t>
                        </m:r>
                      </m:sub>
                    </m:sSub>
                  </m:oMath>
                </a14:m>
                <a:r>
                  <a:rPr lang="zh-CN" altLang="zh-CN" sz="2400" b="1" kern="1000" dirty="0">
                    <a:effectLst/>
                    <a:latin typeface="微软雅黑" panose="020B0503020204020204" pitchFamily="34" charset="-122"/>
                    <a:ea typeface="微软雅黑" panose="020B0503020204020204" pitchFamily="34" charset="-122"/>
                  </a:rPr>
                  <a:t>是从赫尔维茨多项式</a:t>
                </a:r>
                <a14:m>
                  <m:oMath xmlns:m="http://schemas.openxmlformats.org/officeDocument/2006/math">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𝒔</m:t>
                        </m:r>
                      </m:e>
                      <m:sup>
                        <m:r>
                          <a:rPr lang="en-US" altLang="zh-CN" sz="2400" b="1" i="1" kern="1000">
                            <a:effectLst/>
                            <a:latin typeface="Cambria Math" panose="02040503050406030204" pitchFamily="18" charset="0"/>
                            <a:ea typeface="宋体" panose="02010600030101010101" pitchFamily="2" charset="-122"/>
                          </a:rPr>
                          <m:t>𝒏</m:t>
                        </m:r>
                      </m:sup>
                    </m:sSup>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𝝀</m:t>
                            </m:r>
                          </m:e>
                        </m:acc>
                      </m:e>
                      <m:sub>
                        <m:r>
                          <a:rPr lang="en-US" altLang="zh-CN" sz="2400" b="1" i="1" kern="1000">
                            <a:effectLst/>
                            <a:latin typeface="Cambria Math" panose="02040503050406030204" pitchFamily="18" charset="0"/>
                            <a:ea typeface="宋体" panose="02010600030101010101" pitchFamily="2" charset="-122"/>
                          </a:rPr>
                          <m:t>𝟏</m:t>
                        </m:r>
                      </m:sub>
                    </m:sSub>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𝒔</m:t>
                        </m:r>
                      </m:e>
                      <m:sup>
                        <m:r>
                          <a:rPr lang="en-US" altLang="zh-CN" sz="2400" b="1" i="1" kern="1000">
                            <a:effectLst/>
                            <a:latin typeface="Cambria Math" panose="02040503050406030204" pitchFamily="18" charset="0"/>
                            <a:ea typeface="宋体" panose="02010600030101010101" pitchFamily="2" charset="-122"/>
                          </a:rPr>
                          <m:t>𝒏</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𝟏</m:t>
                        </m:r>
                      </m:sup>
                    </m:sSup>
                    <m:r>
                      <a:rPr lang="en-US" altLang="zh-CN" sz="2400" b="1" i="1" kern="1000">
                        <a:effectLst/>
                        <a:latin typeface="Cambria Math" panose="02040503050406030204" pitchFamily="18" charset="0"/>
                        <a:ea typeface="宋体" panose="02010600030101010101" pitchFamily="2" charset="-122"/>
                      </a:rPr>
                      <m:t>+</m:t>
                    </m:r>
                    <m:r>
                      <a:rPr lang="zh-CN" altLang="zh-CN" sz="2400" b="1" i="1" kern="1000">
                        <a:effectLst/>
                        <a:latin typeface="Cambria Math" panose="02040503050406030204" pitchFamily="18" charset="0"/>
                        <a:ea typeface="MS Gothic" panose="020B0609070205080204" pitchFamily="49" charset="-128"/>
                        <a:cs typeface="MS Gothic" panose="020B0609070205080204" pitchFamily="49" charset="-128"/>
                      </a:rPr>
                      <m:t>⋯</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𝝀</m:t>
                            </m:r>
                          </m:e>
                        </m:acc>
                      </m:e>
                      <m:sub>
                        <m:r>
                          <a:rPr lang="en-US" altLang="zh-CN" sz="2400" b="1" i="1" kern="1000">
                            <a:effectLst/>
                            <a:latin typeface="Cambria Math" panose="02040503050406030204" pitchFamily="18" charset="0"/>
                            <a:ea typeface="宋体" panose="02010600030101010101" pitchFamily="2" charset="-122"/>
                          </a:rPr>
                          <m:t>𝒏</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𝟏</m:t>
                        </m:r>
                      </m:sub>
                    </m:sSub>
                    <m:r>
                      <a:rPr lang="en-US" altLang="zh-CN" sz="2400" b="1" i="1" kern="1000">
                        <a:effectLst/>
                        <a:latin typeface="Cambria Math" panose="02040503050406030204" pitchFamily="18" charset="0"/>
                        <a:ea typeface="宋体" panose="02010600030101010101" pitchFamily="2" charset="-122"/>
                      </a:rPr>
                      <m:t>𝒔</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𝟏</m:t>
                    </m:r>
                  </m:oMath>
                </a14:m>
                <a:r>
                  <a:rPr lang="zh-CN" altLang="zh-CN" sz="2400" b="1" kern="1000" dirty="0">
                    <a:effectLst/>
                    <a:latin typeface="微软雅黑" panose="020B0503020204020204" pitchFamily="34" charset="-122"/>
                    <a:ea typeface="微软雅黑" panose="020B0503020204020204" pitchFamily="34" charset="-122"/>
                  </a:rPr>
                  <a:t>中选择的，有以下性质</a:t>
                </a:r>
              </a:p>
              <a:p>
                <a:pPr algn="just">
                  <a:spcBef>
                    <a:spcPts val="300"/>
                  </a:spcBef>
                  <a:spcAft>
                    <a:spcPts val="3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𝝃</m:t>
                        </m:r>
                      </m:e>
                      <m:sub>
                        <m:r>
                          <a:rPr lang="en-US" altLang="zh-CN" sz="2000" b="1" i="1" kern="1050">
                            <a:effectLst/>
                            <a:latin typeface="Cambria Math" panose="02040503050406030204" pitchFamily="18" charset="0"/>
                            <a:ea typeface="宋体" panose="02010600030101010101" pitchFamily="2" charset="-122"/>
                          </a:rPr>
                          <m:t>𝒌</m:t>
                        </m:r>
                      </m:sub>
                    </m:sSub>
                    <m:r>
                      <a:rPr lang="en-US" altLang="zh-CN" sz="2000" b="1" i="1" kern="105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𝝅</m:t>
                            </m:r>
                          </m:e>
                          <m:sub>
                            <m:r>
                              <a:rPr lang="en-US" altLang="zh-CN" sz="2000" b="1" i="1" kern="1050">
                                <a:effectLst/>
                                <a:latin typeface="Cambria Math" panose="02040503050406030204" pitchFamily="18" charset="0"/>
                                <a:ea typeface="宋体" panose="02010600030101010101" pitchFamily="2" charset="-122"/>
                              </a:rPr>
                              <m:t>𝒌</m:t>
                            </m:r>
                          </m:sub>
                        </m:sSub>
                      </m:num>
                      <m:den>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𝜺</m:t>
                            </m:r>
                          </m:e>
                          <m:sup>
                            <m:r>
                              <a:rPr lang="en-US" altLang="zh-CN" sz="2000" b="1" i="1" kern="1050">
                                <a:effectLst/>
                                <a:latin typeface="Cambria Math" panose="02040503050406030204" pitchFamily="18" charset="0"/>
                                <a:ea typeface="宋体" panose="02010600030101010101" pitchFamily="2" charset="-122"/>
                              </a:rPr>
                              <m:t>𝒌</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sup>
                        </m:sSup>
                      </m:den>
                    </m:f>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𝟏</m:t>
                            </m:r>
                          </m:sub>
                        </m:sSub>
                      </m:e>
                      <m: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𝒌</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r>
                          <a:rPr lang="en-US" altLang="zh-CN" sz="2000" b="1" i="1" kern="1050">
                            <a:effectLst/>
                            <a:latin typeface="Cambria Math" panose="02040503050406030204" pitchFamily="18" charset="0"/>
                            <a:ea typeface="宋体" panose="02010600030101010101" pitchFamily="2" charset="-122"/>
                          </a:rPr>
                          <m:t>)</m:t>
                        </m:r>
                      </m:sup>
                    </m:s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𝜺</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𝝍</m:t>
                        </m:r>
                      </m:e>
                      <m: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𝒌</m:t>
                        </m:r>
                        <m:r>
                          <a:rPr lang="en-US" altLang="zh-CN" sz="2000" b="1" i="1" kern="1050">
                            <a:effectLst/>
                            <a:latin typeface="Cambria Math" panose="02040503050406030204" pitchFamily="18" charset="0"/>
                            <a:ea typeface="宋体" panose="02010600030101010101" pitchFamily="2" charset="-122"/>
                          </a:rPr>
                          <m:t>)</m:t>
                        </m:r>
                      </m:sup>
                    </m:s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𝒌</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𝒏</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oMath>
                </a14:m>
                <a:r>
                  <a:rPr lang="en-US" altLang="zh-CN" sz="2000" b="1" kern="1050" dirty="0">
                    <a:effectLst/>
                    <a:latin typeface="微软雅黑" panose="020B0503020204020204" pitchFamily="34" charset="-122"/>
                    <a:ea typeface="微软雅黑" panose="020B0503020204020204" pitchFamily="34" charset="-122"/>
                  </a:rPr>
                  <a:t>	            (7.52)</a:t>
                </a:r>
                <a:endParaRPr lang="zh-CN" altLang="zh-CN" sz="2000" b="1" kern="1050" dirty="0">
                  <a:effectLst/>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0B290AC9-5EFF-2C39-A37C-7A19BCF1A625}"/>
                  </a:ext>
                </a:extLst>
              </p:cNvPr>
              <p:cNvSpPr txBox="1">
                <a:spLocks noRot="1" noChangeAspect="1" noMove="1" noResize="1" noEditPoints="1" noAdjustHandles="1" noChangeArrowheads="1" noChangeShapeType="1" noTextEdit="1"/>
              </p:cNvSpPr>
              <p:nvPr/>
            </p:nvSpPr>
            <p:spPr>
              <a:xfrm>
                <a:off x="1109662" y="3371850"/>
                <a:ext cx="10377487" cy="2944717"/>
              </a:xfrm>
              <a:prstGeom prst="rect">
                <a:avLst/>
              </a:prstGeom>
              <a:blipFill>
                <a:blip r:embed="rId4"/>
                <a:stretch>
                  <a:fillRect l="-881" t="-828" r="-94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1618635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6BD8D5FE-A77D-0F28-E7E7-AF050296F4EA}"/>
                  </a:ext>
                </a:extLst>
              </p:cNvPr>
              <p:cNvSpPr txBox="1"/>
              <p:nvPr/>
            </p:nvSpPr>
            <p:spPr>
              <a:xfrm>
                <a:off x="619125" y="1257300"/>
                <a:ext cx="10315575" cy="3014030"/>
              </a:xfrm>
              <a:prstGeom prst="rect">
                <a:avLst/>
              </a:prstGeom>
              <a:noFill/>
            </p:spPr>
            <p:txBody>
              <a:bodyPr wrap="square">
                <a:spAutoFit/>
              </a:bodyPr>
              <a:lstStyle/>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这里的</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𝝍</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𝝅</m:t>
                        </m:r>
                      </m:e>
                      <m:sub>
                        <m:r>
                          <a:rPr lang="en-US" altLang="zh-CN" sz="2400" b="1" i="1" kern="1000">
                            <a:effectLst/>
                            <a:latin typeface="Cambria Math" panose="02040503050406030204" pitchFamily="18" charset="0"/>
                            <a:ea typeface="宋体" panose="02010600030101010101" pitchFamily="2" charset="-122"/>
                          </a:rPr>
                          <m:t>𝒏</m:t>
                        </m:r>
                      </m:sub>
                    </m:sSub>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𝝀</m:t>
                            </m:r>
                          </m:e>
                        </m:acc>
                      </m:e>
                      <m:sub>
                        <m:r>
                          <a:rPr lang="en-US" altLang="zh-CN" sz="2400" b="1" i="1" kern="1000">
                            <a:effectLst/>
                            <a:latin typeface="Cambria Math" panose="02040503050406030204" pitchFamily="18" charset="0"/>
                            <a:ea typeface="宋体" panose="02010600030101010101" pitchFamily="2" charset="-122"/>
                          </a:rPr>
                          <m:t>𝟏</m:t>
                        </m:r>
                      </m:sub>
                    </m:sSub>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𝝅</m:t>
                        </m:r>
                      </m:e>
                      <m:sub>
                        <m:r>
                          <a:rPr lang="en-US" altLang="zh-CN" sz="2400" b="1" i="1" kern="1000">
                            <a:effectLst/>
                            <a:latin typeface="Cambria Math" panose="02040503050406030204" pitchFamily="18" charset="0"/>
                            <a:ea typeface="宋体" panose="02010600030101010101" pitchFamily="2" charset="-122"/>
                          </a:rPr>
                          <m:t>𝒏</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𝟏</m:t>
                        </m:r>
                      </m:sub>
                    </m:sSub>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𝝀</m:t>
                            </m:r>
                          </m:e>
                        </m:acc>
                      </m:e>
                      <m:sub>
                        <m:r>
                          <a:rPr lang="en-US" altLang="zh-CN" sz="2400" b="1" i="1" kern="1000">
                            <a:effectLst/>
                            <a:latin typeface="Cambria Math" panose="02040503050406030204" pitchFamily="18" charset="0"/>
                            <a:ea typeface="宋体" panose="02010600030101010101" pitchFamily="2" charset="-122"/>
                          </a:rPr>
                          <m:t>𝒏</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𝟏</m:t>
                        </m:r>
                      </m:sub>
                    </m:sSub>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𝝅</m:t>
                        </m:r>
                      </m:e>
                      <m:sub>
                        <m:r>
                          <a:rPr lang="en-US" altLang="zh-CN" sz="2400" b="1" i="1" kern="1000">
                            <a:effectLst/>
                            <a:latin typeface="Cambria Math" panose="02040503050406030204" pitchFamily="18" charset="0"/>
                            <a:ea typeface="宋体" panose="02010600030101010101" pitchFamily="2" charset="-122"/>
                          </a:rPr>
                          <m:t>𝟏</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𝝍</m:t>
                        </m:r>
                      </m:e>
                      <m:sup>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𝒌</m:t>
                        </m:r>
                        <m:r>
                          <a:rPr lang="en-US" altLang="zh-CN" sz="2400" b="1" i="1" kern="1000">
                            <a:effectLst/>
                            <a:latin typeface="Cambria Math" panose="02040503050406030204" pitchFamily="18" charset="0"/>
                            <a:ea typeface="宋体" panose="02010600030101010101" pitchFamily="2" charset="-122"/>
                          </a:rPr>
                          <m:t>)</m:t>
                        </m:r>
                      </m:sup>
                    </m:sSup>
                  </m:oMath>
                </a14:m>
                <a:r>
                  <a:rPr lang="zh-CN" altLang="zh-CN" sz="2400" b="1" kern="1000" dirty="0">
                    <a:effectLst/>
                    <a:latin typeface="微软雅黑" panose="020B0503020204020204" pitchFamily="34" charset="-122"/>
                    <a:ea typeface="微软雅黑" panose="020B0503020204020204" pitchFamily="34" charset="-122"/>
                  </a:rPr>
                  <a:t>表示</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𝝍</m:t>
                    </m:r>
                  </m:oMath>
                </a14:m>
                <a:r>
                  <a:rPr lang="zh-CN" altLang="zh-CN" sz="2400" b="1" kern="1000" dirty="0">
                    <a:effectLst/>
                    <a:latin typeface="微软雅黑" panose="020B0503020204020204" pitchFamily="34" charset="-122"/>
                    <a:ea typeface="微软雅黑" panose="020B0503020204020204" pitchFamily="34" charset="-122"/>
                  </a:rPr>
                  <a:t>的</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𝒌</m:t>
                    </m:r>
                  </m:oMath>
                </a14:m>
                <a:r>
                  <a:rPr lang="zh-CN" altLang="zh-CN" sz="2400" b="1" kern="1000" dirty="0">
                    <a:effectLst/>
                    <a:latin typeface="微软雅黑" panose="020B0503020204020204" pitchFamily="34" charset="-122"/>
                    <a:ea typeface="微软雅黑" panose="020B0503020204020204" pitchFamily="34" charset="-122"/>
                  </a:rPr>
                  <a:t>阶导数。存在正常数</a:t>
                </a:r>
                <a14:m>
                  <m:oMath xmlns:m="http://schemas.openxmlformats.org/officeDocument/2006/math">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𝒕</m:t>
                        </m:r>
                      </m:e>
                      <m:sup>
                        <m:r>
                          <a:rPr lang="en-US" altLang="zh-CN" sz="2400" b="1" i="1" kern="1000">
                            <a:effectLst/>
                            <a:latin typeface="Cambria Math" panose="02040503050406030204" pitchFamily="18" charset="0"/>
                            <a:ea typeface="宋体" panose="02010600030101010101" pitchFamily="2" charset="-122"/>
                          </a:rPr>
                          <m:t>∗</m:t>
                        </m:r>
                      </m:sup>
                    </m:sSup>
                  </m:oMath>
                </a14:m>
                <a:r>
                  <a:rPr lang="zh-CN" altLang="zh-CN" sz="2400" b="1" kern="1000" dirty="0">
                    <a:effectLst/>
                    <a:latin typeface="微软雅黑" panose="020B0503020204020204" pitchFamily="34" charset="-122"/>
                    <a:ea typeface="微软雅黑" panose="020B0503020204020204" pitchFamily="34" charset="-122"/>
                  </a:rPr>
                  <a:t>和</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𝒉</m:t>
                        </m:r>
                      </m:e>
                      <m:sub>
                        <m:r>
                          <a:rPr lang="en-US" altLang="zh-CN" sz="2400" b="1" i="1" kern="1000">
                            <a:effectLst/>
                            <a:latin typeface="Cambria Math" panose="02040503050406030204" pitchFamily="18" charset="0"/>
                            <a:ea typeface="宋体" panose="02010600030101010101" pitchFamily="2" charset="-122"/>
                          </a:rPr>
                          <m:t>𝒌</m:t>
                        </m:r>
                      </m:sub>
                    </m:sSub>
                  </m:oMath>
                </a14:m>
                <a:r>
                  <a:rPr lang="zh-CN" altLang="zh-CN" sz="2400" b="1" kern="1000" dirty="0">
                    <a:effectLst/>
                    <a:latin typeface="微软雅黑" panose="020B0503020204020204" pitchFamily="34" charset="-122"/>
                    <a:ea typeface="微软雅黑" panose="020B0503020204020204" pitchFamily="34" charset="-122"/>
                  </a:rPr>
                  <a:t>，使得对于</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𝒕</m:t>
                    </m:r>
                    <m:r>
                      <a:rPr lang="en-US" altLang="zh-CN" sz="2400" b="1" i="1" kern="1000">
                        <a:effectLst/>
                        <a:latin typeface="Cambria Math" panose="02040503050406030204" pitchFamily="18" charset="0"/>
                        <a:ea typeface="宋体" panose="02010600030101010101" pitchFamily="2" charset="-122"/>
                      </a:rPr>
                      <m:t>&gt;</m:t>
                    </m:r>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𝒕</m:t>
                        </m:r>
                      </m:e>
                      <m:sup>
                        <m:r>
                          <a:rPr lang="en-US" altLang="zh-CN" sz="2400" b="1" i="1" kern="1000">
                            <a:effectLst/>
                            <a:latin typeface="Cambria Math" panose="02040503050406030204" pitchFamily="18" charset="0"/>
                            <a:ea typeface="宋体" panose="02010600030101010101" pitchFamily="2" charset="-122"/>
                          </a:rPr>
                          <m:t>∗</m:t>
                        </m:r>
                      </m:sup>
                    </m:sSup>
                  </m:oMath>
                </a14:m>
                <a:r>
                  <a:rPr lang="zh-CN" altLang="zh-CN" sz="2400" b="1" kern="1000" dirty="0">
                    <a:effectLst/>
                    <a:latin typeface="微软雅黑" panose="020B0503020204020204" pitchFamily="34" charset="-122"/>
                    <a:ea typeface="微软雅黑" panose="020B0503020204020204" pitchFamily="34" charset="-122"/>
                  </a:rPr>
                  <a:t>，有</a:t>
                </a:r>
                <a14:m>
                  <m:oMath xmlns:m="http://schemas.openxmlformats.org/officeDocument/2006/math">
                    <m:d>
                      <m:dPr>
                        <m:begChr m:val="‖"/>
                        <m:endChr m:val="‖"/>
                        <m:ctrlPr>
                          <a:rPr lang="zh-CN" altLang="zh-CN" sz="2400" b="1" i="1" kern="1000">
                            <a:effectLst/>
                            <a:latin typeface="Cambria Math" panose="02040503050406030204" pitchFamily="18" charset="0"/>
                            <a:ea typeface="Cambria Math" panose="02040503050406030204" pitchFamily="18" charset="0"/>
                          </a:rPr>
                        </m:ctrlPr>
                      </m:dPr>
                      <m:e>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𝝃</m:t>
                            </m:r>
                          </m:e>
                          <m:sub>
                            <m:r>
                              <a:rPr lang="en-US" altLang="zh-CN" sz="2400" b="1" i="1" kern="1000">
                                <a:effectLst/>
                                <a:latin typeface="Cambria Math" panose="02040503050406030204" pitchFamily="18" charset="0"/>
                                <a:ea typeface="宋体" panose="02010600030101010101" pitchFamily="2" charset="-122"/>
                              </a:rPr>
                              <m:t>𝒌</m:t>
                            </m:r>
                          </m:sub>
                        </m:sSub>
                      </m:e>
                    </m:d>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𝜺</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𝒉</m:t>
                        </m:r>
                      </m:e>
                      <m:sub>
                        <m:r>
                          <a:rPr lang="en-US" altLang="zh-CN" sz="2400" b="1" i="1" kern="1000">
                            <a:effectLst/>
                            <a:latin typeface="Cambria Math" panose="02040503050406030204" pitchFamily="18" charset="0"/>
                            <a:ea typeface="宋体" panose="02010600030101010101" pitchFamily="2" charset="-122"/>
                          </a:rPr>
                          <m:t>𝒌</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𝒌</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𝟏</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𝟐</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𝟑</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𝒏</m:t>
                    </m:r>
                  </m:oMath>
                </a14:m>
                <a:r>
                  <a:rPr lang="zh-CN" altLang="zh-CN" sz="2400" b="1" kern="1000" dirty="0">
                    <a:effectLst/>
                    <a:latin typeface="微软雅黑" panose="020B0503020204020204" pitchFamily="34" charset="-122"/>
                    <a:ea typeface="微软雅黑" panose="020B0503020204020204" pitchFamily="34" charset="-122"/>
                  </a:rPr>
                  <a:t>。</a:t>
                </a:r>
              </a:p>
              <a:p>
                <a:pPr algn="just"/>
                <a:r>
                  <a:rPr lang="en-US" altLang="zh-CN" sz="2400" b="1" kern="0" dirty="0">
                    <a:effectLst/>
                    <a:latin typeface="微软雅黑" panose="020B0503020204020204" pitchFamily="34" charset="-122"/>
                    <a:ea typeface="微软雅黑" panose="020B0503020204020204" pitchFamily="34" charset="-122"/>
                  </a:rPr>
                  <a:t>      </a:t>
                </a:r>
                <a:r>
                  <a:rPr lang="zh-CN" altLang="zh-CN" sz="2400" b="1" kern="0" dirty="0">
                    <a:effectLst/>
                    <a:latin typeface="微软雅黑" panose="020B0503020204020204" pitchFamily="34" charset="-122"/>
                    <a:ea typeface="微软雅黑" panose="020B0503020204020204" pitchFamily="34" charset="-122"/>
                  </a:rPr>
                  <a:t>由引理</a:t>
                </a:r>
                <a:r>
                  <a:rPr lang="en-US" altLang="zh-CN" sz="2400" b="1" kern="0" dirty="0">
                    <a:effectLst/>
                    <a:latin typeface="微软雅黑" panose="020B0503020204020204" pitchFamily="34" charset="-122"/>
                    <a:ea typeface="微软雅黑" panose="020B0503020204020204" pitchFamily="34" charset="-122"/>
                  </a:rPr>
                  <a:t>1</a:t>
                </a:r>
                <a:r>
                  <a:rPr lang="zh-CN" altLang="zh-CN" sz="2400" b="1" kern="0" dirty="0">
                    <a:effectLst/>
                    <a:latin typeface="微软雅黑" panose="020B0503020204020204" pitchFamily="34" charset="-122"/>
                    <a:ea typeface="微软雅黑" panose="020B0503020204020204" pitchFamily="34" charset="-122"/>
                  </a:rPr>
                  <a:t>可知，</a:t>
                </a:r>
                <a14:m>
                  <m:oMath xmlns:m="http://schemas.openxmlformats.org/officeDocument/2006/math">
                    <m:f>
                      <m:fPr>
                        <m:ctrlPr>
                          <a:rPr lang="zh-CN" altLang="zh-CN" sz="2400" b="1" i="1" kern="0">
                            <a:effectLst/>
                            <a:latin typeface="Cambria Math" panose="02040503050406030204" pitchFamily="18" charset="0"/>
                            <a:ea typeface="Cambria Math" panose="02040503050406030204" pitchFamily="18" charset="0"/>
                          </a:rPr>
                        </m:ctrlPr>
                      </m:fPr>
                      <m:num>
                        <m:sSub>
                          <m:sSubPr>
                            <m:ctrlPr>
                              <a:rPr lang="zh-CN" altLang="zh-CN" sz="2400" b="1" i="1" kern="0">
                                <a:effectLst/>
                                <a:latin typeface="Cambria Math" panose="02040503050406030204" pitchFamily="18" charset="0"/>
                                <a:ea typeface="Cambria Math" panose="02040503050406030204" pitchFamily="18" charset="0"/>
                              </a:rPr>
                            </m:ctrlPr>
                          </m:sSubPr>
                          <m:e>
                            <m:r>
                              <a:rPr lang="en-US" altLang="zh-CN" sz="2400" b="1" i="1" kern="0">
                                <a:effectLst/>
                                <a:latin typeface="Cambria Math" panose="02040503050406030204" pitchFamily="18" charset="0"/>
                                <a:ea typeface="宋体" panose="02010600030101010101" pitchFamily="2" charset="-122"/>
                              </a:rPr>
                              <m:t>𝝅</m:t>
                            </m:r>
                          </m:e>
                          <m:sub>
                            <m:r>
                              <a:rPr lang="en-US" altLang="zh-CN" sz="2400" b="1" i="1" kern="0">
                                <a:effectLst/>
                                <a:latin typeface="Cambria Math" panose="02040503050406030204" pitchFamily="18" charset="0"/>
                                <a:ea typeface="宋体" panose="02010600030101010101" pitchFamily="2" charset="-122"/>
                              </a:rPr>
                              <m:t>𝒌</m:t>
                            </m:r>
                            <m:r>
                              <a:rPr lang="en-US" altLang="zh-CN" sz="2400" b="1" i="1" kern="0">
                                <a:effectLst/>
                                <a:latin typeface="Cambria Math" panose="02040503050406030204" pitchFamily="18" charset="0"/>
                                <a:ea typeface="宋体" panose="02010600030101010101" pitchFamily="2" charset="-122"/>
                              </a:rPr>
                              <m:t>+</m:t>
                            </m:r>
                            <m:r>
                              <a:rPr lang="en-US" altLang="zh-CN" sz="2400" b="1" i="1" kern="0">
                                <a:effectLst/>
                                <a:latin typeface="Cambria Math" panose="02040503050406030204" pitchFamily="18" charset="0"/>
                                <a:ea typeface="宋体" panose="02010600030101010101" pitchFamily="2" charset="-122"/>
                              </a:rPr>
                              <m:t>𝟏</m:t>
                            </m:r>
                          </m:sub>
                        </m:sSub>
                      </m:num>
                      <m:den>
                        <m:sSup>
                          <m:sSupPr>
                            <m:ctrlPr>
                              <a:rPr lang="zh-CN" altLang="zh-CN" sz="2400" b="1" i="1" kern="0">
                                <a:effectLst/>
                                <a:latin typeface="Cambria Math" panose="02040503050406030204" pitchFamily="18" charset="0"/>
                                <a:ea typeface="Cambria Math" panose="02040503050406030204" pitchFamily="18" charset="0"/>
                              </a:rPr>
                            </m:ctrlPr>
                          </m:sSupPr>
                          <m:e>
                            <m:r>
                              <a:rPr lang="en-US" altLang="zh-CN" sz="2400" b="1" i="1" kern="0">
                                <a:effectLst/>
                                <a:latin typeface="Cambria Math" panose="02040503050406030204" pitchFamily="18" charset="0"/>
                                <a:ea typeface="宋体" panose="02010600030101010101" pitchFamily="2" charset="-122"/>
                              </a:rPr>
                              <m:t>𝜺</m:t>
                            </m:r>
                          </m:e>
                          <m:sup>
                            <m:r>
                              <a:rPr lang="en-US" altLang="zh-CN" sz="2400" b="1" i="1" kern="0">
                                <a:effectLst/>
                                <a:latin typeface="Cambria Math" panose="02040503050406030204" pitchFamily="18" charset="0"/>
                                <a:ea typeface="宋体" panose="02010600030101010101" pitchFamily="2" charset="-122"/>
                              </a:rPr>
                              <m:t>𝒌</m:t>
                            </m:r>
                          </m:sup>
                        </m:sSup>
                      </m:den>
                    </m:f>
                  </m:oMath>
                </a14:m>
                <a:r>
                  <a:rPr lang="zh-CN" altLang="zh-CN" sz="2400" b="1" kern="0" dirty="0">
                    <a:effectLst/>
                    <a:latin typeface="微软雅黑" panose="020B0503020204020204" pitchFamily="34" charset="-122"/>
                    <a:ea typeface="微软雅黑" panose="020B0503020204020204" pitchFamily="34" charset="-122"/>
                  </a:rPr>
                  <a:t>渐近收敛于</a:t>
                </a:r>
                <a14:m>
                  <m:oMath xmlns:m="http://schemas.openxmlformats.org/officeDocument/2006/math">
                    <m:sSup>
                      <m:sSupPr>
                        <m:ctrlPr>
                          <a:rPr lang="zh-CN" altLang="zh-CN" sz="2400" b="1" i="1" kern="0">
                            <a:effectLst/>
                            <a:latin typeface="Cambria Math" panose="02040503050406030204" pitchFamily="18" charset="0"/>
                            <a:ea typeface="Cambria Math" panose="02040503050406030204" pitchFamily="18" charset="0"/>
                          </a:rPr>
                        </m:ctrlPr>
                      </m:sSupPr>
                      <m:e>
                        <m:r>
                          <a:rPr lang="en-US" altLang="zh-CN" sz="2400" b="1" i="1" kern="0">
                            <a:effectLst/>
                            <a:latin typeface="Cambria Math" panose="02040503050406030204" pitchFamily="18" charset="0"/>
                            <a:ea typeface="宋体" panose="02010600030101010101" pitchFamily="2" charset="-122"/>
                          </a:rPr>
                          <m:t>𝜼</m:t>
                        </m:r>
                      </m:e>
                      <m:sup>
                        <m:r>
                          <a:rPr lang="en-US" altLang="zh-CN" sz="2400" b="1" i="1" kern="0">
                            <a:effectLst/>
                            <a:latin typeface="Cambria Math" panose="02040503050406030204" pitchFamily="18" charset="0"/>
                            <a:ea typeface="宋体" panose="02010600030101010101" pitchFamily="2" charset="-122"/>
                          </a:rPr>
                          <m:t>(</m:t>
                        </m:r>
                        <m:r>
                          <a:rPr lang="en-US" altLang="zh-CN" sz="2400" b="1" i="1" kern="0">
                            <a:effectLst/>
                            <a:latin typeface="Cambria Math" panose="02040503050406030204" pitchFamily="18" charset="0"/>
                            <a:ea typeface="宋体" panose="02010600030101010101" pitchFamily="2" charset="-122"/>
                          </a:rPr>
                          <m:t>𝒌</m:t>
                        </m:r>
                        <m:r>
                          <a:rPr lang="en-US" altLang="zh-CN" sz="2400" b="1" i="1" kern="0">
                            <a:effectLst/>
                            <a:latin typeface="Cambria Math" panose="02040503050406030204" pitchFamily="18" charset="0"/>
                            <a:ea typeface="宋体" panose="02010600030101010101" pitchFamily="2" charset="-122"/>
                          </a:rPr>
                          <m:t>)</m:t>
                        </m:r>
                      </m:sup>
                    </m:sSup>
                  </m:oMath>
                </a14:m>
                <a:r>
                  <a:rPr lang="zh-CN" altLang="zh-CN" sz="2400" b="1" kern="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0">
                            <a:effectLst/>
                            <a:latin typeface="Cambria Math" panose="02040503050406030204" pitchFamily="18" charset="0"/>
                            <a:ea typeface="Cambria Math" panose="02040503050406030204" pitchFamily="18" charset="0"/>
                          </a:rPr>
                        </m:ctrlPr>
                      </m:sSubPr>
                      <m:e>
                        <m:r>
                          <a:rPr lang="en-US" altLang="zh-CN" sz="2400" b="1" i="1" kern="0">
                            <a:effectLst/>
                            <a:latin typeface="Cambria Math" panose="02040503050406030204" pitchFamily="18" charset="0"/>
                            <a:ea typeface="宋体" panose="02010600030101010101" pitchFamily="2" charset="-122"/>
                          </a:rPr>
                          <m:t>𝒙</m:t>
                        </m:r>
                      </m:e>
                      <m:sub>
                        <m:r>
                          <a:rPr lang="en-US" altLang="zh-CN" sz="2400" b="1" i="1" kern="0">
                            <a:effectLst/>
                            <a:latin typeface="Cambria Math" panose="02040503050406030204" pitchFamily="18" charset="0"/>
                            <a:ea typeface="宋体" panose="02010600030101010101" pitchFamily="2" charset="-122"/>
                          </a:rPr>
                          <m:t>𝟐</m:t>
                        </m:r>
                      </m:sub>
                    </m:sSub>
                  </m:oMath>
                </a14:m>
                <a:r>
                  <a:rPr lang="zh-CN" altLang="zh-CN" sz="2400" b="1" kern="1000" dirty="0">
                    <a:effectLst/>
                    <a:latin typeface="微软雅黑" panose="020B0503020204020204" pitchFamily="34" charset="-122"/>
                    <a:ea typeface="微软雅黑" panose="020B0503020204020204" pitchFamily="34" charset="-122"/>
                  </a:rPr>
                  <a:t>的</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𝒌</m:t>
                    </m:r>
                  </m:oMath>
                </a14:m>
                <a:r>
                  <a:rPr lang="zh-CN" altLang="zh-CN" sz="2400" b="1" kern="0" dirty="0">
                    <a:effectLst/>
                    <a:latin typeface="微软雅黑" panose="020B0503020204020204" pitchFamily="34" charset="-122"/>
                    <a:ea typeface="微软雅黑" panose="020B0503020204020204" pitchFamily="34" charset="-122"/>
                  </a:rPr>
                  <a:t>阶导数，即</a:t>
                </a:r>
                <a14:m>
                  <m:oMath xmlns:m="http://schemas.openxmlformats.org/officeDocument/2006/math">
                    <m:sSub>
                      <m:sSubPr>
                        <m:ctrlPr>
                          <a:rPr lang="zh-CN" altLang="zh-CN" sz="2400" b="1" i="1" kern="0">
                            <a:effectLst/>
                            <a:latin typeface="Cambria Math" panose="02040503050406030204" pitchFamily="18" charset="0"/>
                            <a:ea typeface="Cambria Math" panose="02040503050406030204" pitchFamily="18" charset="0"/>
                          </a:rPr>
                        </m:ctrlPr>
                      </m:sSubPr>
                      <m:e>
                        <m:r>
                          <a:rPr lang="en-US" altLang="zh-CN" sz="2400" b="1" i="1" kern="0">
                            <a:effectLst/>
                            <a:latin typeface="Cambria Math" panose="02040503050406030204" pitchFamily="18" charset="0"/>
                            <a:ea typeface="宋体" panose="02010600030101010101" pitchFamily="2" charset="-122"/>
                          </a:rPr>
                          <m:t>𝝃</m:t>
                        </m:r>
                      </m:e>
                      <m:sub>
                        <m:r>
                          <a:rPr lang="en-US" altLang="zh-CN" sz="2400" b="1" i="1" kern="0">
                            <a:effectLst/>
                            <a:latin typeface="Cambria Math" panose="02040503050406030204" pitchFamily="18" charset="0"/>
                            <a:ea typeface="宋体" panose="02010600030101010101" pitchFamily="2" charset="-122"/>
                          </a:rPr>
                          <m:t>𝒌</m:t>
                        </m:r>
                      </m:sub>
                    </m:sSub>
                  </m:oMath>
                </a14:m>
                <a:r>
                  <a:rPr lang="zh-CN" altLang="zh-CN" sz="2400" b="1" kern="0" dirty="0">
                    <a:effectLst/>
                    <a:latin typeface="微软雅黑" panose="020B0503020204020204" pitchFamily="34" charset="-122"/>
                    <a:ea typeface="微软雅黑" panose="020B0503020204020204" pitchFamily="34" charset="-122"/>
                  </a:rPr>
                  <a:t>，收敛于零小时间常数且</a:t>
                </a:r>
                <a14:m>
                  <m:oMath xmlns:m="http://schemas.openxmlformats.org/officeDocument/2006/math">
                    <m:sSub>
                      <m:sSubPr>
                        <m:ctrlPr>
                          <a:rPr lang="zh-CN" altLang="zh-CN" sz="2400" b="1" i="1" kern="0">
                            <a:effectLst/>
                            <a:latin typeface="Cambria Math" panose="02040503050406030204" pitchFamily="18" charset="0"/>
                            <a:ea typeface="Cambria Math" panose="02040503050406030204" pitchFamily="18" charset="0"/>
                          </a:rPr>
                        </m:ctrlPr>
                      </m:sSubPr>
                      <m:e>
                        <m:r>
                          <a:rPr lang="en-US" altLang="zh-CN" sz="2400" b="1" i="1" kern="0">
                            <a:effectLst/>
                            <a:latin typeface="Cambria Math" panose="02040503050406030204" pitchFamily="18" charset="0"/>
                            <a:ea typeface="宋体" panose="02010600030101010101" pitchFamily="2" charset="-122"/>
                          </a:rPr>
                          <m:t>𝒙</m:t>
                        </m:r>
                      </m:e>
                      <m:sub>
                        <m:r>
                          <a:rPr lang="en-US" altLang="zh-CN" sz="2400" b="1" i="1" kern="0">
                            <a:effectLst/>
                            <a:latin typeface="Cambria Math" panose="02040503050406030204" pitchFamily="18" charset="0"/>
                            <a:ea typeface="宋体" panose="02010600030101010101" pitchFamily="2" charset="-122"/>
                          </a:rPr>
                          <m:t>𝟐</m:t>
                        </m:r>
                      </m:sub>
                    </m:sSub>
                  </m:oMath>
                </a14:m>
                <a:r>
                  <a:rPr lang="zh-CN" altLang="zh-CN" sz="2400" b="1" kern="0" dirty="0">
                    <a:effectLst/>
                    <a:latin typeface="微软雅黑" panose="020B0503020204020204" pitchFamily="34" charset="-122"/>
                    <a:ea typeface="微软雅黑" panose="020B0503020204020204" pitchFamily="34" charset="-122"/>
                  </a:rPr>
                  <a:t>及其</a:t>
                </a:r>
                <a14:m>
                  <m:oMath xmlns:m="http://schemas.openxmlformats.org/officeDocument/2006/math">
                    <m:r>
                      <a:rPr lang="en-US" altLang="zh-CN" sz="2400" b="1" i="1" kern="0">
                        <a:effectLst/>
                        <a:latin typeface="Cambria Math" panose="02040503050406030204" pitchFamily="18" charset="0"/>
                        <a:ea typeface="宋体" panose="02010600030101010101" pitchFamily="2" charset="-122"/>
                      </a:rPr>
                      <m:t>𝒌</m:t>
                    </m:r>
                  </m:oMath>
                </a14:m>
                <a:r>
                  <a:rPr lang="zh-CN" altLang="zh-CN" sz="2400" b="1" kern="0" dirty="0">
                    <a:effectLst/>
                    <a:latin typeface="微软雅黑" panose="020B0503020204020204" pitchFamily="34" charset="-122"/>
                    <a:ea typeface="微软雅黑" panose="020B0503020204020204" pitchFamily="34" charset="-122"/>
                  </a:rPr>
                  <a:t>阶导数是有界的。因此，</a:t>
                </a:r>
                <a14:m>
                  <m:oMath xmlns:m="http://schemas.openxmlformats.org/officeDocument/2006/math">
                    <m:f>
                      <m:fPr>
                        <m:ctrlPr>
                          <a:rPr lang="zh-CN" altLang="zh-CN" sz="2400" b="1" i="1" kern="0">
                            <a:effectLst/>
                            <a:latin typeface="Cambria Math" panose="02040503050406030204" pitchFamily="18" charset="0"/>
                            <a:ea typeface="Cambria Math" panose="02040503050406030204" pitchFamily="18" charset="0"/>
                          </a:rPr>
                        </m:ctrlPr>
                      </m:fPr>
                      <m:num>
                        <m:sSub>
                          <m:sSubPr>
                            <m:ctrlPr>
                              <a:rPr lang="zh-CN" altLang="zh-CN" sz="2400" b="1" i="1" kern="0">
                                <a:effectLst/>
                                <a:latin typeface="Cambria Math" panose="02040503050406030204" pitchFamily="18" charset="0"/>
                                <a:ea typeface="Cambria Math" panose="02040503050406030204" pitchFamily="18" charset="0"/>
                              </a:rPr>
                            </m:ctrlPr>
                          </m:sSubPr>
                          <m:e>
                            <m:r>
                              <a:rPr lang="en-US" altLang="zh-CN" sz="2400" b="1" i="1" kern="0">
                                <a:effectLst/>
                                <a:latin typeface="Cambria Math" panose="02040503050406030204" pitchFamily="18" charset="0"/>
                                <a:ea typeface="宋体" panose="02010600030101010101" pitchFamily="2" charset="-122"/>
                              </a:rPr>
                              <m:t>𝝅</m:t>
                            </m:r>
                          </m:e>
                          <m:sub>
                            <m:r>
                              <a:rPr lang="en-US" altLang="zh-CN" sz="2400" b="1" i="1" kern="0">
                                <a:effectLst/>
                                <a:latin typeface="Cambria Math" panose="02040503050406030204" pitchFamily="18" charset="0"/>
                                <a:ea typeface="宋体" panose="02010600030101010101" pitchFamily="2" charset="-122"/>
                              </a:rPr>
                              <m:t>𝒌</m:t>
                            </m:r>
                            <m:r>
                              <a:rPr lang="en-US" altLang="zh-CN" sz="2400" b="1" i="1" kern="0">
                                <a:effectLst/>
                                <a:latin typeface="Cambria Math" panose="02040503050406030204" pitchFamily="18" charset="0"/>
                                <a:ea typeface="宋体" panose="02010600030101010101" pitchFamily="2" charset="-122"/>
                              </a:rPr>
                              <m:t>+</m:t>
                            </m:r>
                            <m:r>
                              <a:rPr lang="en-US" altLang="zh-CN" sz="2400" b="1" i="1" kern="0">
                                <a:effectLst/>
                                <a:latin typeface="Cambria Math" panose="02040503050406030204" pitchFamily="18" charset="0"/>
                                <a:ea typeface="宋体" panose="02010600030101010101" pitchFamily="2" charset="-122"/>
                              </a:rPr>
                              <m:t>𝟏</m:t>
                            </m:r>
                          </m:sub>
                        </m:sSub>
                      </m:num>
                      <m:den>
                        <m:sSup>
                          <m:sSupPr>
                            <m:ctrlPr>
                              <a:rPr lang="zh-CN" altLang="zh-CN" sz="2400" b="1" i="1" kern="0">
                                <a:effectLst/>
                                <a:latin typeface="Cambria Math" panose="02040503050406030204" pitchFamily="18" charset="0"/>
                                <a:ea typeface="Cambria Math" panose="02040503050406030204" pitchFamily="18" charset="0"/>
                              </a:rPr>
                            </m:ctrlPr>
                          </m:sSupPr>
                          <m:e>
                            <m:r>
                              <a:rPr lang="en-US" altLang="zh-CN" sz="2400" b="1" i="1" kern="0">
                                <a:effectLst/>
                                <a:latin typeface="Cambria Math" panose="02040503050406030204" pitchFamily="18" charset="0"/>
                                <a:ea typeface="宋体" panose="02010600030101010101" pitchFamily="2" charset="-122"/>
                              </a:rPr>
                              <m:t>𝜺</m:t>
                            </m:r>
                          </m:e>
                          <m:sup>
                            <m:r>
                              <a:rPr lang="en-US" altLang="zh-CN" sz="2400" b="1" i="1" kern="0">
                                <a:effectLst/>
                                <a:latin typeface="Cambria Math" panose="02040503050406030204" pitchFamily="18" charset="0"/>
                                <a:ea typeface="宋体" panose="02010600030101010101" pitchFamily="2" charset="-122"/>
                              </a:rPr>
                              <m:t>𝒌</m:t>
                            </m:r>
                          </m:sup>
                        </m:sSup>
                      </m:den>
                    </m:f>
                  </m:oMath>
                </a14:m>
                <a:r>
                  <a:rPr lang="zh-CN" altLang="zh-CN" sz="2400" b="1" kern="0" dirty="0">
                    <a:effectLst/>
                    <a:latin typeface="微软雅黑" panose="020B0503020204020204" pitchFamily="34" charset="-122"/>
                    <a:ea typeface="微软雅黑" panose="020B0503020204020204" pitchFamily="34" charset="-122"/>
                  </a:rPr>
                  <a:t>适用于作为观察器估计输出的</a:t>
                </a:r>
                <a14:m>
                  <m:oMath xmlns:m="http://schemas.openxmlformats.org/officeDocument/2006/math">
                    <m:r>
                      <a:rPr lang="en-US" altLang="zh-CN" sz="2400" b="1" i="1" kern="0">
                        <a:effectLst/>
                        <a:latin typeface="Cambria Math" panose="02040503050406030204" pitchFamily="18" charset="0"/>
                        <a:ea typeface="宋体" panose="02010600030101010101" pitchFamily="2" charset="-122"/>
                      </a:rPr>
                      <m:t>𝒏</m:t>
                    </m:r>
                  </m:oMath>
                </a14:m>
                <a:r>
                  <a:rPr lang="zh-CN" altLang="zh-CN" sz="2400" b="1" kern="0" dirty="0">
                    <a:effectLst/>
                    <a:latin typeface="微软雅黑" panose="020B0503020204020204" pitchFamily="34" charset="-122"/>
                    <a:ea typeface="微软雅黑" panose="020B0503020204020204" pitchFamily="34" charset="-122"/>
                  </a:rPr>
                  <a:t>阶偏导数。系统的观测器设计为</a:t>
                </a:r>
                <a14:m>
                  <m:oMath xmlns:m="http://schemas.openxmlformats.org/officeDocument/2006/math">
                    <m:r>
                      <a:rPr lang="en-US" altLang="zh-CN" sz="2400" b="1" i="1" kern="0">
                        <a:effectLst/>
                        <a:latin typeface="Cambria Math" panose="02040503050406030204" pitchFamily="18" charset="0"/>
                        <a:ea typeface="宋体" panose="02010600030101010101" pitchFamily="2" charset="-122"/>
                      </a:rPr>
                      <m:t>𝒏</m:t>
                    </m:r>
                    <m:r>
                      <a:rPr lang="en-US" altLang="zh-CN" sz="2400" b="1" i="1" kern="0">
                        <a:effectLst/>
                        <a:latin typeface="Cambria Math" panose="02040503050406030204" pitchFamily="18" charset="0"/>
                        <a:ea typeface="宋体" panose="02010600030101010101" pitchFamily="2" charset="-122"/>
                      </a:rPr>
                      <m:t>=</m:t>
                    </m:r>
                    <m:r>
                      <a:rPr lang="en-US" altLang="zh-CN" sz="2400" b="1" i="1" kern="0">
                        <a:effectLst/>
                        <a:latin typeface="Cambria Math" panose="02040503050406030204" pitchFamily="18" charset="0"/>
                        <a:ea typeface="宋体" panose="02010600030101010101" pitchFamily="2" charset="-122"/>
                      </a:rPr>
                      <m:t>𝟐</m:t>
                    </m:r>
                  </m:oMath>
                </a14:m>
                <a:r>
                  <a:rPr lang="zh-CN" altLang="zh-CN" sz="2400" b="1" kern="0" dirty="0">
                    <a:effectLst/>
                    <a:latin typeface="微软雅黑" panose="020B0503020204020204" pitchFamily="34" charset="-122"/>
                    <a:ea typeface="微软雅黑" panose="020B0503020204020204" pitchFamily="34" charset="-122"/>
                  </a:rPr>
                  <a:t>，不可测状态向量</a:t>
                </a:r>
                <a14:m>
                  <m:oMath xmlns:m="http://schemas.openxmlformats.org/officeDocument/2006/math">
                    <m:sSub>
                      <m:sSubPr>
                        <m:ctrlPr>
                          <a:rPr lang="zh-CN" altLang="zh-CN" sz="2400" b="1" i="1" kern="0">
                            <a:effectLst/>
                            <a:latin typeface="Cambria Math" panose="02040503050406030204" pitchFamily="18" charset="0"/>
                            <a:ea typeface="Cambria Math" panose="02040503050406030204" pitchFamily="18" charset="0"/>
                          </a:rPr>
                        </m:ctrlPr>
                      </m:sSubPr>
                      <m:e>
                        <m:r>
                          <a:rPr lang="en-US" altLang="zh-CN" sz="2400" b="1" i="1" kern="0">
                            <a:effectLst/>
                            <a:latin typeface="Cambria Math" panose="02040503050406030204" pitchFamily="18" charset="0"/>
                            <a:ea typeface="宋体" panose="02010600030101010101" pitchFamily="2" charset="-122"/>
                          </a:rPr>
                          <m:t>𝒛</m:t>
                        </m:r>
                      </m:e>
                      <m:sub>
                        <m:r>
                          <a:rPr lang="en-US" altLang="zh-CN" sz="2400" b="1" i="1" kern="0">
                            <a:effectLst/>
                            <a:latin typeface="Cambria Math" panose="02040503050406030204" pitchFamily="18" charset="0"/>
                            <a:ea typeface="宋体" panose="02010600030101010101" pitchFamily="2" charset="-122"/>
                          </a:rPr>
                          <m:t>𝟐</m:t>
                        </m:r>
                      </m:sub>
                    </m:sSub>
                  </m:oMath>
                </a14:m>
                <a:r>
                  <a:rPr lang="zh-CN" altLang="zh-CN" sz="2400" b="1" kern="0" dirty="0">
                    <a:effectLst/>
                    <a:latin typeface="微软雅黑" panose="020B0503020204020204" pitchFamily="34" charset="-122"/>
                    <a:ea typeface="微软雅黑" panose="020B0503020204020204" pitchFamily="34" charset="-122"/>
                  </a:rPr>
                  <a:t>的估计可定义为</a:t>
                </a:r>
                <a:endParaRPr lang="zh-CN" altLang="zh-CN" sz="2400" b="1" kern="1000" dirty="0">
                  <a:effectLst/>
                  <a:latin typeface="微软雅黑" panose="020B0503020204020204" pitchFamily="34" charset="-122"/>
                  <a:ea typeface="微软雅黑" panose="020B0503020204020204" pitchFamily="34" charset="-122"/>
                </a:endParaRPr>
              </a:p>
              <a:p>
                <a:pPr algn="just">
                  <a:spcBef>
                    <a:spcPts val="300"/>
                  </a:spcBef>
                  <a:spcAft>
                    <a:spcPts val="3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0">
                            <a:effectLst/>
                            <a:latin typeface="Cambria Math" panose="02040503050406030204" pitchFamily="18" charset="0"/>
                            <a:ea typeface="Cambria Math" panose="02040503050406030204" pitchFamily="18" charset="0"/>
                          </a:rPr>
                        </m:ctrlPr>
                      </m:sSubPr>
                      <m:e>
                        <m:acc>
                          <m:accPr>
                            <m:chr m:val="̂"/>
                            <m:ctrlPr>
                              <a:rPr lang="zh-CN" altLang="zh-CN" sz="2000" b="1" i="1" kern="0">
                                <a:effectLst/>
                                <a:latin typeface="Cambria Math" panose="02040503050406030204" pitchFamily="18" charset="0"/>
                                <a:ea typeface="Cambria Math" panose="02040503050406030204" pitchFamily="18" charset="0"/>
                              </a:rPr>
                            </m:ctrlPr>
                          </m:accPr>
                          <m:e>
                            <m:r>
                              <a:rPr lang="en-US" altLang="zh-CN" sz="2000" b="1" i="1" kern="0">
                                <a:effectLst/>
                                <a:latin typeface="Cambria Math" panose="02040503050406030204" pitchFamily="18" charset="0"/>
                                <a:ea typeface="宋体" panose="02010600030101010101" pitchFamily="2" charset="-122"/>
                              </a:rPr>
                              <m:t>𝒛</m:t>
                            </m:r>
                          </m:e>
                        </m:acc>
                      </m:e>
                      <m:sub>
                        <m:r>
                          <a:rPr lang="en-US" altLang="zh-CN" sz="2000" b="1" i="1" kern="0">
                            <a:effectLst/>
                            <a:latin typeface="Cambria Math" panose="02040503050406030204" pitchFamily="18" charset="0"/>
                            <a:ea typeface="宋体" panose="02010600030101010101" pitchFamily="2" charset="-122"/>
                          </a:rPr>
                          <m:t>𝟐</m:t>
                        </m:r>
                      </m:sub>
                    </m:sSub>
                    <m:r>
                      <a:rPr lang="en-US" altLang="zh-CN" sz="2000" b="1" i="1" kern="0">
                        <a:effectLst/>
                        <a:latin typeface="Cambria Math" panose="02040503050406030204" pitchFamily="18" charset="0"/>
                        <a:ea typeface="宋体" panose="02010600030101010101" pitchFamily="2" charset="-122"/>
                      </a:rPr>
                      <m:t>=</m:t>
                    </m:r>
                    <m:f>
                      <m:fPr>
                        <m:ctrlPr>
                          <a:rPr lang="zh-CN" altLang="zh-CN" sz="2000" b="1" i="1" kern="0">
                            <a:effectLst/>
                            <a:latin typeface="Cambria Math" panose="02040503050406030204" pitchFamily="18" charset="0"/>
                            <a:ea typeface="Cambria Math" panose="02040503050406030204" pitchFamily="18" charset="0"/>
                          </a:rPr>
                        </m:ctrlPr>
                      </m:fPr>
                      <m:num>
                        <m:sSub>
                          <m:sSubPr>
                            <m:ctrlPr>
                              <a:rPr lang="zh-CN" altLang="zh-CN" sz="2000" b="1" i="1" kern="0">
                                <a:effectLst/>
                                <a:latin typeface="Cambria Math" panose="02040503050406030204" pitchFamily="18" charset="0"/>
                                <a:ea typeface="Cambria Math" panose="02040503050406030204" pitchFamily="18" charset="0"/>
                              </a:rPr>
                            </m:ctrlPr>
                          </m:sSubPr>
                          <m:e>
                            <m:r>
                              <a:rPr lang="en-US" altLang="zh-CN" sz="2000" b="1" i="1" kern="0">
                                <a:effectLst/>
                                <a:latin typeface="Cambria Math" panose="02040503050406030204" pitchFamily="18" charset="0"/>
                                <a:ea typeface="宋体" panose="02010600030101010101" pitchFamily="2" charset="-122"/>
                              </a:rPr>
                              <m:t>𝝅</m:t>
                            </m:r>
                          </m:e>
                          <m:sub>
                            <m:r>
                              <a:rPr lang="en-US" altLang="zh-CN" sz="2000" b="1" i="1" kern="0">
                                <a:effectLst/>
                                <a:latin typeface="Cambria Math" panose="02040503050406030204" pitchFamily="18" charset="0"/>
                                <a:ea typeface="宋体" panose="02010600030101010101" pitchFamily="2" charset="-122"/>
                              </a:rPr>
                              <m:t>𝟐</m:t>
                            </m:r>
                          </m:sub>
                        </m:sSub>
                      </m:num>
                      <m:den>
                        <m:r>
                          <a:rPr lang="en-US" altLang="zh-CN" sz="2000" b="1" i="1" kern="0">
                            <a:effectLst/>
                            <a:latin typeface="Cambria Math" panose="02040503050406030204" pitchFamily="18" charset="0"/>
                            <a:ea typeface="宋体" panose="02010600030101010101" pitchFamily="2" charset="-122"/>
                          </a:rPr>
                          <m:t>𝜺</m:t>
                        </m:r>
                      </m:den>
                    </m:f>
                    <m:r>
                      <a:rPr lang="en-US" altLang="zh-CN" sz="2000" b="1" i="1" kern="0">
                        <a:effectLst/>
                        <a:latin typeface="Cambria Math" panose="02040503050406030204" pitchFamily="18" charset="0"/>
                        <a:ea typeface="宋体" panose="02010600030101010101" pitchFamily="2" charset="-122"/>
                      </a:rPr>
                      <m:t>−</m:t>
                    </m:r>
                    <m:sSub>
                      <m:sSubPr>
                        <m:ctrlPr>
                          <a:rPr lang="zh-CN" altLang="zh-CN" sz="2000" b="1" i="1" kern="0">
                            <a:effectLst/>
                            <a:latin typeface="Cambria Math" panose="02040503050406030204" pitchFamily="18" charset="0"/>
                            <a:ea typeface="Cambria Math" panose="02040503050406030204" pitchFamily="18" charset="0"/>
                          </a:rPr>
                        </m:ctrlPr>
                      </m:sSubPr>
                      <m:e>
                        <m:r>
                          <a:rPr lang="en-US" altLang="zh-CN" sz="2000" b="1" i="1" kern="0">
                            <a:effectLst/>
                            <a:latin typeface="Cambria Math" panose="02040503050406030204" pitchFamily="18" charset="0"/>
                            <a:ea typeface="宋体" panose="02010600030101010101" pitchFamily="2" charset="-122"/>
                          </a:rPr>
                          <m:t>𝜶</m:t>
                        </m:r>
                      </m:e>
                      <m:sub>
                        <m:r>
                          <a:rPr lang="en-US" altLang="zh-CN" sz="2000" b="1" i="1" kern="0">
                            <a:effectLst/>
                            <a:latin typeface="Cambria Math" panose="02040503050406030204" pitchFamily="18" charset="0"/>
                            <a:ea typeface="宋体" panose="02010600030101010101" pitchFamily="2" charset="-122"/>
                          </a:rPr>
                          <m:t>𝟏</m:t>
                        </m:r>
                      </m:sub>
                    </m:sSub>
                  </m:oMath>
                </a14:m>
                <a:r>
                  <a:rPr lang="en-US" altLang="zh-CN" sz="2000" b="1" kern="1050" dirty="0">
                    <a:effectLst/>
                    <a:latin typeface="微软雅黑" panose="020B0503020204020204" pitchFamily="34" charset="-122"/>
                    <a:ea typeface="微软雅黑" panose="020B0503020204020204" pitchFamily="34" charset="-122"/>
                  </a:rPr>
                  <a:t>	                         (7.53)</a:t>
                </a:r>
                <a:endParaRPr lang="zh-CN" altLang="zh-CN" sz="2000" b="1" kern="1050" dirty="0">
                  <a:effectLst/>
                  <a:latin typeface="微软雅黑" panose="020B0503020204020204" pitchFamily="34" charset="-122"/>
                  <a:ea typeface="微软雅黑" panose="020B0503020204020204" pitchFamily="34" charset="-122"/>
                </a:endParaRPr>
              </a:p>
            </p:txBody>
          </p:sp>
        </mc:Choice>
        <mc:Fallback xmlns="">
          <p:sp>
            <p:nvSpPr>
              <p:cNvPr id="5" name="文本框 4">
                <a:extLst>
                  <a:ext uri="{FF2B5EF4-FFF2-40B4-BE49-F238E27FC236}">
                    <a16:creationId xmlns:a16="http://schemas.microsoft.com/office/drawing/2014/main" id="{6BD8D5FE-A77D-0F28-E7E7-AF050296F4EA}"/>
                  </a:ext>
                </a:extLst>
              </p:cNvPr>
              <p:cNvSpPr txBox="1">
                <a:spLocks noRot="1" noChangeAspect="1" noMove="1" noResize="1" noEditPoints="1" noAdjustHandles="1" noChangeArrowheads="1" noChangeShapeType="1" noTextEdit="1"/>
              </p:cNvSpPr>
              <p:nvPr/>
            </p:nvSpPr>
            <p:spPr>
              <a:xfrm>
                <a:off x="619125" y="1257300"/>
                <a:ext cx="10315575" cy="3014030"/>
              </a:xfrm>
              <a:prstGeom prst="rect">
                <a:avLst/>
              </a:prstGeom>
              <a:blipFill>
                <a:blip r:embed="rId3"/>
                <a:stretch>
                  <a:fillRect l="-946" t="-1010" r="-887" b="-4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C30A4A2-2A64-5BE0-2BAC-48B650EF297F}"/>
                  </a:ext>
                </a:extLst>
              </p:cNvPr>
              <p:cNvSpPr txBox="1"/>
              <p:nvPr/>
            </p:nvSpPr>
            <p:spPr>
              <a:xfrm>
                <a:off x="669131" y="4375577"/>
                <a:ext cx="10215562" cy="2217787"/>
              </a:xfrm>
              <a:prstGeom prst="rect">
                <a:avLst/>
              </a:prstGeom>
              <a:noFill/>
            </p:spPr>
            <p:txBody>
              <a:bodyPr wrap="square">
                <a:spAutoFit/>
              </a:bodyPr>
              <a:lstStyle/>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在全状态反馈的情况下，可通过修改控制律</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𝝉</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𝒛</m:t>
                        </m:r>
                      </m:e>
                      <m:sub>
                        <m:r>
                          <a:rPr lang="en-US" altLang="zh-CN" sz="2400" b="1" i="1" kern="1000">
                            <a:effectLst/>
                            <a:latin typeface="Cambria Math" panose="02040503050406030204" pitchFamily="18" charset="0"/>
                            <a:ea typeface="宋体" panose="02010600030101010101" pitchFamily="2" charset="-122"/>
                          </a:rPr>
                          <m:t>𝟏</m:t>
                        </m:r>
                      </m:sub>
                    </m:sSub>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𝑲</m:t>
                        </m:r>
                      </m:e>
                      <m:sub>
                        <m:r>
                          <a:rPr lang="en-US" altLang="zh-CN" sz="2400" b="1" i="1" kern="1000">
                            <a:effectLst/>
                            <a:latin typeface="Cambria Math" panose="02040503050406030204" pitchFamily="18" charset="0"/>
                            <a:ea typeface="宋体" panose="02010600030101010101" pitchFamily="2" charset="-122"/>
                          </a:rPr>
                          <m:t>𝟐</m:t>
                        </m:r>
                      </m:sub>
                    </m:sSub>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𝒛</m:t>
                        </m:r>
                      </m:e>
                      <m:sub>
                        <m:r>
                          <a:rPr lang="en-US" altLang="zh-CN" sz="2400" b="1" i="1" kern="1000">
                            <a:effectLst/>
                            <a:latin typeface="Cambria Math" panose="02040503050406030204" pitchFamily="18" charset="0"/>
                            <a:ea typeface="宋体" panose="02010600030101010101" pitchFamily="2" charset="-122"/>
                          </a:rPr>
                          <m:t>𝟐</m:t>
                        </m:r>
                      </m:sub>
                    </m:sSub>
                    <m:r>
                      <a:rPr lang="en-US" altLang="zh-CN" sz="2400" b="1" i="1" kern="1000">
                        <a:effectLst/>
                        <a:latin typeface="Cambria Math" panose="02040503050406030204" pitchFamily="18" charset="0"/>
                        <a:ea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𝑾</m:t>
                            </m:r>
                          </m:e>
                        </m:acc>
                      </m:e>
                      <m:sup>
                        <m:r>
                          <a:rPr lang="en-US" altLang="zh-CN" sz="2400" b="1" i="1" kern="1000">
                            <a:effectLst/>
                            <a:latin typeface="Cambria Math" panose="02040503050406030204" pitchFamily="18" charset="0"/>
                            <a:ea typeface="宋体" panose="02010600030101010101" pitchFamily="2" charset="-122"/>
                          </a:rPr>
                          <m:t>𝑻</m:t>
                        </m:r>
                      </m:sup>
                    </m:sSup>
                    <m:r>
                      <a:rPr lang="en-US" altLang="zh-CN" sz="2400" b="1" i="1" kern="1000">
                        <a:effectLst/>
                        <a:latin typeface="Cambria Math" panose="02040503050406030204" pitchFamily="18" charset="0"/>
                        <a:ea typeface="宋体" panose="02010600030101010101" pitchFamily="2" charset="-122"/>
                      </a:rPr>
                      <m:t>𝑺</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𝒁</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和自适应律</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acc>
                          <m:accPr>
                            <m:chr m:val="̇"/>
                            <m:ctrlPr>
                              <a:rPr lang="zh-CN" altLang="zh-CN" sz="2400" b="1" i="1" kern="1000">
                                <a:effectLst/>
                                <a:latin typeface="Cambria Math" panose="02040503050406030204" pitchFamily="18" charset="0"/>
                                <a:ea typeface="Cambria Math" panose="02040503050406030204" pitchFamily="18" charset="0"/>
                              </a:rPr>
                            </m:ctrlPr>
                          </m:accPr>
                          <m:e>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𝑾</m:t>
                                </m:r>
                              </m:e>
                            </m:acc>
                          </m:e>
                        </m:acc>
                      </m:e>
                      <m:sub>
                        <m:r>
                          <a:rPr lang="en-US" altLang="zh-CN" sz="2400" b="1" i="1" kern="1000">
                            <a:effectLst/>
                            <a:latin typeface="Cambria Math" panose="02040503050406030204" pitchFamily="18" charset="0"/>
                            <a:ea typeface="宋体" panose="02010600030101010101" pitchFamily="2" charset="-122"/>
                          </a:rPr>
                          <m:t>𝒊</m:t>
                        </m:r>
                      </m:sub>
                    </m:sSub>
                    <m:r>
                      <a:rPr lang="en-US" altLang="zh-CN" sz="2400" b="1" i="1" kern="1000">
                        <a:effectLst/>
                        <a:latin typeface="Cambria Math" panose="02040503050406030204" pitchFamily="18" charset="0"/>
                        <a:ea typeface="宋体" panose="02010600030101010101" pitchFamily="2" charset="-122"/>
                      </a:rPr>
                      <m:t>=</m:t>
                    </m:r>
                  </m:oMath>
                </a14:m>
                <a:r>
                  <a:rPr lang="en-US" altLang="zh-CN" sz="2400" b="1" kern="100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𝜞</m:t>
                        </m:r>
                      </m:e>
                      <m:sub>
                        <m:r>
                          <a:rPr lang="en-US" altLang="zh-CN" sz="2400" b="1" i="1" kern="1000">
                            <a:effectLst/>
                            <a:latin typeface="Cambria Math" panose="02040503050406030204" pitchFamily="18" charset="0"/>
                            <a:ea typeface="宋体" panose="02010600030101010101" pitchFamily="2" charset="-122"/>
                          </a:rPr>
                          <m:t>𝒊</m:t>
                        </m:r>
                      </m:sub>
                    </m:sSub>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𝑺</m:t>
                        </m:r>
                      </m:e>
                      <m:sub>
                        <m:r>
                          <a:rPr lang="en-US" altLang="zh-CN" sz="2400" b="1" i="1" kern="1000">
                            <a:effectLst/>
                            <a:latin typeface="Cambria Math" panose="02040503050406030204" pitchFamily="18" charset="0"/>
                            <a:ea typeface="宋体" panose="02010600030101010101" pitchFamily="2" charset="-122"/>
                          </a:rPr>
                          <m:t>𝒊</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𝒁</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𝒛</m:t>
                        </m:r>
                      </m:e>
                      <m:sub>
                        <m:r>
                          <a:rPr lang="en-US" altLang="zh-CN" sz="2400" b="1" i="1" kern="1000">
                            <a:effectLst/>
                            <a:latin typeface="Cambria Math" panose="02040503050406030204" pitchFamily="18" charset="0"/>
                            <a:ea typeface="宋体" panose="02010600030101010101" pitchFamily="2" charset="-122"/>
                          </a:rPr>
                          <m:t>𝟐</m:t>
                        </m:r>
                        <m:r>
                          <a:rPr lang="en-US" altLang="zh-CN" sz="2400" b="1" i="1" kern="1000">
                            <a:effectLst/>
                            <a:latin typeface="Cambria Math" panose="02040503050406030204" pitchFamily="18" charset="0"/>
                            <a:ea typeface="宋体" panose="02010600030101010101" pitchFamily="2" charset="-122"/>
                          </a:rPr>
                          <m:t>𝒊</m:t>
                        </m:r>
                      </m:sub>
                    </m:sSub>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𝝈</m:t>
                        </m:r>
                      </m:e>
                      <m:sub>
                        <m:r>
                          <a:rPr lang="en-US" altLang="zh-CN" sz="2400" b="1" i="1" kern="1000">
                            <a:effectLst/>
                            <a:latin typeface="Cambria Math" panose="02040503050406030204" pitchFamily="18" charset="0"/>
                            <a:ea typeface="宋体" panose="02010600030101010101" pitchFamily="2" charset="-122"/>
                          </a:rPr>
                          <m:t>𝒊</m:t>
                        </m:r>
                      </m:sub>
                    </m:sSub>
                    <m:sSub>
                      <m:sSubPr>
                        <m:ctrlPr>
                          <a:rPr lang="zh-CN" altLang="zh-CN" sz="2400" b="1" i="1" kern="1000">
                            <a:effectLst/>
                            <a:latin typeface="Cambria Math" panose="02040503050406030204" pitchFamily="18" charset="0"/>
                            <a:ea typeface="Cambria Math" panose="02040503050406030204" pitchFamily="18" charset="0"/>
                          </a:rPr>
                        </m:ctrlPr>
                      </m:sSubPr>
                      <m:e>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𝑾</m:t>
                            </m:r>
                          </m:e>
                        </m:acc>
                      </m:e>
                      <m:sub>
                        <m:r>
                          <a:rPr lang="en-US" altLang="zh-CN" sz="2400" b="1" i="1" kern="1000">
                            <a:effectLst/>
                            <a:latin typeface="Cambria Math" panose="02040503050406030204" pitchFamily="18" charset="0"/>
                            <a:ea typeface="宋体" panose="02010600030101010101" pitchFamily="2" charset="-122"/>
                          </a:rPr>
                          <m:t>𝒊</m:t>
                        </m:r>
                      </m:sub>
                    </m:sSub>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，得到相应的输出反馈控制的控制律和自适应律</a:t>
                </a:r>
              </a:p>
              <a:p>
                <a:pPr algn="just">
                  <a:spcBef>
                    <a:spcPts val="300"/>
                  </a:spcBef>
                  <a:spcAft>
                    <a:spcPts val="3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000" b="1" i="1" kern="0">
                        <a:effectLst/>
                        <a:latin typeface="Cambria Math" panose="02040503050406030204" pitchFamily="18" charset="0"/>
                        <a:ea typeface="宋体" panose="02010600030101010101" pitchFamily="2" charset="-122"/>
                      </a:rPr>
                      <m:t>𝝉</m:t>
                    </m:r>
                    <m:r>
                      <a:rPr lang="en-US" altLang="zh-CN" sz="2000" b="1" i="1" kern="0">
                        <a:effectLst/>
                        <a:latin typeface="Cambria Math" panose="02040503050406030204" pitchFamily="18" charset="0"/>
                        <a:ea typeface="宋体" panose="02010600030101010101" pitchFamily="2" charset="-122"/>
                      </a:rPr>
                      <m:t>=−</m:t>
                    </m:r>
                    <m:sSub>
                      <m:sSubPr>
                        <m:ctrlPr>
                          <a:rPr lang="zh-CN" altLang="zh-CN" sz="2000" b="1" i="1" kern="0">
                            <a:effectLst/>
                            <a:latin typeface="Cambria Math" panose="02040503050406030204" pitchFamily="18" charset="0"/>
                            <a:ea typeface="Cambria Math" panose="02040503050406030204" pitchFamily="18" charset="0"/>
                          </a:rPr>
                        </m:ctrlPr>
                      </m:sSubPr>
                      <m:e>
                        <m:r>
                          <a:rPr lang="en-US" altLang="zh-CN" sz="2000" b="1" i="1" kern="0">
                            <a:effectLst/>
                            <a:latin typeface="Cambria Math" panose="02040503050406030204" pitchFamily="18" charset="0"/>
                            <a:ea typeface="宋体" panose="02010600030101010101" pitchFamily="2" charset="-122"/>
                          </a:rPr>
                          <m:t>𝒛</m:t>
                        </m:r>
                      </m:e>
                      <m:sub>
                        <m:r>
                          <a:rPr lang="en-US" altLang="zh-CN" sz="2000" b="1" i="1" kern="0">
                            <a:effectLst/>
                            <a:latin typeface="Cambria Math" panose="02040503050406030204" pitchFamily="18" charset="0"/>
                            <a:ea typeface="宋体" panose="02010600030101010101" pitchFamily="2" charset="-122"/>
                          </a:rPr>
                          <m:t>𝟏</m:t>
                        </m:r>
                      </m:sub>
                    </m:sSub>
                    <m:r>
                      <a:rPr lang="en-US" altLang="zh-CN" sz="2000" b="1" i="1" kern="0">
                        <a:effectLst/>
                        <a:latin typeface="Cambria Math" panose="02040503050406030204" pitchFamily="18" charset="0"/>
                        <a:ea typeface="宋体" panose="02010600030101010101" pitchFamily="2" charset="-122"/>
                      </a:rPr>
                      <m:t>−</m:t>
                    </m:r>
                    <m:sSub>
                      <m:sSubPr>
                        <m:ctrlPr>
                          <a:rPr lang="zh-CN" altLang="zh-CN" sz="2000" b="1" i="1" kern="0">
                            <a:effectLst/>
                            <a:latin typeface="Cambria Math" panose="02040503050406030204" pitchFamily="18" charset="0"/>
                            <a:ea typeface="Cambria Math" panose="02040503050406030204" pitchFamily="18" charset="0"/>
                          </a:rPr>
                        </m:ctrlPr>
                      </m:sSubPr>
                      <m:e>
                        <m:r>
                          <a:rPr lang="en-US" altLang="zh-CN" sz="2000" b="1" i="1" kern="0">
                            <a:effectLst/>
                            <a:latin typeface="Cambria Math" panose="02040503050406030204" pitchFamily="18" charset="0"/>
                            <a:ea typeface="宋体" panose="02010600030101010101" pitchFamily="2" charset="-122"/>
                          </a:rPr>
                          <m:t>𝑲</m:t>
                        </m:r>
                      </m:e>
                      <m:sub>
                        <m:r>
                          <a:rPr lang="en-US" altLang="zh-CN" sz="2000" b="1" i="1" kern="0">
                            <a:effectLst/>
                            <a:latin typeface="Cambria Math" panose="02040503050406030204" pitchFamily="18" charset="0"/>
                            <a:ea typeface="宋体" panose="02010600030101010101" pitchFamily="2" charset="-122"/>
                          </a:rPr>
                          <m:t>𝟐</m:t>
                        </m:r>
                      </m:sub>
                    </m:sSub>
                    <m:sSub>
                      <m:sSubPr>
                        <m:ctrlPr>
                          <a:rPr lang="zh-CN" altLang="zh-CN" sz="2000" b="1" i="1" kern="0">
                            <a:effectLst/>
                            <a:latin typeface="Cambria Math" panose="02040503050406030204" pitchFamily="18" charset="0"/>
                            <a:ea typeface="Cambria Math" panose="02040503050406030204" pitchFamily="18" charset="0"/>
                          </a:rPr>
                        </m:ctrlPr>
                      </m:sSubPr>
                      <m:e>
                        <m:acc>
                          <m:accPr>
                            <m:chr m:val="̂"/>
                            <m:ctrlPr>
                              <a:rPr lang="zh-CN" altLang="zh-CN" sz="2000" b="1" i="1" kern="0">
                                <a:effectLst/>
                                <a:latin typeface="Cambria Math" panose="02040503050406030204" pitchFamily="18" charset="0"/>
                                <a:ea typeface="Cambria Math" panose="02040503050406030204" pitchFamily="18" charset="0"/>
                              </a:rPr>
                            </m:ctrlPr>
                          </m:accPr>
                          <m:e>
                            <m:r>
                              <a:rPr lang="en-US" altLang="zh-CN" sz="2000" b="1" i="1" kern="0">
                                <a:effectLst/>
                                <a:latin typeface="Cambria Math" panose="02040503050406030204" pitchFamily="18" charset="0"/>
                                <a:ea typeface="宋体" panose="02010600030101010101" pitchFamily="2" charset="-122"/>
                              </a:rPr>
                              <m:t>𝒛</m:t>
                            </m:r>
                          </m:e>
                        </m:acc>
                      </m:e>
                      <m:sub>
                        <m:r>
                          <a:rPr lang="en-US" altLang="zh-CN" sz="2000" b="1" i="1" kern="0">
                            <a:effectLst/>
                            <a:latin typeface="Cambria Math" panose="02040503050406030204" pitchFamily="18" charset="0"/>
                            <a:ea typeface="宋体" panose="02010600030101010101" pitchFamily="2" charset="-122"/>
                          </a:rPr>
                          <m:t>𝟐</m:t>
                        </m:r>
                      </m:sub>
                    </m:sSub>
                    <m:r>
                      <a:rPr lang="en-US" altLang="zh-CN" sz="2000" b="1" i="1" kern="0">
                        <a:effectLst/>
                        <a:latin typeface="Cambria Math" panose="02040503050406030204" pitchFamily="18" charset="0"/>
                        <a:ea typeface="宋体" panose="02010600030101010101" pitchFamily="2" charset="-122"/>
                      </a:rPr>
                      <m:t>+</m:t>
                    </m:r>
                    <m:sSup>
                      <m:sSupPr>
                        <m:ctrlPr>
                          <a:rPr lang="zh-CN" altLang="zh-CN" sz="2000" b="1" i="1" kern="0">
                            <a:effectLst/>
                            <a:latin typeface="Cambria Math" panose="02040503050406030204" pitchFamily="18" charset="0"/>
                            <a:ea typeface="Cambria Math" panose="02040503050406030204" pitchFamily="18" charset="0"/>
                          </a:rPr>
                        </m:ctrlPr>
                      </m:sSupPr>
                      <m:e>
                        <m:acc>
                          <m:accPr>
                            <m:chr m:val="̂"/>
                            <m:ctrlPr>
                              <a:rPr lang="zh-CN" altLang="zh-CN" sz="2000" b="1" i="1" kern="0">
                                <a:effectLst/>
                                <a:latin typeface="Cambria Math" panose="02040503050406030204" pitchFamily="18" charset="0"/>
                                <a:ea typeface="Cambria Math" panose="02040503050406030204" pitchFamily="18" charset="0"/>
                              </a:rPr>
                            </m:ctrlPr>
                          </m:accPr>
                          <m:e>
                            <m:r>
                              <a:rPr lang="en-US" altLang="zh-CN" sz="2000" b="1" i="1" kern="0">
                                <a:effectLst/>
                                <a:latin typeface="Cambria Math" panose="02040503050406030204" pitchFamily="18" charset="0"/>
                                <a:ea typeface="宋体" panose="02010600030101010101" pitchFamily="2" charset="-122"/>
                              </a:rPr>
                              <m:t>𝑾</m:t>
                            </m:r>
                          </m:e>
                        </m:acc>
                      </m:e>
                      <m:sup>
                        <m:r>
                          <a:rPr lang="en-US" altLang="zh-CN" sz="2000" b="1" i="1" kern="0">
                            <a:effectLst/>
                            <a:latin typeface="Cambria Math" panose="02040503050406030204" pitchFamily="18" charset="0"/>
                            <a:ea typeface="宋体" panose="02010600030101010101" pitchFamily="2" charset="-122"/>
                          </a:rPr>
                          <m:t>𝑻</m:t>
                        </m:r>
                      </m:sup>
                    </m:sSup>
                    <m:r>
                      <a:rPr lang="en-US" altLang="zh-CN" sz="2000" b="1" i="1" kern="0">
                        <a:effectLst/>
                        <a:latin typeface="Cambria Math" panose="02040503050406030204" pitchFamily="18" charset="0"/>
                        <a:ea typeface="宋体" panose="02010600030101010101" pitchFamily="2" charset="-122"/>
                      </a:rPr>
                      <m:t>𝑺</m:t>
                    </m:r>
                    <m:r>
                      <a:rPr lang="en-US" altLang="zh-CN" sz="2000" b="1" i="1" kern="0">
                        <a:effectLst/>
                        <a:latin typeface="Cambria Math" panose="02040503050406030204" pitchFamily="18" charset="0"/>
                        <a:ea typeface="宋体" panose="02010600030101010101" pitchFamily="2" charset="-122"/>
                      </a:rPr>
                      <m:t>(</m:t>
                    </m:r>
                    <m:acc>
                      <m:accPr>
                        <m:chr m:val="̂"/>
                        <m:ctrlPr>
                          <a:rPr lang="zh-CN" altLang="zh-CN" sz="2000" b="1" i="1" kern="0">
                            <a:effectLst/>
                            <a:latin typeface="Cambria Math" panose="02040503050406030204" pitchFamily="18" charset="0"/>
                            <a:ea typeface="Cambria Math" panose="02040503050406030204" pitchFamily="18" charset="0"/>
                          </a:rPr>
                        </m:ctrlPr>
                      </m:accPr>
                      <m:e>
                        <m:r>
                          <a:rPr lang="en-US" altLang="zh-CN" sz="2000" b="1" i="1" kern="0">
                            <a:effectLst/>
                            <a:latin typeface="Cambria Math" panose="02040503050406030204" pitchFamily="18" charset="0"/>
                            <a:ea typeface="宋体" panose="02010600030101010101" pitchFamily="2" charset="-122"/>
                          </a:rPr>
                          <m:t>𝒁</m:t>
                        </m:r>
                      </m:e>
                    </m:acc>
                    <m:r>
                      <a:rPr lang="en-US" altLang="zh-CN" sz="2000" b="1" i="1" kern="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(7.54)</a:t>
                </a:r>
                <a:endParaRPr lang="zh-CN" altLang="zh-CN" sz="2000" b="1" kern="1050" dirty="0">
                  <a:effectLst/>
                  <a:latin typeface="微软雅黑" panose="020B0503020204020204" pitchFamily="34" charset="-122"/>
                  <a:ea typeface="微软雅黑" panose="020B0503020204020204" pitchFamily="34" charset="-122"/>
                </a:endParaRPr>
              </a:p>
              <a:p>
                <a:pPr algn="just">
                  <a:spcBef>
                    <a:spcPts val="300"/>
                  </a:spcBef>
                  <a:spcAft>
                    <a:spcPts val="3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0" smtClean="0">
                            <a:effectLst/>
                            <a:latin typeface="Cambria Math" panose="02040503050406030204" pitchFamily="18" charset="0"/>
                            <a:ea typeface="Cambria Math" panose="02040503050406030204" pitchFamily="18" charset="0"/>
                          </a:rPr>
                        </m:ctrlPr>
                      </m:sSubPr>
                      <m:e>
                        <m:acc>
                          <m:accPr>
                            <m:chr m:val="̇"/>
                            <m:ctrlPr>
                              <a:rPr lang="zh-CN" altLang="zh-CN" sz="2000" b="1" i="1" kern="0">
                                <a:effectLst/>
                                <a:latin typeface="Cambria Math" panose="02040503050406030204" pitchFamily="18" charset="0"/>
                                <a:ea typeface="Cambria Math" panose="02040503050406030204" pitchFamily="18" charset="0"/>
                              </a:rPr>
                            </m:ctrlPr>
                          </m:accPr>
                          <m:e>
                            <m:acc>
                              <m:accPr>
                                <m:chr m:val="̂"/>
                                <m:ctrlPr>
                                  <a:rPr lang="zh-CN" altLang="zh-CN" sz="2000" b="1" i="1" kern="0">
                                    <a:effectLst/>
                                    <a:latin typeface="Cambria Math" panose="02040503050406030204" pitchFamily="18" charset="0"/>
                                    <a:ea typeface="Cambria Math" panose="02040503050406030204" pitchFamily="18" charset="0"/>
                                  </a:rPr>
                                </m:ctrlPr>
                              </m:accPr>
                              <m:e>
                                <m:r>
                                  <a:rPr lang="en-US" altLang="zh-CN" sz="2000" b="1" i="1" kern="0">
                                    <a:effectLst/>
                                    <a:latin typeface="Cambria Math" panose="02040503050406030204" pitchFamily="18" charset="0"/>
                                    <a:ea typeface="宋体" panose="02010600030101010101" pitchFamily="2" charset="-122"/>
                                  </a:rPr>
                                  <m:t>𝑾</m:t>
                                </m:r>
                              </m:e>
                            </m:acc>
                          </m:e>
                        </m:acc>
                      </m:e>
                      <m:sub>
                        <m:r>
                          <a:rPr lang="en-US" altLang="zh-CN" sz="2000" b="1" i="1" kern="0">
                            <a:effectLst/>
                            <a:latin typeface="Cambria Math" panose="02040503050406030204" pitchFamily="18" charset="0"/>
                            <a:ea typeface="宋体" panose="02010600030101010101" pitchFamily="2" charset="-122"/>
                          </a:rPr>
                          <m:t>𝒊</m:t>
                        </m:r>
                      </m:sub>
                    </m:sSub>
                    <m:r>
                      <a:rPr lang="en-US" altLang="zh-CN" sz="2000" b="1" i="1" kern="0">
                        <a:effectLst/>
                        <a:latin typeface="Cambria Math" panose="02040503050406030204" pitchFamily="18" charset="0"/>
                        <a:ea typeface="宋体" panose="02010600030101010101" pitchFamily="2" charset="-122"/>
                      </a:rPr>
                      <m:t>=−</m:t>
                    </m:r>
                    <m:sSub>
                      <m:sSubPr>
                        <m:ctrlPr>
                          <a:rPr lang="zh-CN" altLang="zh-CN" sz="2000" b="1" i="1" kern="0">
                            <a:effectLst/>
                            <a:latin typeface="Cambria Math" panose="02040503050406030204" pitchFamily="18" charset="0"/>
                            <a:ea typeface="Cambria Math" panose="02040503050406030204" pitchFamily="18" charset="0"/>
                          </a:rPr>
                        </m:ctrlPr>
                      </m:sSubPr>
                      <m:e>
                        <m:r>
                          <a:rPr lang="en-US" altLang="zh-CN" sz="2000" b="1" i="1" kern="0">
                            <a:effectLst/>
                            <a:latin typeface="Cambria Math" panose="02040503050406030204" pitchFamily="18" charset="0"/>
                            <a:ea typeface="宋体" panose="02010600030101010101" pitchFamily="2" charset="-122"/>
                          </a:rPr>
                          <m:t>𝜞</m:t>
                        </m:r>
                      </m:e>
                      <m:sub>
                        <m:r>
                          <a:rPr lang="en-US" altLang="zh-CN" sz="2000" b="1" i="1" kern="0">
                            <a:effectLst/>
                            <a:latin typeface="Cambria Math" panose="02040503050406030204" pitchFamily="18" charset="0"/>
                            <a:ea typeface="宋体" panose="02010600030101010101" pitchFamily="2" charset="-122"/>
                          </a:rPr>
                          <m:t>𝒊</m:t>
                        </m:r>
                      </m:sub>
                    </m:sSub>
                    <m:r>
                      <a:rPr lang="en-US" altLang="zh-CN" sz="2000" b="1" i="1" kern="0">
                        <a:effectLst/>
                        <a:latin typeface="Cambria Math" panose="02040503050406030204" pitchFamily="18" charset="0"/>
                        <a:ea typeface="宋体" panose="02010600030101010101" pitchFamily="2" charset="-122"/>
                      </a:rPr>
                      <m:t>(</m:t>
                    </m:r>
                    <m:sSub>
                      <m:sSubPr>
                        <m:ctrlPr>
                          <a:rPr lang="zh-CN" altLang="zh-CN" sz="2000" b="1" i="1" kern="0">
                            <a:effectLst/>
                            <a:latin typeface="Cambria Math" panose="02040503050406030204" pitchFamily="18" charset="0"/>
                            <a:ea typeface="Cambria Math" panose="02040503050406030204" pitchFamily="18" charset="0"/>
                          </a:rPr>
                        </m:ctrlPr>
                      </m:sSubPr>
                      <m:e>
                        <m:r>
                          <a:rPr lang="en-US" altLang="zh-CN" sz="2000" b="1" i="1" kern="0">
                            <a:effectLst/>
                            <a:latin typeface="Cambria Math" panose="02040503050406030204" pitchFamily="18" charset="0"/>
                            <a:ea typeface="宋体" panose="02010600030101010101" pitchFamily="2" charset="-122"/>
                          </a:rPr>
                          <m:t>𝑺</m:t>
                        </m:r>
                      </m:e>
                      <m:sub>
                        <m:r>
                          <a:rPr lang="en-US" altLang="zh-CN" sz="2000" b="1" i="1" kern="0">
                            <a:effectLst/>
                            <a:latin typeface="Cambria Math" panose="02040503050406030204" pitchFamily="18" charset="0"/>
                            <a:ea typeface="宋体" panose="02010600030101010101" pitchFamily="2" charset="-122"/>
                          </a:rPr>
                          <m:t>𝒊</m:t>
                        </m:r>
                      </m:sub>
                    </m:sSub>
                    <m:r>
                      <a:rPr lang="en-US" altLang="zh-CN" sz="2000" b="1" i="1" kern="0">
                        <a:effectLst/>
                        <a:latin typeface="Cambria Math" panose="02040503050406030204" pitchFamily="18" charset="0"/>
                        <a:ea typeface="宋体" panose="02010600030101010101" pitchFamily="2" charset="-122"/>
                      </a:rPr>
                      <m:t>(</m:t>
                    </m:r>
                    <m:sSub>
                      <m:sSubPr>
                        <m:ctrlPr>
                          <a:rPr lang="zh-CN" altLang="zh-CN" sz="2000" b="1" i="1" kern="0">
                            <a:effectLst/>
                            <a:latin typeface="Cambria Math" panose="02040503050406030204" pitchFamily="18" charset="0"/>
                            <a:ea typeface="Cambria Math" panose="02040503050406030204" pitchFamily="18" charset="0"/>
                          </a:rPr>
                        </m:ctrlPr>
                      </m:sSubPr>
                      <m:e>
                        <m:acc>
                          <m:accPr>
                            <m:chr m:val="̂"/>
                            <m:ctrlPr>
                              <a:rPr lang="zh-CN" altLang="zh-CN" sz="2000" b="1" i="1" kern="0">
                                <a:effectLst/>
                                <a:latin typeface="Cambria Math" panose="02040503050406030204" pitchFamily="18" charset="0"/>
                                <a:ea typeface="Cambria Math" panose="02040503050406030204" pitchFamily="18" charset="0"/>
                              </a:rPr>
                            </m:ctrlPr>
                          </m:accPr>
                          <m:e>
                            <m:r>
                              <a:rPr lang="en-US" altLang="zh-CN" sz="2000" b="1" i="1" kern="0">
                                <a:effectLst/>
                                <a:latin typeface="Cambria Math" panose="02040503050406030204" pitchFamily="18" charset="0"/>
                                <a:ea typeface="宋体" panose="02010600030101010101" pitchFamily="2" charset="-122"/>
                              </a:rPr>
                              <m:t>𝒁</m:t>
                            </m:r>
                          </m:e>
                        </m:acc>
                      </m:e>
                      <m:sub>
                        <m:r>
                          <a:rPr lang="en-US" altLang="zh-CN" sz="2000" b="1" i="1" kern="0">
                            <a:effectLst/>
                            <a:latin typeface="Cambria Math" panose="02040503050406030204" pitchFamily="18" charset="0"/>
                            <a:ea typeface="宋体" panose="02010600030101010101" pitchFamily="2" charset="-122"/>
                          </a:rPr>
                          <m:t>𝒊</m:t>
                        </m:r>
                      </m:sub>
                    </m:sSub>
                    <m:r>
                      <a:rPr lang="en-US" altLang="zh-CN" sz="2000" b="1" i="1" kern="0">
                        <a:effectLst/>
                        <a:latin typeface="Cambria Math" panose="02040503050406030204" pitchFamily="18" charset="0"/>
                        <a:ea typeface="宋体" panose="02010600030101010101" pitchFamily="2" charset="-122"/>
                      </a:rPr>
                      <m:t>)</m:t>
                    </m:r>
                    <m:sSub>
                      <m:sSubPr>
                        <m:ctrlPr>
                          <a:rPr lang="zh-CN" altLang="zh-CN" sz="2000" b="1" i="1" kern="0">
                            <a:effectLst/>
                            <a:latin typeface="Cambria Math" panose="02040503050406030204" pitchFamily="18" charset="0"/>
                            <a:ea typeface="Cambria Math" panose="02040503050406030204" pitchFamily="18" charset="0"/>
                          </a:rPr>
                        </m:ctrlPr>
                      </m:sSubPr>
                      <m:e>
                        <m:acc>
                          <m:accPr>
                            <m:chr m:val="̂"/>
                            <m:ctrlPr>
                              <a:rPr lang="zh-CN" altLang="zh-CN" sz="2000" b="1" i="1" kern="0">
                                <a:effectLst/>
                                <a:latin typeface="Cambria Math" panose="02040503050406030204" pitchFamily="18" charset="0"/>
                                <a:ea typeface="Cambria Math" panose="02040503050406030204" pitchFamily="18" charset="0"/>
                              </a:rPr>
                            </m:ctrlPr>
                          </m:accPr>
                          <m:e>
                            <m:r>
                              <a:rPr lang="en-US" altLang="zh-CN" sz="2000" b="1" i="1" kern="0">
                                <a:effectLst/>
                                <a:latin typeface="Cambria Math" panose="02040503050406030204" pitchFamily="18" charset="0"/>
                                <a:ea typeface="宋体" panose="02010600030101010101" pitchFamily="2" charset="-122"/>
                              </a:rPr>
                              <m:t>𝒛</m:t>
                            </m:r>
                          </m:e>
                        </m:acc>
                      </m:e>
                      <m:sub>
                        <m:r>
                          <a:rPr lang="en-US" altLang="zh-CN" sz="2000" b="1" i="1" kern="0">
                            <a:effectLst/>
                            <a:latin typeface="Cambria Math" panose="02040503050406030204" pitchFamily="18" charset="0"/>
                            <a:ea typeface="宋体" panose="02010600030101010101" pitchFamily="2" charset="-122"/>
                          </a:rPr>
                          <m:t>𝟐</m:t>
                        </m:r>
                      </m:sub>
                    </m:sSub>
                    <m:r>
                      <a:rPr lang="en-US" altLang="zh-CN" sz="2000" b="1" i="1" kern="0">
                        <a:effectLst/>
                        <a:latin typeface="Cambria Math" panose="02040503050406030204" pitchFamily="18" charset="0"/>
                        <a:ea typeface="宋体" panose="02010600030101010101" pitchFamily="2" charset="-122"/>
                      </a:rPr>
                      <m:t>,</m:t>
                    </m:r>
                    <m:r>
                      <a:rPr lang="en-US" altLang="zh-CN" sz="2000" b="1" i="1" kern="0">
                        <a:effectLst/>
                        <a:latin typeface="Cambria Math" panose="02040503050406030204" pitchFamily="18" charset="0"/>
                        <a:ea typeface="宋体" panose="02010600030101010101" pitchFamily="2" charset="-122"/>
                      </a:rPr>
                      <m:t>𝒊</m:t>
                    </m:r>
                    <m:r>
                      <a:rPr lang="en-US" altLang="zh-CN" sz="2000" b="1" i="1" kern="0">
                        <a:effectLst/>
                        <a:latin typeface="Cambria Math" panose="02040503050406030204" pitchFamily="18" charset="0"/>
                        <a:ea typeface="宋体" panose="02010600030101010101" pitchFamily="2" charset="-122"/>
                      </a:rPr>
                      <m:t>+</m:t>
                    </m:r>
                    <m:sSub>
                      <m:sSubPr>
                        <m:ctrlPr>
                          <a:rPr lang="zh-CN" altLang="zh-CN" sz="2000" b="1" i="1" kern="0">
                            <a:effectLst/>
                            <a:latin typeface="Cambria Math" panose="02040503050406030204" pitchFamily="18" charset="0"/>
                            <a:ea typeface="Cambria Math" panose="02040503050406030204" pitchFamily="18" charset="0"/>
                          </a:rPr>
                        </m:ctrlPr>
                      </m:sSubPr>
                      <m:e>
                        <m:r>
                          <a:rPr lang="en-US" altLang="zh-CN" sz="2000" b="1" i="1" kern="0">
                            <a:effectLst/>
                            <a:latin typeface="Cambria Math" panose="02040503050406030204" pitchFamily="18" charset="0"/>
                            <a:ea typeface="宋体" panose="02010600030101010101" pitchFamily="2" charset="-122"/>
                          </a:rPr>
                          <m:t>𝝈</m:t>
                        </m:r>
                      </m:e>
                      <m:sub>
                        <m:r>
                          <a:rPr lang="en-US" altLang="zh-CN" sz="2000" b="1" i="1" kern="0">
                            <a:effectLst/>
                            <a:latin typeface="Cambria Math" panose="02040503050406030204" pitchFamily="18" charset="0"/>
                            <a:ea typeface="宋体" panose="02010600030101010101" pitchFamily="2" charset="-122"/>
                          </a:rPr>
                          <m:t>𝒊</m:t>
                        </m:r>
                      </m:sub>
                    </m:sSub>
                    <m:sSub>
                      <m:sSubPr>
                        <m:ctrlPr>
                          <a:rPr lang="zh-CN" altLang="zh-CN" sz="2000" b="1" i="1" kern="0">
                            <a:effectLst/>
                            <a:latin typeface="Cambria Math" panose="02040503050406030204" pitchFamily="18" charset="0"/>
                            <a:ea typeface="Cambria Math" panose="02040503050406030204" pitchFamily="18" charset="0"/>
                          </a:rPr>
                        </m:ctrlPr>
                      </m:sSubPr>
                      <m:e>
                        <m:acc>
                          <m:accPr>
                            <m:chr m:val="̂"/>
                            <m:ctrlPr>
                              <a:rPr lang="zh-CN" altLang="zh-CN" sz="2000" b="1" i="1" kern="0">
                                <a:effectLst/>
                                <a:latin typeface="Cambria Math" panose="02040503050406030204" pitchFamily="18" charset="0"/>
                                <a:ea typeface="Cambria Math" panose="02040503050406030204" pitchFamily="18" charset="0"/>
                              </a:rPr>
                            </m:ctrlPr>
                          </m:accPr>
                          <m:e>
                            <m:r>
                              <a:rPr lang="en-US" altLang="zh-CN" sz="2000" b="1" i="1" kern="0">
                                <a:effectLst/>
                                <a:latin typeface="Cambria Math" panose="02040503050406030204" pitchFamily="18" charset="0"/>
                                <a:ea typeface="宋体" panose="02010600030101010101" pitchFamily="2" charset="-122"/>
                              </a:rPr>
                              <m:t>𝑾</m:t>
                            </m:r>
                          </m:e>
                        </m:acc>
                      </m:e>
                      <m:sub>
                        <m:r>
                          <a:rPr lang="en-US" altLang="zh-CN" sz="2000" b="1" i="1" kern="0">
                            <a:effectLst/>
                            <a:latin typeface="Cambria Math" panose="02040503050406030204" pitchFamily="18" charset="0"/>
                            <a:ea typeface="宋体" panose="02010600030101010101" pitchFamily="2" charset="-122"/>
                          </a:rPr>
                          <m:t>𝒊</m:t>
                        </m:r>
                      </m:sub>
                    </m:sSub>
                    <m:r>
                      <a:rPr lang="en-US" altLang="zh-CN" sz="2000" b="1" i="1" kern="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(7.55)</a:t>
                </a:r>
                <a:endParaRPr lang="zh-CN" altLang="zh-CN" sz="2000" b="1" kern="1050" dirty="0">
                  <a:effectLst/>
                  <a:latin typeface="微软雅黑" panose="020B0503020204020204" pitchFamily="34" charset="-122"/>
                  <a:ea typeface="微软雅黑" panose="020B0503020204020204" pitchFamily="34" charset="-122"/>
                </a:endParaRPr>
              </a:p>
            </p:txBody>
          </p:sp>
        </mc:Choice>
        <mc:Fallback xmlns="">
          <p:sp>
            <p:nvSpPr>
              <p:cNvPr id="7" name="文本框 6">
                <a:extLst>
                  <a:ext uri="{FF2B5EF4-FFF2-40B4-BE49-F238E27FC236}">
                    <a16:creationId xmlns:a16="http://schemas.microsoft.com/office/drawing/2014/main" id="{0C30A4A2-2A64-5BE0-2BAC-48B650EF297F}"/>
                  </a:ext>
                </a:extLst>
              </p:cNvPr>
              <p:cNvSpPr txBox="1">
                <a:spLocks noRot="1" noChangeAspect="1" noMove="1" noResize="1" noEditPoints="1" noAdjustHandles="1" noChangeArrowheads="1" noChangeShapeType="1" noTextEdit="1"/>
              </p:cNvSpPr>
              <p:nvPr/>
            </p:nvSpPr>
            <p:spPr>
              <a:xfrm>
                <a:off x="669131" y="4375577"/>
                <a:ext cx="10215562" cy="2217787"/>
              </a:xfrm>
              <a:prstGeom prst="rect">
                <a:avLst/>
              </a:prstGeom>
              <a:blipFill>
                <a:blip r:embed="rId4"/>
                <a:stretch>
                  <a:fillRect l="-955" t="-1648" r="-895"/>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F1F33AA6-54F4-5644-64DA-B7EC064BB418}"/>
              </a:ext>
            </a:extLst>
          </p:cNvPr>
          <p:cNvSpPr txBox="1"/>
          <p:nvPr>
            <p:custDataLst>
              <p:tags r:id="rId1"/>
            </p:custDataLst>
          </p:nvPr>
        </p:nvSpPr>
        <p:spPr>
          <a:xfrm>
            <a:off x="1357313" y="128685"/>
            <a:ext cx="8158162" cy="954107"/>
          </a:xfrm>
          <a:prstGeom prst="rect">
            <a:avLst/>
          </a:prstGeom>
          <a:noFill/>
        </p:spPr>
        <p:txBody>
          <a:bodyPr wrap="square" rtlCol="0">
            <a:spAutoFit/>
          </a:bodyPr>
          <a:lstStyle/>
          <a:p>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部分状态信息未知情况下的</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136716883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4B895530-19F3-F309-31B0-F0CA6EDA07CB}"/>
                  </a:ext>
                </a:extLst>
              </p:cNvPr>
              <p:cNvSpPr txBox="1"/>
              <p:nvPr/>
            </p:nvSpPr>
            <p:spPr>
              <a:xfrm>
                <a:off x="838200" y="1123950"/>
                <a:ext cx="10668000" cy="3416320"/>
              </a:xfrm>
              <a:prstGeom prst="rect">
                <a:avLst/>
              </a:prstGeom>
              <a:noFill/>
            </p:spPr>
            <p:txBody>
              <a:bodyPr wrap="square">
                <a:spAutoFit/>
              </a:bodyPr>
              <a:lstStyle/>
              <a:p>
                <a:pPr algn="just">
                  <a:lnSpc>
                    <a:spcPct val="200000"/>
                  </a:lnSpc>
                  <a:spcBef>
                    <a:spcPts val="600"/>
                  </a:spcBef>
                </a:pPr>
                <a:r>
                  <a:rPr lang="en-US" altLang="zh-CN" sz="2400" b="1" kern="0" dirty="0">
                    <a:effectLst/>
                    <a:latin typeface="微软雅黑" panose="020B0503020204020204" pitchFamily="34" charset="-122"/>
                    <a:ea typeface="微软雅黑" panose="020B0503020204020204" pitchFamily="34" charset="-122"/>
                  </a:rPr>
                  <a:t>2)</a:t>
                </a:r>
                <a:r>
                  <a:rPr lang="zh-CN" altLang="zh-CN" sz="2400" b="1" kern="0" dirty="0">
                    <a:effectLst/>
                    <a:latin typeface="微软雅黑" panose="020B0503020204020204" pitchFamily="34" charset="-122"/>
                    <a:ea typeface="微软雅黑" panose="020B0503020204020204" pitchFamily="34" charset="-122"/>
                  </a:rPr>
                  <a:t>仿真实现</a:t>
                </a:r>
                <a:endParaRPr lang="zh-CN" altLang="zh-CN" sz="2400" b="1" kern="1050" dirty="0">
                  <a:effectLst/>
                  <a:latin typeface="微软雅黑" panose="020B0503020204020204" pitchFamily="34" charset="-122"/>
                  <a:ea typeface="微软雅黑" panose="020B0503020204020204" pitchFamily="34" charset="-122"/>
                </a:endParaRPr>
              </a:p>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在本节具有输出反馈的自适应神经网络控制中，初始值、追踪路径及系统参数与上一节选取相同，仿真结果如下：</a:t>
                </a:r>
              </a:p>
              <a:p>
                <a:pPr algn="just"/>
                <a:r>
                  <a:rPr lang="en-US" altLang="zh-CN" sz="2400" b="1" kern="0" dirty="0">
                    <a:effectLst/>
                    <a:latin typeface="微软雅黑" panose="020B0503020204020204" pitchFamily="34" charset="-122"/>
                    <a:ea typeface="微软雅黑" panose="020B0503020204020204" pitchFamily="34" charset="-122"/>
                  </a:rPr>
                  <a:t>       </a:t>
                </a:r>
                <a:r>
                  <a:rPr lang="zh-CN" altLang="zh-CN" sz="2400" b="1" kern="0" dirty="0">
                    <a:effectLst/>
                    <a:latin typeface="微软雅黑" panose="020B0503020204020204" pitchFamily="34" charset="-122"/>
                    <a:ea typeface="微软雅黑" panose="020B0503020204020204" pitchFamily="34" charset="-122"/>
                  </a:rPr>
                  <a:t>图</a:t>
                </a:r>
                <a:r>
                  <a:rPr lang="en-US" altLang="zh-CN" sz="2400" b="1" kern="0" dirty="0">
                    <a:effectLst/>
                    <a:latin typeface="微软雅黑" panose="020B0503020204020204" pitchFamily="34" charset="-122"/>
                    <a:ea typeface="微软雅黑" panose="020B0503020204020204" pitchFamily="34" charset="-122"/>
                  </a:rPr>
                  <a:t>7.29</a:t>
                </a:r>
                <a:r>
                  <a:rPr lang="zh-CN" altLang="zh-CN" sz="2400" b="1" kern="0" dirty="0">
                    <a:effectLst/>
                    <a:latin typeface="微软雅黑" panose="020B0503020204020204" pitchFamily="34" charset="-122"/>
                    <a:ea typeface="微软雅黑" panose="020B0503020204020204" pitchFamily="34" charset="-122"/>
                  </a:rPr>
                  <a:t>～图</a:t>
                </a:r>
                <a:r>
                  <a:rPr lang="en-US" altLang="zh-CN" sz="2400" b="1" kern="0" dirty="0">
                    <a:effectLst/>
                    <a:latin typeface="微软雅黑" panose="020B0503020204020204" pitchFamily="34" charset="-122"/>
                    <a:ea typeface="微软雅黑" panose="020B0503020204020204" pitchFamily="34" charset="-122"/>
                  </a:rPr>
                  <a:t>7.31</a:t>
                </a:r>
                <a:r>
                  <a:rPr lang="zh-CN" altLang="zh-CN" sz="2400" b="1" kern="0" dirty="0">
                    <a:effectLst/>
                    <a:latin typeface="微软雅黑" panose="020B0503020204020204" pitchFamily="34" charset="-122"/>
                    <a:ea typeface="微软雅黑" panose="020B0503020204020204" pitchFamily="34" charset="-122"/>
                  </a:rPr>
                  <a:t>分别是三个关节的位置轨迹曲线与位置跟踪误差曲线，图</a:t>
                </a:r>
                <a:r>
                  <a:rPr lang="en-US" altLang="zh-CN" sz="2400" b="1" kern="0" dirty="0">
                    <a:effectLst/>
                    <a:latin typeface="微软雅黑" panose="020B0503020204020204" pitchFamily="34" charset="-122"/>
                    <a:ea typeface="微软雅黑" panose="020B0503020204020204" pitchFamily="34" charset="-122"/>
                  </a:rPr>
                  <a:t>7.32</a:t>
                </a:r>
                <a:r>
                  <a:rPr lang="zh-CN" altLang="zh-CN" sz="2400" b="1" kern="0" dirty="0">
                    <a:effectLst/>
                    <a:latin typeface="微软雅黑" panose="020B0503020204020204" pitchFamily="34" charset="-122"/>
                    <a:ea typeface="微软雅黑" panose="020B0503020204020204" pitchFamily="34" charset="-122"/>
                  </a:rPr>
                  <a:t>表示所有轨迹位置误差和，图</a:t>
                </a:r>
                <a:r>
                  <a:rPr lang="en-US" altLang="zh-CN" sz="2400" b="1" kern="0" dirty="0">
                    <a:effectLst/>
                    <a:latin typeface="微软雅黑" panose="020B0503020204020204" pitchFamily="34" charset="-122"/>
                    <a:ea typeface="微软雅黑" panose="020B0503020204020204" pitchFamily="34" charset="-122"/>
                  </a:rPr>
                  <a:t>7.33</a:t>
                </a:r>
                <a:r>
                  <a:rPr lang="zh-CN" altLang="zh-CN" sz="2400" b="1" kern="0" dirty="0">
                    <a:effectLst/>
                    <a:latin typeface="微软雅黑" panose="020B0503020204020204" pitchFamily="34" charset="-122"/>
                    <a:ea typeface="微软雅黑" panose="020B0503020204020204" pitchFamily="34" charset="-122"/>
                  </a:rPr>
                  <a:t>是系统的控制输入，状态向量</a:t>
                </a:r>
                <a14:m>
                  <m:oMath xmlns:m="http://schemas.openxmlformats.org/officeDocument/2006/math">
                    <m:sSub>
                      <m:sSubPr>
                        <m:ctrlPr>
                          <a:rPr lang="zh-CN" altLang="zh-CN" sz="2400" b="1" i="1" kern="0">
                            <a:effectLst/>
                            <a:latin typeface="Cambria Math" panose="02040503050406030204" pitchFamily="18" charset="0"/>
                            <a:ea typeface="Cambria Math" panose="02040503050406030204" pitchFamily="18" charset="0"/>
                          </a:rPr>
                        </m:ctrlPr>
                      </m:sSubPr>
                      <m:e>
                        <m:acc>
                          <m:accPr>
                            <m:chr m:val="̂"/>
                            <m:ctrlPr>
                              <a:rPr lang="zh-CN" altLang="zh-CN" sz="2400" b="1" i="1" kern="0">
                                <a:effectLst/>
                                <a:latin typeface="Cambria Math" panose="02040503050406030204" pitchFamily="18" charset="0"/>
                                <a:ea typeface="Cambria Math" panose="02040503050406030204" pitchFamily="18" charset="0"/>
                              </a:rPr>
                            </m:ctrlPr>
                          </m:accPr>
                          <m:e>
                            <m:r>
                              <a:rPr lang="en-US" altLang="zh-CN" sz="2400" b="1" i="1" kern="0" smtClean="0">
                                <a:effectLst/>
                                <a:latin typeface="Cambria Math" panose="02040503050406030204" pitchFamily="18" charset="0"/>
                                <a:ea typeface="宋体" panose="02010600030101010101" pitchFamily="2" charset="-122"/>
                              </a:rPr>
                              <m:t>𝒛</m:t>
                            </m:r>
                          </m:e>
                        </m:acc>
                      </m:e>
                      <m:sub>
                        <m:r>
                          <a:rPr lang="en-US" altLang="zh-CN" sz="2400" b="1" i="1" kern="0" smtClean="0">
                            <a:effectLst/>
                            <a:latin typeface="Cambria Math" panose="02040503050406030204" pitchFamily="18" charset="0"/>
                            <a:ea typeface="宋体" panose="02010600030101010101" pitchFamily="2" charset="-122"/>
                          </a:rPr>
                          <m:t>𝟐</m:t>
                        </m:r>
                      </m:sub>
                    </m:sSub>
                  </m:oMath>
                </a14:m>
                <a:r>
                  <a:rPr lang="zh-CN" altLang="zh-CN" sz="2400" b="1" kern="0" dirty="0">
                    <a:effectLst/>
                    <a:latin typeface="微软雅黑" panose="020B0503020204020204" pitchFamily="34" charset="-122"/>
                    <a:ea typeface="微软雅黑" panose="020B0503020204020204" pitchFamily="34" charset="-122"/>
                  </a:rPr>
                  <a:t>的估计图在图</a:t>
                </a:r>
                <a:r>
                  <a:rPr lang="en-US" altLang="zh-CN" sz="2400" b="1" kern="0" dirty="0">
                    <a:effectLst/>
                    <a:latin typeface="微软雅黑" panose="020B0503020204020204" pitchFamily="34" charset="-122"/>
                    <a:ea typeface="微软雅黑" panose="020B0503020204020204" pitchFamily="34" charset="-122"/>
                  </a:rPr>
                  <a:t>7.34</a:t>
                </a:r>
                <a:r>
                  <a:rPr lang="zh-CN" altLang="zh-CN" sz="2400" b="1" kern="0" dirty="0">
                    <a:effectLst/>
                    <a:latin typeface="微软雅黑" panose="020B0503020204020204" pitchFamily="34" charset="-122"/>
                    <a:ea typeface="微软雅黑" panose="020B0503020204020204" pitchFamily="34" charset="-122"/>
                  </a:rPr>
                  <a:t>中给出，图</a:t>
                </a:r>
                <a:r>
                  <a:rPr lang="en-US" altLang="zh-CN" sz="2400" b="1" kern="0" dirty="0">
                    <a:effectLst/>
                    <a:latin typeface="微软雅黑" panose="020B0503020204020204" pitchFamily="34" charset="-122"/>
                    <a:ea typeface="微软雅黑" panose="020B0503020204020204" pitchFamily="34" charset="-122"/>
                  </a:rPr>
                  <a:t>7.35</a:t>
                </a:r>
                <a:r>
                  <a:rPr lang="zh-CN" altLang="zh-CN" sz="2400" b="1" kern="0" dirty="0">
                    <a:effectLst/>
                    <a:latin typeface="微软雅黑" panose="020B0503020204020204" pitchFamily="34" charset="-122"/>
                    <a:ea typeface="微软雅黑" panose="020B0503020204020204" pitchFamily="34" charset="-122"/>
                  </a:rPr>
                  <a:t>是系统的观测误差图。观察这些图可以得出结论，</a:t>
                </a:r>
                <a:r>
                  <a:rPr lang="zh-CN" altLang="zh-CN" sz="2400" b="1" kern="1000" dirty="0">
                    <a:effectLst/>
                    <a:latin typeface="微软雅黑" panose="020B0503020204020204" pitchFamily="34" charset="-122"/>
                    <a:ea typeface="微软雅黑" panose="020B0503020204020204" pitchFamily="34" charset="-122"/>
                  </a:rPr>
                  <a:t>具有高增益观测器的输出反馈自适应神经网络控制协议对实现机器人轨迹追踪行为是十分有效的。</a:t>
                </a:r>
              </a:p>
            </p:txBody>
          </p:sp>
        </mc:Choice>
        <mc:Fallback>
          <p:sp>
            <p:nvSpPr>
              <p:cNvPr id="4" name="文本框 3">
                <a:extLst>
                  <a:ext uri="{FF2B5EF4-FFF2-40B4-BE49-F238E27FC236}">
                    <a16:creationId xmlns:a16="http://schemas.microsoft.com/office/drawing/2014/main" id="{4B895530-19F3-F309-31B0-F0CA6EDA07CB}"/>
                  </a:ext>
                </a:extLst>
              </p:cNvPr>
              <p:cNvSpPr txBox="1">
                <a:spLocks noRot="1" noChangeAspect="1" noMove="1" noResize="1" noEditPoints="1" noAdjustHandles="1" noChangeArrowheads="1" noChangeShapeType="1" noTextEdit="1"/>
              </p:cNvSpPr>
              <p:nvPr/>
            </p:nvSpPr>
            <p:spPr>
              <a:xfrm>
                <a:off x="838200" y="1123950"/>
                <a:ext cx="10668000" cy="3416320"/>
              </a:xfrm>
              <a:prstGeom prst="rect">
                <a:avLst/>
              </a:prstGeom>
              <a:blipFill>
                <a:blip r:embed="rId3"/>
                <a:stretch>
                  <a:fillRect l="-914" r="-857" b="-3030"/>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AF4BD824-DB4F-F08B-471F-0CF299EB6FE8}"/>
              </a:ext>
            </a:extLst>
          </p:cNvPr>
          <p:cNvSpPr txBox="1"/>
          <p:nvPr>
            <p:custDataLst>
              <p:tags r:id="rId1"/>
            </p:custDataLst>
          </p:nvPr>
        </p:nvSpPr>
        <p:spPr>
          <a:xfrm>
            <a:off x="1357313" y="128685"/>
            <a:ext cx="8158162" cy="954107"/>
          </a:xfrm>
          <a:prstGeom prst="rect">
            <a:avLst/>
          </a:prstGeom>
          <a:noFill/>
        </p:spPr>
        <p:txBody>
          <a:bodyPr wrap="square" rtlCol="0">
            <a:spAutoFit/>
          </a:bodyPr>
          <a:lstStyle/>
          <a:p>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部分状态信息未知情况下的</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7499276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2E4D82A-FC2C-F87D-1479-2009110806A3}"/>
              </a:ext>
            </a:extLst>
          </p:cNvPr>
          <p:cNvPicPr>
            <a:picLocks noChangeAspect="1"/>
          </p:cNvPicPr>
          <p:nvPr/>
        </p:nvPicPr>
        <p:blipFill>
          <a:blip r:embed="rId3" cstate="print">
            <a:extLst>
              <a:ext uri="{28A0092B-C50C-407E-A947-70E740481C1C}">
                <a14:useLocalDpi xmlns:a14="http://schemas.microsoft.com/office/drawing/2010/main" val="0"/>
              </a:ext>
            </a:extLst>
          </a:blip>
          <a:srcRect b="51761"/>
          <a:stretch>
            <a:fillRect/>
          </a:stretch>
        </p:blipFill>
        <p:spPr bwMode="auto">
          <a:xfrm>
            <a:off x="3549717" y="1357312"/>
            <a:ext cx="5092566" cy="1947863"/>
          </a:xfrm>
          <a:prstGeom prst="rect">
            <a:avLst/>
          </a:prstGeom>
          <a:noFill/>
          <a:ln>
            <a:noFill/>
          </a:ln>
        </p:spPr>
      </p:pic>
      <p:pic>
        <p:nvPicPr>
          <p:cNvPr id="4" name="图片 3">
            <a:extLst>
              <a:ext uri="{FF2B5EF4-FFF2-40B4-BE49-F238E27FC236}">
                <a16:creationId xmlns:a16="http://schemas.microsoft.com/office/drawing/2014/main" id="{F2DCFD2D-AB3D-01C4-94E2-4B069C03128F}"/>
              </a:ext>
            </a:extLst>
          </p:cNvPr>
          <p:cNvPicPr>
            <a:picLocks noChangeAspect="1"/>
          </p:cNvPicPr>
          <p:nvPr/>
        </p:nvPicPr>
        <p:blipFill>
          <a:blip r:embed="rId3" cstate="print">
            <a:extLst>
              <a:ext uri="{28A0092B-C50C-407E-A947-70E740481C1C}">
                <a14:useLocalDpi xmlns:a14="http://schemas.microsoft.com/office/drawing/2010/main" val="0"/>
              </a:ext>
            </a:extLst>
          </a:blip>
          <a:srcRect t="50922"/>
          <a:stretch>
            <a:fillRect/>
          </a:stretch>
        </p:blipFill>
        <p:spPr bwMode="auto">
          <a:xfrm>
            <a:off x="3549716" y="3429000"/>
            <a:ext cx="5092565" cy="1980120"/>
          </a:xfrm>
          <a:prstGeom prst="rect">
            <a:avLst/>
          </a:prstGeom>
          <a:noFill/>
          <a:ln>
            <a:noFill/>
          </a:ln>
        </p:spPr>
      </p:pic>
      <p:sp>
        <p:nvSpPr>
          <p:cNvPr id="6" name="文本框 5">
            <a:extLst>
              <a:ext uri="{FF2B5EF4-FFF2-40B4-BE49-F238E27FC236}">
                <a16:creationId xmlns:a16="http://schemas.microsoft.com/office/drawing/2014/main" id="{38202482-7108-DDF8-4A48-02048E0B0ECE}"/>
              </a:ext>
            </a:extLst>
          </p:cNvPr>
          <p:cNvSpPr txBox="1"/>
          <p:nvPr/>
        </p:nvSpPr>
        <p:spPr>
          <a:xfrm>
            <a:off x="3033711" y="5466270"/>
            <a:ext cx="6124574" cy="369332"/>
          </a:xfrm>
          <a:prstGeom prst="rect">
            <a:avLst/>
          </a:prstGeom>
          <a:noFill/>
        </p:spPr>
        <p:txBody>
          <a:bodyPr wrap="square">
            <a:spAutoFit/>
          </a:bodyPr>
          <a:lstStyle/>
          <a:p>
            <a:pPr algn="ctr">
              <a:spcBef>
                <a:spcPts val="700"/>
              </a:spcBef>
              <a:spcAft>
                <a:spcPts val="800"/>
              </a:spcAft>
            </a:pPr>
            <a:r>
              <a:rPr lang="zh-CN" altLang="zh-CN" sz="1800" kern="0" dirty="0">
                <a:effectLst/>
                <a:latin typeface="Times New Roman" panose="02020603050405020304" pitchFamily="18" charset="0"/>
                <a:ea typeface="宋体" panose="02010600030101010101" pitchFamily="2" charset="-122"/>
              </a:rPr>
              <a:t>图</a:t>
            </a:r>
            <a:r>
              <a:rPr lang="en-US" altLang="zh-CN" sz="1800" kern="0" dirty="0">
                <a:effectLst/>
                <a:latin typeface="Times New Roman" panose="02020603050405020304" pitchFamily="18" charset="0"/>
                <a:ea typeface="宋体" panose="02010600030101010101" pitchFamily="2" charset="-122"/>
              </a:rPr>
              <a:t>7.29  </a:t>
            </a:r>
            <a:r>
              <a:rPr lang="zh-CN" altLang="zh-CN" sz="1800" kern="0" dirty="0">
                <a:effectLst/>
                <a:latin typeface="Times New Roman" panose="02020603050405020304" pitchFamily="18" charset="0"/>
                <a:ea typeface="宋体" panose="02010600030101010101" pitchFamily="2" charset="-122"/>
              </a:rPr>
              <a:t>关节</a:t>
            </a:r>
            <a:r>
              <a:rPr lang="en-US" altLang="zh-CN" sz="1800" kern="0" dirty="0">
                <a:effectLst/>
                <a:latin typeface="Times New Roman" panose="02020603050405020304" pitchFamily="18" charset="0"/>
                <a:ea typeface="宋体" panose="02010600030101010101" pitchFamily="2" charset="-122"/>
              </a:rPr>
              <a:t>1</a:t>
            </a:r>
            <a:r>
              <a:rPr lang="zh-CN" altLang="zh-CN" sz="1800" kern="0" dirty="0">
                <a:effectLst/>
                <a:latin typeface="Times New Roman" panose="02020603050405020304" pitchFamily="18" charset="0"/>
                <a:ea typeface="宋体" panose="02010600030101010101" pitchFamily="2" charset="-122"/>
              </a:rPr>
              <a:t>位置轨迹曲线和位置跟踪误差曲线</a:t>
            </a:r>
            <a:endParaRPr lang="zh-CN" altLang="zh-CN" sz="1800" kern="1000" dirty="0">
              <a:effectLst/>
              <a:latin typeface="Times New Roman" panose="02020603050405020304" pitchFamily="18" charset="0"/>
              <a:ea typeface="宋体" panose="02010600030101010101" pitchFamily="2" charset="-122"/>
            </a:endParaRPr>
          </a:p>
        </p:txBody>
      </p:sp>
      <p:sp>
        <p:nvSpPr>
          <p:cNvPr id="7" name="文本框 6">
            <a:extLst>
              <a:ext uri="{FF2B5EF4-FFF2-40B4-BE49-F238E27FC236}">
                <a16:creationId xmlns:a16="http://schemas.microsoft.com/office/drawing/2014/main" id="{E468B880-ED6C-EF18-0CF0-339CF6B2F6EE}"/>
              </a:ext>
            </a:extLst>
          </p:cNvPr>
          <p:cNvSpPr txBox="1"/>
          <p:nvPr>
            <p:custDataLst>
              <p:tags r:id="rId1"/>
            </p:custDataLst>
          </p:nvPr>
        </p:nvSpPr>
        <p:spPr>
          <a:xfrm>
            <a:off x="1357313" y="128685"/>
            <a:ext cx="8158162" cy="954107"/>
          </a:xfrm>
          <a:prstGeom prst="rect">
            <a:avLst/>
          </a:prstGeom>
          <a:noFill/>
        </p:spPr>
        <p:txBody>
          <a:bodyPr wrap="square" rtlCol="0">
            <a:spAutoFit/>
          </a:bodyPr>
          <a:lstStyle/>
          <a:p>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部分状态信息未知情况下的</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36990565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E07D9E1-E2D2-45E9-60E6-5364061702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67420" y="1150938"/>
            <a:ext cx="5424955" cy="4268788"/>
          </a:xfrm>
          <a:prstGeom prst="rect">
            <a:avLst/>
          </a:prstGeom>
          <a:noFill/>
          <a:ln>
            <a:noFill/>
          </a:ln>
        </p:spPr>
      </p:pic>
      <p:sp>
        <p:nvSpPr>
          <p:cNvPr id="5" name="文本框 4">
            <a:extLst>
              <a:ext uri="{FF2B5EF4-FFF2-40B4-BE49-F238E27FC236}">
                <a16:creationId xmlns:a16="http://schemas.microsoft.com/office/drawing/2014/main" id="{B9094D61-96AD-BABC-88EC-43514611B9B2}"/>
              </a:ext>
            </a:extLst>
          </p:cNvPr>
          <p:cNvSpPr txBox="1"/>
          <p:nvPr/>
        </p:nvSpPr>
        <p:spPr>
          <a:xfrm>
            <a:off x="3033713" y="5522396"/>
            <a:ext cx="6124574" cy="369332"/>
          </a:xfrm>
          <a:prstGeom prst="rect">
            <a:avLst/>
          </a:prstGeom>
          <a:noFill/>
        </p:spPr>
        <p:txBody>
          <a:bodyPr wrap="square">
            <a:spAutoFit/>
          </a:bodyPr>
          <a:lstStyle/>
          <a:p>
            <a:pPr algn="ctr">
              <a:spcBef>
                <a:spcPts val="700"/>
              </a:spcBef>
              <a:spcAft>
                <a:spcPts val="800"/>
              </a:spcAft>
            </a:pPr>
            <a:r>
              <a:rPr lang="zh-CN" altLang="zh-CN" sz="1800" kern="0" dirty="0">
                <a:effectLst/>
                <a:latin typeface="Times New Roman" panose="02020603050405020304" pitchFamily="18" charset="0"/>
                <a:ea typeface="宋体" panose="02010600030101010101" pitchFamily="2" charset="-122"/>
              </a:rPr>
              <a:t>图</a:t>
            </a:r>
            <a:r>
              <a:rPr lang="en-US" altLang="zh-CN" sz="1800" kern="0" dirty="0">
                <a:effectLst/>
                <a:latin typeface="Times New Roman" panose="02020603050405020304" pitchFamily="18" charset="0"/>
                <a:ea typeface="宋体" panose="02010600030101010101" pitchFamily="2" charset="-122"/>
              </a:rPr>
              <a:t>7.30  </a:t>
            </a:r>
            <a:r>
              <a:rPr lang="zh-CN" altLang="zh-CN" sz="1800" kern="0" dirty="0">
                <a:effectLst/>
                <a:latin typeface="Times New Roman" panose="02020603050405020304" pitchFamily="18" charset="0"/>
                <a:ea typeface="宋体" panose="02010600030101010101" pitchFamily="2" charset="-122"/>
              </a:rPr>
              <a:t>关节</a:t>
            </a:r>
            <a:r>
              <a:rPr lang="en-US" altLang="zh-CN" sz="1800" kern="0" dirty="0">
                <a:effectLst/>
                <a:latin typeface="Times New Roman" panose="02020603050405020304" pitchFamily="18" charset="0"/>
                <a:ea typeface="宋体" panose="02010600030101010101" pitchFamily="2" charset="-122"/>
              </a:rPr>
              <a:t>2</a:t>
            </a:r>
            <a:r>
              <a:rPr lang="zh-CN" altLang="zh-CN" sz="1800" kern="0" dirty="0">
                <a:effectLst/>
                <a:latin typeface="Times New Roman" panose="02020603050405020304" pitchFamily="18" charset="0"/>
                <a:ea typeface="宋体" panose="02010600030101010101" pitchFamily="2" charset="-122"/>
              </a:rPr>
              <a:t>位置轨迹曲线和位置跟踪误差曲线</a:t>
            </a:r>
            <a:endParaRPr lang="zh-CN" altLang="zh-CN" sz="1800" kern="1000" dirty="0">
              <a:effectLst/>
              <a:latin typeface="Times New Roman" panose="02020603050405020304" pitchFamily="18" charset="0"/>
              <a:ea typeface="宋体" panose="02010600030101010101" pitchFamily="2" charset="-122"/>
            </a:endParaRPr>
          </a:p>
        </p:txBody>
      </p:sp>
      <p:sp>
        <p:nvSpPr>
          <p:cNvPr id="6" name="文本框 5">
            <a:extLst>
              <a:ext uri="{FF2B5EF4-FFF2-40B4-BE49-F238E27FC236}">
                <a16:creationId xmlns:a16="http://schemas.microsoft.com/office/drawing/2014/main" id="{D8BAE361-E4E4-3B40-12F3-048C5D2EF8A3}"/>
              </a:ext>
            </a:extLst>
          </p:cNvPr>
          <p:cNvSpPr txBox="1"/>
          <p:nvPr>
            <p:custDataLst>
              <p:tags r:id="rId1"/>
            </p:custDataLst>
          </p:nvPr>
        </p:nvSpPr>
        <p:spPr>
          <a:xfrm>
            <a:off x="1357313" y="128685"/>
            <a:ext cx="8158162" cy="954107"/>
          </a:xfrm>
          <a:prstGeom prst="rect">
            <a:avLst/>
          </a:prstGeom>
          <a:noFill/>
        </p:spPr>
        <p:txBody>
          <a:bodyPr wrap="square" rtlCol="0">
            <a:spAutoFit/>
          </a:bodyPr>
          <a:lstStyle/>
          <a:p>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部分状态信息未知情况下的</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12917281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F9C5F62-0F65-24E0-5A74-0A9E9304BC68}"/>
              </a:ext>
            </a:extLst>
          </p:cNvPr>
          <p:cNvPicPr>
            <a:picLocks noChangeAspect="1"/>
          </p:cNvPicPr>
          <p:nvPr/>
        </p:nvPicPr>
        <p:blipFill>
          <a:blip r:embed="rId3" cstate="print">
            <a:extLst>
              <a:ext uri="{28A0092B-C50C-407E-A947-70E740481C1C}">
                <a14:useLocalDpi xmlns:a14="http://schemas.microsoft.com/office/drawing/2010/main" val="0"/>
              </a:ext>
            </a:extLst>
          </a:blip>
          <a:srcRect b="51535"/>
          <a:stretch>
            <a:fillRect/>
          </a:stretch>
        </p:blipFill>
        <p:spPr bwMode="auto">
          <a:xfrm>
            <a:off x="3630227" y="1534160"/>
            <a:ext cx="4931545" cy="1894840"/>
          </a:xfrm>
          <a:prstGeom prst="rect">
            <a:avLst/>
          </a:prstGeom>
          <a:noFill/>
          <a:ln>
            <a:noFill/>
          </a:ln>
        </p:spPr>
      </p:pic>
      <p:pic>
        <p:nvPicPr>
          <p:cNvPr id="4" name="图片 3">
            <a:extLst>
              <a:ext uri="{FF2B5EF4-FFF2-40B4-BE49-F238E27FC236}">
                <a16:creationId xmlns:a16="http://schemas.microsoft.com/office/drawing/2014/main" id="{9DA8DA38-84B7-0B41-2FE1-83E4D35146FD}"/>
              </a:ext>
            </a:extLst>
          </p:cNvPr>
          <p:cNvPicPr>
            <a:picLocks noChangeAspect="1"/>
          </p:cNvPicPr>
          <p:nvPr/>
        </p:nvPicPr>
        <p:blipFill>
          <a:blip r:embed="rId3" cstate="print">
            <a:extLst>
              <a:ext uri="{28A0092B-C50C-407E-A947-70E740481C1C}">
                <a14:useLocalDpi xmlns:a14="http://schemas.microsoft.com/office/drawing/2010/main" val="0"/>
              </a:ext>
            </a:extLst>
          </a:blip>
          <a:srcRect t="50696"/>
          <a:stretch>
            <a:fillRect/>
          </a:stretch>
        </p:blipFill>
        <p:spPr bwMode="auto">
          <a:xfrm>
            <a:off x="3658802" y="3545127"/>
            <a:ext cx="4902970" cy="1919660"/>
          </a:xfrm>
          <a:prstGeom prst="rect">
            <a:avLst/>
          </a:prstGeom>
          <a:noFill/>
          <a:ln>
            <a:noFill/>
          </a:ln>
        </p:spPr>
      </p:pic>
      <p:sp>
        <p:nvSpPr>
          <p:cNvPr id="6" name="文本框 5">
            <a:extLst>
              <a:ext uri="{FF2B5EF4-FFF2-40B4-BE49-F238E27FC236}">
                <a16:creationId xmlns:a16="http://schemas.microsoft.com/office/drawing/2014/main" id="{2FF3108A-F546-519E-61E6-35FBFE04A4DE}"/>
              </a:ext>
            </a:extLst>
          </p:cNvPr>
          <p:cNvSpPr txBox="1"/>
          <p:nvPr/>
        </p:nvSpPr>
        <p:spPr>
          <a:xfrm>
            <a:off x="3048000" y="5701784"/>
            <a:ext cx="6124574" cy="369332"/>
          </a:xfrm>
          <a:prstGeom prst="rect">
            <a:avLst/>
          </a:prstGeom>
          <a:noFill/>
        </p:spPr>
        <p:txBody>
          <a:bodyPr wrap="square">
            <a:spAutoFit/>
          </a:bodyPr>
          <a:lstStyle/>
          <a:p>
            <a:pPr algn="ctr">
              <a:spcBef>
                <a:spcPts val="700"/>
              </a:spcBef>
              <a:spcAft>
                <a:spcPts val="800"/>
              </a:spcAft>
            </a:pPr>
            <a:r>
              <a:rPr lang="zh-CN" altLang="zh-CN" sz="1800" kern="0" dirty="0">
                <a:effectLst/>
                <a:latin typeface="Times New Roman" panose="02020603050405020304" pitchFamily="18" charset="0"/>
                <a:ea typeface="宋体" panose="02010600030101010101" pitchFamily="2" charset="-122"/>
              </a:rPr>
              <a:t>图</a:t>
            </a:r>
            <a:r>
              <a:rPr lang="en-US" altLang="zh-CN" sz="1800" kern="0" dirty="0">
                <a:effectLst/>
                <a:latin typeface="Times New Roman" panose="02020603050405020304" pitchFamily="18" charset="0"/>
                <a:ea typeface="宋体" panose="02010600030101010101" pitchFamily="2" charset="-122"/>
              </a:rPr>
              <a:t>7.31</a:t>
            </a:r>
            <a:r>
              <a:rPr lang="zh-CN" altLang="zh-CN" sz="1800" kern="0" dirty="0">
                <a:effectLst/>
                <a:latin typeface="Times New Roman" panose="02020603050405020304" pitchFamily="18" charset="0"/>
                <a:ea typeface="宋体" panose="02010600030101010101" pitchFamily="2" charset="-122"/>
              </a:rPr>
              <a:t>关节</a:t>
            </a:r>
            <a:r>
              <a:rPr lang="en-US" altLang="zh-CN" sz="1800" kern="0" dirty="0">
                <a:effectLst/>
                <a:latin typeface="Times New Roman" panose="02020603050405020304" pitchFamily="18" charset="0"/>
                <a:ea typeface="宋体" panose="02010600030101010101" pitchFamily="2" charset="-122"/>
              </a:rPr>
              <a:t>3</a:t>
            </a:r>
            <a:r>
              <a:rPr lang="zh-CN" altLang="zh-CN" sz="1800" kern="0" dirty="0">
                <a:effectLst/>
                <a:latin typeface="Times New Roman" panose="02020603050405020304" pitchFamily="18" charset="0"/>
                <a:ea typeface="宋体" panose="02010600030101010101" pitchFamily="2" charset="-122"/>
              </a:rPr>
              <a:t>位置轨迹曲线和位置跟踪误差曲线</a:t>
            </a:r>
            <a:endParaRPr lang="zh-CN" altLang="zh-CN" sz="1800" kern="1000" dirty="0">
              <a:effectLst/>
              <a:latin typeface="Times New Roman" panose="02020603050405020304" pitchFamily="18" charset="0"/>
              <a:ea typeface="宋体" panose="02010600030101010101" pitchFamily="2" charset="-122"/>
            </a:endParaRPr>
          </a:p>
        </p:txBody>
      </p:sp>
      <p:sp>
        <p:nvSpPr>
          <p:cNvPr id="7" name="文本框 6">
            <a:extLst>
              <a:ext uri="{FF2B5EF4-FFF2-40B4-BE49-F238E27FC236}">
                <a16:creationId xmlns:a16="http://schemas.microsoft.com/office/drawing/2014/main" id="{A71A7472-F523-51BF-930A-B0EBEA28C6FE}"/>
              </a:ext>
            </a:extLst>
          </p:cNvPr>
          <p:cNvSpPr txBox="1"/>
          <p:nvPr>
            <p:custDataLst>
              <p:tags r:id="rId1"/>
            </p:custDataLst>
          </p:nvPr>
        </p:nvSpPr>
        <p:spPr>
          <a:xfrm>
            <a:off x="1357313" y="128685"/>
            <a:ext cx="8158162" cy="954107"/>
          </a:xfrm>
          <a:prstGeom prst="rect">
            <a:avLst/>
          </a:prstGeom>
          <a:noFill/>
        </p:spPr>
        <p:txBody>
          <a:bodyPr wrap="square" rtlCol="0">
            <a:spAutoFit/>
          </a:bodyPr>
          <a:lstStyle/>
          <a:p>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部分状态信息未知情况下的</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12287702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5528848-1709-DEA5-4039-155D53ED665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9701" y="1143995"/>
            <a:ext cx="3671849" cy="2923179"/>
          </a:xfrm>
          <a:prstGeom prst="rect">
            <a:avLst/>
          </a:prstGeom>
          <a:noFill/>
          <a:ln>
            <a:noFill/>
          </a:ln>
        </p:spPr>
      </p:pic>
      <p:sp>
        <p:nvSpPr>
          <p:cNvPr id="5" name="文本框 4">
            <a:extLst>
              <a:ext uri="{FF2B5EF4-FFF2-40B4-BE49-F238E27FC236}">
                <a16:creationId xmlns:a16="http://schemas.microsoft.com/office/drawing/2014/main" id="{64AC06D5-C56D-E45C-D97E-BB52ACD54998}"/>
              </a:ext>
            </a:extLst>
          </p:cNvPr>
          <p:cNvSpPr txBox="1"/>
          <p:nvPr/>
        </p:nvSpPr>
        <p:spPr>
          <a:xfrm>
            <a:off x="1790701" y="4067174"/>
            <a:ext cx="6124574" cy="369332"/>
          </a:xfrm>
          <a:prstGeom prst="rect">
            <a:avLst/>
          </a:prstGeom>
          <a:noFill/>
        </p:spPr>
        <p:txBody>
          <a:bodyPr wrap="square">
            <a:spAutoFit/>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dirty="0">
                <a:effectLst/>
                <a:latin typeface="Times New Roman" panose="02020603050405020304" pitchFamily="18" charset="0"/>
                <a:ea typeface="宋体" panose="02010600030101010101" pitchFamily="2" charset="-122"/>
              </a:rPr>
              <a:t>7.32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位置误差和</a:t>
            </a:r>
            <a:endParaRPr lang="zh-CN" altLang="en-US" dirty="0"/>
          </a:p>
        </p:txBody>
      </p:sp>
      <p:pic>
        <p:nvPicPr>
          <p:cNvPr id="6" name="图片 5">
            <a:extLst>
              <a:ext uri="{FF2B5EF4-FFF2-40B4-BE49-F238E27FC236}">
                <a16:creationId xmlns:a16="http://schemas.microsoft.com/office/drawing/2014/main" id="{DCD10CAB-4170-4B31-80B6-D09D122475A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29450" y="3024330"/>
            <a:ext cx="3671849" cy="2878294"/>
          </a:xfrm>
          <a:prstGeom prst="rect">
            <a:avLst/>
          </a:prstGeom>
          <a:noFill/>
          <a:ln>
            <a:noFill/>
          </a:ln>
        </p:spPr>
      </p:pic>
      <p:sp>
        <p:nvSpPr>
          <p:cNvPr id="8" name="文本框 7">
            <a:extLst>
              <a:ext uri="{FF2B5EF4-FFF2-40B4-BE49-F238E27FC236}">
                <a16:creationId xmlns:a16="http://schemas.microsoft.com/office/drawing/2014/main" id="{3EA08A49-6C1A-D09D-DB45-3D7D1E0C175B}"/>
              </a:ext>
            </a:extLst>
          </p:cNvPr>
          <p:cNvSpPr txBox="1"/>
          <p:nvPr/>
        </p:nvSpPr>
        <p:spPr>
          <a:xfrm>
            <a:off x="5729288" y="6140637"/>
            <a:ext cx="6124574" cy="369332"/>
          </a:xfrm>
          <a:prstGeom prst="rect">
            <a:avLst/>
          </a:prstGeom>
          <a:noFill/>
        </p:spPr>
        <p:txBody>
          <a:bodyPr wrap="square">
            <a:spAutoFit/>
          </a:bodyPr>
          <a:lstStyle/>
          <a:p>
            <a:pPr algn="ctr">
              <a:spcBef>
                <a:spcPts val="700"/>
              </a:spcBef>
              <a:spcAft>
                <a:spcPts val="800"/>
              </a:spcAft>
            </a:pPr>
            <a:r>
              <a:rPr lang="zh-CN" altLang="zh-CN" sz="1800" kern="0" dirty="0">
                <a:effectLst/>
                <a:latin typeface="Times New Roman" panose="02020603050405020304" pitchFamily="18" charset="0"/>
                <a:ea typeface="宋体" panose="02010600030101010101" pitchFamily="2" charset="-122"/>
              </a:rPr>
              <a:t>图</a:t>
            </a:r>
            <a:r>
              <a:rPr lang="en-US" altLang="zh-CN" sz="1800" kern="0" dirty="0">
                <a:effectLst/>
                <a:latin typeface="Times New Roman" panose="02020603050405020304" pitchFamily="18" charset="0"/>
                <a:ea typeface="宋体" panose="02010600030101010101" pitchFamily="2" charset="-122"/>
              </a:rPr>
              <a:t>7.33  </a:t>
            </a:r>
            <a:r>
              <a:rPr lang="zh-CN" altLang="zh-CN" sz="1800" kern="0" dirty="0">
                <a:effectLst/>
                <a:latin typeface="Times New Roman" panose="02020603050405020304" pitchFamily="18" charset="0"/>
                <a:ea typeface="宋体" panose="02010600030101010101" pitchFamily="2" charset="-122"/>
              </a:rPr>
              <a:t>基于输出反馈神经网络算法的控制输入</a:t>
            </a:r>
            <a:endParaRPr lang="zh-CN" altLang="zh-CN" sz="1800" kern="1000" dirty="0">
              <a:effectLst/>
              <a:latin typeface="Times New Roman" panose="02020603050405020304" pitchFamily="18" charset="0"/>
              <a:ea typeface="宋体" panose="02010600030101010101" pitchFamily="2" charset="-122"/>
            </a:endParaRPr>
          </a:p>
        </p:txBody>
      </p:sp>
      <p:sp>
        <p:nvSpPr>
          <p:cNvPr id="9" name="文本框 8">
            <a:extLst>
              <a:ext uri="{FF2B5EF4-FFF2-40B4-BE49-F238E27FC236}">
                <a16:creationId xmlns:a16="http://schemas.microsoft.com/office/drawing/2014/main" id="{672B111B-6933-B16F-2D03-CEA6F108EE06}"/>
              </a:ext>
            </a:extLst>
          </p:cNvPr>
          <p:cNvSpPr txBox="1"/>
          <p:nvPr>
            <p:custDataLst>
              <p:tags r:id="rId1"/>
            </p:custDataLst>
          </p:nvPr>
        </p:nvSpPr>
        <p:spPr>
          <a:xfrm>
            <a:off x="1357313" y="128685"/>
            <a:ext cx="8158162" cy="954107"/>
          </a:xfrm>
          <a:prstGeom prst="rect">
            <a:avLst/>
          </a:prstGeom>
          <a:noFill/>
        </p:spPr>
        <p:txBody>
          <a:bodyPr wrap="square" rtlCol="0">
            <a:spAutoFit/>
          </a:bodyPr>
          <a:lstStyle/>
          <a:p>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部分状态信息未知情况下的</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119145633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90420E73-2111-053D-EC23-692CE329EEE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3939" y="1214119"/>
            <a:ext cx="3804286" cy="3000758"/>
          </a:xfrm>
          <a:prstGeom prst="rect">
            <a:avLst/>
          </a:prstGeom>
          <a:noFill/>
          <a:ln>
            <a:noFill/>
          </a:ln>
        </p:spPr>
      </p:pic>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D88991CD-8715-C515-309F-2D5600CBB0F3}"/>
                  </a:ext>
                </a:extLst>
              </p:cNvPr>
              <p:cNvSpPr txBox="1"/>
              <p:nvPr/>
            </p:nvSpPr>
            <p:spPr>
              <a:xfrm>
                <a:off x="-116205" y="4214877"/>
                <a:ext cx="6124574" cy="369332"/>
              </a:xfrm>
              <a:prstGeom prst="rect">
                <a:avLst/>
              </a:prstGeom>
              <a:noFill/>
            </p:spPr>
            <p:txBody>
              <a:bodyPr wrap="square">
                <a:spAutoFit/>
              </a:bodyPr>
              <a:lstStyle/>
              <a:p>
                <a:pPr algn="ctr">
                  <a:spcBef>
                    <a:spcPts val="700"/>
                  </a:spcBef>
                  <a:spcAft>
                    <a:spcPts val="800"/>
                  </a:spcAft>
                </a:pPr>
                <a:r>
                  <a:rPr lang="zh-CN" altLang="zh-CN" sz="1800" kern="0" dirty="0">
                    <a:effectLst/>
                    <a:latin typeface="Times New Roman" panose="02020603050405020304" pitchFamily="18" charset="0"/>
                    <a:ea typeface="宋体" panose="02010600030101010101" pitchFamily="2" charset="-122"/>
                  </a:rPr>
                  <a:t>图</a:t>
                </a:r>
                <a:r>
                  <a:rPr lang="en-US" altLang="zh-CN" sz="1800" kern="0" dirty="0">
                    <a:effectLst/>
                    <a:latin typeface="Times New Roman" panose="02020603050405020304" pitchFamily="18" charset="0"/>
                    <a:ea typeface="宋体" panose="02010600030101010101" pitchFamily="2" charset="-122"/>
                  </a:rPr>
                  <a:t>7.34  </a:t>
                </a:r>
                <a:r>
                  <a:rPr lang="zh-CN" altLang="zh-CN" sz="1800" kern="0" dirty="0">
                    <a:effectLst/>
                    <a:latin typeface="Times New Roman" panose="02020603050405020304" pitchFamily="18" charset="0"/>
                    <a:ea typeface="宋体" panose="02010600030101010101" pitchFamily="2" charset="-122"/>
                  </a:rPr>
                  <a:t>状态向量</a:t>
                </a:r>
                <a14:m>
                  <m:oMath xmlns:m="http://schemas.openxmlformats.org/officeDocument/2006/math">
                    <m:sSub>
                      <m:sSubPr>
                        <m:ctrlPr>
                          <a:rPr lang="zh-CN" altLang="zh-CN" sz="1800" i="1" kern="0">
                            <a:effectLst/>
                            <a:latin typeface="Cambria Math" panose="02040503050406030204" pitchFamily="18" charset="0"/>
                            <a:ea typeface="Cambria Math" panose="02040503050406030204" pitchFamily="18" charset="0"/>
                          </a:rPr>
                        </m:ctrlPr>
                      </m:sSubPr>
                      <m:e>
                        <m:acc>
                          <m:accPr>
                            <m:chr m:val="̂"/>
                            <m:ctrlPr>
                              <a:rPr lang="zh-CN" altLang="zh-CN" sz="1800" i="1" kern="0">
                                <a:effectLst/>
                                <a:latin typeface="Cambria Math" panose="02040503050406030204" pitchFamily="18" charset="0"/>
                                <a:ea typeface="Cambria Math" panose="02040503050406030204" pitchFamily="18" charset="0"/>
                              </a:rPr>
                            </m:ctrlPr>
                          </m:accPr>
                          <m:e>
                            <m:r>
                              <a:rPr lang="en-US" altLang="zh-CN" sz="1800" i="1" kern="0">
                                <a:effectLst/>
                                <a:latin typeface="Cambria Math" panose="02040503050406030204" pitchFamily="18" charset="0"/>
                                <a:ea typeface="宋体" panose="02010600030101010101" pitchFamily="2" charset="-122"/>
                              </a:rPr>
                              <m:t>𝑧</m:t>
                            </m:r>
                          </m:e>
                        </m:acc>
                      </m:e>
                      <m:sub>
                        <m:r>
                          <a:rPr lang="en-US" altLang="zh-CN" sz="1800" i="1" kern="0">
                            <a:effectLst/>
                            <a:latin typeface="Cambria Math" panose="02040503050406030204" pitchFamily="18" charset="0"/>
                            <a:ea typeface="宋体" panose="02010600030101010101" pitchFamily="2" charset="-122"/>
                          </a:rPr>
                          <m:t>2</m:t>
                        </m:r>
                      </m:sub>
                    </m:sSub>
                  </m:oMath>
                </a14:m>
                <a:r>
                  <a:rPr lang="zh-CN" altLang="zh-CN" sz="1800" kern="0" dirty="0">
                    <a:effectLst/>
                    <a:latin typeface="Times New Roman" panose="02020603050405020304" pitchFamily="18" charset="0"/>
                    <a:ea typeface="宋体" panose="02010600030101010101" pitchFamily="2" charset="-122"/>
                  </a:rPr>
                  <a:t>的估计</a:t>
                </a:r>
                <a:endParaRPr lang="zh-CN" altLang="zh-CN" sz="1800" kern="1000" dirty="0">
                  <a:effectLst/>
                  <a:latin typeface="Times New Roman" panose="02020603050405020304" pitchFamily="18" charset="0"/>
                  <a:ea typeface="宋体" panose="02010600030101010101" pitchFamily="2" charset="-122"/>
                </a:endParaRPr>
              </a:p>
            </p:txBody>
          </p:sp>
        </mc:Choice>
        <mc:Fallback>
          <p:sp>
            <p:nvSpPr>
              <p:cNvPr id="5" name="文本框 4">
                <a:extLst>
                  <a:ext uri="{FF2B5EF4-FFF2-40B4-BE49-F238E27FC236}">
                    <a16:creationId xmlns:a16="http://schemas.microsoft.com/office/drawing/2014/main" id="{D88991CD-8715-C515-309F-2D5600CBB0F3}"/>
                  </a:ext>
                </a:extLst>
              </p:cNvPr>
              <p:cNvSpPr txBox="1">
                <a:spLocks noRot="1" noChangeAspect="1" noMove="1" noResize="1" noEditPoints="1" noAdjustHandles="1" noChangeArrowheads="1" noChangeShapeType="1" noTextEdit="1"/>
              </p:cNvSpPr>
              <p:nvPr/>
            </p:nvSpPr>
            <p:spPr>
              <a:xfrm>
                <a:off x="-116205" y="4214877"/>
                <a:ext cx="6124574" cy="369332"/>
              </a:xfrm>
              <a:prstGeom prst="rect">
                <a:avLst/>
              </a:prstGeom>
              <a:blipFill>
                <a:blip r:embed="rId4"/>
                <a:stretch>
                  <a:fillRect t="-11475" b="-26230"/>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B47E7EC0-8FC1-A433-677C-9AC68F2ADE37}"/>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168513" y="3063292"/>
            <a:ext cx="3749993" cy="2981392"/>
          </a:xfrm>
          <a:prstGeom prst="rect">
            <a:avLst/>
          </a:prstGeom>
          <a:noFill/>
          <a:ln>
            <a:noFill/>
          </a:ln>
        </p:spPr>
      </p:pic>
      <p:sp>
        <p:nvSpPr>
          <p:cNvPr id="8" name="文本框 7">
            <a:extLst>
              <a:ext uri="{FF2B5EF4-FFF2-40B4-BE49-F238E27FC236}">
                <a16:creationId xmlns:a16="http://schemas.microsoft.com/office/drawing/2014/main" id="{243294DD-CB7F-EB54-BD14-A00AC1D81755}"/>
              </a:ext>
            </a:extLst>
          </p:cNvPr>
          <p:cNvSpPr txBox="1"/>
          <p:nvPr/>
        </p:nvSpPr>
        <p:spPr>
          <a:xfrm>
            <a:off x="5998844" y="6130409"/>
            <a:ext cx="6310312" cy="369332"/>
          </a:xfrm>
          <a:prstGeom prst="rect">
            <a:avLst/>
          </a:prstGeom>
          <a:noFill/>
        </p:spPr>
        <p:txBody>
          <a:bodyPr wrap="square">
            <a:spAutoFit/>
          </a:bodyPr>
          <a:lstStyle/>
          <a:p>
            <a:pPr algn="ctr">
              <a:spcBef>
                <a:spcPts val="700"/>
              </a:spcBef>
              <a:spcAft>
                <a:spcPts val="800"/>
              </a:spcAft>
            </a:pPr>
            <a:r>
              <a:rPr lang="zh-CN" altLang="zh-CN" sz="1800" kern="0" dirty="0">
                <a:effectLst/>
                <a:latin typeface="Times New Roman" panose="02020603050405020304" pitchFamily="18" charset="0"/>
                <a:ea typeface="宋体" panose="02010600030101010101" pitchFamily="2" charset="-122"/>
              </a:rPr>
              <a:t>图</a:t>
            </a:r>
            <a:r>
              <a:rPr lang="en-US" altLang="zh-CN" sz="1800" kern="0" dirty="0">
                <a:effectLst/>
                <a:latin typeface="Times New Roman" panose="02020603050405020304" pitchFamily="18" charset="0"/>
                <a:ea typeface="宋体" panose="02010600030101010101" pitchFamily="2" charset="-122"/>
              </a:rPr>
              <a:t>7.35  </a:t>
            </a:r>
            <a:r>
              <a:rPr lang="zh-CN" altLang="zh-CN" sz="1800" kern="0" dirty="0">
                <a:effectLst/>
                <a:latin typeface="Times New Roman" panose="02020603050405020304" pitchFamily="18" charset="0"/>
                <a:ea typeface="宋体" panose="02010600030101010101" pitchFamily="2" charset="-122"/>
              </a:rPr>
              <a:t>观测误差图</a:t>
            </a:r>
            <a:endParaRPr lang="zh-CN" altLang="zh-CN" sz="1800" kern="1000" dirty="0">
              <a:effectLst/>
              <a:latin typeface="Times New Roman" panose="02020603050405020304" pitchFamily="18" charset="0"/>
              <a:ea typeface="宋体" panose="02010600030101010101" pitchFamily="2" charset="-122"/>
            </a:endParaRPr>
          </a:p>
        </p:txBody>
      </p:sp>
      <p:sp>
        <p:nvSpPr>
          <p:cNvPr id="9" name="文本框 8">
            <a:extLst>
              <a:ext uri="{FF2B5EF4-FFF2-40B4-BE49-F238E27FC236}">
                <a16:creationId xmlns:a16="http://schemas.microsoft.com/office/drawing/2014/main" id="{3FEA0C1D-0428-8248-9F7F-B6ABE49498C6}"/>
              </a:ext>
            </a:extLst>
          </p:cNvPr>
          <p:cNvSpPr txBox="1"/>
          <p:nvPr>
            <p:custDataLst>
              <p:tags r:id="rId1"/>
            </p:custDataLst>
          </p:nvPr>
        </p:nvSpPr>
        <p:spPr>
          <a:xfrm>
            <a:off x="1357313" y="128685"/>
            <a:ext cx="8158162" cy="954107"/>
          </a:xfrm>
          <a:prstGeom prst="rect">
            <a:avLst/>
          </a:prstGeom>
          <a:noFill/>
        </p:spPr>
        <p:txBody>
          <a:bodyPr wrap="square" rtlCol="0">
            <a:spAutoFit/>
          </a:bodyPr>
          <a:lstStyle/>
          <a:p>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dirty="0">
                <a:solidFill>
                  <a:prstClr val="black"/>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4</a:t>
            </a:r>
            <a:r>
              <a:rPr lang="zh-CN" altLang="zh-CN" sz="2800" b="1" kern="0" dirty="0">
                <a:effectLst/>
                <a:latin typeface="微软雅黑" panose="020B0503020204020204" pitchFamily="34" charset="-122"/>
                <a:ea typeface="微软雅黑" panose="020B0503020204020204" pitchFamily="34" charset="-122"/>
                <a:cs typeface="Times New Roman" panose="02020603050405020304" pitchFamily="18" charset="0"/>
              </a:rPr>
              <a:t>部分状态信息未知情况下的</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神经网络控制</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394037156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4A52E83-399A-2736-DFEB-4CC2B589A34E}"/>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滑模控制</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6853E584-D6CB-1F1B-0FFF-3232A95B2279}"/>
                  </a:ext>
                </a:extLst>
              </p:cNvPr>
              <p:cNvSpPr txBox="1"/>
              <p:nvPr/>
            </p:nvSpPr>
            <p:spPr>
              <a:xfrm>
                <a:off x="619124" y="1057275"/>
                <a:ext cx="10753725" cy="4729500"/>
              </a:xfrm>
              <a:prstGeom prst="rect">
                <a:avLst/>
              </a:prstGeom>
              <a:noFill/>
            </p:spPr>
            <p:txBody>
              <a:bodyPr wrap="square">
                <a:spAutoFit/>
              </a:bodyPr>
              <a:lstStyle/>
              <a:p>
                <a:pPr algn="just">
                  <a:spcBef>
                    <a:spcPts val="600"/>
                  </a:spcBef>
                  <a:spcAft>
                    <a:spcPts val="600"/>
                  </a:spcAft>
                </a:pPr>
                <a:r>
                  <a:rPr lang="en-US"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．滑模控制</a:t>
                </a:r>
              </a:p>
              <a:p>
                <a:pPr algn="just">
                  <a:spcBef>
                    <a:spcPts val="600"/>
                  </a:spcBef>
                </a:pPr>
                <a:r>
                  <a:rPr lang="en-US" altLang="zh-CN" sz="2400" b="1" kern="1050" dirty="0">
                    <a:effectLst/>
                    <a:latin typeface="微软雅黑" panose="020B0503020204020204" pitchFamily="34" charset="-122"/>
                    <a:ea typeface="微软雅黑" panose="020B0503020204020204" pitchFamily="34" charset="-122"/>
                  </a:rPr>
                  <a:t>1)</a:t>
                </a:r>
                <a:r>
                  <a:rPr lang="zh-CN" altLang="zh-CN" sz="2400" b="1" kern="1050" dirty="0">
                    <a:effectLst/>
                    <a:latin typeface="微软雅黑" panose="020B0503020204020204" pitchFamily="34" charset="-122"/>
                    <a:ea typeface="微软雅黑" panose="020B0503020204020204" pitchFamily="34" charset="-122"/>
                  </a:rPr>
                  <a:t>基本原理</a:t>
                </a:r>
              </a:p>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上面设计的控制器，其控制律是光滑的。事实上，在控制系统的设计中，不连续反馈也能起到很好的作用。变结构控制作为控制理论活跃的研究领域之一及实用的工具之一，在许多领域得到了较广泛的应用。尤其是作为变结构控制的主要形式的滑模控制，能够使被控系统收敛或停留在给定的限定曲面上，并且对某些内外扰动具有很好的鲁棒性，在非线性控制和系统状态估计领域得到了成功的应用。</a:t>
                </a:r>
              </a:p>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本节首先介绍滑模控制的一些基本概念，然后详述非线性机器人系统轨迹跟踪的滑模控制设计过程。</a:t>
                </a:r>
              </a:p>
              <a:p>
                <a:pPr algn="just"/>
                <a:r>
                  <a:rPr lang="zh-CN" altLang="zh-CN" sz="2400" b="1" kern="1000" dirty="0">
                    <a:effectLst/>
                    <a:latin typeface="微软雅黑" panose="020B0503020204020204" pitchFamily="34" charset="-122"/>
                    <a:ea typeface="微软雅黑" panose="020B0503020204020204" pitchFamily="34" charset="-122"/>
                  </a:rPr>
                  <a:t>定义</a:t>
                </a:r>
                <a:r>
                  <a:rPr lang="en-US" altLang="zh-CN" sz="2400" b="1" kern="1000" dirty="0">
                    <a:effectLst/>
                    <a:latin typeface="微软雅黑" panose="020B0503020204020204" pitchFamily="34" charset="-122"/>
                    <a:ea typeface="微软雅黑" panose="020B0503020204020204" pitchFamily="34" charset="-122"/>
                  </a:rPr>
                  <a:t>1</a:t>
                </a:r>
                <a:r>
                  <a:rPr lang="zh-CN" altLang="zh-CN" sz="2400" b="1" kern="1000" dirty="0">
                    <a:effectLst/>
                    <a:latin typeface="微软雅黑" panose="020B0503020204020204" pitchFamily="34" charset="-122"/>
                    <a:ea typeface="微软雅黑" panose="020B0503020204020204" pitchFamily="34" charset="-122"/>
                  </a:rPr>
                  <a:t>：考虑单入单出的非线性控制系统</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𝒙</m:t>
                        </m:r>
                      </m:e>
                    </m:acc>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𝒇</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𝒙</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𝒈</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𝒙</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𝒖</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𝒙</m:t>
                    </m:r>
                    <m:r>
                      <a:rPr lang="zh-CN" altLang="zh-CN" sz="2000" b="1" i="1" kern="1050" smtClean="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smtClean="0">
                            <a:effectLst/>
                            <a:latin typeface="Cambria Math" panose="02040503050406030204" pitchFamily="18" charset="0"/>
                            <a:ea typeface="宋体" panose="02010600030101010101" pitchFamily="2" charset="-122"/>
                          </a:rPr>
                          <m:t>𝑹</m:t>
                        </m:r>
                      </m:e>
                      <m:sup>
                        <m:r>
                          <a:rPr lang="en-US" altLang="zh-CN" sz="2000" b="1" i="1" kern="1050" smtClean="0">
                            <a:effectLst/>
                            <a:latin typeface="Cambria Math" panose="02040503050406030204" pitchFamily="18" charset="0"/>
                            <a:ea typeface="宋体" panose="02010600030101010101" pitchFamily="2" charset="-122"/>
                          </a:rPr>
                          <m:t>𝒏</m:t>
                        </m:r>
                      </m:sup>
                    </m:sSup>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𝒖</m:t>
                    </m:r>
                    <m:r>
                      <a:rPr lang="zh-CN" altLang="zh-CN" sz="2000" b="1" i="1" kern="1050" smtClean="0">
                        <a:effectLst/>
                        <a:latin typeface="Cambria Math" panose="02040503050406030204" pitchFamily="18" charset="0"/>
                        <a:ea typeface="宋体" panose="02010600030101010101" pitchFamily="2" charset="-122"/>
                        <a:cs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𝑹</m:t>
                    </m:r>
                  </m:oMath>
                </a14:m>
                <a:r>
                  <a:rPr lang="en-US" altLang="zh-CN" sz="2000" b="1" kern="1050" dirty="0">
                    <a:effectLst/>
                    <a:latin typeface="微软雅黑" panose="020B0503020204020204" pitchFamily="34" charset="-122"/>
                    <a:ea typeface="微软雅黑" panose="020B0503020204020204" pitchFamily="34" charset="-122"/>
                  </a:rPr>
                  <a:t>	                            (7.56)</a:t>
                </a:r>
                <a:endParaRPr lang="zh-CN" altLang="zh-CN" sz="2000" b="1" kern="1050" dirty="0">
                  <a:effectLst/>
                  <a:latin typeface="微软雅黑" panose="020B0503020204020204" pitchFamily="34" charset="-122"/>
                  <a:ea typeface="微软雅黑" panose="020B0503020204020204" pitchFamily="34" charset="-122"/>
                </a:endParaRPr>
              </a:p>
            </p:txBody>
          </p:sp>
        </mc:Choice>
        <mc:Fallback xmlns="">
          <p:sp>
            <p:nvSpPr>
              <p:cNvPr id="4" name="文本框 3">
                <a:extLst>
                  <a:ext uri="{FF2B5EF4-FFF2-40B4-BE49-F238E27FC236}">
                    <a16:creationId xmlns:a16="http://schemas.microsoft.com/office/drawing/2014/main" id="{6853E584-D6CB-1F1B-0FFF-3232A95B2279}"/>
                  </a:ext>
                </a:extLst>
              </p:cNvPr>
              <p:cNvSpPr txBox="1">
                <a:spLocks noRot="1" noChangeAspect="1" noMove="1" noResize="1" noEditPoints="1" noAdjustHandles="1" noChangeArrowheads="1" noChangeShapeType="1" noTextEdit="1"/>
              </p:cNvSpPr>
              <p:nvPr/>
            </p:nvSpPr>
            <p:spPr>
              <a:xfrm>
                <a:off x="619124" y="1057275"/>
                <a:ext cx="10753725" cy="4729500"/>
              </a:xfrm>
              <a:prstGeom prst="rect">
                <a:avLst/>
              </a:prstGeom>
              <a:blipFill>
                <a:blip r:embed="rId3"/>
                <a:stretch>
                  <a:fillRect l="-907" t="-1031" r="-850" b="-103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9854067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6EF8EB7B-F093-3D8B-F70D-F951C3D3144D}"/>
                  </a:ext>
                </a:extLst>
              </p:cNvPr>
              <p:cNvSpPr txBox="1"/>
              <p:nvPr/>
            </p:nvSpPr>
            <p:spPr>
              <a:xfrm>
                <a:off x="1276349" y="1200151"/>
                <a:ext cx="10306051" cy="3636445"/>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假定</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𝒔</m:t>
                    </m:r>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𝑹</m:t>
                        </m:r>
                      </m:e>
                      <m:sup>
                        <m:r>
                          <a:rPr lang="en-US" altLang="zh-CN" sz="2400" b="1" i="1" kern="1000">
                            <a:effectLst/>
                            <a:latin typeface="Cambria Math" panose="02040503050406030204" pitchFamily="18" charset="0"/>
                            <a:ea typeface="宋体" panose="02010600030101010101" pitchFamily="2" charset="-122"/>
                          </a:rPr>
                          <m:t>𝒏</m:t>
                        </m:r>
                      </m:sup>
                    </m:sSup>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𝑹</m:t>
                    </m:r>
                  </m:oMath>
                </a14:m>
                <a:r>
                  <a:rPr lang="zh-CN" altLang="zh-CN" sz="2400" b="1" kern="1000" dirty="0">
                    <a:effectLst/>
                    <a:latin typeface="微软雅黑" panose="020B0503020204020204" pitchFamily="34" charset="-122"/>
                    <a:ea typeface="微软雅黑" panose="020B0503020204020204" pitchFamily="34" charset="-122"/>
                  </a:rPr>
                  <a:t>是一组满足</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𝒔</m:t>
                        </m:r>
                      </m:num>
                      <m:den>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𝟏</m:t>
                            </m:r>
                          </m:sub>
                        </m:sSub>
                      </m:den>
                    </m:f>
                    <m:r>
                      <a:rPr lang="en-US" altLang="zh-CN" sz="2000" b="1" i="1" kern="1050">
                        <a:effectLst/>
                        <a:latin typeface="Cambria Math" panose="02040503050406030204" pitchFamily="18" charset="0"/>
                        <a:ea typeface="宋体" panose="02010600030101010101" pitchFamily="2" charset="-122"/>
                      </a:rPr>
                      <m:t>,</m:t>
                    </m:r>
                    <m:r>
                      <a:rPr lang="zh-CN" altLang="zh-CN" sz="2000" b="1" i="1" kern="1050">
                        <a:effectLst/>
                        <a:latin typeface="Cambria Math" panose="02040503050406030204" pitchFamily="18" charset="0"/>
                        <a:ea typeface="MS Gothic" panose="020B0609070205080204" pitchFamily="49" charset="-128"/>
                        <a:cs typeface="MS Gothic" panose="020B0609070205080204" pitchFamily="49" charset="-128"/>
                      </a:rPr>
                      <m:t>⋅⋅⋅</m:t>
                    </m:r>
                    <m:r>
                      <a:rPr lang="en-US" altLang="zh-CN" sz="2000" b="1" i="1" kern="105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𝒔</m:t>
                        </m:r>
                      </m:num>
                      <m:den>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𝒏</m:t>
                            </m:r>
                          </m:sub>
                        </m:sSub>
                      </m:den>
                    </m:f>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𝟎</m:t>
                    </m:r>
                  </m:oMath>
                </a14:m>
                <a:r>
                  <a:rPr lang="en-US" altLang="zh-CN" sz="2000" b="1" kern="1050" dirty="0">
                    <a:effectLst/>
                    <a:latin typeface="微软雅黑" panose="020B0503020204020204" pitchFamily="34" charset="-122"/>
                    <a:ea typeface="微软雅黑" panose="020B0503020204020204" pitchFamily="34" charset="-122"/>
                  </a:rPr>
                  <a:t>                        	(7.57)</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的光滑函数。如果存在反馈控制律</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𝒖</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𝒙</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，使得</a:t>
                </a:r>
              </a:p>
              <a:p>
                <a:pPr algn="just"/>
                <a:r>
                  <a:rPr lang="en-US" altLang="zh-CN" sz="2400" b="1" kern="1000" dirty="0">
                    <a:effectLst/>
                    <a:latin typeface="微软雅黑" panose="020B0503020204020204" pitchFamily="34" charset="-122"/>
                    <a:ea typeface="微软雅黑" panose="020B0503020204020204" pitchFamily="34" charset="-122"/>
                  </a:rPr>
                  <a:t>(1)</a:t>
                </a:r>
                <a:r>
                  <a:rPr lang="zh-CN" altLang="zh-CN" sz="2400" b="1" kern="1000" dirty="0">
                    <a:effectLst/>
                    <a:latin typeface="微软雅黑" panose="020B0503020204020204" pitchFamily="34" charset="-122"/>
                    <a:ea typeface="微软雅黑" panose="020B0503020204020204" pitchFamily="34" charset="-122"/>
                  </a:rPr>
                  <a:t>若</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𝒔</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𝒙</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𝟎</m:t>
                    </m:r>
                  </m:oMath>
                </a14:m>
                <a:r>
                  <a:rPr lang="zh-CN" altLang="zh-CN" sz="2400" b="1" kern="1000" dirty="0">
                    <a:effectLst/>
                    <a:latin typeface="微软雅黑" panose="020B0503020204020204" pitchFamily="34" charset="-122"/>
                    <a:ea typeface="微软雅黑" panose="020B0503020204020204" pitchFamily="34" charset="-122"/>
                  </a:rPr>
                  <a:t>，则</a:t>
                </a:r>
                <a14:m>
                  <m:oMath xmlns:m="http://schemas.openxmlformats.org/officeDocument/2006/math">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𝒔</m:t>
                        </m:r>
                      </m:e>
                    </m:acc>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𝒙</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𝟎</m:t>
                    </m:r>
                  </m:oMath>
                </a14:m>
                <a:r>
                  <a:rPr lang="zh-CN" altLang="zh-CN" sz="2400" b="1" kern="1000" dirty="0">
                    <a:effectLst/>
                    <a:latin typeface="微软雅黑" panose="020B0503020204020204" pitchFamily="34" charset="-122"/>
                    <a:ea typeface="微软雅黑" panose="020B0503020204020204" pitchFamily="34" charset="-122"/>
                  </a:rPr>
                  <a:t>；</a:t>
                </a:r>
              </a:p>
              <a:p>
                <a:pPr algn="just"/>
                <a:r>
                  <a:rPr lang="en-US" altLang="zh-CN" sz="2400" b="1" kern="1000" dirty="0">
                    <a:effectLst/>
                    <a:latin typeface="微软雅黑" panose="020B0503020204020204" pitchFamily="34" charset="-122"/>
                    <a:ea typeface="微软雅黑" panose="020B0503020204020204" pitchFamily="34" charset="-122"/>
                  </a:rPr>
                  <a:t>(2)</a:t>
                </a:r>
                <a:r>
                  <a:rPr lang="zh-CN" altLang="zh-CN" sz="2400" b="1" kern="1000" dirty="0">
                    <a:effectLst/>
                    <a:latin typeface="微软雅黑" panose="020B0503020204020204" pitchFamily="34" charset="-122"/>
                    <a:ea typeface="微软雅黑" panose="020B0503020204020204" pitchFamily="34" charset="-122"/>
                  </a:rPr>
                  <a:t>若</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𝒔</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𝒙</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𝟎</m:t>
                    </m:r>
                  </m:oMath>
                </a14:m>
                <a:r>
                  <a:rPr lang="zh-CN" altLang="zh-CN" sz="2400" b="1" kern="1000" dirty="0">
                    <a:effectLst/>
                    <a:latin typeface="微软雅黑" panose="020B0503020204020204" pitchFamily="34" charset="-122"/>
                    <a:ea typeface="微软雅黑" panose="020B0503020204020204" pitchFamily="34" charset="-122"/>
                  </a:rPr>
                  <a:t>，则</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𝒔</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𝒙</m:t>
                    </m:r>
                    <m:r>
                      <a:rPr lang="en-US" altLang="zh-CN" sz="2400" b="1" i="1" kern="1000">
                        <a:effectLst/>
                        <a:latin typeface="Cambria Math" panose="02040503050406030204" pitchFamily="18" charset="0"/>
                        <a:ea typeface="宋体" panose="02010600030101010101" pitchFamily="2" charset="-122"/>
                      </a:rPr>
                      <m:t>)</m:t>
                    </m:r>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𝒔</m:t>
                        </m:r>
                      </m:e>
                    </m:acc>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𝒙</m:t>
                    </m:r>
                    <m:r>
                      <a:rPr lang="en-US" altLang="zh-CN" sz="2400" b="1" i="1" kern="1000">
                        <a:effectLst/>
                        <a:latin typeface="Cambria Math" panose="02040503050406030204" pitchFamily="18" charset="0"/>
                        <a:ea typeface="宋体" panose="02010600030101010101" pitchFamily="2" charset="-122"/>
                      </a:rPr>
                      <m:t>)&lt;</m:t>
                    </m:r>
                    <m:r>
                      <a:rPr lang="en-US" altLang="zh-CN" sz="2400" b="1" i="1" kern="1000">
                        <a:effectLst/>
                        <a:latin typeface="Cambria Math" panose="02040503050406030204" pitchFamily="18" charset="0"/>
                        <a:ea typeface="宋体" panose="02010600030101010101" pitchFamily="2" charset="-122"/>
                      </a:rPr>
                      <m:t>𝟎</m:t>
                    </m:r>
                  </m:oMath>
                </a14:m>
                <a:endParaRPr lang="zh-CN" altLang="zh-CN" sz="2400" b="1" kern="100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则称子集</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𝑺</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𝒙</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𝒔</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𝒙</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𝟎</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为系统</a:t>
                </a:r>
                <a:r>
                  <a:rPr lang="en-US" altLang="zh-CN" sz="2400" b="1" kern="1000" dirty="0">
                    <a:effectLst/>
                    <a:latin typeface="微软雅黑" panose="020B0503020204020204" pitchFamily="34" charset="-122"/>
                    <a:ea typeface="微软雅黑" panose="020B0503020204020204" pitchFamily="34" charset="-122"/>
                  </a:rPr>
                  <a:t>[</a:t>
                </a:r>
                <a:r>
                  <a:rPr lang="zh-CN" altLang="zh-CN" sz="2400" b="1" kern="1000" dirty="0">
                    <a:effectLst/>
                    <a:latin typeface="微软雅黑" panose="020B0503020204020204" pitchFamily="34" charset="-122"/>
                    <a:ea typeface="微软雅黑" panose="020B0503020204020204" pitchFamily="34" charset="-122"/>
                  </a:rPr>
                  <a:t>式</a:t>
                </a:r>
                <a:r>
                  <a:rPr lang="en-US" altLang="zh-CN" sz="2400" b="1" kern="1000" dirty="0">
                    <a:effectLst/>
                    <a:latin typeface="微软雅黑" panose="020B0503020204020204" pitchFamily="34" charset="-122"/>
                    <a:ea typeface="微软雅黑" panose="020B0503020204020204" pitchFamily="34" charset="-122"/>
                  </a:rPr>
                  <a:t>(7.56)]</a:t>
                </a:r>
                <a:r>
                  <a:rPr lang="zh-CN" altLang="zh-CN" sz="2400" b="1" kern="1000" dirty="0">
                    <a:effectLst/>
                    <a:latin typeface="微软雅黑" panose="020B0503020204020204" pitchFamily="34" charset="-122"/>
                    <a:ea typeface="微软雅黑" panose="020B0503020204020204" pitchFamily="34" charset="-122"/>
                  </a:rPr>
                  <a:t>的滑模。</a:t>
                </a:r>
              </a:p>
              <a:p>
                <a:pPr algn="just"/>
                <a:r>
                  <a:rPr lang="zh-CN" altLang="zh-CN" sz="2400" b="1" kern="1000" dirty="0">
                    <a:effectLst/>
                    <a:latin typeface="微软雅黑" panose="020B0503020204020204" pitchFamily="34" charset="-122"/>
                    <a:ea typeface="微软雅黑" panose="020B0503020204020204" pitchFamily="34" charset="-122"/>
                  </a:rPr>
                  <a:t>根据上述定义的条件</a:t>
                </a:r>
                <a:r>
                  <a:rPr lang="en-US" altLang="zh-CN" sz="2400" b="1" kern="1000" dirty="0">
                    <a:effectLst/>
                    <a:latin typeface="微软雅黑" panose="020B0503020204020204" pitchFamily="34" charset="-122"/>
                    <a:ea typeface="微软雅黑" panose="020B0503020204020204" pitchFamily="34" charset="-122"/>
                  </a:rPr>
                  <a:t>(1)</a:t>
                </a:r>
                <a:r>
                  <a:rPr lang="zh-CN" altLang="zh-CN" sz="2400" b="1" kern="1000" dirty="0">
                    <a:effectLst/>
                    <a:latin typeface="微软雅黑" panose="020B0503020204020204" pitchFamily="34" charset="-122"/>
                    <a:ea typeface="微软雅黑" panose="020B0503020204020204" pitchFamily="34" charset="-122"/>
                  </a:rPr>
                  <a:t>，滑模上的一个理想的滑动模态可表示为</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d>
                      <m:dPr>
                        <m:begChr m:val="{"/>
                        <m:endChr m:val=""/>
                        <m:ctrlPr>
                          <a:rPr lang="zh-CN" altLang="zh-CN" sz="2000" b="1" i="1" kern="1050">
                            <a:effectLst/>
                            <a:latin typeface="Cambria Math" panose="02040503050406030204" pitchFamily="18" charset="0"/>
                            <a:ea typeface="Cambria Math" panose="02040503050406030204" pitchFamily="18" charset="0"/>
                          </a:rPr>
                        </m:ctrlPr>
                      </m:dPr>
                      <m:e>
                        <m:eqArr>
                          <m:eqArrPr>
                            <m:ctrlPr>
                              <a:rPr lang="zh-CN" altLang="zh-CN" sz="2000" b="1" i="1" kern="1050">
                                <a:effectLst/>
                                <a:latin typeface="Cambria Math" panose="02040503050406030204" pitchFamily="18" charset="0"/>
                                <a:ea typeface="Cambria Math" panose="02040503050406030204" pitchFamily="18" charset="0"/>
                              </a:rPr>
                            </m:ctrlPr>
                          </m:eqArrPr>
                          <m:e>
                            <m:r>
                              <a:rPr lang="en-US" altLang="zh-CN" sz="2000" b="1" i="1" kern="1050">
                                <a:effectLst/>
                                <a:latin typeface="Cambria Math" panose="02040503050406030204" pitchFamily="18" charset="0"/>
                                <a:ea typeface="宋体" panose="02010600030101010101" pitchFamily="2" charset="-122"/>
                              </a:rPr>
                              <m:t>&amp;</m:t>
                            </m:r>
                            <m:r>
                              <a:rPr lang="en-US" altLang="zh-CN" sz="2000" b="1" i="1" kern="1050">
                                <a:effectLst/>
                                <a:latin typeface="Cambria Math" panose="02040503050406030204" pitchFamily="18" charset="0"/>
                                <a:ea typeface="宋体" panose="02010600030101010101" pitchFamily="2" charset="-122"/>
                              </a:rPr>
                              <m:t>𝒔</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𝒙</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𝟎</m:t>
                            </m:r>
                          </m:e>
                          <m:e>
                            <m:r>
                              <a:rPr lang="en-US" altLang="zh-CN" sz="2000" b="1" i="1" kern="1050">
                                <a:effectLst/>
                                <a:latin typeface="Cambria Math" panose="02040503050406030204" pitchFamily="18" charset="0"/>
                                <a:ea typeface="宋体" panose="02010600030101010101" pitchFamily="2" charset="-122"/>
                              </a:rPr>
                              <m:t>&amp;</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𝒔</m:t>
                                </m:r>
                              </m:e>
                            </m:acc>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𝒙</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𝟎</m:t>
                            </m:r>
                          </m:e>
                        </m:eqArr>
                      </m:e>
                    </m:d>
                  </m:oMath>
                </a14:m>
                <a:r>
                  <a:rPr lang="en-US" altLang="zh-CN" sz="2000" b="1" kern="1050" dirty="0">
                    <a:effectLst/>
                    <a:latin typeface="微软雅黑" panose="020B0503020204020204" pitchFamily="34" charset="-122"/>
                    <a:ea typeface="微软雅黑" panose="020B0503020204020204" pitchFamily="34" charset="-122"/>
                  </a:rPr>
                  <a:t>	                              (7.58)</a:t>
                </a:r>
                <a:endParaRPr lang="zh-CN" altLang="zh-CN" sz="2000" b="1" kern="1050" dirty="0">
                  <a:effectLst/>
                  <a:latin typeface="微软雅黑" panose="020B0503020204020204" pitchFamily="34" charset="-122"/>
                  <a:ea typeface="微软雅黑" panose="020B0503020204020204" pitchFamily="34" charset="-122"/>
                </a:endParaRPr>
              </a:p>
            </p:txBody>
          </p:sp>
        </mc:Choice>
        <mc:Fallback xmlns="">
          <p:sp>
            <p:nvSpPr>
              <p:cNvPr id="4" name="文本框 3">
                <a:extLst>
                  <a:ext uri="{FF2B5EF4-FFF2-40B4-BE49-F238E27FC236}">
                    <a16:creationId xmlns:a16="http://schemas.microsoft.com/office/drawing/2014/main" id="{6EF8EB7B-F093-3D8B-F70D-F951C3D3144D}"/>
                  </a:ext>
                </a:extLst>
              </p:cNvPr>
              <p:cNvSpPr txBox="1">
                <a:spLocks noRot="1" noChangeAspect="1" noMove="1" noResize="1" noEditPoints="1" noAdjustHandles="1" noChangeArrowheads="1" noChangeShapeType="1" noTextEdit="1"/>
              </p:cNvSpPr>
              <p:nvPr/>
            </p:nvSpPr>
            <p:spPr>
              <a:xfrm>
                <a:off x="1276349" y="1200151"/>
                <a:ext cx="10306051" cy="3636445"/>
              </a:xfrm>
              <a:prstGeom prst="rect">
                <a:avLst/>
              </a:prstGeom>
              <a:blipFill>
                <a:blip r:embed="rId3"/>
                <a:stretch>
                  <a:fillRect l="-887" t="-13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1E109E25-CEAA-16B0-0BC1-ADECD6B0D0E1}"/>
                  </a:ext>
                </a:extLst>
              </p:cNvPr>
              <p:cNvSpPr txBox="1"/>
              <p:nvPr/>
            </p:nvSpPr>
            <p:spPr>
              <a:xfrm>
                <a:off x="1276349" y="5031650"/>
                <a:ext cx="9039226" cy="893450"/>
              </a:xfrm>
              <a:prstGeom prst="rect">
                <a:avLst/>
              </a:prstGeom>
              <a:noFill/>
            </p:spPr>
            <p:txBody>
              <a:bodyPr wrap="square">
                <a:spAutoFit/>
              </a:bodyPr>
              <a:lstStyle/>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换句话说，若存在适当反馈，</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𝑺</m:t>
                    </m:r>
                  </m:oMath>
                </a14:m>
                <a:r>
                  <a:rPr lang="zh-CN" altLang="zh-CN" sz="2400" b="1" kern="1000" dirty="0">
                    <a:effectLst/>
                    <a:latin typeface="微软雅黑" panose="020B0503020204020204" pitchFamily="34" charset="-122"/>
                    <a:ea typeface="微软雅黑" panose="020B0503020204020204" pitchFamily="34" charset="-122"/>
                  </a:rPr>
                  <a:t>应当是系统的一个不变子集。满足上式的控制称为一个等价控制，可写成</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𝒖</m:t>
                        </m:r>
                      </m:e>
                      <m:sub>
                        <m:r>
                          <m:rPr>
                            <m:nor/>
                          </m:rPr>
                          <a:rPr lang="en-US" altLang="zh-CN" sz="2400" b="1" kern="1000">
                            <a:effectLst/>
                            <a:latin typeface="微软雅黑" panose="020B0503020204020204" pitchFamily="34" charset="-122"/>
                            <a:ea typeface="微软雅黑" panose="020B0503020204020204" pitchFamily="34" charset="-122"/>
                          </a:rPr>
                          <m:t>eq</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𝒙</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a:t>
                </a:r>
              </a:p>
            </p:txBody>
          </p:sp>
        </mc:Choice>
        <mc:Fallback xmlns="">
          <p:sp>
            <p:nvSpPr>
              <p:cNvPr id="6" name="文本框 5">
                <a:extLst>
                  <a:ext uri="{FF2B5EF4-FFF2-40B4-BE49-F238E27FC236}">
                    <a16:creationId xmlns:a16="http://schemas.microsoft.com/office/drawing/2014/main" id="{1E109E25-CEAA-16B0-0BC1-ADECD6B0D0E1}"/>
                  </a:ext>
                </a:extLst>
              </p:cNvPr>
              <p:cNvSpPr txBox="1">
                <a:spLocks noRot="1" noChangeAspect="1" noMove="1" noResize="1" noEditPoints="1" noAdjustHandles="1" noChangeArrowheads="1" noChangeShapeType="1" noTextEdit="1"/>
              </p:cNvSpPr>
              <p:nvPr/>
            </p:nvSpPr>
            <p:spPr>
              <a:xfrm>
                <a:off x="1276349" y="5031650"/>
                <a:ext cx="9039226" cy="893450"/>
              </a:xfrm>
              <a:prstGeom prst="rect">
                <a:avLst/>
              </a:prstGeom>
              <a:blipFill>
                <a:blip r:embed="rId4"/>
                <a:stretch>
                  <a:fillRect l="-1011" t="-5442" r="-1079" b="-7483"/>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87CE0FC6-8702-FBE0-D2E3-08E31BDEAA66}"/>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滑模控制</a:t>
            </a:r>
          </a:p>
        </p:txBody>
      </p:sp>
    </p:spTree>
    <p:extLst>
      <p:ext uri="{BB962C8B-B14F-4D97-AF65-F5344CB8AC3E}">
        <p14:creationId xmlns:p14="http://schemas.microsoft.com/office/powerpoint/2010/main" val="125196466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9E32A5BA-D160-48D2-87FB-34571E488135}"/>
                  </a:ext>
                </a:extLst>
              </p:cNvPr>
              <p:cNvSpPr txBox="1"/>
              <p:nvPr/>
            </p:nvSpPr>
            <p:spPr>
              <a:xfrm>
                <a:off x="933450" y="1085684"/>
                <a:ext cx="10277476" cy="2001445"/>
              </a:xfrm>
              <a:prstGeom prst="rect">
                <a:avLst/>
              </a:prstGeom>
              <a:noFill/>
            </p:spPr>
            <p:txBody>
              <a:bodyPr wrap="square" rtlCol="0">
                <a:spAutoFit/>
              </a:bodyPr>
              <a:lstStyle/>
              <a:p>
                <a:pPr algn="just"/>
                <a:r>
                  <a:rPr lang="zh-CN" altLang="zh-CN" sz="2400" b="1" kern="1000" dirty="0">
                    <a:effectLst/>
                    <a:latin typeface="微软雅黑" panose="020B0503020204020204" pitchFamily="34" charset="-122"/>
                    <a:ea typeface="微软雅黑" panose="020B0503020204020204" pitchFamily="34" charset="-122"/>
                  </a:rPr>
                  <a:t>滑模控制的基本思想是：</a:t>
                </a:r>
                <a:endParaRPr lang="en-US" altLang="zh-CN" sz="2400" b="1" kern="1000" dirty="0">
                  <a:effectLst/>
                  <a:latin typeface="微软雅黑" panose="020B0503020204020204" pitchFamily="34" charset="-122"/>
                  <a:ea typeface="微软雅黑" panose="020B0503020204020204" pitchFamily="34" charset="-122"/>
                </a:endParaRPr>
              </a:p>
              <a:p>
                <a:pPr algn="just"/>
                <a:r>
                  <a:rPr lang="en-US" altLang="zh-CN" sz="2400" b="1" kern="1000" dirty="0">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选择一个滑动集，然后确定一个滑模控制律，驱使滑动集外的状态进入滑动集；最后，用一个</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𝒖</m:t>
                        </m:r>
                      </m:e>
                      <m:sub>
                        <m:r>
                          <m:rPr>
                            <m:nor/>
                          </m:rPr>
                          <a:rPr lang="en-US" altLang="zh-CN" sz="2400" b="1" kern="1000">
                            <a:effectLst/>
                            <a:latin typeface="微软雅黑" panose="020B0503020204020204" pitchFamily="34" charset="-122"/>
                            <a:ea typeface="微软雅黑" panose="020B0503020204020204" pitchFamily="34" charset="-122"/>
                          </a:rPr>
                          <m:t>eq</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𝒙</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使滑动模上的状态沿着滑模到达期望的平衡点。因此，滑模控制系统的稳定性问题基本上可转变为如何寻找一个适当的滑模和设计滑模控制律的问题。</a:t>
                </a:r>
              </a:p>
            </p:txBody>
          </p:sp>
        </mc:Choice>
        <mc:Fallback xmlns="">
          <p:sp>
            <p:nvSpPr>
              <p:cNvPr id="3" name="文本框 2">
                <a:extLst>
                  <a:ext uri="{FF2B5EF4-FFF2-40B4-BE49-F238E27FC236}">
                    <a16:creationId xmlns:a16="http://schemas.microsoft.com/office/drawing/2014/main" id="{9E32A5BA-D160-48D2-87FB-34571E488135}"/>
                  </a:ext>
                </a:extLst>
              </p:cNvPr>
              <p:cNvSpPr txBox="1">
                <a:spLocks noRot="1" noChangeAspect="1" noMove="1" noResize="1" noEditPoints="1" noAdjustHandles="1" noChangeArrowheads="1" noChangeShapeType="1" noTextEdit="1"/>
              </p:cNvSpPr>
              <p:nvPr/>
            </p:nvSpPr>
            <p:spPr>
              <a:xfrm>
                <a:off x="933450" y="1085684"/>
                <a:ext cx="10277476" cy="2001445"/>
              </a:xfrm>
              <a:prstGeom prst="rect">
                <a:avLst/>
              </a:prstGeom>
              <a:blipFill>
                <a:blip r:embed="rId3"/>
                <a:stretch>
                  <a:fillRect l="-890" t="-2439" r="-949" b="-6098"/>
                </a:stretch>
              </a:blipFill>
            </p:spPr>
            <p:txBody>
              <a:bodyPr/>
              <a:lstStyle/>
              <a:p>
                <a:r>
                  <a:rPr lang="zh-CN" altLang="en-US">
                    <a:noFill/>
                  </a:rPr>
                  <a:t> </a:t>
                </a:r>
              </a:p>
            </p:txBody>
          </p:sp>
        </mc:Fallback>
      </mc:AlternateContent>
      <p:sp>
        <p:nvSpPr>
          <p:cNvPr id="6" name="Rectangle 4">
            <a:extLst>
              <a:ext uri="{FF2B5EF4-FFF2-40B4-BE49-F238E27FC236}">
                <a16:creationId xmlns:a16="http://schemas.microsoft.com/office/drawing/2014/main" id="{067009D8-915A-AF9E-4814-A67525B226BD}"/>
              </a:ext>
            </a:extLst>
          </p:cNvPr>
          <p:cNvSpPr>
            <a:spLocks noChangeArrowheads="1"/>
          </p:cNvSpPr>
          <p:nvPr/>
        </p:nvSpPr>
        <p:spPr bwMode="auto">
          <a:xfrm>
            <a:off x="1619250" y="262992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Rectangle 5">
            <a:extLst>
              <a:ext uri="{FF2B5EF4-FFF2-40B4-BE49-F238E27FC236}">
                <a16:creationId xmlns:a16="http://schemas.microsoft.com/office/drawing/2014/main" id="{CA99E558-AA03-C56A-D8FF-DC26308408CE}"/>
              </a:ext>
            </a:extLst>
          </p:cNvPr>
          <p:cNvSpPr>
            <a:spLocks noChangeArrowheads="1"/>
          </p:cNvSpPr>
          <p:nvPr/>
        </p:nvSpPr>
        <p:spPr bwMode="auto">
          <a:xfrm>
            <a:off x="1619250" y="3087129"/>
            <a:ext cx="0" cy="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endParaRPr lang="zh-CN" altLang="en-US"/>
          </a:p>
        </p:txBody>
      </p:sp>
      <mc:AlternateContent xmlns:mc="http://schemas.openxmlformats.org/markup-compatibility/2006">
        <mc:Choice xmlns:a14="http://schemas.microsoft.com/office/drawing/2010/main" Requires="a14">
          <p:sp>
            <p:nvSpPr>
              <p:cNvPr id="13" name="文本框 12">
                <a:extLst>
                  <a:ext uri="{FF2B5EF4-FFF2-40B4-BE49-F238E27FC236}">
                    <a16:creationId xmlns:a16="http://schemas.microsoft.com/office/drawing/2014/main" id="{A026CBB7-E74A-58D9-1F13-E55B3E45C5FF}"/>
                  </a:ext>
                </a:extLst>
              </p:cNvPr>
              <p:cNvSpPr txBox="1"/>
              <p:nvPr/>
            </p:nvSpPr>
            <p:spPr>
              <a:xfrm>
                <a:off x="933450" y="3087129"/>
                <a:ext cx="5953126" cy="3310650"/>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例如，</a:t>
                </a:r>
                <a:endParaRPr lang="en-US" altLang="zh-CN" sz="2400" b="1" kern="1000" dirty="0">
                  <a:effectLst/>
                  <a:latin typeface="微软雅黑" panose="020B0503020204020204" pitchFamily="34" charset="-122"/>
                  <a:ea typeface="微软雅黑" panose="020B0503020204020204" pitchFamily="34" charset="-122"/>
                </a:endParaRPr>
              </a:p>
              <a:p>
                <a:pPr algn="just"/>
                <a:r>
                  <a:rPr lang="en-US" altLang="zh-CN" sz="2400" b="1" kern="1000" dirty="0">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对于给定系统</a:t>
                </a:r>
                <a14:m>
                  <m:oMath xmlns:m="http://schemas.openxmlformats.org/officeDocument/2006/math">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𝒙</m:t>
                        </m:r>
                      </m:e>
                    </m:acc>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𝒇</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𝒖</m:t>
                    </m:r>
                  </m:oMath>
                </a14:m>
                <a:r>
                  <a:rPr lang="zh-CN" altLang="zh-CN" sz="2400" b="1" kern="1000" dirty="0">
                    <a:effectLst/>
                    <a:latin typeface="微软雅黑" panose="020B0503020204020204" pitchFamily="34" charset="-122"/>
                    <a:ea typeface="微软雅黑" panose="020B0503020204020204" pitchFamily="34" charset="-122"/>
                  </a:rPr>
                  <a:t>，我们可得等价控制为</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𝒖</m:t>
                        </m:r>
                      </m:e>
                      <m:sub>
                        <m:r>
                          <m:rPr>
                            <m:sty m:val="p"/>
                          </m:rPr>
                          <a:rPr lang="en-US" altLang="zh-CN" sz="2400" b="1" i="1" kern="1000">
                            <a:latin typeface="Cambria Math" panose="02040503050406030204" pitchFamily="18" charset="0"/>
                            <a:ea typeface="宋体" panose="02010600030101010101" pitchFamily="2" charset="-122"/>
                          </a:rPr>
                          <m:t>eq</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𝒙</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𝒇</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𝒙</m:t>
                            </m:r>
                          </m:e>
                        </m:acc>
                      </m:e>
                      <m:sub>
                        <m:r>
                          <a:rPr lang="en-US" altLang="zh-CN" sz="2400" b="1" i="1" kern="1000">
                            <a:effectLst/>
                            <a:latin typeface="Cambria Math" panose="02040503050406030204" pitchFamily="18" charset="0"/>
                            <a:ea typeface="宋体" panose="02010600030101010101" pitchFamily="2" charset="-122"/>
                          </a:rPr>
                          <m:t>𝒅</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𝝀</m:t>
                    </m:r>
                    <m:acc>
                      <m:accPr>
                        <m:chr m:val="̇"/>
                        <m:ctrlPr>
                          <a:rPr lang="zh-CN" altLang="zh-CN" sz="2400" b="1" i="1" kern="1000">
                            <a:effectLst/>
                            <a:latin typeface="Cambria Math" panose="02040503050406030204" pitchFamily="18" charset="0"/>
                            <a:ea typeface="Cambria Math" panose="02040503050406030204" pitchFamily="18" charset="0"/>
                          </a:rPr>
                        </m:ctrlPr>
                      </m:accPr>
                      <m:e>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𝒙</m:t>
                            </m:r>
                          </m:e>
                        </m:acc>
                      </m:e>
                    </m:acc>
                  </m:oMath>
                </a14:m>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𝒙</m:t>
                        </m:r>
                      </m:e>
                    </m:acc>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𝒙</m:t>
                    </m:r>
                    <m:r>
                      <a:rPr lang="en-US" altLang="zh-CN" sz="2400" b="1" i="1" kern="1000">
                        <a:effectLst/>
                        <a:latin typeface="Cambria Math" panose="02040503050406030204" pitchFamily="18" charset="0"/>
                        <a:ea typeface="宋体" panose="02010600030101010101" pitchFamily="2" charset="-122"/>
                      </a:rPr>
                      <m:t>−</m:t>
                    </m:r>
                  </m:oMath>
                </a14:m>
                <a:r>
                  <a:rPr lang="en-US" altLang="zh-CN" sz="2400" b="1" kern="100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𝒅</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𝝀</m:t>
                    </m:r>
                  </m:oMath>
                </a14:m>
                <a:r>
                  <a:rPr lang="zh-CN" altLang="zh-CN" sz="2400" b="1" kern="1000" dirty="0">
                    <a:effectLst/>
                    <a:latin typeface="微软雅黑" panose="020B0503020204020204" pitchFamily="34" charset="-122"/>
                    <a:ea typeface="微软雅黑" panose="020B0503020204020204" pitchFamily="34" charset="-122"/>
                  </a:rPr>
                  <a:t>为大于零的常数，其可使系统保持在滑动模态上，即</a:t>
                </a:r>
                <a14:m>
                  <m:oMath xmlns:m="http://schemas.openxmlformats.org/officeDocument/2006/math">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𝒙</m:t>
                        </m:r>
                      </m:e>
                    </m:acc>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𝒇</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𝒖</m:t>
                        </m:r>
                      </m:e>
                      <m:sub>
                        <m:r>
                          <m:rPr>
                            <m:nor/>
                          </m:rPr>
                          <a:rPr lang="en-US" altLang="zh-CN" sz="2400" b="1" i="0" kern="1000" smtClean="0">
                            <a:effectLst/>
                            <a:latin typeface="Cambria Math" panose="02040503050406030204" pitchFamily="18" charset="0"/>
                            <a:ea typeface="宋体" panose="02010600030101010101" pitchFamily="2" charset="-122"/>
                          </a:rPr>
                          <m:t>eq</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𝒙</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𝒙</m:t>
                            </m:r>
                          </m:e>
                        </m:acc>
                      </m:e>
                      <m:sub>
                        <m:r>
                          <a:rPr lang="en-US" altLang="zh-CN" sz="2400" b="1" i="1" kern="1000">
                            <a:effectLst/>
                            <a:latin typeface="Cambria Math" panose="02040503050406030204" pitchFamily="18" charset="0"/>
                            <a:ea typeface="宋体" panose="02010600030101010101" pitchFamily="2" charset="-122"/>
                          </a:rPr>
                          <m:t>𝒅</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𝝀</m:t>
                    </m:r>
                    <m:acc>
                      <m:accPr>
                        <m:chr m:val="̇"/>
                        <m:ctrlPr>
                          <a:rPr lang="zh-CN" altLang="zh-CN" sz="2400" b="1" i="1" kern="1000">
                            <a:effectLst/>
                            <a:latin typeface="Cambria Math" panose="02040503050406030204" pitchFamily="18" charset="0"/>
                            <a:ea typeface="Cambria Math" panose="02040503050406030204" pitchFamily="18" charset="0"/>
                          </a:rPr>
                        </m:ctrlPr>
                      </m:accPr>
                      <m:e>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𝒙</m:t>
                            </m:r>
                          </m:e>
                        </m:acc>
                      </m:e>
                    </m:acc>
                  </m:oMath>
                </a14:m>
                <a:r>
                  <a:rPr lang="zh-CN" altLang="zh-CN" sz="2400" b="1" kern="1000" dirty="0">
                    <a:effectLst/>
                    <a:latin typeface="微软雅黑" panose="020B0503020204020204" pitchFamily="34" charset="-122"/>
                    <a:ea typeface="微软雅黑" panose="020B0503020204020204" pitchFamily="34" charset="-122"/>
                  </a:rPr>
                  <a:t>。在几何上，该等价控制</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𝒖</m:t>
                        </m:r>
                      </m:e>
                      <m:sub>
                        <m:r>
                          <m:rPr>
                            <m:nor/>
                          </m:rPr>
                          <a:rPr lang="en-US" altLang="zh-CN" sz="2400" b="1" i="0" kern="1000" smtClean="0">
                            <a:effectLst/>
                            <a:latin typeface="Cambria Math" panose="02040503050406030204" pitchFamily="18" charset="0"/>
                            <a:ea typeface="宋体" panose="02010600030101010101" pitchFamily="2" charset="-122"/>
                          </a:rPr>
                          <m:t>eq</m:t>
                        </m:r>
                      </m:sub>
                    </m:sSub>
                  </m:oMath>
                </a14:m>
                <a:r>
                  <a:rPr lang="zh-CN" altLang="zh-CN" sz="2400" b="1" kern="1000" dirty="0">
                    <a:effectLst/>
                    <a:latin typeface="微软雅黑" panose="020B0503020204020204" pitchFamily="34" charset="-122"/>
                    <a:ea typeface="微软雅黑" panose="020B0503020204020204" pitchFamily="34" charset="-122"/>
                  </a:rPr>
                  <a:t>可构造如下：</a:t>
                </a:r>
              </a:p>
              <a:p>
                <a:pPr algn="just">
                  <a:spcBef>
                    <a:spcPts val="400"/>
                  </a:spcBef>
                  <a:spcAft>
                    <a:spcPts val="400"/>
                  </a:spcAft>
                  <a:tabLst>
                    <a:tab pos="5364480" algn="r"/>
                    <a:tab pos="1324610" algn="ctr"/>
                    <a:tab pos="3333750" algn="r"/>
                  </a:tabLst>
                </a:pPr>
                <a14:m>
                  <m:oMath xmlns:m="http://schemas.openxmlformats.org/officeDocument/2006/math">
                    <m:sSub>
                      <m:sSubPr>
                        <m:ctrlPr>
                          <a:rPr lang="zh-CN" altLang="zh-CN" sz="2400" b="1" i="1" kern="1050">
                            <a:effectLst/>
                            <a:latin typeface="Cambria Math" panose="02040503050406030204" pitchFamily="18" charset="0"/>
                            <a:ea typeface="Cambria Math" panose="02040503050406030204" pitchFamily="18" charset="0"/>
                          </a:rPr>
                        </m:ctrlPr>
                      </m:sSubPr>
                      <m:e>
                        <m:r>
                          <a:rPr lang="en-US" altLang="zh-CN" sz="2400" b="1" i="1" kern="1050">
                            <a:effectLst/>
                            <a:latin typeface="Cambria Math" panose="02040503050406030204" pitchFamily="18" charset="0"/>
                            <a:ea typeface="宋体" panose="02010600030101010101" pitchFamily="2" charset="-122"/>
                          </a:rPr>
                          <m:t>𝒖</m:t>
                        </m:r>
                      </m:e>
                      <m:sub>
                        <m:r>
                          <m:rPr>
                            <m:nor/>
                          </m:rPr>
                          <a:rPr lang="en-US" altLang="zh-CN" sz="2400" b="1" i="0" kern="1050" smtClean="0">
                            <a:effectLst/>
                            <a:latin typeface="Cambria Math" panose="02040503050406030204" pitchFamily="18" charset="0"/>
                            <a:ea typeface="宋体" panose="02010600030101010101" pitchFamily="2" charset="-122"/>
                          </a:rPr>
                          <m:t>eq</m:t>
                        </m:r>
                      </m:sub>
                    </m:sSub>
                    <m:r>
                      <a:rPr lang="en-US" altLang="zh-CN" sz="2400" b="1" i="1" kern="1050">
                        <a:effectLst/>
                        <a:latin typeface="Cambria Math" panose="02040503050406030204" pitchFamily="18" charset="0"/>
                        <a:ea typeface="宋体" panose="02010600030101010101" pitchFamily="2" charset="-122"/>
                      </a:rPr>
                      <m:t>=</m:t>
                    </m:r>
                    <m:r>
                      <a:rPr lang="en-US" altLang="zh-CN" sz="2400" b="1" i="1" kern="1050">
                        <a:effectLst/>
                        <a:latin typeface="Cambria Math" panose="02040503050406030204" pitchFamily="18" charset="0"/>
                        <a:ea typeface="宋体" panose="02010600030101010101" pitchFamily="2" charset="-122"/>
                      </a:rPr>
                      <m:t>𝜶</m:t>
                    </m:r>
                    <m:sSub>
                      <m:sSubPr>
                        <m:ctrlPr>
                          <a:rPr lang="zh-CN" altLang="zh-CN" sz="2400" b="1" i="1" kern="1050">
                            <a:effectLst/>
                            <a:latin typeface="Cambria Math" panose="02040503050406030204" pitchFamily="18" charset="0"/>
                            <a:ea typeface="Cambria Math" panose="02040503050406030204" pitchFamily="18" charset="0"/>
                          </a:rPr>
                        </m:ctrlPr>
                      </m:sSubPr>
                      <m:e>
                        <m:r>
                          <a:rPr lang="en-US" altLang="zh-CN" sz="2400" b="1" i="1" kern="1050">
                            <a:effectLst/>
                            <a:latin typeface="Cambria Math" panose="02040503050406030204" pitchFamily="18" charset="0"/>
                            <a:ea typeface="宋体" panose="02010600030101010101" pitchFamily="2" charset="-122"/>
                          </a:rPr>
                          <m:t>𝒖</m:t>
                        </m:r>
                      </m:e>
                      <m:sub>
                        <m:r>
                          <a:rPr lang="en-US" altLang="zh-CN" sz="2400" b="1" i="1" kern="1050">
                            <a:effectLst/>
                            <a:latin typeface="Cambria Math" panose="02040503050406030204" pitchFamily="18" charset="0"/>
                            <a:ea typeface="宋体" panose="02010600030101010101" pitchFamily="2" charset="-122"/>
                          </a:rPr>
                          <m:t>+</m:t>
                        </m:r>
                      </m:sub>
                    </m:sSub>
                    <m:r>
                      <a:rPr lang="en-US" altLang="zh-CN" sz="2400" b="1" i="1" kern="1050">
                        <a:effectLst/>
                        <a:latin typeface="Cambria Math" panose="02040503050406030204" pitchFamily="18" charset="0"/>
                        <a:ea typeface="宋体" panose="02010600030101010101" pitchFamily="2" charset="-122"/>
                      </a:rPr>
                      <m:t>+(</m:t>
                    </m:r>
                    <m:r>
                      <a:rPr lang="en-US" altLang="zh-CN" sz="2400" b="1" i="1" kern="1050">
                        <a:effectLst/>
                        <a:latin typeface="Cambria Math" panose="02040503050406030204" pitchFamily="18" charset="0"/>
                        <a:ea typeface="宋体" panose="02010600030101010101" pitchFamily="2" charset="-122"/>
                      </a:rPr>
                      <m:t>𝟏</m:t>
                    </m:r>
                    <m:r>
                      <a:rPr lang="en-US" altLang="zh-CN" sz="2400" b="1" i="1" kern="1050">
                        <a:effectLst/>
                        <a:latin typeface="Cambria Math" panose="02040503050406030204" pitchFamily="18" charset="0"/>
                        <a:ea typeface="宋体" panose="02010600030101010101" pitchFamily="2" charset="-122"/>
                      </a:rPr>
                      <m:t>−</m:t>
                    </m:r>
                    <m:r>
                      <a:rPr lang="en-US" altLang="zh-CN" sz="2400" b="1" i="1" kern="1050">
                        <a:effectLst/>
                        <a:latin typeface="Cambria Math" panose="02040503050406030204" pitchFamily="18" charset="0"/>
                        <a:ea typeface="宋体" panose="02010600030101010101" pitchFamily="2" charset="-122"/>
                      </a:rPr>
                      <m:t>𝜶</m:t>
                    </m:r>
                    <m:r>
                      <a:rPr lang="en-US" altLang="zh-CN" sz="2400" b="1" i="1" kern="1050">
                        <a:effectLst/>
                        <a:latin typeface="Cambria Math" panose="02040503050406030204" pitchFamily="18" charset="0"/>
                        <a:ea typeface="宋体" panose="02010600030101010101" pitchFamily="2" charset="-122"/>
                      </a:rPr>
                      <m:t>)</m:t>
                    </m:r>
                    <m:sSub>
                      <m:sSubPr>
                        <m:ctrlPr>
                          <a:rPr lang="zh-CN" altLang="zh-CN" sz="2400" b="1" i="1" kern="1050">
                            <a:effectLst/>
                            <a:latin typeface="Cambria Math" panose="02040503050406030204" pitchFamily="18" charset="0"/>
                            <a:ea typeface="Cambria Math" panose="02040503050406030204" pitchFamily="18" charset="0"/>
                          </a:rPr>
                        </m:ctrlPr>
                      </m:sSubPr>
                      <m:e>
                        <m:r>
                          <a:rPr lang="en-US" altLang="zh-CN" sz="2400" b="1" i="1" kern="1050">
                            <a:effectLst/>
                            <a:latin typeface="Cambria Math" panose="02040503050406030204" pitchFamily="18" charset="0"/>
                            <a:ea typeface="宋体" panose="02010600030101010101" pitchFamily="2" charset="-122"/>
                          </a:rPr>
                          <m:t>𝒖</m:t>
                        </m:r>
                      </m:e>
                      <m:sub>
                        <m:r>
                          <a:rPr lang="en-US" altLang="zh-CN" sz="2400" b="1" i="1" kern="1050">
                            <a:effectLst/>
                            <a:latin typeface="Cambria Math" panose="02040503050406030204" pitchFamily="18" charset="0"/>
                            <a:ea typeface="宋体" panose="02010600030101010101" pitchFamily="2" charset="-122"/>
                          </a:rPr>
                          <m:t>−</m:t>
                        </m:r>
                      </m:sub>
                    </m:sSub>
                  </m:oMath>
                </a14:m>
                <a:r>
                  <a:rPr lang="en-US" altLang="zh-CN" sz="2000" b="1" kern="1050" dirty="0">
                    <a:effectLst/>
                    <a:latin typeface="微软雅黑" panose="020B0503020204020204" pitchFamily="34" charset="-122"/>
                    <a:ea typeface="微软雅黑" panose="020B0503020204020204" pitchFamily="34" charset="-122"/>
                  </a:rPr>
                  <a:t>	                     (7.59)</a:t>
                </a:r>
                <a:endParaRPr lang="zh-CN" altLang="zh-CN" sz="2000" b="1" kern="1050" dirty="0">
                  <a:effectLst/>
                  <a:latin typeface="微软雅黑" panose="020B0503020204020204" pitchFamily="34" charset="-122"/>
                  <a:ea typeface="微软雅黑" panose="020B0503020204020204" pitchFamily="34" charset="-122"/>
                </a:endParaRPr>
              </a:p>
            </p:txBody>
          </p:sp>
        </mc:Choice>
        <mc:Fallback>
          <p:sp>
            <p:nvSpPr>
              <p:cNvPr id="13" name="文本框 12">
                <a:extLst>
                  <a:ext uri="{FF2B5EF4-FFF2-40B4-BE49-F238E27FC236}">
                    <a16:creationId xmlns:a16="http://schemas.microsoft.com/office/drawing/2014/main" id="{A026CBB7-E74A-58D9-1F13-E55B3E45C5FF}"/>
                  </a:ext>
                </a:extLst>
              </p:cNvPr>
              <p:cNvSpPr txBox="1">
                <a:spLocks noRot="1" noChangeAspect="1" noMove="1" noResize="1" noEditPoints="1" noAdjustHandles="1" noChangeArrowheads="1" noChangeShapeType="1" noTextEdit="1"/>
              </p:cNvSpPr>
              <p:nvPr/>
            </p:nvSpPr>
            <p:spPr>
              <a:xfrm>
                <a:off x="933450" y="3087129"/>
                <a:ext cx="5953126" cy="3310650"/>
              </a:xfrm>
              <a:prstGeom prst="rect">
                <a:avLst/>
              </a:prstGeom>
              <a:blipFill>
                <a:blip r:embed="rId4"/>
                <a:stretch>
                  <a:fillRect l="-1535" t="-1471" r="-1535" b="-919"/>
                </a:stretch>
              </a:blipFill>
            </p:spPr>
            <p:txBody>
              <a:bodyPr/>
              <a:lstStyle/>
              <a:p>
                <a:r>
                  <a:rPr lang="zh-CN" altLang="en-US">
                    <a:noFill/>
                  </a:rPr>
                  <a:t> </a:t>
                </a:r>
              </a:p>
            </p:txBody>
          </p:sp>
        </mc:Fallback>
      </mc:AlternateContent>
      <p:pic>
        <p:nvPicPr>
          <p:cNvPr id="14" name="图片 13">
            <a:extLst>
              <a:ext uri="{FF2B5EF4-FFF2-40B4-BE49-F238E27FC236}">
                <a16:creationId xmlns:a16="http://schemas.microsoft.com/office/drawing/2014/main" id="{78874B84-32DA-C973-E71E-CEEDF1EE04D8}"/>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915909" y="3313672"/>
            <a:ext cx="2875915" cy="2482797"/>
          </a:xfrm>
          <a:prstGeom prst="rect">
            <a:avLst/>
          </a:prstGeom>
          <a:noFill/>
          <a:ln>
            <a:noFill/>
          </a:ln>
        </p:spPr>
      </p:pic>
      <p:sp>
        <p:nvSpPr>
          <p:cNvPr id="19" name="文本框 18">
            <a:extLst>
              <a:ext uri="{FF2B5EF4-FFF2-40B4-BE49-F238E27FC236}">
                <a16:creationId xmlns:a16="http://schemas.microsoft.com/office/drawing/2014/main" id="{149E2E69-C7CF-9D9F-1C47-A08829F9CAFD}"/>
              </a:ext>
            </a:extLst>
          </p:cNvPr>
          <p:cNvSpPr txBox="1"/>
          <p:nvPr/>
        </p:nvSpPr>
        <p:spPr>
          <a:xfrm>
            <a:off x="7758114" y="6023012"/>
            <a:ext cx="6905624" cy="369332"/>
          </a:xfrm>
          <a:prstGeom prst="rect">
            <a:avLst/>
          </a:prstGeom>
          <a:noFill/>
        </p:spPr>
        <p:txBody>
          <a:bodyPr wrap="square">
            <a:spAutoFit/>
          </a:bodyPr>
          <a:lstStyle/>
          <a:p>
            <a:r>
              <a:rPr lang="zh-CN" altLang="en-US" dirty="0"/>
              <a:t>图</a:t>
            </a:r>
            <a:r>
              <a:rPr lang="en-US" altLang="zh-CN" dirty="0"/>
              <a:t>7.36  </a:t>
            </a:r>
            <a:r>
              <a:rPr lang="zh-CN" altLang="en-US" dirty="0"/>
              <a:t>等价控制作用 构造示意图</a:t>
            </a:r>
          </a:p>
        </p:txBody>
      </p:sp>
      <p:sp>
        <p:nvSpPr>
          <p:cNvPr id="20" name="文本框 19">
            <a:extLst>
              <a:ext uri="{FF2B5EF4-FFF2-40B4-BE49-F238E27FC236}">
                <a16:creationId xmlns:a16="http://schemas.microsoft.com/office/drawing/2014/main" id="{D83416D4-8D36-7C2D-36E3-A5A750F460E3}"/>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滑模控制</a:t>
            </a:r>
          </a:p>
        </p:txBody>
      </p:sp>
    </p:spTree>
    <p:extLst>
      <p:ext uri="{BB962C8B-B14F-4D97-AF65-F5344CB8AC3E}">
        <p14:creationId xmlns:p14="http://schemas.microsoft.com/office/powerpoint/2010/main" val="93172436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A10FDCAC-EE7F-4932-09FD-1D2F12CB6CB7}"/>
                  </a:ext>
                </a:extLst>
              </p:cNvPr>
              <p:cNvSpPr txBox="1"/>
              <p:nvPr/>
            </p:nvSpPr>
            <p:spPr>
              <a:xfrm>
                <a:off x="1119187" y="990600"/>
                <a:ext cx="9953625" cy="3552191"/>
              </a:xfrm>
              <a:prstGeom prst="rect">
                <a:avLst/>
              </a:prstGeom>
              <a:noFill/>
            </p:spPr>
            <p:txBody>
              <a:bodyPr wrap="square">
                <a:spAutoFit/>
              </a:bodyPr>
              <a:lstStyle/>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该式也就是滑模两侧控制作用的凸组合，</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𝜶</m:t>
                    </m:r>
                  </m:oMath>
                </a14:m>
                <a:r>
                  <a:rPr lang="zh-CN" altLang="zh-CN" sz="2400" b="1" kern="1000" dirty="0">
                    <a:effectLst/>
                    <a:latin typeface="微软雅黑" panose="020B0503020204020204" pitchFamily="34" charset="-122"/>
                    <a:ea typeface="微软雅黑" panose="020B0503020204020204" pitchFamily="34" charset="-122"/>
                  </a:rPr>
                  <a:t>的值可由式</a:t>
                </a:r>
                <a:r>
                  <a:rPr lang="en-US" altLang="zh-CN" sz="2400" b="1" kern="1000" dirty="0">
                    <a:effectLst/>
                    <a:latin typeface="微软雅黑" panose="020B0503020204020204" pitchFamily="34" charset="-122"/>
                    <a:ea typeface="微软雅黑" panose="020B0503020204020204" pitchFamily="34" charset="-122"/>
                  </a:rPr>
                  <a:t>(7.58)</a:t>
                </a:r>
                <a:r>
                  <a:rPr lang="zh-CN" altLang="zh-CN" sz="2400" b="1" kern="1000" dirty="0">
                    <a:effectLst/>
                    <a:latin typeface="微软雅黑" panose="020B0503020204020204" pitchFamily="34" charset="-122"/>
                    <a:ea typeface="微软雅黑" panose="020B0503020204020204" pitchFamily="34" charset="-122"/>
                  </a:rPr>
                  <a:t>中的第二个式子确定。这种直观的构造方法如图</a:t>
                </a:r>
                <a:r>
                  <a:rPr lang="en-US" altLang="zh-CN" sz="2400" b="1" kern="1000" dirty="0">
                    <a:effectLst/>
                    <a:latin typeface="微软雅黑" panose="020B0503020204020204" pitchFamily="34" charset="-122"/>
                    <a:ea typeface="微软雅黑" panose="020B0503020204020204" pitchFamily="34" charset="-122"/>
                  </a:rPr>
                  <a:t>7.36</a:t>
                </a:r>
                <a:r>
                  <a:rPr lang="zh-CN" altLang="zh-CN" sz="2400" b="1" kern="1000" dirty="0">
                    <a:effectLst/>
                    <a:latin typeface="微软雅黑" panose="020B0503020204020204" pitchFamily="34" charset="-122"/>
                    <a:ea typeface="微软雅黑" panose="020B0503020204020204" pitchFamily="34" charset="-122"/>
                  </a:rPr>
                  <a:t>所示，其中</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𝒇</m:t>
                        </m:r>
                      </m:e>
                      <m:sub>
                        <m:r>
                          <a:rPr lang="en-US" altLang="zh-CN" sz="2400" b="1" i="1" kern="1000">
                            <a:effectLst/>
                            <a:latin typeface="Cambria Math" panose="02040503050406030204" pitchFamily="18" charset="0"/>
                            <a:ea typeface="宋体" panose="02010600030101010101" pitchFamily="2" charset="-122"/>
                          </a:rPr>
                          <m:t>+</m:t>
                        </m:r>
                      </m:sub>
                    </m:sSub>
                    <m:r>
                      <a:rPr lang="en-US" altLang="zh-CN" sz="2400" b="1" i="1" kern="1000">
                        <a:effectLst/>
                        <a:latin typeface="Cambria Math" panose="02040503050406030204" pitchFamily="18" charset="0"/>
                        <a:ea typeface="宋体" panose="02010600030101010101" pitchFamily="2" charset="-122"/>
                      </a:rPr>
                      <m:t>=[</m:t>
                    </m:r>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𝒙</m:t>
                        </m:r>
                      </m:e>
                    </m:acc>
                    <m:r>
                      <a:rPr lang="en-US" altLang="zh-CN" sz="2400" b="1" i="1" kern="1000">
                        <a:effectLst/>
                        <a:latin typeface="Cambria Math" panose="02040503050406030204" pitchFamily="18" charset="0"/>
                        <a:ea typeface="宋体" panose="02010600030101010101" pitchFamily="2" charset="-122"/>
                      </a:rPr>
                      <m:t>𝒇</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𝒖</m:t>
                        </m:r>
                      </m:e>
                      <m:sub>
                        <m:r>
                          <a:rPr lang="en-US" altLang="zh-CN" sz="2400" b="1" i="1" kern="1000">
                            <a:effectLst/>
                            <a:latin typeface="Cambria Math" panose="02040503050406030204" pitchFamily="18" charset="0"/>
                            <a:ea typeface="宋体" panose="02010600030101010101" pitchFamily="2" charset="-122"/>
                          </a:rPr>
                          <m:t>+</m:t>
                        </m:r>
                      </m:sub>
                    </m:sSub>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m:t>
                        </m:r>
                      </m:e>
                      <m:sup>
                        <m:r>
                          <a:rPr lang="en-US" altLang="zh-CN" sz="2400" b="1" i="1" kern="1000">
                            <a:effectLst/>
                            <a:latin typeface="Cambria Math" panose="02040503050406030204" pitchFamily="18" charset="0"/>
                            <a:ea typeface="宋体" panose="02010600030101010101" pitchFamily="2" charset="-122"/>
                          </a:rPr>
                          <m:t>𝑻</m:t>
                        </m:r>
                      </m:sup>
                    </m:sSup>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𝒇</m:t>
                        </m:r>
                      </m:e>
                      <m:sub>
                        <m:r>
                          <a:rPr lang="en-US" altLang="zh-CN" sz="2400" b="1" i="1" kern="1000">
                            <a:effectLst/>
                            <a:latin typeface="Cambria Math" panose="02040503050406030204" pitchFamily="18" charset="0"/>
                            <a:ea typeface="宋体" panose="02010600030101010101" pitchFamily="2" charset="-122"/>
                          </a:rPr>
                          <m:t>−</m:t>
                        </m:r>
                      </m:sub>
                    </m:sSub>
                    <m:r>
                      <a:rPr lang="en-US" altLang="zh-CN" sz="2400" b="1" i="1" kern="1000">
                        <a:effectLst/>
                        <a:latin typeface="Cambria Math" panose="02040503050406030204" pitchFamily="18" charset="0"/>
                        <a:ea typeface="宋体" panose="02010600030101010101" pitchFamily="2" charset="-122"/>
                      </a:rPr>
                      <m:t>=[</m:t>
                    </m:r>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𝒙</m:t>
                        </m:r>
                      </m:e>
                    </m:acc>
                    <m:r>
                      <a:rPr lang="en-US" altLang="zh-CN" sz="2400" b="1" i="1" kern="1000">
                        <a:effectLst/>
                        <a:latin typeface="Cambria Math" panose="02040503050406030204" pitchFamily="18" charset="0"/>
                        <a:ea typeface="宋体" panose="02010600030101010101" pitchFamily="2" charset="-122"/>
                      </a:rPr>
                      <m:t>𝒇</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𝒖</m:t>
                        </m:r>
                      </m:e>
                      <m:sub>
                        <m:r>
                          <a:rPr lang="en-US" altLang="zh-CN" sz="2400" b="1" i="1" kern="1000">
                            <a:effectLst/>
                            <a:latin typeface="Cambria Math" panose="02040503050406030204" pitchFamily="18" charset="0"/>
                            <a:ea typeface="宋体" panose="02010600030101010101" pitchFamily="2" charset="-122"/>
                          </a:rPr>
                          <m:t>−</m:t>
                        </m:r>
                      </m:sub>
                    </m:sSub>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m:t>
                        </m:r>
                      </m:e>
                      <m:sup>
                        <m:r>
                          <a:rPr lang="en-US" altLang="zh-CN" sz="2400" b="1" i="1" kern="1000">
                            <a:effectLst/>
                            <a:latin typeface="Cambria Math" panose="02040503050406030204" pitchFamily="18" charset="0"/>
                            <a:ea typeface="宋体" panose="02010600030101010101" pitchFamily="2" charset="-122"/>
                          </a:rPr>
                          <m:t>𝑻</m:t>
                        </m:r>
                      </m:sup>
                    </m:sSup>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𝒇</m:t>
                        </m:r>
                      </m:e>
                      <m:sub>
                        <m:r>
                          <m:rPr>
                            <m:nor/>
                          </m:rPr>
                          <a:rPr lang="en-US" altLang="zh-CN" sz="2400" b="1" kern="1000">
                            <a:effectLst/>
                            <a:latin typeface="微软雅黑" panose="020B0503020204020204" pitchFamily="34" charset="-122"/>
                            <a:ea typeface="微软雅黑" panose="020B0503020204020204" pitchFamily="34" charset="-122"/>
                          </a:rPr>
                          <m:t>eq</m:t>
                        </m:r>
                      </m:sub>
                    </m:sSub>
                    <m:r>
                      <a:rPr lang="en-US" altLang="zh-CN" sz="2400" b="1" i="1" kern="1000">
                        <a:effectLst/>
                        <a:latin typeface="Cambria Math" panose="02040503050406030204" pitchFamily="18" charset="0"/>
                        <a:ea typeface="宋体" panose="02010600030101010101" pitchFamily="2" charset="-122"/>
                      </a:rPr>
                      <m:t>=[</m:t>
                    </m:r>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𝒙</m:t>
                        </m:r>
                      </m:e>
                    </m:acc>
                    <m:r>
                      <a:rPr lang="en-US" altLang="zh-CN" sz="2400" b="1" i="1" kern="1000">
                        <a:effectLst/>
                        <a:latin typeface="Cambria Math" panose="02040503050406030204" pitchFamily="18" charset="0"/>
                        <a:ea typeface="宋体" panose="02010600030101010101" pitchFamily="2" charset="-122"/>
                      </a:rPr>
                      <m:t>𝒇</m:t>
                    </m:r>
                    <m:r>
                      <a:rPr lang="en-US" altLang="zh-CN" sz="2400" b="1" i="1" kern="1000">
                        <a:effectLst/>
                        <a:latin typeface="Cambria Math" panose="02040503050406030204" pitchFamily="18" charset="0"/>
                        <a:ea typeface="宋体" panose="02010600030101010101" pitchFamily="2" charset="-122"/>
                      </a:rPr>
                      <m:t>+</m:t>
                    </m:r>
                  </m:oMath>
                </a14:m>
                <a:r>
                  <a:rPr lang="en-US" altLang="zh-CN" sz="2400" b="1" kern="100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𝒖</m:t>
                        </m:r>
                      </m:e>
                      <m:sub>
                        <m:r>
                          <m:rPr>
                            <m:nor/>
                          </m:rPr>
                          <a:rPr lang="en-US" altLang="zh-CN" sz="2400" b="1" kern="1000">
                            <a:effectLst/>
                            <a:latin typeface="微软雅黑" panose="020B0503020204020204" pitchFamily="34" charset="-122"/>
                            <a:ea typeface="微软雅黑" panose="020B0503020204020204" pitchFamily="34" charset="-122"/>
                          </a:rPr>
                          <m:t>eq</m:t>
                        </m:r>
                      </m:sub>
                    </m:sSub>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m:t>
                        </m:r>
                      </m:e>
                      <m:sup>
                        <m:r>
                          <a:rPr lang="en-US" altLang="zh-CN" sz="2400" b="1" i="1" kern="1000">
                            <a:effectLst/>
                            <a:latin typeface="Cambria Math" panose="02040503050406030204" pitchFamily="18" charset="0"/>
                            <a:ea typeface="宋体" panose="02010600030101010101" pitchFamily="2" charset="-122"/>
                          </a:rPr>
                          <m:t>𝑻</m:t>
                        </m:r>
                      </m:sup>
                    </m:sSup>
                  </m:oMath>
                </a14:m>
                <a:r>
                  <a:rPr lang="zh-CN" altLang="zh-CN" sz="2400" b="1" kern="1000" dirty="0">
                    <a:effectLst/>
                    <a:latin typeface="微软雅黑" panose="020B0503020204020204" pitchFamily="34" charset="-122"/>
                    <a:ea typeface="微软雅黑" panose="020B0503020204020204" pitchFamily="34" charset="-122"/>
                  </a:rPr>
                  <a:t>，是由俄罗斯数学家</a:t>
                </a:r>
                <a:r>
                  <a:rPr lang="en-US" altLang="zh-CN" sz="2400" b="1" kern="1000" dirty="0">
                    <a:effectLst/>
                    <a:latin typeface="微软雅黑" panose="020B0503020204020204" pitchFamily="34" charset="-122"/>
                    <a:ea typeface="微软雅黑" panose="020B0503020204020204" pitchFamily="34" charset="-122"/>
                  </a:rPr>
                  <a:t>Filippov</a:t>
                </a:r>
                <a:r>
                  <a:rPr lang="zh-CN" altLang="zh-CN" sz="2400" b="1" kern="1000" dirty="0">
                    <a:effectLst/>
                    <a:latin typeface="微软雅黑" panose="020B0503020204020204" pitchFamily="34" charset="-122"/>
                    <a:ea typeface="微软雅黑" panose="020B0503020204020204" pitchFamily="34" charset="-122"/>
                  </a:rPr>
                  <a:t>提出来，常被称为</a:t>
                </a:r>
                <a:r>
                  <a:rPr lang="en-US" altLang="zh-CN" sz="2400" b="1" kern="1000" dirty="0">
                    <a:effectLst/>
                    <a:latin typeface="微软雅黑" panose="020B0503020204020204" pitchFamily="34" charset="-122"/>
                    <a:ea typeface="微软雅黑" panose="020B0503020204020204" pitchFamily="34" charset="-122"/>
                  </a:rPr>
                  <a:t>Filippov</a:t>
                </a:r>
                <a:r>
                  <a:rPr lang="zh-CN" altLang="zh-CN" sz="2400" b="1" kern="1000" dirty="0">
                    <a:effectLst/>
                    <a:latin typeface="微软雅黑" panose="020B0503020204020204" pitchFamily="34" charset="-122"/>
                    <a:ea typeface="微软雅黑" panose="020B0503020204020204" pitchFamily="34" charset="-122"/>
                  </a:rPr>
                  <a:t>等价构造。</a:t>
                </a:r>
              </a:p>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实际上，我们完全可以不理会上述的滑模控制设计方法，而直接应用</a:t>
                </a:r>
                <a:r>
                  <a:rPr lang="en-US" altLang="zh-CN" sz="2400" b="1" kern="1000" dirty="0">
                    <a:effectLst/>
                    <a:latin typeface="微软雅黑" panose="020B0503020204020204" pitchFamily="34" charset="-122"/>
                    <a:ea typeface="微软雅黑" panose="020B0503020204020204" pitchFamily="34" charset="-122"/>
                  </a:rPr>
                  <a:t>Lyapunov</a:t>
                </a:r>
                <a:r>
                  <a:rPr lang="zh-CN" altLang="zh-CN" sz="2400" b="1" kern="1000" dirty="0">
                    <a:effectLst/>
                    <a:latin typeface="微软雅黑" panose="020B0503020204020204" pitchFamily="34" charset="-122"/>
                    <a:ea typeface="微软雅黑" panose="020B0503020204020204" pitchFamily="34" charset="-122"/>
                  </a:rPr>
                  <a:t>直接方法来进行设计。下面就以非线性机器人系统的轨迹跟踪控制为例说明这个过程。</a:t>
                </a:r>
              </a:p>
              <a:p>
                <a:pPr algn="just"/>
                <a:r>
                  <a:rPr lang="zh-CN" altLang="zh-CN" sz="2400" b="1" kern="1000" dirty="0">
                    <a:effectLst/>
                    <a:latin typeface="微软雅黑" panose="020B0503020204020204" pitchFamily="34" charset="-122"/>
                    <a:ea typeface="微软雅黑" panose="020B0503020204020204" pitchFamily="34" charset="-122"/>
                  </a:rPr>
                  <a:t>设跟踪滤波误差为</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000" b="1" i="1" kern="1050">
                        <a:effectLst/>
                        <a:latin typeface="Cambria Math" panose="02040503050406030204" pitchFamily="18" charset="0"/>
                        <a:ea typeface="宋体" panose="02010600030101010101" pitchFamily="2" charset="-122"/>
                      </a:rPr>
                      <m:t>𝒔</m:t>
                    </m:r>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𝒆</m:t>
                        </m:r>
                      </m:e>
                    </m:acc>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𝜦</m:t>
                    </m:r>
                    <m:r>
                      <a:rPr lang="en-US" altLang="zh-CN" sz="2000" b="1" i="1" kern="1050">
                        <a:effectLst/>
                        <a:latin typeface="Cambria Math" panose="02040503050406030204" pitchFamily="18" charset="0"/>
                        <a:ea typeface="宋体" panose="02010600030101010101" pitchFamily="2" charset="-122"/>
                      </a:rPr>
                      <m:t>𝒆</m:t>
                    </m:r>
                  </m:oMath>
                </a14:m>
                <a:r>
                  <a:rPr lang="en-US" altLang="zh-CN" sz="2000" b="1" kern="1050" dirty="0">
                    <a:effectLst/>
                    <a:latin typeface="微软雅黑" panose="020B0503020204020204" pitchFamily="34" charset="-122"/>
                    <a:ea typeface="微软雅黑" panose="020B0503020204020204" pitchFamily="34" charset="-122"/>
                  </a:rPr>
                  <a:t>	                (7.60)</a:t>
                </a:r>
                <a:endParaRPr lang="zh-CN" altLang="zh-CN" sz="2000" b="1" kern="1050" dirty="0">
                  <a:effectLst/>
                  <a:latin typeface="微软雅黑" panose="020B0503020204020204" pitchFamily="34" charset="-122"/>
                  <a:ea typeface="微软雅黑" panose="020B0503020204020204" pitchFamily="34" charset="-122"/>
                </a:endParaRPr>
              </a:p>
            </p:txBody>
          </p:sp>
        </mc:Choice>
        <mc:Fallback>
          <p:sp>
            <p:nvSpPr>
              <p:cNvPr id="5" name="文本框 4">
                <a:extLst>
                  <a:ext uri="{FF2B5EF4-FFF2-40B4-BE49-F238E27FC236}">
                    <a16:creationId xmlns:a16="http://schemas.microsoft.com/office/drawing/2014/main" id="{A10FDCAC-EE7F-4932-09FD-1D2F12CB6CB7}"/>
                  </a:ext>
                </a:extLst>
              </p:cNvPr>
              <p:cNvSpPr txBox="1">
                <a:spLocks noRot="1" noChangeAspect="1" noMove="1" noResize="1" noEditPoints="1" noAdjustHandles="1" noChangeArrowheads="1" noChangeShapeType="1" noTextEdit="1"/>
              </p:cNvSpPr>
              <p:nvPr/>
            </p:nvSpPr>
            <p:spPr>
              <a:xfrm>
                <a:off x="1119187" y="990600"/>
                <a:ext cx="9953625" cy="3552191"/>
              </a:xfrm>
              <a:prstGeom prst="rect">
                <a:avLst/>
              </a:prstGeom>
              <a:blipFill>
                <a:blip r:embed="rId3"/>
                <a:stretch>
                  <a:fillRect l="-980" t="-1375" r="-980" b="-15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B98A02EE-FF2B-45B1-4652-15D526F13A14}"/>
                  </a:ext>
                </a:extLst>
              </p:cNvPr>
              <p:cNvSpPr txBox="1"/>
              <p:nvPr/>
            </p:nvSpPr>
            <p:spPr>
              <a:xfrm>
                <a:off x="1357313" y="4542791"/>
                <a:ext cx="9834562" cy="2127121"/>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𝜦</m:t>
                    </m:r>
                  </m:oMath>
                </a14:m>
                <a:r>
                  <a:rPr lang="zh-CN" altLang="zh-CN" sz="2400" b="1" kern="1000" dirty="0">
                    <a:effectLst/>
                    <a:latin typeface="微软雅黑" panose="020B0503020204020204" pitchFamily="34" charset="-122"/>
                    <a:ea typeface="微软雅黑" panose="020B0503020204020204" pitchFamily="34" charset="-122"/>
                  </a:rPr>
                  <a:t>为任意恒定对角正定矩阵。</a:t>
                </a:r>
              </a:p>
              <a:p>
                <a:pPr algn="just"/>
                <a:r>
                  <a:rPr lang="zh-CN" altLang="zh-CN" sz="2400" b="1" kern="1000" dirty="0">
                    <a:effectLst/>
                    <a:latin typeface="微软雅黑" panose="020B0503020204020204" pitchFamily="34" charset="-122"/>
                    <a:ea typeface="微软雅黑" panose="020B0503020204020204" pitchFamily="34" charset="-122"/>
                  </a:rPr>
                  <a:t>引入参考速度矢量</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𝜽</m:t>
                            </m:r>
                          </m:e>
                        </m:acc>
                      </m:e>
                      <m:sub>
                        <m:r>
                          <a:rPr lang="en-US" altLang="zh-CN" sz="2000" b="1" i="1" kern="1050">
                            <a:effectLst/>
                            <a:latin typeface="Cambria Math" panose="02040503050406030204" pitchFamily="18" charset="0"/>
                            <a:ea typeface="宋体" panose="02010600030101010101" pitchFamily="2" charset="-122"/>
                          </a:rPr>
                          <m:t>𝒓</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𝜽</m:t>
                            </m:r>
                          </m:e>
                        </m:acc>
                      </m:e>
                      <m:sub>
                        <m:r>
                          <a:rPr lang="en-US" altLang="zh-CN" sz="2000" b="1" i="1" kern="1050">
                            <a:effectLst/>
                            <a:latin typeface="Cambria Math" panose="02040503050406030204" pitchFamily="18" charset="0"/>
                            <a:ea typeface="宋体" panose="02010600030101010101" pitchFamily="2" charset="-122"/>
                          </a:rPr>
                          <m:t>𝒅</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𝜦</m:t>
                    </m:r>
                    <m:r>
                      <a:rPr lang="en-US" altLang="zh-CN" sz="2000" b="1" i="1" kern="1050">
                        <a:effectLst/>
                        <a:latin typeface="Cambria Math" panose="02040503050406030204" pitchFamily="18" charset="0"/>
                        <a:ea typeface="宋体" panose="02010600030101010101" pitchFamily="2" charset="-122"/>
                      </a:rPr>
                      <m:t>𝒆</m:t>
                    </m:r>
                  </m:oMath>
                </a14:m>
                <a:r>
                  <a:rPr lang="en-US" altLang="zh-CN" sz="2000" b="1" kern="1050" dirty="0">
                    <a:effectLst/>
                    <a:latin typeface="微软雅黑" panose="020B0503020204020204" pitchFamily="34" charset="-122"/>
                    <a:ea typeface="微软雅黑" panose="020B0503020204020204" pitchFamily="34" charset="-122"/>
                  </a:rPr>
                  <a:t>	              (7.61)</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则式</a:t>
                </a:r>
                <a:r>
                  <a:rPr lang="en-US" altLang="zh-CN" sz="2400" b="1" kern="1000" dirty="0">
                    <a:effectLst/>
                    <a:latin typeface="微软雅黑" panose="020B0503020204020204" pitchFamily="34" charset="-122"/>
                    <a:ea typeface="微软雅黑" panose="020B0503020204020204" pitchFamily="34" charset="-122"/>
                  </a:rPr>
                  <a:t>(7.60)</a:t>
                </a:r>
                <a:r>
                  <a:rPr lang="zh-CN" altLang="zh-CN" sz="2400" b="1" kern="1000" dirty="0">
                    <a:effectLst/>
                    <a:latin typeface="微软雅黑" panose="020B0503020204020204" pitchFamily="34" charset="-122"/>
                    <a:ea typeface="微软雅黑" panose="020B0503020204020204" pitchFamily="34" charset="-122"/>
                  </a:rPr>
                  <a:t>可重写为</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000" b="1" i="1" kern="1050">
                        <a:effectLst/>
                        <a:latin typeface="Cambria Math" panose="02040503050406030204" pitchFamily="18" charset="0"/>
                        <a:ea typeface="宋体" panose="02010600030101010101" pitchFamily="2" charset="-122"/>
                      </a:rPr>
                      <m:t>𝒔</m:t>
                    </m:r>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𝜽</m:t>
                        </m:r>
                      </m:e>
                    </m:acc>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𝜽</m:t>
                            </m:r>
                          </m:e>
                        </m:acc>
                      </m:e>
                      <m:sub>
                        <m:r>
                          <a:rPr lang="en-US" altLang="zh-CN" sz="2000" b="1" i="1" kern="1050">
                            <a:effectLst/>
                            <a:latin typeface="Cambria Math" panose="02040503050406030204" pitchFamily="18" charset="0"/>
                            <a:ea typeface="宋体" panose="02010600030101010101" pitchFamily="2" charset="-122"/>
                          </a:rPr>
                          <m:t>𝒓</m:t>
                        </m:r>
                      </m:sub>
                    </m:sSub>
                  </m:oMath>
                </a14:m>
                <a:r>
                  <a:rPr lang="en-US" altLang="zh-CN" sz="2000" b="1" kern="1050" dirty="0">
                    <a:effectLst/>
                    <a:latin typeface="微软雅黑" panose="020B0503020204020204" pitchFamily="34" charset="-122"/>
                    <a:ea typeface="微软雅黑" panose="020B0503020204020204" pitchFamily="34" charset="-122"/>
                  </a:rPr>
                  <a:t>	              (7.62)</a:t>
                </a:r>
                <a:endParaRPr lang="zh-CN" altLang="zh-CN" sz="2000" b="1" kern="1050" dirty="0">
                  <a:effectLst/>
                  <a:latin typeface="微软雅黑" panose="020B0503020204020204" pitchFamily="34" charset="-122"/>
                  <a:ea typeface="微软雅黑" panose="020B0503020204020204" pitchFamily="34" charset="-122"/>
                </a:endParaRPr>
              </a:p>
            </p:txBody>
          </p:sp>
        </mc:Choice>
        <mc:Fallback xmlns="">
          <p:sp>
            <p:nvSpPr>
              <p:cNvPr id="7" name="文本框 6">
                <a:extLst>
                  <a:ext uri="{FF2B5EF4-FFF2-40B4-BE49-F238E27FC236}">
                    <a16:creationId xmlns:a16="http://schemas.microsoft.com/office/drawing/2014/main" id="{B98A02EE-FF2B-45B1-4652-15D526F13A14}"/>
                  </a:ext>
                </a:extLst>
              </p:cNvPr>
              <p:cNvSpPr txBox="1">
                <a:spLocks noRot="1" noChangeAspect="1" noMove="1" noResize="1" noEditPoints="1" noAdjustHandles="1" noChangeArrowheads="1" noChangeShapeType="1" noTextEdit="1"/>
              </p:cNvSpPr>
              <p:nvPr/>
            </p:nvSpPr>
            <p:spPr>
              <a:xfrm>
                <a:off x="1357313" y="4542791"/>
                <a:ext cx="9834562" cy="2127121"/>
              </a:xfrm>
              <a:prstGeom prst="rect">
                <a:avLst/>
              </a:prstGeom>
              <a:blipFill>
                <a:blip r:embed="rId4"/>
                <a:stretch>
                  <a:fillRect l="-992" t="-2292" b="-2006"/>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764A06DD-735A-961C-E8EC-2D83656A328A}"/>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 5</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滑模控制</a:t>
            </a:r>
          </a:p>
        </p:txBody>
      </p:sp>
    </p:spTree>
    <p:extLst>
      <p:ext uri="{BB962C8B-B14F-4D97-AF65-F5344CB8AC3E}">
        <p14:creationId xmlns:p14="http://schemas.microsoft.com/office/powerpoint/2010/main" val="243001722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60AA7CE2-2DCB-0A2E-780E-C5CE2BED0CE7}"/>
                  </a:ext>
                </a:extLst>
              </p:cNvPr>
              <p:cNvSpPr txBox="1"/>
              <p:nvPr/>
            </p:nvSpPr>
            <p:spPr>
              <a:xfrm>
                <a:off x="1109662" y="1309360"/>
                <a:ext cx="9972675" cy="4239280"/>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假设机器人系统的标称模型已知，设计如下滑模控制律</a:t>
                </a:r>
              </a:p>
              <a:p>
                <a:pPr algn="just">
                  <a:spcBef>
                    <a:spcPts val="400"/>
                  </a:spcBef>
                  <a:spcAft>
                    <a:spcPts val="4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000" b="1" i="1" kern="1050" smtClean="0">
                        <a:effectLst/>
                        <a:latin typeface="Cambria Math" panose="02040503050406030204" pitchFamily="18" charset="0"/>
                        <a:ea typeface="宋体" panose="02010600030101010101" pitchFamily="2" charset="-122"/>
                      </a:rPr>
                      <m:t>𝝉</m:t>
                    </m:r>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𝑴</m:t>
                        </m:r>
                      </m:e>
                    </m:acc>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𝜽</m:t>
                            </m:r>
                          </m:e>
                        </m:acc>
                      </m:e>
                      <m:sub>
                        <m:r>
                          <a:rPr lang="en-US" altLang="zh-CN" sz="2000" b="1" i="1" kern="1050" smtClean="0">
                            <a:effectLst/>
                            <a:latin typeface="Cambria Math" panose="02040503050406030204" pitchFamily="18" charset="0"/>
                            <a:ea typeface="宋体" panose="02010600030101010101" pitchFamily="2" charset="-122"/>
                          </a:rPr>
                          <m:t>𝒓</m:t>
                        </m:r>
                      </m:sub>
                    </m:sSub>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𝑪</m:t>
                        </m:r>
                      </m:e>
                    </m:acc>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𝜽</m:t>
                        </m:r>
                      </m:e>
                    </m:acc>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𝜽</m:t>
                            </m:r>
                          </m:e>
                        </m:acc>
                      </m:e>
                      <m:sub>
                        <m:r>
                          <a:rPr lang="en-US" altLang="zh-CN" sz="2000" b="1" i="1" kern="1050" smtClean="0">
                            <a:effectLst/>
                            <a:latin typeface="Cambria Math" panose="02040503050406030204" pitchFamily="18" charset="0"/>
                            <a:ea typeface="宋体" panose="02010600030101010101" pitchFamily="2" charset="-122"/>
                          </a:rPr>
                          <m:t>𝒓</m:t>
                        </m:r>
                      </m:sub>
                    </m:sSub>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𝑫</m:t>
                        </m:r>
                      </m:e>
                    </m:acc>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𝜽</m:t>
                            </m:r>
                          </m:e>
                        </m:acc>
                      </m:e>
                      <m:sub>
                        <m:r>
                          <a:rPr lang="en-US" altLang="zh-CN" sz="2000" b="1" i="1" kern="1050" smtClean="0">
                            <a:effectLst/>
                            <a:latin typeface="Cambria Math" panose="02040503050406030204" pitchFamily="18" charset="0"/>
                            <a:ea typeface="宋体" panose="02010600030101010101" pitchFamily="2" charset="-122"/>
                          </a:rPr>
                          <m:t>𝒓</m:t>
                        </m:r>
                      </m:sub>
                    </m:sSub>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𝒈</m:t>
                        </m:r>
                      </m:e>
                    </m:acc>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𝑲</m:t>
                        </m:r>
                      </m:e>
                      <m:sub>
                        <m:r>
                          <a:rPr lang="en-US" altLang="zh-CN" sz="2000" b="1" i="1" kern="1050" smtClean="0">
                            <a:effectLst/>
                            <a:latin typeface="Cambria Math" panose="02040503050406030204" pitchFamily="18" charset="0"/>
                            <a:ea typeface="宋体" panose="02010600030101010101" pitchFamily="2" charset="-122"/>
                          </a:rPr>
                          <m:t>𝒓</m:t>
                        </m:r>
                      </m:sub>
                    </m:sSub>
                    <m:func>
                      <m:funcPr>
                        <m:ctrlPr>
                          <a:rPr lang="zh-CN" altLang="zh-CN" sz="2000" b="1" i="1" kern="1050">
                            <a:effectLst/>
                            <a:latin typeface="Cambria Math" panose="02040503050406030204" pitchFamily="18" charset="0"/>
                            <a:ea typeface="Cambria Math" panose="02040503050406030204" pitchFamily="18" charset="0"/>
                          </a:rPr>
                        </m:ctrlPr>
                      </m:funcPr>
                      <m:fName>
                        <m:r>
                          <a:rPr lang="en-US" altLang="zh-CN" sz="2000" b="1" i="1" kern="1050" smtClean="0">
                            <a:effectLst/>
                            <a:latin typeface="Cambria Math" panose="02040503050406030204" pitchFamily="18" charset="0"/>
                            <a:ea typeface="宋体" panose="02010600030101010101" pitchFamily="2" charset="-122"/>
                          </a:rPr>
                          <m:t>𝒔𝒈𝒏</m:t>
                        </m:r>
                      </m:fName>
                      <m:e>
                        <m:r>
                          <a:rPr lang="en-US" altLang="zh-CN" sz="2000" b="1" i="1" kern="1050" smtClean="0">
                            <a:effectLst/>
                            <a:latin typeface="Cambria Math" panose="02040503050406030204" pitchFamily="18" charset="0"/>
                            <a:ea typeface="宋体" panose="02010600030101010101" pitchFamily="2" charset="-122"/>
                          </a:rPr>
                          <m:t>(</m:t>
                        </m:r>
                      </m:e>
                    </m:func>
                    <m:r>
                      <a:rPr lang="en-US" altLang="zh-CN" sz="2000" b="1" i="1" kern="1050" smtClean="0">
                        <a:effectLst/>
                        <a:latin typeface="Cambria Math" panose="02040503050406030204" pitchFamily="18" charset="0"/>
                        <a:ea typeface="宋体" panose="02010600030101010101" pitchFamily="2" charset="-122"/>
                      </a:rPr>
                      <m:t>𝒔</m:t>
                    </m:r>
                    <m:r>
                      <a:rPr lang="en-US" altLang="zh-CN" sz="2000" b="1" i="1" kern="1050" smtClean="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(7.63)</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𝑲</m:t>
                        </m:r>
                      </m:e>
                      <m:sub>
                        <m:r>
                          <a:rPr lang="en-US" altLang="zh-CN" sz="2400" b="1" i="1" kern="1000" smtClean="0">
                            <a:effectLst/>
                            <a:latin typeface="Cambria Math" panose="02040503050406030204" pitchFamily="18" charset="0"/>
                            <a:ea typeface="宋体" panose="02010600030101010101" pitchFamily="2" charset="-122"/>
                          </a:rPr>
                          <m:t>𝒓</m:t>
                        </m:r>
                      </m:sub>
                    </m:sSub>
                  </m:oMath>
                </a14:m>
                <a:r>
                  <a:rPr lang="zh-CN" altLang="zh-CN" sz="2400" b="1" kern="1000" dirty="0">
                    <a:effectLst/>
                    <a:latin typeface="微软雅黑" panose="020B0503020204020204" pitchFamily="34" charset="-122"/>
                    <a:ea typeface="微软雅黑" panose="020B0503020204020204" pitchFamily="34" charset="-122"/>
                  </a:rPr>
                  <a:t>为恒定对角正定鲁棒增益矩阵，</a:t>
                </a:r>
                <a14:m>
                  <m:oMath xmlns:m="http://schemas.openxmlformats.org/officeDocument/2006/math">
                    <m:func>
                      <m:funcPr>
                        <m:ctrlPr>
                          <a:rPr lang="zh-CN" altLang="zh-CN" sz="2400" b="1" i="1" kern="1000">
                            <a:effectLst/>
                            <a:latin typeface="Cambria Math" panose="02040503050406030204" pitchFamily="18" charset="0"/>
                            <a:ea typeface="Cambria Math" panose="02040503050406030204" pitchFamily="18" charset="0"/>
                          </a:rPr>
                        </m:ctrlPr>
                      </m:funcPr>
                      <m:fName>
                        <m:r>
                          <a:rPr lang="en-US" altLang="zh-CN" sz="2400" b="1" i="1" kern="1000" smtClean="0">
                            <a:effectLst/>
                            <a:latin typeface="Cambria Math" panose="02040503050406030204" pitchFamily="18" charset="0"/>
                            <a:ea typeface="宋体" panose="02010600030101010101" pitchFamily="2" charset="-122"/>
                          </a:rPr>
                          <m:t>𝒔𝒈𝒏</m:t>
                        </m:r>
                      </m:fName>
                      <m:e>
                        <m:r>
                          <a:rPr lang="en-US" altLang="zh-CN" sz="2400" b="1" i="1" kern="1000" smtClean="0">
                            <a:effectLst/>
                            <a:latin typeface="Cambria Math" panose="02040503050406030204" pitchFamily="18" charset="0"/>
                            <a:ea typeface="宋体" panose="02010600030101010101" pitchFamily="2" charset="-122"/>
                          </a:rPr>
                          <m:t>(</m:t>
                        </m:r>
                      </m:e>
                    </m:func>
                    <m:r>
                      <a:rPr lang="en-US" altLang="zh-CN" sz="2400" b="1" i="1" kern="1000" smtClean="0">
                        <a:effectLst/>
                        <a:latin typeface="Cambria Math" panose="02040503050406030204" pitchFamily="18" charset="0"/>
                        <a:ea typeface="宋体" panose="02010600030101010101" pitchFamily="2" charset="-122"/>
                      </a:rPr>
                      <m:t>𝒔</m:t>
                    </m:r>
                    <m:r>
                      <a:rPr lang="en-US" altLang="zh-CN" sz="2400" b="1" i="1" kern="1000" smtClean="0">
                        <a:effectLst/>
                        <a:latin typeface="Cambria Math" panose="02040503050406030204" pitchFamily="18" charset="0"/>
                        <a:ea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smtClean="0">
                            <a:effectLst/>
                            <a:latin typeface="Cambria Math" panose="02040503050406030204" pitchFamily="18" charset="0"/>
                            <a:ea typeface="宋体" panose="02010600030101010101" pitchFamily="2" charset="-122"/>
                          </a:rPr>
                          <m:t>𝑹</m:t>
                        </m:r>
                      </m:e>
                      <m:sup>
                        <m:r>
                          <a:rPr lang="en-US" altLang="zh-CN" sz="2400" b="1" i="1" kern="1000" smtClean="0">
                            <a:effectLst/>
                            <a:latin typeface="Cambria Math" panose="02040503050406030204" pitchFamily="18" charset="0"/>
                            <a:ea typeface="宋体" panose="02010600030101010101" pitchFamily="2" charset="-122"/>
                          </a:rPr>
                          <m:t>𝒏</m:t>
                        </m:r>
                      </m:sup>
                    </m:sSup>
                  </m:oMath>
                </a14:m>
                <a:r>
                  <a:rPr lang="zh-CN" altLang="zh-CN" sz="2400" b="1" kern="1000" dirty="0">
                    <a:effectLst/>
                    <a:latin typeface="微软雅黑" panose="020B0503020204020204" pitchFamily="34" charset="-122"/>
                    <a:ea typeface="微软雅黑" panose="020B0503020204020204" pitchFamily="34" charset="-122"/>
                  </a:rPr>
                  <a:t>为如下矢量</a:t>
                </a:r>
              </a:p>
              <a:p>
                <a:pPr algn="just">
                  <a:spcBef>
                    <a:spcPts val="400"/>
                  </a:spcBef>
                  <a:spcAft>
                    <a:spcPts val="4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func>
                      <m:funcPr>
                        <m:ctrlPr>
                          <a:rPr lang="zh-CN" altLang="zh-CN" sz="2000" b="1" i="1" kern="1050">
                            <a:effectLst/>
                            <a:latin typeface="Cambria Math" panose="02040503050406030204" pitchFamily="18" charset="0"/>
                            <a:ea typeface="Cambria Math" panose="02040503050406030204" pitchFamily="18" charset="0"/>
                          </a:rPr>
                        </m:ctrlPr>
                      </m:funcPr>
                      <m:fName>
                        <m:r>
                          <a:rPr lang="en-US" altLang="zh-CN" sz="2000" b="1" i="1" kern="1050" smtClean="0">
                            <a:effectLst/>
                            <a:latin typeface="Cambria Math" panose="02040503050406030204" pitchFamily="18" charset="0"/>
                            <a:ea typeface="宋体" panose="02010600030101010101" pitchFamily="2" charset="-122"/>
                          </a:rPr>
                          <m:t>𝒔𝒈𝒏</m:t>
                        </m:r>
                      </m:fName>
                      <m:e>
                        <m:r>
                          <a:rPr lang="en-US" altLang="zh-CN" sz="2000" b="1" i="1" kern="1050" smtClean="0">
                            <a:effectLst/>
                            <a:latin typeface="Cambria Math" panose="02040503050406030204" pitchFamily="18" charset="0"/>
                            <a:ea typeface="宋体" panose="02010600030101010101" pitchFamily="2" charset="-122"/>
                          </a:rPr>
                          <m:t>(</m:t>
                        </m:r>
                      </m:e>
                    </m:func>
                    <m:r>
                      <a:rPr lang="en-US" altLang="zh-CN" sz="2000" b="1" i="1" kern="1050" smtClean="0">
                        <a:effectLst/>
                        <a:latin typeface="Cambria Math" panose="02040503050406030204" pitchFamily="18" charset="0"/>
                        <a:ea typeface="宋体" panose="02010600030101010101" pitchFamily="2" charset="-122"/>
                      </a:rPr>
                      <m:t>𝒔</m:t>
                    </m:r>
                    <m:r>
                      <a:rPr lang="en-US" altLang="zh-CN" sz="2000" b="1" i="1" kern="1050" smtClean="0">
                        <a:effectLst/>
                        <a:latin typeface="Cambria Math" panose="02040503050406030204" pitchFamily="18" charset="0"/>
                        <a:ea typeface="宋体" panose="02010600030101010101" pitchFamily="2" charset="-122"/>
                      </a:rPr>
                      <m:t>)=[</m:t>
                    </m:r>
                    <m:func>
                      <m:funcPr>
                        <m:ctrlPr>
                          <a:rPr lang="zh-CN" altLang="zh-CN" sz="2000" b="1" i="1" kern="1050">
                            <a:effectLst/>
                            <a:latin typeface="Cambria Math" panose="02040503050406030204" pitchFamily="18" charset="0"/>
                            <a:ea typeface="Cambria Math" panose="02040503050406030204" pitchFamily="18" charset="0"/>
                          </a:rPr>
                        </m:ctrlPr>
                      </m:funcPr>
                      <m:fName>
                        <m:r>
                          <a:rPr lang="en-US" altLang="zh-CN" sz="2000" b="1" i="1" kern="1050" smtClean="0">
                            <a:effectLst/>
                            <a:latin typeface="Cambria Math" panose="02040503050406030204" pitchFamily="18" charset="0"/>
                            <a:ea typeface="宋体" panose="02010600030101010101" pitchFamily="2" charset="-122"/>
                          </a:rPr>
                          <m:t>𝒔𝒈𝒏</m:t>
                        </m:r>
                      </m:fName>
                      <m:e>
                        <m:r>
                          <a:rPr lang="en-US" altLang="zh-CN" sz="2000" b="1" i="1" kern="1050" smtClean="0">
                            <a:effectLst/>
                            <a:latin typeface="Cambria Math" panose="02040503050406030204" pitchFamily="18" charset="0"/>
                            <a:ea typeface="宋体" panose="02010600030101010101" pitchFamily="2" charset="-122"/>
                          </a:rPr>
                          <m:t>(</m:t>
                        </m:r>
                      </m:e>
                    </m:func>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𝒔</m:t>
                        </m:r>
                      </m:e>
                      <m:sub>
                        <m:r>
                          <a:rPr lang="en-US" altLang="zh-CN" sz="2000" b="1" i="1" kern="1050" smtClean="0">
                            <a:effectLst/>
                            <a:latin typeface="Cambria Math" panose="02040503050406030204" pitchFamily="18" charset="0"/>
                            <a:ea typeface="宋体" panose="02010600030101010101" pitchFamily="2" charset="-122"/>
                          </a:rPr>
                          <m:t>𝟏</m:t>
                        </m:r>
                      </m:sub>
                    </m:sSub>
                    <m:r>
                      <a:rPr lang="en-US" altLang="zh-CN" sz="2000" b="1" i="1" kern="1050" smtClean="0">
                        <a:effectLst/>
                        <a:latin typeface="Cambria Math" panose="02040503050406030204" pitchFamily="18" charset="0"/>
                        <a:ea typeface="宋体" panose="02010600030101010101" pitchFamily="2" charset="-122"/>
                      </a:rPr>
                      <m:t>)</m:t>
                    </m:r>
                    <m:r>
                      <m:rPr>
                        <m:nor/>
                      </m:rPr>
                      <a:rPr lang="en-US" altLang="zh-CN" sz="2000" b="1" kern="1050">
                        <a:effectLst/>
                        <a:latin typeface="微软雅黑" panose="020B0503020204020204" pitchFamily="34" charset="-122"/>
                        <a:ea typeface="微软雅黑" panose="020B0503020204020204" pitchFamily="34" charset="-122"/>
                      </a:rPr>
                      <m:t>  </m:t>
                    </m:r>
                    <m:r>
                      <a:rPr lang="zh-CN" altLang="zh-CN" sz="2000" b="1" kern="1050" smtClean="0">
                        <a:effectLst/>
                        <a:latin typeface="Cambria Math" panose="02040503050406030204" pitchFamily="18" charset="0"/>
                        <a:ea typeface="MS Gothic" panose="020B0609070205080204" pitchFamily="49" charset="-128"/>
                        <a:cs typeface="MS Gothic" panose="020B0609070205080204" pitchFamily="49" charset="-128"/>
                      </a:rPr>
                      <m:t>⋯</m:t>
                    </m:r>
                    <m:r>
                      <m:rPr>
                        <m:nor/>
                      </m:rPr>
                      <a:rPr lang="en-US" altLang="zh-CN" sz="2000" b="1" kern="1050">
                        <a:effectLst/>
                        <a:latin typeface="微软雅黑" panose="020B0503020204020204" pitchFamily="34" charset="-122"/>
                        <a:ea typeface="微软雅黑" panose="020B0503020204020204" pitchFamily="34" charset="-122"/>
                      </a:rPr>
                      <m:t>  </m:t>
                    </m:r>
                    <m:func>
                      <m:funcPr>
                        <m:ctrlPr>
                          <a:rPr lang="zh-CN" altLang="zh-CN" sz="2000" b="1" i="1" kern="1050">
                            <a:effectLst/>
                            <a:latin typeface="Cambria Math" panose="02040503050406030204" pitchFamily="18" charset="0"/>
                            <a:ea typeface="Cambria Math" panose="02040503050406030204" pitchFamily="18" charset="0"/>
                          </a:rPr>
                        </m:ctrlPr>
                      </m:funcPr>
                      <m:fName>
                        <m:r>
                          <a:rPr lang="en-US" altLang="zh-CN" sz="2000" b="1" i="1" kern="1050" smtClean="0">
                            <a:effectLst/>
                            <a:latin typeface="Cambria Math" panose="02040503050406030204" pitchFamily="18" charset="0"/>
                            <a:ea typeface="宋体" panose="02010600030101010101" pitchFamily="2" charset="-122"/>
                          </a:rPr>
                          <m:t>𝒔𝒈𝒏</m:t>
                        </m:r>
                      </m:fName>
                      <m:e>
                        <m:r>
                          <a:rPr lang="en-US" altLang="zh-CN" sz="2000" b="1" i="1" kern="1050" smtClean="0">
                            <a:effectLst/>
                            <a:latin typeface="Cambria Math" panose="02040503050406030204" pitchFamily="18" charset="0"/>
                            <a:ea typeface="宋体" panose="02010600030101010101" pitchFamily="2" charset="-122"/>
                          </a:rPr>
                          <m:t>(</m:t>
                        </m:r>
                      </m:e>
                    </m:func>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𝒔</m:t>
                        </m:r>
                      </m:e>
                      <m:sub>
                        <m:r>
                          <a:rPr lang="en-US" altLang="zh-CN" sz="2000" b="1" i="1" kern="1050" smtClean="0">
                            <a:effectLst/>
                            <a:latin typeface="Cambria Math" panose="02040503050406030204" pitchFamily="18" charset="0"/>
                            <a:ea typeface="宋体" panose="02010600030101010101" pitchFamily="2" charset="-122"/>
                          </a:rPr>
                          <m:t>𝒏</m:t>
                        </m:r>
                      </m:sub>
                    </m:sSub>
                    <m:r>
                      <a:rPr lang="en-US" altLang="zh-CN" sz="2000" b="1" i="1" kern="1050" smtClean="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smtClean="0">
                            <a:effectLst/>
                            <a:latin typeface="Cambria Math" panose="02040503050406030204" pitchFamily="18" charset="0"/>
                            <a:ea typeface="宋体" panose="02010600030101010101" pitchFamily="2" charset="-122"/>
                          </a:rPr>
                          <m:t>]</m:t>
                        </m:r>
                      </m:e>
                      <m:sup>
                        <m:r>
                          <a:rPr lang="en-US" altLang="zh-CN" sz="2000" b="1" i="1" kern="1050" smtClean="0">
                            <a:effectLst/>
                            <a:latin typeface="Cambria Math" panose="02040503050406030204" pitchFamily="18" charset="0"/>
                            <a:ea typeface="宋体" panose="02010600030101010101" pitchFamily="2" charset="-122"/>
                          </a:rPr>
                          <m:t>𝑻</m:t>
                        </m:r>
                      </m:sup>
                    </m:sSup>
                  </m:oMath>
                </a14:m>
                <a:r>
                  <a:rPr lang="en-US" altLang="zh-CN" sz="2000" b="1" kern="1050" dirty="0">
                    <a:effectLst/>
                    <a:latin typeface="微软雅黑" panose="020B0503020204020204" pitchFamily="34" charset="-122"/>
                    <a:ea typeface="微软雅黑" panose="020B0503020204020204" pitchFamily="34" charset="-122"/>
                  </a:rPr>
                  <a:t>	(7.64)</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func>
                      <m:funcPr>
                        <m:ctrlPr>
                          <a:rPr lang="zh-CN" altLang="zh-CN" sz="2400" b="1" i="1" kern="1000">
                            <a:effectLst/>
                            <a:latin typeface="Cambria Math" panose="02040503050406030204" pitchFamily="18" charset="0"/>
                            <a:ea typeface="Cambria Math" panose="02040503050406030204" pitchFamily="18" charset="0"/>
                          </a:rPr>
                        </m:ctrlPr>
                      </m:funcPr>
                      <m:fName>
                        <m:r>
                          <a:rPr lang="en-US" altLang="zh-CN" sz="2400" b="1" i="1" kern="1000" smtClean="0">
                            <a:effectLst/>
                            <a:latin typeface="Cambria Math" panose="02040503050406030204" pitchFamily="18" charset="0"/>
                            <a:ea typeface="宋体" panose="02010600030101010101" pitchFamily="2" charset="-122"/>
                          </a:rPr>
                          <m:t>𝒔𝒈𝒏</m:t>
                        </m:r>
                      </m:fName>
                      <m:e>
                        <m:r>
                          <a:rPr lang="en-US" altLang="zh-CN" sz="2400" b="1" i="1" kern="1000" smtClean="0">
                            <a:effectLst/>
                            <a:latin typeface="Cambria Math" panose="02040503050406030204" pitchFamily="18" charset="0"/>
                            <a:ea typeface="宋体" panose="02010600030101010101" pitchFamily="2" charset="-122"/>
                          </a:rPr>
                          <m:t>(</m:t>
                        </m:r>
                      </m:e>
                    </m:func>
                    <m:r>
                      <a:rPr lang="zh-CN" altLang="zh-CN" sz="2400" b="1" i="1" kern="1000" smtClean="0">
                        <a:effectLst/>
                        <a:latin typeface="Cambria Math" panose="02040503050406030204" pitchFamily="18" charset="0"/>
                        <a:ea typeface="MS Gothic" panose="020B0609070205080204" pitchFamily="49" charset="-128"/>
                        <a:cs typeface="MS Gothic" panose="020B0609070205080204" pitchFamily="49" charset="-128"/>
                      </a:rPr>
                      <m:t>⋅</m:t>
                    </m:r>
                    <m:r>
                      <a:rPr lang="en-US" altLang="zh-CN" sz="2400" b="1" i="1" kern="1000" smtClean="0">
                        <a:effectLst/>
                        <a:latin typeface="Cambria Math" panose="02040503050406030204" pitchFamily="18" charset="0"/>
                        <a:ea typeface="宋体" panose="02010600030101010101" pitchFamily="2" charset="-122"/>
                      </a:rPr>
                      <m:t>)</m:t>
                    </m:r>
                    <m:r>
                      <a:rPr lang="zh-CN" altLang="zh-CN" sz="2400" b="1" i="1" kern="1000" smtClean="0">
                        <a:effectLst/>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0" smtClean="0">
                        <a:effectLst/>
                        <a:latin typeface="Cambria Math" panose="02040503050406030204" pitchFamily="18" charset="0"/>
                        <a:ea typeface="宋体" panose="02010600030101010101" pitchFamily="2" charset="-122"/>
                      </a:rPr>
                      <m:t>𝑹</m:t>
                    </m:r>
                  </m:oMath>
                </a14:m>
                <a:r>
                  <a:rPr lang="zh-CN" altLang="zh-CN" sz="2400" b="1" kern="1000" dirty="0">
                    <a:effectLst/>
                    <a:latin typeface="微软雅黑" panose="020B0503020204020204" pitchFamily="34" charset="-122"/>
                    <a:ea typeface="微软雅黑" panose="020B0503020204020204" pitchFamily="34" charset="-122"/>
                  </a:rPr>
                  <a:t>为标准符号函数，即</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func>
                      <m:funcPr>
                        <m:ctrlPr>
                          <a:rPr lang="zh-CN" altLang="zh-CN" sz="2000" b="1" i="1" kern="1050">
                            <a:effectLst/>
                            <a:latin typeface="Cambria Math" panose="02040503050406030204" pitchFamily="18" charset="0"/>
                            <a:ea typeface="Cambria Math" panose="02040503050406030204" pitchFamily="18" charset="0"/>
                          </a:rPr>
                        </m:ctrlPr>
                      </m:funcPr>
                      <m:fName>
                        <m:r>
                          <a:rPr lang="en-US" altLang="zh-CN" sz="2000" b="1" i="1" kern="1050" smtClean="0">
                            <a:effectLst/>
                            <a:latin typeface="Cambria Math" panose="02040503050406030204" pitchFamily="18" charset="0"/>
                            <a:ea typeface="宋体" panose="02010600030101010101" pitchFamily="2" charset="-122"/>
                          </a:rPr>
                          <m:t>𝒔𝒈𝒏</m:t>
                        </m:r>
                      </m:fName>
                      <m:e>
                        <m:r>
                          <a:rPr lang="en-US" altLang="zh-CN" sz="2000" b="1" i="1" kern="1050" smtClean="0">
                            <a:effectLst/>
                            <a:latin typeface="Cambria Math" panose="02040503050406030204" pitchFamily="18" charset="0"/>
                            <a:ea typeface="宋体" panose="02010600030101010101" pitchFamily="2" charset="-122"/>
                          </a:rPr>
                          <m:t>(</m:t>
                        </m:r>
                      </m:e>
                    </m:func>
                    <m:r>
                      <a:rPr lang="en-US" altLang="zh-CN" sz="2000" b="1" i="1" kern="1050" smtClean="0">
                        <a:effectLst/>
                        <a:latin typeface="Cambria Math" panose="02040503050406030204" pitchFamily="18" charset="0"/>
                        <a:ea typeface="宋体" panose="02010600030101010101" pitchFamily="2" charset="-122"/>
                      </a:rPr>
                      <m:t>𝒙</m:t>
                    </m:r>
                    <m:r>
                      <a:rPr lang="en-US" altLang="zh-CN" sz="2000" b="1" i="1" kern="1050" smtClean="0">
                        <a:effectLst/>
                        <a:latin typeface="Cambria Math" panose="02040503050406030204" pitchFamily="18" charset="0"/>
                        <a:ea typeface="宋体" panose="02010600030101010101" pitchFamily="2" charset="-122"/>
                      </a:rPr>
                      <m:t>)=</m:t>
                    </m:r>
                    <m:d>
                      <m:dPr>
                        <m:begChr m:val="{"/>
                        <m:endChr m:val=""/>
                        <m:ctrlPr>
                          <a:rPr lang="zh-CN" altLang="zh-CN" sz="2000" b="1" i="1" kern="1050">
                            <a:effectLst/>
                            <a:latin typeface="Cambria Math" panose="02040503050406030204" pitchFamily="18" charset="0"/>
                            <a:ea typeface="Cambria Math" panose="02040503050406030204" pitchFamily="18" charset="0"/>
                          </a:rPr>
                        </m:ctrlPr>
                      </m:dPr>
                      <m:e>
                        <m:m>
                          <m:mPr>
                            <m:mcs>
                              <m:mc>
                                <m:mcPr>
                                  <m:count m:val="2"/>
                                  <m:mcJc m:val="center"/>
                                </m:mcPr>
                              </m:mc>
                            </m:mcs>
                            <m:ctrlPr>
                              <a:rPr lang="zh-CN" altLang="zh-CN" sz="2000" b="1" i="1" kern="1050">
                                <a:effectLst/>
                                <a:latin typeface="Cambria Math" panose="02040503050406030204" pitchFamily="18" charset="0"/>
                                <a:ea typeface="Cambria Math" panose="02040503050406030204" pitchFamily="18" charset="0"/>
                              </a:rPr>
                            </m:ctrlPr>
                          </m:mPr>
                          <m:mr>
                            <m:e>
                              <m:r>
                                <a:rPr lang="en-US" altLang="zh-CN" sz="2000" b="1" i="1" kern="1050" smtClean="0">
                                  <a:effectLst/>
                                  <a:latin typeface="Cambria Math" panose="02040503050406030204" pitchFamily="18" charset="0"/>
                                  <a:ea typeface="宋体" panose="02010600030101010101" pitchFamily="2" charset="-122"/>
                                </a:rPr>
                                <m:t>𝟏</m:t>
                              </m:r>
                              <m:r>
                                <a:rPr lang="en-US" altLang="zh-CN" sz="2000" b="1" i="1" kern="1050" smtClean="0">
                                  <a:effectLst/>
                                  <a:latin typeface="Cambria Math" panose="02040503050406030204" pitchFamily="18" charset="0"/>
                                  <a:ea typeface="宋体" panose="02010600030101010101" pitchFamily="2" charset="-122"/>
                                </a:rPr>
                                <m:t>,</m:t>
                              </m:r>
                            </m:e>
                            <m:e>
                              <m:r>
                                <a:rPr lang="en-US" altLang="zh-CN" sz="2000" b="1" i="1" kern="1050" smtClean="0">
                                  <a:effectLst/>
                                  <a:latin typeface="Cambria Math" panose="02040503050406030204" pitchFamily="18" charset="0"/>
                                  <a:ea typeface="宋体" panose="02010600030101010101" pitchFamily="2" charset="-122"/>
                                </a:rPr>
                                <m:t>𝒙</m:t>
                              </m:r>
                              <m:r>
                                <a:rPr lang="en-US" altLang="zh-CN" sz="2000" b="1" i="1" kern="1050" smtClean="0">
                                  <a:effectLst/>
                                  <a:latin typeface="Cambria Math" panose="02040503050406030204" pitchFamily="18" charset="0"/>
                                  <a:ea typeface="宋体" panose="02010600030101010101" pitchFamily="2" charset="-122"/>
                                </a:rPr>
                                <m:t>&gt;</m:t>
                              </m:r>
                              <m:r>
                                <a:rPr lang="en-US" altLang="zh-CN" sz="2000" b="1" i="1" kern="1050" smtClean="0">
                                  <a:effectLst/>
                                  <a:latin typeface="Cambria Math" panose="02040503050406030204" pitchFamily="18" charset="0"/>
                                  <a:ea typeface="宋体" panose="02010600030101010101" pitchFamily="2" charset="-122"/>
                                </a:rPr>
                                <m:t>𝟎</m:t>
                              </m:r>
                            </m:e>
                          </m:mr>
                          <m:mr>
                            <m:e>
                              <m:r>
                                <a:rPr lang="en-US" altLang="zh-CN" sz="2000" b="1" i="1" kern="1050" smtClean="0">
                                  <a:effectLst/>
                                  <a:latin typeface="Cambria Math" panose="02040503050406030204" pitchFamily="18" charset="0"/>
                                  <a:ea typeface="宋体" panose="02010600030101010101" pitchFamily="2" charset="-122"/>
                                </a:rPr>
                                <m:t>𝟎</m:t>
                              </m:r>
                              <m:r>
                                <a:rPr lang="en-US" altLang="zh-CN" sz="2000" b="1" i="1" kern="1050" smtClean="0">
                                  <a:effectLst/>
                                  <a:latin typeface="Cambria Math" panose="02040503050406030204" pitchFamily="18" charset="0"/>
                                  <a:ea typeface="宋体" panose="02010600030101010101" pitchFamily="2" charset="-122"/>
                                </a:rPr>
                                <m:t>,</m:t>
                              </m:r>
                            </m:e>
                            <m:e>
                              <m:r>
                                <a:rPr lang="en-US" altLang="zh-CN" sz="2000" b="1" i="1" kern="1050" smtClean="0">
                                  <a:effectLst/>
                                  <a:latin typeface="Cambria Math" panose="02040503050406030204" pitchFamily="18" charset="0"/>
                                  <a:ea typeface="宋体" panose="02010600030101010101" pitchFamily="2" charset="-122"/>
                                </a:rPr>
                                <m:t>𝒙</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𝟎</m:t>
                              </m:r>
                            </m:e>
                          </m:mr>
                          <m:mr>
                            <m:e>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𝟏</m:t>
                              </m:r>
                              <m:r>
                                <a:rPr lang="en-US" altLang="zh-CN" sz="2000" b="1" i="1" kern="1050" smtClean="0">
                                  <a:effectLst/>
                                  <a:latin typeface="Cambria Math" panose="02040503050406030204" pitchFamily="18" charset="0"/>
                                  <a:ea typeface="宋体" panose="02010600030101010101" pitchFamily="2" charset="-122"/>
                                </a:rPr>
                                <m:t>,</m:t>
                              </m:r>
                            </m:e>
                            <m:e>
                              <m:r>
                                <a:rPr lang="en-US" altLang="zh-CN" sz="2000" b="1" i="1" kern="1050" smtClean="0">
                                  <a:effectLst/>
                                  <a:latin typeface="Cambria Math" panose="02040503050406030204" pitchFamily="18" charset="0"/>
                                  <a:ea typeface="宋体" panose="02010600030101010101" pitchFamily="2" charset="-122"/>
                                </a:rPr>
                                <m:t>𝒙</m:t>
                              </m:r>
                              <m:r>
                                <a:rPr lang="en-US" altLang="zh-CN" sz="2000" b="1" i="1" kern="1050" smtClean="0">
                                  <a:effectLst/>
                                  <a:latin typeface="Cambria Math" panose="02040503050406030204" pitchFamily="18" charset="0"/>
                                  <a:ea typeface="宋体" panose="02010600030101010101" pitchFamily="2" charset="-122"/>
                                </a:rPr>
                                <m:t>&lt;</m:t>
                              </m:r>
                              <m:r>
                                <a:rPr lang="en-US" altLang="zh-CN" sz="2000" b="1" i="1" kern="1050" smtClean="0">
                                  <a:effectLst/>
                                  <a:latin typeface="Cambria Math" panose="02040503050406030204" pitchFamily="18" charset="0"/>
                                  <a:ea typeface="宋体" panose="02010600030101010101" pitchFamily="2" charset="-122"/>
                                </a:rPr>
                                <m:t>𝟎</m:t>
                              </m:r>
                            </m:e>
                          </m:mr>
                        </m:m>
                      </m:e>
                    </m:d>
                  </m:oMath>
                </a14:m>
                <a:r>
                  <a:rPr lang="en-US" altLang="zh-CN" sz="2000" b="1" kern="1050" dirty="0">
                    <a:effectLst/>
                    <a:latin typeface="微软雅黑" panose="020B0503020204020204" pitchFamily="34" charset="-122"/>
                    <a:ea typeface="微软雅黑" panose="020B0503020204020204" pitchFamily="34" charset="-122"/>
                  </a:rPr>
                  <a:t>	                                      (7.65</a:t>
                </a:r>
                <a:r>
                  <a:rPr lang="en-US" altLang="zh-CN" sz="2400" b="1" kern="1050" dirty="0">
                    <a:effectLst/>
                    <a:latin typeface="微软雅黑" panose="020B0503020204020204" pitchFamily="34" charset="-122"/>
                    <a:ea typeface="微软雅黑" panose="020B0503020204020204" pitchFamily="34" charset="-122"/>
                  </a:rPr>
                  <a:t>)</a:t>
                </a:r>
                <a:endParaRPr lang="zh-CN" altLang="zh-CN" sz="2400" b="1" kern="1050" dirty="0">
                  <a:effectLst/>
                  <a:latin typeface="微软雅黑" panose="020B0503020204020204" pitchFamily="34" charset="-122"/>
                  <a:ea typeface="微软雅黑" panose="020B0503020204020204" pitchFamily="34" charset="-122"/>
                </a:endParaRPr>
              </a:p>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将式</a:t>
                </a:r>
                <a:r>
                  <a:rPr lang="en-US" altLang="zh-CN" sz="2400" b="1" kern="1000" dirty="0">
                    <a:effectLst/>
                    <a:latin typeface="微软雅黑" panose="020B0503020204020204" pitchFamily="34" charset="-122"/>
                    <a:ea typeface="微软雅黑" panose="020B0503020204020204" pitchFamily="34" charset="-122"/>
                  </a:rPr>
                  <a:t>(7.63)</a:t>
                </a:r>
                <a:r>
                  <a:rPr lang="zh-CN" altLang="zh-CN" sz="2400" b="1" kern="1000" dirty="0">
                    <a:effectLst/>
                    <a:latin typeface="微软雅黑" panose="020B0503020204020204" pitchFamily="34" charset="-122"/>
                    <a:ea typeface="微软雅黑" panose="020B0503020204020204" pitchFamily="34" charset="-122"/>
                  </a:rPr>
                  <a:t>代人机器人动力学系统方程，并应用式</a:t>
                </a:r>
                <a:r>
                  <a:rPr lang="en-US" altLang="zh-CN" sz="2400" b="1" kern="1000" dirty="0">
                    <a:effectLst/>
                    <a:latin typeface="微软雅黑" panose="020B0503020204020204" pitchFamily="34" charset="-122"/>
                    <a:ea typeface="微软雅黑" panose="020B0503020204020204" pitchFamily="34" charset="-122"/>
                  </a:rPr>
                  <a:t>(7.60)</a:t>
                </a:r>
                <a:r>
                  <a:rPr lang="zh-CN" altLang="zh-CN" sz="2400" b="1" kern="1000" dirty="0">
                    <a:effectLst/>
                    <a:latin typeface="微软雅黑" panose="020B0503020204020204" pitchFamily="34" charset="-122"/>
                    <a:ea typeface="微软雅黑" panose="020B0503020204020204" pitchFamily="34" charset="-122"/>
                  </a:rPr>
                  <a:t>和式</a:t>
                </a:r>
                <a:r>
                  <a:rPr lang="en-US" altLang="zh-CN" sz="2400" b="1" kern="1000" dirty="0">
                    <a:effectLst/>
                    <a:latin typeface="微软雅黑" panose="020B0503020204020204" pitchFamily="34" charset="-122"/>
                    <a:ea typeface="微软雅黑" panose="020B0503020204020204" pitchFamily="34" charset="-122"/>
                  </a:rPr>
                  <a:t>(7.61)</a:t>
                </a:r>
                <a:r>
                  <a:rPr lang="zh-CN" altLang="zh-CN" sz="2400" b="1" kern="1000" dirty="0">
                    <a:effectLst/>
                    <a:latin typeface="微软雅黑" panose="020B0503020204020204" pitchFamily="34" charset="-122"/>
                    <a:ea typeface="微软雅黑" panose="020B0503020204020204" pitchFamily="34" charset="-122"/>
                  </a:rPr>
                  <a:t>，可得闭环系统的动力学方程为</a:t>
                </a:r>
              </a:p>
              <a:p>
                <a:pPr algn="just">
                  <a:spcBef>
                    <a:spcPts val="400"/>
                  </a:spcBef>
                  <a:spcAft>
                    <a:spcPts val="4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000" b="1" i="1" kern="1050" smtClean="0">
                        <a:effectLst/>
                        <a:latin typeface="Cambria Math" panose="02040503050406030204" pitchFamily="18" charset="0"/>
                        <a:ea typeface="宋体" panose="02010600030101010101" pitchFamily="2" charset="-122"/>
                      </a:rPr>
                      <m:t>𝑴</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𝒔</m:t>
                        </m:r>
                      </m:e>
                    </m:acc>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𝑪</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𝜽</m:t>
                        </m:r>
                      </m:e>
                    </m:acc>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𝒔</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𝑫𝒔</m:t>
                    </m:r>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𝑲</m:t>
                        </m:r>
                      </m:e>
                      <m:sub>
                        <m:r>
                          <a:rPr lang="en-US" altLang="zh-CN" sz="2000" b="1" i="1" kern="1050" smtClean="0">
                            <a:effectLst/>
                            <a:latin typeface="Cambria Math" panose="02040503050406030204" pitchFamily="18" charset="0"/>
                            <a:ea typeface="宋体" panose="02010600030101010101" pitchFamily="2" charset="-122"/>
                          </a:rPr>
                          <m:t>𝒓</m:t>
                        </m:r>
                      </m:sub>
                    </m:sSub>
                    <m:func>
                      <m:funcPr>
                        <m:ctrlPr>
                          <a:rPr lang="zh-CN" altLang="zh-CN" sz="2000" b="1" i="1" kern="1050">
                            <a:effectLst/>
                            <a:latin typeface="Cambria Math" panose="02040503050406030204" pitchFamily="18" charset="0"/>
                            <a:ea typeface="Cambria Math" panose="02040503050406030204" pitchFamily="18" charset="0"/>
                          </a:rPr>
                        </m:ctrlPr>
                      </m:funcPr>
                      <m:fName>
                        <m:r>
                          <a:rPr lang="en-US" altLang="zh-CN" sz="2000" b="1" i="1" kern="1050" smtClean="0">
                            <a:effectLst/>
                            <a:latin typeface="Cambria Math" panose="02040503050406030204" pitchFamily="18" charset="0"/>
                            <a:ea typeface="宋体" panose="02010600030101010101" pitchFamily="2" charset="-122"/>
                          </a:rPr>
                          <m:t>𝒔𝒈𝒏</m:t>
                        </m:r>
                      </m:fName>
                      <m:e>
                        <m:r>
                          <a:rPr lang="en-US" altLang="zh-CN" sz="2000" b="1" i="1" kern="1050" smtClean="0">
                            <a:effectLst/>
                            <a:latin typeface="Cambria Math" panose="02040503050406030204" pitchFamily="18" charset="0"/>
                            <a:ea typeface="宋体" panose="02010600030101010101" pitchFamily="2" charset="-122"/>
                          </a:rPr>
                          <m:t>(</m:t>
                        </m:r>
                      </m:e>
                    </m:func>
                    <m:r>
                      <a:rPr lang="en-US" altLang="zh-CN" sz="2000" b="1" i="1" kern="1050" smtClean="0">
                        <a:effectLst/>
                        <a:latin typeface="Cambria Math" panose="02040503050406030204" pitchFamily="18" charset="0"/>
                        <a:ea typeface="宋体" panose="02010600030101010101" pitchFamily="2" charset="-122"/>
                      </a:rPr>
                      <m:t>𝒔</m:t>
                    </m:r>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𝑴</m:t>
                        </m:r>
                      </m:e>
                    </m:acc>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𝜽</m:t>
                            </m:r>
                          </m:e>
                        </m:acc>
                      </m:e>
                      <m:sub>
                        <m:r>
                          <a:rPr lang="en-US" altLang="zh-CN" sz="2000" b="1" i="1" kern="1050" smtClean="0">
                            <a:effectLst/>
                            <a:latin typeface="Cambria Math" panose="02040503050406030204" pitchFamily="18" charset="0"/>
                            <a:ea typeface="宋体" panose="02010600030101010101" pitchFamily="2" charset="-122"/>
                          </a:rPr>
                          <m:t>𝒓</m:t>
                        </m:r>
                      </m:sub>
                    </m:sSub>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𝑪</m:t>
                        </m:r>
                      </m:e>
                    </m:acc>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𝜽</m:t>
                        </m:r>
                      </m:e>
                    </m:acc>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𝒒</m:t>
                            </m:r>
                          </m:e>
                        </m:acc>
                      </m:e>
                      <m:sub>
                        <m:r>
                          <a:rPr lang="en-US" altLang="zh-CN" sz="2000" b="1" i="1" kern="1050" smtClean="0">
                            <a:effectLst/>
                            <a:latin typeface="Cambria Math" panose="02040503050406030204" pitchFamily="18" charset="0"/>
                            <a:ea typeface="宋体" panose="02010600030101010101" pitchFamily="2" charset="-122"/>
                          </a:rPr>
                          <m:t>𝒓</m:t>
                        </m:r>
                      </m:sub>
                    </m:sSub>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𝑫</m:t>
                        </m:r>
                      </m:e>
                    </m:acc>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𝜽</m:t>
                            </m:r>
                          </m:e>
                        </m:acc>
                      </m:e>
                      <m:sub>
                        <m:r>
                          <a:rPr lang="en-US" altLang="zh-CN" sz="2000" b="1" i="1" kern="1050" smtClean="0">
                            <a:effectLst/>
                            <a:latin typeface="Cambria Math" panose="02040503050406030204" pitchFamily="18" charset="0"/>
                            <a:ea typeface="宋体" panose="02010600030101010101" pitchFamily="2" charset="-122"/>
                          </a:rPr>
                          <m:t>𝒓</m:t>
                        </m:r>
                      </m:sub>
                    </m:sSub>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𝒈</m:t>
                        </m:r>
                      </m:e>
                    </m:acc>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(7.66)</a:t>
                </a:r>
                <a:endParaRPr lang="zh-CN" altLang="zh-CN" sz="2000" b="1" kern="1050" dirty="0">
                  <a:effectLst/>
                  <a:latin typeface="微软雅黑" panose="020B0503020204020204" pitchFamily="34" charset="-122"/>
                  <a:ea typeface="微软雅黑" panose="020B0503020204020204" pitchFamily="34" charset="-122"/>
                </a:endParaRPr>
              </a:p>
            </p:txBody>
          </p:sp>
        </mc:Choice>
        <mc:Fallback xmlns="">
          <p:sp>
            <p:nvSpPr>
              <p:cNvPr id="4" name="文本框 3">
                <a:extLst>
                  <a:ext uri="{FF2B5EF4-FFF2-40B4-BE49-F238E27FC236}">
                    <a16:creationId xmlns:a16="http://schemas.microsoft.com/office/drawing/2014/main" id="{60AA7CE2-2DCB-0A2E-780E-C5CE2BED0CE7}"/>
                  </a:ext>
                </a:extLst>
              </p:cNvPr>
              <p:cNvSpPr txBox="1">
                <a:spLocks noRot="1" noChangeAspect="1" noMove="1" noResize="1" noEditPoints="1" noAdjustHandles="1" noChangeArrowheads="1" noChangeShapeType="1" noTextEdit="1"/>
              </p:cNvSpPr>
              <p:nvPr/>
            </p:nvSpPr>
            <p:spPr>
              <a:xfrm>
                <a:off x="1109662" y="1309360"/>
                <a:ext cx="9972675" cy="4239280"/>
              </a:xfrm>
              <a:prstGeom prst="rect">
                <a:avLst/>
              </a:prstGeom>
              <a:blipFill>
                <a:blip r:embed="rId3"/>
                <a:stretch>
                  <a:fillRect l="-917" t="-1151" r="-3973" b="-1727"/>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11E04FD7-DF51-80A8-DAF7-340AEA5C5E1B}"/>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滑模控制</a:t>
            </a:r>
          </a:p>
        </p:txBody>
      </p:sp>
    </p:spTree>
    <p:extLst>
      <p:ext uri="{BB962C8B-B14F-4D97-AF65-F5344CB8AC3E}">
        <p14:creationId xmlns:p14="http://schemas.microsoft.com/office/powerpoint/2010/main" val="31675266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0F76D4A-F753-4E33-2EBA-F20D42EBCD14}"/>
                  </a:ext>
                </a:extLst>
              </p:cNvPr>
              <p:cNvSpPr txBox="1"/>
              <p:nvPr/>
            </p:nvSpPr>
            <p:spPr>
              <a:xfrm>
                <a:off x="1519237" y="1454641"/>
                <a:ext cx="8339137" cy="1925271"/>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smtClean="0">
                            <a:effectLst/>
                            <a:latin typeface="Cambria Math" panose="02040503050406030204" pitchFamily="18" charset="0"/>
                            <a:ea typeface="宋体" panose="02010600030101010101" pitchFamily="2" charset="-122"/>
                          </a:rPr>
                          <m:t>𝑴</m:t>
                        </m:r>
                      </m:e>
                    </m:acc>
                    <m:r>
                      <a:rPr lang="en-US" altLang="zh-CN" sz="2400" b="1" i="1" kern="1000" smtClean="0">
                        <a:effectLst/>
                        <a:latin typeface="Cambria Math" panose="02040503050406030204" pitchFamily="18" charset="0"/>
                        <a:ea typeface="宋体" panose="02010600030101010101" pitchFamily="2" charset="-122"/>
                      </a:rPr>
                      <m:t>(</m:t>
                    </m:r>
                    <m:r>
                      <a:rPr lang="en-US" altLang="zh-CN" sz="2400" b="1" i="1" kern="1000" smtClean="0">
                        <a:effectLst/>
                        <a:latin typeface="Cambria Math" panose="02040503050406030204" pitchFamily="18" charset="0"/>
                        <a:ea typeface="宋体" panose="02010600030101010101" pitchFamily="2" charset="-122"/>
                      </a:rPr>
                      <m:t>𝜽</m:t>
                    </m:r>
                    <m:r>
                      <a:rPr lang="en-US" altLang="zh-CN" sz="2400" b="1" i="1" kern="1000" smtClean="0">
                        <a:effectLst/>
                        <a:latin typeface="Cambria Math" panose="02040503050406030204" pitchFamily="18" charset="0"/>
                        <a:ea typeface="宋体" panose="02010600030101010101" pitchFamily="2" charset="-122"/>
                      </a:rPr>
                      <m:t>)</m:t>
                    </m:r>
                  </m:oMath>
                </a14:m>
                <a:r>
                  <a:rPr lang="en-US" altLang="zh-CN" sz="2400" b="1" kern="1000" dirty="0">
                    <a:effectLst/>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smtClean="0">
                            <a:effectLst/>
                            <a:latin typeface="Cambria Math" panose="02040503050406030204" pitchFamily="18" charset="0"/>
                            <a:ea typeface="宋体" panose="02010600030101010101" pitchFamily="2" charset="-122"/>
                          </a:rPr>
                          <m:t>𝑪</m:t>
                        </m:r>
                      </m:e>
                    </m:acc>
                    <m:r>
                      <a:rPr lang="en-US" altLang="zh-CN" sz="2400" b="1" i="1" kern="1000" smtClean="0">
                        <a:effectLst/>
                        <a:latin typeface="Cambria Math" panose="02040503050406030204" pitchFamily="18" charset="0"/>
                        <a:ea typeface="宋体" panose="02010600030101010101" pitchFamily="2" charset="-122"/>
                      </a:rPr>
                      <m:t>(</m:t>
                    </m:r>
                    <m:r>
                      <a:rPr lang="en-US" altLang="zh-CN" sz="2400" b="1" i="1" kern="1000" smtClean="0">
                        <a:effectLst/>
                        <a:latin typeface="Cambria Math" panose="02040503050406030204" pitchFamily="18" charset="0"/>
                        <a:ea typeface="宋体" panose="02010600030101010101" pitchFamily="2" charset="-122"/>
                      </a:rPr>
                      <m:t>𝜽</m:t>
                    </m:r>
                    <m:r>
                      <a:rPr lang="en-US" altLang="zh-CN" sz="2400" b="1" i="1" kern="1000" smtClean="0">
                        <a:effectLst/>
                        <a:latin typeface="Cambria Math" panose="02040503050406030204" pitchFamily="18" charset="0"/>
                        <a:ea typeface="宋体" panose="02010600030101010101" pitchFamily="2" charset="-122"/>
                      </a:rPr>
                      <m:t>,</m:t>
                    </m:r>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smtClean="0">
                            <a:effectLst/>
                            <a:latin typeface="Cambria Math" panose="02040503050406030204" pitchFamily="18" charset="0"/>
                            <a:ea typeface="宋体" panose="02010600030101010101" pitchFamily="2" charset="-122"/>
                          </a:rPr>
                          <m:t>𝜽</m:t>
                        </m:r>
                      </m:e>
                    </m:acc>
                    <m:r>
                      <a:rPr lang="en-US" altLang="zh-CN" sz="2400" b="1" i="1" kern="1000" smtClean="0">
                        <a:effectLst/>
                        <a:latin typeface="Cambria Math" panose="02040503050406030204" pitchFamily="18" charset="0"/>
                        <a:ea typeface="宋体" panose="02010600030101010101" pitchFamily="2" charset="-122"/>
                      </a:rPr>
                      <m:t>)</m:t>
                    </m:r>
                  </m:oMath>
                </a14:m>
                <a:r>
                  <a:rPr lang="en-US" altLang="zh-CN" sz="2400" b="1" kern="1000" dirty="0">
                    <a:effectLst/>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smtClean="0">
                            <a:effectLst/>
                            <a:latin typeface="Cambria Math" panose="02040503050406030204" pitchFamily="18" charset="0"/>
                            <a:ea typeface="宋体" panose="02010600030101010101" pitchFamily="2" charset="-122"/>
                          </a:rPr>
                          <m:t>𝑫</m:t>
                        </m:r>
                      </m:e>
                    </m:acc>
                  </m:oMath>
                </a14:m>
                <a:r>
                  <a:rPr lang="en-US" altLang="zh-CN" sz="2400" b="1" kern="1000" dirty="0">
                    <a:effectLst/>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smtClean="0">
                            <a:effectLst/>
                            <a:latin typeface="Cambria Math" panose="02040503050406030204" pitchFamily="18" charset="0"/>
                            <a:ea typeface="宋体" panose="02010600030101010101" pitchFamily="2" charset="-122"/>
                          </a:rPr>
                          <m:t>𝒈</m:t>
                        </m:r>
                      </m:e>
                    </m:acc>
                  </m:oMath>
                </a14:m>
                <a:r>
                  <a:rPr lang="zh-CN" altLang="zh-CN" sz="2400" b="1" kern="1000" dirty="0">
                    <a:effectLst/>
                    <a:latin typeface="微软雅黑" panose="020B0503020204020204" pitchFamily="34" charset="-122"/>
                    <a:ea typeface="微软雅黑" panose="020B0503020204020204" pitchFamily="34" charset="-122"/>
                  </a:rPr>
                  <a:t>分别表示模型估计误差，即</a:t>
                </a:r>
              </a:p>
              <a:p>
                <a:pPr algn="just">
                  <a:spcBef>
                    <a:spcPts val="400"/>
                  </a:spcBef>
                  <a:spcAft>
                    <a:spcPts val="4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d>
                      <m:dPr>
                        <m:begChr m:val="{"/>
                        <m:endChr m:val=""/>
                        <m:ctrlPr>
                          <a:rPr lang="zh-CN" altLang="zh-CN" sz="2000" b="1" i="1" kern="1050">
                            <a:effectLst/>
                            <a:latin typeface="Cambria Math" panose="02040503050406030204" pitchFamily="18" charset="0"/>
                            <a:ea typeface="Cambria Math" panose="02040503050406030204" pitchFamily="18" charset="0"/>
                          </a:rPr>
                        </m:ctrlPr>
                      </m:dPr>
                      <m:e>
                        <m:eqArr>
                          <m:eqArrPr>
                            <m:ctrlPr>
                              <a:rPr lang="zh-CN" altLang="zh-CN" sz="2000" b="1" i="1" kern="1050">
                                <a:effectLst/>
                                <a:latin typeface="Cambria Math" panose="02040503050406030204" pitchFamily="18" charset="0"/>
                                <a:ea typeface="Cambria Math" panose="02040503050406030204" pitchFamily="18" charset="0"/>
                              </a:rPr>
                            </m:ctrlPr>
                          </m:eqArrPr>
                          <m:e>
                            <m:r>
                              <a:rPr lang="en-US" altLang="zh-CN" sz="2000" b="1" i="1" kern="1050" smtClean="0">
                                <a:effectLst/>
                                <a:latin typeface="Cambria Math" panose="02040503050406030204" pitchFamily="18" charset="0"/>
                                <a:ea typeface="宋体" panose="02010600030101010101" pitchFamily="2" charset="-122"/>
                              </a:rPr>
                              <m:t>&amp;</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𝑴</m:t>
                                </m:r>
                              </m:e>
                            </m:acc>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𝑴</m:t>
                                </m:r>
                              </m:e>
                            </m:acc>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𝑴</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e>
                          <m:e>
                            <m:r>
                              <a:rPr lang="en-US" altLang="zh-CN" sz="2000" b="1" i="1" kern="1050" smtClean="0">
                                <a:effectLst/>
                                <a:latin typeface="Cambria Math" panose="02040503050406030204" pitchFamily="18" charset="0"/>
                                <a:ea typeface="宋体" panose="02010600030101010101" pitchFamily="2" charset="-122"/>
                              </a:rPr>
                              <m:t>&amp;</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𝑪</m:t>
                                </m:r>
                              </m:e>
                            </m:acc>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𝜽</m:t>
                                </m:r>
                              </m:e>
                            </m:acc>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𝑪</m:t>
                                </m:r>
                              </m:e>
                            </m:acc>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𝜽</m:t>
                                </m:r>
                              </m:e>
                            </m:acc>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𝑪</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𝜽</m:t>
                                </m:r>
                              </m:e>
                            </m:acc>
                            <m:r>
                              <a:rPr lang="en-US" altLang="zh-CN" sz="2000" b="1" i="1" kern="1050" smtClean="0">
                                <a:effectLst/>
                                <a:latin typeface="Cambria Math" panose="02040503050406030204" pitchFamily="18" charset="0"/>
                                <a:ea typeface="宋体" panose="02010600030101010101" pitchFamily="2" charset="-122"/>
                              </a:rPr>
                              <m:t>)</m:t>
                            </m:r>
                          </m:e>
                          <m:e>
                            <m:r>
                              <a:rPr lang="en-US" altLang="zh-CN" sz="2000" b="1" i="1" kern="1050" smtClean="0">
                                <a:effectLst/>
                                <a:latin typeface="Cambria Math" panose="02040503050406030204" pitchFamily="18" charset="0"/>
                                <a:ea typeface="宋体" panose="02010600030101010101" pitchFamily="2" charset="-122"/>
                              </a:rPr>
                              <m:t>&amp;</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𝑫</m:t>
                                </m:r>
                              </m:e>
                            </m:acc>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𝑫</m:t>
                                </m:r>
                              </m:e>
                            </m:acc>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𝑫</m:t>
                            </m:r>
                          </m:e>
                          <m:e>
                            <m:r>
                              <a:rPr lang="en-US" altLang="zh-CN" sz="2000" b="1" i="1" kern="1050" smtClean="0">
                                <a:effectLst/>
                                <a:latin typeface="Cambria Math" panose="02040503050406030204" pitchFamily="18" charset="0"/>
                                <a:ea typeface="宋体" panose="02010600030101010101" pitchFamily="2" charset="-122"/>
                              </a:rPr>
                              <m:t>&amp;</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𝒈</m:t>
                                </m:r>
                              </m:e>
                            </m:acc>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𝒈</m:t>
                                </m:r>
                              </m:e>
                            </m:acc>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𝒈</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e>
                        </m:eqArr>
                      </m:e>
                    </m:d>
                  </m:oMath>
                </a14:m>
                <a:r>
                  <a:rPr lang="en-US" altLang="zh-CN" sz="2000" b="1" kern="1050" dirty="0">
                    <a:effectLst/>
                    <a:latin typeface="微软雅黑" panose="020B0503020204020204" pitchFamily="34" charset="-122"/>
                    <a:ea typeface="微软雅黑" panose="020B0503020204020204" pitchFamily="34" charset="-122"/>
                  </a:rPr>
                  <a:t>	</a:t>
                </a:r>
                <a:r>
                  <a:rPr lang="en-US" altLang="zh-CN" sz="2000" b="1" kern="1050" dirty="0">
                    <a:latin typeface="微软雅黑" panose="020B0503020204020204" pitchFamily="34" charset="-122"/>
                    <a:ea typeface="微软雅黑" panose="020B0503020204020204" pitchFamily="34" charset="-122"/>
                  </a:rPr>
                  <a:t>                 (7.67)</a:t>
                </a:r>
                <a:endParaRPr lang="zh-CN" altLang="zh-CN" sz="2000" b="1" kern="1050" dirty="0">
                  <a:effectLst/>
                  <a:latin typeface="微软雅黑" panose="020B0503020204020204" pitchFamily="34" charset="-122"/>
                  <a:ea typeface="微软雅黑" panose="020B0503020204020204" pitchFamily="34" charset="-122"/>
                </a:endParaRPr>
              </a:p>
            </p:txBody>
          </p:sp>
        </mc:Choice>
        <mc:Fallback xmlns="">
          <p:sp>
            <p:nvSpPr>
              <p:cNvPr id="4" name="文本框 3">
                <a:extLst>
                  <a:ext uri="{FF2B5EF4-FFF2-40B4-BE49-F238E27FC236}">
                    <a16:creationId xmlns:a16="http://schemas.microsoft.com/office/drawing/2014/main" id="{30F76D4A-F753-4E33-2EBA-F20D42EBCD14}"/>
                  </a:ext>
                </a:extLst>
              </p:cNvPr>
              <p:cNvSpPr txBox="1">
                <a:spLocks noRot="1" noChangeAspect="1" noMove="1" noResize="1" noEditPoints="1" noAdjustHandles="1" noChangeArrowheads="1" noChangeShapeType="1" noTextEdit="1"/>
              </p:cNvSpPr>
              <p:nvPr/>
            </p:nvSpPr>
            <p:spPr>
              <a:xfrm>
                <a:off x="1519237" y="1454641"/>
                <a:ext cx="8339137" cy="1925271"/>
              </a:xfrm>
              <a:prstGeom prst="rect">
                <a:avLst/>
              </a:prstGeom>
              <a:blipFill>
                <a:blip r:embed="rId3"/>
                <a:stretch>
                  <a:fillRect l="-1096" t="-15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E9F8B5C-1D37-140D-8C0F-C91622C57292}"/>
                  </a:ext>
                </a:extLst>
              </p:cNvPr>
              <p:cNvSpPr txBox="1"/>
              <p:nvPr/>
            </p:nvSpPr>
            <p:spPr>
              <a:xfrm>
                <a:off x="1443037" y="3834930"/>
                <a:ext cx="8662987" cy="2189189"/>
              </a:xfrm>
              <a:prstGeom prst="rect">
                <a:avLst/>
              </a:prstGeom>
              <a:noFill/>
            </p:spPr>
            <p:txBody>
              <a:bodyPr wrap="square">
                <a:spAutoFit/>
              </a:bodyPr>
              <a:lstStyle/>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为了应用</a:t>
                </a:r>
                <a:r>
                  <a:rPr lang="en-US" altLang="zh-CN" sz="2400" b="1" kern="1000" dirty="0">
                    <a:effectLst/>
                    <a:latin typeface="微软雅黑" panose="020B0503020204020204" pitchFamily="34" charset="-122"/>
                    <a:ea typeface="微软雅黑" panose="020B0503020204020204" pitchFamily="34" charset="-122"/>
                  </a:rPr>
                  <a:t>Lyapunov</a:t>
                </a:r>
                <a:r>
                  <a:rPr lang="zh-CN" altLang="zh-CN" sz="2400" b="1" kern="1000" dirty="0">
                    <a:effectLst/>
                    <a:latin typeface="微软雅黑" panose="020B0503020204020204" pitchFamily="34" charset="-122"/>
                    <a:ea typeface="微软雅黑" panose="020B0503020204020204" pitchFamily="34" charset="-122"/>
                  </a:rPr>
                  <a:t>直接方法证明闭环系统的稳定性，提出如下正定正则的</a:t>
                </a:r>
                <a:r>
                  <a:rPr lang="en-US" altLang="zh-CN" sz="2400" b="1" kern="1000" dirty="0">
                    <a:effectLst/>
                    <a:latin typeface="微软雅黑" panose="020B0503020204020204" pitchFamily="34" charset="-122"/>
                    <a:ea typeface="微软雅黑" panose="020B0503020204020204" pitchFamily="34" charset="-122"/>
                  </a:rPr>
                  <a:t>Lyapunov</a:t>
                </a:r>
                <a:r>
                  <a:rPr lang="zh-CN" altLang="zh-CN" sz="2400" b="1" kern="1000" dirty="0">
                    <a:effectLst/>
                    <a:latin typeface="微软雅黑" panose="020B0503020204020204" pitchFamily="34" charset="-122"/>
                    <a:ea typeface="微软雅黑" panose="020B0503020204020204" pitchFamily="34" charset="-122"/>
                  </a:rPr>
                  <a:t>函数</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𝑽</m:t>
                        </m:r>
                      </m:e>
                      <m:sub>
                        <m:r>
                          <a:rPr lang="en-US" altLang="zh-CN" sz="2000" b="1" i="1" kern="1050" smtClean="0">
                            <a:effectLst/>
                            <a:latin typeface="Cambria Math" panose="02040503050406030204" pitchFamily="18" charset="0"/>
                            <a:ea typeface="宋体" panose="02010600030101010101" pitchFamily="2" charset="-122"/>
                          </a:rPr>
                          <m:t>𝟎</m:t>
                        </m:r>
                      </m:sub>
                    </m:sSub>
                    <m:r>
                      <a:rPr lang="en-US" altLang="zh-CN" sz="2000" b="1" i="1" kern="1050" smtClean="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smtClean="0">
                            <a:effectLst/>
                            <a:latin typeface="Cambria Math" panose="02040503050406030204" pitchFamily="18" charset="0"/>
                            <a:ea typeface="宋体" panose="02010600030101010101" pitchFamily="2" charset="-122"/>
                          </a:rPr>
                          <m:t>𝟏</m:t>
                        </m:r>
                      </m:num>
                      <m:den>
                        <m:r>
                          <a:rPr lang="en-US" altLang="zh-CN" sz="2000" b="1" i="1" kern="1050" smtClean="0">
                            <a:effectLst/>
                            <a:latin typeface="Cambria Math" panose="02040503050406030204" pitchFamily="18" charset="0"/>
                            <a:ea typeface="宋体" panose="02010600030101010101" pitchFamily="2" charset="-122"/>
                          </a:rPr>
                          <m:t>𝟐</m:t>
                        </m:r>
                      </m:den>
                    </m:f>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smtClean="0">
                            <a:effectLst/>
                            <a:latin typeface="Cambria Math" panose="02040503050406030204" pitchFamily="18" charset="0"/>
                            <a:ea typeface="宋体" panose="02010600030101010101" pitchFamily="2" charset="-122"/>
                          </a:rPr>
                          <m:t>𝒔</m:t>
                        </m:r>
                      </m:e>
                      <m:sup>
                        <m:r>
                          <a:rPr lang="en-US" altLang="zh-CN" sz="2000" b="1" i="1" kern="1050" smtClean="0">
                            <a:effectLst/>
                            <a:latin typeface="Cambria Math" panose="02040503050406030204" pitchFamily="18" charset="0"/>
                            <a:ea typeface="宋体" panose="02010600030101010101" pitchFamily="2" charset="-122"/>
                          </a:rPr>
                          <m:t>𝑻</m:t>
                        </m:r>
                      </m:sup>
                    </m:sSup>
                    <m:r>
                      <a:rPr lang="en-US" altLang="zh-CN" sz="2000" b="1" i="1" kern="1050" smtClean="0">
                        <a:effectLst/>
                        <a:latin typeface="Cambria Math" panose="02040503050406030204" pitchFamily="18" charset="0"/>
                        <a:ea typeface="宋体" panose="02010600030101010101" pitchFamily="2" charset="-122"/>
                      </a:rPr>
                      <m:t>𝑴</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𝒔</m:t>
                    </m:r>
                  </m:oMath>
                </a14:m>
                <a:r>
                  <a:rPr lang="en-US" altLang="zh-CN" sz="2000" b="1" kern="1050" dirty="0">
                    <a:effectLst/>
                    <a:latin typeface="微软雅黑" panose="020B0503020204020204" pitchFamily="34" charset="-122"/>
                    <a:ea typeface="微软雅黑" panose="020B0503020204020204" pitchFamily="34" charset="-122"/>
                  </a:rPr>
                  <a:t>  	       (7.68)</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其沿闭环系统式</a:t>
                </a:r>
                <a:r>
                  <a:rPr lang="en-US" altLang="zh-CN" sz="2400" b="1" kern="1000" dirty="0">
                    <a:effectLst/>
                    <a:latin typeface="微软雅黑" panose="020B0503020204020204" pitchFamily="34" charset="-122"/>
                    <a:ea typeface="微软雅黑" panose="020B0503020204020204" pitchFamily="34" charset="-122"/>
                  </a:rPr>
                  <a:t>(7.66)</a:t>
                </a:r>
                <a:r>
                  <a:rPr lang="zh-CN" altLang="zh-CN" sz="2400" b="1" kern="1000" dirty="0">
                    <a:effectLst/>
                    <a:latin typeface="微软雅黑" panose="020B0503020204020204" pitchFamily="34" charset="-122"/>
                    <a:ea typeface="微软雅黑" panose="020B0503020204020204" pitchFamily="34" charset="-122"/>
                  </a:rPr>
                  <a:t>轨迹的微分为</a:t>
                </a:r>
              </a:p>
              <a:p>
                <a:pPr algn="jus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𝑽</m:t>
                            </m:r>
                          </m:e>
                        </m:acc>
                      </m:e>
                      <m:sub>
                        <m:r>
                          <a:rPr lang="en-US" altLang="zh-CN" sz="2000" b="1" i="1" kern="1050" smtClean="0">
                            <a:effectLst/>
                            <a:latin typeface="Cambria Math" panose="02040503050406030204" pitchFamily="18" charset="0"/>
                            <a:ea typeface="宋体" panose="02010600030101010101" pitchFamily="2" charset="-122"/>
                          </a:rPr>
                          <m:t>𝟎</m:t>
                        </m:r>
                      </m:sub>
                    </m:sSub>
                    <m:r>
                      <a:rPr lang="en-US" altLang="zh-CN" sz="2000" b="1" i="1" kern="1050" smtClean="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smtClean="0">
                            <a:effectLst/>
                            <a:latin typeface="Cambria Math" panose="02040503050406030204" pitchFamily="18" charset="0"/>
                            <a:ea typeface="宋体" panose="02010600030101010101" pitchFamily="2" charset="-122"/>
                          </a:rPr>
                          <m:t>𝟏</m:t>
                        </m:r>
                      </m:num>
                      <m:den>
                        <m:r>
                          <a:rPr lang="en-US" altLang="zh-CN" sz="2000" b="1" i="1" kern="1050" smtClean="0">
                            <a:effectLst/>
                            <a:latin typeface="Cambria Math" panose="02040503050406030204" pitchFamily="18" charset="0"/>
                            <a:ea typeface="宋体" panose="02010600030101010101" pitchFamily="2" charset="-122"/>
                          </a:rPr>
                          <m:t>𝟐</m:t>
                        </m:r>
                      </m:den>
                    </m:f>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smtClean="0">
                            <a:effectLst/>
                            <a:latin typeface="Cambria Math" panose="02040503050406030204" pitchFamily="18" charset="0"/>
                            <a:ea typeface="宋体" panose="02010600030101010101" pitchFamily="2" charset="-122"/>
                          </a:rPr>
                          <m:t>𝒔</m:t>
                        </m:r>
                      </m:e>
                      <m:sup>
                        <m:r>
                          <a:rPr lang="en-US" altLang="zh-CN" sz="2000" b="1" i="1" kern="1050" smtClean="0">
                            <a:effectLst/>
                            <a:latin typeface="Cambria Math" panose="02040503050406030204" pitchFamily="18" charset="0"/>
                            <a:ea typeface="宋体" panose="02010600030101010101" pitchFamily="2" charset="-122"/>
                          </a:rPr>
                          <m:t>𝑻</m:t>
                        </m:r>
                      </m:sup>
                    </m:sSup>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𝑴</m:t>
                        </m:r>
                      </m:e>
                    </m:acc>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𝒔</m:t>
                    </m:r>
                    <m:r>
                      <a:rPr lang="en-US" altLang="zh-CN" sz="2000" b="1" i="1" kern="1050" smtClean="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smtClean="0">
                            <a:effectLst/>
                            <a:latin typeface="Cambria Math" panose="02040503050406030204" pitchFamily="18" charset="0"/>
                            <a:ea typeface="宋体" panose="02010600030101010101" pitchFamily="2" charset="-122"/>
                          </a:rPr>
                          <m:t>𝒔</m:t>
                        </m:r>
                      </m:e>
                      <m:sup>
                        <m:r>
                          <a:rPr lang="en-US" altLang="zh-CN" sz="2000" b="1" i="1" kern="1050" smtClean="0">
                            <a:effectLst/>
                            <a:latin typeface="Cambria Math" panose="02040503050406030204" pitchFamily="18" charset="0"/>
                            <a:ea typeface="宋体" panose="02010600030101010101" pitchFamily="2" charset="-122"/>
                          </a:rPr>
                          <m:t>𝑻</m:t>
                        </m:r>
                      </m:sup>
                    </m:sSup>
                    <m:r>
                      <a:rPr lang="en-US" altLang="zh-CN" sz="2000" b="1" i="1" kern="1050" smtClean="0">
                        <a:effectLst/>
                        <a:latin typeface="Cambria Math" panose="02040503050406030204" pitchFamily="18" charset="0"/>
                        <a:ea typeface="宋体" panose="02010600030101010101" pitchFamily="2" charset="-122"/>
                      </a:rPr>
                      <m:t>𝑴</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𝒔</m:t>
                        </m:r>
                      </m:e>
                    </m:acc>
                  </m:oMath>
                </a14:m>
                <a:r>
                  <a:rPr lang="en-US" altLang="zh-CN" sz="2000" b="1" kern="1050" dirty="0">
                    <a:effectLst/>
                    <a:latin typeface="微软雅黑" panose="020B0503020204020204" pitchFamily="34" charset="-122"/>
                    <a:ea typeface="微软雅黑" panose="020B0503020204020204" pitchFamily="34" charset="-122"/>
                  </a:rPr>
                  <a:t>	                   (7.69)</a:t>
                </a:r>
                <a:endParaRPr lang="zh-CN" altLang="zh-CN" sz="2000" b="1" kern="1050" dirty="0">
                  <a:effectLst/>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7E9F8B5C-1D37-140D-8C0F-C91622C57292}"/>
                  </a:ext>
                </a:extLst>
              </p:cNvPr>
              <p:cNvSpPr txBox="1">
                <a:spLocks noRot="1" noChangeAspect="1" noMove="1" noResize="1" noEditPoints="1" noAdjustHandles="1" noChangeArrowheads="1" noChangeShapeType="1" noTextEdit="1"/>
              </p:cNvSpPr>
              <p:nvPr/>
            </p:nvSpPr>
            <p:spPr>
              <a:xfrm>
                <a:off x="1443037" y="3834930"/>
                <a:ext cx="8662987" cy="2189189"/>
              </a:xfrm>
              <a:prstGeom prst="rect">
                <a:avLst/>
              </a:prstGeom>
              <a:blipFill>
                <a:blip r:embed="rId4"/>
                <a:stretch>
                  <a:fillRect l="-1126" t="-2228" r="-1056" b="-1114"/>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35A4C6A8-5903-2A12-7A1E-EB3956185F96}"/>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滑模控制</a:t>
            </a:r>
          </a:p>
        </p:txBody>
      </p:sp>
    </p:spTree>
    <p:extLst>
      <p:ext uri="{BB962C8B-B14F-4D97-AF65-F5344CB8AC3E}">
        <p14:creationId xmlns:p14="http://schemas.microsoft.com/office/powerpoint/2010/main" val="102887426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B1474AA0-C29E-6EE8-B2E9-5D6E9F70E35F}"/>
                  </a:ext>
                </a:extLst>
              </p:cNvPr>
              <p:cNvSpPr txBox="1"/>
              <p:nvPr/>
            </p:nvSpPr>
            <p:spPr>
              <a:xfrm>
                <a:off x="1057275" y="1114425"/>
                <a:ext cx="9934575" cy="4913461"/>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将由式</a:t>
                </a:r>
                <a:r>
                  <a:rPr lang="en-US" altLang="zh-CN" sz="2400" b="1" kern="1000" dirty="0">
                    <a:effectLst/>
                    <a:latin typeface="微软雅黑" panose="020B0503020204020204" pitchFamily="34" charset="-122"/>
                    <a:ea typeface="微软雅黑" panose="020B0503020204020204" pitchFamily="34" charset="-122"/>
                  </a:rPr>
                  <a:t>(7.66)</a:t>
                </a:r>
                <a:r>
                  <a:rPr lang="zh-CN" altLang="zh-CN" sz="2400" b="1" kern="1000" dirty="0">
                    <a:effectLst/>
                    <a:latin typeface="微软雅黑" panose="020B0503020204020204" pitchFamily="34" charset="-122"/>
                    <a:ea typeface="微软雅黑" panose="020B0503020204020204" pitchFamily="34" charset="-122"/>
                  </a:rPr>
                  <a:t>求得的</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𝑴</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𝜽</m:t>
                    </m:r>
                    <m:r>
                      <a:rPr lang="en-US" altLang="zh-CN" sz="2400" b="1" i="1" kern="1000">
                        <a:effectLst/>
                        <a:latin typeface="Cambria Math" panose="02040503050406030204" pitchFamily="18" charset="0"/>
                        <a:ea typeface="宋体" panose="02010600030101010101" pitchFamily="2" charset="-122"/>
                      </a:rPr>
                      <m:t>)</m:t>
                    </m:r>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𝒔</m:t>
                        </m:r>
                      </m:e>
                    </m:acc>
                  </m:oMath>
                </a14:m>
                <a:r>
                  <a:rPr lang="zh-CN" altLang="zh-CN" sz="2400" b="1" kern="1000" dirty="0">
                    <a:effectLst/>
                    <a:latin typeface="微软雅黑" panose="020B0503020204020204" pitchFamily="34" charset="-122"/>
                    <a:ea typeface="微软雅黑" panose="020B0503020204020204" pitchFamily="34" charset="-122"/>
                  </a:rPr>
                  <a:t>代入式</a:t>
                </a:r>
                <a:r>
                  <a:rPr lang="en-US" altLang="zh-CN" sz="2400" b="1" kern="1000" dirty="0">
                    <a:effectLst/>
                    <a:latin typeface="微软雅黑" panose="020B0503020204020204" pitchFamily="34" charset="-122"/>
                    <a:ea typeface="微软雅黑" panose="020B0503020204020204" pitchFamily="34" charset="-122"/>
                  </a:rPr>
                  <a:t>(7.68)</a:t>
                </a:r>
                <a:r>
                  <a:rPr lang="zh-CN" altLang="zh-CN" sz="2400" b="1" kern="1000" dirty="0">
                    <a:effectLst/>
                    <a:latin typeface="微软雅黑" panose="020B0503020204020204" pitchFamily="34" charset="-122"/>
                    <a:ea typeface="微软雅黑" panose="020B0503020204020204" pitchFamily="34" charset="-122"/>
                  </a:rPr>
                  <a:t>，可得</a:t>
                </a:r>
              </a:p>
              <a:p>
                <a:pPr algn="just">
                  <a:spcBef>
                    <a:spcPts val="400"/>
                  </a:spcBef>
                  <a:spcAft>
                    <a:spcPts val="4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𝑽</m:t>
                        </m:r>
                      </m:e>
                      <m:sub>
                        <m:r>
                          <a:rPr lang="en-US" altLang="zh-CN" sz="2000" b="1" i="1" kern="1050">
                            <a:effectLst/>
                            <a:latin typeface="Cambria Math" panose="02040503050406030204" pitchFamily="18" charset="0"/>
                            <a:ea typeface="宋体" panose="02010600030101010101" pitchFamily="2" charset="-122"/>
                          </a:rPr>
                          <m:t>𝟎</m:t>
                        </m:r>
                      </m:sub>
                    </m:sSub>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𝒔</m:t>
                        </m:r>
                      </m:e>
                      <m:sup>
                        <m:r>
                          <a:rPr lang="en-US" altLang="zh-CN" sz="2000" b="1" i="1" kern="1050">
                            <a:effectLst/>
                            <a:latin typeface="Cambria Math" panose="02040503050406030204" pitchFamily="18" charset="0"/>
                            <a:ea typeface="宋体" panose="02010600030101010101" pitchFamily="2" charset="-122"/>
                          </a:rPr>
                          <m:t>𝑻</m:t>
                        </m:r>
                      </m:sup>
                    </m:sSup>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𝑴</m:t>
                        </m:r>
                      </m:e>
                    </m:acc>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𝜽</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𝜽</m:t>
                            </m:r>
                          </m:e>
                        </m:acc>
                      </m:e>
                      <m:sub>
                        <m:r>
                          <a:rPr lang="en-US" altLang="zh-CN" sz="2000" b="1" i="1" kern="1050">
                            <a:effectLst/>
                            <a:latin typeface="Cambria Math" panose="02040503050406030204" pitchFamily="18" charset="0"/>
                            <a:ea typeface="宋体" panose="02010600030101010101" pitchFamily="2" charset="-122"/>
                          </a:rPr>
                          <m:t>𝒓</m:t>
                        </m:r>
                      </m:sub>
                    </m:sSub>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𝑪</m:t>
                        </m:r>
                      </m:e>
                    </m:acc>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𝜽</m:t>
                    </m:r>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𝜽</m:t>
                        </m:r>
                      </m:e>
                    </m:acc>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𝜽</m:t>
                            </m:r>
                          </m:e>
                        </m:acc>
                      </m:e>
                      <m:sub>
                        <m:r>
                          <a:rPr lang="en-US" altLang="zh-CN" sz="2000" b="1" i="1" kern="1050">
                            <a:effectLst/>
                            <a:latin typeface="Cambria Math" panose="02040503050406030204" pitchFamily="18" charset="0"/>
                            <a:ea typeface="宋体" panose="02010600030101010101" pitchFamily="2" charset="-122"/>
                          </a:rPr>
                          <m:t>𝒓</m:t>
                        </m:r>
                      </m:sub>
                    </m:sSub>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𝑫</m:t>
                        </m:r>
                      </m:e>
                    </m:acc>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𝜽</m:t>
                            </m:r>
                          </m:e>
                        </m:acc>
                      </m:e>
                      <m:sub>
                        <m:r>
                          <a:rPr lang="en-US" altLang="zh-CN" sz="2000" b="1" i="1" kern="1050">
                            <a:effectLst/>
                            <a:latin typeface="Cambria Math" panose="02040503050406030204" pitchFamily="18" charset="0"/>
                            <a:ea typeface="宋体" panose="02010600030101010101" pitchFamily="2" charset="-122"/>
                          </a:rPr>
                          <m:t>𝒓</m:t>
                        </m:r>
                      </m:sub>
                    </m:sSub>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𝒈</m:t>
                        </m:r>
                      </m:e>
                    </m:acc>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𝜽</m:t>
                    </m:r>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𝒔</m:t>
                        </m:r>
                      </m:e>
                      <m:sup>
                        <m:r>
                          <a:rPr lang="en-US" altLang="zh-CN" sz="2000" b="1" i="1" kern="1050">
                            <a:effectLst/>
                            <a:latin typeface="Cambria Math" panose="02040503050406030204" pitchFamily="18" charset="0"/>
                            <a:ea typeface="宋体" panose="02010600030101010101" pitchFamily="2" charset="-122"/>
                          </a:rPr>
                          <m:t>𝑻</m:t>
                        </m:r>
                      </m:sup>
                    </m:s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𝒓</m:t>
                        </m:r>
                      </m:sub>
                    </m:sSub>
                    <m:func>
                      <m:funcPr>
                        <m:ctrlPr>
                          <a:rPr lang="zh-CN" altLang="zh-CN" sz="2000" b="1" i="1" kern="1050">
                            <a:effectLst/>
                            <a:latin typeface="Cambria Math" panose="02040503050406030204" pitchFamily="18" charset="0"/>
                            <a:ea typeface="Cambria Math" panose="02040503050406030204" pitchFamily="18" charset="0"/>
                          </a:rPr>
                        </m:ctrlPr>
                      </m:funcPr>
                      <m:fName>
                        <m:r>
                          <a:rPr lang="en-US" altLang="zh-CN" sz="2000" b="1" i="1" kern="1050">
                            <a:effectLst/>
                            <a:latin typeface="Cambria Math" panose="02040503050406030204" pitchFamily="18" charset="0"/>
                            <a:ea typeface="宋体" panose="02010600030101010101" pitchFamily="2" charset="-122"/>
                          </a:rPr>
                          <m:t>𝒔𝒈𝒏</m:t>
                        </m:r>
                      </m:fName>
                      <m:e>
                        <m:r>
                          <a:rPr lang="en-US" altLang="zh-CN" sz="2000" b="1" i="1" kern="1050">
                            <a:effectLst/>
                            <a:latin typeface="Cambria Math" panose="02040503050406030204" pitchFamily="18" charset="0"/>
                            <a:ea typeface="宋体" panose="02010600030101010101" pitchFamily="2" charset="-122"/>
                          </a:rPr>
                          <m:t>(</m:t>
                        </m:r>
                      </m:e>
                    </m:func>
                    <m:r>
                      <a:rPr lang="en-US" altLang="zh-CN" sz="2000" b="1" i="1" kern="1050">
                        <a:effectLst/>
                        <a:latin typeface="Cambria Math" panose="02040503050406030204" pitchFamily="18" charset="0"/>
                        <a:ea typeface="宋体" panose="02010600030101010101" pitchFamily="2" charset="-122"/>
                      </a:rPr>
                      <m:t>𝒔</m:t>
                    </m:r>
                    <m:r>
                      <a:rPr lang="en-US" altLang="zh-CN" sz="2000" b="1" i="1" kern="105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(7.70)</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若选择鲁棒控制增益</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𝒌</m:t>
                        </m:r>
                      </m:e>
                      <m:sub>
                        <m:r>
                          <m:rPr>
                            <m:nor/>
                          </m:rPr>
                          <a:rPr lang="en-US" altLang="zh-CN" sz="2400" b="1" kern="1000">
                            <a:effectLst/>
                            <a:latin typeface="微软雅黑" panose="020B0503020204020204" pitchFamily="34" charset="-122"/>
                            <a:ea typeface="微软雅黑" panose="020B0503020204020204" pitchFamily="34" charset="-122"/>
                          </a:rPr>
                          <m:t>ri</m:t>
                        </m:r>
                      </m:sub>
                    </m:sSub>
                  </m:oMath>
                </a14:m>
                <a:r>
                  <a:rPr lang="zh-CN" altLang="zh-CN" sz="2400" b="1" kern="1000" dirty="0">
                    <a:effectLst/>
                    <a:latin typeface="微软雅黑" panose="020B0503020204020204" pitchFamily="34" charset="-122"/>
                    <a:ea typeface="微软雅黑" panose="020B0503020204020204" pitchFamily="34" charset="-122"/>
                  </a:rPr>
                  <a:t>使得</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𝒌</m:t>
                        </m:r>
                      </m:e>
                      <m:sub>
                        <m:r>
                          <m:rPr>
                            <m:nor/>
                          </m:rPr>
                          <a:rPr lang="en-US" altLang="zh-CN" sz="2000" b="1" i="0" kern="1050" smtClean="0">
                            <a:effectLst/>
                            <a:latin typeface="Cambria Math" panose="02040503050406030204" pitchFamily="18" charset="0"/>
                            <a:ea typeface="宋体" panose="02010600030101010101" pitchFamily="2" charset="-122"/>
                          </a:rPr>
                          <m:t>ri</m:t>
                        </m:r>
                      </m:sub>
                    </m:sSub>
                    <m:r>
                      <a:rPr lang="en-US" altLang="zh-CN" sz="2000" b="1" i="1" kern="1050">
                        <a:effectLst/>
                        <a:latin typeface="Cambria Math" panose="02040503050406030204" pitchFamily="18" charset="0"/>
                        <a:ea typeface="宋体" panose="02010600030101010101" pitchFamily="2" charset="-122"/>
                      </a:rPr>
                      <m:t>&gt;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𝒔</m:t>
                        </m:r>
                      </m:e>
                      <m:sup>
                        <m:r>
                          <a:rPr lang="en-US" altLang="zh-CN" sz="2000" b="1" i="1" kern="1050">
                            <a:effectLst/>
                            <a:latin typeface="Cambria Math" panose="02040503050406030204" pitchFamily="18" charset="0"/>
                            <a:ea typeface="宋体" panose="02010600030101010101" pitchFamily="2" charset="-122"/>
                          </a:rPr>
                          <m:t>𝑻</m:t>
                        </m:r>
                      </m:sup>
                    </m:sSup>
                    <m:d>
                      <m:dPr>
                        <m:begChr m:val="|"/>
                        <m:endChr m:val="|"/>
                        <m:ctrlPr>
                          <a:rPr lang="zh-CN" altLang="zh-CN" sz="2000" b="1" i="1" kern="1050">
                            <a:effectLst/>
                            <a:latin typeface="Cambria Math" panose="02040503050406030204" pitchFamily="18" charset="0"/>
                            <a:ea typeface="Cambria Math" panose="02040503050406030204" pitchFamily="18" charset="0"/>
                          </a:rPr>
                        </m:ctrlPr>
                      </m:dPr>
                      <m:e>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𝑴</m:t>
                            </m:r>
                          </m:e>
                        </m:acc>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𝜽</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𝜽</m:t>
                                </m:r>
                              </m:e>
                            </m:acc>
                          </m:e>
                          <m:sub>
                            <m:r>
                              <a:rPr lang="en-US" altLang="zh-CN" sz="2000" b="1" i="1" kern="1050">
                                <a:effectLst/>
                                <a:latin typeface="Cambria Math" panose="02040503050406030204" pitchFamily="18" charset="0"/>
                                <a:ea typeface="宋体" panose="02010600030101010101" pitchFamily="2" charset="-122"/>
                              </a:rPr>
                              <m:t>𝒓</m:t>
                            </m:r>
                          </m:sub>
                        </m:sSub>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𝑪</m:t>
                            </m:r>
                          </m:e>
                        </m:acc>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𝜽</m:t>
                        </m:r>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𝜽</m:t>
                            </m:r>
                          </m:e>
                        </m:acc>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𝜽</m:t>
                                </m:r>
                              </m:e>
                            </m:acc>
                          </m:e>
                          <m:sub>
                            <m:r>
                              <a:rPr lang="en-US" altLang="zh-CN" sz="2000" b="1" i="1" kern="1050">
                                <a:effectLst/>
                                <a:latin typeface="Cambria Math" panose="02040503050406030204" pitchFamily="18" charset="0"/>
                                <a:ea typeface="宋体" panose="02010600030101010101" pitchFamily="2" charset="-122"/>
                              </a:rPr>
                              <m:t>𝒓</m:t>
                            </m:r>
                          </m:sub>
                        </m:sSub>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𝑫</m:t>
                            </m:r>
                          </m:e>
                        </m:acc>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𝜽</m:t>
                                </m:r>
                              </m:e>
                            </m:acc>
                          </m:e>
                          <m:sub>
                            <m:r>
                              <a:rPr lang="en-US" altLang="zh-CN" sz="2000" b="1" i="1" kern="1050">
                                <a:effectLst/>
                                <a:latin typeface="Cambria Math" panose="02040503050406030204" pitchFamily="18" charset="0"/>
                                <a:ea typeface="宋体" panose="02010600030101010101" pitchFamily="2" charset="-122"/>
                              </a:rPr>
                              <m:t>𝒓</m:t>
                            </m:r>
                          </m:sub>
                        </m:sSub>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𝒈</m:t>
                            </m:r>
                          </m:e>
                        </m:acc>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𝜽</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m:t>
                            </m:r>
                          </m:e>
                          <m:sub>
                            <m:r>
                              <a:rPr lang="en-US" altLang="zh-CN" sz="2000" b="1" i="1" kern="1050">
                                <a:effectLst/>
                                <a:latin typeface="Cambria Math" panose="02040503050406030204" pitchFamily="18" charset="0"/>
                                <a:ea typeface="宋体" panose="02010600030101010101" pitchFamily="2" charset="-122"/>
                              </a:rPr>
                              <m:t>𝒊</m:t>
                            </m:r>
                          </m:sub>
                        </m:sSub>
                      </m:e>
                    </m:d>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𝒂</m:t>
                        </m:r>
                      </m:e>
                      <m:sub>
                        <m:r>
                          <a:rPr lang="en-US" altLang="zh-CN" sz="2000" b="1" i="1" kern="1050">
                            <a:effectLst/>
                            <a:latin typeface="Cambria Math" panose="02040503050406030204" pitchFamily="18" charset="0"/>
                            <a:ea typeface="宋体" panose="02010600030101010101" pitchFamily="2" charset="-122"/>
                          </a:rPr>
                          <m:t>𝒊</m:t>
                        </m:r>
                      </m:sub>
                    </m:sSub>
                  </m:oMath>
                </a14:m>
                <a:r>
                  <a:rPr lang="en-US" altLang="zh-CN" sz="2000" b="1" kern="1050" dirty="0">
                    <a:effectLst/>
                    <a:latin typeface="微软雅黑" panose="020B0503020204020204" pitchFamily="34" charset="-122"/>
                    <a:ea typeface="微软雅黑" panose="020B0503020204020204" pitchFamily="34" charset="-122"/>
                  </a:rPr>
                  <a:t>	            (7.71)</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𝒂</m:t>
                        </m:r>
                      </m:e>
                      <m:sub>
                        <m:r>
                          <a:rPr lang="en-US" altLang="zh-CN" sz="2400" b="1" i="1" kern="1000">
                            <a:effectLst/>
                            <a:latin typeface="Cambria Math" panose="02040503050406030204" pitchFamily="18" charset="0"/>
                            <a:ea typeface="宋体" panose="02010600030101010101" pitchFamily="2" charset="-122"/>
                          </a:rPr>
                          <m:t>𝒊</m:t>
                        </m:r>
                      </m:sub>
                    </m:sSub>
                  </m:oMath>
                </a14:m>
                <a:r>
                  <a:rPr lang="zh-CN" altLang="zh-CN" sz="2400" b="1" kern="1000" dirty="0">
                    <a:effectLst/>
                    <a:latin typeface="微软雅黑" panose="020B0503020204020204" pitchFamily="34" charset="-122"/>
                    <a:ea typeface="微软雅黑" panose="020B0503020204020204" pitchFamily="34" charset="-122"/>
                  </a:rPr>
                  <a:t>为任意小的正数，则可得到如下的滑模控制条件</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𝑽</m:t>
                        </m:r>
                      </m:e>
                      <m:sub>
                        <m:r>
                          <a:rPr lang="en-US" altLang="zh-CN" sz="2000" b="1" i="1" kern="1050">
                            <a:effectLst/>
                            <a:latin typeface="Cambria Math" panose="02040503050406030204" pitchFamily="18" charset="0"/>
                            <a:ea typeface="宋体" panose="02010600030101010101" pitchFamily="2" charset="-122"/>
                          </a:rPr>
                          <m:t>𝟎</m:t>
                        </m:r>
                      </m:sub>
                    </m:sSub>
                    <m:r>
                      <a:rPr lang="en-US" altLang="zh-CN" sz="2000" b="1" i="1" kern="1050">
                        <a:effectLst/>
                        <a:latin typeface="Cambria Math" panose="02040503050406030204" pitchFamily="18" charset="0"/>
                        <a:ea typeface="宋体" panose="02010600030101010101" pitchFamily="2" charset="-122"/>
                      </a:rPr>
                      <m:t>&lt;−</m:t>
                    </m:r>
                    <m:nary>
                      <m:naryPr>
                        <m:chr m:val="∑"/>
                        <m:ctrlPr>
                          <a:rPr lang="zh-CN" altLang="zh-CN" sz="2000" b="1" i="1" kern="1050">
                            <a:effectLst/>
                            <a:latin typeface="Cambria Math" panose="02040503050406030204" pitchFamily="18" charset="0"/>
                            <a:ea typeface="Cambria Math" panose="02040503050406030204" pitchFamily="18" charset="0"/>
                          </a:rPr>
                        </m:ctrlPr>
                      </m:naryPr>
                      <m:sub>
                        <m:r>
                          <a:rPr lang="en-US" altLang="zh-CN" sz="2000" b="1" i="1" kern="1050">
                            <a:effectLst/>
                            <a:latin typeface="Cambria Math" panose="02040503050406030204" pitchFamily="18" charset="0"/>
                            <a:ea typeface="宋体" panose="02010600030101010101" pitchFamily="2" charset="-122"/>
                          </a:rPr>
                          <m:t>𝒊</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sub>
                      <m:sup>
                        <m:r>
                          <a:rPr lang="en-US" altLang="zh-CN" sz="2000" b="1" i="1" kern="1050">
                            <a:effectLst/>
                            <a:latin typeface="Cambria Math" panose="02040503050406030204" pitchFamily="18" charset="0"/>
                            <a:ea typeface="宋体" panose="02010600030101010101" pitchFamily="2" charset="-122"/>
                          </a:rPr>
                          <m:t>𝒏</m:t>
                        </m:r>
                      </m:sup>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𝒂</m:t>
                            </m:r>
                          </m:e>
                          <m:sub>
                            <m:r>
                              <a:rPr lang="en-US" altLang="zh-CN" sz="2000" b="1" i="1" kern="1050">
                                <a:effectLst/>
                                <a:latin typeface="Cambria Math" panose="02040503050406030204" pitchFamily="18" charset="0"/>
                                <a:ea typeface="宋体" panose="02010600030101010101" pitchFamily="2" charset="-122"/>
                              </a:rPr>
                              <m:t>𝒊</m:t>
                            </m:r>
                          </m:sub>
                        </m:sSub>
                        <m:d>
                          <m:dPr>
                            <m:begChr m:val="|"/>
                            <m:endChr m:val="|"/>
                            <m:ctrlPr>
                              <a:rPr lang="zh-CN" altLang="zh-CN" sz="2000" b="1" i="1" kern="1050">
                                <a:effectLst/>
                                <a:latin typeface="Cambria Math" panose="02040503050406030204" pitchFamily="18" charset="0"/>
                                <a:ea typeface="Cambria Math" panose="02040503050406030204" pitchFamily="18" charset="0"/>
                              </a:rPr>
                            </m:ctrlPr>
                          </m:dP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𝒔</m:t>
                                </m:r>
                              </m:e>
                              <m:sub>
                                <m:r>
                                  <a:rPr lang="en-US" altLang="zh-CN" sz="2000" b="1" i="1" kern="1050">
                                    <a:effectLst/>
                                    <a:latin typeface="Cambria Math" panose="02040503050406030204" pitchFamily="18" charset="0"/>
                                    <a:ea typeface="宋体" panose="02010600030101010101" pitchFamily="2" charset="-122"/>
                                  </a:rPr>
                                  <m:t>𝒊</m:t>
                                </m:r>
                              </m:sub>
                            </m:sSub>
                          </m:e>
                        </m:d>
                      </m:e>
                    </m:nary>
                  </m:oMath>
                </a14:m>
                <a:r>
                  <a:rPr lang="en-US" altLang="zh-CN" sz="2000" b="1" kern="1050" dirty="0">
                    <a:effectLst/>
                    <a:latin typeface="微软雅黑" panose="020B0503020204020204" pitchFamily="34" charset="-122"/>
                    <a:ea typeface="微软雅黑" panose="020B0503020204020204" pitchFamily="34" charset="-122"/>
                  </a:rPr>
                  <a:t>   	            (7.72)</a:t>
                </a:r>
                <a:endParaRPr lang="zh-CN" altLang="zh-CN" sz="2000" b="1" kern="1050" dirty="0">
                  <a:effectLst/>
                  <a:latin typeface="微软雅黑" panose="020B0503020204020204" pitchFamily="34" charset="-122"/>
                  <a:ea typeface="微软雅黑" panose="020B0503020204020204" pitchFamily="34" charset="-122"/>
                </a:endParaRPr>
              </a:p>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像单入单出系统的情形那样，上述滑模条件确保了状态在有限时间内到达滑动面</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𝒔</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𝟎</m:t>
                    </m:r>
                  </m:oMath>
                </a14:m>
                <a:r>
                  <a:rPr lang="zh-CN" altLang="zh-CN" sz="2400" b="1" kern="1000" dirty="0">
                    <a:effectLst/>
                    <a:latin typeface="微软雅黑" panose="020B0503020204020204" pitchFamily="34" charset="-122"/>
                    <a:ea typeface="微软雅黑" panose="020B0503020204020204" pitchFamily="34" charset="-122"/>
                  </a:rPr>
                  <a:t>，并且一旦到达滑动面就保留在那里，且以指数的形式收敛到</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𝜽</m:t>
                        </m:r>
                      </m:e>
                      <m:sub>
                        <m:r>
                          <a:rPr lang="en-US" altLang="zh-CN" sz="2400" b="1" i="1" kern="1000">
                            <a:effectLst/>
                            <a:latin typeface="Cambria Math" panose="02040503050406030204" pitchFamily="18" charset="0"/>
                            <a:ea typeface="宋体" panose="02010600030101010101" pitchFamily="2" charset="-122"/>
                          </a:rPr>
                          <m:t>𝒅</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𝒕</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a:t>
                </a:r>
              </a:p>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采用滑模控制法，既可以消除稳态位置误差，又可以消除速度误差。</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𝜽</m:t>
                    </m:r>
                  </m:oMath>
                </a14:m>
                <a:r>
                  <a:rPr lang="zh-CN" altLang="zh-CN" sz="2400" b="1" kern="1000" dirty="0">
                    <a:effectLst/>
                    <a:latin typeface="微软雅黑" panose="020B0503020204020204" pitchFamily="34" charset="-122"/>
                    <a:ea typeface="微软雅黑" panose="020B0503020204020204" pitchFamily="34" charset="-122"/>
                  </a:rPr>
                  <a:t>的期望轨迹是</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𝜽</m:t>
                        </m:r>
                      </m:e>
                      <m:sub>
                        <m:r>
                          <a:rPr lang="en-US" altLang="zh-CN" sz="2400" b="1" i="1" kern="1000">
                            <a:effectLst/>
                            <a:latin typeface="Cambria Math" panose="02040503050406030204" pitchFamily="18" charset="0"/>
                            <a:ea typeface="宋体" panose="02010600030101010101" pitchFamily="2" charset="-122"/>
                          </a:rPr>
                          <m:t>𝒅</m:t>
                        </m:r>
                      </m:sub>
                    </m:sSub>
                  </m:oMath>
                </a14:m>
                <a:r>
                  <a:rPr lang="zh-CN" altLang="zh-CN" sz="2400" b="1" kern="1000" dirty="0">
                    <a:effectLst/>
                    <a:latin typeface="微软雅黑" panose="020B0503020204020204" pitchFamily="34" charset="-122"/>
                    <a:ea typeface="微软雅黑" panose="020B0503020204020204" pitchFamily="34" charset="-122"/>
                  </a:rPr>
                  <a:t>。轨迹误差</a:t>
                </a:r>
                <a14:m>
                  <m:oMath xmlns:m="http://schemas.openxmlformats.org/officeDocument/2006/math">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𝜽</m:t>
                        </m:r>
                      </m:e>
                    </m:acc>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𝜽</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𝜽</m:t>
                        </m:r>
                      </m:e>
                      <m:sub>
                        <m:r>
                          <a:rPr lang="en-US" altLang="zh-CN" sz="2400" b="1" i="1" kern="1000">
                            <a:effectLst/>
                            <a:latin typeface="Cambria Math" panose="02040503050406030204" pitchFamily="18" charset="0"/>
                            <a:ea typeface="宋体" panose="02010600030101010101" pitchFamily="2" charset="-122"/>
                          </a:rPr>
                          <m:t>𝒅</m:t>
                        </m:r>
                      </m:sub>
                    </m:sSub>
                  </m:oMath>
                </a14:m>
                <a:r>
                  <a:rPr lang="zh-CN" altLang="zh-CN" sz="2400" b="1" kern="1000" dirty="0">
                    <a:effectLst/>
                    <a:latin typeface="微软雅黑" panose="020B0503020204020204" pitchFamily="34" charset="-122"/>
                    <a:ea typeface="微软雅黑" panose="020B0503020204020204" pitchFamily="34" charset="-122"/>
                  </a:rPr>
                  <a:t>。利用误差估计，滑动面误差为</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000" b="1" i="1" kern="0">
                        <a:effectLst/>
                        <a:latin typeface="Cambria Math" panose="02040503050406030204" pitchFamily="18" charset="0"/>
                        <a:ea typeface="宋体" panose="02010600030101010101" pitchFamily="2" charset="-122"/>
                      </a:rPr>
                      <m:t>𝒔</m:t>
                    </m:r>
                    <m:r>
                      <a:rPr lang="en-US" altLang="zh-CN" sz="2000" b="1" i="1" kern="0">
                        <a:effectLst/>
                        <a:latin typeface="Cambria Math" panose="02040503050406030204" pitchFamily="18" charset="0"/>
                        <a:ea typeface="宋体" panose="02010600030101010101" pitchFamily="2" charset="-122"/>
                      </a:rPr>
                      <m:t>=</m:t>
                    </m:r>
                    <m:acc>
                      <m:accPr>
                        <m:chr m:val="̇"/>
                        <m:ctrlPr>
                          <a:rPr lang="zh-CN" altLang="zh-CN" sz="2000" b="1" i="1" kern="0">
                            <a:effectLst/>
                            <a:latin typeface="Cambria Math" panose="02040503050406030204" pitchFamily="18" charset="0"/>
                            <a:ea typeface="Cambria Math" panose="02040503050406030204" pitchFamily="18" charset="0"/>
                          </a:rPr>
                        </m:ctrlPr>
                      </m:accPr>
                      <m:e>
                        <m:acc>
                          <m:accPr>
                            <m:chr m:val="̃"/>
                            <m:ctrlPr>
                              <a:rPr lang="zh-CN" altLang="zh-CN" sz="2000" b="1" i="1" kern="0">
                                <a:effectLst/>
                                <a:latin typeface="Cambria Math" panose="02040503050406030204" pitchFamily="18" charset="0"/>
                                <a:ea typeface="Cambria Math" panose="02040503050406030204" pitchFamily="18" charset="0"/>
                              </a:rPr>
                            </m:ctrlPr>
                          </m:accPr>
                          <m:e>
                            <m:r>
                              <a:rPr lang="en-US" altLang="zh-CN" sz="2000" b="1" i="1" kern="0">
                                <a:effectLst/>
                                <a:latin typeface="Cambria Math" panose="02040503050406030204" pitchFamily="18" charset="0"/>
                                <a:ea typeface="宋体" panose="02010600030101010101" pitchFamily="2" charset="-122"/>
                              </a:rPr>
                              <m:t>𝜽</m:t>
                            </m:r>
                          </m:e>
                        </m:acc>
                      </m:e>
                    </m:acc>
                    <m:r>
                      <a:rPr lang="en-US" altLang="zh-CN" sz="2000" b="1" i="1" kern="0">
                        <a:effectLst/>
                        <a:latin typeface="Cambria Math" panose="02040503050406030204" pitchFamily="18" charset="0"/>
                        <a:ea typeface="宋体" panose="02010600030101010101" pitchFamily="2" charset="-122"/>
                      </a:rPr>
                      <m:t>+</m:t>
                    </m:r>
                    <m:r>
                      <a:rPr lang="en-US" altLang="zh-CN" sz="2000" b="1" i="1" kern="0">
                        <a:effectLst/>
                        <a:latin typeface="Cambria Math" panose="02040503050406030204" pitchFamily="18" charset="0"/>
                        <a:ea typeface="宋体" panose="02010600030101010101" pitchFamily="2" charset="-122"/>
                      </a:rPr>
                      <m:t>𝜦</m:t>
                    </m:r>
                    <m:acc>
                      <m:accPr>
                        <m:chr m:val="̃"/>
                        <m:ctrlPr>
                          <a:rPr lang="zh-CN" altLang="zh-CN" sz="2000" b="1" i="1" kern="0">
                            <a:effectLst/>
                            <a:latin typeface="Cambria Math" panose="02040503050406030204" pitchFamily="18" charset="0"/>
                            <a:ea typeface="Cambria Math" panose="02040503050406030204" pitchFamily="18" charset="0"/>
                          </a:rPr>
                        </m:ctrlPr>
                      </m:accPr>
                      <m:e>
                        <m:r>
                          <a:rPr lang="en-US" altLang="zh-CN" sz="2000" b="1" i="1" kern="0">
                            <a:effectLst/>
                            <a:latin typeface="Cambria Math" panose="02040503050406030204" pitchFamily="18" charset="0"/>
                            <a:ea typeface="宋体" panose="02010600030101010101" pitchFamily="2" charset="-122"/>
                          </a:rPr>
                          <m:t>𝜽</m:t>
                        </m:r>
                      </m:e>
                    </m:acc>
                  </m:oMath>
                </a14:m>
                <a:r>
                  <a:rPr lang="en-US" altLang="zh-CN" sz="2000" b="1" kern="1050" dirty="0">
                    <a:effectLst/>
                    <a:latin typeface="微软雅黑" panose="020B0503020204020204" pitchFamily="34" charset="-122"/>
                    <a:ea typeface="微软雅黑" panose="020B0503020204020204" pitchFamily="34" charset="-122"/>
                  </a:rPr>
                  <a:t>	                          (7.73)</a:t>
                </a:r>
                <a:endParaRPr lang="zh-CN" altLang="zh-CN" sz="2000" b="1" kern="1050" dirty="0">
                  <a:effectLst/>
                  <a:latin typeface="微软雅黑" panose="020B0503020204020204" pitchFamily="34" charset="-122"/>
                  <a:ea typeface="微软雅黑" panose="020B0503020204020204" pitchFamily="34" charset="-122"/>
                </a:endParaRPr>
              </a:p>
            </p:txBody>
          </p:sp>
        </mc:Choice>
        <mc:Fallback>
          <p:sp>
            <p:nvSpPr>
              <p:cNvPr id="4" name="文本框 3">
                <a:extLst>
                  <a:ext uri="{FF2B5EF4-FFF2-40B4-BE49-F238E27FC236}">
                    <a16:creationId xmlns:a16="http://schemas.microsoft.com/office/drawing/2014/main" id="{B1474AA0-C29E-6EE8-B2E9-5D6E9F70E35F}"/>
                  </a:ext>
                </a:extLst>
              </p:cNvPr>
              <p:cNvSpPr txBox="1">
                <a:spLocks noRot="1" noChangeAspect="1" noMove="1" noResize="1" noEditPoints="1" noAdjustHandles="1" noChangeArrowheads="1" noChangeShapeType="1" noTextEdit="1"/>
              </p:cNvSpPr>
              <p:nvPr/>
            </p:nvSpPr>
            <p:spPr>
              <a:xfrm>
                <a:off x="1057275" y="1114425"/>
                <a:ext cx="9934575" cy="4913461"/>
              </a:xfrm>
              <a:prstGeom prst="rect">
                <a:avLst/>
              </a:prstGeom>
              <a:blipFill>
                <a:blip r:embed="rId3"/>
                <a:stretch>
                  <a:fillRect l="-920" t="-993" r="-3926" b="-993"/>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CAC701B2-0EB0-BB69-378F-5B23244C560C}"/>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滑模控制</a:t>
            </a:r>
          </a:p>
        </p:txBody>
      </p:sp>
    </p:spTree>
    <p:extLst>
      <p:ext uri="{BB962C8B-B14F-4D97-AF65-F5344CB8AC3E}">
        <p14:creationId xmlns:p14="http://schemas.microsoft.com/office/powerpoint/2010/main" val="405722077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923390D8-752D-5CE6-9F7A-2E0C76294B01}"/>
                  </a:ext>
                </a:extLst>
              </p:cNvPr>
              <p:cNvSpPr txBox="1"/>
              <p:nvPr/>
            </p:nvSpPr>
            <p:spPr>
              <a:xfrm>
                <a:off x="1162049" y="1049565"/>
                <a:ext cx="10182225" cy="5613075"/>
              </a:xfrm>
              <a:prstGeom prst="rect">
                <a:avLst/>
              </a:prstGeom>
              <a:noFill/>
            </p:spPr>
            <p:txBody>
              <a:bodyPr wrap="square">
                <a:spAutoFit/>
              </a:bodyPr>
              <a:lstStyle/>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这里的</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𝜦</m:t>
                    </m:r>
                  </m:oMath>
                </a14:m>
                <a:r>
                  <a:rPr lang="zh-CN" altLang="zh-CN" sz="2400" b="1" kern="1000" dirty="0">
                    <a:effectLst/>
                    <a:latin typeface="微软雅黑" panose="020B0503020204020204" pitchFamily="34" charset="-122"/>
                    <a:ea typeface="微软雅黑" panose="020B0503020204020204" pitchFamily="34" charset="-122"/>
                  </a:rPr>
                  <a:t>是一个常数矩阵，其特征值的实部是严格正的。通过式</a:t>
                </a:r>
                <a:r>
                  <a:rPr lang="en-US" altLang="zh-CN" sz="2400" b="1" kern="1000" dirty="0">
                    <a:effectLst/>
                    <a:latin typeface="微软雅黑" panose="020B0503020204020204" pitchFamily="34" charset="-122"/>
                    <a:ea typeface="微软雅黑" panose="020B0503020204020204" pitchFamily="34" charset="-122"/>
                  </a:rPr>
                  <a:t>(7.73)</a:t>
                </a:r>
                <a:r>
                  <a:rPr lang="zh-CN" altLang="zh-CN" sz="2400" b="1" kern="1000" dirty="0">
                    <a:effectLst/>
                    <a:latin typeface="微软雅黑" panose="020B0503020204020204" pitchFamily="34" charset="-122"/>
                    <a:ea typeface="微软雅黑" panose="020B0503020204020204" pitchFamily="34" charset="-122"/>
                  </a:rPr>
                  <a:t>的超平面，速度和位置误差可以收敛到零。同时参考轨迹</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𝜽</m:t>
                        </m:r>
                      </m:e>
                      <m:sub>
                        <m:r>
                          <a:rPr lang="en-US" altLang="zh-CN" sz="2400" b="1" i="1" kern="1000">
                            <a:effectLst/>
                            <a:latin typeface="Cambria Math" panose="02040503050406030204" pitchFamily="18" charset="0"/>
                            <a:ea typeface="宋体" panose="02010600030101010101" pitchFamily="2" charset="-122"/>
                          </a:rPr>
                          <m:t>𝒓</m:t>
                        </m:r>
                      </m:sub>
                    </m:sSub>
                  </m:oMath>
                </a14:m>
                <a:r>
                  <a:rPr lang="zh-CN" altLang="zh-CN" sz="2400" b="1" kern="1000" dirty="0">
                    <a:effectLst/>
                    <a:latin typeface="微软雅黑" panose="020B0503020204020204" pitchFamily="34" charset="-122"/>
                    <a:ea typeface="微软雅黑" panose="020B0503020204020204" pitchFamily="34" charset="-122"/>
                  </a:rPr>
                  <a:t>用</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𝜽</m:t>
                        </m:r>
                      </m:e>
                      <m:sub>
                        <m:r>
                          <a:rPr lang="en-US" altLang="zh-CN" sz="2400" b="1" i="1" kern="1000">
                            <a:effectLst/>
                            <a:latin typeface="Cambria Math" panose="02040503050406030204" pitchFamily="18" charset="0"/>
                            <a:ea typeface="宋体" panose="02010600030101010101" pitchFamily="2" charset="-122"/>
                          </a:rPr>
                          <m:t>𝒅</m:t>
                        </m:r>
                      </m:sub>
                    </m:sSub>
                  </m:oMath>
                </a14:m>
                <a:r>
                  <a:rPr lang="zh-CN" altLang="zh-CN" sz="2400" b="1" kern="1000" dirty="0">
                    <a:effectLst/>
                    <a:latin typeface="微软雅黑" panose="020B0503020204020204" pitchFamily="34" charset="-122"/>
                    <a:ea typeface="微软雅黑" panose="020B0503020204020204" pitchFamily="34" charset="-122"/>
                  </a:rPr>
                  <a:t>代替。</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𝜽</m:t>
                        </m:r>
                      </m:e>
                      <m:sub>
                        <m:r>
                          <a:rPr lang="en-US" altLang="zh-CN" sz="2000" b="1" i="1" kern="1050">
                            <a:effectLst/>
                            <a:latin typeface="Cambria Math" panose="02040503050406030204" pitchFamily="18" charset="0"/>
                            <a:ea typeface="宋体" panose="02010600030101010101" pitchFamily="2" charset="-122"/>
                          </a:rPr>
                          <m:t>𝒓</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𝜽</m:t>
                        </m:r>
                      </m:e>
                      <m:sub>
                        <m:r>
                          <a:rPr lang="en-US" altLang="zh-CN" sz="2000" b="1" i="1" kern="1050">
                            <a:effectLst/>
                            <a:latin typeface="Cambria Math" panose="02040503050406030204" pitchFamily="18" charset="0"/>
                            <a:ea typeface="宋体" panose="02010600030101010101" pitchFamily="2" charset="-122"/>
                          </a:rPr>
                          <m:t>𝒅</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𝜦</m:t>
                    </m:r>
                    <m:nary>
                      <m:naryPr>
                        <m:ctrlPr>
                          <a:rPr lang="zh-CN" altLang="zh-CN" sz="2000" b="1" i="1" kern="1050">
                            <a:effectLst/>
                            <a:latin typeface="Cambria Math" panose="02040503050406030204" pitchFamily="18" charset="0"/>
                            <a:ea typeface="Cambria Math" panose="02040503050406030204" pitchFamily="18" charset="0"/>
                          </a:rPr>
                        </m:ctrlPr>
                      </m:naryPr>
                      <m:sub>
                        <m:r>
                          <a:rPr lang="en-US" altLang="zh-CN" sz="2000" b="1" i="1" kern="1050">
                            <a:effectLst/>
                            <a:latin typeface="Cambria Math" panose="02040503050406030204" pitchFamily="18" charset="0"/>
                            <a:ea typeface="宋体" panose="02010600030101010101" pitchFamily="2" charset="-122"/>
                          </a:rPr>
                          <m:t> </m:t>
                        </m:r>
                        <m:r>
                          <a:rPr lang="en-US" altLang="zh-CN" sz="2000" b="1" i="1" kern="1050">
                            <a:effectLst/>
                            <a:latin typeface="Cambria Math" panose="02040503050406030204" pitchFamily="18" charset="0"/>
                            <a:ea typeface="宋体" panose="02010600030101010101" pitchFamily="2" charset="-122"/>
                          </a:rPr>
                          <m:t>𝟎</m:t>
                        </m:r>
                      </m:sub>
                      <m:sup>
                        <m:r>
                          <a:rPr lang="en-US" altLang="zh-CN" sz="2000" b="1" i="1" kern="1050">
                            <a:effectLst/>
                            <a:latin typeface="Cambria Math" panose="02040503050406030204" pitchFamily="18" charset="0"/>
                            <a:ea typeface="宋体" panose="02010600030101010101" pitchFamily="2" charset="-122"/>
                          </a:rPr>
                          <m:t> </m:t>
                        </m:r>
                        <m:r>
                          <a:rPr lang="en-US" altLang="zh-CN" sz="2000" b="1" i="1" kern="1050">
                            <a:effectLst/>
                            <a:latin typeface="Cambria Math" panose="02040503050406030204" pitchFamily="18" charset="0"/>
                            <a:ea typeface="宋体" panose="02010600030101010101" pitchFamily="2" charset="-122"/>
                          </a:rPr>
                          <m:t>𝒕</m:t>
                        </m:r>
                      </m:sup>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𝜽</m:t>
                            </m:r>
                          </m:e>
                        </m:acc>
                        <m:r>
                          <a:rPr lang="en-US" altLang="zh-CN" sz="2000" b="1" i="1" kern="1050">
                            <a:effectLst/>
                            <a:latin typeface="Cambria Math" panose="02040503050406030204" pitchFamily="18" charset="0"/>
                            <a:ea typeface="宋体" panose="02010600030101010101" pitchFamily="2" charset="-122"/>
                          </a:rPr>
                          <m:t>𝒅𝒕</m:t>
                        </m:r>
                      </m:e>
                    </m:nary>
                  </m:oMath>
                </a14:m>
                <a:r>
                  <a:rPr lang="en-US" altLang="zh-CN" sz="2000" b="1" kern="1050" dirty="0">
                    <a:effectLst/>
                    <a:latin typeface="微软雅黑" panose="020B0503020204020204" pitchFamily="34" charset="-122"/>
                    <a:ea typeface="微软雅黑" panose="020B0503020204020204" pitchFamily="34" charset="-122"/>
                  </a:rPr>
                  <a:t>	         (7.74)</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同样，</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𝜽</m:t>
                            </m:r>
                          </m:e>
                        </m:acc>
                      </m:e>
                      <m:sub>
                        <m:r>
                          <a:rPr lang="en-US" altLang="zh-CN" sz="2400" b="1" i="1" kern="1000">
                            <a:effectLst/>
                            <a:latin typeface="Cambria Math" panose="02040503050406030204" pitchFamily="18" charset="0"/>
                            <a:ea typeface="宋体" panose="02010600030101010101" pitchFamily="2" charset="-122"/>
                          </a:rPr>
                          <m:t>𝒓</m:t>
                        </m:r>
                      </m:sub>
                    </m:sSub>
                  </m:oMath>
                </a14:m>
                <a:r>
                  <a:rPr lang="zh-CN" altLang="zh-CN" sz="2400" b="1" kern="1000" dirty="0">
                    <a:effectLst/>
                    <a:latin typeface="微软雅黑" panose="020B0503020204020204" pitchFamily="34" charset="-122"/>
                    <a:ea typeface="微软雅黑" panose="020B0503020204020204" pitchFamily="34" charset="-122"/>
                  </a:rPr>
                  <a:t>和</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𝜽</m:t>
                            </m:r>
                          </m:e>
                        </m:acc>
                      </m:e>
                      <m:sub>
                        <m:r>
                          <a:rPr lang="en-US" altLang="zh-CN" sz="2400" b="1" i="1" kern="1000">
                            <a:effectLst/>
                            <a:latin typeface="Cambria Math" panose="02040503050406030204" pitchFamily="18" charset="0"/>
                            <a:ea typeface="宋体" panose="02010600030101010101" pitchFamily="2" charset="-122"/>
                          </a:rPr>
                          <m:t>𝒓</m:t>
                        </m:r>
                      </m:sub>
                    </m:sSub>
                  </m:oMath>
                </a14:m>
                <a:r>
                  <a:rPr lang="zh-CN" altLang="zh-CN" sz="2400" b="1" kern="1000" dirty="0">
                    <a:effectLst/>
                    <a:latin typeface="微软雅黑" panose="020B0503020204020204" pitchFamily="34" charset="-122"/>
                    <a:ea typeface="微软雅黑" panose="020B0503020204020204" pitchFamily="34" charset="-122"/>
                  </a:rPr>
                  <a:t>都可以被替换成：</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𝜽</m:t>
                            </m:r>
                          </m:e>
                        </m:acc>
                      </m:e>
                      <m:sub>
                        <m:r>
                          <a:rPr lang="en-US" altLang="zh-CN" sz="2000" b="1" i="1" kern="1050">
                            <a:effectLst/>
                            <a:latin typeface="Cambria Math" panose="02040503050406030204" pitchFamily="18" charset="0"/>
                            <a:ea typeface="宋体" panose="02010600030101010101" pitchFamily="2" charset="-122"/>
                          </a:rPr>
                          <m:t>𝒓</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𝜽</m:t>
                            </m:r>
                          </m:e>
                        </m:acc>
                      </m:e>
                      <m:sub>
                        <m:r>
                          <a:rPr lang="en-US" altLang="zh-CN" sz="2000" b="1" i="1" kern="1050">
                            <a:effectLst/>
                            <a:latin typeface="Cambria Math" panose="02040503050406030204" pitchFamily="18" charset="0"/>
                            <a:ea typeface="宋体" panose="02010600030101010101" pitchFamily="2" charset="-122"/>
                          </a:rPr>
                          <m:t>𝒅</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𝜦</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𝜽</m:t>
                        </m:r>
                      </m:e>
                    </m:acc>
                  </m:oMath>
                </a14:m>
                <a:r>
                  <a:rPr lang="en-US" altLang="zh-CN" sz="2000" b="1" kern="1050" dirty="0">
                    <a:effectLst/>
                    <a:latin typeface="微软雅黑" panose="020B0503020204020204" pitchFamily="34" charset="-122"/>
                    <a:ea typeface="微软雅黑" panose="020B0503020204020204" pitchFamily="34" charset="-122"/>
                  </a:rPr>
                  <a:t>	         (7.75)</a:t>
                </a:r>
                <a:endParaRPr lang="zh-CN" altLang="zh-CN" sz="2000" b="1" kern="1050" dirty="0">
                  <a:effectLst/>
                  <a:latin typeface="微软雅黑" panose="020B0503020204020204" pitchFamily="34" charset="-122"/>
                  <a:ea typeface="微软雅黑" panose="020B0503020204020204" pitchFamily="34" charset="-122"/>
                </a:endParaRPr>
              </a:p>
              <a:p>
                <a:pPr algn="just">
                  <a:spcBef>
                    <a:spcPts val="400"/>
                  </a:spcBef>
                  <a:spcAft>
                    <a:spcPts val="4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𝜽</m:t>
                            </m:r>
                          </m:e>
                        </m:acc>
                      </m:e>
                      <m:sub>
                        <m:r>
                          <a:rPr lang="en-US" altLang="zh-CN" sz="2000" b="1" i="1" kern="1050">
                            <a:effectLst/>
                            <a:latin typeface="Cambria Math" panose="02040503050406030204" pitchFamily="18" charset="0"/>
                            <a:ea typeface="宋体" panose="02010600030101010101" pitchFamily="2" charset="-122"/>
                          </a:rPr>
                          <m:t>𝒓</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𝜽</m:t>
                            </m:r>
                          </m:e>
                        </m:acc>
                      </m:e>
                      <m:sub>
                        <m:r>
                          <a:rPr lang="en-US" altLang="zh-CN" sz="2000" b="1" i="1" kern="1050">
                            <a:effectLst/>
                            <a:latin typeface="Cambria Math" panose="02040503050406030204" pitchFamily="18" charset="0"/>
                            <a:ea typeface="宋体" panose="02010600030101010101" pitchFamily="2" charset="-122"/>
                          </a:rPr>
                          <m:t>𝒅</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𝜦</m:t>
                    </m:r>
                    <m:acc>
                      <m:accPr>
                        <m:chr m:val="̇"/>
                        <m:ctrlPr>
                          <a:rPr lang="zh-CN" altLang="zh-CN" sz="2000" b="1" i="1" kern="1050">
                            <a:effectLst/>
                            <a:latin typeface="Cambria Math" panose="02040503050406030204" pitchFamily="18" charset="0"/>
                            <a:ea typeface="Cambria Math" panose="02040503050406030204" pitchFamily="18" charset="0"/>
                          </a:rPr>
                        </m:ctrlPr>
                      </m:acc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𝜽</m:t>
                            </m:r>
                          </m:e>
                        </m:acc>
                      </m:e>
                    </m:acc>
                  </m:oMath>
                </a14:m>
                <a:r>
                  <a:rPr lang="en-US" altLang="zh-CN" sz="2000" b="1" kern="1050" dirty="0">
                    <a:effectLst/>
                    <a:latin typeface="微软雅黑" panose="020B0503020204020204" pitchFamily="34" charset="-122"/>
                    <a:ea typeface="微软雅黑" panose="020B0503020204020204" pitchFamily="34" charset="-122"/>
                  </a:rPr>
                  <a:t>	         (7.76)</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这样，控制律和自适应律可以设计为</a:t>
                </a:r>
              </a:p>
              <a:p>
                <a:pPr algn="just">
                  <a:spcBef>
                    <a:spcPts val="400"/>
                  </a:spcBef>
                  <a:spcAft>
                    <a:spcPts val="4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000" b="1" i="1" kern="1050">
                        <a:effectLst/>
                        <a:latin typeface="Cambria Math" panose="02040503050406030204" pitchFamily="18" charset="0"/>
                        <a:ea typeface="宋体" panose="02010600030101010101" pitchFamily="2" charset="-122"/>
                      </a:rPr>
                      <m:t>𝝉</m:t>
                    </m:r>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𝑴</m:t>
                        </m:r>
                      </m:e>
                    </m:acc>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𝜽</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𝜽</m:t>
                            </m:r>
                          </m:e>
                        </m:acc>
                      </m:e>
                      <m:sub>
                        <m:r>
                          <a:rPr lang="en-US" altLang="zh-CN" sz="2000" b="1" i="1" kern="1050">
                            <a:effectLst/>
                            <a:latin typeface="Cambria Math" panose="02040503050406030204" pitchFamily="18" charset="0"/>
                            <a:ea typeface="宋体" panose="02010600030101010101" pitchFamily="2" charset="-122"/>
                          </a:rPr>
                          <m:t>𝒓</m:t>
                        </m:r>
                      </m:sub>
                    </m:sSub>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𝑪</m:t>
                        </m:r>
                      </m:e>
                    </m:acc>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𝜽</m:t>
                    </m:r>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𝜽</m:t>
                        </m:r>
                      </m:e>
                    </m:acc>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𝜽</m:t>
                            </m:r>
                          </m:e>
                        </m:acc>
                      </m:e>
                      <m:sub>
                        <m:r>
                          <a:rPr lang="en-US" altLang="zh-CN" sz="2000" b="1" i="1" kern="1050">
                            <a:effectLst/>
                            <a:latin typeface="Cambria Math" panose="02040503050406030204" pitchFamily="18" charset="0"/>
                            <a:ea typeface="宋体" panose="02010600030101010101" pitchFamily="2" charset="-122"/>
                          </a:rPr>
                          <m:t>𝒓</m:t>
                        </m:r>
                      </m:sub>
                    </m:sSub>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𝑮</m:t>
                        </m:r>
                      </m:e>
                    </m:acc>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𝜽</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𝜥</m:t>
                        </m:r>
                      </m:e>
                      <m:sub>
                        <m:r>
                          <a:rPr lang="en-US" altLang="zh-CN" sz="2000" b="1" i="1" kern="1050">
                            <a:effectLst/>
                            <a:latin typeface="Cambria Math" panose="02040503050406030204" pitchFamily="18" charset="0"/>
                            <a:ea typeface="宋体" panose="02010600030101010101" pitchFamily="2" charset="-122"/>
                          </a:rPr>
                          <m:t>𝑫</m:t>
                        </m:r>
                      </m:sub>
                    </m:sSub>
                    <m:r>
                      <a:rPr lang="en-US" altLang="zh-CN" sz="2000" b="1" i="1" kern="1050">
                        <a:effectLst/>
                        <a:latin typeface="Cambria Math" panose="02040503050406030204" pitchFamily="18" charset="0"/>
                        <a:ea typeface="宋体" panose="02010600030101010101" pitchFamily="2" charset="-122"/>
                      </a:rPr>
                      <m:t>𝒔</m:t>
                    </m:r>
                  </m:oMath>
                </a14:m>
                <a:r>
                  <a:rPr lang="en-US" altLang="zh-CN" sz="2000" b="1" kern="1050" dirty="0">
                    <a:effectLst/>
                    <a:latin typeface="微软雅黑" panose="020B0503020204020204" pitchFamily="34" charset="-122"/>
                    <a:ea typeface="微软雅黑" panose="020B0503020204020204" pitchFamily="34" charset="-122"/>
                  </a:rPr>
                  <a:t>	         (7.77)</a:t>
                </a:r>
                <a:endParaRPr lang="zh-CN" altLang="zh-CN" sz="2000" b="1" kern="1050" dirty="0">
                  <a:effectLst/>
                  <a:latin typeface="微软雅黑" panose="020B0503020204020204" pitchFamily="34" charset="-122"/>
                  <a:ea typeface="微软雅黑" panose="020B0503020204020204" pitchFamily="34" charset="-122"/>
                </a:endParaRPr>
              </a:p>
              <a:p>
                <a:pPr algn="just">
                  <a:spcBef>
                    <a:spcPts val="400"/>
                  </a:spcBef>
                  <a:spcAft>
                    <a:spcPts val="4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zh-CN" altLang="zh-CN" sz="2000" b="1" i="1" kern="1050">
                            <a:effectLst/>
                            <a:latin typeface="Cambria Math" panose="02040503050406030204" pitchFamily="18" charset="0"/>
                            <a:ea typeface="Cambria Math" panose="02040503050406030204" pitchFamily="18" charset="0"/>
                          </a:rPr>
                        </m:ctrlPr>
                      </m:acc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𝒂</m:t>
                            </m:r>
                          </m:e>
                        </m:acc>
                      </m:e>
                    </m:acc>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𝜞</m:t>
                        </m:r>
                      </m:e>
                      <m: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sup>
                    </m:sSup>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𝒀</m:t>
                        </m:r>
                      </m:e>
                      <m:sup>
                        <m:r>
                          <a:rPr lang="en-US" altLang="zh-CN" sz="2000" b="1" i="1" kern="1050">
                            <a:effectLst/>
                            <a:latin typeface="Cambria Math" panose="02040503050406030204" pitchFamily="18" charset="0"/>
                            <a:ea typeface="宋体" panose="02010600030101010101" pitchFamily="2" charset="-122"/>
                          </a:rPr>
                          <m:t>𝑻</m:t>
                        </m:r>
                      </m:sup>
                    </m:s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𝜽</m:t>
                    </m:r>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𝜽</m:t>
                        </m:r>
                      </m:e>
                    </m:acc>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𝜽</m:t>
                            </m:r>
                          </m:e>
                        </m:acc>
                      </m:e>
                      <m:sub>
                        <m:r>
                          <a:rPr lang="en-US" altLang="zh-CN" sz="2000" b="1" i="1" kern="1050">
                            <a:effectLst/>
                            <a:latin typeface="Cambria Math" panose="02040503050406030204" pitchFamily="18" charset="0"/>
                            <a:ea typeface="宋体" panose="02010600030101010101" pitchFamily="2" charset="-122"/>
                          </a:rPr>
                          <m:t>𝒓</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𝜽</m:t>
                            </m:r>
                          </m:e>
                        </m:acc>
                      </m:e>
                      <m:sub>
                        <m:r>
                          <a:rPr lang="en-US" altLang="zh-CN" sz="2000" b="1" i="1" kern="1050">
                            <a:effectLst/>
                            <a:latin typeface="Cambria Math" panose="02040503050406030204" pitchFamily="18" charset="0"/>
                            <a:ea typeface="宋体" panose="02010600030101010101" pitchFamily="2" charset="-122"/>
                          </a:rPr>
                          <m:t>𝒓</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𝒔</m:t>
                    </m:r>
                  </m:oMath>
                </a14:m>
                <a:r>
                  <a:rPr lang="en-US" altLang="zh-CN" sz="2000" b="1" kern="1050" dirty="0">
                    <a:effectLst/>
                    <a:latin typeface="微软雅黑" panose="020B0503020204020204" pitchFamily="34" charset="-122"/>
                    <a:ea typeface="微软雅黑" panose="020B0503020204020204" pitchFamily="34" charset="-122"/>
                  </a:rPr>
                  <a:t>	         (7.78)</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利用上述控制律和自适应律，可将</a:t>
                </a:r>
                <a:r>
                  <a:rPr lang="zh-CN" altLang="zh-CN" sz="2400" b="1" kern="0" dirty="0">
                    <a:effectLst/>
                    <a:latin typeface="微软雅黑" panose="020B0503020204020204" pitchFamily="34" charset="-122"/>
                    <a:ea typeface="微软雅黑" panose="020B0503020204020204" pitchFamily="34" charset="-122"/>
                  </a:rPr>
                  <a:t>李亚普诺夫函数可以</a:t>
                </a:r>
                <a:r>
                  <a:rPr lang="zh-CN" altLang="zh-CN" sz="2400" b="1" kern="1000" dirty="0">
                    <a:effectLst/>
                    <a:latin typeface="微软雅黑" panose="020B0503020204020204" pitchFamily="34" charset="-122"/>
                    <a:ea typeface="微软雅黑" panose="020B0503020204020204" pitchFamily="34" charset="-122"/>
                  </a:rPr>
                  <a:t>设计为</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000" b="1" i="1" kern="1050">
                        <a:effectLst/>
                        <a:latin typeface="Cambria Math" panose="02040503050406030204" pitchFamily="18" charset="0"/>
                        <a:ea typeface="宋体" panose="02010600030101010101" pitchFamily="2" charset="-122"/>
                      </a:rPr>
                      <m:t>𝑽</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𝒕</m:t>
                    </m:r>
                    <m:r>
                      <a:rPr lang="en-US" altLang="zh-CN" sz="2000" b="1" i="1" kern="105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a:effectLst/>
                            <a:latin typeface="Cambria Math" panose="02040503050406030204" pitchFamily="18" charset="0"/>
                            <a:ea typeface="宋体" panose="02010600030101010101" pitchFamily="2" charset="-122"/>
                          </a:rPr>
                          <m:t>𝟏</m:t>
                        </m:r>
                      </m:num>
                      <m:den>
                        <m:r>
                          <a:rPr lang="en-US" altLang="zh-CN" sz="2000" b="1" i="1" kern="1050">
                            <a:effectLst/>
                            <a:latin typeface="Cambria Math" panose="02040503050406030204" pitchFamily="18" charset="0"/>
                            <a:ea typeface="宋体" panose="02010600030101010101" pitchFamily="2" charset="-122"/>
                          </a:rPr>
                          <m:t>𝟐</m:t>
                        </m:r>
                      </m:den>
                    </m:f>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𝒔</m:t>
                        </m:r>
                      </m:e>
                      <m:sup>
                        <m:r>
                          <a:rPr lang="en-US" altLang="zh-CN" sz="2000" b="1" i="1" kern="1050">
                            <a:effectLst/>
                            <a:latin typeface="Cambria Math" panose="02040503050406030204" pitchFamily="18" charset="0"/>
                            <a:ea typeface="宋体" panose="02010600030101010101" pitchFamily="2" charset="-122"/>
                          </a:rPr>
                          <m:t>𝑻</m:t>
                        </m:r>
                      </m:sup>
                    </m:sSup>
                    <m:r>
                      <a:rPr lang="en-US" altLang="zh-CN" sz="2000" b="1" i="1" kern="1050">
                        <a:effectLst/>
                        <a:latin typeface="Cambria Math" panose="02040503050406030204" pitchFamily="18" charset="0"/>
                        <a:ea typeface="宋体" panose="02010600030101010101" pitchFamily="2" charset="-122"/>
                      </a:rPr>
                      <m:t>𝑯𝒔</m:t>
                    </m:r>
                    <m:r>
                      <a:rPr lang="en-US" altLang="zh-CN" sz="2000" b="1" i="1" kern="105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a:effectLst/>
                            <a:latin typeface="Cambria Math" panose="02040503050406030204" pitchFamily="18" charset="0"/>
                            <a:ea typeface="宋体" panose="02010600030101010101" pitchFamily="2" charset="-122"/>
                          </a:rPr>
                          <m:t>𝟏</m:t>
                        </m:r>
                      </m:num>
                      <m:den>
                        <m:r>
                          <a:rPr lang="en-US" altLang="zh-CN" sz="2000" b="1" i="1" kern="1050">
                            <a:effectLst/>
                            <a:latin typeface="Cambria Math" panose="02040503050406030204" pitchFamily="18" charset="0"/>
                            <a:ea typeface="宋体" panose="02010600030101010101" pitchFamily="2" charset="-122"/>
                          </a:rPr>
                          <m:t>𝟐</m:t>
                        </m:r>
                      </m:den>
                    </m:f>
                    <m:sSup>
                      <m:sSupPr>
                        <m:ctrlPr>
                          <a:rPr lang="zh-CN" altLang="zh-CN" sz="2000" b="1" i="1" kern="1050">
                            <a:effectLst/>
                            <a:latin typeface="Cambria Math" panose="02040503050406030204" pitchFamily="18" charset="0"/>
                            <a:ea typeface="Cambria Math" panose="02040503050406030204" pitchFamily="18" charset="0"/>
                          </a:rPr>
                        </m:ctrlPr>
                      </m:sSup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𝒂</m:t>
                            </m:r>
                          </m:e>
                        </m:acc>
                      </m:e>
                      <m:sup>
                        <m:r>
                          <a:rPr lang="en-US" altLang="zh-CN" sz="2000" b="1" i="1" kern="1050">
                            <a:effectLst/>
                            <a:latin typeface="Cambria Math" panose="02040503050406030204" pitchFamily="18" charset="0"/>
                            <a:ea typeface="宋体" panose="02010600030101010101" pitchFamily="2" charset="-122"/>
                          </a:rPr>
                          <m:t>𝑻</m:t>
                        </m:r>
                      </m:sup>
                    </m:sSup>
                    <m:r>
                      <a:rPr lang="en-US" altLang="zh-CN" sz="2000" b="1" i="1" kern="1050">
                        <a:effectLst/>
                        <a:latin typeface="Cambria Math" panose="02040503050406030204" pitchFamily="18" charset="0"/>
                        <a:ea typeface="宋体" panose="02010600030101010101" pitchFamily="2" charset="-122"/>
                      </a:rPr>
                      <m:t>𝜞</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𝒂</m:t>
                        </m:r>
                      </m:e>
                    </m:acc>
                  </m:oMath>
                </a14:m>
                <a:r>
                  <a:rPr lang="en-US" altLang="zh-CN" sz="2000" b="1" kern="1050" dirty="0">
                    <a:effectLst/>
                    <a:latin typeface="微软雅黑" panose="020B0503020204020204" pitchFamily="34" charset="-122"/>
                    <a:ea typeface="微软雅黑" panose="020B0503020204020204" pitchFamily="34" charset="-122"/>
                  </a:rPr>
                  <a:t>	         (7.79)</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可推导出：</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𝑽</m:t>
                        </m:r>
                      </m:e>
                    </m:acc>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𝒕</m:t>
                    </m:r>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𝒔</m:t>
                        </m:r>
                      </m:e>
                      <m:sup>
                        <m:r>
                          <a:rPr lang="en-US" altLang="zh-CN" sz="2000" b="1" i="1" kern="1050">
                            <a:effectLst/>
                            <a:latin typeface="Cambria Math" panose="02040503050406030204" pitchFamily="18" charset="0"/>
                            <a:ea typeface="宋体" panose="02010600030101010101" pitchFamily="2" charset="-122"/>
                          </a:rPr>
                          <m:t>𝑻</m:t>
                        </m:r>
                      </m:sup>
                    </m:s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𝑫</m:t>
                        </m:r>
                      </m:sub>
                    </m:sSub>
                    <m:r>
                      <a:rPr lang="en-US" altLang="zh-CN" sz="2000" b="1" i="1" kern="1050">
                        <a:effectLst/>
                        <a:latin typeface="Cambria Math" panose="02040503050406030204" pitchFamily="18" charset="0"/>
                        <a:ea typeface="宋体" panose="02010600030101010101" pitchFamily="2" charset="-122"/>
                      </a:rPr>
                      <m:t>𝒔</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𝟎</m:t>
                    </m:r>
                  </m:oMath>
                </a14:m>
                <a:r>
                  <a:rPr lang="en-US" altLang="zh-CN" sz="2000" b="1" kern="1050" dirty="0">
                    <a:effectLst/>
                    <a:latin typeface="微软雅黑" panose="020B0503020204020204" pitchFamily="34" charset="-122"/>
                    <a:ea typeface="微软雅黑" panose="020B0503020204020204" pitchFamily="34" charset="-122"/>
                  </a:rPr>
                  <a:t>	         (7.80)</a:t>
                </a:r>
                <a:endParaRPr lang="zh-CN" altLang="zh-CN" sz="2400" b="1" kern="1050" dirty="0">
                  <a:effectLst/>
                  <a:latin typeface="微软雅黑" panose="020B0503020204020204" pitchFamily="34" charset="-122"/>
                  <a:ea typeface="微软雅黑" panose="020B0503020204020204" pitchFamily="34" charset="-122"/>
                </a:endParaRPr>
              </a:p>
            </p:txBody>
          </p:sp>
        </mc:Choice>
        <mc:Fallback xmlns="">
          <p:sp>
            <p:nvSpPr>
              <p:cNvPr id="4" name="文本框 3">
                <a:extLst>
                  <a:ext uri="{FF2B5EF4-FFF2-40B4-BE49-F238E27FC236}">
                    <a16:creationId xmlns:a16="http://schemas.microsoft.com/office/drawing/2014/main" id="{923390D8-752D-5CE6-9F7A-2E0C76294B01}"/>
                  </a:ext>
                </a:extLst>
              </p:cNvPr>
              <p:cNvSpPr txBox="1">
                <a:spLocks noRot="1" noChangeAspect="1" noMove="1" noResize="1" noEditPoints="1" noAdjustHandles="1" noChangeArrowheads="1" noChangeShapeType="1" noTextEdit="1"/>
              </p:cNvSpPr>
              <p:nvPr/>
            </p:nvSpPr>
            <p:spPr>
              <a:xfrm>
                <a:off x="1162049" y="1049565"/>
                <a:ext cx="10182225" cy="5613075"/>
              </a:xfrm>
              <a:prstGeom prst="rect">
                <a:avLst/>
              </a:prstGeom>
              <a:blipFill>
                <a:blip r:embed="rId3"/>
                <a:stretch>
                  <a:fillRect l="-958" t="-869" r="-898" b="-760"/>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A958C125-C62C-3310-1598-CE8808170308}"/>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滑模控制</a:t>
            </a:r>
          </a:p>
        </p:txBody>
      </p:sp>
    </p:spTree>
    <p:extLst>
      <p:ext uri="{BB962C8B-B14F-4D97-AF65-F5344CB8AC3E}">
        <p14:creationId xmlns:p14="http://schemas.microsoft.com/office/powerpoint/2010/main" val="425591277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F865B5C-B88F-3FE4-033D-866F1A4098FC}"/>
                  </a:ext>
                </a:extLst>
              </p:cNvPr>
              <p:cNvSpPr txBox="1"/>
              <p:nvPr/>
            </p:nvSpPr>
            <p:spPr>
              <a:xfrm>
                <a:off x="600075" y="1323976"/>
                <a:ext cx="10506075" cy="4660891"/>
              </a:xfrm>
              <a:prstGeom prst="rect">
                <a:avLst/>
              </a:prstGeom>
              <a:noFill/>
            </p:spPr>
            <p:txBody>
              <a:bodyPr wrap="square">
                <a:spAutoFit/>
              </a:bodyPr>
              <a:lstStyle/>
              <a:p>
                <a:pPr algn="just"/>
                <a:r>
                  <a:rPr lang="en-US" altLang="zh-CN" sz="2400" b="1" kern="0" dirty="0">
                    <a:effectLst/>
                    <a:latin typeface="微软雅黑" panose="020B0503020204020204" pitchFamily="34" charset="-122"/>
                    <a:ea typeface="微软雅黑" panose="020B0503020204020204" pitchFamily="34" charset="-122"/>
                  </a:rPr>
                  <a:t>        </a:t>
                </a:r>
                <a:r>
                  <a:rPr lang="zh-CN" altLang="zh-CN" sz="2400" b="1" kern="0" dirty="0">
                    <a:effectLst/>
                    <a:latin typeface="微软雅黑" panose="020B0503020204020204" pitchFamily="34" charset="-122"/>
                    <a:ea typeface="微软雅黑" panose="020B0503020204020204" pitchFamily="34" charset="-122"/>
                  </a:rPr>
                  <a:t>当</a:t>
                </a:r>
                <a14:m>
                  <m:oMath xmlns:m="http://schemas.openxmlformats.org/officeDocument/2006/math">
                    <m:r>
                      <a:rPr lang="en-US" altLang="zh-CN" sz="2400" b="1" i="1" kern="0">
                        <a:effectLst/>
                        <a:latin typeface="Cambria Math" panose="02040503050406030204" pitchFamily="18" charset="0"/>
                        <a:ea typeface="宋体" panose="02010600030101010101" pitchFamily="2" charset="-122"/>
                      </a:rPr>
                      <m:t>𝒔</m:t>
                    </m:r>
                    <m:r>
                      <a:rPr lang="en-US" altLang="zh-CN" sz="2400" b="1" i="1" kern="0">
                        <a:effectLst/>
                        <a:latin typeface="Cambria Math" panose="02040503050406030204" pitchFamily="18" charset="0"/>
                        <a:ea typeface="宋体" panose="02010600030101010101" pitchFamily="2" charset="-122"/>
                      </a:rPr>
                      <m:t>→</m:t>
                    </m:r>
                    <m:r>
                      <a:rPr lang="en-US" altLang="zh-CN" sz="2400" b="1" i="1" kern="0">
                        <a:effectLst/>
                        <a:latin typeface="Cambria Math" panose="02040503050406030204" pitchFamily="18" charset="0"/>
                        <a:ea typeface="宋体" panose="02010600030101010101" pitchFamily="2" charset="-122"/>
                      </a:rPr>
                      <m:t>𝟎</m:t>
                    </m:r>
                  </m:oMath>
                </a14:m>
                <a:r>
                  <a:rPr lang="zh-CN" altLang="zh-CN" sz="2400" b="1" kern="0" dirty="0">
                    <a:effectLst/>
                    <a:latin typeface="微软雅黑" panose="020B0503020204020204" pitchFamily="34" charset="-122"/>
                    <a:ea typeface="微软雅黑" panose="020B0503020204020204" pitchFamily="34" charset="-122"/>
                  </a:rPr>
                  <a:t>时，</a:t>
                </a:r>
                <a14:m>
                  <m:oMath xmlns:m="http://schemas.openxmlformats.org/officeDocument/2006/math">
                    <m:acc>
                      <m:accPr>
                        <m:chr m:val="̇"/>
                        <m:ctrlPr>
                          <a:rPr lang="zh-CN" altLang="zh-CN" sz="2400" b="1" i="1" kern="0">
                            <a:effectLst/>
                            <a:latin typeface="Cambria Math" panose="02040503050406030204" pitchFamily="18" charset="0"/>
                            <a:ea typeface="Cambria Math" panose="02040503050406030204" pitchFamily="18" charset="0"/>
                          </a:rPr>
                        </m:ctrlPr>
                      </m:accPr>
                      <m:e>
                        <m:acc>
                          <m:accPr>
                            <m:chr m:val="̃"/>
                            <m:ctrlPr>
                              <a:rPr lang="zh-CN" altLang="zh-CN" sz="2400" b="1" i="1" kern="0">
                                <a:effectLst/>
                                <a:latin typeface="Cambria Math" panose="02040503050406030204" pitchFamily="18" charset="0"/>
                                <a:ea typeface="Cambria Math" panose="02040503050406030204" pitchFamily="18" charset="0"/>
                              </a:rPr>
                            </m:ctrlPr>
                          </m:accPr>
                          <m:e>
                            <m:r>
                              <a:rPr lang="en-US" altLang="zh-CN" sz="2400" b="1" i="1" kern="0">
                                <a:effectLst/>
                                <a:latin typeface="Cambria Math" panose="02040503050406030204" pitchFamily="18" charset="0"/>
                                <a:ea typeface="宋体" panose="02010600030101010101" pitchFamily="2" charset="-122"/>
                              </a:rPr>
                              <m:t>𝜽</m:t>
                            </m:r>
                          </m:e>
                        </m:acc>
                      </m:e>
                    </m:acc>
                  </m:oMath>
                </a14:m>
                <a:r>
                  <a:rPr lang="zh-CN" altLang="zh-CN" sz="2400" b="1" kern="0" dirty="0">
                    <a:effectLst/>
                    <a:latin typeface="微软雅黑" panose="020B0503020204020204" pitchFamily="34" charset="-122"/>
                    <a:ea typeface="微软雅黑" panose="020B0503020204020204" pitchFamily="34" charset="-122"/>
                  </a:rPr>
                  <a:t>和</a:t>
                </a:r>
                <a14:m>
                  <m:oMath xmlns:m="http://schemas.openxmlformats.org/officeDocument/2006/math">
                    <m:acc>
                      <m:accPr>
                        <m:chr m:val="̃"/>
                        <m:ctrlPr>
                          <a:rPr lang="zh-CN" altLang="zh-CN" sz="2400" b="1" i="1" kern="0">
                            <a:effectLst/>
                            <a:latin typeface="Cambria Math" panose="02040503050406030204" pitchFamily="18" charset="0"/>
                            <a:ea typeface="Cambria Math" panose="02040503050406030204" pitchFamily="18" charset="0"/>
                          </a:rPr>
                        </m:ctrlPr>
                      </m:accPr>
                      <m:e>
                        <m:r>
                          <a:rPr lang="en-US" altLang="zh-CN" sz="2400" b="1" i="1" kern="0">
                            <a:effectLst/>
                            <a:latin typeface="Cambria Math" panose="02040503050406030204" pitchFamily="18" charset="0"/>
                            <a:ea typeface="宋体" panose="02010600030101010101" pitchFamily="2" charset="-122"/>
                          </a:rPr>
                          <m:t>𝜽</m:t>
                        </m:r>
                      </m:e>
                    </m:acc>
                  </m:oMath>
                </a14:m>
                <a:r>
                  <a:rPr lang="zh-CN" altLang="zh-CN" sz="2400" b="1" kern="0" dirty="0">
                    <a:effectLst/>
                    <a:latin typeface="微软雅黑" panose="020B0503020204020204" pitchFamily="34" charset="-122"/>
                    <a:ea typeface="微软雅黑" panose="020B0503020204020204" pitchFamily="34" charset="-122"/>
                  </a:rPr>
                  <a:t>都收敛于</a:t>
                </a:r>
                <a:r>
                  <a:rPr lang="en-US" altLang="zh-CN" sz="2400" b="1" kern="0" dirty="0">
                    <a:effectLst/>
                    <a:latin typeface="微软雅黑" panose="020B0503020204020204" pitchFamily="34" charset="-122"/>
                    <a:ea typeface="微软雅黑" panose="020B0503020204020204" pitchFamily="34" charset="-122"/>
                  </a:rPr>
                  <a:t>0</a:t>
                </a:r>
                <a:r>
                  <a:rPr lang="zh-CN" altLang="zh-CN" sz="2400" b="1" kern="0" dirty="0">
                    <a:effectLst/>
                    <a:latin typeface="微软雅黑" panose="020B0503020204020204" pitchFamily="34" charset="-122"/>
                    <a:ea typeface="微软雅黑" panose="020B0503020204020204" pitchFamily="34" charset="-122"/>
                  </a:rPr>
                  <a:t>。因此使用了式</a:t>
                </a:r>
                <a:r>
                  <a:rPr lang="en-US" altLang="zh-CN" sz="2400" b="1" kern="0" dirty="0">
                    <a:effectLst/>
                    <a:latin typeface="微软雅黑" panose="020B0503020204020204" pitchFamily="34" charset="-122"/>
                    <a:ea typeface="微软雅黑" panose="020B0503020204020204" pitchFamily="34" charset="-122"/>
                  </a:rPr>
                  <a:t>(7.77)</a:t>
                </a:r>
                <a:r>
                  <a:rPr lang="zh-CN" altLang="zh-CN" sz="2400" b="1" kern="0" dirty="0">
                    <a:effectLst/>
                    <a:latin typeface="微软雅黑" panose="020B0503020204020204" pitchFamily="34" charset="-122"/>
                    <a:ea typeface="微软雅黑" panose="020B0503020204020204" pitchFamily="34" charset="-122"/>
                  </a:rPr>
                  <a:t>和</a:t>
                </a:r>
                <a:r>
                  <a:rPr lang="en-US" altLang="zh-CN" sz="2400" b="1" kern="0" dirty="0">
                    <a:effectLst/>
                    <a:latin typeface="微软雅黑" panose="020B0503020204020204" pitchFamily="34" charset="-122"/>
                    <a:ea typeface="微软雅黑" panose="020B0503020204020204" pitchFamily="34" charset="-122"/>
                  </a:rPr>
                  <a:t>(7.78)</a:t>
                </a:r>
                <a:r>
                  <a:rPr lang="zh-CN" altLang="zh-CN" sz="2400" b="1" kern="0" dirty="0">
                    <a:effectLst/>
                    <a:latin typeface="微软雅黑" panose="020B0503020204020204" pitchFamily="34" charset="-122"/>
                    <a:ea typeface="微软雅黑" panose="020B0503020204020204" pitchFamily="34" charset="-122"/>
                  </a:rPr>
                  <a:t>中所示的控制律和自适应律，可以保证系统的位置和速度的稳态误差均为零。</a:t>
                </a:r>
                <a:endParaRPr lang="zh-CN" altLang="zh-CN" sz="2400" b="1" kern="1000" dirty="0">
                  <a:effectLst/>
                  <a:latin typeface="微软雅黑" panose="020B0503020204020204" pitchFamily="34" charset="-122"/>
                  <a:ea typeface="微软雅黑" panose="020B0503020204020204" pitchFamily="34" charset="-122"/>
                </a:endParaRPr>
              </a:p>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控制目标是跟踪期望的轨迹</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𝒓</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𝒕</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𝜽</m:t>
                        </m:r>
                      </m:e>
                      <m:sub>
                        <m:r>
                          <a:rPr lang="en-US" altLang="zh-CN" sz="2400" b="1" i="1" kern="1000">
                            <a:effectLst/>
                            <a:latin typeface="Cambria Math" panose="02040503050406030204" pitchFamily="18" charset="0"/>
                            <a:ea typeface="宋体" panose="02010600030101010101" pitchFamily="2" charset="-122"/>
                          </a:rPr>
                          <m:t>𝟏</m:t>
                        </m:r>
                        <m:r>
                          <a:rPr lang="en-US" altLang="zh-CN" sz="2400" b="1" i="1" kern="1000">
                            <a:effectLst/>
                            <a:latin typeface="Cambria Math" panose="02040503050406030204" pitchFamily="18" charset="0"/>
                            <a:ea typeface="宋体" panose="02010600030101010101" pitchFamily="2" charset="-122"/>
                          </a:rPr>
                          <m:t>𝒓</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𝒕</m:t>
                    </m:r>
                    <m:r>
                      <a:rPr lang="en-US" altLang="zh-CN" sz="2400" b="1" i="1" kern="1000">
                        <a:effectLst/>
                        <a:latin typeface="Cambria Math" panose="02040503050406030204" pitchFamily="18" charset="0"/>
                        <a:ea typeface="宋体" panose="02010600030101010101" pitchFamily="2" charset="-122"/>
                      </a:rPr>
                      <m:t>)</m:t>
                    </m:r>
                    <m:r>
                      <m:rPr>
                        <m:nor/>
                      </m:rPr>
                      <a:rPr lang="en-US" altLang="zh-CN" sz="2400" b="1" kern="1000">
                        <a:effectLst/>
                        <a:latin typeface="微软雅黑" panose="020B0503020204020204" pitchFamily="34" charset="-122"/>
                        <a:ea typeface="微软雅黑" panose="020B0503020204020204" pitchFamily="34" charset="-122"/>
                      </a:rPr>
                      <m:t>  </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𝜽</m:t>
                        </m:r>
                      </m:e>
                      <m:sub>
                        <m:r>
                          <a:rPr lang="en-US" altLang="zh-CN" sz="2400" b="1" i="1" kern="1000">
                            <a:effectLst/>
                            <a:latin typeface="Cambria Math" panose="02040503050406030204" pitchFamily="18" charset="0"/>
                            <a:ea typeface="宋体" panose="02010600030101010101" pitchFamily="2" charset="-122"/>
                          </a:rPr>
                          <m:t>𝟐</m:t>
                        </m:r>
                        <m:r>
                          <a:rPr lang="en-US" altLang="zh-CN" sz="2400" b="1" i="1" kern="1000">
                            <a:effectLst/>
                            <a:latin typeface="Cambria Math" panose="02040503050406030204" pitchFamily="18" charset="0"/>
                            <a:ea typeface="宋体" panose="02010600030101010101" pitchFamily="2" charset="-122"/>
                          </a:rPr>
                          <m:t>𝒓</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𝒕</m:t>
                    </m:r>
                    <m:r>
                      <a:rPr lang="en-US" altLang="zh-CN" sz="2400" b="1" i="1" kern="1000">
                        <a:effectLst/>
                        <a:latin typeface="Cambria Math" panose="02040503050406030204" pitchFamily="18" charset="0"/>
                        <a:ea typeface="宋体" panose="02010600030101010101" pitchFamily="2" charset="-122"/>
                      </a:rPr>
                      <m:t>)</m:t>
                    </m:r>
                    <m:r>
                      <m:rPr>
                        <m:nor/>
                      </m:rPr>
                      <a:rPr lang="en-US" altLang="zh-CN" sz="2400" b="1" kern="1000">
                        <a:effectLst/>
                        <a:latin typeface="微软雅黑" panose="020B0503020204020204" pitchFamily="34" charset="-122"/>
                        <a:ea typeface="微软雅黑" panose="020B0503020204020204" pitchFamily="34" charset="-122"/>
                      </a:rPr>
                      <m:t>  </m:t>
                    </m:r>
                    <m:r>
                      <a:rPr lang="en-US" altLang="zh-CN" sz="2400" b="1" kern="1000">
                        <a:effectLst/>
                        <a:latin typeface="Cambria Math" panose="02040503050406030204" pitchFamily="18" charset="0"/>
                        <a:ea typeface="宋体" panose="02010600030101010101" pitchFamily="2" charset="-122"/>
                      </a:rPr>
                      <m:t>⋯</m:t>
                    </m:r>
                    <m:r>
                      <m:rPr>
                        <m:nor/>
                      </m:rPr>
                      <a:rPr lang="en-US" altLang="zh-CN" sz="2400" b="1" kern="1000">
                        <a:effectLst/>
                        <a:latin typeface="微软雅黑" panose="020B0503020204020204" pitchFamily="34" charset="-122"/>
                        <a:ea typeface="微软雅黑" panose="020B0503020204020204" pitchFamily="34" charset="-122"/>
                      </a:rPr>
                      <m:t>  </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𝜽</m:t>
                        </m:r>
                      </m:e>
                      <m:sub>
                        <m:r>
                          <a:rPr lang="en-US" altLang="zh-CN" sz="2400" b="1" i="1" kern="1000">
                            <a:effectLst/>
                            <a:latin typeface="Cambria Math" panose="02040503050406030204" pitchFamily="18" charset="0"/>
                            <a:ea typeface="宋体" panose="02010600030101010101" pitchFamily="2" charset="-122"/>
                          </a:rPr>
                          <m:t>𝒏𝒓</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𝒕</m:t>
                    </m:r>
                    <m:r>
                      <a:rPr lang="en-US" altLang="zh-CN" sz="2400" b="1" i="1" kern="1000">
                        <a:effectLst/>
                        <a:latin typeface="Cambria Math" panose="02040503050406030204" pitchFamily="18" charset="0"/>
                        <a:ea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m:t>
                        </m:r>
                      </m:e>
                      <m:sup>
                        <m:r>
                          <a:rPr lang="en-US" altLang="zh-CN" sz="2400" b="1" i="1" kern="1000">
                            <a:effectLst/>
                            <a:latin typeface="Cambria Math" panose="02040503050406030204" pitchFamily="18" charset="0"/>
                            <a:ea typeface="宋体" panose="02010600030101010101" pitchFamily="2" charset="-122"/>
                          </a:rPr>
                          <m:t>𝑻</m:t>
                        </m:r>
                      </m:sup>
                    </m:sSup>
                  </m:oMath>
                </a14:m>
                <a:r>
                  <a:rPr lang="zh-CN" altLang="zh-CN" sz="2400" b="1" kern="1000" dirty="0">
                    <a:effectLst/>
                    <a:latin typeface="微软雅黑" panose="020B0503020204020204" pitchFamily="34" charset="-122"/>
                    <a:ea typeface="微软雅黑" panose="020B0503020204020204" pitchFamily="34" charset="-122"/>
                  </a:rPr>
                  <a:t>，同时确保所有信号都有界且不违反输出约束，即</a:t>
                </a:r>
                <a14:m>
                  <m:oMath xmlns:m="http://schemas.openxmlformats.org/officeDocument/2006/math">
                    <m:d>
                      <m:dPr>
                        <m:begChr m:val="|"/>
                        <m:endChr m:val="|"/>
                        <m:ctrlPr>
                          <a:rPr lang="zh-CN" altLang="zh-CN" sz="2400" b="1" i="1" kern="1000">
                            <a:effectLst/>
                            <a:latin typeface="Cambria Math" panose="02040503050406030204" pitchFamily="18" charset="0"/>
                            <a:ea typeface="Cambria Math" panose="02040503050406030204" pitchFamily="18" charset="0"/>
                          </a:rPr>
                        </m:ctrlPr>
                      </m:dPr>
                      <m:e>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𝟏</m:t>
                            </m:r>
                          </m:sub>
                        </m:sSub>
                      </m:e>
                    </m:d>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𝒌</m:t>
                        </m:r>
                      </m:e>
                      <m:sub>
                        <m:r>
                          <a:rPr lang="en-US" altLang="zh-CN" sz="2400" b="1" i="1" kern="1000">
                            <a:effectLst/>
                            <a:latin typeface="Cambria Math" panose="02040503050406030204" pitchFamily="18" charset="0"/>
                            <a:ea typeface="宋体" panose="02010600030101010101" pitchFamily="2" charset="-122"/>
                          </a:rPr>
                          <m:t>𝒄</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𝒕</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𝟎</m:t>
                    </m:r>
                  </m:oMath>
                </a14:m>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𝒌</m:t>
                        </m:r>
                      </m:e>
                      <m:sub>
                        <m:r>
                          <a:rPr lang="en-US" altLang="zh-CN" sz="2400" b="1" i="1" kern="1000">
                            <a:effectLst/>
                            <a:latin typeface="Cambria Math" panose="02040503050406030204" pitchFamily="18" charset="0"/>
                            <a:ea typeface="宋体" panose="02010600030101010101" pitchFamily="2" charset="-122"/>
                          </a:rPr>
                          <m:t>𝒄</m:t>
                        </m:r>
                      </m:sub>
                    </m:sSub>
                    <m:r>
                      <a:rPr lang="en-US" altLang="zh-CN" sz="2400" b="1" i="1" kern="1000">
                        <a:effectLst/>
                        <a:latin typeface="Cambria Math" panose="02040503050406030204" pitchFamily="18" charset="0"/>
                        <a:ea typeface="宋体" panose="02010600030101010101" pitchFamily="2" charset="-122"/>
                      </a:rPr>
                      <m:t>=[</m:t>
                    </m:r>
                    <m:m>
                      <m:mPr>
                        <m:mcs>
                          <m:mc>
                            <m:mcPr>
                              <m:count m:val="4"/>
                              <m:mcJc m:val="center"/>
                            </m:mcPr>
                          </m:mc>
                        </m:mcs>
                        <m:ctrlPr>
                          <a:rPr lang="zh-CN" altLang="zh-CN" sz="2400" b="1" i="1" kern="1000">
                            <a:effectLst/>
                            <a:latin typeface="Cambria Math" panose="02040503050406030204" pitchFamily="18" charset="0"/>
                            <a:ea typeface="Cambria Math" panose="02040503050406030204" pitchFamily="18" charset="0"/>
                          </a:rPr>
                        </m:ctrlPr>
                      </m:mPr>
                      <m:mr>
                        <m:e>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𝒌</m:t>
                              </m:r>
                            </m:e>
                            <m:sub>
                              <m:r>
                                <a:rPr lang="en-US" altLang="zh-CN" sz="2400" b="1" i="1" kern="1000">
                                  <a:effectLst/>
                                  <a:latin typeface="Cambria Math" panose="02040503050406030204" pitchFamily="18" charset="0"/>
                                  <a:ea typeface="宋体" panose="02010600030101010101" pitchFamily="2" charset="-122"/>
                                </a:rPr>
                                <m:t>𝒄</m:t>
                              </m:r>
                              <m:r>
                                <a:rPr lang="en-US" altLang="zh-CN" sz="2400" b="1" i="1" kern="1000">
                                  <a:effectLst/>
                                  <a:latin typeface="Cambria Math" panose="02040503050406030204" pitchFamily="18" charset="0"/>
                                  <a:ea typeface="宋体" panose="02010600030101010101" pitchFamily="2" charset="-122"/>
                                </a:rPr>
                                <m:t>𝟏</m:t>
                              </m:r>
                            </m:sub>
                          </m:sSub>
                        </m:e>
                        <m:e>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𝒌</m:t>
                              </m:r>
                            </m:e>
                            <m:sub>
                              <m:r>
                                <a:rPr lang="en-US" altLang="zh-CN" sz="2400" b="1" i="1" kern="1000">
                                  <a:effectLst/>
                                  <a:latin typeface="Cambria Math" panose="02040503050406030204" pitchFamily="18" charset="0"/>
                                  <a:ea typeface="宋体" panose="02010600030101010101" pitchFamily="2" charset="-122"/>
                                </a:rPr>
                                <m:t>𝒄</m:t>
                              </m:r>
                              <m:r>
                                <a:rPr lang="en-US" altLang="zh-CN" sz="2400" b="1" i="1" kern="1000">
                                  <a:effectLst/>
                                  <a:latin typeface="Cambria Math" panose="02040503050406030204" pitchFamily="18" charset="0"/>
                                  <a:ea typeface="宋体" panose="02010600030101010101" pitchFamily="2" charset="-122"/>
                                </a:rPr>
                                <m:t>𝟐</m:t>
                              </m:r>
                            </m:sub>
                          </m:sSub>
                        </m:e>
                        <m:e>
                          <m:r>
                            <a:rPr lang="zh-CN" altLang="zh-CN" sz="2400" b="1" i="1" kern="1000">
                              <a:effectLst/>
                              <a:latin typeface="Cambria Math" panose="02040503050406030204" pitchFamily="18" charset="0"/>
                              <a:ea typeface="MS Gothic" panose="020B0609070205080204" pitchFamily="49" charset="-128"/>
                              <a:cs typeface="MS Gothic" panose="020B0609070205080204" pitchFamily="49" charset="-128"/>
                            </a:rPr>
                            <m:t>⋯</m:t>
                          </m:r>
                        </m:e>
                        <m:e>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𝒌</m:t>
                              </m:r>
                            </m:e>
                            <m:sub>
                              <m:r>
                                <a:rPr lang="en-US" altLang="zh-CN" sz="2400" b="1" i="1" kern="1000">
                                  <a:effectLst/>
                                  <a:latin typeface="Cambria Math" panose="02040503050406030204" pitchFamily="18" charset="0"/>
                                  <a:ea typeface="宋体" panose="02010600030101010101" pitchFamily="2" charset="-122"/>
                                </a:rPr>
                                <m:t>𝒄𝒏</m:t>
                              </m:r>
                            </m:sub>
                          </m:sSub>
                        </m:e>
                      </m:mr>
                    </m:m>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m:t>
                        </m:r>
                      </m:e>
                      <m:sup>
                        <m:r>
                          <a:rPr lang="en-US" altLang="zh-CN" sz="2400" b="1" i="1" kern="1000">
                            <a:effectLst/>
                            <a:latin typeface="Cambria Math" panose="02040503050406030204" pitchFamily="18" charset="0"/>
                            <a:ea typeface="宋体" panose="02010600030101010101" pitchFamily="2" charset="-122"/>
                          </a:rPr>
                          <m:t>𝑻</m:t>
                        </m:r>
                      </m:sup>
                    </m:sSup>
                  </m:oMath>
                </a14:m>
                <a:r>
                  <a:rPr lang="zh-CN" altLang="zh-CN" sz="2400" b="1" kern="1000" dirty="0">
                    <a:effectLst/>
                    <a:latin typeface="微软雅黑" panose="020B0503020204020204" pitchFamily="34" charset="-122"/>
                    <a:ea typeface="微软雅黑" panose="020B0503020204020204" pitchFamily="34" charset="-122"/>
                  </a:rPr>
                  <a:t>是一个正的常数向量。</a:t>
                </a:r>
              </a:p>
              <a:p>
                <a:pPr algn="just"/>
                <a:r>
                  <a:rPr lang="zh-CN" altLang="zh-CN" sz="2400" b="1" kern="1000" dirty="0">
                    <a:effectLst/>
                    <a:latin typeface="微软雅黑" panose="020B0503020204020204" pitchFamily="34" charset="-122"/>
                    <a:ea typeface="微软雅黑" panose="020B0503020204020204" pitchFamily="34" charset="-122"/>
                  </a:rPr>
                  <a:t>假设</a:t>
                </a:r>
                <a:r>
                  <a:rPr lang="en-US" altLang="zh-CN" sz="2400" b="1" kern="1000" dirty="0">
                    <a:effectLst/>
                    <a:latin typeface="微软雅黑" panose="020B0503020204020204" pitchFamily="34" charset="-122"/>
                    <a:ea typeface="微软雅黑" panose="020B0503020204020204" pitchFamily="34" charset="-122"/>
                  </a:rPr>
                  <a:t>1</a:t>
                </a:r>
                <a:r>
                  <a:rPr lang="zh-CN" altLang="zh-CN" sz="2400" b="1" kern="1000" dirty="0">
                    <a:effectLst/>
                    <a:latin typeface="微软雅黑" panose="020B0503020204020204" pitchFamily="34" charset="-122"/>
                    <a:ea typeface="微软雅黑" panose="020B0503020204020204" pitchFamily="34" charset="-122"/>
                  </a:rPr>
                  <a:t>：对于任何</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𝒌</m:t>
                        </m:r>
                      </m:e>
                      <m:sub>
                        <m:r>
                          <a:rPr lang="en-US" altLang="zh-CN" sz="2400" b="1" i="1" kern="1000">
                            <a:effectLst/>
                            <a:latin typeface="Cambria Math" panose="02040503050406030204" pitchFamily="18" charset="0"/>
                            <a:ea typeface="宋体" panose="02010600030101010101" pitchFamily="2" charset="-122"/>
                          </a:rPr>
                          <m:t>𝒄</m:t>
                        </m:r>
                      </m:sub>
                    </m:sSub>
                    <m:r>
                      <a:rPr lang="en-US" altLang="zh-CN" sz="2400" b="1" i="1" kern="1000">
                        <a:effectLst/>
                        <a:latin typeface="Cambria Math" panose="02040503050406030204" pitchFamily="18" charset="0"/>
                        <a:ea typeface="宋体" panose="02010600030101010101" pitchFamily="2" charset="-122"/>
                      </a:rPr>
                      <m:t>&gt;</m:t>
                    </m:r>
                    <m:r>
                      <a:rPr lang="en-US" altLang="zh-CN" sz="2400" b="1" i="1" kern="1000">
                        <a:effectLst/>
                        <a:latin typeface="Cambria Math" panose="02040503050406030204" pitchFamily="18" charset="0"/>
                        <a:ea typeface="宋体" panose="02010600030101010101" pitchFamily="2" charset="-122"/>
                      </a:rPr>
                      <m:t>𝟎</m:t>
                    </m:r>
                  </m:oMath>
                </a14:m>
                <a:r>
                  <a:rPr lang="zh-CN" altLang="zh-CN" sz="2400" b="1" kern="1000" dirty="0">
                    <a:effectLst/>
                    <a:latin typeface="微软雅黑" panose="020B0503020204020204" pitchFamily="34" charset="-122"/>
                    <a:ea typeface="微软雅黑" panose="020B0503020204020204" pitchFamily="34" charset="-122"/>
                  </a:rPr>
                  <a:t>，存在正的常数向量</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𝒌</m:t>
                        </m:r>
                      </m:e>
                      <m:sub>
                        <m:r>
                          <a:rPr lang="en-US" altLang="zh-CN" sz="2400" b="1" i="1" kern="1000">
                            <a:effectLst/>
                            <a:latin typeface="Cambria Math" panose="02040503050406030204" pitchFamily="18" charset="0"/>
                            <a:ea typeface="宋体" panose="02010600030101010101" pitchFamily="2" charset="-122"/>
                          </a:rPr>
                          <m:t>𝒅</m:t>
                        </m:r>
                      </m:sub>
                    </m:sSub>
                    <m:r>
                      <a:rPr lang="en-US" altLang="zh-CN" sz="2400" b="1" i="1" kern="1000">
                        <a:effectLst/>
                        <a:latin typeface="Cambria Math" panose="02040503050406030204" pitchFamily="18" charset="0"/>
                        <a:ea typeface="宋体" panose="02010600030101010101" pitchFamily="2" charset="-122"/>
                      </a:rPr>
                      <m:t>=[</m:t>
                    </m:r>
                    <m:m>
                      <m:mPr>
                        <m:mcs>
                          <m:mc>
                            <m:mcPr>
                              <m:count m:val="4"/>
                              <m:mcJc m:val="center"/>
                            </m:mcPr>
                          </m:mc>
                        </m:mcs>
                        <m:ctrlPr>
                          <a:rPr lang="zh-CN" altLang="zh-CN" sz="2400" b="1" i="1" kern="1000">
                            <a:effectLst/>
                            <a:latin typeface="Cambria Math" panose="02040503050406030204" pitchFamily="18" charset="0"/>
                            <a:ea typeface="Cambria Math" panose="02040503050406030204" pitchFamily="18" charset="0"/>
                          </a:rPr>
                        </m:ctrlPr>
                      </m:mPr>
                      <m:mr>
                        <m:e>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𝒌</m:t>
                              </m:r>
                            </m:e>
                            <m:sub>
                              <m:r>
                                <a:rPr lang="en-US" altLang="zh-CN" sz="2400" b="1" i="1" kern="1000">
                                  <a:effectLst/>
                                  <a:latin typeface="Cambria Math" panose="02040503050406030204" pitchFamily="18" charset="0"/>
                                  <a:ea typeface="宋体" panose="02010600030101010101" pitchFamily="2" charset="-122"/>
                                </a:rPr>
                                <m:t>𝒅</m:t>
                              </m:r>
                              <m:r>
                                <a:rPr lang="en-US" altLang="zh-CN" sz="2400" b="1" i="1" kern="1000">
                                  <a:effectLst/>
                                  <a:latin typeface="Cambria Math" panose="02040503050406030204" pitchFamily="18" charset="0"/>
                                  <a:ea typeface="宋体" panose="02010600030101010101" pitchFamily="2" charset="-122"/>
                                </a:rPr>
                                <m:t>𝟏</m:t>
                              </m:r>
                            </m:sub>
                          </m:sSub>
                        </m:e>
                        <m:e>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𝒌</m:t>
                              </m:r>
                            </m:e>
                            <m:sub>
                              <m:r>
                                <a:rPr lang="en-US" altLang="zh-CN" sz="2400" b="1" i="1" kern="1000">
                                  <a:effectLst/>
                                  <a:latin typeface="Cambria Math" panose="02040503050406030204" pitchFamily="18" charset="0"/>
                                  <a:ea typeface="宋体" panose="02010600030101010101" pitchFamily="2" charset="-122"/>
                                </a:rPr>
                                <m:t>𝒅</m:t>
                              </m:r>
                              <m:r>
                                <a:rPr lang="en-US" altLang="zh-CN" sz="2400" b="1" i="1" kern="1000">
                                  <a:effectLst/>
                                  <a:latin typeface="Cambria Math" panose="02040503050406030204" pitchFamily="18" charset="0"/>
                                  <a:ea typeface="宋体" panose="02010600030101010101" pitchFamily="2" charset="-122"/>
                                </a:rPr>
                                <m:t>𝟐</m:t>
                              </m:r>
                            </m:sub>
                          </m:sSub>
                        </m:e>
                        <m:e>
                          <m:r>
                            <a:rPr lang="en-US" altLang="zh-CN" sz="2400" b="1" i="1" kern="1000">
                              <a:effectLst/>
                              <a:latin typeface="Cambria Math" panose="02040503050406030204" pitchFamily="18" charset="0"/>
                              <a:ea typeface="宋体" panose="02010600030101010101" pitchFamily="2" charset="-122"/>
                            </a:rPr>
                            <m:t>⋯</m:t>
                          </m:r>
                        </m:e>
                        <m:e>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𝒌</m:t>
                              </m:r>
                            </m:e>
                            <m:sub>
                              <m:r>
                                <a:rPr lang="en-US" altLang="zh-CN" sz="2400" b="1" i="1" kern="1000">
                                  <a:effectLst/>
                                  <a:latin typeface="Cambria Math" panose="02040503050406030204" pitchFamily="18" charset="0"/>
                                  <a:ea typeface="宋体" panose="02010600030101010101" pitchFamily="2" charset="-122"/>
                                </a:rPr>
                                <m:t>𝒅𝒏</m:t>
                              </m:r>
                            </m:sub>
                          </m:sSub>
                        </m:e>
                      </m:mr>
                    </m:m>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m:t>
                        </m:r>
                      </m:e>
                      <m:sup>
                        <m:r>
                          <a:rPr lang="en-US" altLang="zh-CN" sz="2400" b="1" i="1" kern="1000">
                            <a:effectLst/>
                            <a:latin typeface="Cambria Math" panose="02040503050406030204" pitchFamily="18" charset="0"/>
                            <a:ea typeface="宋体" panose="02010600030101010101" pitchFamily="2" charset="-122"/>
                          </a:rPr>
                          <m:t>𝑻</m:t>
                        </m:r>
                      </m:sup>
                    </m:sSup>
                  </m:oMath>
                </a14:m>
                <a:r>
                  <a:rPr lang="zh-CN" altLang="zh-CN" sz="2400" b="1" kern="1000" dirty="0">
                    <a:effectLst/>
                    <a:latin typeface="微软雅黑" panose="020B0503020204020204" pitchFamily="34" charset="-122"/>
                    <a:ea typeface="微软雅黑" panose="020B0503020204020204" pitchFamily="34" charset="-122"/>
                  </a:rPr>
                  <a:t>，使</a:t>
                </a:r>
                <a14:m>
                  <m:oMath xmlns:m="http://schemas.openxmlformats.org/officeDocument/2006/math">
                    <m:d>
                      <m:dPr>
                        <m:begChr m:val="|"/>
                        <m:endChr m:val="|"/>
                        <m:ctrlPr>
                          <a:rPr lang="zh-CN" altLang="zh-CN" sz="2400" b="1" i="1" kern="1000">
                            <a:effectLst/>
                            <a:latin typeface="Cambria Math" panose="02040503050406030204" pitchFamily="18" charset="0"/>
                            <a:ea typeface="Cambria Math" panose="02040503050406030204" pitchFamily="18" charset="0"/>
                          </a:rPr>
                        </m:ctrlPr>
                      </m:dPr>
                      <m:e>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𝒓</m:t>
                            </m:r>
                          </m:sub>
                        </m:sSub>
                      </m:e>
                    </m:d>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𝒌</m:t>
                        </m:r>
                      </m:e>
                      <m:sub>
                        <m:r>
                          <a:rPr lang="en-US" altLang="zh-CN" sz="2400" b="1" i="1" kern="1000">
                            <a:effectLst/>
                            <a:latin typeface="Cambria Math" panose="02040503050406030204" pitchFamily="18" charset="0"/>
                            <a:ea typeface="宋体" panose="02010600030101010101" pitchFamily="2" charset="-122"/>
                          </a:rPr>
                          <m:t>𝒅</m:t>
                        </m:r>
                      </m:sub>
                    </m:sSub>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𝒌</m:t>
                        </m:r>
                      </m:e>
                      <m:sub>
                        <m:r>
                          <a:rPr lang="en-US" altLang="zh-CN" sz="2400" b="1" i="1" kern="1000">
                            <a:effectLst/>
                            <a:latin typeface="Cambria Math" panose="02040503050406030204" pitchFamily="18" charset="0"/>
                            <a:ea typeface="宋体" panose="02010600030101010101" pitchFamily="2" charset="-122"/>
                          </a:rPr>
                          <m:t>𝒄</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cs typeface="Cambria Math" panose="02040503050406030204" pitchFamily="18" charset="0"/>
                      </a:rPr>
                      <m:t>∀</m:t>
                    </m:r>
                    <m:r>
                      <a:rPr lang="en-US" altLang="zh-CN" sz="2400" b="1" i="1" kern="1000">
                        <a:effectLst/>
                        <a:latin typeface="Cambria Math" panose="02040503050406030204" pitchFamily="18" charset="0"/>
                        <a:ea typeface="宋体" panose="02010600030101010101" pitchFamily="2" charset="-122"/>
                      </a:rPr>
                      <m:t>𝒕</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𝟎</m:t>
                    </m:r>
                  </m:oMath>
                </a14:m>
                <a:r>
                  <a:rPr lang="zh-CN" altLang="zh-CN" sz="2400" b="1" kern="1000" dirty="0">
                    <a:effectLst/>
                    <a:latin typeface="微软雅黑" panose="020B0503020204020204" pitchFamily="34" charset="-122"/>
                    <a:ea typeface="微软雅黑" panose="020B0503020204020204" pitchFamily="34" charset="-122"/>
                  </a:rPr>
                  <a:t>。</a:t>
                </a:r>
              </a:p>
              <a:p>
                <a:pPr algn="just"/>
                <a:r>
                  <a:rPr lang="zh-CN" altLang="zh-CN" sz="2400" b="1" kern="1000" dirty="0">
                    <a:effectLst/>
                    <a:latin typeface="微软雅黑" panose="020B0503020204020204" pitchFamily="34" charset="-122"/>
                    <a:ea typeface="微软雅黑" panose="020B0503020204020204" pitchFamily="34" charset="-122"/>
                  </a:rPr>
                  <a:t>假设</a:t>
                </a:r>
                <a:r>
                  <a:rPr lang="en-US" altLang="zh-CN" sz="2400" b="1" kern="1000" dirty="0">
                    <a:effectLst/>
                    <a:latin typeface="微软雅黑" panose="020B0503020204020204" pitchFamily="34" charset="-122"/>
                    <a:ea typeface="微软雅黑" panose="020B0503020204020204" pitchFamily="34" charset="-122"/>
                  </a:rPr>
                  <a:t>2</a:t>
                </a:r>
                <a:r>
                  <a:rPr lang="zh-CN" altLang="zh-CN" sz="2400" b="1" kern="1000" dirty="0">
                    <a:effectLst/>
                    <a:latin typeface="微软雅黑" panose="020B0503020204020204" pitchFamily="34" charset="-122"/>
                    <a:ea typeface="微软雅黑" panose="020B0503020204020204" pitchFamily="34" charset="-122"/>
                  </a:rPr>
                  <a:t>：对于任何</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𝒌</m:t>
                        </m:r>
                      </m:e>
                      <m:sub>
                        <m:r>
                          <a:rPr lang="en-US" altLang="zh-CN" sz="2400" b="1" i="1" kern="1000">
                            <a:effectLst/>
                            <a:latin typeface="Cambria Math" panose="02040503050406030204" pitchFamily="18" charset="0"/>
                            <a:ea typeface="宋体" panose="02010600030101010101" pitchFamily="2" charset="-122"/>
                          </a:rPr>
                          <m:t>𝒄</m:t>
                        </m:r>
                      </m:sub>
                    </m:sSub>
                    <m:r>
                      <a:rPr lang="en-US" altLang="zh-CN" sz="2400" b="1" i="1" kern="1000">
                        <a:effectLst/>
                        <a:latin typeface="Cambria Math" panose="02040503050406030204" pitchFamily="18" charset="0"/>
                        <a:ea typeface="宋体" panose="02010600030101010101" pitchFamily="2" charset="-122"/>
                      </a:rPr>
                      <m:t>&gt;</m:t>
                    </m:r>
                    <m:r>
                      <a:rPr lang="en-US" altLang="zh-CN" sz="2400" b="1" i="1" kern="1000">
                        <a:effectLst/>
                        <a:latin typeface="Cambria Math" panose="02040503050406030204" pitchFamily="18" charset="0"/>
                        <a:ea typeface="宋体" panose="02010600030101010101" pitchFamily="2" charset="-122"/>
                      </a:rPr>
                      <m:t>𝟎</m:t>
                    </m:r>
                  </m:oMath>
                </a14:m>
                <a:r>
                  <a:rPr lang="zh-CN" altLang="zh-CN" sz="2400" b="1" kern="1000" dirty="0">
                    <a:effectLst/>
                    <a:latin typeface="微软雅黑" panose="020B0503020204020204" pitchFamily="34" charset="-122"/>
                    <a:ea typeface="微软雅黑" panose="020B0503020204020204" pitchFamily="34" charset="-122"/>
                  </a:rPr>
                  <a:t>，存在正的常数向量</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𝒀</m:t>
                            </m:r>
                          </m:e>
                        </m:acc>
                      </m:e>
                      <m:sub>
                        <m:r>
                          <a:rPr lang="en-US" altLang="zh-CN" sz="2400" b="1" i="1" kern="1000">
                            <a:effectLst/>
                            <a:latin typeface="Cambria Math" panose="02040503050406030204" pitchFamily="18" charset="0"/>
                            <a:ea typeface="宋体" panose="02010600030101010101" pitchFamily="2" charset="-122"/>
                          </a:rPr>
                          <m:t>𝟎</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bar>
                          <m:barPr>
                            <m:ctrlPr>
                              <a:rPr lang="zh-CN" altLang="zh-CN" sz="2400" b="1" i="1" kern="1000">
                                <a:effectLst/>
                                <a:latin typeface="Cambria Math" panose="02040503050406030204" pitchFamily="18" charset="0"/>
                                <a:ea typeface="Cambria Math" panose="02040503050406030204" pitchFamily="18" charset="0"/>
                              </a:rPr>
                            </m:ctrlPr>
                          </m:barPr>
                          <m:e>
                            <m:r>
                              <a:rPr lang="en-US" altLang="zh-CN" sz="2400" b="1" i="1" kern="1000">
                                <a:effectLst/>
                                <a:latin typeface="Cambria Math" panose="02040503050406030204" pitchFamily="18" charset="0"/>
                                <a:ea typeface="宋体" panose="02010600030101010101" pitchFamily="2" charset="-122"/>
                              </a:rPr>
                              <m:t>𝒀</m:t>
                            </m:r>
                          </m:e>
                        </m:bar>
                      </m:e>
                      <m:sub>
                        <m:r>
                          <a:rPr lang="en-US" altLang="zh-CN" sz="2400" b="1" i="1" kern="1000">
                            <a:effectLst/>
                            <a:latin typeface="Cambria Math" panose="02040503050406030204" pitchFamily="18" charset="0"/>
                            <a:ea typeface="宋体" panose="02010600030101010101" pitchFamily="2" charset="-122"/>
                          </a:rPr>
                          <m:t>𝟎</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𝑨</m:t>
                        </m:r>
                      </m:e>
                      <m:sub>
                        <m:r>
                          <a:rPr lang="en-US" altLang="zh-CN" sz="2400" b="1" i="1" kern="1000">
                            <a:effectLst/>
                            <a:latin typeface="Cambria Math" panose="02040503050406030204" pitchFamily="18" charset="0"/>
                            <a:ea typeface="宋体" panose="02010600030101010101" pitchFamily="2" charset="-122"/>
                          </a:rPr>
                          <m:t>𝟎</m:t>
                        </m:r>
                      </m:sub>
                    </m:sSub>
                  </m:oMath>
                </a14:m>
                <a:r>
                  <a:rPr lang="zh-CN" altLang="zh-CN" sz="2400" b="1" kern="1000" dirty="0">
                    <a:effectLst/>
                    <a:latin typeface="微软雅黑" panose="020B0503020204020204" pitchFamily="34" charset="-122"/>
                    <a:ea typeface="微软雅黑" panose="020B0503020204020204" pitchFamily="34" charset="-122"/>
                  </a:rPr>
                  <a:t>，满足最大</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𝒀</m:t>
                            </m:r>
                          </m:e>
                        </m:acc>
                      </m:e>
                      <m:sub>
                        <m:r>
                          <a:rPr lang="en-US" altLang="zh-CN" sz="2400" b="1" i="1" kern="1000">
                            <a:effectLst/>
                            <a:latin typeface="Cambria Math" panose="02040503050406030204" pitchFamily="18" charset="0"/>
                            <a:ea typeface="宋体" panose="02010600030101010101" pitchFamily="2" charset="-122"/>
                          </a:rPr>
                          <m:t>𝟎</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bar>
                          <m:barPr>
                            <m:ctrlPr>
                              <a:rPr lang="zh-CN" altLang="zh-CN" sz="2400" b="1" i="1" kern="1000">
                                <a:effectLst/>
                                <a:latin typeface="Cambria Math" panose="02040503050406030204" pitchFamily="18" charset="0"/>
                                <a:ea typeface="Cambria Math" panose="02040503050406030204" pitchFamily="18" charset="0"/>
                              </a:rPr>
                            </m:ctrlPr>
                          </m:barPr>
                          <m:e>
                            <m:r>
                              <a:rPr lang="en-US" altLang="zh-CN" sz="2400" b="1" i="1" kern="1000">
                                <a:effectLst/>
                                <a:latin typeface="Cambria Math" panose="02040503050406030204" pitchFamily="18" charset="0"/>
                                <a:ea typeface="宋体" panose="02010600030101010101" pitchFamily="2" charset="-122"/>
                              </a:rPr>
                              <m:t>𝒀</m:t>
                            </m:r>
                          </m:e>
                        </m:bar>
                      </m:e>
                      <m:sub>
                        <m:r>
                          <a:rPr lang="en-US" altLang="zh-CN" sz="2400" b="1" i="1" kern="1000">
                            <a:effectLst/>
                            <a:latin typeface="Cambria Math" panose="02040503050406030204" pitchFamily="18" charset="0"/>
                            <a:ea typeface="宋体" panose="02010600030101010101" pitchFamily="2" charset="-122"/>
                          </a:rPr>
                          <m:t>𝟎</m:t>
                        </m:r>
                      </m:sub>
                    </m:sSub>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𝑨</m:t>
                        </m:r>
                      </m:e>
                      <m:sub>
                        <m:r>
                          <a:rPr lang="en-US" altLang="zh-CN" sz="2400" b="1" i="1" kern="1000">
                            <a:effectLst/>
                            <a:latin typeface="Cambria Math" panose="02040503050406030204" pitchFamily="18" charset="0"/>
                            <a:ea typeface="宋体" panose="02010600030101010101" pitchFamily="2" charset="-122"/>
                          </a:rPr>
                          <m:t>𝟎</m:t>
                        </m:r>
                      </m:sub>
                    </m:sSub>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𝒌</m:t>
                        </m:r>
                      </m:e>
                      <m:sub>
                        <m:r>
                          <a:rPr lang="en-US" altLang="zh-CN" sz="2400" b="1" i="1" kern="1000">
                            <a:effectLst/>
                            <a:latin typeface="Cambria Math" panose="02040503050406030204" pitchFamily="18" charset="0"/>
                            <a:ea typeface="宋体" panose="02010600030101010101" pitchFamily="2" charset="-122"/>
                          </a:rPr>
                          <m:t>𝒄</m:t>
                        </m:r>
                      </m:sub>
                    </m:sSub>
                  </m:oMath>
                </a14:m>
                <a:r>
                  <a:rPr lang="zh-CN" altLang="zh-CN" sz="2400" b="1" kern="1000" dirty="0">
                    <a:effectLst/>
                    <a:latin typeface="微软雅黑" panose="020B0503020204020204" pitchFamily="34" charset="-122"/>
                    <a:ea typeface="微软雅黑" panose="020B0503020204020204" pitchFamily="34" charset="-122"/>
                  </a:rPr>
                  <a:t>使得期望轨迹</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𝒚</m:t>
                        </m:r>
                      </m:e>
                      <m:sub>
                        <m:r>
                          <a:rPr lang="en-US" altLang="zh-CN" sz="2400" b="1" i="1" kern="1000">
                            <a:effectLst/>
                            <a:latin typeface="Cambria Math" panose="02040503050406030204" pitchFamily="18" charset="0"/>
                            <a:ea typeface="宋体" panose="02010600030101010101" pitchFamily="2" charset="-122"/>
                          </a:rPr>
                          <m:t>𝒅</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𝒕</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满足</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𝒀</m:t>
                            </m:r>
                          </m:e>
                        </m:acc>
                      </m:e>
                      <m:sub>
                        <m:r>
                          <a:rPr lang="en-US" altLang="zh-CN" sz="2400" b="1" i="1" kern="1000">
                            <a:effectLst/>
                            <a:latin typeface="Cambria Math" panose="02040503050406030204" pitchFamily="18" charset="0"/>
                            <a:ea typeface="宋体" panose="02010600030101010101" pitchFamily="2" charset="-122"/>
                          </a:rPr>
                          <m:t>𝟎</m:t>
                        </m:r>
                      </m:sub>
                    </m:sSub>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𝒚</m:t>
                        </m:r>
                      </m:e>
                      <m:sub>
                        <m:r>
                          <a:rPr lang="en-US" altLang="zh-CN" sz="2400" b="1" i="1" kern="1000">
                            <a:effectLst/>
                            <a:latin typeface="Cambria Math" panose="02040503050406030204" pitchFamily="18" charset="0"/>
                            <a:ea typeface="宋体" panose="02010600030101010101" pitchFamily="2" charset="-122"/>
                          </a:rPr>
                          <m:t>𝒅</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𝒕</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bar>
                          <m:barPr>
                            <m:ctrlPr>
                              <a:rPr lang="zh-CN" altLang="zh-CN" sz="2400" b="1" i="1" kern="1000">
                                <a:effectLst/>
                                <a:latin typeface="Cambria Math" panose="02040503050406030204" pitchFamily="18" charset="0"/>
                                <a:ea typeface="Cambria Math" panose="02040503050406030204" pitchFamily="18" charset="0"/>
                              </a:rPr>
                            </m:ctrlPr>
                          </m:barPr>
                          <m:e>
                            <m:r>
                              <a:rPr lang="en-US" altLang="zh-CN" sz="2400" b="1" i="1" kern="1000">
                                <a:effectLst/>
                                <a:latin typeface="Cambria Math" panose="02040503050406030204" pitchFamily="18" charset="0"/>
                                <a:ea typeface="宋体" panose="02010600030101010101" pitchFamily="2" charset="-122"/>
                              </a:rPr>
                              <m:t>𝒀</m:t>
                            </m:r>
                          </m:e>
                        </m:bar>
                      </m:e>
                      <m:sub>
                        <m:r>
                          <a:rPr lang="en-US" altLang="zh-CN" sz="2400" b="1" i="1" kern="1000">
                            <a:effectLst/>
                            <a:latin typeface="Cambria Math" panose="02040503050406030204" pitchFamily="18" charset="0"/>
                            <a:ea typeface="宋体" panose="02010600030101010101" pitchFamily="2" charset="-122"/>
                          </a:rPr>
                          <m:t>𝟎</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cs typeface="Cambria Math" panose="02040503050406030204" pitchFamily="18" charset="0"/>
                      </a:rPr>
                      <m:t>∀</m:t>
                    </m:r>
                    <m:r>
                      <a:rPr lang="en-US" altLang="zh-CN" sz="2400" b="1" i="1" kern="1000">
                        <a:effectLst/>
                        <a:latin typeface="Cambria Math" panose="02040503050406030204" pitchFamily="18" charset="0"/>
                        <a:ea typeface="宋体" panose="02010600030101010101" pitchFamily="2" charset="-122"/>
                      </a:rPr>
                      <m:t>𝒕</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𝟎</m:t>
                    </m:r>
                  </m:oMath>
                </a14:m>
                <a:r>
                  <a:rPr lang="zh-CN" altLang="zh-CN" sz="2400" b="1" kern="1000" dirty="0">
                    <a:effectLst/>
                    <a:latin typeface="微软雅黑" panose="020B0503020204020204" pitchFamily="34" charset="-122"/>
                    <a:ea typeface="微软雅黑" panose="020B0503020204020204" pitchFamily="34" charset="-122"/>
                  </a:rPr>
                  <a:t>。</a:t>
                </a:r>
              </a:p>
              <a:p>
                <a:r>
                  <a:rPr lang="en-US"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为了防止输出形式违反约束，我们采用了障碍李雅普诺夫函数。将一般跟踪误差定义为</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𝒛</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𝒕</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𝒙</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𝒕</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𝒙</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𝒓</m:t>
                        </m:r>
                      </m:sub>
                    </m:s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𝒕</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，并具有</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acc>
                          <m:accPr>
                            <m:chr m:val="̇"/>
                            <m:ctrlPr>
                              <a:rPr lang="zh-CN" altLang="zh-CN" sz="2400" b="1" i="1">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𝒛</m:t>
                            </m:r>
                          </m:e>
                        </m:acc>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𝒕</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𝒙</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𝒕</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effectLst/>
                            <a:latin typeface="Cambria Math" panose="02040503050406030204" pitchFamily="18" charset="0"/>
                            <a:ea typeface="Cambria Math" panose="02040503050406030204" pitchFamily="18" charset="0"/>
                          </a:rPr>
                        </m:ctrlPr>
                      </m:sSubPr>
                      <m:e>
                        <m:acc>
                          <m:accPr>
                            <m:chr m:val="̇"/>
                            <m:ctrlPr>
                              <a:rPr lang="zh-CN" altLang="zh-CN" sz="2400" b="1" i="1">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𝒙</m:t>
                            </m:r>
                          </m:e>
                        </m:acc>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𝒓</m:t>
                        </m:r>
                      </m:sub>
                    </m:s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𝒕</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。引入一个虚拟控制</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𝜶</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𝒕</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，并将第二个误差变量定义为</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𝒛</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𝒕</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𝒙</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𝒕</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𝜶</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𝒕</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400" b="1" dirty="0">
                  <a:latin typeface="微软雅黑" panose="020B0503020204020204" pitchFamily="34" charset="-122"/>
                  <a:ea typeface="微软雅黑" panose="020B0503020204020204" pitchFamily="34" charset="-122"/>
                </a:endParaRPr>
              </a:p>
            </p:txBody>
          </p:sp>
        </mc:Choice>
        <mc:Fallback xmlns="">
          <p:sp>
            <p:nvSpPr>
              <p:cNvPr id="4" name="文本框 3">
                <a:extLst>
                  <a:ext uri="{FF2B5EF4-FFF2-40B4-BE49-F238E27FC236}">
                    <a16:creationId xmlns:a16="http://schemas.microsoft.com/office/drawing/2014/main" id="{DF865B5C-B88F-3FE4-033D-866F1A4098FC}"/>
                  </a:ext>
                </a:extLst>
              </p:cNvPr>
              <p:cNvSpPr txBox="1">
                <a:spLocks noRot="1" noChangeAspect="1" noMove="1" noResize="1" noEditPoints="1" noAdjustHandles="1" noChangeArrowheads="1" noChangeShapeType="1" noTextEdit="1"/>
              </p:cNvSpPr>
              <p:nvPr/>
            </p:nvSpPr>
            <p:spPr>
              <a:xfrm>
                <a:off x="600075" y="1323976"/>
                <a:ext cx="10506075" cy="4660891"/>
              </a:xfrm>
              <a:prstGeom prst="rect">
                <a:avLst/>
              </a:prstGeom>
              <a:blipFill>
                <a:blip r:embed="rId3"/>
                <a:stretch>
                  <a:fillRect l="-870" r="-870" b="-1961"/>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8706D69D-D63F-779D-61B5-5A3EF433141C}"/>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滑模控制</a:t>
            </a:r>
          </a:p>
        </p:txBody>
      </p:sp>
    </p:spTree>
    <p:extLst>
      <p:ext uri="{BB962C8B-B14F-4D97-AF65-F5344CB8AC3E}">
        <p14:creationId xmlns:p14="http://schemas.microsoft.com/office/powerpoint/2010/main" val="388905207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2E38AD0A-9254-25D1-88AC-583A931AA48C}"/>
                  </a:ext>
                </a:extLst>
              </p:cNvPr>
              <p:cNvSpPr txBox="1"/>
              <p:nvPr/>
            </p:nvSpPr>
            <p:spPr>
              <a:xfrm>
                <a:off x="1028699" y="1390649"/>
                <a:ext cx="9296401" cy="3571875"/>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选择</a:t>
                </a:r>
              </a:p>
              <a:p>
                <a:pPr algn="just">
                  <a:spcBef>
                    <a:spcPts val="400"/>
                  </a:spcBef>
                  <a:spcAft>
                    <a:spcPts val="400"/>
                  </a:spcAft>
                  <a:tabLst>
                    <a:tab pos="5364480" algn="r"/>
                  </a:tabLst>
                </a:pPr>
                <a:r>
                  <a:rPr lang="en-US" altLang="zh-CN" sz="2400" b="1" kern="1050" dirty="0">
                    <a:effectLst/>
                    <a:latin typeface="Times New Roman" panose="02020603050405020304" pitchFamily="18" charset="0"/>
                    <a:ea typeface="宋体" panose="02010600030101010101" pitchFamily="2"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𝜶</m:t>
                        </m:r>
                      </m:e>
                      <m:sub>
                        <m:r>
                          <a:rPr lang="en-US" altLang="zh-CN" sz="2000" b="1" i="1" kern="1050" smtClean="0">
                            <a:effectLst/>
                            <a:latin typeface="Cambria Math" panose="02040503050406030204" pitchFamily="18" charset="0"/>
                            <a:ea typeface="宋体" panose="02010600030101010101" pitchFamily="2" charset="-122"/>
                          </a:rPr>
                          <m:t>𝟏</m:t>
                        </m:r>
                      </m:sub>
                    </m:sSub>
                    <m:r>
                      <a:rPr lang="en-US" altLang="zh-CN" sz="2000" b="1" i="1" kern="1050" smtClean="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smtClean="0">
                            <a:effectLst/>
                            <a:latin typeface="Cambria Math" panose="02040503050406030204" pitchFamily="18" charset="0"/>
                            <a:ea typeface="宋体" panose="02010600030101010101" pitchFamily="2" charset="-122"/>
                          </a:rPr>
                          <m:t>𝒌</m:t>
                        </m:r>
                      </m:e>
                      <m:sub>
                        <m:r>
                          <a:rPr lang="en-US" altLang="zh-CN" sz="2000" b="1" i="1" kern="1050" smtClean="0">
                            <a:effectLst/>
                            <a:latin typeface="Cambria Math" panose="02040503050406030204" pitchFamily="18" charset="0"/>
                            <a:ea typeface="宋体" panose="02010600030101010101" pitchFamily="2" charset="-122"/>
                          </a:rPr>
                          <m:t>𝒃</m:t>
                        </m:r>
                      </m:sub>
                      <m:sup>
                        <m:r>
                          <a:rPr lang="en-US" altLang="zh-CN" sz="2000" b="1" i="1" kern="1050" smtClean="0">
                            <a:effectLst/>
                            <a:latin typeface="Cambria Math" panose="02040503050406030204" pitchFamily="18" charset="0"/>
                            <a:ea typeface="宋体" panose="02010600030101010101" pitchFamily="2" charset="-122"/>
                          </a:rPr>
                          <m:t>𝑻</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𝒌</m:t>
                        </m:r>
                      </m:e>
                      <m:sub>
                        <m:r>
                          <a:rPr lang="en-US" altLang="zh-CN" sz="2000" b="1" i="1" kern="1050" smtClean="0">
                            <a:effectLst/>
                            <a:latin typeface="Cambria Math" panose="02040503050406030204" pitchFamily="18" charset="0"/>
                            <a:ea typeface="宋体" panose="02010600030101010101" pitchFamily="2" charset="-122"/>
                          </a:rPr>
                          <m:t>𝒃</m:t>
                        </m:r>
                      </m:sub>
                    </m:sSub>
                    <m:r>
                      <a:rPr lang="en-US" altLang="zh-CN" sz="2000" b="1" i="1" kern="1050" smtClean="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𝟏</m:t>
                        </m:r>
                      </m:sub>
                      <m:sup>
                        <m:r>
                          <a:rPr lang="en-US" altLang="zh-CN" sz="2000" b="1" i="1" kern="1050" smtClean="0">
                            <a:effectLst/>
                            <a:latin typeface="Cambria Math" panose="02040503050406030204" pitchFamily="18" charset="0"/>
                            <a:ea typeface="宋体" panose="02010600030101010101" pitchFamily="2" charset="-122"/>
                          </a:rPr>
                          <m:t>𝑻</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𝟏</m:t>
                        </m:r>
                      </m:sub>
                    </m:sSub>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𝑲</m:t>
                        </m:r>
                      </m:e>
                      <m:sub>
                        <m:r>
                          <a:rPr lang="en-US" altLang="zh-CN" sz="2000" b="1" i="1" kern="1050" smtClean="0">
                            <a:effectLst/>
                            <a:latin typeface="Cambria Math" panose="02040503050406030204" pitchFamily="18" charset="0"/>
                            <a:ea typeface="宋体" panose="02010600030101010101" pitchFamily="2" charset="-122"/>
                          </a:rPr>
                          <m:t>𝟏</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𝟏</m:t>
                        </m:r>
                      </m:sub>
                    </m:sSub>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𝒙</m:t>
                            </m:r>
                          </m:e>
                        </m:acc>
                      </m:e>
                      <m:sub>
                        <m:r>
                          <a:rPr lang="en-US" altLang="zh-CN" sz="2000" b="1" i="1" kern="1050" smtClean="0">
                            <a:effectLst/>
                            <a:latin typeface="Cambria Math" panose="02040503050406030204" pitchFamily="18" charset="0"/>
                            <a:ea typeface="宋体" panose="02010600030101010101" pitchFamily="2" charset="-122"/>
                          </a:rPr>
                          <m:t>𝒓</m:t>
                        </m:r>
                      </m:sub>
                    </m:sSub>
                  </m:oMath>
                </a14:m>
                <a:r>
                  <a:rPr lang="en-US" altLang="zh-CN" sz="2000" b="1" kern="1050" dirty="0">
                    <a:effectLst/>
                    <a:latin typeface="微软雅黑" panose="020B0503020204020204" pitchFamily="34" charset="-122"/>
                    <a:ea typeface="微软雅黑" panose="020B0503020204020204" pitchFamily="34" charset="-122"/>
                  </a:rPr>
                  <a:t>	                       (7.81)</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其中增益矩阵</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𝑲</m:t>
                        </m:r>
                      </m:e>
                      <m:sub>
                        <m:r>
                          <a:rPr lang="en-US" altLang="zh-CN" sz="2400" b="1" i="1" kern="1000" smtClean="0">
                            <a:effectLst/>
                            <a:latin typeface="Cambria Math" panose="02040503050406030204" pitchFamily="18" charset="0"/>
                            <a:ea typeface="宋体" panose="02010600030101010101" pitchFamily="2" charset="-122"/>
                          </a:rPr>
                          <m:t>𝟏</m:t>
                        </m:r>
                      </m:sub>
                    </m:sSub>
                    <m:r>
                      <a:rPr lang="en-US" altLang="zh-CN" sz="2400" b="1" i="1" kern="1000" smtClean="0">
                        <a:effectLst/>
                        <a:latin typeface="Cambria Math" panose="02040503050406030204" pitchFamily="18" charset="0"/>
                        <a:ea typeface="宋体" panose="02010600030101010101" pitchFamily="2" charset="-122"/>
                      </a:rPr>
                      <m:t>=</m:t>
                    </m:r>
                    <m:sSubSup>
                      <m:sSubSupPr>
                        <m:ctrlPr>
                          <a:rPr lang="zh-CN" altLang="zh-CN" sz="2400" b="1" i="1" kern="1000">
                            <a:effectLst/>
                            <a:latin typeface="Cambria Math" panose="02040503050406030204" pitchFamily="18" charset="0"/>
                            <a:ea typeface="Cambria Math" panose="02040503050406030204" pitchFamily="18" charset="0"/>
                          </a:rPr>
                        </m:ctrlPr>
                      </m:sSubSupPr>
                      <m:e>
                        <m:r>
                          <a:rPr lang="en-US" altLang="zh-CN" sz="2400" b="1" i="1" kern="1000" smtClean="0">
                            <a:effectLst/>
                            <a:latin typeface="Cambria Math" panose="02040503050406030204" pitchFamily="18" charset="0"/>
                            <a:ea typeface="宋体" panose="02010600030101010101" pitchFamily="2" charset="-122"/>
                          </a:rPr>
                          <m:t>𝑲</m:t>
                        </m:r>
                      </m:e>
                      <m:sub>
                        <m:r>
                          <a:rPr lang="en-US" altLang="zh-CN" sz="2400" b="1" i="1" kern="1000" smtClean="0">
                            <a:effectLst/>
                            <a:latin typeface="Cambria Math" panose="02040503050406030204" pitchFamily="18" charset="0"/>
                            <a:ea typeface="宋体" panose="02010600030101010101" pitchFamily="2" charset="-122"/>
                          </a:rPr>
                          <m:t>𝟏</m:t>
                        </m:r>
                      </m:sub>
                      <m:sup>
                        <m:r>
                          <a:rPr lang="en-US" altLang="zh-CN" sz="2400" b="1" i="1" kern="1000" smtClean="0">
                            <a:effectLst/>
                            <a:latin typeface="Cambria Math" panose="02040503050406030204" pitchFamily="18" charset="0"/>
                            <a:ea typeface="宋体" panose="02010600030101010101" pitchFamily="2" charset="-122"/>
                          </a:rPr>
                          <m:t>𝑻</m:t>
                        </m:r>
                      </m:sup>
                    </m:sSubSup>
                    <m:r>
                      <a:rPr lang="en-US" altLang="zh-CN" sz="2400" b="1" i="1" kern="1000" smtClean="0">
                        <a:effectLst/>
                        <a:latin typeface="Cambria Math" panose="02040503050406030204" pitchFamily="18" charset="0"/>
                        <a:ea typeface="宋体" panose="02010600030101010101" pitchFamily="2" charset="-122"/>
                      </a:rPr>
                      <m:t>&gt;</m:t>
                    </m:r>
                    <m:r>
                      <a:rPr lang="en-US" altLang="zh-CN" sz="2400" b="1" i="1" kern="1000" smtClean="0">
                        <a:effectLst/>
                        <a:latin typeface="Cambria Math" panose="02040503050406030204" pitchFamily="18" charset="0"/>
                        <a:ea typeface="宋体" panose="02010600030101010101" pitchFamily="2" charset="-122"/>
                      </a:rPr>
                      <m:t>𝟎</m:t>
                    </m:r>
                  </m:oMath>
                </a14:m>
                <a:r>
                  <a:rPr lang="zh-CN" altLang="zh-CN" sz="2400" b="1" kern="1000" dirty="0">
                    <a:effectLst/>
                    <a:latin typeface="微软雅黑" panose="020B0503020204020204" pitchFamily="34" charset="-122"/>
                    <a:ea typeface="微软雅黑" panose="020B0503020204020204" pitchFamily="34" charset="-122"/>
                  </a:rPr>
                  <a:t>，有</a:t>
                </a:r>
              </a:p>
              <a:p>
                <a:pPr algn="just">
                  <a:spcBef>
                    <a:spcPts val="400"/>
                  </a:spcBef>
                  <a:spcAft>
                    <a:spcPts val="4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𝒛</m:t>
                            </m:r>
                          </m:e>
                        </m:acc>
                      </m:e>
                      <m:sub>
                        <m:r>
                          <a:rPr lang="en-US" altLang="zh-CN" sz="2000" b="1" i="1" kern="1050" smtClean="0">
                            <a:effectLst/>
                            <a:latin typeface="Cambria Math" panose="02040503050406030204" pitchFamily="18" charset="0"/>
                            <a:ea typeface="宋体" panose="02010600030101010101" pitchFamily="2" charset="-122"/>
                          </a:rPr>
                          <m:t>𝟏</m:t>
                        </m:r>
                      </m:sub>
                    </m:sSub>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𝟐</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𝜶</m:t>
                        </m:r>
                      </m:e>
                      <m:sub>
                        <m:r>
                          <a:rPr lang="en-US" altLang="zh-CN" sz="2000" b="1" i="1" kern="1050" smtClean="0">
                            <a:effectLst/>
                            <a:latin typeface="Cambria Math" panose="02040503050406030204" pitchFamily="18" charset="0"/>
                            <a:ea typeface="宋体" panose="02010600030101010101" pitchFamily="2" charset="-122"/>
                          </a:rPr>
                          <m:t>𝟏</m:t>
                        </m:r>
                      </m:sub>
                    </m:sSub>
                    <m:r>
                      <a:rPr lang="en-US" altLang="zh-CN" sz="2000" b="1" i="1" kern="1050" smtClean="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smtClean="0">
                            <a:effectLst/>
                            <a:latin typeface="Cambria Math" panose="02040503050406030204" pitchFamily="18" charset="0"/>
                            <a:ea typeface="宋体" panose="02010600030101010101" pitchFamily="2" charset="-122"/>
                          </a:rPr>
                          <m:t>𝒌</m:t>
                        </m:r>
                      </m:e>
                      <m:sub>
                        <m:r>
                          <a:rPr lang="en-US" altLang="zh-CN" sz="2000" b="1" i="1" kern="1050" smtClean="0">
                            <a:effectLst/>
                            <a:latin typeface="Cambria Math" panose="02040503050406030204" pitchFamily="18" charset="0"/>
                            <a:ea typeface="宋体" panose="02010600030101010101" pitchFamily="2" charset="-122"/>
                          </a:rPr>
                          <m:t>𝒃</m:t>
                        </m:r>
                      </m:sub>
                      <m:sup>
                        <m:r>
                          <a:rPr lang="en-US" altLang="zh-CN" sz="2000" b="1" i="1" kern="1050" smtClean="0">
                            <a:effectLst/>
                            <a:latin typeface="Cambria Math" panose="02040503050406030204" pitchFamily="18" charset="0"/>
                            <a:ea typeface="宋体" panose="02010600030101010101" pitchFamily="2" charset="-122"/>
                          </a:rPr>
                          <m:t>𝑻</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𝒌</m:t>
                        </m:r>
                      </m:e>
                      <m:sub>
                        <m:r>
                          <a:rPr lang="en-US" altLang="zh-CN" sz="2000" b="1" i="1" kern="1050" smtClean="0">
                            <a:effectLst/>
                            <a:latin typeface="Cambria Math" panose="02040503050406030204" pitchFamily="18" charset="0"/>
                            <a:ea typeface="宋体" panose="02010600030101010101" pitchFamily="2" charset="-122"/>
                          </a:rPr>
                          <m:t>𝒃</m:t>
                        </m:r>
                      </m:sub>
                    </m:sSub>
                    <m:r>
                      <a:rPr lang="en-US" altLang="zh-CN" sz="2000" b="1" i="1" kern="1050" smtClean="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𝟏</m:t>
                        </m:r>
                      </m:sub>
                      <m:sup>
                        <m:r>
                          <a:rPr lang="en-US" altLang="zh-CN" sz="2000" b="1" i="1" kern="1050" smtClean="0">
                            <a:effectLst/>
                            <a:latin typeface="Cambria Math" panose="02040503050406030204" pitchFamily="18" charset="0"/>
                            <a:ea typeface="宋体" panose="02010600030101010101" pitchFamily="2" charset="-122"/>
                          </a:rPr>
                          <m:t>𝑻</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𝟏</m:t>
                        </m:r>
                      </m:sub>
                    </m:sSub>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𝑲</m:t>
                        </m:r>
                      </m:e>
                      <m:sub>
                        <m:r>
                          <a:rPr lang="en-US" altLang="zh-CN" sz="2000" b="1" i="1" kern="1050" smtClean="0">
                            <a:effectLst/>
                            <a:latin typeface="Cambria Math" panose="02040503050406030204" pitchFamily="18" charset="0"/>
                            <a:ea typeface="宋体" panose="02010600030101010101" pitchFamily="2" charset="-122"/>
                          </a:rPr>
                          <m:t>𝟏</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𝟏</m:t>
                        </m:r>
                      </m:sub>
                    </m:sSub>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𝒙</m:t>
                            </m:r>
                          </m:e>
                        </m:acc>
                      </m:e>
                      <m:sub>
                        <m:r>
                          <a:rPr lang="en-US" altLang="zh-CN" sz="2000" b="1" i="1" kern="1050" smtClean="0">
                            <a:effectLst/>
                            <a:latin typeface="Cambria Math" panose="02040503050406030204" pitchFamily="18" charset="0"/>
                            <a:ea typeface="宋体" panose="02010600030101010101" pitchFamily="2" charset="-122"/>
                          </a:rPr>
                          <m:t>𝒓</m:t>
                        </m:r>
                      </m:sub>
                    </m:sSub>
                  </m:oMath>
                </a14:m>
                <a:r>
                  <a:rPr lang="en-US" altLang="zh-CN" sz="2000" b="1" kern="1050" dirty="0">
                    <a:effectLst/>
                    <a:latin typeface="微软雅黑" panose="020B0503020204020204" pitchFamily="34" charset="-122"/>
                    <a:ea typeface="微软雅黑" panose="020B0503020204020204" pitchFamily="34" charset="-122"/>
                  </a:rPr>
                  <a:t>	                        (7.82)</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对</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𝒛</m:t>
                        </m:r>
                      </m:e>
                      <m:sub>
                        <m:r>
                          <a:rPr lang="en-US" altLang="zh-CN" sz="2400" b="1" i="1" kern="1000" smtClean="0">
                            <a:effectLst/>
                            <a:latin typeface="Cambria Math" panose="02040503050406030204" pitchFamily="18" charset="0"/>
                            <a:ea typeface="宋体" panose="02010600030101010101" pitchFamily="2" charset="-122"/>
                          </a:rPr>
                          <m:t>𝟐</m:t>
                        </m:r>
                      </m:sub>
                    </m:sSub>
                  </m:oMath>
                </a14:m>
                <a:r>
                  <a:rPr lang="zh-CN" altLang="zh-CN" sz="2400" b="1" kern="1000" dirty="0">
                    <a:effectLst/>
                    <a:latin typeface="微软雅黑" panose="020B0503020204020204" pitchFamily="34" charset="-122"/>
                    <a:ea typeface="微软雅黑" panose="020B0503020204020204" pitchFamily="34" charset="-122"/>
                  </a:rPr>
                  <a:t>关于时间的微分，有</a:t>
                </a:r>
              </a:p>
              <a:p>
                <a:pPr algn="just">
                  <a:spcBef>
                    <a:spcPts val="400"/>
                  </a:spcBef>
                  <a:spcAft>
                    <a:spcPts val="400"/>
                  </a:spcAft>
                  <a:tabLst>
                    <a:tab pos="5364480" algn="r"/>
                  </a:tabLst>
                </a:pPr>
                <a:r>
                  <a:rPr lang="en-US" altLang="zh-CN" sz="2000" b="1" kern="1050" dirty="0">
                    <a:effectLst/>
                    <a:latin typeface="Times New Roman" panose="02020603050405020304" pitchFamily="18" charset="0"/>
                    <a:ea typeface="宋体" panose="02010600030101010101" pitchFamily="2"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𝒛</m:t>
                            </m:r>
                          </m:e>
                        </m:acc>
                      </m:e>
                      <m:sub>
                        <m:r>
                          <a:rPr lang="en-US" altLang="zh-CN" sz="2000" b="1" i="1" kern="1050" smtClean="0">
                            <a:effectLst/>
                            <a:latin typeface="Cambria Math" panose="02040503050406030204" pitchFamily="18" charset="0"/>
                            <a:ea typeface="宋体" panose="02010600030101010101" pitchFamily="2" charset="-122"/>
                          </a:rPr>
                          <m:t>𝟐</m:t>
                        </m:r>
                      </m:sub>
                    </m:sSub>
                    <m:r>
                      <a:rPr lang="en-US" altLang="zh-CN" sz="2000" b="1" i="1" kern="1050" smtClean="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smtClean="0">
                            <a:effectLst/>
                            <a:latin typeface="Cambria Math" panose="02040503050406030204" pitchFamily="18" charset="0"/>
                            <a:ea typeface="宋体" panose="02010600030101010101" pitchFamily="2" charset="-122"/>
                          </a:rPr>
                          <m:t>𝑴</m:t>
                        </m:r>
                      </m:e>
                      <m:sup>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𝟏</m:t>
                        </m:r>
                      </m:sup>
                    </m:sSup>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𝒙</m:t>
                        </m:r>
                      </m:e>
                      <m:sub>
                        <m:r>
                          <a:rPr lang="en-US" altLang="zh-CN" sz="2000" b="1" i="1" kern="1050" smtClean="0">
                            <a:effectLst/>
                            <a:latin typeface="Cambria Math" panose="02040503050406030204" pitchFamily="18" charset="0"/>
                            <a:ea typeface="宋体" panose="02010600030101010101" pitchFamily="2" charset="-122"/>
                          </a:rPr>
                          <m:t>𝟏</m:t>
                        </m:r>
                      </m:sub>
                    </m:sSub>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𝝉</m:t>
                    </m:r>
                    <m:r>
                      <a:rPr lang="en-US" altLang="zh-CN" sz="2000" b="1" i="1" kern="1050" smtClean="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smtClean="0">
                            <a:effectLst/>
                            <a:latin typeface="Cambria Math" panose="02040503050406030204" pitchFamily="18" charset="0"/>
                            <a:ea typeface="宋体" panose="02010600030101010101" pitchFamily="2" charset="-122"/>
                          </a:rPr>
                          <m:t>𝑱</m:t>
                        </m:r>
                      </m:e>
                      <m:sup>
                        <m:r>
                          <a:rPr lang="en-US" altLang="zh-CN" sz="2000" b="1" i="1" kern="1050" smtClean="0">
                            <a:effectLst/>
                            <a:latin typeface="Cambria Math" panose="02040503050406030204" pitchFamily="18" charset="0"/>
                            <a:ea typeface="宋体" panose="02010600030101010101" pitchFamily="2" charset="-122"/>
                          </a:rPr>
                          <m:t>𝑻</m:t>
                        </m:r>
                      </m:sup>
                    </m:sSup>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𝒙</m:t>
                        </m:r>
                      </m:e>
                      <m:sub>
                        <m:r>
                          <a:rPr lang="en-US" altLang="zh-CN" sz="2000" b="1" i="1" kern="1050" smtClean="0">
                            <a:effectLst/>
                            <a:latin typeface="Cambria Math" panose="02040503050406030204" pitchFamily="18" charset="0"/>
                            <a:ea typeface="宋体" panose="02010600030101010101" pitchFamily="2" charset="-122"/>
                          </a:rPr>
                          <m:t>𝟏</m:t>
                        </m:r>
                      </m:sub>
                    </m:sSub>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𝒇</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𝑪</m:t>
                    </m:r>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𝒙</m:t>
                        </m:r>
                      </m:e>
                      <m:sub>
                        <m:r>
                          <a:rPr lang="en-US" altLang="zh-CN" sz="2000" b="1" i="1" kern="1050" smtClean="0">
                            <a:effectLst/>
                            <a:latin typeface="Cambria Math" panose="02040503050406030204" pitchFamily="18" charset="0"/>
                            <a:ea typeface="宋体" panose="02010600030101010101" pitchFamily="2" charset="-122"/>
                          </a:rPr>
                          <m:t>𝟏</m:t>
                        </m:r>
                      </m:sub>
                    </m:sSub>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𝒙</m:t>
                        </m:r>
                      </m:e>
                      <m:sub>
                        <m:r>
                          <a:rPr lang="en-US" altLang="zh-CN" sz="2000" b="1" i="1" kern="1050" smtClean="0">
                            <a:effectLst/>
                            <a:latin typeface="Cambria Math" panose="02040503050406030204" pitchFamily="18" charset="0"/>
                            <a:ea typeface="宋体" panose="02010600030101010101" pitchFamily="2" charset="-122"/>
                          </a:rPr>
                          <m:t>𝟐</m:t>
                        </m:r>
                      </m:sub>
                    </m:sSub>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𝒙</m:t>
                        </m:r>
                      </m:e>
                      <m:sub>
                        <m:r>
                          <a:rPr lang="en-US" altLang="zh-CN" sz="2000" b="1" i="1" kern="1050" smtClean="0">
                            <a:effectLst/>
                            <a:latin typeface="Cambria Math" panose="02040503050406030204" pitchFamily="18" charset="0"/>
                            <a:ea typeface="宋体" panose="02010600030101010101" pitchFamily="2" charset="-122"/>
                          </a:rPr>
                          <m:t>𝟐</m:t>
                        </m:r>
                      </m:sub>
                    </m:sSub>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𝑮</m:t>
                    </m:r>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𝒙</m:t>
                        </m:r>
                      </m:e>
                      <m:sub>
                        <m:r>
                          <a:rPr lang="en-US" altLang="zh-CN" sz="2000" b="1" i="1" kern="1050" smtClean="0">
                            <a:effectLst/>
                            <a:latin typeface="Cambria Math" panose="02040503050406030204" pitchFamily="18" charset="0"/>
                            <a:ea typeface="宋体" panose="02010600030101010101" pitchFamily="2" charset="-122"/>
                          </a:rPr>
                          <m:t>𝟏</m:t>
                        </m:r>
                      </m:sub>
                    </m:sSub>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𝜶</m:t>
                            </m:r>
                          </m:e>
                        </m:acc>
                      </m:e>
                      <m:sub>
                        <m:r>
                          <a:rPr lang="en-US" altLang="zh-CN" sz="2000" b="1" i="1" kern="1050" smtClean="0">
                            <a:effectLst/>
                            <a:latin typeface="Cambria Math" panose="02040503050406030204" pitchFamily="18" charset="0"/>
                            <a:ea typeface="宋体" panose="02010600030101010101" pitchFamily="2" charset="-122"/>
                          </a:rPr>
                          <m:t>𝟏</m:t>
                        </m:r>
                      </m:sub>
                    </m:sSub>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𝒕</m:t>
                    </m:r>
                    <m:r>
                      <a:rPr lang="en-US" altLang="zh-CN" sz="2000" b="1" i="1" kern="1050" smtClean="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(7.83)</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考虑一个障碍李亚普诺夫候选函数为</a:t>
                </a:r>
              </a:p>
              <a:p>
                <a:pPr algn="just">
                  <a:spcBef>
                    <a:spcPts val="400"/>
                  </a:spcBef>
                  <a:spcAft>
                    <a:spcPts val="400"/>
                  </a:spcAft>
                  <a:tabLst>
                    <a:tab pos="5364480" algn="r"/>
                  </a:tabLst>
                </a:pPr>
                <a:r>
                  <a:rPr lang="en-US" altLang="zh-CN" sz="2400" b="1" kern="1050" dirty="0">
                    <a:effectLst/>
                    <a:latin typeface="Times New Roman" panose="02020603050405020304" pitchFamily="18" charset="0"/>
                    <a:ea typeface="宋体" panose="02010600030101010101" pitchFamily="2"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𝑽</m:t>
                            </m:r>
                          </m:e>
                        </m:acc>
                      </m:e>
                      <m:sub>
                        <m:r>
                          <a:rPr lang="en-US" altLang="zh-CN" sz="2000" b="1" i="1" kern="1050" smtClean="0">
                            <a:effectLst/>
                            <a:latin typeface="Cambria Math" panose="02040503050406030204" pitchFamily="18" charset="0"/>
                            <a:ea typeface="宋体" panose="02010600030101010101" pitchFamily="2" charset="-122"/>
                          </a:rPr>
                          <m:t>𝟏</m:t>
                        </m:r>
                      </m:sub>
                    </m:sSub>
                    <m:r>
                      <a:rPr lang="en-US" altLang="zh-CN" sz="2000" b="1" i="1" kern="1050" smtClean="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smtClean="0">
                            <a:effectLst/>
                            <a:latin typeface="Cambria Math" panose="02040503050406030204" pitchFamily="18" charset="0"/>
                            <a:ea typeface="宋体" panose="02010600030101010101" pitchFamily="2" charset="-122"/>
                          </a:rPr>
                          <m:t>𝟏</m:t>
                        </m:r>
                      </m:num>
                      <m:den>
                        <m:r>
                          <a:rPr lang="en-US" altLang="zh-CN" sz="2000" b="1" i="1" kern="1050" smtClean="0">
                            <a:effectLst/>
                            <a:latin typeface="Cambria Math" panose="02040503050406030204" pitchFamily="18" charset="0"/>
                            <a:ea typeface="宋体" panose="02010600030101010101" pitchFamily="2" charset="-122"/>
                          </a:rPr>
                          <m:t>𝟐</m:t>
                        </m:r>
                      </m:den>
                    </m:f>
                    <m:func>
                      <m:funcPr>
                        <m:ctrlPr>
                          <a:rPr lang="zh-CN" altLang="zh-CN" sz="2000" b="1" i="1" kern="1050">
                            <a:effectLst/>
                            <a:latin typeface="Cambria Math" panose="02040503050406030204" pitchFamily="18" charset="0"/>
                            <a:ea typeface="Cambria Math" panose="02040503050406030204" pitchFamily="18" charset="0"/>
                          </a:rPr>
                        </m:ctrlPr>
                      </m:funcPr>
                      <m:fName>
                        <m:r>
                          <a:rPr lang="en-US" altLang="zh-CN" sz="2000" b="1" i="1" kern="1050" smtClean="0">
                            <a:effectLst/>
                            <a:latin typeface="Cambria Math" panose="02040503050406030204" pitchFamily="18" charset="0"/>
                            <a:ea typeface="宋体" panose="02010600030101010101" pitchFamily="2" charset="-122"/>
                          </a:rPr>
                          <m:t>𝒍𝒐𝒈</m:t>
                        </m:r>
                      </m:fName>
                      <m:e>
                        <m:f>
                          <m:fPr>
                            <m:ctrlPr>
                              <a:rPr lang="zh-CN" altLang="zh-CN" sz="2000" b="1" i="1" kern="1050">
                                <a:effectLst/>
                                <a:latin typeface="Cambria Math" panose="02040503050406030204" pitchFamily="18" charset="0"/>
                                <a:ea typeface="Cambria Math" panose="02040503050406030204" pitchFamily="18" charset="0"/>
                              </a:rPr>
                            </m:ctrlPr>
                          </m:fPr>
                          <m:num>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smtClean="0">
                                    <a:effectLst/>
                                    <a:latin typeface="Cambria Math" panose="02040503050406030204" pitchFamily="18" charset="0"/>
                                    <a:ea typeface="宋体" panose="02010600030101010101" pitchFamily="2" charset="-122"/>
                                  </a:rPr>
                                  <m:t>𝒌</m:t>
                                </m:r>
                              </m:e>
                              <m:sub>
                                <m:r>
                                  <a:rPr lang="en-US" altLang="zh-CN" sz="2000" b="1" i="1" kern="1050" smtClean="0">
                                    <a:effectLst/>
                                    <a:latin typeface="Cambria Math" panose="02040503050406030204" pitchFamily="18" charset="0"/>
                                    <a:ea typeface="宋体" panose="02010600030101010101" pitchFamily="2" charset="-122"/>
                                  </a:rPr>
                                  <m:t>𝒃</m:t>
                                </m:r>
                              </m:sub>
                              <m:sup>
                                <m:r>
                                  <a:rPr lang="en-US" altLang="zh-CN" sz="2000" b="1" i="1" kern="1050" smtClean="0">
                                    <a:effectLst/>
                                    <a:latin typeface="Cambria Math" panose="02040503050406030204" pitchFamily="18" charset="0"/>
                                    <a:ea typeface="宋体" panose="02010600030101010101" pitchFamily="2" charset="-122"/>
                                  </a:rPr>
                                  <m:t>𝑻</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𝒌</m:t>
                                </m:r>
                              </m:e>
                              <m:sub>
                                <m:r>
                                  <a:rPr lang="en-US" altLang="zh-CN" sz="2000" b="1" i="1" kern="1050" smtClean="0">
                                    <a:effectLst/>
                                    <a:latin typeface="Cambria Math" panose="02040503050406030204" pitchFamily="18" charset="0"/>
                                    <a:ea typeface="宋体" panose="02010600030101010101" pitchFamily="2" charset="-122"/>
                                  </a:rPr>
                                  <m:t>𝒃</m:t>
                                </m:r>
                              </m:sub>
                            </m:sSub>
                          </m:num>
                          <m:den>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smtClean="0">
                                    <a:effectLst/>
                                    <a:latin typeface="Cambria Math" panose="02040503050406030204" pitchFamily="18" charset="0"/>
                                    <a:ea typeface="宋体" panose="02010600030101010101" pitchFamily="2" charset="-122"/>
                                  </a:rPr>
                                  <m:t>𝒌</m:t>
                                </m:r>
                              </m:e>
                              <m:sub>
                                <m:r>
                                  <a:rPr lang="en-US" altLang="zh-CN" sz="2000" b="1" i="1" kern="1050" smtClean="0">
                                    <a:effectLst/>
                                    <a:latin typeface="Cambria Math" panose="02040503050406030204" pitchFamily="18" charset="0"/>
                                    <a:ea typeface="宋体" panose="02010600030101010101" pitchFamily="2" charset="-122"/>
                                  </a:rPr>
                                  <m:t>𝒃</m:t>
                                </m:r>
                              </m:sub>
                              <m:sup>
                                <m:r>
                                  <a:rPr lang="en-US" altLang="zh-CN" sz="2000" b="1" i="1" kern="1050" smtClean="0">
                                    <a:effectLst/>
                                    <a:latin typeface="Cambria Math" panose="02040503050406030204" pitchFamily="18" charset="0"/>
                                    <a:ea typeface="宋体" panose="02010600030101010101" pitchFamily="2" charset="-122"/>
                                  </a:rPr>
                                  <m:t>𝑻</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𝒌</m:t>
                                </m:r>
                              </m:e>
                              <m:sub>
                                <m:r>
                                  <a:rPr lang="en-US" altLang="zh-CN" sz="2000" b="1" i="1" kern="1050" smtClean="0">
                                    <a:effectLst/>
                                    <a:latin typeface="Cambria Math" panose="02040503050406030204" pitchFamily="18" charset="0"/>
                                    <a:ea typeface="宋体" panose="02010600030101010101" pitchFamily="2" charset="-122"/>
                                  </a:rPr>
                                  <m:t>𝒃</m:t>
                                </m:r>
                              </m:sub>
                            </m:sSub>
                            <m:r>
                              <a:rPr lang="en-US" altLang="zh-CN" sz="2000" b="1" i="1" kern="1050" smtClean="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𝟏</m:t>
                                </m:r>
                              </m:sub>
                              <m:sup>
                                <m:r>
                                  <a:rPr lang="en-US" altLang="zh-CN" sz="2000" b="1" i="1" kern="1050" smtClean="0">
                                    <a:effectLst/>
                                    <a:latin typeface="Cambria Math" panose="02040503050406030204" pitchFamily="18" charset="0"/>
                                    <a:ea typeface="宋体" panose="02010600030101010101" pitchFamily="2" charset="-122"/>
                                  </a:rPr>
                                  <m:t>𝑻</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𝟏</m:t>
                                </m:r>
                              </m:sub>
                            </m:sSub>
                          </m:den>
                        </m:f>
                      </m:e>
                    </m:func>
                  </m:oMath>
                </a14:m>
                <a:r>
                  <a:rPr lang="en-US" altLang="zh-CN" sz="2000" b="1" kern="1050" dirty="0">
                    <a:effectLst/>
                    <a:latin typeface="微软雅黑" panose="020B0503020204020204" pitchFamily="34" charset="-122"/>
                    <a:ea typeface="微软雅黑" panose="020B0503020204020204" pitchFamily="34" charset="-122"/>
                  </a:rPr>
                  <a:t>	                        (7.84)</a:t>
                </a:r>
                <a:endParaRPr lang="zh-CN" altLang="zh-CN" sz="2400" b="1" kern="1050" dirty="0">
                  <a:effectLst/>
                  <a:latin typeface="微软雅黑" panose="020B0503020204020204" pitchFamily="34" charset="-122"/>
                  <a:ea typeface="微软雅黑" panose="020B0503020204020204" pitchFamily="34" charset="-122"/>
                </a:endParaRPr>
              </a:p>
            </p:txBody>
          </p:sp>
        </mc:Choice>
        <mc:Fallback xmlns="">
          <p:sp>
            <p:nvSpPr>
              <p:cNvPr id="4" name="文本框 3">
                <a:extLst>
                  <a:ext uri="{FF2B5EF4-FFF2-40B4-BE49-F238E27FC236}">
                    <a16:creationId xmlns:a16="http://schemas.microsoft.com/office/drawing/2014/main" id="{2E38AD0A-9254-25D1-88AC-583A931AA48C}"/>
                  </a:ext>
                </a:extLst>
              </p:cNvPr>
              <p:cNvSpPr txBox="1">
                <a:spLocks noRot="1" noChangeAspect="1" noMove="1" noResize="1" noEditPoints="1" noAdjustHandles="1" noChangeArrowheads="1" noChangeShapeType="1" noTextEdit="1"/>
              </p:cNvSpPr>
              <p:nvPr/>
            </p:nvSpPr>
            <p:spPr>
              <a:xfrm>
                <a:off x="1028699" y="1390649"/>
                <a:ext cx="9296401" cy="3571875"/>
              </a:xfrm>
              <a:prstGeom prst="rect">
                <a:avLst/>
              </a:prstGeom>
              <a:blipFill>
                <a:blip r:embed="rId3"/>
                <a:stretch>
                  <a:fillRect l="-1049" t="-136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C04AA86-6276-4EBD-18F0-A0E48EBE22D4}"/>
                  </a:ext>
                </a:extLst>
              </p:cNvPr>
              <p:cNvSpPr txBox="1"/>
              <p:nvPr/>
            </p:nvSpPr>
            <p:spPr>
              <a:xfrm>
                <a:off x="1028699" y="5239603"/>
                <a:ext cx="9777412" cy="461665"/>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func>
                      <m:funcPr>
                        <m:ctrlPr>
                          <a:rPr lang="zh-CN" altLang="zh-CN" sz="2400" b="1" i="1" kern="1000">
                            <a:effectLst/>
                            <a:latin typeface="Cambria Math" panose="02040503050406030204" pitchFamily="18" charset="0"/>
                            <a:ea typeface="Cambria Math" panose="02040503050406030204" pitchFamily="18" charset="0"/>
                          </a:rPr>
                        </m:ctrlPr>
                      </m:funcPr>
                      <m:fName>
                        <m:r>
                          <a:rPr lang="en-US" altLang="zh-CN" sz="2400" b="1" i="1" kern="1000">
                            <a:effectLst/>
                            <a:latin typeface="Cambria Math" panose="02040503050406030204" pitchFamily="18" charset="0"/>
                            <a:ea typeface="宋体" panose="02010600030101010101" pitchFamily="2" charset="-122"/>
                          </a:rPr>
                          <m:t>𝒍𝒐𝒈</m:t>
                        </m:r>
                      </m:fName>
                      <m:e>
                        <m:r>
                          <a:rPr lang="en-US" altLang="zh-CN" sz="2400" b="1" i="1" kern="1000">
                            <a:effectLst/>
                            <a:latin typeface="Cambria Math" panose="02040503050406030204" pitchFamily="18" charset="0"/>
                            <a:ea typeface="宋体" panose="02010600030101010101" pitchFamily="2" charset="-122"/>
                          </a:rPr>
                          <m:t>(</m:t>
                        </m:r>
                      </m:e>
                    </m:func>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表示</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的自然对数，</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𝒌</m:t>
                        </m:r>
                      </m:e>
                      <m:sub>
                        <m:r>
                          <a:rPr lang="en-US" altLang="zh-CN" sz="2400" b="1" i="1" kern="1000">
                            <a:effectLst/>
                            <a:latin typeface="Cambria Math" panose="02040503050406030204" pitchFamily="18" charset="0"/>
                            <a:ea typeface="宋体" panose="02010600030101010101" pitchFamily="2" charset="-122"/>
                          </a:rPr>
                          <m:t>𝒃</m:t>
                        </m:r>
                      </m:sub>
                    </m:sSub>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𝒌</m:t>
                        </m:r>
                      </m:e>
                      <m:sub>
                        <m:r>
                          <a:rPr lang="en-US" altLang="zh-CN" sz="2400" b="1" i="1" kern="1000">
                            <a:effectLst/>
                            <a:latin typeface="Cambria Math" panose="02040503050406030204" pitchFamily="18" charset="0"/>
                            <a:ea typeface="宋体" panose="02010600030101010101" pitchFamily="2" charset="-122"/>
                          </a:rPr>
                          <m:t>𝒄</m:t>
                        </m:r>
                      </m:sub>
                    </m:sSub>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𝑨</m:t>
                        </m:r>
                      </m:e>
                      <m:sub>
                        <m:r>
                          <a:rPr lang="en-US" altLang="zh-CN" sz="2400" b="1" i="1" kern="1000">
                            <a:effectLst/>
                            <a:latin typeface="Cambria Math" panose="02040503050406030204" pitchFamily="18" charset="0"/>
                            <a:ea typeface="宋体" panose="02010600030101010101" pitchFamily="2" charset="-122"/>
                          </a:rPr>
                          <m:t>𝟎</m:t>
                        </m:r>
                      </m:sub>
                    </m:sSub>
                  </m:oMath>
                </a14:m>
                <a:r>
                  <a:rPr lang="zh-CN" altLang="zh-CN" sz="2400" b="1" kern="1000" dirty="0">
                    <a:effectLst/>
                    <a:latin typeface="微软雅黑" panose="020B0503020204020204" pitchFamily="34" charset="-122"/>
                    <a:ea typeface="微软雅黑" panose="020B0503020204020204" pitchFamily="34" charset="-122"/>
                  </a:rPr>
                  <a:t>是</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𝒛</m:t>
                        </m:r>
                      </m:e>
                      <m:sub>
                        <m:r>
                          <a:rPr lang="en-US" altLang="zh-CN" sz="2400" b="1" i="1" kern="1000">
                            <a:effectLst/>
                            <a:latin typeface="Cambria Math" panose="02040503050406030204" pitchFamily="18" charset="0"/>
                            <a:ea typeface="宋体" panose="02010600030101010101" pitchFamily="2" charset="-122"/>
                          </a:rPr>
                          <m:t>𝟏</m:t>
                        </m:r>
                      </m:sub>
                    </m:sSub>
                  </m:oMath>
                </a14:m>
                <a:r>
                  <a:rPr lang="zh-CN" altLang="zh-CN" sz="2400" b="1" kern="1000" dirty="0">
                    <a:effectLst/>
                    <a:latin typeface="微软雅黑" panose="020B0503020204020204" pitchFamily="34" charset="-122"/>
                    <a:ea typeface="微软雅黑" panose="020B0503020204020204" pitchFamily="34" charset="-122"/>
                  </a:rPr>
                  <a:t>的约束，即</a:t>
                </a:r>
                <a14:m>
                  <m:oMath xmlns:m="http://schemas.openxmlformats.org/officeDocument/2006/math">
                    <m:d>
                      <m:dPr>
                        <m:begChr m:val="|"/>
                        <m:endChr m:val="|"/>
                        <m:ctrlPr>
                          <a:rPr lang="zh-CN" altLang="zh-CN" sz="2400" b="1" i="1" kern="1000">
                            <a:effectLst/>
                            <a:latin typeface="Cambria Math" panose="02040503050406030204" pitchFamily="18" charset="0"/>
                            <a:ea typeface="Cambria Math" panose="02040503050406030204" pitchFamily="18" charset="0"/>
                          </a:rPr>
                        </m:ctrlPr>
                      </m:dPr>
                      <m:e>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𝒛</m:t>
                            </m:r>
                          </m:e>
                          <m:sub>
                            <m:r>
                              <a:rPr lang="en-US" altLang="zh-CN" sz="2400" b="1" i="1" kern="1000">
                                <a:effectLst/>
                                <a:latin typeface="Cambria Math" panose="02040503050406030204" pitchFamily="18" charset="0"/>
                                <a:ea typeface="宋体" panose="02010600030101010101" pitchFamily="2" charset="-122"/>
                              </a:rPr>
                              <m:t>𝟏</m:t>
                            </m:r>
                          </m:sub>
                        </m:sSub>
                      </m:e>
                    </m:d>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𝒌</m:t>
                        </m:r>
                      </m:e>
                      <m:sub>
                        <m:r>
                          <a:rPr lang="en-US" altLang="zh-CN" sz="2400" b="1" i="1" kern="1000">
                            <a:effectLst/>
                            <a:latin typeface="Cambria Math" panose="02040503050406030204" pitchFamily="18" charset="0"/>
                            <a:ea typeface="宋体" panose="02010600030101010101" pitchFamily="2" charset="-122"/>
                          </a:rPr>
                          <m:t>𝒃</m:t>
                        </m:r>
                      </m:sub>
                    </m:sSub>
                  </m:oMath>
                </a14:m>
                <a:r>
                  <a:rPr lang="zh-CN" altLang="zh-CN" sz="2400" b="1" kern="1000" dirty="0">
                    <a:effectLst/>
                    <a:latin typeface="微软雅黑" panose="020B0503020204020204" pitchFamily="34" charset="-122"/>
                    <a:ea typeface="微软雅黑" panose="020B0503020204020204" pitchFamily="34" charset="-122"/>
                  </a:rPr>
                  <a:t>。</a:t>
                </a:r>
              </a:p>
            </p:txBody>
          </p:sp>
        </mc:Choice>
        <mc:Fallback xmlns="">
          <p:sp>
            <p:nvSpPr>
              <p:cNvPr id="6" name="文本框 5">
                <a:extLst>
                  <a:ext uri="{FF2B5EF4-FFF2-40B4-BE49-F238E27FC236}">
                    <a16:creationId xmlns:a16="http://schemas.microsoft.com/office/drawing/2014/main" id="{4C04AA86-6276-4EBD-18F0-A0E48EBE22D4}"/>
                  </a:ext>
                </a:extLst>
              </p:cNvPr>
              <p:cNvSpPr txBox="1">
                <a:spLocks noRot="1" noChangeAspect="1" noMove="1" noResize="1" noEditPoints="1" noAdjustHandles="1" noChangeArrowheads="1" noChangeShapeType="1" noTextEdit="1"/>
              </p:cNvSpPr>
              <p:nvPr/>
            </p:nvSpPr>
            <p:spPr>
              <a:xfrm>
                <a:off x="1028699" y="5239603"/>
                <a:ext cx="9777412" cy="461665"/>
              </a:xfrm>
              <a:prstGeom prst="rect">
                <a:avLst/>
              </a:prstGeom>
              <a:blipFill>
                <a:blip r:embed="rId4"/>
                <a:stretch>
                  <a:fillRect l="-998" t="-10667" r="-4052" b="-30667"/>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BEC04B4E-13D6-DD60-1533-042E57E16E84}"/>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滑模控制</a:t>
            </a:r>
          </a:p>
        </p:txBody>
      </p:sp>
    </p:spTree>
    <p:extLst>
      <p:ext uri="{BB962C8B-B14F-4D97-AF65-F5344CB8AC3E}">
        <p14:creationId xmlns:p14="http://schemas.microsoft.com/office/powerpoint/2010/main" val="367969868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对象 4">
                <a:extLst>
                  <a:ext uri="{FF2B5EF4-FFF2-40B4-BE49-F238E27FC236}">
                    <a16:creationId xmlns:a16="http://schemas.microsoft.com/office/drawing/2014/main" id="{CAC2DDC9-93E7-AA98-6AFE-593080B7D98C}"/>
                  </a:ext>
                </a:extLst>
              </p:cNvPr>
              <p:cNvSpPr txBox="1"/>
              <p:nvPr/>
            </p:nvSpPr>
            <p:spPr bwMode="auto">
              <a:xfrm>
                <a:off x="2087562" y="3860955"/>
                <a:ext cx="8016875" cy="1150937"/>
              </a:xfrm>
              <a:prstGeom prst="rect">
                <a:avLst/>
              </a:prstGeom>
              <a:solidFill>
                <a:schemeClr val="bg1"/>
              </a:solidFill>
              <a:ln>
                <a:solidFill>
                  <a:schemeClr val="bg1"/>
                </a:solid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zh-CN" altLang="en-US" sz="2400" b="1" i="1" kern="1050">
                              <a:latin typeface="Cambria Math" panose="02040503050406030204" pitchFamily="18" charset="0"/>
                              <a:ea typeface="微软雅黑" panose="020B0503020204020204" pitchFamily="34" charset="-122"/>
                            </a:rPr>
                          </m:ctrlPr>
                        </m:sSubPr>
                        <m:e>
                          <m:acc>
                            <m:accPr>
                              <m:chr m:val="̇"/>
                              <m:ctrlPr>
                                <a:rPr lang="zh-CN" altLang="en-US" sz="2400" b="1" i="1" kern="1050">
                                  <a:latin typeface="Cambria Math" panose="02040503050406030204" pitchFamily="18" charset="0"/>
                                  <a:ea typeface="微软雅黑" panose="020B0503020204020204" pitchFamily="34" charset="-122"/>
                                </a:rPr>
                              </m:ctrlPr>
                            </m:accPr>
                            <m:e>
                              <m:r>
                                <a:rPr lang="zh-CN" altLang="en-US" sz="2400" b="1" i="1" kern="1050">
                                  <a:latin typeface="Cambria Math" panose="02040503050406030204" pitchFamily="18" charset="0"/>
                                  <a:ea typeface="微软雅黑" panose="020B0503020204020204" pitchFamily="34" charset="-122"/>
                                </a:rPr>
                                <m:t>𝑽</m:t>
                              </m:r>
                            </m:e>
                          </m:acc>
                        </m:e>
                        <m:sub>
                          <m:r>
                            <a:rPr lang="zh-CN" altLang="en-US" sz="2400" b="1" i="1" kern="1050">
                              <a:latin typeface="Cambria Math" panose="02040503050406030204" pitchFamily="18" charset="0"/>
                              <a:ea typeface="微软雅黑" panose="020B0503020204020204" pitchFamily="34" charset="-122"/>
                            </a:rPr>
                            <m:t>𝟐</m:t>
                          </m:r>
                        </m:sub>
                      </m:sSub>
                      <m:r>
                        <a:rPr lang="zh-CN" altLang="en-US" sz="2400" b="1" kern="1050">
                          <a:latin typeface="Cambria Math" panose="02040503050406030204" pitchFamily="18" charset="0"/>
                          <a:ea typeface="微软雅黑" panose="020B0503020204020204" pitchFamily="34" charset="-122"/>
                        </a:rPr>
                        <m:t>=−</m:t>
                      </m:r>
                      <m:sSubSup>
                        <m:sSubSupPr>
                          <m:ctrlPr>
                            <a:rPr lang="zh-CN" altLang="en-US" sz="2400" b="1" i="1" kern="1050">
                              <a:latin typeface="Cambria Math" panose="02040503050406030204" pitchFamily="18" charset="0"/>
                              <a:ea typeface="微软雅黑" panose="020B0503020204020204" pitchFamily="34" charset="-122"/>
                            </a:rPr>
                          </m:ctrlPr>
                        </m:sSubSupPr>
                        <m:e>
                          <m:r>
                            <a:rPr lang="zh-CN" altLang="en-US" sz="2400" b="1" i="1" kern="1050">
                              <a:latin typeface="Cambria Math" panose="02040503050406030204" pitchFamily="18" charset="0"/>
                              <a:ea typeface="微软雅黑" panose="020B0503020204020204" pitchFamily="34" charset="-122"/>
                            </a:rPr>
                            <m:t>𝒛</m:t>
                          </m:r>
                        </m:e>
                        <m:sub>
                          <m:r>
                            <a:rPr lang="zh-CN" altLang="en-US" sz="2400" b="1" i="1" kern="1050">
                              <a:latin typeface="Cambria Math" panose="02040503050406030204" pitchFamily="18" charset="0"/>
                              <a:ea typeface="微软雅黑" panose="020B0503020204020204" pitchFamily="34" charset="-122"/>
                            </a:rPr>
                            <m:t>𝟏</m:t>
                          </m:r>
                        </m:sub>
                        <m:sup>
                          <m:r>
                            <a:rPr lang="zh-CN" altLang="en-US" sz="2400" b="1" i="1" kern="1050">
                              <a:latin typeface="Cambria Math" panose="02040503050406030204" pitchFamily="18" charset="0"/>
                              <a:ea typeface="微软雅黑" panose="020B0503020204020204" pitchFamily="34" charset="-122"/>
                            </a:rPr>
                            <m:t>𝑻</m:t>
                          </m:r>
                        </m:sup>
                      </m:sSubSup>
                      <m:sSub>
                        <m:sSubPr>
                          <m:ctrlPr>
                            <a:rPr lang="zh-CN" altLang="en-US" sz="2400" b="1" i="1" kern="1050">
                              <a:latin typeface="Cambria Math" panose="02040503050406030204" pitchFamily="18" charset="0"/>
                              <a:ea typeface="微软雅黑" panose="020B0503020204020204" pitchFamily="34" charset="-122"/>
                            </a:rPr>
                          </m:ctrlPr>
                        </m:sSubPr>
                        <m:e>
                          <m:r>
                            <a:rPr lang="zh-CN" altLang="en-US" sz="2400" b="1" i="1" kern="1050">
                              <a:latin typeface="Cambria Math" panose="02040503050406030204" pitchFamily="18" charset="0"/>
                              <a:ea typeface="微软雅黑" panose="020B0503020204020204" pitchFamily="34" charset="-122"/>
                            </a:rPr>
                            <m:t>𝑲</m:t>
                          </m:r>
                        </m:e>
                        <m:sub>
                          <m:r>
                            <a:rPr lang="zh-CN" altLang="en-US" sz="2400" b="1" i="1" kern="1050">
                              <a:latin typeface="Cambria Math" panose="02040503050406030204" pitchFamily="18" charset="0"/>
                              <a:ea typeface="微软雅黑" panose="020B0503020204020204" pitchFamily="34" charset="-122"/>
                            </a:rPr>
                            <m:t>𝟏</m:t>
                          </m:r>
                        </m:sub>
                      </m:sSub>
                      <m:sSub>
                        <m:sSubPr>
                          <m:ctrlPr>
                            <a:rPr lang="zh-CN" altLang="en-US" sz="2400" b="1" i="1" kern="1050">
                              <a:latin typeface="Cambria Math" panose="02040503050406030204" pitchFamily="18" charset="0"/>
                              <a:ea typeface="微软雅黑" panose="020B0503020204020204" pitchFamily="34" charset="-122"/>
                            </a:rPr>
                          </m:ctrlPr>
                        </m:sSubPr>
                        <m:e>
                          <m:r>
                            <a:rPr lang="zh-CN" altLang="en-US" sz="2400" b="1" i="1" kern="1050">
                              <a:latin typeface="Cambria Math" panose="02040503050406030204" pitchFamily="18" charset="0"/>
                              <a:ea typeface="微软雅黑" panose="020B0503020204020204" pitchFamily="34" charset="-122"/>
                            </a:rPr>
                            <m:t>𝒛</m:t>
                          </m:r>
                        </m:e>
                        <m:sub>
                          <m:r>
                            <a:rPr lang="zh-CN" altLang="en-US" sz="2400" b="1" i="1" kern="1050">
                              <a:latin typeface="Cambria Math" panose="02040503050406030204" pitchFamily="18" charset="0"/>
                              <a:ea typeface="微软雅黑" panose="020B0503020204020204" pitchFamily="34" charset="-122"/>
                            </a:rPr>
                            <m:t>𝟏</m:t>
                          </m:r>
                        </m:sub>
                      </m:sSub>
                      <m:r>
                        <a:rPr lang="zh-CN" altLang="en-US" sz="2400" b="1" kern="1050">
                          <a:latin typeface="Cambria Math" panose="02040503050406030204" pitchFamily="18" charset="0"/>
                          <a:ea typeface="微软雅黑" panose="020B0503020204020204" pitchFamily="34" charset="-122"/>
                        </a:rPr>
                        <m:t>+</m:t>
                      </m:r>
                      <m:f>
                        <m:fPr>
                          <m:ctrlPr>
                            <a:rPr lang="zh-CN" altLang="en-US" sz="2400" b="1" i="1" kern="1050">
                              <a:latin typeface="Cambria Math" panose="02040503050406030204" pitchFamily="18" charset="0"/>
                              <a:ea typeface="微软雅黑" panose="020B0503020204020204" pitchFamily="34" charset="-122"/>
                            </a:rPr>
                          </m:ctrlPr>
                        </m:fPr>
                        <m:num>
                          <m:sSubSup>
                            <m:sSubSupPr>
                              <m:ctrlPr>
                                <a:rPr lang="zh-CN" altLang="en-US" sz="2400" b="1" i="1" kern="1050">
                                  <a:latin typeface="Cambria Math" panose="02040503050406030204" pitchFamily="18" charset="0"/>
                                  <a:ea typeface="微软雅黑" panose="020B0503020204020204" pitchFamily="34" charset="-122"/>
                                </a:rPr>
                              </m:ctrlPr>
                            </m:sSubSupPr>
                            <m:e>
                              <m:r>
                                <a:rPr lang="zh-CN" altLang="en-US" sz="2400" b="1" i="1" kern="1050">
                                  <a:latin typeface="Cambria Math" panose="02040503050406030204" pitchFamily="18" charset="0"/>
                                  <a:ea typeface="微软雅黑" panose="020B0503020204020204" pitchFamily="34" charset="-122"/>
                                </a:rPr>
                                <m:t>𝒛</m:t>
                              </m:r>
                            </m:e>
                            <m:sub>
                              <m:r>
                                <a:rPr lang="zh-CN" altLang="en-US" sz="2400" b="1" i="1" kern="1050">
                                  <a:latin typeface="Cambria Math" panose="02040503050406030204" pitchFamily="18" charset="0"/>
                                  <a:ea typeface="微软雅黑" panose="020B0503020204020204" pitchFamily="34" charset="-122"/>
                                </a:rPr>
                                <m:t>𝟏</m:t>
                              </m:r>
                            </m:sub>
                            <m:sup>
                              <m:r>
                                <a:rPr lang="zh-CN" altLang="en-US" sz="2400" b="1" i="1" kern="1050">
                                  <a:latin typeface="Cambria Math" panose="02040503050406030204" pitchFamily="18" charset="0"/>
                                  <a:ea typeface="微软雅黑" panose="020B0503020204020204" pitchFamily="34" charset="-122"/>
                                </a:rPr>
                                <m:t>𝑻</m:t>
                              </m:r>
                            </m:sup>
                          </m:sSubSup>
                          <m:sSub>
                            <m:sSubPr>
                              <m:ctrlPr>
                                <a:rPr lang="zh-CN" altLang="en-US" sz="2400" b="1" i="1" kern="1050">
                                  <a:latin typeface="Cambria Math" panose="02040503050406030204" pitchFamily="18" charset="0"/>
                                  <a:ea typeface="微软雅黑" panose="020B0503020204020204" pitchFamily="34" charset="-122"/>
                                </a:rPr>
                              </m:ctrlPr>
                            </m:sSubPr>
                            <m:e>
                              <m:r>
                                <a:rPr lang="zh-CN" altLang="en-US" sz="2400" b="1" i="1" kern="1050">
                                  <a:latin typeface="Cambria Math" panose="02040503050406030204" pitchFamily="18" charset="0"/>
                                  <a:ea typeface="微软雅黑" panose="020B0503020204020204" pitchFamily="34" charset="-122"/>
                                </a:rPr>
                                <m:t>𝒛</m:t>
                              </m:r>
                            </m:e>
                            <m:sub>
                              <m:r>
                                <a:rPr lang="zh-CN" altLang="en-US" sz="2400" b="1" i="1" kern="1050">
                                  <a:latin typeface="Cambria Math" panose="02040503050406030204" pitchFamily="18" charset="0"/>
                                  <a:ea typeface="微软雅黑" panose="020B0503020204020204" pitchFamily="34" charset="-122"/>
                                </a:rPr>
                                <m:t>𝟐</m:t>
                              </m:r>
                            </m:sub>
                          </m:sSub>
                        </m:num>
                        <m:den>
                          <m:sSubSup>
                            <m:sSubSupPr>
                              <m:ctrlPr>
                                <a:rPr lang="zh-CN" altLang="en-US" sz="2400" b="1" i="1" kern="1050">
                                  <a:latin typeface="Cambria Math" panose="02040503050406030204" pitchFamily="18" charset="0"/>
                                  <a:ea typeface="微软雅黑" panose="020B0503020204020204" pitchFamily="34" charset="-122"/>
                                </a:rPr>
                              </m:ctrlPr>
                            </m:sSubSupPr>
                            <m:e>
                              <m:r>
                                <a:rPr lang="zh-CN" altLang="en-US" sz="2400" b="1" i="1" kern="1050">
                                  <a:latin typeface="Cambria Math" panose="02040503050406030204" pitchFamily="18" charset="0"/>
                                  <a:ea typeface="微软雅黑" panose="020B0503020204020204" pitchFamily="34" charset="-122"/>
                                </a:rPr>
                                <m:t>𝒌</m:t>
                              </m:r>
                            </m:e>
                            <m:sub>
                              <m:r>
                                <a:rPr lang="zh-CN" altLang="en-US" sz="2400" b="1" i="1" kern="1050">
                                  <a:latin typeface="Cambria Math" panose="02040503050406030204" pitchFamily="18" charset="0"/>
                                  <a:ea typeface="微软雅黑" panose="020B0503020204020204" pitchFamily="34" charset="-122"/>
                                </a:rPr>
                                <m:t>𝒃</m:t>
                              </m:r>
                            </m:sub>
                            <m:sup>
                              <m:r>
                                <a:rPr lang="zh-CN" altLang="en-US" sz="2400" b="1" i="1" kern="1050">
                                  <a:latin typeface="Cambria Math" panose="02040503050406030204" pitchFamily="18" charset="0"/>
                                  <a:ea typeface="微软雅黑" panose="020B0503020204020204" pitchFamily="34" charset="-122"/>
                                </a:rPr>
                                <m:t>𝑻</m:t>
                              </m:r>
                            </m:sup>
                          </m:sSubSup>
                          <m:sSub>
                            <m:sSubPr>
                              <m:ctrlPr>
                                <a:rPr lang="zh-CN" altLang="en-US" sz="2400" b="1" i="1" kern="1050">
                                  <a:latin typeface="Cambria Math" panose="02040503050406030204" pitchFamily="18" charset="0"/>
                                  <a:ea typeface="微软雅黑" panose="020B0503020204020204" pitchFamily="34" charset="-122"/>
                                </a:rPr>
                              </m:ctrlPr>
                            </m:sSubPr>
                            <m:e>
                              <m:r>
                                <a:rPr lang="zh-CN" altLang="en-US" sz="2400" b="1" i="1" kern="1050">
                                  <a:latin typeface="Cambria Math" panose="02040503050406030204" pitchFamily="18" charset="0"/>
                                  <a:ea typeface="微软雅黑" panose="020B0503020204020204" pitchFamily="34" charset="-122"/>
                                </a:rPr>
                                <m:t>𝒌</m:t>
                              </m:r>
                            </m:e>
                            <m:sub>
                              <m:r>
                                <a:rPr lang="zh-CN" altLang="en-US" sz="2400" b="1" i="1" kern="1050">
                                  <a:latin typeface="Cambria Math" panose="02040503050406030204" pitchFamily="18" charset="0"/>
                                  <a:ea typeface="微软雅黑" panose="020B0503020204020204" pitchFamily="34" charset="-122"/>
                                </a:rPr>
                                <m:t>𝒃</m:t>
                              </m:r>
                            </m:sub>
                          </m:sSub>
                          <m:r>
                            <a:rPr lang="zh-CN" altLang="en-US" sz="2400" b="1" kern="1050">
                              <a:latin typeface="Cambria Math" panose="02040503050406030204" pitchFamily="18" charset="0"/>
                              <a:ea typeface="微软雅黑" panose="020B0503020204020204" pitchFamily="34" charset="-122"/>
                            </a:rPr>
                            <m:t>−</m:t>
                          </m:r>
                          <m:sSubSup>
                            <m:sSubSupPr>
                              <m:ctrlPr>
                                <a:rPr lang="zh-CN" altLang="en-US" sz="2400" b="1" i="1" kern="1050">
                                  <a:latin typeface="Cambria Math" panose="02040503050406030204" pitchFamily="18" charset="0"/>
                                  <a:ea typeface="微软雅黑" panose="020B0503020204020204" pitchFamily="34" charset="-122"/>
                                </a:rPr>
                              </m:ctrlPr>
                            </m:sSubSupPr>
                            <m:e>
                              <m:r>
                                <a:rPr lang="zh-CN" altLang="en-US" sz="2400" b="1" i="1" kern="1050">
                                  <a:latin typeface="Cambria Math" panose="02040503050406030204" pitchFamily="18" charset="0"/>
                                  <a:ea typeface="微软雅黑" panose="020B0503020204020204" pitchFamily="34" charset="-122"/>
                                </a:rPr>
                                <m:t>𝒛</m:t>
                              </m:r>
                            </m:e>
                            <m:sub>
                              <m:r>
                                <a:rPr lang="zh-CN" altLang="en-US" sz="2400" b="1" i="1" kern="1050">
                                  <a:latin typeface="Cambria Math" panose="02040503050406030204" pitchFamily="18" charset="0"/>
                                  <a:ea typeface="微软雅黑" panose="020B0503020204020204" pitchFamily="34" charset="-122"/>
                                </a:rPr>
                                <m:t>𝟏</m:t>
                              </m:r>
                            </m:sub>
                            <m:sup>
                              <m:r>
                                <a:rPr lang="zh-CN" altLang="en-US" sz="2400" b="1" i="1" kern="1050">
                                  <a:latin typeface="Cambria Math" panose="02040503050406030204" pitchFamily="18" charset="0"/>
                                  <a:ea typeface="微软雅黑" panose="020B0503020204020204" pitchFamily="34" charset="-122"/>
                                </a:rPr>
                                <m:t>𝑻</m:t>
                              </m:r>
                            </m:sup>
                          </m:sSubSup>
                          <m:sSub>
                            <m:sSubPr>
                              <m:ctrlPr>
                                <a:rPr lang="zh-CN" altLang="en-US" sz="2400" b="1" i="1" kern="1050">
                                  <a:latin typeface="Cambria Math" panose="02040503050406030204" pitchFamily="18" charset="0"/>
                                  <a:ea typeface="微软雅黑" panose="020B0503020204020204" pitchFamily="34" charset="-122"/>
                                </a:rPr>
                              </m:ctrlPr>
                            </m:sSubPr>
                            <m:e>
                              <m:r>
                                <a:rPr lang="zh-CN" altLang="en-US" sz="2400" b="1" i="1" kern="1050">
                                  <a:latin typeface="Cambria Math" panose="02040503050406030204" pitchFamily="18" charset="0"/>
                                  <a:ea typeface="微软雅黑" panose="020B0503020204020204" pitchFamily="34" charset="-122"/>
                                </a:rPr>
                                <m:t>𝒛</m:t>
                              </m:r>
                            </m:e>
                            <m:sub>
                              <m:r>
                                <a:rPr lang="zh-CN" altLang="en-US" sz="2400" b="1" i="1" kern="1050">
                                  <a:latin typeface="Cambria Math" panose="02040503050406030204" pitchFamily="18" charset="0"/>
                                  <a:ea typeface="微软雅黑" panose="020B0503020204020204" pitchFamily="34" charset="-122"/>
                                </a:rPr>
                                <m:t>𝟏</m:t>
                              </m:r>
                            </m:sub>
                          </m:sSub>
                        </m:den>
                      </m:f>
                    </m:oMath>
                    <m:oMath xmlns:m="http://schemas.openxmlformats.org/officeDocument/2006/math">
                      <m:r>
                        <a:rPr lang="zh-CN" altLang="en-US" sz="2400" b="1" kern="1050">
                          <a:latin typeface="Cambria Math" panose="02040503050406030204" pitchFamily="18" charset="0"/>
                          <a:ea typeface="微软雅黑" panose="020B0503020204020204" pitchFamily="34" charset="-122"/>
                        </a:rPr>
                        <m:t>+</m:t>
                      </m:r>
                      <m:sSubSup>
                        <m:sSubSupPr>
                          <m:ctrlPr>
                            <a:rPr lang="zh-CN" altLang="en-US" sz="2400" b="1" i="1" kern="1050">
                              <a:latin typeface="Cambria Math" panose="02040503050406030204" pitchFamily="18" charset="0"/>
                              <a:ea typeface="微软雅黑" panose="020B0503020204020204" pitchFamily="34" charset="-122"/>
                            </a:rPr>
                          </m:ctrlPr>
                        </m:sSubSupPr>
                        <m:e>
                          <m:r>
                            <a:rPr lang="zh-CN" altLang="en-US" sz="2400" b="1" i="1" kern="1050">
                              <a:latin typeface="Cambria Math" panose="02040503050406030204" pitchFamily="18" charset="0"/>
                              <a:ea typeface="微软雅黑" panose="020B0503020204020204" pitchFamily="34" charset="-122"/>
                            </a:rPr>
                            <m:t>𝒛</m:t>
                          </m:r>
                        </m:e>
                        <m:sub>
                          <m:r>
                            <a:rPr lang="zh-CN" altLang="en-US" sz="2400" b="1" i="1" kern="1050">
                              <a:latin typeface="Cambria Math" panose="02040503050406030204" pitchFamily="18" charset="0"/>
                              <a:ea typeface="微软雅黑" panose="020B0503020204020204" pitchFamily="34" charset="-122"/>
                            </a:rPr>
                            <m:t>𝟐</m:t>
                          </m:r>
                        </m:sub>
                        <m:sup>
                          <m:r>
                            <a:rPr lang="zh-CN" altLang="en-US" sz="2400" b="1" i="1" kern="1050">
                              <a:latin typeface="Cambria Math" panose="02040503050406030204" pitchFamily="18" charset="0"/>
                              <a:ea typeface="微软雅黑" panose="020B0503020204020204" pitchFamily="34" charset="-122"/>
                            </a:rPr>
                            <m:t>𝑻</m:t>
                          </m:r>
                        </m:sup>
                      </m:sSubSup>
                      <m:r>
                        <a:rPr lang="zh-CN" altLang="en-US" sz="2400" b="1" kern="1050">
                          <a:latin typeface="Cambria Math" panose="02040503050406030204" pitchFamily="18" charset="0"/>
                          <a:ea typeface="微软雅黑" panose="020B0503020204020204" pitchFamily="34" charset="-122"/>
                        </a:rPr>
                        <m:t>[</m:t>
                      </m:r>
                      <m:r>
                        <a:rPr lang="zh-CN" altLang="en-US" sz="2400" b="1" i="1" kern="1050">
                          <a:latin typeface="Cambria Math" panose="02040503050406030204" pitchFamily="18" charset="0"/>
                          <a:ea typeface="微软雅黑" panose="020B0503020204020204" pitchFamily="34" charset="-122"/>
                        </a:rPr>
                        <m:t>𝝉</m:t>
                      </m:r>
                      <m:r>
                        <a:rPr lang="zh-CN" altLang="en-US" sz="2400" b="1" kern="1050">
                          <a:latin typeface="Cambria Math" panose="02040503050406030204" pitchFamily="18" charset="0"/>
                          <a:ea typeface="微软雅黑" panose="020B0503020204020204" pitchFamily="34" charset="-122"/>
                        </a:rPr>
                        <m:t>−</m:t>
                      </m:r>
                      <m:sSup>
                        <m:sSupPr>
                          <m:ctrlPr>
                            <a:rPr lang="zh-CN" altLang="en-US" sz="2400" b="1" i="1" kern="1050">
                              <a:latin typeface="Cambria Math" panose="02040503050406030204" pitchFamily="18" charset="0"/>
                              <a:ea typeface="微软雅黑" panose="020B0503020204020204" pitchFamily="34" charset="-122"/>
                            </a:rPr>
                          </m:ctrlPr>
                        </m:sSupPr>
                        <m:e>
                          <m:r>
                            <a:rPr lang="zh-CN" altLang="en-US" sz="2400" b="1" i="1" kern="1050">
                              <a:latin typeface="Cambria Math" panose="02040503050406030204" pitchFamily="18" charset="0"/>
                              <a:ea typeface="微软雅黑" panose="020B0503020204020204" pitchFamily="34" charset="-122"/>
                            </a:rPr>
                            <m:t>𝑱</m:t>
                          </m:r>
                        </m:e>
                        <m:sup>
                          <m:r>
                            <a:rPr lang="zh-CN" altLang="en-US" sz="2400" b="1" i="1" kern="1050">
                              <a:latin typeface="Cambria Math" panose="02040503050406030204" pitchFamily="18" charset="0"/>
                              <a:ea typeface="微软雅黑" panose="020B0503020204020204" pitchFamily="34" charset="-122"/>
                            </a:rPr>
                            <m:t>𝑻</m:t>
                          </m:r>
                        </m:sup>
                      </m:sSup>
                      <m:r>
                        <a:rPr lang="zh-CN" altLang="en-US" sz="2400" b="1" kern="1050">
                          <a:latin typeface="Cambria Math" panose="02040503050406030204" pitchFamily="18" charset="0"/>
                          <a:ea typeface="微软雅黑" panose="020B0503020204020204" pitchFamily="34" charset="-122"/>
                        </a:rPr>
                        <m:t>(</m:t>
                      </m:r>
                      <m:sSub>
                        <m:sSubPr>
                          <m:ctrlPr>
                            <a:rPr lang="zh-CN" altLang="en-US" sz="2400" b="1" i="1" kern="1050">
                              <a:latin typeface="Cambria Math" panose="02040503050406030204" pitchFamily="18" charset="0"/>
                              <a:ea typeface="微软雅黑" panose="020B0503020204020204" pitchFamily="34" charset="-122"/>
                            </a:rPr>
                          </m:ctrlPr>
                        </m:sSubPr>
                        <m:e>
                          <m:r>
                            <a:rPr lang="zh-CN" altLang="en-US" sz="2400" b="1" i="1" kern="1050">
                              <a:latin typeface="Cambria Math" panose="02040503050406030204" pitchFamily="18" charset="0"/>
                              <a:ea typeface="微软雅黑" panose="020B0503020204020204" pitchFamily="34" charset="-122"/>
                            </a:rPr>
                            <m:t>𝒙</m:t>
                          </m:r>
                        </m:e>
                        <m:sub>
                          <m:r>
                            <a:rPr lang="zh-CN" altLang="en-US" sz="2400" b="1" i="1" kern="1050">
                              <a:latin typeface="Cambria Math" panose="02040503050406030204" pitchFamily="18" charset="0"/>
                              <a:ea typeface="微软雅黑" panose="020B0503020204020204" pitchFamily="34" charset="-122"/>
                            </a:rPr>
                            <m:t>𝟏</m:t>
                          </m:r>
                        </m:sub>
                      </m:sSub>
                      <m:r>
                        <a:rPr lang="zh-CN" altLang="en-US" sz="2400" b="1" kern="1050">
                          <a:latin typeface="Cambria Math" panose="02040503050406030204" pitchFamily="18" charset="0"/>
                          <a:ea typeface="微软雅黑" panose="020B0503020204020204" pitchFamily="34" charset="-122"/>
                        </a:rPr>
                        <m:t>)</m:t>
                      </m:r>
                      <m:r>
                        <a:rPr lang="zh-CN" altLang="en-US" sz="2400" b="1" i="1" kern="1050">
                          <a:latin typeface="Cambria Math" panose="02040503050406030204" pitchFamily="18" charset="0"/>
                          <a:ea typeface="微软雅黑" panose="020B0503020204020204" pitchFamily="34" charset="-122"/>
                        </a:rPr>
                        <m:t>𝒇</m:t>
                      </m:r>
                      <m:r>
                        <a:rPr lang="zh-CN" altLang="en-US" sz="2400" b="1" kern="1050">
                          <a:latin typeface="Cambria Math" panose="02040503050406030204" pitchFamily="18" charset="0"/>
                          <a:ea typeface="微软雅黑" panose="020B0503020204020204" pitchFamily="34" charset="-122"/>
                        </a:rPr>
                        <m:t>−</m:t>
                      </m:r>
                      <m:r>
                        <a:rPr lang="zh-CN" altLang="en-US" sz="2400" b="1" i="1" kern="1050">
                          <a:latin typeface="Cambria Math" panose="02040503050406030204" pitchFamily="18" charset="0"/>
                          <a:ea typeface="微软雅黑" panose="020B0503020204020204" pitchFamily="34" charset="-122"/>
                        </a:rPr>
                        <m:t>𝑪</m:t>
                      </m:r>
                      <m:r>
                        <a:rPr lang="zh-CN" altLang="en-US" sz="2400" b="1" kern="1050">
                          <a:latin typeface="Cambria Math" panose="02040503050406030204" pitchFamily="18" charset="0"/>
                          <a:ea typeface="微软雅黑" panose="020B0503020204020204" pitchFamily="34" charset="-122"/>
                        </a:rPr>
                        <m:t>(</m:t>
                      </m:r>
                      <m:sSub>
                        <m:sSubPr>
                          <m:ctrlPr>
                            <a:rPr lang="zh-CN" altLang="en-US" sz="2400" b="1" i="1" kern="1050">
                              <a:latin typeface="Cambria Math" panose="02040503050406030204" pitchFamily="18" charset="0"/>
                              <a:ea typeface="微软雅黑" panose="020B0503020204020204" pitchFamily="34" charset="-122"/>
                            </a:rPr>
                          </m:ctrlPr>
                        </m:sSubPr>
                        <m:e>
                          <m:r>
                            <a:rPr lang="zh-CN" altLang="en-US" sz="2400" b="1" i="1" kern="1050">
                              <a:latin typeface="Cambria Math" panose="02040503050406030204" pitchFamily="18" charset="0"/>
                              <a:ea typeface="微软雅黑" panose="020B0503020204020204" pitchFamily="34" charset="-122"/>
                            </a:rPr>
                            <m:t>𝒙</m:t>
                          </m:r>
                        </m:e>
                        <m:sub>
                          <m:r>
                            <a:rPr lang="zh-CN" altLang="en-US" sz="2400" b="1" i="1" kern="1050">
                              <a:latin typeface="Cambria Math" panose="02040503050406030204" pitchFamily="18" charset="0"/>
                              <a:ea typeface="微软雅黑" panose="020B0503020204020204" pitchFamily="34" charset="-122"/>
                            </a:rPr>
                            <m:t>𝟏</m:t>
                          </m:r>
                        </m:sub>
                      </m:sSub>
                      <m:r>
                        <a:rPr lang="zh-CN" altLang="en-US" sz="2400" b="1" kern="1050">
                          <a:latin typeface="Cambria Math" panose="02040503050406030204" pitchFamily="18" charset="0"/>
                          <a:ea typeface="微软雅黑" panose="020B0503020204020204" pitchFamily="34" charset="-122"/>
                        </a:rPr>
                        <m:t>,</m:t>
                      </m:r>
                      <m:sSub>
                        <m:sSubPr>
                          <m:ctrlPr>
                            <a:rPr lang="zh-CN" altLang="en-US" sz="2400" b="1" i="1" kern="1050">
                              <a:latin typeface="Cambria Math" panose="02040503050406030204" pitchFamily="18" charset="0"/>
                              <a:ea typeface="微软雅黑" panose="020B0503020204020204" pitchFamily="34" charset="-122"/>
                            </a:rPr>
                          </m:ctrlPr>
                        </m:sSubPr>
                        <m:e>
                          <m:r>
                            <a:rPr lang="zh-CN" altLang="en-US" sz="2400" b="1" i="1" kern="1050">
                              <a:latin typeface="Cambria Math" panose="02040503050406030204" pitchFamily="18" charset="0"/>
                              <a:ea typeface="微软雅黑" panose="020B0503020204020204" pitchFamily="34" charset="-122"/>
                            </a:rPr>
                            <m:t>𝒙</m:t>
                          </m:r>
                        </m:e>
                        <m:sub>
                          <m:r>
                            <a:rPr lang="zh-CN" altLang="en-US" sz="2400" b="1" i="1" kern="1050">
                              <a:latin typeface="Cambria Math" panose="02040503050406030204" pitchFamily="18" charset="0"/>
                              <a:ea typeface="微软雅黑" panose="020B0503020204020204" pitchFamily="34" charset="-122"/>
                            </a:rPr>
                            <m:t>𝟐</m:t>
                          </m:r>
                        </m:sub>
                      </m:sSub>
                      <m:r>
                        <a:rPr lang="zh-CN" altLang="en-US" sz="2400" b="1" kern="1050">
                          <a:latin typeface="Cambria Math" panose="02040503050406030204" pitchFamily="18" charset="0"/>
                          <a:ea typeface="微软雅黑" panose="020B0503020204020204" pitchFamily="34" charset="-122"/>
                        </a:rPr>
                        <m:t>)</m:t>
                      </m:r>
                      <m:sSub>
                        <m:sSubPr>
                          <m:ctrlPr>
                            <a:rPr lang="zh-CN" altLang="en-US" sz="2400" b="1" i="1" kern="1050">
                              <a:latin typeface="Cambria Math" panose="02040503050406030204" pitchFamily="18" charset="0"/>
                              <a:ea typeface="微软雅黑" panose="020B0503020204020204" pitchFamily="34" charset="-122"/>
                            </a:rPr>
                          </m:ctrlPr>
                        </m:sSubPr>
                        <m:e>
                          <m:r>
                            <a:rPr lang="zh-CN" altLang="en-US" sz="2400" b="1" i="1" kern="1050">
                              <a:latin typeface="Cambria Math" panose="02040503050406030204" pitchFamily="18" charset="0"/>
                              <a:ea typeface="微软雅黑" panose="020B0503020204020204" pitchFamily="34" charset="-122"/>
                            </a:rPr>
                            <m:t>𝜶</m:t>
                          </m:r>
                        </m:e>
                        <m:sub>
                          <m:r>
                            <a:rPr lang="zh-CN" altLang="en-US" sz="2400" b="1" i="1" kern="1050">
                              <a:latin typeface="Cambria Math" panose="02040503050406030204" pitchFamily="18" charset="0"/>
                              <a:ea typeface="微软雅黑" panose="020B0503020204020204" pitchFamily="34" charset="-122"/>
                            </a:rPr>
                            <m:t>𝟏</m:t>
                          </m:r>
                        </m:sub>
                      </m:sSub>
                      <m:r>
                        <a:rPr lang="zh-CN" altLang="en-US" sz="2400" b="1" kern="1050">
                          <a:latin typeface="Cambria Math" panose="02040503050406030204" pitchFamily="18" charset="0"/>
                          <a:ea typeface="微软雅黑" panose="020B0503020204020204" pitchFamily="34" charset="-122"/>
                        </a:rPr>
                        <m:t>(</m:t>
                      </m:r>
                      <m:r>
                        <a:rPr lang="zh-CN" altLang="en-US" sz="2400" b="1" i="1" kern="1050">
                          <a:latin typeface="Cambria Math" panose="02040503050406030204" pitchFamily="18" charset="0"/>
                          <a:ea typeface="微软雅黑" panose="020B0503020204020204" pitchFamily="34" charset="-122"/>
                        </a:rPr>
                        <m:t>𝒕</m:t>
                      </m:r>
                      <m:r>
                        <a:rPr lang="zh-CN" altLang="en-US" sz="2400" b="1" kern="1050">
                          <a:latin typeface="Cambria Math" panose="02040503050406030204" pitchFamily="18" charset="0"/>
                          <a:ea typeface="微软雅黑" panose="020B0503020204020204" pitchFamily="34" charset="-122"/>
                        </a:rPr>
                        <m:t>)−</m:t>
                      </m:r>
                      <m:r>
                        <a:rPr lang="zh-CN" altLang="en-US" sz="2400" b="1" i="1" kern="1050">
                          <a:latin typeface="Cambria Math" panose="02040503050406030204" pitchFamily="18" charset="0"/>
                          <a:ea typeface="微软雅黑" panose="020B0503020204020204" pitchFamily="34" charset="-122"/>
                        </a:rPr>
                        <m:t>𝑮</m:t>
                      </m:r>
                      <m:r>
                        <a:rPr lang="zh-CN" altLang="en-US" sz="2400" b="1" kern="1050">
                          <a:latin typeface="Cambria Math" panose="02040503050406030204" pitchFamily="18" charset="0"/>
                          <a:ea typeface="微软雅黑" panose="020B0503020204020204" pitchFamily="34" charset="-122"/>
                        </a:rPr>
                        <m:t>(</m:t>
                      </m:r>
                      <m:sSub>
                        <m:sSubPr>
                          <m:ctrlPr>
                            <a:rPr lang="zh-CN" altLang="en-US" sz="2400" b="1" i="1" kern="1050">
                              <a:latin typeface="Cambria Math" panose="02040503050406030204" pitchFamily="18" charset="0"/>
                              <a:ea typeface="微软雅黑" panose="020B0503020204020204" pitchFamily="34" charset="-122"/>
                            </a:rPr>
                          </m:ctrlPr>
                        </m:sSubPr>
                        <m:e>
                          <m:r>
                            <a:rPr lang="zh-CN" altLang="en-US" sz="2400" b="1" i="1" kern="1050">
                              <a:latin typeface="Cambria Math" panose="02040503050406030204" pitchFamily="18" charset="0"/>
                              <a:ea typeface="微软雅黑" panose="020B0503020204020204" pitchFamily="34" charset="-122"/>
                            </a:rPr>
                            <m:t>𝒙</m:t>
                          </m:r>
                        </m:e>
                        <m:sub>
                          <m:r>
                            <a:rPr lang="zh-CN" altLang="en-US" sz="2400" b="1" i="1" kern="1050">
                              <a:latin typeface="Cambria Math" panose="02040503050406030204" pitchFamily="18" charset="0"/>
                              <a:ea typeface="微软雅黑" panose="020B0503020204020204" pitchFamily="34" charset="-122"/>
                            </a:rPr>
                            <m:t>𝟏</m:t>
                          </m:r>
                        </m:sub>
                      </m:sSub>
                      <m:r>
                        <a:rPr lang="zh-CN" altLang="en-US" sz="2400" b="1" kern="1050">
                          <a:latin typeface="Cambria Math" panose="02040503050406030204" pitchFamily="18" charset="0"/>
                          <a:ea typeface="微软雅黑" panose="020B0503020204020204" pitchFamily="34" charset="-122"/>
                        </a:rPr>
                        <m:t>)−</m:t>
                      </m:r>
                      <m:r>
                        <a:rPr lang="zh-CN" altLang="en-US" sz="2400" b="1" i="1" kern="1050">
                          <a:latin typeface="Cambria Math" panose="02040503050406030204" pitchFamily="18" charset="0"/>
                          <a:ea typeface="微软雅黑" panose="020B0503020204020204" pitchFamily="34" charset="-122"/>
                        </a:rPr>
                        <m:t>𝑴</m:t>
                      </m:r>
                      <m:r>
                        <a:rPr lang="zh-CN" altLang="en-US" sz="2400" b="1" kern="1050">
                          <a:latin typeface="Cambria Math" panose="02040503050406030204" pitchFamily="18" charset="0"/>
                          <a:ea typeface="微软雅黑" panose="020B0503020204020204" pitchFamily="34" charset="-122"/>
                        </a:rPr>
                        <m:t>(</m:t>
                      </m:r>
                      <m:sSub>
                        <m:sSubPr>
                          <m:ctrlPr>
                            <a:rPr lang="zh-CN" altLang="en-US" sz="2400" b="1" i="1" kern="1050">
                              <a:latin typeface="Cambria Math" panose="02040503050406030204" pitchFamily="18" charset="0"/>
                              <a:ea typeface="微软雅黑" panose="020B0503020204020204" pitchFamily="34" charset="-122"/>
                            </a:rPr>
                          </m:ctrlPr>
                        </m:sSubPr>
                        <m:e>
                          <m:r>
                            <a:rPr lang="zh-CN" altLang="en-US" sz="2400" b="1" i="1" kern="1050">
                              <a:latin typeface="Cambria Math" panose="02040503050406030204" pitchFamily="18" charset="0"/>
                              <a:ea typeface="微软雅黑" panose="020B0503020204020204" pitchFamily="34" charset="-122"/>
                            </a:rPr>
                            <m:t>𝒙</m:t>
                          </m:r>
                        </m:e>
                        <m:sub>
                          <m:r>
                            <a:rPr lang="zh-CN" altLang="en-US" sz="2400" b="1" i="1" kern="1050">
                              <a:latin typeface="Cambria Math" panose="02040503050406030204" pitchFamily="18" charset="0"/>
                              <a:ea typeface="微软雅黑" panose="020B0503020204020204" pitchFamily="34" charset="-122"/>
                            </a:rPr>
                            <m:t>𝟏</m:t>
                          </m:r>
                        </m:sub>
                      </m:sSub>
                      <m:r>
                        <a:rPr lang="zh-CN" altLang="en-US" sz="2400" b="1" kern="1050">
                          <a:latin typeface="Cambria Math" panose="02040503050406030204" pitchFamily="18" charset="0"/>
                          <a:ea typeface="微软雅黑" panose="020B0503020204020204" pitchFamily="34" charset="-122"/>
                        </a:rPr>
                        <m:t>)</m:t>
                      </m:r>
                      <m:sSub>
                        <m:sSubPr>
                          <m:ctrlPr>
                            <a:rPr lang="zh-CN" altLang="en-US" sz="2400" b="1" i="1" kern="1050">
                              <a:latin typeface="Cambria Math" panose="02040503050406030204" pitchFamily="18" charset="0"/>
                              <a:ea typeface="微软雅黑" panose="020B0503020204020204" pitchFamily="34" charset="-122"/>
                            </a:rPr>
                          </m:ctrlPr>
                        </m:sSubPr>
                        <m:e>
                          <m:acc>
                            <m:accPr>
                              <m:chr m:val="̇"/>
                              <m:ctrlPr>
                                <a:rPr lang="zh-CN" altLang="en-US" sz="2400" b="1" i="1" kern="1050">
                                  <a:latin typeface="Cambria Math" panose="02040503050406030204" pitchFamily="18" charset="0"/>
                                  <a:ea typeface="微软雅黑" panose="020B0503020204020204" pitchFamily="34" charset="-122"/>
                                </a:rPr>
                              </m:ctrlPr>
                            </m:accPr>
                            <m:e>
                              <m:r>
                                <a:rPr lang="zh-CN" altLang="en-US" sz="2400" b="1" i="1" kern="1050">
                                  <a:latin typeface="Cambria Math" panose="02040503050406030204" pitchFamily="18" charset="0"/>
                                  <a:ea typeface="微软雅黑" panose="020B0503020204020204" pitchFamily="34" charset="-122"/>
                                </a:rPr>
                                <m:t>𝜶</m:t>
                              </m:r>
                            </m:e>
                          </m:acc>
                        </m:e>
                        <m:sub>
                          <m:r>
                            <a:rPr lang="zh-CN" altLang="en-US" sz="2400" b="1" i="1" kern="1050">
                              <a:latin typeface="Cambria Math" panose="02040503050406030204" pitchFamily="18" charset="0"/>
                              <a:ea typeface="微软雅黑" panose="020B0503020204020204" pitchFamily="34" charset="-122"/>
                            </a:rPr>
                            <m:t>𝟏</m:t>
                          </m:r>
                        </m:sub>
                      </m:sSub>
                      <m:r>
                        <a:rPr lang="zh-CN" altLang="en-US" sz="2400" b="1" kern="1050">
                          <a:latin typeface="Cambria Math" panose="02040503050406030204" pitchFamily="18" charset="0"/>
                          <a:ea typeface="微软雅黑" panose="020B0503020204020204" pitchFamily="34" charset="-122"/>
                        </a:rPr>
                        <m:t>(</m:t>
                      </m:r>
                      <m:r>
                        <a:rPr lang="zh-CN" altLang="en-US" sz="2400" b="1" i="1" kern="1050">
                          <a:latin typeface="Cambria Math" panose="02040503050406030204" pitchFamily="18" charset="0"/>
                          <a:ea typeface="微软雅黑" panose="020B0503020204020204" pitchFamily="34" charset="-122"/>
                        </a:rPr>
                        <m:t>𝒕</m:t>
                      </m:r>
                      <m:r>
                        <a:rPr lang="zh-CN" altLang="en-US" sz="2400" b="1" kern="1050">
                          <a:latin typeface="Cambria Math" panose="02040503050406030204" pitchFamily="18" charset="0"/>
                          <a:ea typeface="微软雅黑" panose="020B0503020204020204" pitchFamily="34" charset="-122"/>
                        </a:rPr>
                        <m:t>)]</m:t>
                      </m:r>
                    </m:oMath>
                  </m:oMathPara>
                </a14:m>
                <a:endParaRPr lang="zh-CN" altLang="en-US" sz="2400" b="1" kern="1050" dirty="0">
                  <a:latin typeface="微软雅黑" panose="020B0503020204020204" pitchFamily="34" charset="-122"/>
                  <a:ea typeface="微软雅黑" panose="020B0503020204020204" pitchFamily="34" charset="-122"/>
                </a:endParaRPr>
              </a:p>
            </p:txBody>
          </p:sp>
        </mc:Choice>
        <mc:Fallback xmlns="">
          <p:sp>
            <p:nvSpPr>
              <p:cNvPr id="6" name="对象 4">
                <a:extLst>
                  <a:ext uri="{FF2B5EF4-FFF2-40B4-BE49-F238E27FC236}">
                    <a16:creationId xmlns:a16="http://schemas.microsoft.com/office/drawing/2014/main" id="{CAC2DDC9-93E7-AA98-6AFE-593080B7D98C}"/>
                  </a:ext>
                </a:extLst>
              </p:cNvPr>
              <p:cNvSpPr txBox="1">
                <a:spLocks noRot="1" noChangeAspect="1" noMove="1" noResize="1" noEditPoints="1" noAdjustHandles="1" noChangeArrowheads="1" noChangeShapeType="1" noTextEdit="1"/>
              </p:cNvSpPr>
              <p:nvPr/>
            </p:nvSpPr>
            <p:spPr bwMode="auto">
              <a:xfrm>
                <a:off x="2087562" y="3860955"/>
                <a:ext cx="8016875" cy="1150937"/>
              </a:xfrm>
              <a:prstGeom prst="rect">
                <a:avLst/>
              </a:prstGeom>
              <a:blipFill>
                <a:blip r:embed="rId3"/>
                <a:stretch>
                  <a:fillRect/>
                </a:stretch>
              </a:blipFill>
              <a:ln>
                <a:solidFill>
                  <a:schemeClr val="bg1"/>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20F18EAD-D398-4026-3C87-19BA7B1E5E38}"/>
                  </a:ext>
                </a:extLst>
              </p:cNvPr>
              <p:cNvSpPr txBox="1"/>
              <p:nvPr/>
            </p:nvSpPr>
            <p:spPr>
              <a:xfrm>
                <a:off x="1550192" y="1272383"/>
                <a:ext cx="10441781" cy="2481257"/>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取式</a:t>
                </a:r>
                <a:r>
                  <a:rPr lang="en-US" altLang="zh-CN" sz="2400" b="1" kern="1000" dirty="0">
                    <a:effectLst/>
                    <a:latin typeface="微软雅黑" panose="020B0503020204020204" pitchFamily="34" charset="-122"/>
                    <a:ea typeface="微软雅黑" panose="020B0503020204020204" pitchFamily="34" charset="-122"/>
                  </a:rPr>
                  <a:t>(7.84)</a:t>
                </a:r>
                <a:r>
                  <a:rPr lang="zh-CN" altLang="zh-CN" sz="2400" b="1" kern="1000" dirty="0">
                    <a:effectLst/>
                    <a:latin typeface="微软雅黑" panose="020B0503020204020204" pitchFamily="34" charset="-122"/>
                    <a:ea typeface="微软雅黑" panose="020B0503020204020204" pitchFamily="34" charset="-122"/>
                  </a:rPr>
                  <a:t>沿式</a:t>
                </a:r>
                <a:r>
                  <a:rPr lang="en-US" altLang="zh-CN" sz="2400" b="1" kern="1000" dirty="0">
                    <a:effectLst/>
                    <a:latin typeface="微软雅黑" panose="020B0503020204020204" pitchFamily="34" charset="-122"/>
                    <a:ea typeface="微软雅黑" panose="020B0503020204020204" pitchFamily="34" charset="-122"/>
                  </a:rPr>
                  <a:t>(7.81)</a:t>
                </a:r>
                <a:r>
                  <a:rPr lang="zh-CN" altLang="zh-CN" sz="2400" b="1" kern="1000" dirty="0">
                    <a:effectLst/>
                    <a:latin typeface="微软雅黑" panose="020B0503020204020204" pitchFamily="34" charset="-122"/>
                    <a:ea typeface="微软雅黑" panose="020B0503020204020204" pitchFamily="34" charset="-122"/>
                  </a:rPr>
                  <a:t>的时间导数，得到</a:t>
                </a:r>
              </a:p>
              <a:p>
                <a:pPr algn="just">
                  <a:spcBef>
                    <a:spcPts val="300"/>
                  </a:spcBef>
                  <a:spcAft>
                    <a:spcPts val="3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𝑽</m:t>
                            </m:r>
                          </m:e>
                        </m:acc>
                      </m:e>
                      <m:sub>
                        <m:r>
                          <a:rPr lang="en-US" altLang="zh-CN" sz="2000" b="1" i="1" kern="1050" smtClean="0">
                            <a:effectLst/>
                            <a:latin typeface="Cambria Math" panose="02040503050406030204" pitchFamily="18" charset="0"/>
                            <a:ea typeface="宋体" panose="02010600030101010101" pitchFamily="2" charset="-122"/>
                          </a:rPr>
                          <m:t>𝟏</m:t>
                        </m:r>
                      </m:sub>
                    </m:sSub>
                    <m:r>
                      <a:rPr lang="en-US" altLang="zh-CN" sz="2000" b="1" i="1" kern="1050" smtClean="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smtClean="0">
                            <a:effectLst/>
                            <a:latin typeface="Cambria Math" panose="02040503050406030204" pitchFamily="18" charset="0"/>
                            <a:ea typeface="宋体" panose="02010600030101010101" pitchFamily="2" charset="-122"/>
                          </a:rPr>
                          <m:t>𝟏</m:t>
                        </m:r>
                      </m:num>
                      <m:den>
                        <m:r>
                          <a:rPr lang="en-US" altLang="zh-CN" sz="2000" b="1" i="1" kern="1050" smtClean="0">
                            <a:effectLst/>
                            <a:latin typeface="Cambria Math" panose="02040503050406030204" pitchFamily="18" charset="0"/>
                            <a:ea typeface="宋体" panose="02010600030101010101" pitchFamily="2" charset="-122"/>
                          </a:rPr>
                          <m:t>𝟐</m:t>
                        </m:r>
                      </m:den>
                    </m:f>
                    <m:func>
                      <m:funcPr>
                        <m:ctrlPr>
                          <a:rPr lang="zh-CN" altLang="zh-CN" sz="2000" b="1" i="1" kern="1050">
                            <a:effectLst/>
                            <a:latin typeface="Cambria Math" panose="02040503050406030204" pitchFamily="18" charset="0"/>
                            <a:ea typeface="Cambria Math" panose="02040503050406030204" pitchFamily="18" charset="0"/>
                          </a:rPr>
                        </m:ctrlPr>
                      </m:funcPr>
                      <m:fName>
                        <m:r>
                          <a:rPr lang="en-US" altLang="zh-CN" sz="2000" b="1" i="1" kern="1050" smtClean="0">
                            <a:effectLst/>
                            <a:latin typeface="Cambria Math" panose="02040503050406030204" pitchFamily="18" charset="0"/>
                            <a:ea typeface="宋体" panose="02010600030101010101" pitchFamily="2" charset="-122"/>
                          </a:rPr>
                          <m:t>𝒍𝒐𝒈</m:t>
                        </m:r>
                      </m:fName>
                      <m:e>
                        <m:f>
                          <m:fPr>
                            <m:ctrlPr>
                              <a:rPr lang="zh-CN" altLang="zh-CN" sz="2000" b="1" i="1" kern="1050">
                                <a:effectLst/>
                                <a:latin typeface="Cambria Math" panose="02040503050406030204" pitchFamily="18" charset="0"/>
                                <a:ea typeface="Cambria Math" panose="02040503050406030204" pitchFamily="18" charset="0"/>
                              </a:rPr>
                            </m:ctrlPr>
                          </m:fPr>
                          <m:num>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𝟏</m:t>
                                </m:r>
                              </m:sub>
                              <m:sup>
                                <m:r>
                                  <a:rPr lang="en-US" altLang="zh-CN" sz="2000" b="1" i="1" kern="1050" smtClean="0">
                                    <a:effectLst/>
                                    <a:latin typeface="Cambria Math" panose="02040503050406030204" pitchFamily="18" charset="0"/>
                                    <a:ea typeface="宋体" panose="02010600030101010101" pitchFamily="2" charset="-122"/>
                                  </a:rPr>
                                  <m:t>𝑻</m:t>
                                </m:r>
                              </m:sup>
                            </m:sSubSup>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𝒛</m:t>
                                    </m:r>
                                  </m:e>
                                </m:acc>
                              </m:e>
                              <m:sub>
                                <m:r>
                                  <a:rPr lang="en-US" altLang="zh-CN" sz="2000" b="1" i="1" kern="1050" smtClean="0">
                                    <a:effectLst/>
                                    <a:latin typeface="Cambria Math" panose="02040503050406030204" pitchFamily="18" charset="0"/>
                                    <a:ea typeface="宋体" panose="02010600030101010101" pitchFamily="2" charset="-122"/>
                                  </a:rPr>
                                  <m:t>𝟏</m:t>
                                </m:r>
                              </m:sub>
                            </m:sSub>
                          </m:num>
                          <m:den>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smtClean="0">
                                    <a:effectLst/>
                                    <a:latin typeface="Cambria Math" panose="02040503050406030204" pitchFamily="18" charset="0"/>
                                    <a:ea typeface="宋体" panose="02010600030101010101" pitchFamily="2" charset="-122"/>
                                  </a:rPr>
                                  <m:t>𝒌</m:t>
                                </m:r>
                              </m:e>
                              <m:sub>
                                <m:r>
                                  <a:rPr lang="en-US" altLang="zh-CN" sz="2000" b="1" i="1" kern="1050" smtClean="0">
                                    <a:effectLst/>
                                    <a:latin typeface="Cambria Math" panose="02040503050406030204" pitchFamily="18" charset="0"/>
                                    <a:ea typeface="宋体" panose="02010600030101010101" pitchFamily="2" charset="-122"/>
                                  </a:rPr>
                                  <m:t>𝒃</m:t>
                                </m:r>
                              </m:sub>
                              <m:sup>
                                <m:r>
                                  <a:rPr lang="en-US" altLang="zh-CN" sz="2000" b="1" i="1" kern="1050" smtClean="0">
                                    <a:effectLst/>
                                    <a:latin typeface="Cambria Math" panose="02040503050406030204" pitchFamily="18" charset="0"/>
                                    <a:ea typeface="宋体" panose="02010600030101010101" pitchFamily="2" charset="-122"/>
                                  </a:rPr>
                                  <m:t>𝑻</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𝒌</m:t>
                                </m:r>
                              </m:e>
                              <m:sub>
                                <m:r>
                                  <a:rPr lang="en-US" altLang="zh-CN" sz="2000" b="1" i="1" kern="1050" smtClean="0">
                                    <a:effectLst/>
                                    <a:latin typeface="Cambria Math" panose="02040503050406030204" pitchFamily="18" charset="0"/>
                                    <a:ea typeface="宋体" panose="02010600030101010101" pitchFamily="2" charset="-122"/>
                                  </a:rPr>
                                  <m:t>𝒃</m:t>
                                </m:r>
                              </m:sub>
                            </m:sSub>
                            <m:r>
                              <a:rPr lang="en-US" altLang="zh-CN" sz="2000" b="1" i="1" kern="1050" smtClean="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𝟏</m:t>
                                </m:r>
                              </m:sub>
                              <m:sup>
                                <m:r>
                                  <a:rPr lang="en-US" altLang="zh-CN" sz="2000" b="1" i="1" kern="1050" smtClean="0">
                                    <a:effectLst/>
                                    <a:latin typeface="Cambria Math" panose="02040503050406030204" pitchFamily="18" charset="0"/>
                                    <a:ea typeface="宋体" panose="02010600030101010101" pitchFamily="2" charset="-122"/>
                                  </a:rPr>
                                  <m:t>𝑻</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𝟏</m:t>
                                </m:r>
                              </m:sub>
                            </m:sSub>
                          </m:den>
                        </m:f>
                      </m:e>
                    </m:func>
                    <m:r>
                      <a:rPr lang="en-US" altLang="zh-CN" sz="2000" b="1" i="1" kern="1050" smtClean="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𝟏</m:t>
                        </m:r>
                      </m:sub>
                      <m:sup>
                        <m:r>
                          <a:rPr lang="en-US" altLang="zh-CN" sz="2000" b="1" i="1" kern="1050" smtClean="0">
                            <a:effectLst/>
                            <a:latin typeface="Cambria Math" panose="02040503050406030204" pitchFamily="18" charset="0"/>
                            <a:ea typeface="宋体" panose="02010600030101010101" pitchFamily="2" charset="-122"/>
                          </a:rPr>
                          <m:t>𝑻</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𝑲</m:t>
                        </m:r>
                      </m:e>
                      <m:sub>
                        <m:r>
                          <a:rPr lang="en-US" altLang="zh-CN" sz="2000" b="1" i="1" kern="1050" smtClean="0">
                            <a:effectLst/>
                            <a:latin typeface="Cambria Math" panose="02040503050406030204" pitchFamily="18" charset="0"/>
                            <a:ea typeface="宋体" panose="02010600030101010101" pitchFamily="2" charset="-122"/>
                          </a:rPr>
                          <m:t>𝟏</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𝟏</m:t>
                        </m:r>
                      </m:sub>
                    </m:sSub>
                    <m:r>
                      <a:rPr lang="en-US" altLang="zh-CN" sz="2000" b="1" i="1" kern="1050" smtClean="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𝟏</m:t>
                            </m:r>
                          </m:sub>
                          <m:sup>
                            <m:r>
                              <a:rPr lang="en-US" altLang="zh-CN" sz="2000" b="1" i="1" kern="1050" smtClean="0">
                                <a:effectLst/>
                                <a:latin typeface="Cambria Math" panose="02040503050406030204" pitchFamily="18" charset="0"/>
                                <a:ea typeface="宋体" panose="02010600030101010101" pitchFamily="2" charset="-122"/>
                              </a:rPr>
                              <m:t>𝑻</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𝟐</m:t>
                            </m:r>
                          </m:sub>
                        </m:sSub>
                      </m:num>
                      <m:den>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smtClean="0">
                                <a:effectLst/>
                                <a:latin typeface="Cambria Math" panose="02040503050406030204" pitchFamily="18" charset="0"/>
                                <a:ea typeface="宋体" panose="02010600030101010101" pitchFamily="2" charset="-122"/>
                              </a:rPr>
                              <m:t>𝒌</m:t>
                            </m:r>
                          </m:e>
                          <m:sub>
                            <m:r>
                              <a:rPr lang="en-US" altLang="zh-CN" sz="2000" b="1" i="1" kern="1050" smtClean="0">
                                <a:effectLst/>
                                <a:latin typeface="Cambria Math" panose="02040503050406030204" pitchFamily="18" charset="0"/>
                                <a:ea typeface="宋体" panose="02010600030101010101" pitchFamily="2" charset="-122"/>
                              </a:rPr>
                              <m:t>𝒃</m:t>
                            </m:r>
                          </m:sub>
                          <m:sup>
                            <m:r>
                              <a:rPr lang="en-US" altLang="zh-CN" sz="2000" b="1" i="1" kern="1050" smtClean="0">
                                <a:effectLst/>
                                <a:latin typeface="Cambria Math" panose="02040503050406030204" pitchFamily="18" charset="0"/>
                                <a:ea typeface="宋体" panose="02010600030101010101" pitchFamily="2" charset="-122"/>
                              </a:rPr>
                              <m:t>𝑻</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𝒌</m:t>
                            </m:r>
                          </m:e>
                          <m:sub>
                            <m:r>
                              <a:rPr lang="en-US" altLang="zh-CN" sz="2000" b="1" i="1" kern="1050" smtClean="0">
                                <a:effectLst/>
                                <a:latin typeface="Cambria Math" panose="02040503050406030204" pitchFamily="18" charset="0"/>
                                <a:ea typeface="宋体" panose="02010600030101010101" pitchFamily="2" charset="-122"/>
                              </a:rPr>
                              <m:t>𝒃</m:t>
                            </m:r>
                          </m:sub>
                        </m:sSub>
                        <m:r>
                          <a:rPr lang="en-US" altLang="zh-CN" sz="2000" b="1" i="1" kern="1050" smtClean="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𝟏</m:t>
                            </m:r>
                          </m:sub>
                          <m:sup>
                            <m:r>
                              <a:rPr lang="en-US" altLang="zh-CN" sz="2000" b="1" i="1" kern="1050" smtClean="0">
                                <a:effectLst/>
                                <a:latin typeface="Cambria Math" panose="02040503050406030204" pitchFamily="18" charset="0"/>
                                <a:ea typeface="宋体" panose="02010600030101010101" pitchFamily="2" charset="-122"/>
                              </a:rPr>
                              <m:t>𝑻</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𝟏</m:t>
                            </m:r>
                          </m:sub>
                        </m:sSub>
                      </m:den>
                    </m:f>
                  </m:oMath>
                </a14:m>
                <a:r>
                  <a:rPr lang="en-US" altLang="zh-CN" sz="2000" b="1" kern="1050" dirty="0">
                    <a:effectLst/>
                    <a:latin typeface="微软雅黑" panose="020B0503020204020204" pitchFamily="34" charset="-122"/>
                    <a:ea typeface="微软雅黑" panose="020B0503020204020204" pitchFamily="34" charset="-122"/>
                  </a:rPr>
                  <a:t>	                                          (7.85)</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然后，将李雅普诺夫候选函数视为</a:t>
                </a:r>
              </a:p>
              <a:p>
                <a:pPr algn="just">
                  <a:spcBef>
                    <a:spcPts val="300"/>
                  </a:spcBef>
                  <a:spcAft>
                    <a:spcPts val="3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𝑽</m:t>
                        </m:r>
                      </m:e>
                      <m:sub>
                        <m:r>
                          <a:rPr lang="en-US" altLang="zh-CN" sz="2000" b="1" i="1" kern="1050" smtClean="0">
                            <a:effectLst/>
                            <a:latin typeface="Cambria Math" panose="02040503050406030204" pitchFamily="18" charset="0"/>
                            <a:ea typeface="宋体" panose="02010600030101010101" pitchFamily="2" charset="-122"/>
                          </a:rPr>
                          <m:t>𝟐</m:t>
                        </m:r>
                      </m:sub>
                    </m:sSub>
                    <m:r>
                      <a:rPr lang="en-US" altLang="zh-CN" sz="2000" b="1" i="1" kern="1050" smtClean="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smtClean="0">
                            <a:effectLst/>
                            <a:latin typeface="Cambria Math" panose="02040503050406030204" pitchFamily="18" charset="0"/>
                            <a:ea typeface="宋体" panose="02010600030101010101" pitchFamily="2" charset="-122"/>
                          </a:rPr>
                          <m:t>𝟏</m:t>
                        </m:r>
                      </m:num>
                      <m:den>
                        <m:r>
                          <a:rPr lang="en-US" altLang="zh-CN" sz="2000" b="1" i="1" kern="1050" smtClean="0">
                            <a:effectLst/>
                            <a:latin typeface="Cambria Math" panose="02040503050406030204" pitchFamily="18" charset="0"/>
                            <a:ea typeface="宋体" panose="02010600030101010101" pitchFamily="2" charset="-122"/>
                          </a:rPr>
                          <m:t>𝟐</m:t>
                        </m:r>
                      </m:den>
                    </m:f>
                    <m:func>
                      <m:funcPr>
                        <m:ctrlPr>
                          <a:rPr lang="zh-CN" altLang="zh-CN" sz="2000" b="1" i="1" kern="1050">
                            <a:effectLst/>
                            <a:latin typeface="Cambria Math" panose="02040503050406030204" pitchFamily="18" charset="0"/>
                            <a:ea typeface="Cambria Math" panose="02040503050406030204" pitchFamily="18" charset="0"/>
                          </a:rPr>
                        </m:ctrlPr>
                      </m:funcPr>
                      <m:fName>
                        <m:r>
                          <a:rPr lang="en-US" altLang="zh-CN" sz="2000" b="1" i="1" kern="1050" smtClean="0">
                            <a:effectLst/>
                            <a:latin typeface="Cambria Math" panose="02040503050406030204" pitchFamily="18" charset="0"/>
                            <a:ea typeface="宋体" panose="02010600030101010101" pitchFamily="2" charset="-122"/>
                          </a:rPr>
                          <m:t>𝒍𝒐𝒈</m:t>
                        </m:r>
                      </m:fName>
                      <m:e>
                        <m:f>
                          <m:fPr>
                            <m:ctrlPr>
                              <a:rPr lang="zh-CN" altLang="zh-CN" sz="2000" b="1" i="1" kern="1050">
                                <a:effectLst/>
                                <a:latin typeface="Cambria Math" panose="02040503050406030204" pitchFamily="18" charset="0"/>
                                <a:ea typeface="Cambria Math" panose="02040503050406030204" pitchFamily="18" charset="0"/>
                              </a:rPr>
                            </m:ctrlPr>
                          </m:fPr>
                          <m:num>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smtClean="0">
                                    <a:effectLst/>
                                    <a:latin typeface="Cambria Math" panose="02040503050406030204" pitchFamily="18" charset="0"/>
                                    <a:ea typeface="宋体" panose="02010600030101010101" pitchFamily="2" charset="-122"/>
                                  </a:rPr>
                                  <m:t>𝒌</m:t>
                                </m:r>
                              </m:e>
                              <m:sub>
                                <m:r>
                                  <a:rPr lang="en-US" altLang="zh-CN" sz="2000" b="1" i="1" kern="1050" smtClean="0">
                                    <a:effectLst/>
                                    <a:latin typeface="Cambria Math" panose="02040503050406030204" pitchFamily="18" charset="0"/>
                                    <a:ea typeface="宋体" panose="02010600030101010101" pitchFamily="2" charset="-122"/>
                                  </a:rPr>
                                  <m:t>𝒃</m:t>
                                </m:r>
                              </m:sub>
                              <m:sup>
                                <m:r>
                                  <a:rPr lang="en-US" altLang="zh-CN" sz="2000" b="1" i="1" kern="1050" smtClean="0">
                                    <a:effectLst/>
                                    <a:latin typeface="Cambria Math" panose="02040503050406030204" pitchFamily="18" charset="0"/>
                                    <a:ea typeface="宋体" panose="02010600030101010101" pitchFamily="2" charset="-122"/>
                                  </a:rPr>
                                  <m:t>𝑻</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𝒌</m:t>
                                </m:r>
                              </m:e>
                              <m:sub>
                                <m:r>
                                  <a:rPr lang="en-US" altLang="zh-CN" sz="2000" b="1" i="1" kern="1050" smtClean="0">
                                    <a:effectLst/>
                                    <a:latin typeface="Cambria Math" panose="02040503050406030204" pitchFamily="18" charset="0"/>
                                    <a:ea typeface="宋体" panose="02010600030101010101" pitchFamily="2" charset="-122"/>
                                  </a:rPr>
                                  <m:t>𝒃</m:t>
                                </m:r>
                              </m:sub>
                            </m:sSub>
                          </m:num>
                          <m:den>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smtClean="0">
                                    <a:effectLst/>
                                    <a:latin typeface="Cambria Math" panose="02040503050406030204" pitchFamily="18" charset="0"/>
                                    <a:ea typeface="宋体" panose="02010600030101010101" pitchFamily="2" charset="-122"/>
                                  </a:rPr>
                                  <m:t>𝒌</m:t>
                                </m:r>
                              </m:e>
                              <m:sub>
                                <m:r>
                                  <a:rPr lang="en-US" altLang="zh-CN" sz="2000" b="1" i="1" kern="1050" smtClean="0">
                                    <a:effectLst/>
                                    <a:latin typeface="Cambria Math" panose="02040503050406030204" pitchFamily="18" charset="0"/>
                                    <a:ea typeface="宋体" panose="02010600030101010101" pitchFamily="2" charset="-122"/>
                                  </a:rPr>
                                  <m:t>𝒃</m:t>
                                </m:r>
                              </m:sub>
                              <m:sup>
                                <m:r>
                                  <a:rPr lang="en-US" altLang="zh-CN" sz="2000" b="1" i="1" kern="1050" smtClean="0">
                                    <a:effectLst/>
                                    <a:latin typeface="Cambria Math" panose="02040503050406030204" pitchFamily="18" charset="0"/>
                                    <a:ea typeface="宋体" panose="02010600030101010101" pitchFamily="2" charset="-122"/>
                                  </a:rPr>
                                  <m:t>𝑻</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𝒌</m:t>
                                </m:r>
                              </m:e>
                              <m:sub>
                                <m:r>
                                  <a:rPr lang="en-US" altLang="zh-CN" sz="2000" b="1" i="1" kern="1050" smtClean="0">
                                    <a:effectLst/>
                                    <a:latin typeface="Cambria Math" panose="02040503050406030204" pitchFamily="18" charset="0"/>
                                    <a:ea typeface="宋体" panose="02010600030101010101" pitchFamily="2" charset="-122"/>
                                  </a:rPr>
                                  <m:t>𝒃</m:t>
                                </m:r>
                              </m:sub>
                            </m:sSub>
                            <m:r>
                              <a:rPr lang="en-US" altLang="zh-CN" sz="2000" b="1" i="1" kern="1050" smtClean="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𝟏</m:t>
                                </m:r>
                              </m:sub>
                              <m:sup>
                                <m:r>
                                  <a:rPr lang="en-US" altLang="zh-CN" sz="2000" b="1" i="1" kern="1050" smtClean="0">
                                    <a:effectLst/>
                                    <a:latin typeface="Cambria Math" panose="02040503050406030204" pitchFamily="18" charset="0"/>
                                    <a:ea typeface="宋体" panose="02010600030101010101" pitchFamily="2" charset="-122"/>
                                  </a:rPr>
                                  <m:t>𝑻</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𝟏</m:t>
                                </m:r>
                              </m:sub>
                            </m:sSub>
                          </m:den>
                        </m:f>
                      </m:e>
                    </m:func>
                    <m:r>
                      <a:rPr lang="en-US" altLang="zh-CN" sz="2000" b="1" i="1" kern="1050" smtClean="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r>
                          <a:rPr lang="en-US" altLang="zh-CN" sz="2000" b="1" i="1" kern="1050" smtClean="0">
                            <a:effectLst/>
                            <a:latin typeface="Cambria Math" panose="02040503050406030204" pitchFamily="18" charset="0"/>
                            <a:ea typeface="宋体" panose="02010600030101010101" pitchFamily="2" charset="-122"/>
                          </a:rPr>
                          <m:t>𝟏</m:t>
                        </m:r>
                      </m:num>
                      <m:den>
                        <m:r>
                          <a:rPr lang="en-US" altLang="zh-CN" sz="2000" b="1" i="1" kern="1050" smtClean="0">
                            <a:effectLst/>
                            <a:latin typeface="Cambria Math" panose="02040503050406030204" pitchFamily="18" charset="0"/>
                            <a:ea typeface="宋体" panose="02010600030101010101" pitchFamily="2" charset="-122"/>
                          </a:rPr>
                          <m:t>𝟐</m:t>
                        </m:r>
                      </m:den>
                    </m:f>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𝟐</m:t>
                        </m:r>
                      </m:sub>
                      <m:sup>
                        <m:r>
                          <a:rPr lang="en-US" altLang="zh-CN" sz="2000" b="1" i="1" kern="1050" smtClean="0">
                            <a:effectLst/>
                            <a:latin typeface="Cambria Math" panose="02040503050406030204" pitchFamily="18" charset="0"/>
                            <a:ea typeface="宋体" panose="02010600030101010101" pitchFamily="2" charset="-122"/>
                          </a:rPr>
                          <m:t>𝑻</m:t>
                        </m:r>
                      </m:sup>
                    </m:sSubSup>
                    <m:r>
                      <a:rPr lang="en-US" altLang="zh-CN" sz="2000" b="1" i="1" kern="1050" smtClean="0">
                        <a:effectLst/>
                        <a:latin typeface="Cambria Math" panose="02040503050406030204" pitchFamily="18" charset="0"/>
                        <a:ea typeface="宋体" panose="02010600030101010101" pitchFamily="2" charset="-122"/>
                      </a:rPr>
                      <m:t>𝑴</m:t>
                    </m:r>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𝒙</m:t>
                        </m:r>
                      </m:e>
                      <m:sub>
                        <m:r>
                          <a:rPr lang="en-US" altLang="zh-CN" sz="2000" b="1" i="1" kern="1050" smtClean="0">
                            <a:effectLst/>
                            <a:latin typeface="Cambria Math" panose="02040503050406030204" pitchFamily="18" charset="0"/>
                            <a:ea typeface="宋体" panose="02010600030101010101" pitchFamily="2" charset="-122"/>
                          </a:rPr>
                          <m:t>𝟏</m:t>
                        </m:r>
                      </m:sub>
                    </m:sSub>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𝒛</m:t>
                        </m:r>
                      </m:e>
                      <m:sub>
                        <m:r>
                          <a:rPr lang="en-US" altLang="zh-CN" sz="2000" b="1" i="1" kern="1050" smtClean="0">
                            <a:effectLst/>
                            <a:latin typeface="Cambria Math" panose="02040503050406030204" pitchFamily="18" charset="0"/>
                            <a:ea typeface="宋体" panose="02010600030101010101" pitchFamily="2" charset="-122"/>
                          </a:rPr>
                          <m:t>𝟐</m:t>
                        </m:r>
                      </m:sub>
                    </m:sSub>
                  </m:oMath>
                </a14:m>
                <a:r>
                  <a:rPr lang="en-US" altLang="zh-CN" sz="2000" b="1" kern="1050" dirty="0">
                    <a:effectLst/>
                    <a:latin typeface="微软雅黑" panose="020B0503020204020204" pitchFamily="34" charset="-122"/>
                    <a:ea typeface="微软雅黑" panose="020B0503020204020204" pitchFamily="34" charset="-122"/>
                  </a:rPr>
                  <a:t>	                                           (7.86)</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将式</a:t>
                </a:r>
                <a:r>
                  <a:rPr lang="en-US" altLang="zh-CN" sz="2400" b="1" kern="1000" dirty="0">
                    <a:effectLst/>
                    <a:latin typeface="微软雅黑" panose="020B0503020204020204" pitchFamily="34" charset="-122"/>
                    <a:ea typeface="微软雅黑" panose="020B0503020204020204" pitchFamily="34" charset="-122"/>
                  </a:rPr>
                  <a:t>(7.86)</a:t>
                </a:r>
                <a:r>
                  <a:rPr lang="zh-CN" altLang="zh-CN" sz="2400" b="1" kern="1000" dirty="0">
                    <a:effectLst/>
                    <a:latin typeface="微软雅黑" panose="020B0503020204020204" pitchFamily="34" charset="-122"/>
                    <a:ea typeface="微软雅黑" panose="020B0503020204020204" pitchFamily="34" charset="-122"/>
                  </a:rPr>
                  <a:t>关于时间求微分，得到</a:t>
                </a:r>
              </a:p>
            </p:txBody>
          </p:sp>
        </mc:Choice>
        <mc:Fallback xmlns="">
          <p:sp>
            <p:nvSpPr>
              <p:cNvPr id="10" name="文本框 9">
                <a:extLst>
                  <a:ext uri="{FF2B5EF4-FFF2-40B4-BE49-F238E27FC236}">
                    <a16:creationId xmlns:a16="http://schemas.microsoft.com/office/drawing/2014/main" id="{20F18EAD-D398-4026-3C87-19BA7B1E5E38}"/>
                  </a:ext>
                </a:extLst>
              </p:cNvPr>
              <p:cNvSpPr txBox="1">
                <a:spLocks noRot="1" noChangeAspect="1" noMove="1" noResize="1" noEditPoints="1" noAdjustHandles="1" noChangeArrowheads="1" noChangeShapeType="1" noTextEdit="1"/>
              </p:cNvSpPr>
              <p:nvPr/>
            </p:nvSpPr>
            <p:spPr>
              <a:xfrm>
                <a:off x="1550192" y="1272383"/>
                <a:ext cx="10441781" cy="2481257"/>
              </a:xfrm>
              <a:prstGeom prst="rect">
                <a:avLst/>
              </a:prstGeom>
              <a:blipFill>
                <a:blip r:embed="rId4"/>
                <a:stretch>
                  <a:fillRect l="-876" t="-1966" b="-4668"/>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F95144BD-C61A-B309-0892-DD59469386FB}"/>
              </a:ext>
            </a:extLst>
          </p:cNvPr>
          <p:cNvSpPr txBox="1"/>
          <p:nvPr/>
        </p:nvSpPr>
        <p:spPr>
          <a:xfrm>
            <a:off x="9028906" y="4436424"/>
            <a:ext cx="2420144" cy="400110"/>
          </a:xfrm>
          <a:prstGeom prst="rect">
            <a:avLst/>
          </a:prstGeom>
          <a:noFill/>
        </p:spPr>
        <p:txBody>
          <a:bodyPr wrap="square">
            <a:spAutoFit/>
          </a:bodyPr>
          <a:lstStyle/>
          <a:p>
            <a:r>
              <a:rPr lang="en-US" altLang="zh-CN" sz="2000" b="1" kern="10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2000" b="1" kern="1000" dirty="0">
                <a:effectLst/>
                <a:latin typeface="微软雅黑" panose="020B0503020204020204" pitchFamily="34" charset="-122"/>
                <a:ea typeface="微软雅黑" panose="020B0503020204020204" pitchFamily="34" charset="-122"/>
              </a:rPr>
              <a:t>7.87</a:t>
            </a:r>
            <a:r>
              <a:rPr lang="en-US" altLang="zh-CN" sz="2000" b="1" kern="1000" dirty="0">
                <a:effectLst/>
                <a:latin typeface="微软雅黑" panose="020B0503020204020204" pitchFamily="34" charset="-122"/>
                <a:ea typeface="微软雅黑" panose="020B0503020204020204" pitchFamily="34" charset="-122"/>
                <a:cs typeface="Times New Roman" panose="02020603050405020304" pitchFamily="18" charset="0"/>
              </a:rPr>
              <a:t>)  </a:t>
            </a:r>
            <a:endParaRPr lang="zh-CN" altLang="en-US" sz="2000" b="1"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3C63362F-C475-6AD5-7D21-EC0749E56114}"/>
                  </a:ext>
                </a:extLst>
              </p:cNvPr>
              <p:cNvSpPr txBox="1"/>
              <p:nvPr/>
            </p:nvSpPr>
            <p:spPr>
              <a:xfrm>
                <a:off x="1550193" y="4973829"/>
                <a:ext cx="10441782" cy="930768"/>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然后，将基于模型的控制设计为</a:t>
                </a:r>
              </a:p>
              <a:p>
                <a:pPr algn="jus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𝝉</m:t>
                        </m:r>
                      </m:e>
                      <m:sub>
                        <m:r>
                          <a:rPr lang="en-US" altLang="zh-CN" sz="2000" b="1" i="1" kern="1050">
                            <a:effectLst/>
                            <a:latin typeface="Cambria Math" panose="02040503050406030204" pitchFamily="18" charset="0"/>
                            <a:ea typeface="宋体" panose="02010600030101010101" pitchFamily="2" charset="-122"/>
                          </a:rPr>
                          <m:t>𝟎</m:t>
                        </m:r>
                      </m:sub>
                    </m:sSub>
                    <m:r>
                      <a:rPr lang="en-US" altLang="zh-CN" sz="2000" b="1" i="1" kern="105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𝟏</m:t>
                            </m:r>
                          </m:sub>
                        </m:sSub>
                      </m:num>
                      <m:den>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a:effectLst/>
                                <a:latin typeface="Cambria Math" panose="02040503050406030204" pitchFamily="18" charset="0"/>
                                <a:ea typeface="宋体" panose="02010600030101010101" pitchFamily="2" charset="-122"/>
                              </a:rPr>
                              <m:t>𝒌</m:t>
                            </m:r>
                          </m:e>
                          <m:sub>
                            <m:r>
                              <a:rPr lang="en-US" altLang="zh-CN" sz="2000" b="1" i="1" kern="1050">
                                <a:effectLst/>
                                <a:latin typeface="Cambria Math" panose="02040503050406030204" pitchFamily="18" charset="0"/>
                                <a:ea typeface="宋体" panose="02010600030101010101" pitchFamily="2" charset="-122"/>
                              </a:rPr>
                              <m:t>𝒃</m:t>
                            </m:r>
                          </m:sub>
                          <m:sup>
                            <m:r>
                              <a:rPr lang="en-US" altLang="zh-CN" sz="2000" b="1" i="1" kern="1050">
                                <a:effectLst/>
                                <a:latin typeface="Cambria Math" panose="02040503050406030204" pitchFamily="18" charset="0"/>
                                <a:ea typeface="宋体" panose="02010600030101010101" pitchFamily="2" charset="-122"/>
                              </a:rPr>
                              <m:t>𝑻</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𝒌</m:t>
                            </m:r>
                          </m:e>
                          <m:sub>
                            <m:r>
                              <a:rPr lang="en-US" altLang="zh-CN" sz="2000" b="1" i="1" kern="1050">
                                <a:effectLst/>
                                <a:latin typeface="Cambria Math" panose="02040503050406030204" pitchFamily="18" charset="0"/>
                                <a:ea typeface="宋体" panose="02010600030101010101" pitchFamily="2" charset="-122"/>
                              </a:rPr>
                              <m:t>𝒃</m:t>
                            </m:r>
                          </m:sub>
                        </m:sSub>
                        <m:r>
                          <a:rPr lang="en-US" altLang="zh-CN" sz="2000" b="1" i="1" kern="105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𝟏</m:t>
                            </m:r>
                          </m:sub>
                          <m:sup>
                            <m:r>
                              <a:rPr lang="en-US" altLang="zh-CN" sz="2000" b="1" i="1" kern="1050">
                                <a:effectLst/>
                                <a:latin typeface="Cambria Math" panose="02040503050406030204" pitchFamily="18" charset="0"/>
                                <a:ea typeface="宋体" panose="02010600030101010101" pitchFamily="2" charset="-122"/>
                              </a:rPr>
                              <m:t>𝑻</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𝟏</m:t>
                            </m:r>
                          </m:sub>
                        </m:sSub>
                      </m:den>
                    </m:f>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𝟐</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𝟐</m:t>
                        </m:r>
                      </m:sub>
                    </m:sSub>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𝑱</m:t>
                        </m:r>
                      </m:e>
                      <m:sup>
                        <m:r>
                          <a:rPr lang="en-US" altLang="zh-CN" sz="2000" b="1" i="1" kern="1050">
                            <a:effectLst/>
                            <a:latin typeface="Cambria Math" panose="02040503050406030204" pitchFamily="18" charset="0"/>
                            <a:ea typeface="宋体" panose="02010600030101010101" pitchFamily="2" charset="-122"/>
                          </a:rPr>
                          <m:t>𝑻</m:t>
                        </m:r>
                      </m:sup>
                    </m:sSup>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𝒇</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𝑪</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𝟐</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𝜶</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𝒕</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𝑮</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𝑴</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𝜶</m:t>
                            </m:r>
                          </m:e>
                        </m:acc>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𝒕</m:t>
                    </m:r>
                    <m:r>
                      <a:rPr lang="en-US" altLang="zh-CN" sz="2000" b="1" i="1" kern="1050">
                        <a:effectLst/>
                        <a:latin typeface="Cambria Math" panose="02040503050406030204" pitchFamily="18" charset="0"/>
                        <a:ea typeface="宋体" panose="02010600030101010101" pitchFamily="2" charset="-122"/>
                      </a:rPr>
                      <m:t>)</m:t>
                    </m:r>
                  </m:oMath>
                </a14:m>
                <a:r>
                  <a:rPr lang="en-US" altLang="zh-CN" sz="2000" b="1" kern="1050" dirty="0">
                    <a:latin typeface="微软雅黑" panose="020B0503020204020204" pitchFamily="34" charset="-122"/>
                    <a:ea typeface="微软雅黑" panose="020B0503020204020204" pitchFamily="34" charset="-122"/>
                  </a:rPr>
                  <a:t>        (7.88) </a:t>
                </a:r>
                <a:r>
                  <a:rPr lang="en-US" altLang="zh-CN" sz="2000" b="1" kern="1050" dirty="0">
                    <a:effectLst/>
                    <a:latin typeface="微软雅黑" panose="020B0503020204020204" pitchFamily="34" charset="-122"/>
                    <a:ea typeface="微软雅黑" panose="020B0503020204020204" pitchFamily="34" charset="-122"/>
                  </a:rPr>
                  <a:t>	</a:t>
                </a:r>
                <a:endParaRPr lang="zh-CN" altLang="zh-CN" sz="2000" b="1" kern="1050" dirty="0">
                  <a:effectLst/>
                  <a:latin typeface="微软雅黑" panose="020B0503020204020204" pitchFamily="34" charset="-122"/>
                  <a:ea typeface="微软雅黑" panose="020B0503020204020204" pitchFamily="34" charset="-122"/>
                </a:endParaRPr>
              </a:p>
            </p:txBody>
          </p:sp>
        </mc:Choice>
        <mc:Fallback xmlns="">
          <p:sp>
            <p:nvSpPr>
              <p:cNvPr id="14" name="文本框 13">
                <a:extLst>
                  <a:ext uri="{FF2B5EF4-FFF2-40B4-BE49-F238E27FC236}">
                    <a16:creationId xmlns:a16="http://schemas.microsoft.com/office/drawing/2014/main" id="{3C63362F-C475-6AD5-7D21-EC0749E56114}"/>
                  </a:ext>
                </a:extLst>
              </p:cNvPr>
              <p:cNvSpPr txBox="1">
                <a:spLocks noRot="1" noChangeAspect="1" noMove="1" noResize="1" noEditPoints="1" noAdjustHandles="1" noChangeArrowheads="1" noChangeShapeType="1" noTextEdit="1"/>
              </p:cNvSpPr>
              <p:nvPr/>
            </p:nvSpPr>
            <p:spPr>
              <a:xfrm>
                <a:off x="1550193" y="4973829"/>
                <a:ext cx="10441782" cy="930768"/>
              </a:xfrm>
              <a:prstGeom prst="rect">
                <a:avLst/>
              </a:prstGeom>
              <a:blipFill>
                <a:blip r:embed="rId5"/>
                <a:stretch>
                  <a:fillRect l="-876" t="-5229"/>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761D77CD-6585-15B0-1550-985452D65906}"/>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滑模控制</a:t>
            </a:r>
          </a:p>
        </p:txBody>
      </p:sp>
    </p:spTree>
    <p:extLst>
      <p:ext uri="{BB962C8B-B14F-4D97-AF65-F5344CB8AC3E}">
        <p14:creationId xmlns:p14="http://schemas.microsoft.com/office/powerpoint/2010/main" val="78048981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BE462B27-7B1B-B8B2-505D-B7839BBDF7E9}"/>
                  </a:ext>
                </a:extLst>
              </p:cNvPr>
              <p:cNvSpPr txBox="1"/>
              <p:nvPr/>
            </p:nvSpPr>
            <p:spPr>
              <a:xfrm>
                <a:off x="952500" y="1003260"/>
                <a:ext cx="10029825" cy="5356723"/>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其中增益矩阵</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𝑲</m:t>
                        </m:r>
                      </m:e>
                      <m:sub>
                        <m:r>
                          <a:rPr lang="en-US" altLang="zh-CN" sz="2400" b="1" i="1" kern="1000">
                            <a:effectLst/>
                            <a:latin typeface="Cambria Math" panose="02040503050406030204" pitchFamily="18" charset="0"/>
                            <a:ea typeface="宋体" panose="02010600030101010101" pitchFamily="2" charset="-122"/>
                          </a:rPr>
                          <m:t>𝟐</m:t>
                        </m:r>
                      </m:sub>
                    </m:sSub>
                    <m:r>
                      <a:rPr lang="en-US" altLang="zh-CN" sz="2400" b="1" i="1" kern="1000">
                        <a:effectLst/>
                        <a:latin typeface="Cambria Math" panose="02040503050406030204" pitchFamily="18" charset="0"/>
                        <a:ea typeface="宋体" panose="02010600030101010101" pitchFamily="2" charset="-122"/>
                      </a:rPr>
                      <m:t>=</m:t>
                    </m:r>
                    <m:sSubSup>
                      <m:sSubSupPr>
                        <m:ctrlPr>
                          <a:rPr lang="zh-CN" altLang="zh-CN" sz="2400" b="1" i="1" kern="1000">
                            <a:effectLst/>
                            <a:latin typeface="Cambria Math" panose="02040503050406030204" pitchFamily="18" charset="0"/>
                            <a:ea typeface="Cambria Math" panose="02040503050406030204" pitchFamily="18" charset="0"/>
                          </a:rPr>
                        </m:ctrlPr>
                      </m:sSubSupPr>
                      <m:e>
                        <m:r>
                          <a:rPr lang="en-US" altLang="zh-CN" sz="2400" b="1" i="1" kern="1000">
                            <a:effectLst/>
                            <a:latin typeface="Cambria Math" panose="02040503050406030204" pitchFamily="18" charset="0"/>
                            <a:ea typeface="宋体" panose="02010600030101010101" pitchFamily="2" charset="-122"/>
                          </a:rPr>
                          <m:t>𝑲</m:t>
                        </m:r>
                      </m:e>
                      <m:sub>
                        <m:r>
                          <a:rPr lang="en-US" altLang="zh-CN" sz="2400" b="1" i="1" kern="1000">
                            <a:effectLst/>
                            <a:latin typeface="Cambria Math" panose="02040503050406030204" pitchFamily="18" charset="0"/>
                            <a:ea typeface="宋体" panose="02010600030101010101" pitchFamily="2" charset="-122"/>
                          </a:rPr>
                          <m:t>𝟐</m:t>
                        </m:r>
                      </m:sub>
                      <m:sup>
                        <m:r>
                          <a:rPr lang="en-US" altLang="zh-CN" sz="2400" b="1" i="1" kern="1000">
                            <a:effectLst/>
                            <a:latin typeface="Cambria Math" panose="02040503050406030204" pitchFamily="18" charset="0"/>
                            <a:ea typeface="宋体" panose="02010600030101010101" pitchFamily="2" charset="-122"/>
                          </a:rPr>
                          <m:t>𝑻</m:t>
                        </m:r>
                      </m:sup>
                    </m:sSubSup>
                    <m:r>
                      <a:rPr lang="en-US" altLang="zh-CN" sz="2400" b="1" i="1" kern="1000">
                        <a:effectLst/>
                        <a:latin typeface="Cambria Math" panose="02040503050406030204" pitchFamily="18" charset="0"/>
                        <a:ea typeface="宋体" panose="02010600030101010101" pitchFamily="2" charset="-122"/>
                      </a:rPr>
                      <m:t>&gt;</m:t>
                    </m:r>
                    <m:r>
                      <a:rPr lang="en-US" altLang="zh-CN" sz="2400" b="1" i="1" kern="1000">
                        <a:effectLst/>
                        <a:latin typeface="Cambria Math" panose="02040503050406030204" pitchFamily="18" charset="0"/>
                        <a:ea typeface="宋体" panose="02010600030101010101" pitchFamily="2" charset="-122"/>
                      </a:rPr>
                      <m:t>𝟎</m:t>
                    </m:r>
                  </m:oMath>
                </a14:m>
                <a:r>
                  <a:rPr lang="zh-CN" altLang="zh-CN" sz="2400" b="1" kern="1000" dirty="0">
                    <a:effectLst/>
                    <a:latin typeface="微软雅黑" panose="020B0503020204020204" pitchFamily="34" charset="-122"/>
                    <a:ea typeface="微软雅黑" panose="020B0503020204020204" pitchFamily="34" charset="-122"/>
                  </a:rPr>
                  <a:t>。将式</a:t>
                </a:r>
                <a:r>
                  <a:rPr lang="en-US" altLang="zh-CN" sz="2400" b="1" kern="1000" dirty="0">
                    <a:effectLst/>
                    <a:latin typeface="微软雅黑" panose="020B0503020204020204" pitchFamily="34" charset="-122"/>
                    <a:ea typeface="微软雅黑" panose="020B0503020204020204" pitchFamily="34" charset="-122"/>
                  </a:rPr>
                  <a:t>(7.88)</a:t>
                </a:r>
                <a:r>
                  <a:rPr lang="zh-CN" altLang="zh-CN" sz="2400" b="1" kern="1000" dirty="0">
                    <a:effectLst/>
                    <a:latin typeface="微软雅黑" panose="020B0503020204020204" pitchFamily="34" charset="-122"/>
                    <a:ea typeface="微软雅黑" panose="020B0503020204020204" pitchFamily="34" charset="-122"/>
                  </a:rPr>
                  <a:t>代入式</a:t>
                </a:r>
                <a:r>
                  <a:rPr lang="en-US" altLang="zh-CN" sz="2400" b="1" kern="1000" dirty="0">
                    <a:effectLst/>
                    <a:latin typeface="微软雅黑" panose="020B0503020204020204" pitchFamily="34" charset="-122"/>
                    <a:ea typeface="微软雅黑" panose="020B0503020204020204" pitchFamily="34" charset="-122"/>
                  </a:rPr>
                  <a:t>(7.87)</a:t>
                </a:r>
                <a:r>
                  <a:rPr lang="zh-CN" altLang="zh-CN" sz="2400" b="1" kern="1000" dirty="0">
                    <a:effectLst/>
                    <a:latin typeface="微软雅黑" panose="020B0503020204020204" pitchFamily="34" charset="-122"/>
                    <a:ea typeface="微软雅黑" panose="020B0503020204020204" pitchFamily="34" charset="-122"/>
                  </a:rPr>
                  <a:t>，得到</a:t>
                </a:r>
              </a:p>
              <a:p>
                <a:pPr algn="just">
                  <a:spcBef>
                    <a:spcPts val="300"/>
                  </a:spcBef>
                  <a:spcAft>
                    <a:spcPts val="3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𝑽</m:t>
                            </m:r>
                          </m:e>
                        </m:acc>
                      </m:e>
                      <m:sub>
                        <m:r>
                          <a:rPr lang="en-US" altLang="zh-CN" sz="2000" b="1" i="1" kern="1050">
                            <a:effectLst/>
                            <a:latin typeface="Cambria Math" panose="02040503050406030204" pitchFamily="18" charset="0"/>
                            <a:ea typeface="宋体" panose="02010600030101010101" pitchFamily="2" charset="-122"/>
                          </a:rPr>
                          <m:t>𝟐</m:t>
                        </m:r>
                      </m:sub>
                    </m:sSub>
                    <m:r>
                      <a:rPr lang="en-US" altLang="zh-CN" sz="2000" b="1" i="1" kern="105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𝟏</m:t>
                        </m:r>
                      </m:sub>
                      <m:sup>
                        <m:r>
                          <a:rPr lang="en-US" altLang="zh-CN" sz="2000" b="1" i="1" kern="1050">
                            <a:effectLst/>
                            <a:latin typeface="Cambria Math" panose="02040503050406030204" pitchFamily="18" charset="0"/>
                            <a:ea typeface="宋体" panose="02010600030101010101" pitchFamily="2" charset="-122"/>
                          </a:rPr>
                          <m:t>𝑻</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𝟏</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𝑽</m:t>
                            </m:r>
                          </m:e>
                        </m:acc>
                      </m:e>
                      <m:sub>
                        <m:r>
                          <a:rPr lang="en-US" altLang="zh-CN" sz="2000" b="1" i="1" kern="1050">
                            <a:effectLst/>
                            <a:latin typeface="Cambria Math" panose="02040503050406030204" pitchFamily="18" charset="0"/>
                            <a:ea typeface="宋体" panose="02010600030101010101" pitchFamily="2" charset="-122"/>
                          </a:rPr>
                          <m:t>𝟐</m:t>
                        </m:r>
                      </m:sub>
                    </m:sSub>
                    <m:r>
                      <a:rPr lang="en-US" altLang="zh-CN" sz="2000" b="1" i="1" kern="105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𝟐</m:t>
                        </m:r>
                      </m:sub>
                      <m:sup>
                        <m:r>
                          <a:rPr lang="en-US" altLang="zh-CN" sz="2000" b="1" i="1" kern="1050">
                            <a:effectLst/>
                            <a:latin typeface="Cambria Math" panose="02040503050406030204" pitchFamily="18" charset="0"/>
                            <a:ea typeface="宋体" panose="02010600030101010101" pitchFamily="2" charset="-122"/>
                          </a:rPr>
                          <m:t>𝑻</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𝟐</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𝟐</m:t>
                        </m:r>
                      </m:sub>
                    </m:sSub>
                  </m:oMath>
                </a14:m>
                <a:r>
                  <a:rPr lang="en-US" altLang="zh-CN" sz="2000" b="1" kern="1050" dirty="0">
                    <a:effectLst/>
                    <a:latin typeface="微软雅黑" panose="020B0503020204020204" pitchFamily="34" charset="-122"/>
                    <a:ea typeface="微软雅黑" panose="020B0503020204020204" pitchFamily="34" charset="-122"/>
                  </a:rPr>
                  <a:t>	                                  (7.89)</a:t>
                </a:r>
                <a:endParaRPr lang="zh-CN" altLang="zh-CN" sz="2000" b="1" kern="1050" dirty="0">
                  <a:effectLst/>
                  <a:latin typeface="微软雅黑" panose="020B0503020204020204" pitchFamily="34" charset="-122"/>
                  <a:ea typeface="微软雅黑" panose="020B0503020204020204" pitchFamily="34" charset="-122"/>
                </a:endParaRPr>
              </a:p>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由于参数</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𝑴</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𝟏</m:t>
                        </m:r>
                      </m:sub>
                    </m:sSub>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𝑪</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𝟏</m:t>
                        </m:r>
                      </m:sub>
                    </m:sSub>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𝟐</m:t>
                        </m:r>
                      </m:sub>
                    </m:sSub>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𝑮</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𝟏</m:t>
                        </m:r>
                      </m:sub>
                    </m:sSub>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𝒇</m:t>
                    </m:r>
                  </m:oMath>
                </a14:m>
                <a:r>
                  <a:rPr lang="zh-CN" altLang="zh-CN" sz="2400" b="1" kern="1000" dirty="0">
                    <a:effectLst/>
                    <a:latin typeface="微软雅黑" panose="020B0503020204020204" pitchFamily="34" charset="-122"/>
                    <a:ea typeface="微软雅黑" panose="020B0503020204020204" pitchFamily="34" charset="-122"/>
                  </a:rPr>
                  <a:t>存在不确定性，基于模型的控制设计可能无法实现。为了克服这一挑战，基于神经网络的控制可以通过在线估计来逼近上述参数的不确定性，提高系统的性能。从而设计控制器如下：</a:t>
                </a:r>
              </a:p>
              <a:p>
                <a:pPr algn="just">
                  <a:spcBef>
                    <a:spcPts val="300"/>
                  </a:spcBef>
                  <a:spcAft>
                    <a:spcPts val="3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000" b="1" i="1" kern="1050">
                        <a:effectLst/>
                        <a:latin typeface="Cambria Math" panose="02040503050406030204" pitchFamily="18" charset="0"/>
                        <a:ea typeface="宋体" panose="02010600030101010101" pitchFamily="2" charset="-122"/>
                      </a:rPr>
                      <m:t>𝝉</m:t>
                    </m:r>
                    <m:r>
                      <a:rPr lang="en-US" altLang="zh-CN" sz="2000" b="1" i="1" kern="1050">
                        <a:effectLst/>
                        <a:latin typeface="Cambria Math" panose="02040503050406030204" pitchFamily="18" charset="0"/>
                        <a:ea typeface="宋体" panose="02010600030101010101" pitchFamily="2" charset="-122"/>
                      </a:rPr>
                      <m:t>=−</m:t>
                    </m:r>
                    <m:f>
                      <m:fPr>
                        <m:ctrlPr>
                          <a:rPr lang="zh-CN" altLang="zh-CN" sz="2000" b="1" i="1" kern="1050">
                            <a:effectLst/>
                            <a:latin typeface="Cambria Math" panose="02040503050406030204" pitchFamily="18" charset="0"/>
                            <a:ea typeface="Cambria Math" panose="02040503050406030204" pitchFamily="18" charset="0"/>
                          </a:rPr>
                        </m:ctrlPr>
                      </m:fPr>
                      <m:num>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𝟏</m:t>
                            </m:r>
                          </m:sub>
                        </m:sSub>
                      </m:num>
                      <m:den>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a:effectLst/>
                                <a:latin typeface="Cambria Math" panose="02040503050406030204" pitchFamily="18" charset="0"/>
                                <a:ea typeface="宋体" panose="02010600030101010101" pitchFamily="2" charset="-122"/>
                              </a:rPr>
                              <m:t>𝒌</m:t>
                            </m:r>
                          </m:e>
                          <m:sub>
                            <m:r>
                              <a:rPr lang="en-US" altLang="zh-CN" sz="2000" b="1" i="1" kern="1050">
                                <a:effectLst/>
                                <a:latin typeface="Cambria Math" panose="02040503050406030204" pitchFamily="18" charset="0"/>
                                <a:ea typeface="宋体" panose="02010600030101010101" pitchFamily="2" charset="-122"/>
                              </a:rPr>
                              <m:t>𝒃</m:t>
                            </m:r>
                          </m:sub>
                          <m:sup>
                            <m:r>
                              <a:rPr lang="en-US" altLang="zh-CN" sz="2000" b="1" i="1" kern="1050">
                                <a:effectLst/>
                                <a:latin typeface="Cambria Math" panose="02040503050406030204" pitchFamily="18" charset="0"/>
                                <a:ea typeface="宋体" panose="02010600030101010101" pitchFamily="2" charset="-122"/>
                              </a:rPr>
                              <m:t>𝑻</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𝒌</m:t>
                            </m:r>
                          </m:e>
                          <m:sub>
                            <m:r>
                              <a:rPr lang="en-US" altLang="zh-CN" sz="2000" b="1" i="1" kern="1050">
                                <a:effectLst/>
                                <a:latin typeface="Cambria Math" panose="02040503050406030204" pitchFamily="18" charset="0"/>
                                <a:ea typeface="宋体" panose="02010600030101010101" pitchFamily="2" charset="-122"/>
                              </a:rPr>
                              <m:t>𝒃</m:t>
                            </m:r>
                          </m:sub>
                        </m:sSub>
                        <m:r>
                          <a:rPr lang="en-US" altLang="zh-CN" sz="2000" b="1" i="1" kern="105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𝟏</m:t>
                            </m:r>
                          </m:sub>
                          <m:sup>
                            <m:r>
                              <a:rPr lang="en-US" altLang="zh-CN" sz="2000" b="1" i="1" kern="1050">
                                <a:effectLst/>
                                <a:latin typeface="Cambria Math" panose="02040503050406030204" pitchFamily="18" charset="0"/>
                                <a:ea typeface="宋体" panose="02010600030101010101" pitchFamily="2" charset="-122"/>
                              </a:rPr>
                              <m:t>𝑻</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𝟏</m:t>
                            </m:r>
                          </m:sub>
                        </m:sSub>
                      </m:den>
                    </m:f>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𝟐</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𝟐</m:t>
                        </m:r>
                      </m:sub>
                    </m:sSub>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𝑾</m:t>
                            </m:r>
                          </m:e>
                        </m:acc>
                      </m:e>
                      <m:sup>
                        <m:r>
                          <a:rPr lang="en-US" altLang="zh-CN" sz="2000" b="1" i="1" kern="1050">
                            <a:effectLst/>
                            <a:latin typeface="Cambria Math" panose="02040503050406030204" pitchFamily="18" charset="0"/>
                            <a:ea typeface="宋体" panose="02010600030101010101" pitchFamily="2" charset="-122"/>
                          </a:rPr>
                          <m:t>𝑻</m:t>
                        </m:r>
                      </m:sup>
                    </m:sSup>
                    <m:r>
                      <a:rPr lang="en-US" altLang="zh-CN" sz="2000" b="1" i="1" kern="1050">
                        <a:effectLst/>
                        <a:latin typeface="Cambria Math" panose="02040503050406030204" pitchFamily="18" charset="0"/>
                        <a:ea typeface="宋体" panose="02010600030101010101" pitchFamily="2" charset="-122"/>
                      </a:rPr>
                      <m:t>𝑺</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𝒁</m:t>
                    </m:r>
                    <m:r>
                      <a:rPr lang="en-US" altLang="zh-CN" sz="2000" b="1" i="1" kern="105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(7.90)</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𝑾</m:t>
                        </m:r>
                      </m:e>
                    </m:acc>
                  </m:oMath>
                </a14:m>
                <a:r>
                  <a:rPr lang="zh-CN" altLang="zh-CN" sz="2400" b="1" kern="1000" dirty="0">
                    <a:effectLst/>
                    <a:latin typeface="微软雅黑" panose="020B0503020204020204" pitchFamily="34" charset="-122"/>
                    <a:ea typeface="微软雅黑" panose="020B0503020204020204" pitchFamily="34" charset="-122"/>
                  </a:rPr>
                  <a:t>是神经网络的权值，</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𝑺</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𝒁</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是基函数。神经网络</a:t>
                </a:r>
                <a14:m>
                  <m:oMath xmlns:m="http://schemas.openxmlformats.org/officeDocument/2006/math">
                    <m:sSup>
                      <m:sSupPr>
                        <m:ctrlPr>
                          <a:rPr lang="zh-CN" altLang="zh-CN" sz="2400" b="1" i="1" kern="1000">
                            <a:effectLst/>
                            <a:latin typeface="Cambria Math" panose="02040503050406030204" pitchFamily="18" charset="0"/>
                            <a:ea typeface="Cambria Math" panose="02040503050406030204" pitchFamily="18" charset="0"/>
                          </a:rPr>
                        </m:ctrlPr>
                      </m:sSupPr>
                      <m:e>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𝑾</m:t>
                            </m:r>
                          </m:e>
                        </m:acc>
                      </m:e>
                      <m:sup>
                        <m:r>
                          <a:rPr lang="en-US" altLang="zh-CN" sz="2400" b="1" i="1" kern="1000">
                            <a:effectLst/>
                            <a:latin typeface="Cambria Math" panose="02040503050406030204" pitchFamily="18" charset="0"/>
                            <a:ea typeface="宋体" panose="02010600030101010101" pitchFamily="2" charset="-122"/>
                          </a:rPr>
                          <m:t>𝑻</m:t>
                        </m:r>
                      </m:sup>
                    </m:sSup>
                    <m:r>
                      <a:rPr lang="en-US" altLang="zh-CN" sz="2400" b="1" i="1" kern="1000">
                        <a:effectLst/>
                        <a:latin typeface="Cambria Math" panose="02040503050406030204" pitchFamily="18" charset="0"/>
                        <a:ea typeface="宋体" panose="02010600030101010101" pitchFamily="2" charset="-122"/>
                      </a:rPr>
                      <m:t>𝑺</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𝒁</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近似于如下定义的</a:t>
                </a:r>
                <a14:m>
                  <m:oMath xmlns:m="http://schemas.openxmlformats.org/officeDocument/2006/math">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𝑾</m:t>
                        </m:r>
                      </m:e>
                      <m:sup>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𝑻</m:t>
                        </m:r>
                      </m:sup>
                    </m:sSup>
                    <m:r>
                      <a:rPr lang="en-US" altLang="zh-CN" sz="2400" b="1" i="1" kern="1000">
                        <a:effectLst/>
                        <a:latin typeface="Cambria Math" panose="02040503050406030204" pitchFamily="18" charset="0"/>
                        <a:ea typeface="宋体" panose="02010600030101010101" pitchFamily="2" charset="-122"/>
                      </a:rPr>
                      <m:t>𝑺</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𝒁</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a:t>
                </a:r>
              </a:p>
              <a:p>
                <a:pPr algn="just">
                  <a:spcBef>
                    <a:spcPts val="400"/>
                  </a:spcBef>
                  <a:spcAft>
                    <a:spcPts val="4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𝑾</m:t>
                        </m:r>
                      </m:e>
                      <m: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𝑻</m:t>
                        </m:r>
                      </m:sup>
                    </m:sSup>
                    <m:r>
                      <a:rPr lang="en-US" altLang="zh-CN" sz="2000" b="1" i="1" kern="1050">
                        <a:effectLst/>
                        <a:latin typeface="Cambria Math" panose="02040503050406030204" pitchFamily="18" charset="0"/>
                        <a:ea typeface="宋体" panose="02010600030101010101" pitchFamily="2" charset="-122"/>
                      </a:rPr>
                      <m:t>𝑺</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𝒁</m:t>
                    </m:r>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𝑱</m:t>
                        </m:r>
                      </m:e>
                      <m:sup>
                        <m:r>
                          <a:rPr lang="en-US" altLang="zh-CN" sz="2000" b="1" i="1" kern="1050">
                            <a:effectLst/>
                            <a:latin typeface="Cambria Math" panose="02040503050406030204" pitchFamily="18" charset="0"/>
                            <a:ea typeface="宋体" panose="02010600030101010101" pitchFamily="2" charset="-122"/>
                          </a:rPr>
                          <m:t>𝑻</m:t>
                        </m:r>
                      </m:sup>
                    </m:sSup>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𝒇</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𝑪</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𝟐</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𝜶</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𝒕</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𝑮</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𝑴</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𝒙</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𝜶</m:t>
                            </m:r>
                          </m:e>
                        </m:acc>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𝒕</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𝜺</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𝒁</m:t>
                    </m:r>
                    <m:r>
                      <a:rPr lang="en-US" altLang="zh-CN" sz="2000" b="1" i="1" kern="105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(7.91)</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式中，</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𝒁</m:t>
                    </m:r>
                    <m:r>
                      <a:rPr lang="en-US" altLang="zh-CN" sz="2400" b="1" i="1" kern="1000">
                        <a:effectLst/>
                        <a:latin typeface="Cambria Math" panose="02040503050406030204" pitchFamily="18" charset="0"/>
                        <a:ea typeface="宋体" panose="02010600030101010101" pitchFamily="2" charset="-122"/>
                      </a:rPr>
                      <m:t>=[</m:t>
                    </m:r>
                    <m:m>
                      <m:mPr>
                        <m:mcs>
                          <m:mc>
                            <m:mcPr>
                              <m:count m:val="4"/>
                              <m:mcJc m:val="center"/>
                            </m:mcPr>
                          </m:mc>
                        </m:mcs>
                        <m:ctrlPr>
                          <a:rPr lang="zh-CN" altLang="zh-CN" sz="2400" b="1" i="1" kern="1000">
                            <a:effectLst/>
                            <a:latin typeface="Cambria Math" panose="02040503050406030204" pitchFamily="18" charset="0"/>
                            <a:ea typeface="Cambria Math" panose="02040503050406030204" pitchFamily="18" charset="0"/>
                          </a:rPr>
                        </m:ctrlPr>
                      </m:mPr>
                      <m:mr>
                        <m:e>
                          <m:sSubSup>
                            <m:sSubSupPr>
                              <m:ctrlPr>
                                <a:rPr lang="zh-CN" altLang="zh-CN" sz="2400" b="1" i="1" kern="1000">
                                  <a:effectLst/>
                                  <a:latin typeface="Cambria Math" panose="02040503050406030204" pitchFamily="18" charset="0"/>
                                  <a:ea typeface="Cambria Math" panose="02040503050406030204" pitchFamily="18" charset="0"/>
                                </a:rPr>
                              </m:ctrlPr>
                            </m:sSubSup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𝟏</m:t>
                              </m:r>
                            </m:sub>
                            <m:sup>
                              <m:r>
                                <a:rPr lang="en-US" altLang="zh-CN" sz="2400" b="1" i="1" kern="1000">
                                  <a:effectLst/>
                                  <a:latin typeface="Cambria Math" panose="02040503050406030204" pitchFamily="18" charset="0"/>
                                  <a:ea typeface="宋体" panose="02010600030101010101" pitchFamily="2" charset="-122"/>
                                </a:rPr>
                                <m:t>𝑻</m:t>
                              </m:r>
                            </m:sup>
                          </m:sSubSup>
                        </m:e>
                        <m:e>
                          <m:sSubSup>
                            <m:sSubSupPr>
                              <m:ctrlPr>
                                <a:rPr lang="zh-CN" altLang="zh-CN" sz="2400" b="1" i="1" kern="1000">
                                  <a:effectLst/>
                                  <a:latin typeface="Cambria Math" panose="02040503050406030204" pitchFamily="18" charset="0"/>
                                  <a:ea typeface="Cambria Math" panose="02040503050406030204" pitchFamily="18" charset="0"/>
                                </a:rPr>
                              </m:ctrlPr>
                            </m:sSubSup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𝟐</m:t>
                              </m:r>
                            </m:sub>
                            <m:sup>
                              <m:r>
                                <a:rPr lang="en-US" altLang="zh-CN" sz="2400" b="1" i="1" kern="1000">
                                  <a:effectLst/>
                                  <a:latin typeface="Cambria Math" panose="02040503050406030204" pitchFamily="18" charset="0"/>
                                  <a:ea typeface="宋体" panose="02010600030101010101" pitchFamily="2" charset="-122"/>
                                </a:rPr>
                                <m:t>𝑻</m:t>
                              </m:r>
                            </m:sup>
                          </m:sSubSup>
                        </m:e>
                        <m:e>
                          <m:sSubSup>
                            <m:sSubSupPr>
                              <m:ctrlPr>
                                <a:rPr lang="zh-CN" altLang="zh-CN" sz="2400" b="1" i="1" kern="1000">
                                  <a:effectLst/>
                                  <a:latin typeface="Cambria Math" panose="02040503050406030204" pitchFamily="18" charset="0"/>
                                  <a:ea typeface="Cambria Math" panose="02040503050406030204" pitchFamily="18" charset="0"/>
                                </a:rPr>
                              </m:ctrlPr>
                            </m:sSubSupPr>
                            <m:e>
                              <m:r>
                                <a:rPr lang="en-US" altLang="zh-CN" sz="2400" b="1" i="1" kern="1000">
                                  <a:effectLst/>
                                  <a:latin typeface="Cambria Math" panose="02040503050406030204" pitchFamily="18" charset="0"/>
                                  <a:ea typeface="宋体" panose="02010600030101010101" pitchFamily="2" charset="-122"/>
                                </a:rPr>
                                <m:t>𝜶</m:t>
                              </m:r>
                            </m:e>
                            <m:sub>
                              <m:r>
                                <a:rPr lang="en-US" altLang="zh-CN" sz="2400" b="1" i="1" kern="1000">
                                  <a:effectLst/>
                                  <a:latin typeface="Cambria Math" panose="02040503050406030204" pitchFamily="18" charset="0"/>
                                  <a:ea typeface="宋体" panose="02010600030101010101" pitchFamily="2" charset="-122"/>
                                </a:rPr>
                                <m:t>𝟏</m:t>
                              </m:r>
                            </m:sub>
                            <m:sup>
                              <m:r>
                                <a:rPr lang="en-US" altLang="zh-CN" sz="2400" b="1" i="1" kern="1000">
                                  <a:effectLst/>
                                  <a:latin typeface="Cambria Math" panose="02040503050406030204" pitchFamily="18" charset="0"/>
                                  <a:ea typeface="宋体" panose="02010600030101010101" pitchFamily="2" charset="-122"/>
                                </a:rPr>
                                <m:t>𝑻</m:t>
                              </m:r>
                            </m:sup>
                          </m:sSubSup>
                        </m:e>
                        <m:e>
                          <m:sSubSup>
                            <m:sSubSupPr>
                              <m:ctrlPr>
                                <a:rPr lang="zh-CN" altLang="zh-CN" sz="2400" b="1" i="1" kern="1000">
                                  <a:effectLst/>
                                  <a:latin typeface="Cambria Math" panose="02040503050406030204" pitchFamily="18" charset="0"/>
                                  <a:ea typeface="Cambria Math" panose="02040503050406030204" pitchFamily="18" charset="0"/>
                                </a:rPr>
                              </m:ctrlPr>
                            </m:sSubSupPr>
                            <m:e>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𝜶</m:t>
                                  </m:r>
                                </m:e>
                              </m:acc>
                            </m:e>
                            <m:sub>
                              <m:r>
                                <a:rPr lang="en-US" altLang="zh-CN" sz="2400" b="1" i="1" kern="1000">
                                  <a:effectLst/>
                                  <a:latin typeface="Cambria Math" panose="02040503050406030204" pitchFamily="18" charset="0"/>
                                  <a:ea typeface="宋体" panose="02010600030101010101" pitchFamily="2" charset="-122"/>
                                </a:rPr>
                                <m:t>𝟏</m:t>
                              </m:r>
                            </m:sub>
                            <m:sup>
                              <m:r>
                                <a:rPr lang="en-US" altLang="zh-CN" sz="2400" b="1" i="1" kern="1000">
                                  <a:effectLst/>
                                  <a:latin typeface="Cambria Math" panose="02040503050406030204" pitchFamily="18" charset="0"/>
                                  <a:ea typeface="宋体" panose="02010600030101010101" pitchFamily="2" charset="-122"/>
                                </a:rPr>
                                <m:t>𝑻</m:t>
                              </m:r>
                            </m:sup>
                          </m:sSubSup>
                        </m:e>
                      </m:mr>
                    </m:m>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是自适应神经网络的输入变量，并且</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𝜺</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𝒁</m:t>
                    </m:r>
                    <m:r>
                      <a:rPr lang="en-US" altLang="zh-CN" sz="2400" b="1" i="1" kern="1000">
                        <a:effectLst/>
                        <a:latin typeface="Cambria Math" panose="02040503050406030204" pitchFamily="18" charset="0"/>
                        <a:ea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𝑹</m:t>
                        </m:r>
                      </m:e>
                      <m:sup>
                        <m:r>
                          <a:rPr lang="en-US" altLang="zh-CN" sz="2400" b="1" i="1" kern="1000">
                            <a:effectLst/>
                            <a:latin typeface="Cambria Math" panose="02040503050406030204" pitchFamily="18" charset="0"/>
                            <a:ea typeface="宋体" panose="02010600030101010101" pitchFamily="2" charset="-122"/>
                          </a:rPr>
                          <m:t>𝒏</m:t>
                        </m:r>
                      </m:sup>
                    </m:sSup>
                  </m:oMath>
                </a14:m>
                <a:r>
                  <a:rPr lang="zh-CN" altLang="zh-CN" sz="2400" b="1" kern="1000" dirty="0">
                    <a:effectLst/>
                    <a:latin typeface="微软雅黑" panose="020B0503020204020204" pitchFamily="34" charset="-122"/>
                    <a:ea typeface="微软雅黑" panose="020B0503020204020204" pitchFamily="34" charset="-122"/>
                  </a:rPr>
                  <a:t>是近似误差。自适应律设计为</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𝑾</m:t>
                                </m:r>
                              </m:e>
                            </m:acc>
                          </m:e>
                        </m:acc>
                      </m:e>
                      <m:sub>
                        <m:r>
                          <a:rPr lang="en-US" altLang="zh-CN" sz="2000" b="1" i="1" kern="1050">
                            <a:effectLst/>
                            <a:latin typeface="Cambria Math" panose="02040503050406030204" pitchFamily="18" charset="0"/>
                            <a:ea typeface="宋体" panose="02010600030101010101" pitchFamily="2" charset="-122"/>
                          </a:rPr>
                          <m:t>𝒊</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𝜞</m:t>
                        </m:r>
                      </m:e>
                      <m:sub>
                        <m:r>
                          <a:rPr lang="en-US" altLang="zh-CN" sz="2000" b="1" i="1" kern="1050">
                            <a:effectLst/>
                            <a:latin typeface="Cambria Math" panose="02040503050406030204" pitchFamily="18" charset="0"/>
                            <a:ea typeface="宋体" panose="02010600030101010101" pitchFamily="2" charset="-122"/>
                          </a:rPr>
                          <m:t>𝒊</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𝑺</m:t>
                        </m:r>
                      </m:e>
                      <m:sub>
                        <m:r>
                          <a:rPr lang="en-US" altLang="zh-CN" sz="2000" b="1" i="1" kern="1050">
                            <a:effectLst/>
                            <a:latin typeface="Cambria Math" panose="02040503050406030204" pitchFamily="18" charset="0"/>
                            <a:ea typeface="宋体" panose="02010600030101010101" pitchFamily="2" charset="-122"/>
                          </a:rPr>
                          <m:t>𝒊</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𝒁</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𝒛</m:t>
                        </m:r>
                      </m:e>
                      <m:sub>
                        <m:r>
                          <a:rPr lang="en-US" altLang="zh-CN" sz="2000" b="1" i="1" kern="1050">
                            <a:effectLst/>
                            <a:latin typeface="Cambria Math" panose="02040503050406030204" pitchFamily="18" charset="0"/>
                            <a:ea typeface="宋体" panose="02010600030101010101" pitchFamily="2" charset="-122"/>
                          </a:rPr>
                          <m:t>𝟐</m:t>
                        </m:r>
                        <m:r>
                          <a:rPr lang="en-US" altLang="zh-CN" sz="2000" b="1" i="1" kern="1050">
                            <a:effectLst/>
                            <a:latin typeface="Cambria Math" panose="02040503050406030204" pitchFamily="18" charset="0"/>
                            <a:ea typeface="宋体" panose="02010600030101010101" pitchFamily="2" charset="-122"/>
                          </a:rPr>
                          <m:t>𝒊</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𝝈</m:t>
                        </m:r>
                      </m:e>
                      <m:sub>
                        <m:r>
                          <a:rPr lang="en-US" altLang="zh-CN" sz="2000" b="1" i="1" kern="1050">
                            <a:effectLst/>
                            <a:latin typeface="Cambria Math" panose="02040503050406030204" pitchFamily="18" charset="0"/>
                            <a:ea typeface="宋体" panose="02010600030101010101" pitchFamily="2" charset="-122"/>
                          </a:rPr>
                          <m:t>𝒊</m:t>
                        </m:r>
                      </m:sub>
                    </m:sSub>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𝑾</m:t>
                            </m:r>
                          </m:e>
                        </m:acc>
                      </m:e>
                      <m:sub>
                        <m:r>
                          <a:rPr lang="en-US" altLang="zh-CN" sz="2000" b="1" i="1" kern="1050">
                            <a:effectLst/>
                            <a:latin typeface="Cambria Math" panose="02040503050406030204" pitchFamily="18" charset="0"/>
                            <a:ea typeface="宋体" panose="02010600030101010101" pitchFamily="2" charset="-122"/>
                          </a:rPr>
                          <m:t>𝒊</m:t>
                        </m:r>
                      </m:sub>
                    </m:sSub>
                    <m:r>
                      <a:rPr lang="en-US" altLang="zh-CN" sz="2000" b="1" i="1" kern="105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(7.92)</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式中，</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𝜞</m:t>
                        </m:r>
                      </m:e>
                      <m:sub>
                        <m:r>
                          <a:rPr lang="en-US" altLang="zh-CN" sz="2400" b="1" i="1" kern="1000">
                            <a:effectLst/>
                            <a:latin typeface="Cambria Math" panose="02040503050406030204" pitchFamily="18" charset="0"/>
                            <a:ea typeface="宋体" panose="02010600030101010101" pitchFamily="2" charset="-122"/>
                          </a:rPr>
                          <m:t>𝒊</m:t>
                        </m:r>
                      </m:sub>
                    </m:sSub>
                  </m:oMath>
                </a14:m>
                <a:r>
                  <a:rPr lang="zh-CN" altLang="zh-CN" sz="2400" b="1" kern="1000" dirty="0">
                    <a:effectLst/>
                    <a:latin typeface="微软雅黑" panose="020B0503020204020204" pitchFamily="34" charset="-122"/>
                    <a:ea typeface="微软雅黑" panose="020B0503020204020204" pitchFamily="34" charset="-122"/>
                  </a:rPr>
                  <a:t>是常数增益矩阵，</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𝝈</m:t>
                        </m:r>
                      </m:e>
                      <m:sub>
                        <m:r>
                          <a:rPr lang="en-US" altLang="zh-CN" sz="2400" b="1" i="1" kern="1000">
                            <a:effectLst/>
                            <a:latin typeface="Cambria Math" panose="02040503050406030204" pitchFamily="18" charset="0"/>
                            <a:ea typeface="宋体" panose="02010600030101010101" pitchFamily="2" charset="-122"/>
                          </a:rPr>
                          <m:t>𝒊</m:t>
                        </m:r>
                      </m:sub>
                    </m:sSub>
                    <m:r>
                      <a:rPr lang="en-US" altLang="zh-CN" sz="2400" b="1" i="1" kern="1000">
                        <a:effectLst/>
                        <a:latin typeface="Cambria Math" panose="02040503050406030204" pitchFamily="18" charset="0"/>
                        <a:ea typeface="宋体" panose="02010600030101010101" pitchFamily="2" charset="-122"/>
                      </a:rPr>
                      <m:t>&gt;</m:t>
                    </m:r>
                    <m:r>
                      <a:rPr lang="en-US" altLang="zh-CN" sz="2400" b="1" i="1" kern="1000">
                        <a:effectLst/>
                        <a:latin typeface="Cambria Math" panose="02040503050406030204" pitchFamily="18" charset="0"/>
                        <a:ea typeface="宋体" panose="02010600030101010101" pitchFamily="2" charset="-122"/>
                      </a:rPr>
                      <m:t>𝟎</m:t>
                    </m:r>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𝒊</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𝟏</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𝟐</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𝒏</m:t>
                    </m:r>
                  </m:oMath>
                </a14:m>
                <a:r>
                  <a:rPr lang="zh-CN" altLang="zh-CN" sz="2400" b="1" kern="1000" dirty="0">
                    <a:effectLst/>
                    <a:latin typeface="微软雅黑" panose="020B0503020204020204" pitchFamily="34" charset="-122"/>
                    <a:ea typeface="微软雅黑" panose="020B0503020204020204" pitchFamily="34" charset="-122"/>
                  </a:rPr>
                  <a:t>是一个小的常数。</a:t>
                </a:r>
              </a:p>
            </p:txBody>
          </p:sp>
        </mc:Choice>
        <mc:Fallback xmlns="">
          <p:sp>
            <p:nvSpPr>
              <p:cNvPr id="4" name="文本框 3">
                <a:extLst>
                  <a:ext uri="{FF2B5EF4-FFF2-40B4-BE49-F238E27FC236}">
                    <a16:creationId xmlns:a16="http://schemas.microsoft.com/office/drawing/2014/main" id="{BE462B27-7B1B-B8B2-505D-B7839BBDF7E9}"/>
                  </a:ext>
                </a:extLst>
              </p:cNvPr>
              <p:cNvSpPr txBox="1">
                <a:spLocks noRot="1" noChangeAspect="1" noMove="1" noResize="1" noEditPoints="1" noAdjustHandles="1" noChangeArrowheads="1" noChangeShapeType="1" noTextEdit="1"/>
              </p:cNvSpPr>
              <p:nvPr/>
            </p:nvSpPr>
            <p:spPr>
              <a:xfrm>
                <a:off x="952500" y="1003260"/>
                <a:ext cx="10029825" cy="5356723"/>
              </a:xfrm>
              <a:prstGeom prst="rect">
                <a:avLst/>
              </a:prstGeom>
              <a:blipFill>
                <a:blip r:embed="rId3"/>
                <a:stretch>
                  <a:fillRect l="-911" t="-456" r="-4010" b="-1708"/>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D3C1CE8A-CB07-1F27-4134-561013F2BC77}"/>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滑模控制</a:t>
            </a:r>
          </a:p>
        </p:txBody>
      </p:sp>
    </p:spTree>
    <p:extLst>
      <p:ext uri="{BB962C8B-B14F-4D97-AF65-F5344CB8AC3E}">
        <p14:creationId xmlns:p14="http://schemas.microsoft.com/office/powerpoint/2010/main" val="275608081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4A52E83-399A-2736-DFEB-4CC2B589A34E}"/>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7.2.2</a:t>
            </a:r>
            <a:r>
              <a:rPr kumimoji="0"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 机器人控制方法和控制器设计</a:t>
            </a:r>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DEA2F10E-56E0-FDD0-445F-2DAB87BCFD88}"/>
                  </a:ext>
                </a:extLst>
              </p:cNvPr>
              <p:cNvSpPr txBox="1"/>
              <p:nvPr/>
            </p:nvSpPr>
            <p:spPr>
              <a:xfrm>
                <a:off x="1033463" y="1047750"/>
                <a:ext cx="10125074" cy="3416320"/>
              </a:xfrm>
              <a:prstGeom prst="rect">
                <a:avLst/>
              </a:prstGeom>
              <a:noFill/>
            </p:spPr>
            <p:txBody>
              <a:bodyPr wrap="square">
                <a:spAutoFit/>
              </a:bodyPr>
              <a:lstStyle/>
              <a:p>
                <a:pPr algn="just">
                  <a:lnSpc>
                    <a:spcPct val="200000"/>
                  </a:lnSpc>
                  <a:spcBef>
                    <a:spcPts val="600"/>
                  </a:spcBef>
                </a:pPr>
                <a:r>
                  <a:rPr lang="en-US" altLang="zh-CN" sz="2400" b="1" kern="0" dirty="0">
                    <a:effectLst/>
                    <a:latin typeface="微软雅黑" panose="020B0503020204020204" pitchFamily="34" charset="-122"/>
                    <a:ea typeface="微软雅黑" panose="020B0503020204020204" pitchFamily="34" charset="-122"/>
                  </a:rPr>
                  <a:t>2)</a:t>
                </a:r>
                <a:r>
                  <a:rPr lang="zh-CN" altLang="zh-CN" sz="2400" b="1" kern="0" dirty="0">
                    <a:effectLst/>
                    <a:latin typeface="微软雅黑" panose="020B0503020204020204" pitchFamily="34" charset="-122"/>
                    <a:ea typeface="微软雅黑" panose="020B0503020204020204" pitchFamily="34" charset="-122"/>
                  </a:rPr>
                  <a:t>仿真实现</a:t>
                </a:r>
                <a:endParaRPr lang="zh-CN" altLang="zh-CN" sz="2400" b="1" kern="1050" dirty="0">
                  <a:effectLst/>
                  <a:latin typeface="微软雅黑" panose="020B0503020204020204" pitchFamily="34" charset="-122"/>
                  <a:ea typeface="微软雅黑" panose="020B0503020204020204" pitchFamily="34" charset="-122"/>
                </a:endParaRPr>
              </a:p>
              <a:p>
                <a:pPr algn="just"/>
                <a:r>
                  <a:rPr lang="zh-CN" altLang="zh-CN" sz="2400" b="1" kern="0" dirty="0">
                    <a:effectLst/>
                    <a:latin typeface="微软雅黑" panose="020B0503020204020204" pitchFamily="34" charset="-122"/>
                    <a:ea typeface="微软雅黑" panose="020B0503020204020204" pitchFamily="34" charset="-122"/>
                  </a:rPr>
                  <a:t>本节</a:t>
                </a:r>
                <a:r>
                  <a:rPr lang="zh-CN" altLang="zh-CN" sz="2400" b="1" kern="1000" dirty="0">
                    <a:effectLst/>
                    <a:latin typeface="微软雅黑" panose="020B0503020204020204" pitchFamily="34" charset="-122"/>
                    <a:ea typeface="微软雅黑" panose="020B0503020204020204" pitchFamily="34" charset="-122"/>
                  </a:rPr>
                  <a:t>针对具有输出约束条件的机器人动力学系统应用神经网络的控制算法进行数值仿真。神经网络包含</a:t>
                </a:r>
                <a:r>
                  <a:rPr lang="en-US" altLang="zh-CN" sz="2400" b="1" kern="1000" dirty="0">
                    <a:effectLst/>
                    <a:latin typeface="微软雅黑" panose="020B0503020204020204" pitchFamily="34" charset="-122"/>
                    <a:ea typeface="微软雅黑" panose="020B0503020204020204" pitchFamily="34" charset="-122"/>
                  </a:rPr>
                  <a:t>256</a:t>
                </a:r>
                <a:r>
                  <a:rPr lang="zh-CN" altLang="zh-CN" sz="2400" b="1" kern="1000" dirty="0">
                    <a:effectLst/>
                    <a:latin typeface="微软雅黑" panose="020B0503020204020204" pitchFamily="34" charset="-122"/>
                    <a:ea typeface="微软雅黑" panose="020B0503020204020204" pitchFamily="34" charset="-122"/>
                  </a:rPr>
                  <a:t>个节点，</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𝑲</m:t>
                        </m:r>
                      </m:e>
                      <m:sub>
                        <m:r>
                          <a:rPr lang="en-US" altLang="zh-CN" sz="2400" b="1" i="1" kern="1000" smtClean="0">
                            <a:effectLst/>
                            <a:latin typeface="Cambria Math" panose="02040503050406030204" pitchFamily="18" charset="0"/>
                            <a:ea typeface="宋体" panose="02010600030101010101" pitchFamily="2" charset="-122"/>
                          </a:rPr>
                          <m:t>𝟏</m:t>
                        </m:r>
                      </m:sub>
                    </m:sSub>
                    <m:r>
                      <a:rPr lang="en-US" altLang="zh-CN" sz="2400" b="1" i="1" kern="1000" smtClean="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𝑲</m:t>
                        </m:r>
                      </m:e>
                      <m:sub>
                        <m:r>
                          <a:rPr lang="en-US" altLang="zh-CN" sz="2400" b="1" i="1" kern="1000" smtClean="0">
                            <a:effectLst/>
                            <a:latin typeface="Cambria Math" panose="02040503050406030204" pitchFamily="18" charset="0"/>
                            <a:ea typeface="宋体" panose="02010600030101010101" pitchFamily="2" charset="-122"/>
                          </a:rPr>
                          <m:t>𝟐</m:t>
                        </m:r>
                      </m:sub>
                    </m:sSub>
                    <m:r>
                      <a:rPr lang="en-US" altLang="zh-CN" sz="2400" b="1" i="1" kern="1000" smtClean="0">
                        <a:effectLst/>
                        <a:latin typeface="Cambria Math" panose="02040503050406030204" pitchFamily="18" charset="0"/>
                        <a:ea typeface="宋体" panose="02010600030101010101" pitchFamily="2" charset="-122"/>
                      </a:rPr>
                      <m:t>=</m:t>
                    </m:r>
                    <m:r>
                      <a:rPr lang="en-US" altLang="zh-CN" sz="2400" b="1" i="1" kern="1000" smtClean="0">
                        <a:effectLst/>
                        <a:latin typeface="Cambria Math" panose="02040503050406030204" pitchFamily="18" charset="0"/>
                        <a:ea typeface="宋体" panose="02010600030101010101" pitchFamily="2" charset="-122"/>
                      </a:rPr>
                      <m:t>𝟏𝟎</m:t>
                    </m:r>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𝑨</m:t>
                        </m:r>
                      </m:e>
                      <m:sub>
                        <m:r>
                          <a:rPr lang="en-US" altLang="zh-CN" sz="2400" b="1" i="1" kern="1000" smtClean="0">
                            <a:effectLst/>
                            <a:latin typeface="Cambria Math" panose="02040503050406030204" pitchFamily="18" charset="0"/>
                            <a:ea typeface="宋体" panose="02010600030101010101" pitchFamily="2" charset="-122"/>
                          </a:rPr>
                          <m:t>𝟎</m:t>
                        </m:r>
                      </m:sub>
                    </m:sSub>
                    <m:r>
                      <a:rPr lang="en-US" altLang="zh-CN" sz="2400" b="1" i="1" kern="1000" smtClean="0">
                        <a:effectLst/>
                        <a:latin typeface="Cambria Math" panose="02040503050406030204" pitchFamily="18" charset="0"/>
                        <a:ea typeface="宋体" panose="02010600030101010101" pitchFamily="2" charset="-122"/>
                      </a:rPr>
                      <m:t>=</m:t>
                    </m:r>
                    <m:r>
                      <a:rPr lang="en-US" altLang="zh-CN" sz="2400" b="1" i="1" kern="1000" smtClean="0">
                        <a:effectLst/>
                        <a:latin typeface="Cambria Math" panose="02040503050406030204" pitchFamily="18" charset="0"/>
                        <a:ea typeface="宋体" panose="02010600030101010101" pitchFamily="2" charset="-122"/>
                      </a:rPr>
                      <m:t>𝟎</m:t>
                    </m:r>
                    <m:r>
                      <a:rPr lang="en-US" altLang="zh-CN" sz="2400" b="1" i="1" kern="1000" smtClean="0">
                        <a:effectLst/>
                        <a:latin typeface="Cambria Math" panose="02040503050406030204" pitchFamily="18" charset="0"/>
                        <a:ea typeface="宋体" panose="02010600030101010101" pitchFamily="2" charset="-122"/>
                      </a:rPr>
                      <m:t>.</m:t>
                    </m:r>
                    <m:r>
                      <a:rPr lang="en-US" altLang="zh-CN" sz="2400" b="1" i="1" kern="1000" smtClean="0">
                        <a:effectLst/>
                        <a:latin typeface="Cambria Math" panose="02040503050406030204" pitchFamily="18" charset="0"/>
                        <a:ea typeface="宋体" panose="02010600030101010101" pitchFamily="2" charset="-122"/>
                      </a:rPr>
                      <m:t>𝟎𝟐</m:t>
                    </m:r>
                  </m:oMath>
                </a14:m>
                <a:r>
                  <a:rPr lang="zh-CN" altLang="zh-CN" sz="2400" b="1" kern="1000" dirty="0">
                    <a:effectLst/>
                    <a:latin typeface="微软雅黑" panose="020B0503020204020204" pitchFamily="34" charset="-122"/>
                    <a:ea typeface="微软雅黑" panose="020B0503020204020204" pitchFamily="34" charset="-122"/>
                  </a:rPr>
                  <a:t>，期望轨迹和上节相同。</a:t>
                </a:r>
              </a:p>
              <a:p>
                <a:pPr algn="just"/>
                <a:r>
                  <a:rPr lang="zh-CN" altLang="zh-CN" sz="2400" b="1" kern="1000" dirty="0">
                    <a:effectLst/>
                    <a:latin typeface="微软雅黑" panose="020B0503020204020204" pitchFamily="34" charset="-122"/>
                    <a:ea typeface="微软雅黑" panose="020B0503020204020204" pitchFamily="34" charset="-122"/>
                  </a:rPr>
                  <a:t>本节仿真结果可以看出，通过在控制器中加入约束项，系统可以实现小的超调。在这个仿真实例中，边界</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𝑨</m:t>
                        </m:r>
                      </m:e>
                      <m:sub>
                        <m:r>
                          <a:rPr lang="en-US" altLang="zh-CN" sz="2400" b="1" i="1" kern="1000" smtClean="0">
                            <a:effectLst/>
                            <a:latin typeface="Cambria Math" panose="02040503050406030204" pitchFamily="18" charset="0"/>
                            <a:ea typeface="宋体" panose="02010600030101010101" pitchFamily="2" charset="-122"/>
                          </a:rPr>
                          <m:t>𝟎</m:t>
                        </m:r>
                      </m:sub>
                    </m:sSub>
                    <m:r>
                      <a:rPr lang="en-US" altLang="zh-CN" sz="2400" b="1" i="1" kern="1000" smtClean="0">
                        <a:effectLst/>
                        <a:latin typeface="Cambria Math" panose="02040503050406030204" pitchFamily="18" charset="0"/>
                        <a:ea typeface="宋体" panose="02010600030101010101" pitchFamily="2" charset="-122"/>
                      </a:rPr>
                      <m:t>=</m:t>
                    </m:r>
                    <m:r>
                      <a:rPr lang="en-US" altLang="zh-CN" sz="2400" b="1" i="1" kern="1000" smtClean="0">
                        <a:effectLst/>
                        <a:latin typeface="Cambria Math" panose="02040503050406030204" pitchFamily="18" charset="0"/>
                        <a:ea typeface="宋体" panose="02010600030101010101" pitchFamily="2" charset="-122"/>
                      </a:rPr>
                      <m:t>𝟎</m:t>
                    </m:r>
                    <m:r>
                      <a:rPr lang="en-US" altLang="zh-CN" sz="2400" b="1" i="1" kern="1000" smtClean="0">
                        <a:effectLst/>
                        <a:latin typeface="Cambria Math" panose="02040503050406030204" pitchFamily="18" charset="0"/>
                        <a:ea typeface="宋体" panose="02010600030101010101" pitchFamily="2" charset="-122"/>
                      </a:rPr>
                      <m:t>.</m:t>
                    </m:r>
                    <m:r>
                      <a:rPr lang="en-US" altLang="zh-CN" sz="2400" b="1" i="1" kern="1000" smtClean="0">
                        <a:effectLst/>
                        <a:latin typeface="Cambria Math" panose="02040503050406030204" pitchFamily="18" charset="0"/>
                        <a:ea typeface="宋体" panose="02010600030101010101" pitchFamily="2" charset="-122"/>
                      </a:rPr>
                      <m:t>𝟎𝟐</m:t>
                    </m:r>
                  </m:oMath>
                </a14:m>
                <a:r>
                  <a:rPr lang="zh-CN" altLang="zh-CN" sz="2400" b="1" kern="1000" dirty="0">
                    <a:effectLst/>
                    <a:latin typeface="微软雅黑" panose="020B0503020204020204" pitchFamily="34" charset="-122"/>
                    <a:ea typeface="微软雅黑" panose="020B0503020204020204" pitchFamily="34" charset="-122"/>
                  </a:rPr>
                  <a:t>，在这个边界条件下，错误超调不能超过此值。从图</a:t>
                </a:r>
                <a:r>
                  <a:rPr lang="en-US" altLang="zh-CN" sz="2400" b="1" kern="1000" dirty="0">
                    <a:effectLst/>
                    <a:latin typeface="微软雅黑" panose="020B0503020204020204" pitchFamily="34" charset="-122"/>
                    <a:ea typeface="微软雅黑" panose="020B0503020204020204" pitchFamily="34" charset="-122"/>
                  </a:rPr>
                  <a:t>7.37</a:t>
                </a:r>
                <a:r>
                  <a:rPr lang="zh-CN" altLang="zh-CN" sz="2400" b="1" kern="1000" dirty="0">
                    <a:effectLst/>
                    <a:latin typeface="微软雅黑" panose="020B0503020204020204" pitchFamily="34" charset="-122"/>
                    <a:ea typeface="微软雅黑" panose="020B0503020204020204" pitchFamily="34" charset="-122"/>
                  </a:rPr>
                  <a:t>～图</a:t>
                </a:r>
                <a:r>
                  <a:rPr lang="en-US" altLang="zh-CN" sz="2400" b="1" kern="1000" dirty="0">
                    <a:effectLst/>
                    <a:latin typeface="微软雅黑" panose="020B0503020204020204" pitchFamily="34" charset="-122"/>
                    <a:ea typeface="微软雅黑" panose="020B0503020204020204" pitchFamily="34" charset="-122"/>
                  </a:rPr>
                  <a:t>7.45</a:t>
                </a:r>
                <a:r>
                  <a:rPr lang="zh-CN" altLang="zh-CN" sz="2400" b="1" kern="1000" dirty="0">
                    <a:effectLst/>
                    <a:latin typeface="微软雅黑" panose="020B0503020204020204" pitchFamily="34" charset="-122"/>
                    <a:ea typeface="微软雅黑" panose="020B0503020204020204" pitchFamily="34" charset="-122"/>
                  </a:rPr>
                  <a:t>可以看出，神经网络约束控制器在实现机器人位置和速度跟踪方面是十分有效的，且其关节误差都是收敛的。</a:t>
                </a:r>
              </a:p>
            </p:txBody>
          </p:sp>
        </mc:Choice>
        <mc:Fallback>
          <p:sp>
            <p:nvSpPr>
              <p:cNvPr id="4" name="文本框 3">
                <a:extLst>
                  <a:ext uri="{FF2B5EF4-FFF2-40B4-BE49-F238E27FC236}">
                    <a16:creationId xmlns:a16="http://schemas.microsoft.com/office/drawing/2014/main" id="{DEA2F10E-56E0-FDD0-445F-2DAB87BCFD88}"/>
                  </a:ext>
                </a:extLst>
              </p:cNvPr>
              <p:cNvSpPr txBox="1">
                <a:spLocks noRot="1" noChangeAspect="1" noMove="1" noResize="1" noEditPoints="1" noAdjustHandles="1" noChangeArrowheads="1" noChangeShapeType="1" noTextEdit="1"/>
              </p:cNvSpPr>
              <p:nvPr/>
            </p:nvSpPr>
            <p:spPr>
              <a:xfrm>
                <a:off x="1033463" y="1047750"/>
                <a:ext cx="10125074" cy="3416320"/>
              </a:xfrm>
              <a:prstGeom prst="rect">
                <a:avLst/>
              </a:prstGeom>
              <a:blipFill>
                <a:blip r:embed="rId3"/>
                <a:stretch>
                  <a:fillRect l="-964" r="-964" b="-32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9669273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D366A5C-6D7F-BDBF-297A-7BC80FB05F1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8848" y="1359555"/>
            <a:ext cx="5214303" cy="4120340"/>
          </a:xfrm>
          <a:prstGeom prst="rect">
            <a:avLst/>
          </a:prstGeom>
          <a:noFill/>
          <a:ln>
            <a:noFill/>
          </a:ln>
        </p:spPr>
      </p:pic>
      <p:sp>
        <p:nvSpPr>
          <p:cNvPr id="5" name="文本框 4">
            <a:extLst>
              <a:ext uri="{FF2B5EF4-FFF2-40B4-BE49-F238E27FC236}">
                <a16:creationId xmlns:a16="http://schemas.microsoft.com/office/drawing/2014/main" id="{304DD963-40AF-129E-97E4-A420CEE0AC4F}"/>
              </a:ext>
            </a:extLst>
          </p:cNvPr>
          <p:cNvSpPr txBox="1"/>
          <p:nvPr/>
        </p:nvSpPr>
        <p:spPr>
          <a:xfrm>
            <a:off x="3033712" y="5541214"/>
            <a:ext cx="6757988" cy="369332"/>
          </a:xfrm>
          <a:prstGeom prst="rect">
            <a:avLst/>
          </a:prstGeom>
          <a:noFill/>
        </p:spPr>
        <p:txBody>
          <a:bodyPr wrap="square">
            <a:spAutoFit/>
          </a:bodyPr>
          <a:lstStyle/>
          <a:p>
            <a:pPr algn="ctr">
              <a:spcBef>
                <a:spcPts val="700"/>
              </a:spcBef>
              <a:spcAft>
                <a:spcPts val="800"/>
              </a:spcAft>
            </a:pPr>
            <a:r>
              <a:rPr lang="zh-CN" altLang="zh-CN" sz="1800" kern="0" dirty="0">
                <a:effectLst/>
                <a:latin typeface="Times New Roman" panose="02020603050405020304" pitchFamily="18" charset="0"/>
                <a:ea typeface="宋体" panose="02010600030101010101" pitchFamily="2" charset="-122"/>
              </a:rPr>
              <a:t>图</a:t>
            </a:r>
            <a:r>
              <a:rPr lang="en-US" altLang="zh-CN" sz="1800" kern="0" dirty="0">
                <a:effectLst/>
                <a:latin typeface="Times New Roman" panose="02020603050405020304" pitchFamily="18" charset="0"/>
                <a:ea typeface="宋体" panose="02010600030101010101" pitchFamily="2" charset="-122"/>
              </a:rPr>
              <a:t>7.37  </a:t>
            </a:r>
            <a:r>
              <a:rPr lang="zh-CN" altLang="zh-CN" sz="1800" kern="0" dirty="0">
                <a:effectLst/>
                <a:latin typeface="Times New Roman" panose="02020603050405020304" pitchFamily="18" charset="0"/>
                <a:ea typeface="宋体" panose="02010600030101010101" pitchFamily="2" charset="-122"/>
              </a:rPr>
              <a:t>关节</a:t>
            </a:r>
            <a:r>
              <a:rPr lang="en-US" altLang="zh-CN" sz="1800" kern="0" dirty="0">
                <a:effectLst/>
                <a:latin typeface="Times New Roman" panose="02020603050405020304" pitchFamily="18" charset="0"/>
                <a:ea typeface="宋体" panose="02010600030101010101" pitchFamily="2" charset="-122"/>
              </a:rPr>
              <a:t>1</a:t>
            </a:r>
            <a:r>
              <a:rPr lang="zh-CN" altLang="zh-CN" sz="1800" kern="1000" dirty="0">
                <a:effectLst/>
                <a:latin typeface="Times New Roman" panose="02020603050405020304" pitchFamily="18" charset="0"/>
                <a:ea typeface="宋体" panose="02010600030101010101" pitchFamily="2" charset="-122"/>
              </a:rPr>
              <a:t>基于模型约束控制跟踪</a:t>
            </a:r>
            <a:r>
              <a:rPr lang="zh-CN" altLang="zh-CN" sz="1800" kern="0" dirty="0">
                <a:effectLst/>
                <a:latin typeface="Times New Roman" panose="02020603050405020304" pitchFamily="18" charset="0"/>
                <a:ea typeface="宋体" panose="02010600030101010101" pitchFamily="2" charset="-122"/>
              </a:rPr>
              <a:t>的位置轨迹跟踪曲线和误差</a:t>
            </a:r>
            <a:endParaRPr lang="zh-CN" altLang="zh-CN" sz="1800" kern="1000" dirty="0">
              <a:effectLst/>
              <a:latin typeface="Times New Roman" panose="02020603050405020304" pitchFamily="18" charset="0"/>
              <a:ea typeface="宋体" panose="02010600030101010101" pitchFamily="2" charset="-122"/>
            </a:endParaRPr>
          </a:p>
        </p:txBody>
      </p:sp>
      <p:sp>
        <p:nvSpPr>
          <p:cNvPr id="6" name="文本框 5">
            <a:extLst>
              <a:ext uri="{FF2B5EF4-FFF2-40B4-BE49-F238E27FC236}">
                <a16:creationId xmlns:a16="http://schemas.microsoft.com/office/drawing/2014/main" id="{6B883FA4-B8B4-8F67-000C-4525A34CA705}"/>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滑模控制</a:t>
            </a:r>
          </a:p>
        </p:txBody>
      </p:sp>
    </p:spTree>
    <p:extLst>
      <p:ext uri="{BB962C8B-B14F-4D97-AF65-F5344CB8AC3E}">
        <p14:creationId xmlns:p14="http://schemas.microsoft.com/office/powerpoint/2010/main" val="306489574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B50CCA13-6827-BEFE-B9EC-9BF5BEB17BD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81020" y="1361460"/>
            <a:ext cx="5405755" cy="4253251"/>
          </a:xfrm>
          <a:prstGeom prst="rect">
            <a:avLst/>
          </a:prstGeom>
          <a:noFill/>
          <a:ln>
            <a:noFill/>
          </a:ln>
        </p:spPr>
      </p:pic>
      <p:sp>
        <p:nvSpPr>
          <p:cNvPr id="5" name="文本框 4">
            <a:extLst>
              <a:ext uri="{FF2B5EF4-FFF2-40B4-BE49-F238E27FC236}">
                <a16:creationId xmlns:a16="http://schemas.microsoft.com/office/drawing/2014/main" id="{6120EBEA-A3AE-5C35-8374-EB5A543AFC60}"/>
              </a:ext>
            </a:extLst>
          </p:cNvPr>
          <p:cNvSpPr txBox="1"/>
          <p:nvPr/>
        </p:nvSpPr>
        <p:spPr>
          <a:xfrm>
            <a:off x="2707481" y="5800726"/>
            <a:ext cx="6777037" cy="369332"/>
          </a:xfrm>
          <a:prstGeom prst="rect">
            <a:avLst/>
          </a:prstGeom>
          <a:noFill/>
        </p:spPr>
        <p:txBody>
          <a:bodyPr wrap="square">
            <a:spAutoFit/>
          </a:bodyPr>
          <a:lstStyle/>
          <a:p>
            <a:pPr algn="ctr">
              <a:spcBef>
                <a:spcPts val="700"/>
              </a:spcBef>
              <a:spcAft>
                <a:spcPts val="800"/>
              </a:spcAft>
            </a:pPr>
            <a:r>
              <a:rPr lang="zh-CN" altLang="zh-CN" sz="1800" kern="0" dirty="0">
                <a:effectLst/>
                <a:latin typeface="Times New Roman" panose="02020603050405020304" pitchFamily="18" charset="0"/>
                <a:ea typeface="宋体" panose="02010600030101010101" pitchFamily="2" charset="-122"/>
              </a:rPr>
              <a:t>图</a:t>
            </a:r>
            <a:r>
              <a:rPr lang="en-US" altLang="zh-CN" sz="1800" kern="0" dirty="0">
                <a:effectLst/>
                <a:latin typeface="Times New Roman" panose="02020603050405020304" pitchFamily="18" charset="0"/>
                <a:ea typeface="宋体" panose="02010600030101010101" pitchFamily="2" charset="-122"/>
              </a:rPr>
              <a:t>7.38  </a:t>
            </a:r>
            <a:r>
              <a:rPr lang="zh-CN" altLang="zh-CN" sz="1800" kern="0" dirty="0">
                <a:effectLst/>
                <a:latin typeface="Times New Roman" panose="02020603050405020304" pitchFamily="18" charset="0"/>
                <a:ea typeface="宋体" panose="02010600030101010101" pitchFamily="2" charset="-122"/>
              </a:rPr>
              <a:t>关节</a:t>
            </a:r>
            <a:r>
              <a:rPr lang="en-US" altLang="zh-CN" sz="1800" kern="0" dirty="0">
                <a:effectLst/>
                <a:latin typeface="Times New Roman" panose="02020603050405020304" pitchFamily="18" charset="0"/>
                <a:ea typeface="宋体" panose="02010600030101010101" pitchFamily="2" charset="-122"/>
              </a:rPr>
              <a:t>1</a:t>
            </a:r>
            <a:r>
              <a:rPr lang="zh-CN" altLang="zh-CN" sz="1800" kern="1000" dirty="0">
                <a:effectLst/>
                <a:latin typeface="Times New Roman" panose="02020603050405020304" pitchFamily="18" charset="0"/>
                <a:ea typeface="宋体" panose="02010600030101010101" pitchFamily="2" charset="-122"/>
              </a:rPr>
              <a:t>基于模型约束控制跟踪</a:t>
            </a:r>
            <a:r>
              <a:rPr lang="zh-CN" altLang="zh-CN" sz="1800" kern="0" dirty="0">
                <a:effectLst/>
                <a:latin typeface="Times New Roman" panose="02020603050405020304" pitchFamily="18" charset="0"/>
                <a:ea typeface="宋体" panose="02010600030101010101" pitchFamily="2" charset="-122"/>
              </a:rPr>
              <a:t>的速度轨迹跟踪曲线和误差</a:t>
            </a:r>
            <a:endParaRPr lang="zh-CN" altLang="zh-CN" sz="1800" kern="1000" dirty="0">
              <a:effectLst/>
              <a:latin typeface="Times New Roman" panose="02020603050405020304" pitchFamily="18" charset="0"/>
              <a:ea typeface="宋体" panose="02010600030101010101" pitchFamily="2" charset="-122"/>
            </a:endParaRPr>
          </a:p>
        </p:txBody>
      </p:sp>
      <p:sp>
        <p:nvSpPr>
          <p:cNvPr id="6" name="文本框 5">
            <a:extLst>
              <a:ext uri="{FF2B5EF4-FFF2-40B4-BE49-F238E27FC236}">
                <a16:creationId xmlns:a16="http://schemas.microsoft.com/office/drawing/2014/main" id="{C2D07DA9-F3F8-3066-88FB-1F659542AB72}"/>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滑模控制</a:t>
            </a:r>
          </a:p>
        </p:txBody>
      </p:sp>
    </p:spTree>
    <p:extLst>
      <p:ext uri="{BB962C8B-B14F-4D97-AF65-F5344CB8AC3E}">
        <p14:creationId xmlns:p14="http://schemas.microsoft.com/office/powerpoint/2010/main" val="67086123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4C16FF1-3300-5101-750F-6CE8A80A209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31711" y="1402700"/>
            <a:ext cx="5128578" cy="4052600"/>
          </a:xfrm>
          <a:prstGeom prst="rect">
            <a:avLst/>
          </a:prstGeom>
          <a:noFill/>
          <a:ln>
            <a:noFill/>
          </a:ln>
        </p:spPr>
      </p:pic>
      <p:sp>
        <p:nvSpPr>
          <p:cNvPr id="5" name="文本框 4">
            <a:extLst>
              <a:ext uri="{FF2B5EF4-FFF2-40B4-BE49-F238E27FC236}">
                <a16:creationId xmlns:a16="http://schemas.microsoft.com/office/drawing/2014/main" id="{F13F113D-F416-5636-4DD8-12AEA07F7471}"/>
              </a:ext>
            </a:extLst>
          </p:cNvPr>
          <p:cNvSpPr txBox="1"/>
          <p:nvPr/>
        </p:nvSpPr>
        <p:spPr>
          <a:xfrm>
            <a:off x="2636044" y="5626439"/>
            <a:ext cx="6919912" cy="369332"/>
          </a:xfrm>
          <a:prstGeom prst="rect">
            <a:avLst/>
          </a:prstGeom>
          <a:noFill/>
        </p:spPr>
        <p:txBody>
          <a:bodyPr wrap="square">
            <a:spAutoFit/>
          </a:bodyPr>
          <a:lstStyle/>
          <a:p>
            <a:pPr algn="ctr">
              <a:spcBef>
                <a:spcPts val="700"/>
              </a:spcBef>
              <a:spcAft>
                <a:spcPts val="800"/>
              </a:spcAft>
            </a:pPr>
            <a:r>
              <a:rPr lang="zh-CN" altLang="zh-CN" sz="1800" kern="0" dirty="0">
                <a:effectLst/>
                <a:latin typeface="Times New Roman" panose="02020603050405020304" pitchFamily="18" charset="0"/>
                <a:ea typeface="宋体" panose="02010600030101010101" pitchFamily="2" charset="-122"/>
              </a:rPr>
              <a:t>图</a:t>
            </a:r>
            <a:r>
              <a:rPr lang="en-US" altLang="zh-CN" sz="1800" kern="0" dirty="0">
                <a:effectLst/>
                <a:latin typeface="Times New Roman" panose="02020603050405020304" pitchFamily="18" charset="0"/>
                <a:ea typeface="宋体" panose="02010600030101010101" pitchFamily="2" charset="-122"/>
              </a:rPr>
              <a:t>7.39  </a:t>
            </a:r>
            <a:r>
              <a:rPr lang="zh-CN" altLang="zh-CN" sz="1800" kern="0" dirty="0">
                <a:effectLst/>
                <a:latin typeface="Times New Roman" panose="02020603050405020304" pitchFamily="18" charset="0"/>
                <a:ea typeface="宋体" panose="02010600030101010101" pitchFamily="2" charset="-122"/>
              </a:rPr>
              <a:t>关节</a:t>
            </a:r>
            <a:r>
              <a:rPr lang="en-US" altLang="zh-CN" sz="1800" kern="0" dirty="0">
                <a:effectLst/>
                <a:latin typeface="Times New Roman" panose="02020603050405020304" pitchFamily="18" charset="0"/>
                <a:ea typeface="宋体" panose="02010600030101010101" pitchFamily="2" charset="-122"/>
              </a:rPr>
              <a:t>2</a:t>
            </a:r>
            <a:r>
              <a:rPr lang="zh-CN" altLang="zh-CN" sz="1800" kern="1000" dirty="0">
                <a:effectLst/>
                <a:latin typeface="Times New Roman" panose="02020603050405020304" pitchFamily="18" charset="0"/>
                <a:ea typeface="宋体" panose="02010600030101010101" pitchFamily="2" charset="-122"/>
              </a:rPr>
              <a:t>基于模型约束控制跟踪</a:t>
            </a:r>
            <a:r>
              <a:rPr lang="zh-CN" altLang="zh-CN" sz="1800" kern="0" dirty="0">
                <a:effectLst/>
                <a:latin typeface="Times New Roman" panose="02020603050405020304" pitchFamily="18" charset="0"/>
                <a:ea typeface="宋体" panose="02010600030101010101" pitchFamily="2" charset="-122"/>
              </a:rPr>
              <a:t>的位置轨迹跟踪曲线和误差</a:t>
            </a:r>
            <a:endParaRPr lang="zh-CN" altLang="zh-CN" sz="1800" kern="1000" dirty="0">
              <a:effectLst/>
              <a:latin typeface="Times New Roman" panose="02020603050405020304" pitchFamily="18" charset="0"/>
              <a:ea typeface="宋体" panose="02010600030101010101" pitchFamily="2" charset="-122"/>
            </a:endParaRPr>
          </a:p>
        </p:txBody>
      </p:sp>
      <p:sp>
        <p:nvSpPr>
          <p:cNvPr id="6" name="文本框 5">
            <a:extLst>
              <a:ext uri="{FF2B5EF4-FFF2-40B4-BE49-F238E27FC236}">
                <a16:creationId xmlns:a16="http://schemas.microsoft.com/office/drawing/2014/main" id="{0B3BEF9E-9663-58A1-2033-9516C38BEBFA}"/>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滑模控制</a:t>
            </a:r>
          </a:p>
        </p:txBody>
      </p:sp>
    </p:spTree>
    <p:extLst>
      <p:ext uri="{BB962C8B-B14F-4D97-AF65-F5344CB8AC3E}">
        <p14:creationId xmlns:p14="http://schemas.microsoft.com/office/powerpoint/2010/main" val="402799293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20094B7-2B88-568C-E053-9EA83A4871A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23920" y="1456054"/>
            <a:ext cx="5344160" cy="4204787"/>
          </a:xfrm>
          <a:prstGeom prst="rect">
            <a:avLst/>
          </a:prstGeom>
          <a:noFill/>
          <a:ln>
            <a:noFill/>
          </a:ln>
        </p:spPr>
      </p:pic>
      <p:sp>
        <p:nvSpPr>
          <p:cNvPr id="5" name="文本框 4">
            <a:extLst>
              <a:ext uri="{FF2B5EF4-FFF2-40B4-BE49-F238E27FC236}">
                <a16:creationId xmlns:a16="http://schemas.microsoft.com/office/drawing/2014/main" id="{8814EBC6-E0E6-5F65-A6FE-4A06BF25C527}"/>
              </a:ext>
            </a:extLst>
          </p:cNvPr>
          <p:cNvSpPr txBox="1"/>
          <p:nvPr/>
        </p:nvSpPr>
        <p:spPr>
          <a:xfrm>
            <a:off x="2833687" y="5818659"/>
            <a:ext cx="7272337" cy="369332"/>
          </a:xfrm>
          <a:prstGeom prst="rect">
            <a:avLst/>
          </a:prstGeom>
          <a:noFill/>
        </p:spPr>
        <p:txBody>
          <a:bodyPr wrap="square">
            <a:spAutoFit/>
          </a:bodyPr>
          <a:lstStyle/>
          <a:p>
            <a:pPr algn="ctr">
              <a:spcBef>
                <a:spcPts val="700"/>
              </a:spcBef>
              <a:spcAft>
                <a:spcPts val="800"/>
              </a:spcAft>
            </a:pPr>
            <a:r>
              <a:rPr lang="zh-CN" altLang="zh-CN" sz="1800" kern="0" dirty="0">
                <a:effectLst/>
                <a:latin typeface="Times New Roman" panose="02020603050405020304" pitchFamily="18" charset="0"/>
                <a:ea typeface="宋体" panose="02010600030101010101" pitchFamily="2" charset="-122"/>
              </a:rPr>
              <a:t>图</a:t>
            </a:r>
            <a:r>
              <a:rPr lang="en-US" altLang="zh-CN" sz="1800" kern="0" dirty="0">
                <a:effectLst/>
                <a:latin typeface="Times New Roman" panose="02020603050405020304" pitchFamily="18" charset="0"/>
                <a:ea typeface="宋体" panose="02010600030101010101" pitchFamily="2" charset="-122"/>
              </a:rPr>
              <a:t>7.40  </a:t>
            </a:r>
            <a:r>
              <a:rPr lang="zh-CN" altLang="zh-CN" sz="1800" kern="0" dirty="0">
                <a:effectLst/>
                <a:latin typeface="Times New Roman" panose="02020603050405020304" pitchFamily="18" charset="0"/>
                <a:ea typeface="宋体" panose="02010600030101010101" pitchFamily="2" charset="-122"/>
              </a:rPr>
              <a:t>关节</a:t>
            </a:r>
            <a:r>
              <a:rPr lang="en-US" altLang="zh-CN" sz="1800" kern="0" dirty="0">
                <a:effectLst/>
                <a:latin typeface="Times New Roman" panose="02020603050405020304" pitchFamily="18" charset="0"/>
                <a:ea typeface="宋体" panose="02010600030101010101" pitchFamily="2" charset="-122"/>
              </a:rPr>
              <a:t>2</a:t>
            </a:r>
            <a:r>
              <a:rPr lang="zh-CN" altLang="zh-CN" sz="1800" kern="1000" dirty="0">
                <a:effectLst/>
                <a:latin typeface="Times New Roman" panose="02020603050405020304" pitchFamily="18" charset="0"/>
                <a:ea typeface="宋体" panose="02010600030101010101" pitchFamily="2" charset="-122"/>
              </a:rPr>
              <a:t>基于模型约束控制跟踪</a:t>
            </a:r>
            <a:r>
              <a:rPr lang="zh-CN" altLang="zh-CN" sz="1800" kern="0" dirty="0">
                <a:effectLst/>
                <a:latin typeface="Times New Roman" panose="02020603050405020304" pitchFamily="18" charset="0"/>
                <a:ea typeface="宋体" panose="02010600030101010101" pitchFamily="2" charset="-122"/>
              </a:rPr>
              <a:t>的速度轨迹跟踪曲线和误差</a:t>
            </a:r>
            <a:endParaRPr lang="zh-CN" altLang="zh-CN" sz="1800" kern="1000" dirty="0">
              <a:effectLst/>
              <a:latin typeface="Times New Roman" panose="02020603050405020304" pitchFamily="18" charset="0"/>
              <a:ea typeface="宋体" panose="02010600030101010101" pitchFamily="2" charset="-122"/>
            </a:endParaRPr>
          </a:p>
        </p:txBody>
      </p:sp>
      <p:sp>
        <p:nvSpPr>
          <p:cNvPr id="7" name="文本框 6">
            <a:extLst>
              <a:ext uri="{FF2B5EF4-FFF2-40B4-BE49-F238E27FC236}">
                <a16:creationId xmlns:a16="http://schemas.microsoft.com/office/drawing/2014/main" id="{6A2A319B-7297-A493-1C20-36C70D8FFA6D}"/>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滑模控制</a:t>
            </a:r>
          </a:p>
        </p:txBody>
      </p:sp>
    </p:spTree>
    <p:extLst>
      <p:ext uri="{BB962C8B-B14F-4D97-AF65-F5344CB8AC3E}">
        <p14:creationId xmlns:p14="http://schemas.microsoft.com/office/powerpoint/2010/main" val="340603874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D92DC975-BB5D-4ED3-5752-D931D56724A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45998" y="1413990"/>
            <a:ext cx="5100003" cy="4030020"/>
          </a:xfrm>
          <a:prstGeom prst="rect">
            <a:avLst/>
          </a:prstGeom>
          <a:noFill/>
          <a:ln>
            <a:noFill/>
          </a:ln>
        </p:spPr>
      </p:pic>
      <p:sp>
        <p:nvSpPr>
          <p:cNvPr id="5" name="文本框 4">
            <a:extLst>
              <a:ext uri="{FF2B5EF4-FFF2-40B4-BE49-F238E27FC236}">
                <a16:creationId xmlns:a16="http://schemas.microsoft.com/office/drawing/2014/main" id="{BF08464C-DF1A-DAA5-F425-4F5BCE916977}"/>
              </a:ext>
            </a:extLst>
          </p:cNvPr>
          <p:cNvSpPr txBox="1"/>
          <p:nvPr/>
        </p:nvSpPr>
        <p:spPr>
          <a:xfrm>
            <a:off x="3033712" y="5639485"/>
            <a:ext cx="6700838" cy="369332"/>
          </a:xfrm>
          <a:prstGeom prst="rect">
            <a:avLst/>
          </a:prstGeom>
          <a:noFill/>
        </p:spPr>
        <p:txBody>
          <a:bodyPr wrap="square">
            <a:spAutoFit/>
          </a:bodyPr>
          <a:lstStyle/>
          <a:p>
            <a:pPr algn="ctr">
              <a:spcBef>
                <a:spcPts val="700"/>
              </a:spcBef>
              <a:spcAft>
                <a:spcPts val="800"/>
              </a:spcAft>
            </a:pPr>
            <a:r>
              <a:rPr lang="zh-CN" altLang="zh-CN" sz="1800" kern="0" dirty="0">
                <a:effectLst/>
                <a:latin typeface="Times New Roman" panose="02020603050405020304" pitchFamily="18" charset="0"/>
                <a:ea typeface="宋体" panose="02010600030101010101" pitchFamily="2" charset="-122"/>
              </a:rPr>
              <a:t>图</a:t>
            </a:r>
            <a:r>
              <a:rPr lang="en-US" altLang="zh-CN" sz="1800" kern="0" dirty="0">
                <a:effectLst/>
                <a:latin typeface="Times New Roman" panose="02020603050405020304" pitchFamily="18" charset="0"/>
                <a:ea typeface="宋体" panose="02010600030101010101" pitchFamily="2" charset="-122"/>
              </a:rPr>
              <a:t>7.41  </a:t>
            </a:r>
            <a:r>
              <a:rPr lang="zh-CN" altLang="zh-CN" sz="1800" kern="0" dirty="0">
                <a:effectLst/>
                <a:latin typeface="Times New Roman" panose="02020603050405020304" pitchFamily="18" charset="0"/>
                <a:ea typeface="宋体" panose="02010600030101010101" pitchFamily="2" charset="-122"/>
              </a:rPr>
              <a:t>关节</a:t>
            </a:r>
            <a:r>
              <a:rPr lang="en-US" altLang="zh-CN" sz="1800" kern="0" dirty="0">
                <a:effectLst/>
                <a:latin typeface="Times New Roman" panose="02020603050405020304" pitchFamily="18" charset="0"/>
                <a:ea typeface="宋体" panose="02010600030101010101" pitchFamily="2" charset="-122"/>
              </a:rPr>
              <a:t>3</a:t>
            </a:r>
            <a:r>
              <a:rPr lang="zh-CN" altLang="zh-CN" sz="1800" kern="1000" dirty="0">
                <a:effectLst/>
                <a:latin typeface="Times New Roman" panose="02020603050405020304" pitchFamily="18" charset="0"/>
                <a:ea typeface="宋体" panose="02010600030101010101" pitchFamily="2" charset="-122"/>
              </a:rPr>
              <a:t>基于模型约束控制跟踪</a:t>
            </a:r>
            <a:r>
              <a:rPr lang="zh-CN" altLang="zh-CN" sz="1800" kern="0" dirty="0">
                <a:effectLst/>
                <a:latin typeface="Times New Roman" panose="02020603050405020304" pitchFamily="18" charset="0"/>
                <a:ea typeface="宋体" panose="02010600030101010101" pitchFamily="2" charset="-122"/>
              </a:rPr>
              <a:t>的位置轨迹跟踪曲线和误差</a:t>
            </a:r>
            <a:endParaRPr lang="zh-CN" altLang="zh-CN" sz="1800" kern="1000" dirty="0">
              <a:effectLst/>
              <a:latin typeface="Times New Roman" panose="02020603050405020304" pitchFamily="18" charset="0"/>
              <a:ea typeface="宋体" panose="02010600030101010101" pitchFamily="2" charset="-122"/>
            </a:endParaRPr>
          </a:p>
        </p:txBody>
      </p:sp>
      <p:sp>
        <p:nvSpPr>
          <p:cNvPr id="6" name="文本框 5">
            <a:extLst>
              <a:ext uri="{FF2B5EF4-FFF2-40B4-BE49-F238E27FC236}">
                <a16:creationId xmlns:a16="http://schemas.microsoft.com/office/drawing/2014/main" id="{88135FE2-37A8-2B81-A2EA-B4C93EE8DBB9}"/>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滑模控制</a:t>
            </a:r>
          </a:p>
        </p:txBody>
      </p:sp>
    </p:spTree>
    <p:extLst>
      <p:ext uri="{BB962C8B-B14F-4D97-AF65-F5344CB8AC3E}">
        <p14:creationId xmlns:p14="http://schemas.microsoft.com/office/powerpoint/2010/main" val="183439635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57B42E5-B9E8-EE45-132A-BFE1C3F5B6B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97726" y="1361460"/>
            <a:ext cx="5396548" cy="4215322"/>
          </a:xfrm>
          <a:prstGeom prst="rect">
            <a:avLst/>
          </a:prstGeom>
          <a:noFill/>
          <a:ln>
            <a:noFill/>
          </a:ln>
        </p:spPr>
      </p:pic>
      <p:sp>
        <p:nvSpPr>
          <p:cNvPr id="5" name="文本框 4">
            <a:extLst>
              <a:ext uri="{FF2B5EF4-FFF2-40B4-BE49-F238E27FC236}">
                <a16:creationId xmlns:a16="http://schemas.microsoft.com/office/drawing/2014/main" id="{A47C1036-1057-C467-464B-8536E017A2CA}"/>
              </a:ext>
            </a:extLst>
          </p:cNvPr>
          <p:cNvSpPr txBox="1"/>
          <p:nvPr/>
        </p:nvSpPr>
        <p:spPr>
          <a:xfrm>
            <a:off x="2938463" y="5640006"/>
            <a:ext cx="6577012" cy="369332"/>
          </a:xfrm>
          <a:prstGeom prst="rect">
            <a:avLst/>
          </a:prstGeom>
          <a:noFill/>
        </p:spPr>
        <p:txBody>
          <a:bodyPr wrap="square">
            <a:spAutoFit/>
          </a:bodyPr>
          <a:lstStyle/>
          <a:p>
            <a:pPr algn="ctr">
              <a:spcBef>
                <a:spcPts val="700"/>
              </a:spcBef>
              <a:spcAft>
                <a:spcPts val="800"/>
              </a:spcAft>
            </a:pPr>
            <a:r>
              <a:rPr lang="zh-CN" altLang="zh-CN" sz="1800" kern="0" dirty="0">
                <a:effectLst/>
                <a:latin typeface="Times New Roman" panose="02020603050405020304" pitchFamily="18" charset="0"/>
                <a:ea typeface="宋体" panose="02010600030101010101" pitchFamily="2" charset="-122"/>
              </a:rPr>
              <a:t>图</a:t>
            </a:r>
            <a:r>
              <a:rPr lang="en-US" altLang="zh-CN" sz="1800" kern="0" dirty="0">
                <a:effectLst/>
                <a:latin typeface="Times New Roman" panose="02020603050405020304" pitchFamily="18" charset="0"/>
                <a:ea typeface="宋体" panose="02010600030101010101" pitchFamily="2" charset="-122"/>
              </a:rPr>
              <a:t>7.42  </a:t>
            </a:r>
            <a:r>
              <a:rPr lang="zh-CN" altLang="zh-CN" sz="1800" kern="0" dirty="0">
                <a:effectLst/>
                <a:latin typeface="Times New Roman" panose="02020603050405020304" pitchFamily="18" charset="0"/>
                <a:ea typeface="宋体" panose="02010600030101010101" pitchFamily="2" charset="-122"/>
              </a:rPr>
              <a:t>关节</a:t>
            </a:r>
            <a:r>
              <a:rPr lang="en-US" altLang="zh-CN" sz="1800" kern="0" dirty="0">
                <a:effectLst/>
                <a:latin typeface="Times New Roman" panose="02020603050405020304" pitchFamily="18" charset="0"/>
                <a:ea typeface="宋体" panose="02010600030101010101" pitchFamily="2" charset="-122"/>
              </a:rPr>
              <a:t>3</a:t>
            </a:r>
            <a:r>
              <a:rPr lang="zh-CN" altLang="zh-CN" sz="1800" kern="1000" dirty="0">
                <a:effectLst/>
                <a:latin typeface="Times New Roman" panose="02020603050405020304" pitchFamily="18" charset="0"/>
                <a:ea typeface="宋体" panose="02010600030101010101" pitchFamily="2" charset="-122"/>
              </a:rPr>
              <a:t>基于模型约束控制跟踪</a:t>
            </a:r>
            <a:r>
              <a:rPr lang="zh-CN" altLang="zh-CN" sz="1800" kern="0" dirty="0">
                <a:effectLst/>
                <a:latin typeface="Times New Roman" panose="02020603050405020304" pitchFamily="18" charset="0"/>
                <a:ea typeface="宋体" panose="02010600030101010101" pitchFamily="2" charset="-122"/>
              </a:rPr>
              <a:t>的速度轨迹跟踪曲线和误差</a:t>
            </a:r>
            <a:endParaRPr lang="zh-CN" altLang="zh-CN" sz="1800" kern="1000" dirty="0">
              <a:effectLst/>
              <a:latin typeface="Times New Roman" panose="02020603050405020304" pitchFamily="18" charset="0"/>
              <a:ea typeface="宋体" panose="02010600030101010101" pitchFamily="2" charset="-122"/>
            </a:endParaRPr>
          </a:p>
        </p:txBody>
      </p:sp>
      <p:sp>
        <p:nvSpPr>
          <p:cNvPr id="6" name="文本框 5">
            <a:extLst>
              <a:ext uri="{FF2B5EF4-FFF2-40B4-BE49-F238E27FC236}">
                <a16:creationId xmlns:a16="http://schemas.microsoft.com/office/drawing/2014/main" id="{85AA2342-DD12-2C56-E2A5-D5222A72D944}"/>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滑模控制</a:t>
            </a:r>
          </a:p>
        </p:txBody>
      </p:sp>
    </p:spTree>
    <p:extLst>
      <p:ext uri="{BB962C8B-B14F-4D97-AF65-F5344CB8AC3E}">
        <p14:creationId xmlns:p14="http://schemas.microsoft.com/office/powerpoint/2010/main" val="336654820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A382C25D-EC00-2F56-1D48-6F388EEDC7F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57313" y="1254759"/>
            <a:ext cx="3274120" cy="2564765"/>
          </a:xfrm>
          <a:prstGeom prst="rect">
            <a:avLst/>
          </a:prstGeom>
          <a:noFill/>
          <a:ln>
            <a:noFill/>
          </a:ln>
        </p:spPr>
      </p:pic>
      <p:sp>
        <p:nvSpPr>
          <p:cNvPr id="5" name="文本框 4">
            <a:extLst>
              <a:ext uri="{FF2B5EF4-FFF2-40B4-BE49-F238E27FC236}">
                <a16:creationId xmlns:a16="http://schemas.microsoft.com/office/drawing/2014/main" id="{A34B20F8-1D19-E803-6808-9F66498D8C68}"/>
              </a:ext>
            </a:extLst>
          </p:cNvPr>
          <p:cNvSpPr txBox="1"/>
          <p:nvPr/>
        </p:nvSpPr>
        <p:spPr>
          <a:xfrm>
            <a:off x="1569146" y="4023318"/>
            <a:ext cx="6124574" cy="369332"/>
          </a:xfrm>
          <a:prstGeom prst="rect">
            <a:avLst/>
          </a:prstGeom>
          <a:noFill/>
        </p:spPr>
        <p:txBody>
          <a:bodyPr wrap="square">
            <a:spAutoFit/>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dirty="0">
                <a:effectLst/>
                <a:latin typeface="Times New Roman" panose="02020603050405020304" pitchFamily="18" charset="0"/>
                <a:ea typeface="宋体" panose="02010600030101010101" pitchFamily="2" charset="-122"/>
              </a:rPr>
              <a:t>7.43  </a:t>
            </a:r>
            <a:r>
              <a:rPr lang="zh-CN" altLang="zh-CN" sz="1800" kern="1000" dirty="0">
                <a:effectLst/>
                <a:latin typeface="Times New Roman" panose="02020603050405020304" pitchFamily="18" charset="0"/>
                <a:ea typeface="宋体" panose="02010600030101010101" pitchFamily="2" charset="-122"/>
                <a:cs typeface="Times New Roman" panose="02020603050405020304" pitchFamily="18" charset="0"/>
              </a:rPr>
              <a:t>位置与速度的误差和</a:t>
            </a:r>
            <a:endParaRPr lang="zh-CN" altLang="en-US" dirty="0"/>
          </a:p>
        </p:txBody>
      </p:sp>
      <p:pic>
        <p:nvPicPr>
          <p:cNvPr id="6" name="图片 5">
            <a:extLst>
              <a:ext uri="{FF2B5EF4-FFF2-40B4-BE49-F238E27FC236}">
                <a16:creationId xmlns:a16="http://schemas.microsoft.com/office/drawing/2014/main" id="{8B11F665-3BC4-C200-C1CD-FFFEC32A8F5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66267" y="2906792"/>
            <a:ext cx="3744595" cy="3031171"/>
          </a:xfrm>
          <a:prstGeom prst="rect">
            <a:avLst/>
          </a:prstGeom>
          <a:noFill/>
          <a:ln>
            <a:noFill/>
          </a:ln>
        </p:spPr>
      </p:pic>
      <p:sp>
        <p:nvSpPr>
          <p:cNvPr id="8" name="文本框 7">
            <a:extLst>
              <a:ext uri="{FF2B5EF4-FFF2-40B4-BE49-F238E27FC236}">
                <a16:creationId xmlns:a16="http://schemas.microsoft.com/office/drawing/2014/main" id="{0DB5CACE-B8C5-F788-0474-480C39892079}"/>
              </a:ext>
            </a:extLst>
          </p:cNvPr>
          <p:cNvSpPr txBox="1"/>
          <p:nvPr/>
        </p:nvSpPr>
        <p:spPr>
          <a:xfrm>
            <a:off x="6096000" y="6027457"/>
            <a:ext cx="6124574" cy="369332"/>
          </a:xfrm>
          <a:prstGeom prst="rect">
            <a:avLst/>
          </a:prstGeom>
          <a:noFill/>
        </p:spPr>
        <p:txBody>
          <a:bodyPr wrap="square">
            <a:spAutoFit/>
          </a:bodyPr>
          <a:lstStyle/>
          <a:p>
            <a:pPr algn="ctr">
              <a:spcBef>
                <a:spcPts val="700"/>
              </a:spcBef>
              <a:spcAft>
                <a:spcPts val="800"/>
              </a:spcAft>
            </a:pPr>
            <a:r>
              <a:rPr lang="zh-CN" altLang="zh-CN" sz="1800" kern="0" dirty="0">
                <a:effectLst/>
                <a:latin typeface="Times New Roman" panose="02020603050405020304" pitchFamily="18" charset="0"/>
                <a:ea typeface="宋体" panose="02010600030101010101" pitchFamily="2" charset="-122"/>
              </a:rPr>
              <a:t>图</a:t>
            </a:r>
            <a:r>
              <a:rPr lang="en-US" altLang="zh-CN" sz="1800" kern="0" dirty="0">
                <a:effectLst/>
                <a:latin typeface="Times New Roman" panose="02020603050405020304" pitchFamily="18" charset="0"/>
                <a:ea typeface="宋体" panose="02010600030101010101" pitchFamily="2" charset="-122"/>
              </a:rPr>
              <a:t>7.44  </a:t>
            </a:r>
            <a:r>
              <a:rPr lang="zh-CN" altLang="zh-CN" sz="1800" kern="0" dirty="0">
                <a:effectLst/>
                <a:latin typeface="Times New Roman" panose="02020603050405020304" pitchFamily="18" charset="0"/>
                <a:ea typeface="宋体" panose="02010600030101010101" pitchFamily="2" charset="-122"/>
              </a:rPr>
              <a:t>系统</a:t>
            </a:r>
            <a:r>
              <a:rPr lang="zh-CN" altLang="zh-CN" sz="1800" kern="1000" dirty="0">
                <a:effectLst/>
                <a:latin typeface="Times New Roman" panose="02020603050405020304" pitchFamily="18" charset="0"/>
                <a:ea typeface="宋体" panose="02010600030101010101" pitchFamily="2" charset="-122"/>
              </a:rPr>
              <a:t>控制输入</a:t>
            </a:r>
          </a:p>
        </p:txBody>
      </p:sp>
      <p:sp>
        <p:nvSpPr>
          <p:cNvPr id="9" name="文本框 8">
            <a:extLst>
              <a:ext uri="{FF2B5EF4-FFF2-40B4-BE49-F238E27FC236}">
                <a16:creationId xmlns:a16="http://schemas.microsoft.com/office/drawing/2014/main" id="{4261A306-2E73-1CC9-08B3-15124009AEAB}"/>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滑模控制</a:t>
            </a:r>
          </a:p>
        </p:txBody>
      </p:sp>
    </p:spTree>
    <p:extLst>
      <p:ext uri="{BB962C8B-B14F-4D97-AF65-F5344CB8AC3E}">
        <p14:creationId xmlns:p14="http://schemas.microsoft.com/office/powerpoint/2010/main" val="382355675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550F31B-FADE-B919-5AA0-905C44BD6ED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50443" y="1365885"/>
            <a:ext cx="5091113" cy="3962386"/>
          </a:xfrm>
          <a:prstGeom prst="rect">
            <a:avLst/>
          </a:prstGeom>
          <a:noFill/>
          <a:ln>
            <a:noFill/>
          </a:ln>
        </p:spPr>
      </p:pic>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CE91CB00-CFD7-737A-240E-F207BAD2F70B}"/>
                  </a:ext>
                </a:extLst>
              </p:cNvPr>
              <p:cNvSpPr txBox="1"/>
              <p:nvPr/>
            </p:nvSpPr>
            <p:spPr>
              <a:xfrm>
                <a:off x="3224213" y="5492115"/>
                <a:ext cx="6124574" cy="376770"/>
              </a:xfrm>
              <a:prstGeom prst="rect">
                <a:avLst/>
              </a:prstGeom>
              <a:noFill/>
            </p:spPr>
            <p:txBody>
              <a:bodyPr wrap="square">
                <a:spAutoFit/>
              </a:bodyPr>
              <a:lstStyle/>
              <a:p>
                <a:pPr algn="ctr">
                  <a:spcBef>
                    <a:spcPts val="700"/>
                  </a:spcBef>
                  <a:spcAft>
                    <a:spcPts val="800"/>
                  </a:spcAft>
                </a:pPr>
                <a:r>
                  <a:rPr lang="zh-CN" altLang="zh-CN" sz="1800" kern="0" dirty="0">
                    <a:effectLst/>
                    <a:latin typeface="Times New Roman" panose="02020603050405020304" pitchFamily="18" charset="0"/>
                    <a:ea typeface="宋体" panose="02010600030101010101" pitchFamily="2" charset="-122"/>
                  </a:rPr>
                  <a:t>图</a:t>
                </a:r>
                <a:r>
                  <a:rPr lang="en-US" altLang="zh-CN" sz="1800" kern="0" dirty="0">
                    <a:effectLst/>
                    <a:latin typeface="Times New Roman" panose="02020603050405020304" pitchFamily="18" charset="0"/>
                    <a:ea typeface="宋体" panose="02010600030101010101" pitchFamily="2" charset="-122"/>
                  </a:rPr>
                  <a:t>7.45  </a:t>
                </a:r>
                <a14:m>
                  <m:oMath xmlns:m="http://schemas.openxmlformats.org/officeDocument/2006/math">
                    <m:sSub>
                      <m:sSubPr>
                        <m:ctrlPr>
                          <a:rPr lang="zh-CN" altLang="zh-CN" sz="1800" i="1" kern="0">
                            <a:effectLst/>
                            <a:latin typeface="Cambria Math" panose="02040503050406030204" pitchFamily="18" charset="0"/>
                            <a:ea typeface="Cambria Math" panose="02040503050406030204" pitchFamily="18" charset="0"/>
                          </a:rPr>
                        </m:ctrlPr>
                      </m:sSubPr>
                      <m:e>
                        <m:acc>
                          <m:accPr>
                            <m:chr m:val="̂"/>
                            <m:ctrlPr>
                              <a:rPr lang="zh-CN" altLang="zh-CN" sz="1800" i="1" kern="0">
                                <a:effectLst/>
                                <a:latin typeface="Cambria Math" panose="02040503050406030204" pitchFamily="18" charset="0"/>
                                <a:ea typeface="Cambria Math" panose="02040503050406030204" pitchFamily="18" charset="0"/>
                              </a:rPr>
                            </m:ctrlPr>
                          </m:accPr>
                          <m:e>
                            <m:r>
                              <a:rPr lang="en-US" altLang="zh-CN" sz="1800" i="1" kern="0">
                                <a:effectLst/>
                                <a:latin typeface="Cambria Math" panose="02040503050406030204" pitchFamily="18" charset="0"/>
                                <a:ea typeface="宋体" panose="02010600030101010101" pitchFamily="2" charset="-122"/>
                              </a:rPr>
                              <m:t>𝑊</m:t>
                            </m:r>
                          </m:e>
                        </m:acc>
                      </m:e>
                      <m:sub>
                        <m:r>
                          <a:rPr lang="en-US" altLang="zh-CN" sz="1800" i="1" kern="0">
                            <a:effectLst/>
                            <a:latin typeface="Cambria Math" panose="02040503050406030204" pitchFamily="18" charset="0"/>
                            <a:ea typeface="宋体" panose="02010600030101010101" pitchFamily="2" charset="-122"/>
                          </a:rPr>
                          <m:t>1</m:t>
                        </m:r>
                      </m:sub>
                    </m:sSub>
                  </m:oMath>
                </a14:m>
                <a:r>
                  <a:rPr lang="zh-CN" altLang="zh-CN" sz="1800" kern="1000" dirty="0">
                    <a:effectLst/>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1800" i="1" kern="1000">
                            <a:effectLst/>
                            <a:latin typeface="Cambria Math" panose="02040503050406030204" pitchFamily="18" charset="0"/>
                            <a:ea typeface="Cambria Math" panose="02040503050406030204" pitchFamily="18" charset="0"/>
                          </a:rPr>
                        </m:ctrlPr>
                      </m:sSubPr>
                      <m:e>
                        <m:acc>
                          <m:accPr>
                            <m:chr m:val="̂"/>
                            <m:ctrlPr>
                              <a:rPr lang="zh-CN" altLang="zh-CN" sz="1800" i="1" kern="1000">
                                <a:effectLst/>
                                <a:latin typeface="Cambria Math" panose="02040503050406030204" pitchFamily="18" charset="0"/>
                                <a:ea typeface="Cambria Math" panose="02040503050406030204" pitchFamily="18" charset="0"/>
                              </a:rPr>
                            </m:ctrlPr>
                          </m:accPr>
                          <m:e>
                            <m:r>
                              <a:rPr lang="en-US" altLang="zh-CN" sz="1800" i="1" kern="1000">
                                <a:effectLst/>
                                <a:latin typeface="Cambria Math" panose="02040503050406030204" pitchFamily="18" charset="0"/>
                                <a:ea typeface="宋体" panose="02010600030101010101" pitchFamily="2" charset="-122"/>
                              </a:rPr>
                              <m:t>𝑊</m:t>
                            </m:r>
                          </m:e>
                        </m:acc>
                      </m:e>
                      <m:sub>
                        <m:r>
                          <a:rPr lang="en-US" altLang="zh-CN" sz="1800" i="1" kern="1000">
                            <a:effectLst/>
                            <a:latin typeface="Cambria Math" panose="02040503050406030204" pitchFamily="18" charset="0"/>
                            <a:ea typeface="宋体" panose="02010600030101010101" pitchFamily="2" charset="-122"/>
                          </a:rPr>
                          <m:t>2</m:t>
                        </m:r>
                      </m:sub>
                    </m:sSub>
                  </m:oMath>
                </a14:m>
                <a:r>
                  <a:rPr lang="zh-CN" altLang="zh-CN" sz="1800" kern="1000" dirty="0">
                    <a:effectLst/>
                    <a:latin typeface="Times New Roman" panose="02020603050405020304" pitchFamily="18" charset="0"/>
                    <a:ea typeface="宋体" panose="02010600030101010101" pitchFamily="2" charset="-122"/>
                  </a:rPr>
                  <a:t>的范数</a:t>
                </a:r>
              </a:p>
            </p:txBody>
          </p:sp>
        </mc:Choice>
        <mc:Fallback>
          <p:sp>
            <p:nvSpPr>
              <p:cNvPr id="5" name="文本框 4">
                <a:extLst>
                  <a:ext uri="{FF2B5EF4-FFF2-40B4-BE49-F238E27FC236}">
                    <a16:creationId xmlns:a16="http://schemas.microsoft.com/office/drawing/2014/main" id="{CE91CB00-CFD7-737A-240E-F207BAD2F70B}"/>
                  </a:ext>
                </a:extLst>
              </p:cNvPr>
              <p:cNvSpPr txBox="1">
                <a:spLocks noRot="1" noChangeAspect="1" noMove="1" noResize="1" noEditPoints="1" noAdjustHandles="1" noChangeArrowheads="1" noChangeShapeType="1" noTextEdit="1"/>
              </p:cNvSpPr>
              <p:nvPr/>
            </p:nvSpPr>
            <p:spPr>
              <a:xfrm>
                <a:off x="3224213" y="5492115"/>
                <a:ext cx="6124574" cy="376770"/>
              </a:xfrm>
              <a:prstGeom prst="rect">
                <a:avLst/>
              </a:prstGeom>
              <a:blipFill>
                <a:blip r:embed="rId4"/>
                <a:stretch>
                  <a:fillRect t="-11290" b="-25806"/>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D2661561-739B-2400-1A79-B869CFBF3FDE}"/>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5</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滑模控制</a:t>
            </a:r>
          </a:p>
        </p:txBody>
      </p:sp>
    </p:spTree>
    <p:extLst>
      <p:ext uri="{BB962C8B-B14F-4D97-AF65-F5344CB8AC3E}">
        <p14:creationId xmlns:p14="http://schemas.microsoft.com/office/powerpoint/2010/main" val="6012038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4A52E83-399A-2736-DFEB-4CC2B589A34E}"/>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6</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阻抗控制</a:t>
            </a:r>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5151BD68-0328-CE43-D824-12214209216E}"/>
                  </a:ext>
                </a:extLst>
              </p:cNvPr>
              <p:cNvSpPr txBox="1"/>
              <p:nvPr/>
            </p:nvSpPr>
            <p:spPr>
              <a:xfrm>
                <a:off x="1119187" y="1038226"/>
                <a:ext cx="9953625" cy="3939540"/>
              </a:xfrm>
              <a:prstGeom prst="rect">
                <a:avLst/>
              </a:prstGeom>
              <a:noFill/>
            </p:spPr>
            <p:txBody>
              <a:bodyPr wrap="square">
                <a:spAutoFit/>
              </a:bodyPr>
              <a:lstStyle/>
              <a:p>
                <a:pPr algn="just">
                  <a:spcBef>
                    <a:spcPts val="600"/>
                  </a:spcBef>
                  <a:spcAft>
                    <a:spcPts val="600"/>
                  </a:spcAft>
                </a:pPr>
                <a:r>
                  <a:rPr lang="en-US"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6</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．阻抗控制</a:t>
                </a:r>
              </a:p>
              <a:p>
                <a:pPr algn="just">
                  <a:spcBef>
                    <a:spcPts val="600"/>
                  </a:spcBef>
                </a:pPr>
                <a:r>
                  <a:rPr lang="en-US" altLang="zh-CN" sz="2400" b="1" kern="1050" dirty="0">
                    <a:effectLst/>
                    <a:latin typeface="微软雅黑" panose="020B0503020204020204" pitchFamily="34" charset="-122"/>
                    <a:ea typeface="微软雅黑" panose="020B0503020204020204" pitchFamily="34" charset="-122"/>
                  </a:rPr>
                  <a:t>1)</a:t>
                </a:r>
                <a:r>
                  <a:rPr lang="zh-CN" altLang="zh-CN" sz="2400" b="1" kern="1050" dirty="0">
                    <a:effectLst/>
                    <a:latin typeface="微软雅黑" panose="020B0503020204020204" pitchFamily="34" charset="-122"/>
                    <a:ea typeface="微软雅黑" panose="020B0503020204020204" pitchFamily="34" charset="-122"/>
                  </a:rPr>
                  <a:t>阻抗控制原理</a:t>
                </a:r>
              </a:p>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阻抗控制是将机器人的力</a:t>
                </a:r>
                <a:r>
                  <a:rPr lang="en-US" altLang="zh-CN" sz="2400" b="1" kern="1000" dirty="0">
                    <a:effectLst/>
                    <a:latin typeface="微软雅黑" panose="020B0503020204020204" pitchFamily="34" charset="-122"/>
                    <a:ea typeface="微软雅黑" panose="020B0503020204020204" pitchFamily="34" charset="-122"/>
                  </a:rPr>
                  <a:t>/</a:t>
                </a:r>
                <a:r>
                  <a:rPr lang="zh-CN" altLang="zh-CN" sz="2400" b="1" kern="1000" dirty="0">
                    <a:effectLst/>
                    <a:latin typeface="微软雅黑" panose="020B0503020204020204" pitchFamily="34" charset="-122"/>
                    <a:ea typeface="微软雅黑" panose="020B0503020204020204" pitchFamily="34" charset="-122"/>
                  </a:rPr>
                  <a:t>位置控制系统等效为一个弹簧质量阻尼系统，使用该系统描述机器人与环境间接触力和位置的关系，可以通过调节阻抗控制器的惯性参数、阻尼参数和刚度参数来调节机器人与环境间接触力和位置的关系。</a:t>
                </a:r>
              </a:p>
              <a:p>
                <a:r>
                  <a:rPr lang="en-US"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图</a:t>
                </a:r>
                <a:r>
                  <a:rPr lang="en-US" altLang="zh-CN" sz="2400" b="1" kern="1000" dirty="0">
                    <a:effectLst/>
                    <a:latin typeface="微软雅黑" panose="020B0503020204020204" pitchFamily="34" charset="-122"/>
                    <a:ea typeface="微软雅黑" panose="020B0503020204020204" pitchFamily="34" charset="-122"/>
                  </a:rPr>
                  <a:t>7.46</a:t>
                </a:r>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所示为期望阻抗模型，系统输入为所考察对象末端实际轨迹</a:t>
                </a:r>
                <a14:m>
                  <m:oMath xmlns:m="http://schemas.openxmlformats.org/officeDocument/2006/math">
                    <m:r>
                      <a:rPr lang="en-US" altLang="zh-CN" sz="2400" b="1" i="1" kern="1000" smtClean="0">
                        <a:effectLst/>
                        <a:latin typeface="Cambria Math" panose="02040503050406030204" pitchFamily="18" charset="0"/>
                        <a:ea typeface="宋体" panose="02010600030101010101" pitchFamily="2" charset="-122"/>
                        <a:cs typeface="Times New Roman" panose="02020603050405020304" pitchFamily="18" charset="0"/>
                      </a:rPr>
                      <m:t>𝑿</m:t>
                    </m:r>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与期望轨迹</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cs typeface="Times New Roman" panose="02020603050405020304" pitchFamily="18" charset="0"/>
                          </a:rPr>
                          <m:t>𝑿</m:t>
                        </m:r>
                      </m:e>
                      <m:sub>
                        <m:r>
                          <a:rPr lang="en-US" altLang="zh-CN" sz="2400" b="1" i="1" kern="1000" smtClean="0">
                            <a:effectLst/>
                            <a:latin typeface="Cambria Math" panose="02040503050406030204" pitchFamily="18" charset="0"/>
                            <a:ea typeface="宋体" panose="02010600030101010101" pitchFamily="2" charset="-122"/>
                            <a:cs typeface="Times New Roman" panose="02020603050405020304" pitchFamily="18" charset="0"/>
                          </a:rPr>
                          <m:t>𝒅</m:t>
                        </m:r>
                      </m:sub>
                    </m:sSub>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的偏差</a:t>
                </a:r>
                <a14:m>
                  <m:oMath xmlns:m="http://schemas.openxmlformats.org/officeDocument/2006/math">
                    <m:r>
                      <a:rPr lang="en-US" altLang="zh-CN" sz="2400" b="1" i="1" kern="1000" smtClean="0">
                        <a:effectLst/>
                        <a:latin typeface="Cambria Math" panose="02040503050406030204" pitchFamily="18" charset="0"/>
                        <a:ea typeface="宋体" panose="02010600030101010101" pitchFamily="2" charset="-122"/>
                        <a:cs typeface="Times New Roman" panose="02020603050405020304" pitchFamily="18" charset="0"/>
                      </a:rPr>
                      <m:t>𝑬</m:t>
                    </m:r>
                    <m:r>
                      <a:rPr lang="en-US" altLang="zh-CN" sz="2400" b="1" i="1" kern="1000" smtClean="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0" smtClean="0">
                        <a:effectLst/>
                        <a:latin typeface="Cambria Math" panose="02040503050406030204" pitchFamily="18" charset="0"/>
                        <a:ea typeface="宋体" panose="02010600030101010101" pitchFamily="2" charset="-122"/>
                        <a:cs typeface="Times New Roman" panose="02020603050405020304" pitchFamily="18" charset="0"/>
                      </a:rPr>
                      <m:t>𝑿</m:t>
                    </m:r>
                    <m:r>
                      <a:rPr lang="en-US" altLang="zh-CN" sz="2400" b="1" i="1" kern="1000" smtClean="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cs typeface="Times New Roman" panose="02020603050405020304" pitchFamily="18" charset="0"/>
                          </a:rPr>
                          <m:t>𝑿</m:t>
                        </m:r>
                      </m:e>
                      <m:sub>
                        <m:r>
                          <a:rPr lang="en-US" altLang="zh-CN" sz="2400" b="1" i="1" kern="1000" smtClean="0">
                            <a:effectLst/>
                            <a:latin typeface="Cambria Math" panose="02040503050406030204" pitchFamily="18" charset="0"/>
                            <a:ea typeface="宋体" panose="02010600030101010101" pitchFamily="2" charset="-122"/>
                            <a:cs typeface="Times New Roman" panose="02020603050405020304" pitchFamily="18" charset="0"/>
                          </a:rPr>
                          <m:t>𝒅</m:t>
                        </m:r>
                      </m:sub>
                    </m:sSub>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，系统输出为对象末端与环境接触时产生的接触力</a:t>
                </a:r>
                <a14:m>
                  <m:oMath xmlns:m="http://schemas.openxmlformats.org/officeDocument/2006/math">
                    <m:r>
                      <a:rPr lang="en-US" altLang="zh-CN" sz="2400" b="1" i="1" kern="1000" smtClean="0">
                        <a:effectLst/>
                        <a:latin typeface="Cambria Math" panose="02040503050406030204" pitchFamily="18" charset="0"/>
                        <a:ea typeface="宋体" panose="02010600030101010101" pitchFamily="2" charset="-122"/>
                        <a:cs typeface="Times New Roman" panose="02020603050405020304" pitchFamily="18" charset="0"/>
                      </a:rPr>
                      <m:t>𝑭</m:t>
                    </m:r>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r>
                      <a:rPr lang="en-US" altLang="zh-CN" sz="2400" b="1" i="1" kern="1000" smtClean="0">
                        <a:effectLst/>
                        <a:latin typeface="Cambria Math" panose="02040503050406030204" pitchFamily="18" charset="0"/>
                        <a:ea typeface="宋体" panose="02010600030101010101" pitchFamily="2" charset="-122"/>
                        <a:cs typeface="Times New Roman" panose="02020603050405020304" pitchFamily="18" charset="0"/>
                      </a:rPr>
                      <m:t>𝒁</m:t>
                    </m:r>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为等效阻抗模型。可以使用二阶微分方程的形式描述阻抗系统等效数学模型，主要有以下三种形式的目标阻抗模型，如下式所示。</a:t>
                </a:r>
                <a:endParaRPr lang="zh-CN" altLang="en-US" sz="2400" b="1" dirty="0">
                  <a:latin typeface="微软雅黑" panose="020B0503020204020204" pitchFamily="34" charset="-122"/>
                  <a:ea typeface="微软雅黑" panose="020B0503020204020204" pitchFamily="34" charset="-122"/>
                </a:endParaRPr>
              </a:p>
            </p:txBody>
          </p:sp>
        </mc:Choice>
        <mc:Fallback>
          <p:sp>
            <p:nvSpPr>
              <p:cNvPr id="4" name="文本框 3">
                <a:extLst>
                  <a:ext uri="{FF2B5EF4-FFF2-40B4-BE49-F238E27FC236}">
                    <a16:creationId xmlns:a16="http://schemas.microsoft.com/office/drawing/2014/main" id="{5151BD68-0328-CE43-D824-12214209216E}"/>
                  </a:ext>
                </a:extLst>
              </p:cNvPr>
              <p:cNvSpPr txBox="1">
                <a:spLocks noRot="1" noChangeAspect="1" noMove="1" noResize="1" noEditPoints="1" noAdjustHandles="1" noChangeArrowheads="1" noChangeShapeType="1" noTextEdit="1"/>
              </p:cNvSpPr>
              <p:nvPr/>
            </p:nvSpPr>
            <p:spPr>
              <a:xfrm>
                <a:off x="1119187" y="1038226"/>
                <a:ext cx="9953625" cy="3939540"/>
              </a:xfrm>
              <a:prstGeom prst="rect">
                <a:avLst/>
              </a:prstGeom>
              <a:blipFill>
                <a:blip r:embed="rId3"/>
                <a:stretch>
                  <a:fillRect l="-980" t="-1236" r="-3860" b="-24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90AF39DE-FE04-0369-CEBB-1B5742882339}"/>
                  </a:ext>
                </a:extLst>
              </p:cNvPr>
              <p:cNvSpPr txBox="1"/>
              <p:nvPr/>
            </p:nvSpPr>
            <p:spPr>
              <a:xfrm>
                <a:off x="2700338" y="5118047"/>
                <a:ext cx="7815262" cy="1232004"/>
              </a:xfrm>
              <a:prstGeom prst="rect">
                <a:avLst/>
              </a:prstGeom>
              <a:noFill/>
            </p:spPr>
            <p:txBody>
              <a:bodyPr wrap="square">
                <a:spAutoFit/>
              </a:bodyPr>
              <a:lstStyle/>
              <a:p>
                <a:pPr algn="just">
                  <a:spcBef>
                    <a:spcPts val="400"/>
                  </a:spcBef>
                  <a:spcAft>
                    <a:spcPts val="400"/>
                  </a:spcAft>
                  <a:tabLst>
                    <a:tab pos="5364480" algn="r"/>
                  </a:tabLst>
                </a:pPr>
                <a14:m>
                  <m:oMath xmlns:m="http://schemas.openxmlformats.org/officeDocument/2006/math">
                    <m:d>
                      <m:dPr>
                        <m:begChr m:val="{"/>
                        <m:endChr m:val=""/>
                        <m:ctrlPr>
                          <a:rPr lang="zh-CN" altLang="zh-CN" sz="2000" b="1" i="1" kern="1050" smtClean="0">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sz="2000" b="1" i="1" kern="1050">
                                <a:effectLst/>
                                <a:latin typeface="Cambria Math" panose="02040503050406030204" pitchFamily="18" charset="0"/>
                                <a:ea typeface="Cambria Math" panose="02040503050406030204" pitchFamily="18" charset="0"/>
                              </a:rPr>
                            </m:ctrlPr>
                          </m:mPr>
                          <m:m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𝑴</m:t>
                                  </m:r>
                                </m:e>
                                <m:sub>
                                  <m:r>
                                    <a:rPr lang="en-US" altLang="zh-CN" sz="2000" b="1" i="1" kern="1050">
                                      <a:effectLst/>
                                      <a:latin typeface="Cambria Math" panose="02040503050406030204" pitchFamily="18" charset="0"/>
                                      <a:ea typeface="宋体" panose="02010600030101010101" pitchFamily="2" charset="-122"/>
                                    </a:rPr>
                                    <m:t>𝒅</m:t>
                                  </m:r>
                                </m:sub>
                              </m:sSub>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𝑿</m:t>
                                  </m:r>
                                </m:e>
                              </m:acc>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𝑩</m:t>
                                  </m:r>
                                </m:e>
                                <m:sub>
                                  <m:r>
                                    <a:rPr lang="en-US" altLang="zh-CN" sz="2000" b="1" i="1" kern="1050">
                                      <a:effectLst/>
                                      <a:latin typeface="Cambria Math" panose="02040503050406030204" pitchFamily="18" charset="0"/>
                                      <a:ea typeface="宋体" panose="02010600030101010101" pitchFamily="2" charset="-122"/>
                                    </a:rPr>
                                    <m:t>𝒅</m:t>
                                  </m:r>
                                </m:sub>
                              </m:sSub>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𝑿</m:t>
                                  </m:r>
                                </m:e>
                              </m:acc>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𝒅</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𝑿</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𝑿</m:t>
                                  </m:r>
                                </m:e>
                                <m:sub>
                                  <m:r>
                                    <a:rPr lang="en-US" altLang="zh-CN" sz="2000" b="1" i="1" kern="1050">
                                      <a:effectLst/>
                                      <a:latin typeface="Cambria Math" panose="02040503050406030204" pitchFamily="18" charset="0"/>
                                      <a:ea typeface="宋体" panose="02010600030101010101" pitchFamily="2" charset="-122"/>
                                    </a:rPr>
                                    <m:t>𝒅</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𝑭</m:t>
                              </m:r>
                            </m:e>
                          </m:mr>
                          <m:m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𝑴</m:t>
                                  </m:r>
                                </m:e>
                                <m:sub>
                                  <m:r>
                                    <a:rPr lang="en-US" altLang="zh-CN" sz="2000" b="1" i="1" kern="1050">
                                      <a:effectLst/>
                                      <a:latin typeface="Cambria Math" panose="02040503050406030204" pitchFamily="18" charset="0"/>
                                      <a:ea typeface="宋体" panose="02010600030101010101" pitchFamily="2" charset="-122"/>
                                    </a:rPr>
                                    <m:t>𝒅</m:t>
                                  </m:r>
                                </m:sub>
                              </m:sSub>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𝑿</m:t>
                                  </m:r>
                                </m:e>
                              </m:acc>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𝑩</m:t>
                                  </m:r>
                                </m:e>
                                <m:sub>
                                  <m:r>
                                    <a:rPr lang="en-US" altLang="zh-CN" sz="2000" b="1" i="1" kern="1050">
                                      <a:effectLst/>
                                      <a:latin typeface="Cambria Math" panose="02040503050406030204" pitchFamily="18" charset="0"/>
                                      <a:ea typeface="宋体" panose="02010600030101010101" pitchFamily="2" charset="-122"/>
                                    </a:rPr>
                                    <m:t>𝒅</m:t>
                                  </m:r>
                                </m:sub>
                              </m:sSub>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𝑿</m:t>
                                  </m:r>
                                </m:e>
                              </m:acc>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𝑿</m:t>
                                      </m:r>
                                    </m:e>
                                  </m:acc>
                                </m:e>
                                <m:sub>
                                  <m:r>
                                    <a:rPr lang="en-US" altLang="zh-CN" sz="2000" b="1" i="1" kern="1050">
                                      <a:effectLst/>
                                      <a:latin typeface="Cambria Math" panose="02040503050406030204" pitchFamily="18" charset="0"/>
                                      <a:ea typeface="宋体" panose="02010600030101010101" pitchFamily="2" charset="-122"/>
                                    </a:rPr>
                                    <m:t>𝒅</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𝒅</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𝑿</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𝑿</m:t>
                                  </m:r>
                                </m:e>
                                <m:sub>
                                  <m:r>
                                    <a:rPr lang="en-US" altLang="zh-CN" sz="2000" b="1" i="1" kern="1050">
                                      <a:effectLst/>
                                      <a:latin typeface="Cambria Math" panose="02040503050406030204" pitchFamily="18" charset="0"/>
                                      <a:ea typeface="宋体" panose="02010600030101010101" pitchFamily="2" charset="-122"/>
                                    </a:rPr>
                                    <m:t>𝒅</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𝑭</m:t>
                              </m:r>
                            </m:e>
                          </m:mr>
                          <m:m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𝑴</m:t>
                                  </m:r>
                                </m:e>
                                <m:sub>
                                  <m:r>
                                    <a:rPr lang="en-US" altLang="zh-CN" sz="2000" b="1" i="1" kern="1050">
                                      <a:effectLst/>
                                      <a:latin typeface="Cambria Math" panose="02040503050406030204" pitchFamily="18" charset="0"/>
                                      <a:ea typeface="宋体" panose="02010600030101010101" pitchFamily="2" charset="-122"/>
                                    </a:rPr>
                                    <m:t>𝒅</m:t>
                                  </m:r>
                                </m:sub>
                              </m:sSub>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𝑿</m:t>
                                  </m:r>
                                </m:e>
                              </m:acc>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𝑿</m:t>
                                      </m:r>
                                    </m:e>
                                  </m:acc>
                                </m:e>
                                <m:sub>
                                  <m:r>
                                    <a:rPr lang="en-US" altLang="zh-CN" sz="2000" b="1" i="1" kern="1050">
                                      <a:effectLst/>
                                      <a:latin typeface="Cambria Math" panose="02040503050406030204" pitchFamily="18" charset="0"/>
                                      <a:ea typeface="宋体" panose="02010600030101010101" pitchFamily="2" charset="-122"/>
                                    </a:rPr>
                                    <m:t>𝒅</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𝑩</m:t>
                                  </m:r>
                                </m:e>
                                <m:sub>
                                  <m:r>
                                    <a:rPr lang="en-US" altLang="zh-CN" sz="2000" b="1" i="1" kern="1050">
                                      <a:effectLst/>
                                      <a:latin typeface="Cambria Math" panose="02040503050406030204" pitchFamily="18" charset="0"/>
                                      <a:ea typeface="宋体" panose="02010600030101010101" pitchFamily="2" charset="-122"/>
                                    </a:rPr>
                                    <m:t>𝒅</m:t>
                                  </m:r>
                                </m:sub>
                              </m:sSub>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𝑿</m:t>
                                  </m:r>
                                </m:e>
                              </m:acc>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𝑿</m:t>
                                      </m:r>
                                    </m:e>
                                  </m:acc>
                                </m:e>
                                <m:sub>
                                  <m:r>
                                    <a:rPr lang="en-US" altLang="zh-CN" sz="2000" b="1" i="1" kern="1050">
                                      <a:effectLst/>
                                      <a:latin typeface="Cambria Math" panose="02040503050406030204" pitchFamily="18" charset="0"/>
                                      <a:ea typeface="宋体" panose="02010600030101010101" pitchFamily="2" charset="-122"/>
                                    </a:rPr>
                                    <m:t>𝒅</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𝒅</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𝑿</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𝑿</m:t>
                                  </m:r>
                                </m:e>
                                <m:sub>
                                  <m:r>
                                    <a:rPr lang="en-US" altLang="zh-CN" sz="2000" b="1" i="1" kern="1050">
                                      <a:effectLst/>
                                      <a:latin typeface="Cambria Math" panose="02040503050406030204" pitchFamily="18" charset="0"/>
                                      <a:ea typeface="宋体" panose="02010600030101010101" pitchFamily="2" charset="-122"/>
                                    </a:rPr>
                                    <m:t>𝒅</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𝑭</m:t>
                              </m:r>
                            </m:e>
                          </m:mr>
                        </m:m>
                      </m:e>
                    </m:d>
                  </m:oMath>
                </a14:m>
                <a:r>
                  <a:rPr lang="en-US" altLang="zh-CN" sz="2000" b="1" kern="1050" dirty="0">
                    <a:effectLst/>
                    <a:latin typeface="微软雅黑" panose="020B0503020204020204" pitchFamily="34" charset="-122"/>
                    <a:ea typeface="微软雅黑" panose="020B0503020204020204" pitchFamily="34" charset="-122"/>
                  </a:rPr>
                  <a:t> 	(7.93</a:t>
                </a:r>
                <a:r>
                  <a:rPr lang="en-US" altLang="zh-CN" sz="1800" kern="1050" dirty="0">
                    <a:effectLst/>
                    <a:latin typeface="宋体" panose="02010600030101010101" pitchFamily="2" charset="-122"/>
                    <a:ea typeface="宋体" panose="02010600030101010101" pitchFamily="2" charset="-122"/>
                  </a:rPr>
                  <a:t>)</a:t>
                </a:r>
                <a:endParaRPr lang="zh-CN" altLang="zh-CN" sz="1800" kern="1050" dirty="0">
                  <a:effectLst/>
                  <a:latin typeface="Times New Roman" panose="02020603050405020304" pitchFamily="18" charset="0"/>
                  <a:ea typeface="宋体" panose="02010600030101010101" pitchFamily="2" charset="-122"/>
                </a:endParaRPr>
              </a:p>
            </p:txBody>
          </p:sp>
        </mc:Choice>
        <mc:Fallback xmlns="">
          <p:sp>
            <p:nvSpPr>
              <p:cNvPr id="6" name="文本框 5">
                <a:extLst>
                  <a:ext uri="{FF2B5EF4-FFF2-40B4-BE49-F238E27FC236}">
                    <a16:creationId xmlns:a16="http://schemas.microsoft.com/office/drawing/2014/main" id="{90AF39DE-FE04-0369-CEBB-1B5742882339}"/>
                  </a:ext>
                </a:extLst>
              </p:cNvPr>
              <p:cNvSpPr txBox="1">
                <a:spLocks noRot="1" noChangeAspect="1" noMove="1" noResize="1" noEditPoints="1" noAdjustHandles="1" noChangeArrowheads="1" noChangeShapeType="1" noTextEdit="1"/>
              </p:cNvSpPr>
              <p:nvPr/>
            </p:nvSpPr>
            <p:spPr>
              <a:xfrm>
                <a:off x="2700338" y="5118047"/>
                <a:ext cx="7815262" cy="1232004"/>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4639867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04A5F538-0ADF-689D-B2EC-3C04BB79E8D6}"/>
                  </a:ext>
                </a:extLst>
              </p:cNvPr>
              <p:cNvSpPr txBox="1"/>
              <p:nvPr/>
            </p:nvSpPr>
            <p:spPr>
              <a:xfrm>
                <a:off x="1123950" y="1257300"/>
                <a:ext cx="10096500" cy="1974002"/>
              </a:xfrm>
              <a:prstGeom prst="rect">
                <a:avLst/>
              </a:prstGeom>
              <a:noFill/>
            </p:spPr>
            <p:txBody>
              <a:bodyPr wrap="square">
                <a:spAutoFit/>
              </a:bodyPr>
              <a:lstStyle/>
              <a:p>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式中，</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𝑴</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𝒅</m:t>
                        </m:r>
                      </m:sub>
                    </m:sSub>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𝑩</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𝒅</m:t>
                        </m:r>
                      </m:sub>
                    </m:sSub>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𝑲</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𝒅</m:t>
                        </m:r>
                      </m:sub>
                    </m:sSub>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分别表示等效目标阻抗模型的惯性矩阵、阻尼矩阵和刚度矩阵；</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𝑿</m:t>
                    </m:r>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表示机器人末端实际轨迹，含有在空间三维方向的位置、速度和加速度；</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𝑿</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𝒅</m:t>
                        </m:r>
                      </m:sub>
                    </m:sSub>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表示机器人末端的期望轨迹；</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𝑭</m:t>
                    </m:r>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表示机器人在空间三维方向受到的力向量。将力偏差</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𝒆</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𝒇</m:t>
                        </m:r>
                      </m:sub>
                    </m:s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m:t>
                    </m:r>
                  </m:oMath>
                </a14:m>
                <a:r>
                  <a:rPr lang="en-US" altLang="zh-CN" sz="2400" b="1" kern="100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𝑭</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𝒅</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𝑭</m:t>
                    </m:r>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引入阻抗模型，可得如下目标阻抗模</a:t>
                </a:r>
                <a:r>
                  <a:rPr lang="zh-CN" altLang="en-US" sz="2400" b="1" kern="1000" dirty="0">
                    <a:latin typeface="微软雅黑" panose="020B0503020204020204" pitchFamily="34" charset="-122"/>
                    <a:ea typeface="微软雅黑" panose="020B0503020204020204" pitchFamily="34" charset="-122"/>
                    <a:cs typeface="Times New Roman" panose="02020603050405020304" pitchFamily="18" charset="0"/>
                  </a:rPr>
                  <a:t>型。</a:t>
                </a:r>
                <a:endParaRPr lang="zh-CN" altLang="en-US" sz="2400" b="1" dirty="0">
                  <a:latin typeface="微软雅黑" panose="020B0503020204020204" pitchFamily="34" charset="-122"/>
                  <a:ea typeface="微软雅黑" panose="020B0503020204020204" pitchFamily="34" charset="-122"/>
                </a:endParaRPr>
              </a:p>
            </p:txBody>
          </p:sp>
        </mc:Choice>
        <mc:Fallback xmlns="">
          <p:sp>
            <p:nvSpPr>
              <p:cNvPr id="4" name="文本框 3">
                <a:extLst>
                  <a:ext uri="{FF2B5EF4-FFF2-40B4-BE49-F238E27FC236}">
                    <a16:creationId xmlns:a16="http://schemas.microsoft.com/office/drawing/2014/main" id="{04A5F538-0ADF-689D-B2EC-3C04BB79E8D6}"/>
                  </a:ext>
                </a:extLst>
              </p:cNvPr>
              <p:cNvSpPr txBox="1">
                <a:spLocks noRot="1" noChangeAspect="1" noMove="1" noResize="1" noEditPoints="1" noAdjustHandles="1" noChangeArrowheads="1" noChangeShapeType="1" noTextEdit="1"/>
              </p:cNvSpPr>
              <p:nvPr/>
            </p:nvSpPr>
            <p:spPr>
              <a:xfrm>
                <a:off x="1123950" y="1257300"/>
                <a:ext cx="10096500" cy="1974002"/>
              </a:xfrm>
              <a:prstGeom prst="rect">
                <a:avLst/>
              </a:prstGeom>
              <a:blipFill>
                <a:blip r:embed="rId3"/>
                <a:stretch>
                  <a:fillRect l="-905" t="-2469" r="-241" b="-6173"/>
                </a:stretch>
              </a:blipFill>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F6734362-AB27-4DA5-1B20-A45F2352E138}"/>
              </a:ext>
            </a:extLst>
          </p:cNvPr>
          <p:cNvPicPr>
            <a:picLocks noChangeAspect="1"/>
          </p:cNvPicPr>
          <p:nvPr/>
        </p:nvPicPr>
        <p:blipFill>
          <a:blip r:embed="rId4"/>
          <a:stretch>
            <a:fillRect/>
          </a:stretch>
        </p:blipFill>
        <p:spPr>
          <a:xfrm>
            <a:off x="8439231" y="3183677"/>
            <a:ext cx="2628819" cy="850501"/>
          </a:xfrm>
          <a:prstGeom prst="rect">
            <a:avLst/>
          </a:prstGeom>
        </p:spPr>
      </p:pic>
      <p:sp>
        <p:nvSpPr>
          <p:cNvPr id="11" name="文本框 10">
            <a:extLst>
              <a:ext uri="{FF2B5EF4-FFF2-40B4-BE49-F238E27FC236}">
                <a16:creationId xmlns:a16="http://schemas.microsoft.com/office/drawing/2014/main" id="{4205F774-2698-E275-EF66-942EF7970E29}"/>
              </a:ext>
            </a:extLst>
          </p:cNvPr>
          <p:cNvSpPr txBox="1"/>
          <p:nvPr/>
        </p:nvSpPr>
        <p:spPr>
          <a:xfrm>
            <a:off x="6815136" y="4209863"/>
            <a:ext cx="6124574" cy="369332"/>
          </a:xfrm>
          <a:prstGeom prst="rect">
            <a:avLst/>
          </a:prstGeom>
          <a:noFill/>
        </p:spPr>
        <p:txBody>
          <a:bodyPr wrap="square">
            <a:spAutoFit/>
          </a:bodyPr>
          <a:lstStyle/>
          <a:p>
            <a:pPr algn="ctr">
              <a:spcBef>
                <a:spcPts val="700"/>
              </a:spcBef>
              <a:spcAft>
                <a:spcPts val="800"/>
              </a:spcAft>
            </a:pPr>
            <a:r>
              <a:rPr lang="zh-CN" altLang="zh-CN" sz="1800" kern="1000" dirty="0">
                <a:effectLst/>
                <a:latin typeface="Times New Roman" panose="02020603050405020304" pitchFamily="18" charset="0"/>
                <a:ea typeface="宋体" panose="02010600030101010101" pitchFamily="2" charset="-122"/>
              </a:rPr>
              <a:t>图</a:t>
            </a:r>
            <a:r>
              <a:rPr lang="en-US" altLang="zh-CN" sz="1800" kern="1000" dirty="0">
                <a:effectLst/>
                <a:latin typeface="Times New Roman" panose="02020603050405020304" pitchFamily="18" charset="0"/>
                <a:ea typeface="宋体" panose="02010600030101010101" pitchFamily="2" charset="-122"/>
              </a:rPr>
              <a:t>7.46  </a:t>
            </a:r>
            <a:r>
              <a:rPr lang="zh-CN" altLang="zh-CN" sz="1800" kern="1000" dirty="0">
                <a:effectLst/>
                <a:latin typeface="Times New Roman" panose="02020603050405020304" pitchFamily="18" charset="0"/>
                <a:ea typeface="宋体" panose="02010600030101010101" pitchFamily="2" charset="-122"/>
              </a:rPr>
              <a:t>期望阻抗模型</a:t>
            </a: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1A27060F-05ED-38BE-A55F-A511A8D19D60}"/>
                  </a:ext>
                </a:extLst>
              </p:cNvPr>
              <p:cNvSpPr txBox="1"/>
              <p:nvPr/>
            </p:nvSpPr>
            <p:spPr>
              <a:xfrm>
                <a:off x="1643062" y="4579195"/>
                <a:ext cx="8520112" cy="1294906"/>
              </a:xfrm>
              <a:prstGeom prst="rect">
                <a:avLst/>
              </a:prstGeom>
              <a:noFill/>
            </p:spPr>
            <p:txBody>
              <a:bodyPr wrap="square">
                <a:spAutoFit/>
              </a:bodyPr>
              <a:lstStyle/>
              <a:p>
                <a14:m>
                  <m:oMath xmlns:m="http://schemas.openxmlformats.org/officeDocument/2006/math">
                    <m:d>
                      <m:dPr>
                        <m:begChr m:val="{"/>
                        <m:endChr m:val=""/>
                        <m:ctrlPr>
                          <a:rPr lang="zh-CN" altLang="zh-CN" sz="2000" b="1" i="1" smtClean="0">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sz="2000" b="1" i="1">
                                <a:effectLst/>
                                <a:latin typeface="Cambria Math" panose="02040503050406030204" pitchFamily="18" charset="0"/>
                                <a:ea typeface="Cambria Math" panose="02040503050406030204" pitchFamily="18" charset="0"/>
                              </a:rPr>
                            </m:ctrlPr>
                          </m:mPr>
                          <m:mr>
                            <m:e>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𝑴</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𝒅</m:t>
                                  </m:r>
                                </m:sub>
                              </m:sSub>
                              <m:acc>
                                <m:accPr>
                                  <m:chr m:val="̈"/>
                                  <m:ctrlPr>
                                    <a:rPr lang="zh-CN" altLang="zh-CN" sz="2000" b="1" i="1">
                                      <a:effectLst/>
                                      <a:latin typeface="Cambria Math" panose="02040503050406030204" pitchFamily="18" charset="0"/>
                                      <a:ea typeface="Cambria Math" panose="02040503050406030204" pitchFamily="18" charset="0"/>
                                    </a:rPr>
                                  </m:ctrlPr>
                                </m:acc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𝑿</m:t>
                                  </m:r>
                                </m:e>
                              </m:acc>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𝑩</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𝒅</m:t>
                                  </m:r>
                                </m:sub>
                              </m:sSub>
                              <m:acc>
                                <m:accPr>
                                  <m:chr m:val="̇"/>
                                  <m:ctrlPr>
                                    <a:rPr lang="zh-CN" altLang="zh-CN" sz="2000" b="1" i="1">
                                      <a:effectLst/>
                                      <a:latin typeface="Cambria Math" panose="02040503050406030204" pitchFamily="18" charset="0"/>
                                      <a:ea typeface="Cambria Math" panose="02040503050406030204" pitchFamily="18" charset="0"/>
                                    </a:rPr>
                                  </m:ctrlPr>
                                </m:acc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𝑿</m:t>
                                  </m:r>
                                </m:e>
                              </m:acc>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𝑲</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𝒅</m:t>
                                  </m:r>
                                </m:sub>
                              </m:s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𝑿</m:t>
                              </m:r>
                              <m:r>
                                <a:rPr lang="en-US" altLang="zh-CN" sz="2000" b="1" i="1" kern="1000">
                                  <a:effectLst/>
                                  <a:latin typeface="Cambria Math" panose="02040503050406030204" pitchFamily="18" charset="0"/>
                                  <a:ea typeface="宋体" panose="02010600030101010101" pitchFamily="2" charset="-122"/>
                                </a:rPr>
                                <m:t>−</m:t>
                              </m:r>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𝑿</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𝒅</m:t>
                                  </m:r>
                                </m:sub>
                              </m:s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𝒆</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𝒇</m:t>
                                  </m:r>
                                </m:sub>
                              </m:sSub>
                            </m:e>
                          </m:mr>
                          <m:mr>
                            <m:e>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𝑴</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𝒅</m:t>
                                  </m:r>
                                </m:sub>
                              </m:sSub>
                              <m:acc>
                                <m:accPr>
                                  <m:chr m:val="̈"/>
                                  <m:ctrlPr>
                                    <a:rPr lang="zh-CN" altLang="zh-CN" sz="2000" b="1" i="1">
                                      <a:effectLst/>
                                      <a:latin typeface="Cambria Math" panose="02040503050406030204" pitchFamily="18" charset="0"/>
                                      <a:ea typeface="Cambria Math" panose="02040503050406030204" pitchFamily="18" charset="0"/>
                                    </a:rPr>
                                  </m:ctrlPr>
                                </m:acc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𝑿</m:t>
                                  </m:r>
                                </m:e>
                              </m:acc>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𝑩</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𝒅</m:t>
                                  </m:r>
                                </m:sub>
                              </m:s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acc>
                                <m:accPr>
                                  <m:chr m:val="̇"/>
                                  <m:ctrlPr>
                                    <a:rPr lang="zh-CN" altLang="zh-CN" sz="2000" b="1" i="1">
                                      <a:effectLst/>
                                      <a:latin typeface="Cambria Math" panose="02040503050406030204" pitchFamily="18" charset="0"/>
                                      <a:ea typeface="Cambria Math" panose="02040503050406030204" pitchFamily="18" charset="0"/>
                                    </a:rPr>
                                  </m:ctrlPr>
                                </m:acc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𝑿</m:t>
                                  </m:r>
                                </m:e>
                              </m:acc>
                              <m:r>
                                <a:rPr lang="en-US" altLang="zh-CN" sz="2000" b="1" i="1" kern="1000">
                                  <a:effectLst/>
                                  <a:latin typeface="Cambria Math" panose="02040503050406030204" pitchFamily="18" charset="0"/>
                                  <a:ea typeface="宋体" panose="02010600030101010101" pitchFamily="2" charset="-122"/>
                                </a:rPr>
                                <m:t>−</m:t>
                              </m:r>
                              <m:sSub>
                                <m:sSubPr>
                                  <m:ctrlPr>
                                    <a:rPr lang="zh-CN" altLang="zh-CN" sz="2000" b="1" i="1">
                                      <a:effectLst/>
                                      <a:latin typeface="Cambria Math" panose="02040503050406030204" pitchFamily="18" charset="0"/>
                                      <a:ea typeface="Cambria Math" panose="02040503050406030204" pitchFamily="18" charset="0"/>
                                    </a:rPr>
                                  </m:ctrlPr>
                                </m:sSubPr>
                                <m:e>
                                  <m:acc>
                                    <m:accPr>
                                      <m:chr m:val="̇"/>
                                      <m:ctrlPr>
                                        <a:rPr lang="zh-CN" altLang="zh-CN" sz="2000" b="1" i="1">
                                          <a:effectLst/>
                                          <a:latin typeface="Cambria Math" panose="02040503050406030204" pitchFamily="18" charset="0"/>
                                          <a:ea typeface="Cambria Math" panose="02040503050406030204" pitchFamily="18" charset="0"/>
                                        </a:rPr>
                                      </m:ctrlPr>
                                    </m:acc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𝑿</m:t>
                                      </m:r>
                                    </m:e>
                                  </m:acc>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𝒅</m:t>
                                  </m:r>
                                </m:sub>
                              </m:s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𝑲</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𝒅</m:t>
                                  </m:r>
                                </m:sub>
                              </m:s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𝑿</m:t>
                              </m:r>
                              <m:r>
                                <a:rPr lang="en-US" altLang="zh-CN" sz="2000" b="1" i="1" kern="1000">
                                  <a:effectLst/>
                                  <a:latin typeface="Cambria Math" panose="02040503050406030204" pitchFamily="18" charset="0"/>
                                  <a:ea typeface="宋体" panose="02010600030101010101" pitchFamily="2" charset="-122"/>
                                </a:rPr>
                                <m:t>−</m:t>
                              </m:r>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𝑿</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𝒅</m:t>
                                  </m:r>
                                </m:sub>
                              </m:s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𝒆</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𝒇</m:t>
                                  </m:r>
                                </m:sub>
                              </m:sSub>
                            </m:e>
                          </m:mr>
                          <m:mr>
                            <m:e>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𝑴</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𝒅</m:t>
                                  </m:r>
                                </m:sub>
                              </m:s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acc>
                                <m:accPr>
                                  <m:chr m:val="̈"/>
                                  <m:ctrlPr>
                                    <a:rPr lang="zh-CN" altLang="zh-CN" sz="2000" b="1" i="1">
                                      <a:effectLst/>
                                      <a:latin typeface="Cambria Math" panose="02040503050406030204" pitchFamily="18" charset="0"/>
                                      <a:ea typeface="Cambria Math" panose="02040503050406030204" pitchFamily="18" charset="0"/>
                                    </a:rPr>
                                  </m:ctrlPr>
                                </m:acc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𝑿</m:t>
                                  </m:r>
                                </m:e>
                              </m:acc>
                              <m:r>
                                <a:rPr lang="en-US" altLang="zh-CN" sz="2000" b="1" i="1" kern="1000">
                                  <a:effectLst/>
                                  <a:latin typeface="Cambria Math" panose="02040503050406030204" pitchFamily="18" charset="0"/>
                                  <a:ea typeface="宋体" panose="02010600030101010101" pitchFamily="2" charset="-122"/>
                                </a:rPr>
                                <m:t>−</m:t>
                              </m:r>
                              <m:sSub>
                                <m:sSubPr>
                                  <m:ctrlPr>
                                    <a:rPr lang="zh-CN" altLang="zh-CN" sz="2000" b="1" i="1">
                                      <a:effectLst/>
                                      <a:latin typeface="Cambria Math" panose="02040503050406030204" pitchFamily="18" charset="0"/>
                                      <a:ea typeface="Cambria Math" panose="02040503050406030204" pitchFamily="18" charset="0"/>
                                    </a:rPr>
                                  </m:ctrlPr>
                                </m:sSubPr>
                                <m:e>
                                  <m:acc>
                                    <m:accPr>
                                      <m:chr m:val="̈"/>
                                      <m:ctrlPr>
                                        <a:rPr lang="zh-CN" altLang="zh-CN" sz="2000" b="1" i="1">
                                          <a:effectLst/>
                                          <a:latin typeface="Cambria Math" panose="02040503050406030204" pitchFamily="18" charset="0"/>
                                          <a:ea typeface="Cambria Math" panose="02040503050406030204" pitchFamily="18" charset="0"/>
                                        </a:rPr>
                                      </m:ctrlPr>
                                    </m:acc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𝑿</m:t>
                                      </m:r>
                                    </m:e>
                                  </m:acc>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𝒅</m:t>
                                  </m:r>
                                </m:sub>
                              </m:s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𝑩</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𝒅</m:t>
                                  </m:r>
                                </m:sub>
                              </m:s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acc>
                                <m:accPr>
                                  <m:chr m:val="̇"/>
                                  <m:ctrlPr>
                                    <a:rPr lang="zh-CN" altLang="zh-CN" sz="2000" b="1" i="1">
                                      <a:effectLst/>
                                      <a:latin typeface="Cambria Math" panose="02040503050406030204" pitchFamily="18" charset="0"/>
                                      <a:ea typeface="Cambria Math" panose="02040503050406030204" pitchFamily="18" charset="0"/>
                                    </a:rPr>
                                  </m:ctrlPr>
                                </m:acc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𝑿</m:t>
                                  </m:r>
                                </m:e>
                              </m:acc>
                              <m:r>
                                <a:rPr lang="en-US" altLang="zh-CN" sz="2000" b="1" i="1" kern="1000">
                                  <a:effectLst/>
                                  <a:latin typeface="Cambria Math" panose="02040503050406030204" pitchFamily="18" charset="0"/>
                                  <a:ea typeface="宋体" panose="02010600030101010101" pitchFamily="2" charset="-122"/>
                                </a:rPr>
                                <m:t>−</m:t>
                              </m:r>
                              <m:sSub>
                                <m:sSubPr>
                                  <m:ctrlPr>
                                    <a:rPr lang="zh-CN" altLang="zh-CN" sz="2000" b="1" i="1">
                                      <a:effectLst/>
                                      <a:latin typeface="Cambria Math" panose="02040503050406030204" pitchFamily="18" charset="0"/>
                                      <a:ea typeface="Cambria Math" panose="02040503050406030204" pitchFamily="18" charset="0"/>
                                    </a:rPr>
                                  </m:ctrlPr>
                                </m:sSubPr>
                                <m:e>
                                  <m:acc>
                                    <m:accPr>
                                      <m:chr m:val="̇"/>
                                      <m:ctrlPr>
                                        <a:rPr lang="zh-CN" altLang="zh-CN" sz="2000" b="1" i="1">
                                          <a:effectLst/>
                                          <a:latin typeface="Cambria Math" panose="02040503050406030204" pitchFamily="18" charset="0"/>
                                          <a:ea typeface="Cambria Math" panose="02040503050406030204" pitchFamily="18" charset="0"/>
                                        </a:rPr>
                                      </m:ctrlPr>
                                    </m:acc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𝑿</m:t>
                                      </m:r>
                                    </m:e>
                                  </m:acc>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𝒅</m:t>
                                  </m:r>
                                </m:sub>
                              </m:s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𝑲</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𝒅</m:t>
                                  </m:r>
                                </m:sub>
                              </m:s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𝑿</m:t>
                              </m:r>
                              <m:r>
                                <a:rPr lang="en-US" altLang="zh-CN" sz="2000" b="1" i="1" kern="1000">
                                  <a:effectLst/>
                                  <a:latin typeface="Cambria Math" panose="02040503050406030204" pitchFamily="18" charset="0"/>
                                  <a:ea typeface="宋体" panose="02010600030101010101" pitchFamily="2" charset="-122"/>
                                </a:rPr>
                                <m:t>−</m:t>
                              </m:r>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𝑿</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𝒅</m:t>
                                  </m:r>
                                </m:sub>
                              </m:s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000" b="1" i="1">
                                      <a:effectLst/>
                                      <a:latin typeface="Cambria Math" panose="02040503050406030204" pitchFamily="18" charset="0"/>
                                      <a:ea typeface="Cambria Math" panose="02040503050406030204" pitchFamily="18" charset="0"/>
                                    </a:rPr>
                                  </m:ctrlPr>
                                </m:sSubPr>
                                <m:e>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𝒆</m:t>
                                  </m:r>
                                </m:e>
                                <m:sub>
                                  <m:r>
                                    <a:rPr lang="en-US" altLang="zh-CN" sz="2000" b="1" i="1" kern="1000">
                                      <a:effectLst/>
                                      <a:latin typeface="Cambria Math" panose="02040503050406030204" pitchFamily="18" charset="0"/>
                                      <a:ea typeface="宋体" panose="02010600030101010101" pitchFamily="2" charset="-122"/>
                                      <a:cs typeface="Times New Roman" panose="02020603050405020304" pitchFamily="18" charset="0"/>
                                    </a:rPr>
                                    <m:t>𝒇</m:t>
                                  </m:r>
                                </m:sub>
                              </m:sSub>
                            </m:e>
                          </m:mr>
                        </m:m>
                      </m:e>
                    </m:d>
                  </m:oMath>
                </a14:m>
                <a:r>
                  <a:rPr lang="en-US" altLang="zh-CN" sz="2000" b="1" kern="1000" dirty="0">
                    <a:effectLst/>
                    <a:latin typeface="微软雅黑" panose="020B0503020204020204" pitchFamily="34" charset="-122"/>
                    <a:ea typeface="微软雅黑" panose="020B0503020204020204" pitchFamily="34" charset="-122"/>
                  </a:rPr>
                  <a:t>   	</a:t>
                </a:r>
                <a:r>
                  <a:rPr lang="en-US" altLang="zh-CN" sz="20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b="1" kern="1000" dirty="0">
                    <a:effectLst/>
                    <a:latin typeface="微软雅黑" panose="020B0503020204020204" pitchFamily="34" charset="-122"/>
                    <a:ea typeface="微软雅黑" panose="020B0503020204020204" pitchFamily="34" charset="-122"/>
                  </a:rPr>
                  <a:t>7.94</a:t>
                </a:r>
                <a:r>
                  <a:rPr lang="en-US" altLang="zh-CN" sz="20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2000" b="1" dirty="0">
                  <a:latin typeface="微软雅黑" panose="020B0503020204020204" pitchFamily="34" charset="-122"/>
                  <a:ea typeface="微软雅黑" panose="020B0503020204020204" pitchFamily="34" charset="-122"/>
                </a:endParaRPr>
              </a:p>
            </p:txBody>
          </p:sp>
        </mc:Choice>
        <mc:Fallback xmlns="">
          <p:sp>
            <p:nvSpPr>
              <p:cNvPr id="13" name="文本框 12">
                <a:extLst>
                  <a:ext uri="{FF2B5EF4-FFF2-40B4-BE49-F238E27FC236}">
                    <a16:creationId xmlns:a16="http://schemas.microsoft.com/office/drawing/2014/main" id="{1A27060F-05ED-38BE-A55F-A511A8D19D60}"/>
                  </a:ext>
                </a:extLst>
              </p:cNvPr>
              <p:cNvSpPr txBox="1">
                <a:spLocks noRot="1" noChangeAspect="1" noMove="1" noResize="1" noEditPoints="1" noAdjustHandles="1" noChangeArrowheads="1" noChangeShapeType="1" noTextEdit="1"/>
              </p:cNvSpPr>
              <p:nvPr/>
            </p:nvSpPr>
            <p:spPr>
              <a:xfrm>
                <a:off x="1643062" y="4579195"/>
                <a:ext cx="8520112" cy="1294906"/>
              </a:xfrm>
              <a:prstGeom prst="rect">
                <a:avLst/>
              </a:prstGeom>
              <a:blipFill>
                <a:blip r:embed="rId5"/>
                <a:stretch>
                  <a:fillRect/>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E69D0B2B-0498-FA34-0C53-A150D4B238BD}"/>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6</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阻抗控制</a:t>
            </a:r>
          </a:p>
        </p:txBody>
      </p:sp>
    </p:spTree>
    <p:extLst>
      <p:ext uri="{BB962C8B-B14F-4D97-AF65-F5344CB8AC3E}">
        <p14:creationId xmlns:p14="http://schemas.microsoft.com/office/powerpoint/2010/main" val="247040754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07F46D2-115E-3EE7-CC7C-79C70C971A8D}"/>
                  </a:ext>
                </a:extLst>
              </p:cNvPr>
              <p:cNvSpPr txBox="1"/>
              <p:nvPr/>
            </p:nvSpPr>
            <p:spPr>
              <a:xfrm>
                <a:off x="952500" y="1266825"/>
                <a:ext cx="10439400" cy="4791055"/>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采用第三组目标阻抗模型，并令</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𝑬</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𝑿</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𝑿</m:t>
                        </m:r>
                      </m:e>
                      <m:sub>
                        <m:r>
                          <a:rPr lang="en-US" altLang="zh-CN" sz="2400" b="1" i="1" kern="1000">
                            <a:effectLst/>
                            <a:latin typeface="Cambria Math" panose="02040503050406030204" pitchFamily="18" charset="0"/>
                            <a:ea typeface="宋体" panose="02010600030101010101" pitchFamily="2" charset="-122"/>
                          </a:rPr>
                          <m:t>𝒅</m:t>
                        </m:r>
                      </m:sub>
                    </m:sSub>
                  </m:oMath>
                </a14:m>
                <a:r>
                  <a:rPr lang="zh-CN" altLang="zh-CN" sz="2400" b="1" kern="1000" dirty="0">
                    <a:effectLst/>
                    <a:latin typeface="微软雅黑" panose="020B0503020204020204" pitchFamily="34" charset="-122"/>
                    <a:ea typeface="微软雅黑" panose="020B0503020204020204" pitchFamily="34" charset="-122"/>
                  </a:rPr>
                  <a:t>，则</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𝑴</m:t>
                        </m:r>
                      </m:e>
                      <m:sub>
                        <m:r>
                          <a:rPr lang="en-US" altLang="zh-CN" sz="2000" b="1" i="1" kern="1050">
                            <a:effectLst/>
                            <a:latin typeface="Cambria Math" panose="02040503050406030204" pitchFamily="18" charset="0"/>
                            <a:ea typeface="宋体" panose="02010600030101010101" pitchFamily="2" charset="-122"/>
                          </a:rPr>
                          <m:t>𝒅</m:t>
                        </m:r>
                      </m:sub>
                    </m:sSub>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𝑬</m:t>
                        </m:r>
                      </m:e>
                    </m:acc>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𝑩</m:t>
                        </m:r>
                      </m:e>
                      <m:sub>
                        <m:r>
                          <a:rPr lang="en-US" altLang="zh-CN" sz="2000" b="1" i="1" kern="1050">
                            <a:effectLst/>
                            <a:latin typeface="Cambria Math" panose="02040503050406030204" pitchFamily="18" charset="0"/>
                            <a:ea typeface="宋体" panose="02010600030101010101" pitchFamily="2" charset="-122"/>
                          </a:rPr>
                          <m:t>𝒅</m:t>
                        </m:r>
                      </m:sub>
                    </m:sSub>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𝑬</m:t>
                        </m:r>
                      </m:e>
                    </m:acc>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𝒅</m:t>
                        </m:r>
                      </m:sub>
                    </m:sSub>
                    <m:r>
                      <a:rPr lang="en-US" altLang="zh-CN" sz="2000" b="1" i="1" kern="1050">
                        <a:effectLst/>
                        <a:latin typeface="Cambria Math" panose="02040503050406030204" pitchFamily="18" charset="0"/>
                        <a:ea typeface="宋体" panose="02010600030101010101" pitchFamily="2" charset="-122"/>
                      </a:rPr>
                      <m:t>𝑬</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𝒆</m:t>
                        </m:r>
                      </m:e>
                      <m:sub>
                        <m:r>
                          <a:rPr lang="en-US" altLang="zh-CN" sz="2000" b="1" i="1" kern="1050">
                            <a:effectLst/>
                            <a:latin typeface="Cambria Math" panose="02040503050406030204" pitchFamily="18" charset="0"/>
                            <a:ea typeface="宋体" panose="02010600030101010101" pitchFamily="2" charset="-122"/>
                          </a:rPr>
                          <m:t>𝒇</m:t>
                        </m:r>
                      </m:sub>
                    </m:sSub>
                  </m:oMath>
                </a14:m>
                <a:r>
                  <a:rPr lang="en-US" altLang="zh-CN" sz="2000" b="1" kern="1050" dirty="0">
                    <a:effectLst/>
                    <a:latin typeface="微软雅黑" panose="020B0503020204020204" pitchFamily="34" charset="-122"/>
                    <a:ea typeface="微软雅黑" panose="020B0503020204020204" pitchFamily="34" charset="-122"/>
                  </a:rPr>
                  <a:t>	(7.95)</a:t>
                </a:r>
                <a:endParaRPr lang="zh-CN" altLang="zh-CN" sz="2000" b="1" kern="1050" dirty="0">
                  <a:effectLst/>
                  <a:latin typeface="微软雅黑" panose="020B0503020204020204" pitchFamily="34" charset="-122"/>
                  <a:ea typeface="微软雅黑" panose="020B0503020204020204" pitchFamily="34" charset="-122"/>
                </a:endParaRPr>
              </a:p>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式中，</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𝑴</m:t>
                        </m:r>
                      </m:e>
                      <m:sub>
                        <m:r>
                          <a:rPr lang="en-US" altLang="zh-CN" sz="2400" b="1" i="1" kern="1000">
                            <a:effectLst/>
                            <a:latin typeface="Cambria Math" panose="02040503050406030204" pitchFamily="18" charset="0"/>
                            <a:ea typeface="宋体" panose="02010600030101010101" pitchFamily="2" charset="-122"/>
                          </a:rPr>
                          <m:t>𝒅</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𝑩</m:t>
                        </m:r>
                      </m:e>
                      <m:sub>
                        <m:r>
                          <a:rPr lang="en-US" altLang="zh-CN" sz="2400" b="1" i="1" kern="1000">
                            <a:effectLst/>
                            <a:latin typeface="Cambria Math" panose="02040503050406030204" pitchFamily="18" charset="0"/>
                            <a:ea typeface="宋体" panose="02010600030101010101" pitchFamily="2" charset="-122"/>
                          </a:rPr>
                          <m:t>𝒅</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𝑲</m:t>
                        </m:r>
                      </m:e>
                      <m:sub>
                        <m:r>
                          <a:rPr lang="en-US" altLang="zh-CN" sz="2400" b="1" i="1" kern="1000">
                            <a:effectLst/>
                            <a:latin typeface="Cambria Math" panose="02040503050406030204" pitchFamily="18" charset="0"/>
                            <a:ea typeface="宋体" panose="02010600030101010101" pitchFamily="2" charset="-122"/>
                          </a:rPr>
                          <m:t>𝒅</m:t>
                        </m:r>
                      </m:sub>
                    </m:sSub>
                  </m:oMath>
                </a14:m>
                <a:r>
                  <a:rPr lang="zh-CN" altLang="zh-CN" sz="2400" b="1" kern="1000" dirty="0">
                    <a:effectLst/>
                    <a:latin typeface="微软雅黑" panose="020B0503020204020204" pitchFamily="34" charset="-122"/>
                    <a:ea typeface="微软雅黑" panose="020B0503020204020204" pitchFamily="34" charset="-122"/>
                  </a:rPr>
                  <a:t>均为对角矩阵，所以目标阻抗模型在空间三个方向是非耦合的，为了简化对问题的分析，我们只考虑空间中的一个方向，令</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𝒎</m:t>
                    </m:r>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𝒃</m:t>
                    </m:r>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𝒌</m:t>
                    </m:r>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𝒇</m:t>
                    </m:r>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𝒇</m:t>
                        </m:r>
                      </m:e>
                      <m:sub>
                        <m:r>
                          <a:rPr lang="en-US" altLang="zh-CN" sz="2400" b="1" i="1" kern="1000">
                            <a:effectLst/>
                            <a:latin typeface="Cambria Math" panose="02040503050406030204" pitchFamily="18" charset="0"/>
                            <a:ea typeface="宋体" panose="02010600030101010101" pitchFamily="2" charset="-122"/>
                          </a:rPr>
                          <m:t>𝒅</m:t>
                        </m:r>
                      </m:sub>
                    </m:sSub>
                  </m:oMath>
                </a14:m>
                <a:r>
                  <a:rPr lang="zh-CN" altLang="zh-CN" sz="2400" b="1" kern="1000" dirty="0">
                    <a:effectLst/>
                    <a:latin typeface="微软雅黑" panose="020B0503020204020204" pitchFamily="34" charset="-122"/>
                    <a:ea typeface="微软雅黑" panose="020B0503020204020204" pitchFamily="34" charset="-122"/>
                  </a:rPr>
                  <a:t>代替</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𝑴</m:t>
                        </m:r>
                      </m:e>
                      <m:sub>
                        <m:r>
                          <a:rPr lang="en-US" altLang="zh-CN" sz="2400" b="1" i="1" kern="1000">
                            <a:effectLst/>
                            <a:latin typeface="Cambria Math" panose="02040503050406030204" pitchFamily="18" charset="0"/>
                            <a:ea typeface="宋体" panose="02010600030101010101" pitchFamily="2" charset="-122"/>
                          </a:rPr>
                          <m:t>𝒅</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𝑩</m:t>
                        </m:r>
                      </m:e>
                      <m:sub>
                        <m:r>
                          <a:rPr lang="en-US" altLang="zh-CN" sz="2400" b="1" i="1" kern="1000">
                            <a:effectLst/>
                            <a:latin typeface="Cambria Math" panose="02040503050406030204" pitchFamily="18" charset="0"/>
                            <a:ea typeface="宋体" panose="02010600030101010101" pitchFamily="2" charset="-122"/>
                          </a:rPr>
                          <m:t>𝒅</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𝑲</m:t>
                        </m:r>
                      </m:e>
                      <m:sub>
                        <m:r>
                          <a:rPr lang="en-US" altLang="zh-CN" sz="2400" b="1" i="1" kern="1000">
                            <a:effectLst/>
                            <a:latin typeface="Cambria Math" panose="02040503050406030204" pitchFamily="18" charset="0"/>
                            <a:ea typeface="宋体" panose="02010600030101010101" pitchFamily="2" charset="-122"/>
                          </a:rPr>
                          <m:t>𝒅</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𝑭</m:t>
                    </m:r>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𝑭</m:t>
                        </m:r>
                      </m:e>
                      <m:sub>
                        <m:r>
                          <a:rPr lang="en-US" altLang="zh-CN" sz="2400" b="1" i="1" kern="1000">
                            <a:effectLst/>
                            <a:latin typeface="Cambria Math" panose="02040503050406030204" pitchFamily="18" charset="0"/>
                            <a:ea typeface="宋体" panose="02010600030101010101" pitchFamily="2" charset="-122"/>
                          </a:rPr>
                          <m:t>𝒅</m:t>
                        </m:r>
                      </m:sub>
                    </m:sSub>
                  </m:oMath>
                </a14:m>
                <a:r>
                  <a:rPr lang="zh-CN" altLang="zh-CN" sz="2400" b="1" kern="1000" dirty="0">
                    <a:effectLst/>
                    <a:latin typeface="微软雅黑" panose="020B0503020204020204" pitchFamily="34" charset="-122"/>
                    <a:ea typeface="微软雅黑" panose="020B0503020204020204" pitchFamily="34" charset="-122"/>
                  </a:rPr>
                  <a:t>及</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𝒆</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𝒙</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𝒅</m:t>
                        </m:r>
                      </m:sub>
                    </m:sSub>
                  </m:oMath>
                </a14:m>
                <a:r>
                  <a:rPr lang="zh-CN" altLang="zh-CN" sz="2400" b="1" kern="1000" dirty="0">
                    <a:effectLst/>
                    <a:latin typeface="微软雅黑" panose="020B0503020204020204" pitchFamily="34" charset="-122"/>
                    <a:ea typeface="微软雅黑" panose="020B0503020204020204" pitchFamily="34" charset="-122"/>
                  </a:rPr>
                  <a:t>。则可以将其中一个方向的目标阻抗模型表示为</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000" b="1" i="1" kern="1050">
                        <a:effectLst/>
                        <a:latin typeface="Cambria Math" panose="02040503050406030204" pitchFamily="18" charset="0"/>
                        <a:ea typeface="宋体" panose="02010600030101010101" pitchFamily="2" charset="-122"/>
                      </a:rPr>
                      <m:t>𝒎</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𝒆</m:t>
                        </m:r>
                      </m:e>
                    </m:acc>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𝒃</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𝒆</m:t>
                        </m:r>
                      </m:e>
                    </m:acc>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𝒌𝒆</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𝒇</m:t>
                        </m:r>
                      </m:e>
                      <m:sub>
                        <m:r>
                          <a:rPr lang="en-US" altLang="zh-CN" sz="2000" b="1" i="1" kern="1050">
                            <a:effectLst/>
                            <a:latin typeface="Cambria Math" panose="02040503050406030204" pitchFamily="18" charset="0"/>
                            <a:ea typeface="宋体" panose="02010600030101010101" pitchFamily="2" charset="-122"/>
                          </a:rPr>
                          <m:t>𝒅</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𝒇</m:t>
                    </m:r>
                  </m:oMath>
                </a14:m>
                <a:r>
                  <a:rPr lang="en-US" altLang="zh-CN" sz="2000" b="1" kern="1050" dirty="0">
                    <a:effectLst/>
                    <a:latin typeface="微软雅黑" panose="020B0503020204020204" pitchFamily="34" charset="-122"/>
                    <a:ea typeface="微软雅黑" panose="020B0503020204020204" pitchFamily="34" charset="-122"/>
                  </a:rPr>
                  <a:t>	(7.96)</a:t>
                </a:r>
              </a:p>
              <a:p>
                <a:pPr algn="just">
                  <a:spcBef>
                    <a:spcPts val="400"/>
                  </a:spcBef>
                  <a:spcAft>
                    <a:spcPts val="400"/>
                  </a:spcAft>
                  <a:tabLst>
                    <a:tab pos="5364480" algn="r"/>
                  </a:tabLst>
                </a:pPr>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当机械手末端与环境接触时，通过阻抗控制器将实际接触力与期望接触力偏差转换为位置偏差用于修正机械手期望运动轨迹，间接调整机械手末端与环境之间的接触力，进而实现机械手力</a:t>
                </a:r>
                <a:r>
                  <a:rPr lang="en-US" altLang="zh-CN" sz="2400" b="1" kern="1000" dirty="0">
                    <a:effectLst/>
                    <a:latin typeface="微软雅黑" panose="020B0503020204020204" pitchFamily="34" charset="-122"/>
                    <a:ea typeface="微软雅黑" panose="020B0503020204020204" pitchFamily="34" charset="-122"/>
                  </a:rPr>
                  <a:t>/</a:t>
                </a:r>
                <a:r>
                  <a:rPr lang="zh-CN" altLang="zh-CN" sz="2400" b="1" kern="1000" dirty="0">
                    <a:effectLst/>
                    <a:latin typeface="微软雅黑" panose="020B0503020204020204" pitchFamily="34" charset="-122"/>
                    <a:ea typeface="微软雅黑" panose="020B0503020204020204" pitchFamily="34" charset="-122"/>
                  </a:rPr>
                  <a:t>位置控制。根据实现方式的不同，可以将阻抗控制分为基于力的阻抗控制和基于位置的阻抗控制两种方式。</a:t>
                </a:r>
              </a:p>
              <a:p>
                <a:pPr algn="just">
                  <a:spcBef>
                    <a:spcPts val="400"/>
                  </a:spcBef>
                  <a:spcAft>
                    <a:spcPts val="400"/>
                  </a:spcAft>
                  <a:tabLst>
                    <a:tab pos="5364480" algn="r"/>
                  </a:tabLst>
                </a:pPr>
                <a:endParaRPr lang="zh-CN" altLang="zh-CN" sz="1800" kern="1050" dirty="0">
                  <a:effectLst/>
                  <a:latin typeface="Times New Roman" panose="02020603050405020304" pitchFamily="18" charset="0"/>
                  <a:ea typeface="宋体" panose="02010600030101010101" pitchFamily="2" charset="-122"/>
                </a:endParaRPr>
              </a:p>
            </p:txBody>
          </p:sp>
        </mc:Choice>
        <mc:Fallback xmlns="">
          <p:sp>
            <p:nvSpPr>
              <p:cNvPr id="3" name="文本框 2">
                <a:extLst>
                  <a:ext uri="{FF2B5EF4-FFF2-40B4-BE49-F238E27FC236}">
                    <a16:creationId xmlns:a16="http://schemas.microsoft.com/office/drawing/2014/main" id="{707F46D2-115E-3EE7-CC7C-79C70C971A8D}"/>
                  </a:ext>
                </a:extLst>
              </p:cNvPr>
              <p:cNvSpPr txBox="1">
                <a:spLocks noRot="1" noChangeAspect="1" noMove="1" noResize="1" noEditPoints="1" noAdjustHandles="1" noChangeArrowheads="1" noChangeShapeType="1" noTextEdit="1"/>
              </p:cNvSpPr>
              <p:nvPr/>
            </p:nvSpPr>
            <p:spPr>
              <a:xfrm>
                <a:off x="952500" y="1266825"/>
                <a:ext cx="10439400" cy="4791055"/>
              </a:xfrm>
              <a:prstGeom prst="rect">
                <a:avLst/>
              </a:prstGeom>
              <a:blipFill>
                <a:blip r:embed="rId3"/>
                <a:stretch>
                  <a:fillRect l="-876" t="-1018" r="-3795"/>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7B1C491F-7E9E-E470-9E6F-F8D91F3B61C5}"/>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6</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阻抗控制</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A65A0F48-4AE8-6DA8-F4DC-5808BEA23D71}"/>
                  </a:ext>
                </a:extLst>
              </p:cNvPr>
              <p:cNvSpPr txBox="1"/>
              <p:nvPr/>
            </p:nvSpPr>
            <p:spPr>
              <a:xfrm>
                <a:off x="1171575" y="1257300"/>
                <a:ext cx="10277475" cy="4443332"/>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机器人的运动学方程表示为</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000" b="1" i="1" kern="1050" smtClean="0">
                        <a:effectLst/>
                        <a:latin typeface="Cambria Math" panose="02040503050406030204" pitchFamily="18" charset="0"/>
                        <a:ea typeface="宋体" panose="02010600030101010101" pitchFamily="2" charset="-122"/>
                      </a:rPr>
                      <m:t>𝒙</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𝒕</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𝝓</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(7.97)</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r>
                      <a:rPr lang="en-US" altLang="zh-CN" sz="2400" b="1" i="1" kern="1000" smtClean="0">
                        <a:effectLst/>
                        <a:latin typeface="Cambria Math" panose="02040503050406030204" pitchFamily="18" charset="0"/>
                        <a:ea typeface="宋体" panose="02010600030101010101" pitchFamily="2" charset="-122"/>
                      </a:rPr>
                      <m:t>𝒙</m:t>
                    </m:r>
                    <m:r>
                      <a:rPr lang="en-US" altLang="zh-CN" sz="2400" b="1" i="1" kern="1000" smtClean="0">
                        <a:effectLst/>
                        <a:latin typeface="Cambria Math" panose="02040503050406030204" pitchFamily="18" charset="0"/>
                        <a:ea typeface="宋体" panose="02010600030101010101" pitchFamily="2" charset="-122"/>
                      </a:rPr>
                      <m:t>(</m:t>
                    </m:r>
                    <m:r>
                      <a:rPr lang="en-US" altLang="zh-CN" sz="2400" b="1" i="1" kern="1000" smtClean="0">
                        <a:effectLst/>
                        <a:latin typeface="Cambria Math" panose="02040503050406030204" pitchFamily="18" charset="0"/>
                        <a:ea typeface="宋体" panose="02010600030101010101" pitchFamily="2" charset="-122"/>
                      </a:rPr>
                      <m:t>𝒕</m:t>
                    </m:r>
                    <m:r>
                      <a:rPr lang="en-US" altLang="zh-CN" sz="2400" b="1" i="1" kern="1000" smtClean="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kern="1000" smtClean="0">
                        <a:effectLst/>
                        <a:latin typeface="Cambria Math" panose="02040503050406030204" pitchFamily="18" charset="0"/>
                        <a:ea typeface="宋体" panose="02010600030101010101" pitchFamily="2" charset="-122"/>
                      </a:rPr>
                      <m:t>𝜽</m:t>
                    </m:r>
                    <m:r>
                      <a:rPr lang="en-US" altLang="zh-CN" sz="2400" b="1" i="1" kern="1000" smtClean="0">
                        <a:effectLst/>
                        <a:latin typeface="Cambria Math" panose="02040503050406030204" pitchFamily="18" charset="0"/>
                        <a:ea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smtClean="0">
                            <a:effectLst/>
                            <a:latin typeface="Cambria Math" panose="02040503050406030204" pitchFamily="18" charset="0"/>
                            <a:ea typeface="宋体" panose="02010600030101010101" pitchFamily="2" charset="-122"/>
                          </a:rPr>
                          <m:t>𝑹</m:t>
                        </m:r>
                      </m:e>
                      <m:sup>
                        <m:r>
                          <a:rPr lang="en-US" altLang="zh-CN" sz="2400" b="1" i="1" kern="1000" smtClean="0">
                            <a:effectLst/>
                            <a:latin typeface="Cambria Math" panose="02040503050406030204" pitchFamily="18" charset="0"/>
                            <a:ea typeface="宋体" panose="02010600030101010101" pitchFamily="2" charset="-122"/>
                          </a:rPr>
                          <m:t>𝒏</m:t>
                        </m:r>
                      </m:sup>
                    </m:sSup>
                  </m:oMath>
                </a14:m>
                <a:r>
                  <a:rPr lang="zh-CN" altLang="zh-CN" sz="2400" b="1" kern="1000" dirty="0">
                    <a:effectLst/>
                    <a:latin typeface="微软雅黑" panose="020B0503020204020204" pitchFamily="34" charset="-122"/>
                    <a:ea typeface="微软雅黑" panose="020B0503020204020204" pitchFamily="34" charset="-122"/>
                  </a:rPr>
                  <a:t>和</a:t>
                </a:r>
                <a14:m>
                  <m:oMath xmlns:m="http://schemas.openxmlformats.org/officeDocument/2006/math">
                    <m:r>
                      <a:rPr lang="en-US" altLang="zh-CN" sz="2400" b="1" i="1" kern="1000" smtClean="0">
                        <a:effectLst/>
                        <a:latin typeface="Cambria Math" panose="02040503050406030204" pitchFamily="18" charset="0"/>
                        <a:ea typeface="宋体" panose="02010600030101010101" pitchFamily="2" charset="-122"/>
                      </a:rPr>
                      <m:t>𝒏</m:t>
                    </m:r>
                  </m:oMath>
                </a14:m>
                <a:r>
                  <a:rPr lang="zh-CN" altLang="zh-CN" sz="2400" b="1" kern="1000" dirty="0">
                    <a:effectLst/>
                    <a:latin typeface="微软雅黑" panose="020B0503020204020204" pitchFamily="34" charset="-122"/>
                    <a:ea typeface="微软雅黑" panose="020B0503020204020204" pitchFamily="34" charset="-122"/>
                  </a:rPr>
                  <a:t>分别是笛卡尔空间</a:t>
                </a:r>
                <a:r>
                  <a:rPr lang="en-US" altLang="zh-CN" sz="2400" b="1" kern="1000" dirty="0">
                    <a:effectLst/>
                    <a:latin typeface="微软雅黑" panose="020B0503020204020204" pitchFamily="34" charset="-122"/>
                    <a:ea typeface="微软雅黑" panose="020B0503020204020204" pitchFamily="34" charset="-122"/>
                  </a:rPr>
                  <a:t>(</a:t>
                </a:r>
                <a:r>
                  <a:rPr lang="zh-CN" altLang="zh-CN" sz="2400" b="1" kern="1000" dirty="0">
                    <a:effectLst/>
                    <a:latin typeface="微软雅黑" panose="020B0503020204020204" pitchFamily="34" charset="-122"/>
                    <a:ea typeface="微软雅黑" panose="020B0503020204020204" pitchFamily="34" charset="-122"/>
                  </a:rPr>
                  <a:t>操作空间</a:t>
                </a:r>
                <a:r>
                  <a:rPr lang="en-US" altLang="zh-CN" sz="2400" b="1" kern="1000" dirty="0">
                    <a:effectLst/>
                    <a:latin typeface="微软雅黑" panose="020B0503020204020204" pitchFamily="34" charset="-122"/>
                    <a:ea typeface="微软雅黑" panose="020B0503020204020204" pitchFamily="34" charset="-122"/>
                  </a:rPr>
                  <a:t>)</a:t>
                </a:r>
                <a:r>
                  <a:rPr lang="zh-CN" altLang="zh-CN" sz="2400" b="1" kern="1000" dirty="0">
                    <a:effectLst/>
                    <a:latin typeface="微软雅黑" panose="020B0503020204020204" pitchFamily="34" charset="-122"/>
                    <a:ea typeface="微软雅黑" panose="020B0503020204020204" pitchFamily="34" charset="-122"/>
                  </a:rPr>
                  <a:t>、关节坐标和自由度中的位置</a:t>
                </a:r>
                <a:r>
                  <a:rPr lang="en-US" altLang="zh-CN" sz="2400" b="1" kern="1000" dirty="0">
                    <a:effectLst/>
                    <a:latin typeface="微软雅黑" panose="020B0503020204020204" pitchFamily="34" charset="-122"/>
                    <a:ea typeface="微软雅黑" panose="020B0503020204020204" pitchFamily="34" charset="-122"/>
                  </a:rPr>
                  <a:t>/</a:t>
                </a:r>
                <a:r>
                  <a:rPr lang="zh-CN" altLang="zh-CN" sz="2400" b="1" kern="1000" dirty="0">
                    <a:effectLst/>
                    <a:latin typeface="微软雅黑" panose="020B0503020204020204" pitchFamily="34" charset="-122"/>
                    <a:ea typeface="微软雅黑" panose="020B0503020204020204" pitchFamily="34" charset="-122"/>
                  </a:rPr>
                  <a:t>方向。把公式</a:t>
                </a:r>
                <a:r>
                  <a:rPr lang="en-US" altLang="zh-CN" sz="2400" b="1" kern="1000" dirty="0">
                    <a:effectLst/>
                    <a:latin typeface="微软雅黑" panose="020B0503020204020204" pitchFamily="34" charset="-122"/>
                    <a:ea typeface="微软雅黑" panose="020B0503020204020204" pitchFamily="34" charset="-122"/>
                  </a:rPr>
                  <a:t>(7.97)</a:t>
                </a:r>
                <a:r>
                  <a:rPr lang="zh-CN" altLang="zh-CN" sz="2400" b="1" kern="1000" dirty="0">
                    <a:effectLst/>
                    <a:latin typeface="微软雅黑" panose="020B0503020204020204" pitchFamily="34" charset="-122"/>
                    <a:ea typeface="微软雅黑" panose="020B0503020204020204" pitchFamily="34" charset="-122"/>
                  </a:rPr>
                  <a:t>关于时间微分，有</a:t>
                </a:r>
              </a:p>
              <a:p>
                <a:pPr algn="just">
                  <a:spcBef>
                    <a:spcPts val="400"/>
                  </a:spcBef>
                  <a:spcAft>
                    <a:spcPts val="4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𝒙</m:t>
                        </m:r>
                      </m:e>
                    </m:acc>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𝒕</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𝑱</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𝜽</m:t>
                        </m:r>
                      </m:e>
                    </m:acc>
                  </m:oMath>
                </a14:m>
                <a:r>
                  <a:rPr lang="en-US" altLang="zh-CN" sz="2000" b="1" kern="1050" dirty="0">
                    <a:effectLst/>
                    <a:latin typeface="微软雅黑" panose="020B0503020204020204" pitchFamily="34" charset="-122"/>
                    <a:ea typeface="微软雅黑" panose="020B0503020204020204" pitchFamily="34" charset="-122"/>
                  </a:rPr>
                  <a:t>	            (7.98)</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r>
                      <a:rPr lang="en-US" altLang="zh-CN" sz="2400" b="1" i="1" kern="1000" smtClean="0">
                        <a:effectLst/>
                        <a:latin typeface="Cambria Math" panose="02040503050406030204" pitchFamily="18" charset="0"/>
                        <a:ea typeface="宋体" panose="02010600030101010101" pitchFamily="2" charset="-122"/>
                      </a:rPr>
                      <m:t>𝑱</m:t>
                    </m:r>
                    <m:r>
                      <a:rPr lang="en-US" altLang="zh-CN" sz="2400" b="1" i="1" kern="1000" smtClean="0">
                        <a:effectLst/>
                        <a:latin typeface="Cambria Math" panose="02040503050406030204" pitchFamily="18" charset="0"/>
                        <a:ea typeface="宋体" panose="02010600030101010101" pitchFamily="2" charset="-122"/>
                      </a:rPr>
                      <m:t>(</m:t>
                    </m:r>
                    <m:r>
                      <a:rPr lang="en-US" altLang="zh-CN" sz="2400" b="1" i="1" kern="1000" smtClean="0">
                        <a:effectLst/>
                        <a:latin typeface="Cambria Math" panose="02040503050406030204" pitchFamily="18" charset="0"/>
                        <a:ea typeface="宋体" panose="02010600030101010101" pitchFamily="2" charset="-122"/>
                      </a:rPr>
                      <m:t>𝜽</m:t>
                    </m:r>
                    <m:r>
                      <a:rPr lang="en-US" altLang="zh-CN" sz="2400" b="1" i="1" kern="1000" smtClean="0">
                        <a:effectLst/>
                        <a:latin typeface="Cambria Math" panose="02040503050406030204" pitchFamily="18" charset="0"/>
                        <a:ea typeface="宋体" panose="02010600030101010101" pitchFamily="2" charset="-122"/>
                      </a:rPr>
                      <m:t>)=</m:t>
                    </m:r>
                    <m:f>
                      <m:fPr>
                        <m:ctrlPr>
                          <a:rPr lang="zh-CN" altLang="zh-CN" sz="2400" b="1" i="1" kern="1000">
                            <a:effectLst/>
                            <a:latin typeface="Cambria Math" panose="02040503050406030204" pitchFamily="18" charset="0"/>
                            <a:ea typeface="Cambria Math" panose="02040503050406030204" pitchFamily="18" charset="0"/>
                          </a:rPr>
                        </m:ctrlPr>
                      </m:fPr>
                      <m:num>
                        <m:r>
                          <a:rPr lang="en-US" altLang="zh-CN" sz="2400" b="1" i="1" kern="1000" smtClean="0">
                            <a:effectLst/>
                            <a:latin typeface="Cambria Math" panose="02040503050406030204" pitchFamily="18" charset="0"/>
                            <a:ea typeface="宋体" panose="02010600030101010101" pitchFamily="2" charset="-122"/>
                          </a:rPr>
                          <m:t>𝝏𝝓</m:t>
                        </m:r>
                      </m:num>
                      <m:den>
                        <m:r>
                          <a:rPr lang="en-US" altLang="zh-CN" sz="2400" b="1" i="1" kern="1000" smtClean="0">
                            <a:effectLst/>
                            <a:latin typeface="Cambria Math" panose="02040503050406030204" pitchFamily="18" charset="0"/>
                            <a:ea typeface="宋体" panose="02010600030101010101" pitchFamily="2" charset="-122"/>
                          </a:rPr>
                          <m:t>𝝏𝜽</m:t>
                        </m:r>
                      </m:den>
                    </m:f>
                    <m:r>
                      <a:rPr lang="zh-CN" altLang="zh-CN" sz="2400" b="1" i="1" kern="1000" smtClean="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smtClean="0">
                            <a:effectLst/>
                            <a:latin typeface="Cambria Math" panose="02040503050406030204" pitchFamily="18" charset="0"/>
                            <a:ea typeface="宋体" panose="02010600030101010101" pitchFamily="2" charset="-122"/>
                          </a:rPr>
                          <m:t>𝑹</m:t>
                        </m:r>
                      </m:e>
                      <m:sup>
                        <m:r>
                          <a:rPr lang="en-US" altLang="zh-CN" sz="2400" b="1" i="1" kern="1000" smtClean="0">
                            <a:effectLst/>
                            <a:latin typeface="Cambria Math" panose="02040503050406030204" pitchFamily="18" charset="0"/>
                            <a:ea typeface="宋体" panose="02010600030101010101" pitchFamily="2" charset="-122"/>
                          </a:rPr>
                          <m:t>𝒏</m:t>
                        </m:r>
                        <m:r>
                          <a:rPr lang="en-US" altLang="zh-CN" sz="2400" b="1" i="1" kern="1000" smtClean="0">
                            <a:effectLst/>
                            <a:latin typeface="Cambria Math" panose="02040503050406030204" pitchFamily="18" charset="0"/>
                            <a:ea typeface="宋体" panose="02010600030101010101" pitchFamily="2" charset="-122"/>
                          </a:rPr>
                          <m:t>×</m:t>
                        </m:r>
                        <m:r>
                          <a:rPr lang="en-US" altLang="zh-CN" sz="2400" b="1" i="1" kern="1000" smtClean="0">
                            <a:effectLst/>
                            <a:latin typeface="Cambria Math" panose="02040503050406030204" pitchFamily="18" charset="0"/>
                            <a:ea typeface="宋体" panose="02010600030101010101" pitchFamily="2" charset="-122"/>
                          </a:rPr>
                          <m:t>𝒏</m:t>
                        </m:r>
                      </m:sup>
                    </m:sSup>
                  </m:oMath>
                </a14:m>
                <a:r>
                  <a:rPr lang="zh-CN" altLang="zh-CN" sz="2400" b="1" kern="1000" dirty="0">
                    <a:effectLst/>
                    <a:latin typeface="微软雅黑" panose="020B0503020204020204" pitchFamily="34" charset="-122"/>
                    <a:ea typeface="微软雅黑" panose="020B0503020204020204" pitchFamily="34" charset="-122"/>
                  </a:rPr>
                  <a:t>是在有限工作空间中假定为非奇异的雅可比矩阵。</a:t>
                </a:r>
              </a:p>
              <a:p>
                <a:pPr algn="just"/>
                <a:r>
                  <a:rPr lang="zh-CN" altLang="zh-CN" sz="2400" b="1" kern="1000" dirty="0">
                    <a:effectLst/>
                    <a:latin typeface="微软雅黑" panose="020B0503020204020204" pitchFamily="34" charset="-122"/>
                    <a:ea typeface="微软雅黑" panose="020B0503020204020204" pitchFamily="34" charset="-122"/>
                  </a:rPr>
                  <a:t>还有</a:t>
                </a:r>
              </a:p>
              <a:p>
                <a:pPr algn="just">
                  <a:spcBef>
                    <a:spcPts val="600"/>
                  </a:spcBef>
                  <a:spcAft>
                    <a:spcPts val="6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𝒙</m:t>
                        </m:r>
                      </m:e>
                    </m:acc>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𝒕</m:t>
                    </m:r>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𝑱</m:t>
                        </m:r>
                      </m:e>
                    </m:acc>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𝜽</m:t>
                        </m:r>
                      </m:e>
                    </m:acc>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𝑱</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𝒒</m:t>
                    </m:r>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𝜽</m:t>
                        </m:r>
                      </m:e>
                    </m:acc>
                  </m:oMath>
                </a14:m>
                <a:r>
                  <a:rPr lang="en-US" altLang="zh-CN" sz="2000" b="1" kern="1050" dirty="0">
                    <a:effectLst/>
                    <a:latin typeface="微软雅黑" panose="020B0503020204020204" pitchFamily="34" charset="-122"/>
                    <a:ea typeface="微软雅黑" panose="020B0503020204020204" pitchFamily="34" charset="-122"/>
                  </a:rPr>
                  <a:t>	             (7.99)</a:t>
                </a:r>
                <a:endParaRPr lang="zh-CN" altLang="zh-CN" sz="2000" b="1" kern="1050" dirty="0">
                  <a:effectLst/>
                  <a:latin typeface="微软雅黑" panose="020B0503020204020204" pitchFamily="34" charset="-122"/>
                  <a:ea typeface="微软雅黑" panose="020B0503020204020204" pitchFamily="34" charset="-122"/>
                </a:endParaRPr>
              </a:p>
              <a:p>
                <a:pPr algn="just"/>
                <a:r>
                  <a:rPr lang="en-US" altLang="zh-CN" sz="2400" b="1" i="1" kern="1000" dirty="0">
                    <a:effectLst/>
                    <a:latin typeface="微软雅黑" panose="020B0503020204020204" pitchFamily="34" charset="-122"/>
                    <a:ea typeface="微软雅黑" panose="020B0503020204020204" pitchFamily="34" charset="-122"/>
                  </a:rPr>
                  <a:t>n</a:t>
                </a:r>
                <a:r>
                  <a:rPr lang="zh-CN" altLang="zh-CN" sz="2400" b="1" kern="1000" dirty="0">
                    <a:effectLst/>
                    <a:latin typeface="微软雅黑" panose="020B0503020204020204" pitchFamily="34" charset="-122"/>
                    <a:ea typeface="微软雅黑" panose="020B0503020204020204" pitchFamily="34" charset="-122"/>
                  </a:rPr>
                  <a:t>连杆刚性机器人系统的动力学描述如下</a:t>
                </a:r>
              </a:p>
              <a:p>
                <a:pPr algn="just">
                  <a:spcBef>
                    <a:spcPts val="600"/>
                  </a:spcBef>
                  <a:spcAft>
                    <a:spcPts val="6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000" b="1" i="1" kern="1050" smtClean="0">
                        <a:effectLst/>
                        <a:latin typeface="Cambria Math" panose="02040503050406030204" pitchFamily="18" charset="0"/>
                        <a:ea typeface="宋体" panose="02010600030101010101" pitchFamily="2" charset="-122"/>
                      </a:rPr>
                      <m:t>𝑴</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𝜽</m:t>
                        </m:r>
                      </m:e>
                    </m:acc>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𝑪</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𝜽</m:t>
                        </m:r>
                      </m:e>
                    </m:acc>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𝜽</m:t>
                        </m:r>
                      </m:e>
                    </m:acc>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𝑮</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𝝉</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𝒕</m:t>
                    </m:r>
                    <m:r>
                      <a:rPr lang="en-US" altLang="zh-CN" sz="2000" b="1" i="1" kern="1050" smtClean="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smtClean="0">
                            <a:effectLst/>
                            <a:latin typeface="Cambria Math" panose="02040503050406030204" pitchFamily="18" charset="0"/>
                            <a:ea typeface="宋体" panose="02010600030101010101" pitchFamily="2" charset="-122"/>
                          </a:rPr>
                          <m:t>𝑱</m:t>
                        </m:r>
                      </m:e>
                      <m:sup>
                        <m:r>
                          <a:rPr lang="en-US" altLang="zh-CN" sz="2000" b="1" i="1" kern="1050" smtClean="0">
                            <a:effectLst/>
                            <a:latin typeface="Cambria Math" panose="02040503050406030204" pitchFamily="18" charset="0"/>
                            <a:ea typeface="宋体" panose="02010600030101010101" pitchFamily="2" charset="-122"/>
                          </a:rPr>
                          <m:t>𝑻</m:t>
                        </m:r>
                      </m:sup>
                    </m:sSup>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𝜽</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𝒇</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𝒕</m:t>
                    </m:r>
                    <m:r>
                      <a:rPr lang="en-US" altLang="zh-CN" sz="2000" b="1" i="1" kern="1050" smtClean="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(7.100)</a:t>
                </a:r>
                <a:endParaRPr lang="zh-CN" altLang="zh-CN" sz="2000" b="1" kern="1050" dirty="0">
                  <a:effectLst/>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A65A0F48-4AE8-6DA8-F4DC-5808BEA23D71}"/>
                  </a:ext>
                </a:extLst>
              </p:cNvPr>
              <p:cNvSpPr txBox="1">
                <a:spLocks noRot="1" noChangeAspect="1" noMove="1" noResize="1" noEditPoints="1" noAdjustHandles="1" noChangeArrowheads="1" noChangeShapeType="1" noTextEdit="1"/>
              </p:cNvSpPr>
              <p:nvPr/>
            </p:nvSpPr>
            <p:spPr>
              <a:xfrm>
                <a:off x="1171575" y="1257300"/>
                <a:ext cx="10277475" cy="4443332"/>
              </a:xfrm>
              <a:prstGeom prst="rect">
                <a:avLst/>
              </a:prstGeom>
              <a:blipFill>
                <a:blip r:embed="rId3"/>
                <a:stretch>
                  <a:fillRect l="-890" t="-1097" r="-949"/>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2693D05E-DE6F-79F6-2CFE-F4D4320AA076}"/>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6</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阻抗控制</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C4C29AA4-AD5C-C570-E71D-C2482AA88030}"/>
                  </a:ext>
                </a:extLst>
              </p:cNvPr>
              <p:cNvSpPr txBox="1"/>
              <p:nvPr/>
            </p:nvSpPr>
            <p:spPr>
              <a:xfrm>
                <a:off x="966787" y="1295400"/>
                <a:ext cx="10258425" cy="3814634"/>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𝜽</m:t>
                    </m:r>
                    <m:r>
                      <a:rPr lang="en-US" altLang="zh-CN" sz="2400" b="1" i="1" kern="1000">
                        <a:effectLst/>
                        <a:latin typeface="Cambria Math" panose="02040503050406030204" pitchFamily="18" charset="0"/>
                        <a:ea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𝑹</m:t>
                        </m:r>
                      </m:e>
                      <m:sup>
                        <m:r>
                          <a:rPr lang="en-US" altLang="zh-CN" sz="2400" b="1" i="1" kern="1000">
                            <a:effectLst/>
                            <a:latin typeface="Cambria Math" panose="02040503050406030204" pitchFamily="18" charset="0"/>
                            <a:ea typeface="宋体" panose="02010600030101010101" pitchFamily="2" charset="-122"/>
                          </a:rPr>
                          <m:t>𝒏</m:t>
                        </m:r>
                      </m:sup>
                    </m:sSup>
                  </m:oMath>
                </a14:m>
                <a:r>
                  <a:rPr lang="zh-CN" altLang="zh-CN" sz="2400" b="1" kern="1000" dirty="0">
                    <a:effectLst/>
                    <a:latin typeface="微软雅黑" panose="020B0503020204020204" pitchFamily="34" charset="-122"/>
                    <a:ea typeface="微软雅黑" panose="020B0503020204020204" pitchFamily="34" charset="-122"/>
                  </a:rPr>
                  <a:t>为关节坐标，</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𝝉</m:t>
                    </m:r>
                    <m:r>
                      <a:rPr lang="en-US" altLang="zh-CN" sz="2400" b="1" i="1" kern="1000">
                        <a:effectLst/>
                        <a:latin typeface="Cambria Math" panose="02040503050406030204" pitchFamily="18" charset="0"/>
                        <a:ea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𝑹</m:t>
                        </m:r>
                      </m:e>
                      <m:sup>
                        <m:r>
                          <a:rPr lang="en-US" altLang="zh-CN" sz="2400" b="1" i="1" kern="1000">
                            <a:effectLst/>
                            <a:latin typeface="Cambria Math" panose="02040503050406030204" pitchFamily="18" charset="0"/>
                            <a:ea typeface="宋体" panose="02010600030101010101" pitchFamily="2" charset="-122"/>
                          </a:rPr>
                          <m:t>𝒏</m:t>
                        </m:r>
                      </m:sup>
                    </m:sSup>
                  </m:oMath>
                </a14:m>
                <a:r>
                  <a:rPr lang="zh-CN" altLang="zh-CN" sz="2400" b="1" kern="1000" dirty="0">
                    <a:effectLst/>
                    <a:latin typeface="微软雅黑" panose="020B0503020204020204" pitchFamily="34" charset="-122"/>
                    <a:ea typeface="微软雅黑" panose="020B0503020204020204" pitchFamily="34" charset="-122"/>
                  </a:rPr>
                  <a:t>为关节力矩，</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𝑴</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𝜽</m:t>
                    </m:r>
                    <m:r>
                      <a:rPr lang="en-US" altLang="zh-CN" sz="2400" b="1" i="1" kern="1000">
                        <a:effectLst/>
                        <a:latin typeface="Cambria Math" panose="02040503050406030204" pitchFamily="18" charset="0"/>
                        <a:ea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𝑹</m:t>
                        </m:r>
                      </m:e>
                      <m:sup>
                        <m:r>
                          <a:rPr lang="en-US" altLang="zh-CN" sz="2400" b="1" i="1" kern="1000">
                            <a:effectLst/>
                            <a:latin typeface="Cambria Math" panose="02040503050406030204" pitchFamily="18" charset="0"/>
                            <a:ea typeface="宋体" panose="02010600030101010101" pitchFamily="2" charset="-122"/>
                          </a:rPr>
                          <m:t>𝒏</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𝒏</m:t>
                        </m:r>
                      </m:sup>
                    </m:sSup>
                  </m:oMath>
                </a14:m>
                <a:r>
                  <a:rPr lang="zh-CN" altLang="zh-CN" sz="2400" b="1" kern="1000" dirty="0">
                    <a:effectLst/>
                    <a:latin typeface="微软雅黑" panose="020B0503020204020204" pitchFamily="34" charset="-122"/>
                    <a:ea typeface="微软雅黑" panose="020B0503020204020204" pitchFamily="34" charset="-122"/>
                  </a:rPr>
                  <a:t>为对称正定惯性矩阵，</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𝑪</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𝜽</m:t>
                    </m:r>
                    <m:r>
                      <a:rPr lang="en-US" altLang="zh-CN" sz="2400" b="1" i="1" kern="1000">
                        <a:effectLst/>
                        <a:latin typeface="Cambria Math" panose="02040503050406030204" pitchFamily="18" charset="0"/>
                        <a:ea typeface="宋体" panose="02010600030101010101" pitchFamily="2" charset="-122"/>
                      </a:rPr>
                      <m:t>,</m:t>
                    </m:r>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𝜽</m:t>
                        </m:r>
                      </m:e>
                    </m:acc>
                    <m:r>
                      <a:rPr lang="en-US" altLang="zh-CN" sz="2400" b="1" i="1" kern="1000">
                        <a:effectLst/>
                        <a:latin typeface="Cambria Math" panose="02040503050406030204" pitchFamily="18" charset="0"/>
                        <a:ea typeface="宋体" panose="02010600030101010101" pitchFamily="2" charset="-122"/>
                      </a:rPr>
                      <m:t>)</m:t>
                    </m:r>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𝜽</m:t>
                        </m:r>
                      </m:e>
                    </m:acc>
                    <m:r>
                      <a:rPr lang="en-US" altLang="zh-CN" sz="2400" b="1" i="1" kern="1000">
                        <a:effectLst/>
                        <a:latin typeface="Cambria Math" panose="02040503050406030204" pitchFamily="18" charset="0"/>
                        <a:ea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𝑹</m:t>
                        </m:r>
                      </m:e>
                      <m:sup>
                        <m:r>
                          <a:rPr lang="en-US" altLang="zh-CN" sz="2400" b="1" i="1" kern="1000">
                            <a:effectLst/>
                            <a:latin typeface="Cambria Math" panose="02040503050406030204" pitchFamily="18" charset="0"/>
                            <a:ea typeface="宋体" panose="02010600030101010101" pitchFamily="2" charset="-122"/>
                          </a:rPr>
                          <m:t>𝒏</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𝒏</m:t>
                        </m:r>
                      </m:sup>
                    </m:sSup>
                  </m:oMath>
                </a14:m>
                <a:r>
                  <a:rPr lang="zh-CN" altLang="zh-CN" sz="2400" b="1" kern="1000" dirty="0">
                    <a:effectLst/>
                    <a:latin typeface="微软雅黑" panose="020B0503020204020204" pitchFamily="34" charset="-122"/>
                    <a:ea typeface="微软雅黑" panose="020B0503020204020204" pitchFamily="34" charset="-122"/>
                  </a:rPr>
                  <a:t>为向心力矩和科氏力矩，</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𝑮</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𝜽</m:t>
                    </m:r>
                    <m:r>
                      <a:rPr lang="en-US" altLang="zh-CN" sz="2400" b="1" i="1" kern="1000">
                        <a:effectLst/>
                        <a:latin typeface="Cambria Math" panose="02040503050406030204" pitchFamily="18" charset="0"/>
                        <a:ea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𝑹</m:t>
                        </m:r>
                      </m:e>
                      <m:sup>
                        <m:r>
                          <a:rPr lang="en-US" altLang="zh-CN" sz="2400" b="1" i="1" kern="1000">
                            <a:effectLst/>
                            <a:latin typeface="Cambria Math" panose="02040503050406030204" pitchFamily="18" charset="0"/>
                            <a:ea typeface="宋体" panose="02010600030101010101" pitchFamily="2" charset="-122"/>
                          </a:rPr>
                          <m:t>𝒏</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𝒏</m:t>
                        </m:r>
                      </m:sup>
                    </m:sSup>
                  </m:oMath>
                </a14:m>
                <a:r>
                  <a:rPr lang="zh-CN" altLang="zh-CN" sz="2400" b="1" kern="1000" dirty="0">
                    <a:effectLst/>
                    <a:latin typeface="微软雅黑" panose="020B0503020204020204" pitchFamily="34" charset="-122"/>
                    <a:ea typeface="微软雅黑" panose="020B0503020204020204" pitchFamily="34" charset="-122"/>
                  </a:rPr>
                  <a:t>为重力，</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𝒇</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𝒕</m:t>
                    </m:r>
                    <m:r>
                      <a:rPr lang="en-US" altLang="zh-CN" sz="2400" b="1" i="1" kern="1000">
                        <a:effectLst/>
                        <a:latin typeface="Cambria Math" panose="02040503050406030204" pitchFamily="18" charset="0"/>
                        <a:ea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𝑹</m:t>
                        </m:r>
                      </m:e>
                      <m:sup>
                        <m:r>
                          <a:rPr lang="en-US" altLang="zh-CN" sz="2400" b="1" i="1" kern="1000">
                            <a:effectLst/>
                            <a:latin typeface="Cambria Math" panose="02040503050406030204" pitchFamily="18" charset="0"/>
                            <a:ea typeface="宋体" panose="02010600030101010101" pitchFamily="2" charset="-122"/>
                          </a:rPr>
                          <m:t>𝒏</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𝒏</m:t>
                        </m:r>
                      </m:sup>
                    </m:sSup>
                  </m:oMath>
                </a14:m>
                <a:r>
                  <a:rPr lang="zh-CN" altLang="zh-CN" sz="2400" b="1" kern="1000" dirty="0">
                    <a:effectLst/>
                    <a:latin typeface="微软雅黑" panose="020B0503020204020204" pitchFamily="34" charset="-122"/>
                    <a:ea typeface="微软雅黑" panose="020B0503020204020204" pitchFamily="34" charset="-122"/>
                  </a:rPr>
                  <a:t>是环境施加的约束力的矢量，当机械手与环境没有接触时为</a:t>
                </a:r>
                <a:r>
                  <a:rPr lang="en-US" altLang="zh-CN" sz="2400" b="1" kern="1000" dirty="0">
                    <a:effectLst/>
                    <a:latin typeface="微软雅黑" panose="020B0503020204020204" pitchFamily="34" charset="-122"/>
                    <a:ea typeface="微软雅黑" panose="020B0503020204020204" pitchFamily="34" charset="-122"/>
                  </a:rPr>
                  <a:t>0</a:t>
                </a:r>
                <a:r>
                  <a:rPr lang="zh-CN" altLang="zh-CN" sz="2400" b="1" kern="1000" dirty="0">
                    <a:effectLst/>
                    <a:latin typeface="微软雅黑" panose="020B0503020204020204" pitchFamily="34" charset="-122"/>
                    <a:ea typeface="微软雅黑" panose="020B0503020204020204" pitchFamily="34" charset="-122"/>
                  </a:rPr>
                  <a:t>。</a:t>
                </a:r>
              </a:p>
              <a:p>
                <a:pPr algn="just"/>
                <a:r>
                  <a:rPr lang="zh-CN" altLang="zh-CN" sz="2400" b="1" kern="1000" dirty="0">
                    <a:effectLst/>
                    <a:latin typeface="微软雅黑" panose="020B0503020204020204" pitchFamily="34" charset="-122"/>
                    <a:ea typeface="微软雅黑" panose="020B0503020204020204" pitchFamily="34" charset="-122"/>
                  </a:rPr>
                  <a:t>从而，笛卡尔空间中的机器人动力学重写为</a:t>
                </a:r>
              </a:p>
              <a:p>
                <a:pPr algn="just">
                  <a:spcBef>
                    <a:spcPts val="600"/>
                  </a:spcBef>
                  <a:spcAft>
                    <a:spcPts val="600"/>
                  </a:spcAft>
                  <a:tabLst>
                    <a:tab pos="5364480" algn="r"/>
                  </a:tabLst>
                </a:pPr>
                <a:r>
                  <a:rPr lang="en-US" altLang="zh-CN" sz="24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𝑴</m:t>
                        </m:r>
                      </m:e>
                      <m:sub>
                        <m:r>
                          <a:rPr lang="en-US" altLang="zh-CN" sz="2000" b="1" i="1" kern="1050">
                            <a:effectLst/>
                            <a:latin typeface="Cambria Math" panose="02040503050406030204" pitchFamily="18" charset="0"/>
                            <a:ea typeface="宋体" panose="02010600030101010101" pitchFamily="2" charset="-122"/>
                          </a:rPr>
                          <m:t>𝒙</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𝒙</m:t>
                    </m:r>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𝒙</m:t>
                        </m:r>
                      </m:e>
                    </m:acc>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𝑪</m:t>
                        </m:r>
                      </m:e>
                      <m:sub>
                        <m:r>
                          <a:rPr lang="en-US" altLang="zh-CN" sz="2000" b="1" i="1" kern="1050">
                            <a:effectLst/>
                            <a:latin typeface="Cambria Math" panose="02040503050406030204" pitchFamily="18" charset="0"/>
                            <a:ea typeface="宋体" panose="02010600030101010101" pitchFamily="2" charset="-122"/>
                          </a:rPr>
                          <m:t>𝒙</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𝒙</m:t>
                    </m:r>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𝒙</m:t>
                        </m:r>
                      </m:e>
                    </m:acc>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𝒙</m:t>
                        </m:r>
                      </m:e>
                    </m:acc>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𝑮</m:t>
                        </m:r>
                      </m:e>
                      <m:sub>
                        <m:r>
                          <a:rPr lang="en-US" altLang="zh-CN" sz="2000" b="1" i="1" kern="1050">
                            <a:effectLst/>
                            <a:latin typeface="Cambria Math" panose="02040503050406030204" pitchFamily="18" charset="0"/>
                            <a:ea typeface="宋体" panose="02010600030101010101" pitchFamily="2" charset="-122"/>
                          </a:rPr>
                          <m:t>𝒙</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𝒙</m:t>
                    </m:r>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𝑱</m:t>
                        </m:r>
                      </m:e>
                      <m: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𝑻</m:t>
                        </m:r>
                      </m:sup>
                    </m:s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𝜽</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𝝉</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𝒕</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𝒇</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𝒕</m:t>
                    </m:r>
                    <m:r>
                      <a:rPr lang="en-US" altLang="zh-CN" sz="2000" b="1" i="1" kern="105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(7.101)</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𝒙</m:t>
                    </m:r>
                    <m:r>
                      <a:rPr lang="zh-CN" altLang="zh-CN" sz="2400" b="1" i="1" kern="10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𝑹</m:t>
                        </m:r>
                      </m:e>
                      <m:sup>
                        <m:r>
                          <a:rPr lang="en-US" altLang="zh-CN" sz="2400" b="1" i="1" kern="1000">
                            <a:effectLst/>
                            <a:latin typeface="Cambria Math" panose="02040503050406030204" pitchFamily="18" charset="0"/>
                            <a:ea typeface="宋体" panose="02010600030101010101" pitchFamily="2" charset="-122"/>
                          </a:rPr>
                          <m:t>𝒏</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𝒏</m:t>
                        </m:r>
                      </m:sup>
                    </m:sSup>
                  </m:oMath>
                </a14:m>
                <a:r>
                  <a:rPr lang="zh-CN" altLang="zh-CN" sz="2400" b="1" kern="1000" dirty="0">
                    <a:effectLst/>
                    <a:latin typeface="微软雅黑" panose="020B0503020204020204" pitchFamily="34" charset="-122"/>
                    <a:ea typeface="微软雅黑" panose="020B0503020204020204" pitchFamily="34" charset="-122"/>
                  </a:rPr>
                  <a:t>是机器人的位置坐标，并且</a:t>
                </a:r>
              </a:p>
              <a:p>
                <a:pPr algn="just">
                  <a:spcBef>
                    <a:spcPts val="600"/>
                  </a:spcBef>
                  <a:spcAft>
                    <a:spcPts val="6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𝜧</m:t>
                        </m:r>
                      </m:e>
                      <m:sub>
                        <m:r>
                          <a:rPr lang="en-US" altLang="zh-CN" sz="2000" b="1" i="1" kern="1050">
                            <a:effectLst/>
                            <a:latin typeface="Cambria Math" panose="02040503050406030204" pitchFamily="18" charset="0"/>
                            <a:ea typeface="宋体" panose="02010600030101010101" pitchFamily="2" charset="-122"/>
                          </a:rPr>
                          <m:t>𝒙</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𝒙</m:t>
                    </m:r>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𝑱</m:t>
                        </m:r>
                      </m:e>
                      <m: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𝑻</m:t>
                        </m:r>
                      </m:sup>
                    </m:s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𝜽</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𝑴</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𝜽</m:t>
                    </m:r>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𝑱</m:t>
                        </m:r>
                      </m:e>
                      <m: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sup>
                    </m:s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𝜽</m:t>
                    </m:r>
                    <m:r>
                      <a:rPr lang="en-US" altLang="zh-CN" sz="2000" b="1" i="1" kern="105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(7.102)</a:t>
                </a:r>
                <a:endParaRPr lang="zh-CN" altLang="zh-CN" sz="2000" b="1" kern="1050" dirty="0">
                  <a:effectLst/>
                  <a:latin typeface="微软雅黑" panose="020B0503020204020204" pitchFamily="34" charset="-122"/>
                  <a:ea typeface="微软雅黑" panose="020B0503020204020204" pitchFamily="34" charset="-122"/>
                </a:endParaRPr>
              </a:p>
              <a:p>
                <a:pPr algn="just">
                  <a:spcBef>
                    <a:spcPts val="600"/>
                  </a:spcBef>
                  <a:spcAft>
                    <a:spcPts val="6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000" b="1" i="1" kern="1050">
                        <a:effectLst/>
                        <a:latin typeface="Cambria Math" panose="02040503050406030204" pitchFamily="18" charset="0"/>
                        <a:ea typeface="宋体" panose="02010600030101010101" pitchFamily="2" charset="-122"/>
                      </a:rPr>
                      <m:t>𝑪</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𝒙</m:t>
                    </m:r>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𝒙</m:t>
                        </m:r>
                      </m:e>
                    </m:acc>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𝑱</m:t>
                        </m:r>
                      </m:e>
                      <m: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𝑻</m:t>
                        </m:r>
                      </m:sup>
                    </m:s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𝜽</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𝑪</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𝜽</m:t>
                    </m:r>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𝜽</m:t>
                        </m:r>
                      </m:e>
                    </m:acc>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𝑴</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𝜽</m:t>
                    </m:r>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𝑱</m:t>
                        </m:r>
                      </m:e>
                      <m: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sup>
                    </m:s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𝜽</m:t>
                    </m:r>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𝑱</m:t>
                        </m:r>
                      </m:e>
                    </m:acc>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𝜽</m:t>
                    </m:r>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𝑱</m:t>
                        </m:r>
                      </m:e>
                      <m: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sup>
                    </m:s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𝜽</m:t>
                    </m:r>
                    <m:r>
                      <a:rPr lang="en-US" altLang="zh-CN" sz="2000" b="1" i="1" kern="105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(7.103)</a:t>
                </a:r>
                <a:endParaRPr lang="zh-CN" altLang="zh-CN" sz="2000" b="1" kern="1050" dirty="0">
                  <a:effectLst/>
                  <a:latin typeface="微软雅黑" panose="020B0503020204020204" pitchFamily="34" charset="-122"/>
                  <a:ea typeface="微软雅黑" panose="020B0503020204020204" pitchFamily="34" charset="-122"/>
                </a:endParaRPr>
              </a:p>
              <a:p>
                <a:pPr algn="just">
                  <a:spcBef>
                    <a:spcPts val="600"/>
                  </a:spcBef>
                  <a:spcAft>
                    <a:spcPts val="6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𝑮</m:t>
                        </m:r>
                      </m:e>
                      <m:sub>
                        <m:r>
                          <a:rPr lang="en-US" altLang="zh-CN" sz="2000" b="1" i="1" kern="1050">
                            <a:effectLst/>
                            <a:latin typeface="Cambria Math" panose="02040503050406030204" pitchFamily="18" charset="0"/>
                            <a:ea typeface="宋体" panose="02010600030101010101" pitchFamily="2" charset="-122"/>
                          </a:rPr>
                          <m:t>𝒙</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𝒙</m:t>
                    </m:r>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𝑱</m:t>
                        </m:r>
                      </m:e>
                      <m: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𝑻</m:t>
                        </m:r>
                      </m:sup>
                    </m:s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𝜽</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𝑮</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𝜽</m:t>
                    </m:r>
                    <m:r>
                      <a:rPr lang="en-US" altLang="zh-CN" sz="2000" b="1" i="1" kern="105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(7.104)</a:t>
                </a:r>
                <a:endParaRPr lang="zh-CN" altLang="zh-CN" sz="2000" b="1" kern="1050" dirty="0">
                  <a:effectLst/>
                  <a:latin typeface="微软雅黑" panose="020B0503020204020204" pitchFamily="34" charset="-122"/>
                  <a:ea typeface="微软雅黑" panose="020B0503020204020204" pitchFamily="34" charset="-122"/>
                </a:endParaRPr>
              </a:p>
            </p:txBody>
          </p:sp>
        </mc:Choice>
        <mc:Fallback>
          <p:sp>
            <p:nvSpPr>
              <p:cNvPr id="3" name="文本框 2">
                <a:extLst>
                  <a:ext uri="{FF2B5EF4-FFF2-40B4-BE49-F238E27FC236}">
                    <a16:creationId xmlns:a16="http://schemas.microsoft.com/office/drawing/2014/main" id="{C4C29AA4-AD5C-C570-E71D-C2482AA88030}"/>
                  </a:ext>
                </a:extLst>
              </p:cNvPr>
              <p:cNvSpPr txBox="1">
                <a:spLocks noRot="1" noChangeAspect="1" noMove="1" noResize="1" noEditPoints="1" noAdjustHandles="1" noChangeArrowheads="1" noChangeShapeType="1" noTextEdit="1"/>
              </p:cNvSpPr>
              <p:nvPr/>
            </p:nvSpPr>
            <p:spPr>
              <a:xfrm>
                <a:off x="966787" y="1295400"/>
                <a:ext cx="10258425" cy="3814634"/>
              </a:xfrm>
              <a:prstGeom prst="rect">
                <a:avLst/>
              </a:prstGeom>
              <a:blipFill>
                <a:blip r:embed="rId3"/>
                <a:stretch>
                  <a:fillRect l="-951" t="-1280" r="-951" b="-1920"/>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F474CA00-9E13-1831-C2C6-2049EE85B272}"/>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6</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阻抗控制</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40C11C36-C35B-FFD3-4D3F-A2BB6465E5E2}"/>
                  </a:ext>
                </a:extLst>
              </p:cNvPr>
              <p:cNvSpPr txBox="1"/>
              <p:nvPr/>
            </p:nvSpPr>
            <p:spPr>
              <a:xfrm>
                <a:off x="904875" y="1247776"/>
                <a:ext cx="10229850" cy="2315249"/>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将</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𝑴</m:t>
                        </m:r>
                      </m:e>
                      <m:sub>
                        <m:r>
                          <a:rPr lang="en-US" altLang="zh-CN" sz="2400" b="1" i="1" kern="1000">
                            <a:effectLst/>
                            <a:latin typeface="Cambria Math" panose="02040503050406030204" pitchFamily="18" charset="0"/>
                            <a:ea typeface="宋体" panose="02010600030101010101" pitchFamily="2" charset="-122"/>
                          </a:rPr>
                          <m:t>𝒙</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𝑪</m:t>
                        </m:r>
                      </m:e>
                      <m:sub>
                        <m:r>
                          <a:rPr lang="en-US" altLang="zh-CN" sz="2400" b="1" i="1" kern="1000">
                            <a:effectLst/>
                            <a:latin typeface="Cambria Math" panose="02040503050406030204" pitchFamily="18" charset="0"/>
                            <a:ea typeface="宋体" panose="02010600030101010101" pitchFamily="2" charset="-122"/>
                          </a:rPr>
                          <m:t>𝒙</m:t>
                        </m:r>
                      </m:sub>
                    </m:sSub>
                  </m:oMath>
                </a14:m>
                <a:r>
                  <a:rPr lang="zh-CN" altLang="zh-CN" sz="2400" b="1" kern="1000" dirty="0">
                    <a:effectLst/>
                    <a:latin typeface="微软雅黑" panose="020B0503020204020204" pitchFamily="34" charset="-122"/>
                    <a:ea typeface="微软雅黑" panose="020B0503020204020204" pitchFamily="34" charset="-122"/>
                  </a:rPr>
                  <a:t>和</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𝑮</m:t>
                        </m:r>
                      </m:e>
                      <m:sub>
                        <m:r>
                          <a:rPr lang="en-US" altLang="zh-CN" sz="2400" b="1" i="1" kern="1000">
                            <a:effectLst/>
                            <a:latin typeface="Cambria Math" panose="02040503050406030204" pitchFamily="18" charset="0"/>
                            <a:ea typeface="宋体" panose="02010600030101010101" pitchFamily="2" charset="-122"/>
                          </a:rPr>
                          <m:t>𝒙</m:t>
                        </m:r>
                      </m:sub>
                    </m:sSub>
                  </m:oMath>
                </a14:m>
                <a:r>
                  <a:rPr lang="zh-CN" altLang="zh-CN" sz="2400" b="1" kern="1000" dirty="0">
                    <a:effectLst/>
                    <a:latin typeface="微软雅黑" panose="020B0503020204020204" pitchFamily="34" charset="-122"/>
                    <a:ea typeface="微软雅黑" panose="020B0503020204020204" pitchFamily="34" charset="-122"/>
                  </a:rPr>
                  <a:t>的元素分别表示为</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𝒎</m:t>
                        </m:r>
                      </m:e>
                      <m:sub>
                        <m:r>
                          <a:rPr lang="en-US" altLang="zh-CN" sz="2400" b="1" i="1" kern="1000">
                            <a:effectLst/>
                            <a:latin typeface="Cambria Math" panose="02040503050406030204" pitchFamily="18" charset="0"/>
                            <a:ea typeface="宋体" panose="02010600030101010101" pitchFamily="2" charset="-122"/>
                          </a:rPr>
                          <m:t>𝒊𝒋</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𝒄</m:t>
                        </m:r>
                      </m:e>
                      <m:sub>
                        <m:r>
                          <a:rPr lang="en-US" altLang="zh-CN" sz="2400" b="1" i="1" kern="1000">
                            <a:effectLst/>
                            <a:latin typeface="Cambria Math" panose="02040503050406030204" pitchFamily="18" charset="0"/>
                            <a:ea typeface="宋体" panose="02010600030101010101" pitchFamily="2" charset="-122"/>
                          </a:rPr>
                          <m:t>𝒊𝒋</m:t>
                        </m:r>
                      </m:sub>
                    </m:sSub>
                  </m:oMath>
                </a14:m>
                <a:r>
                  <a:rPr lang="zh-CN" altLang="zh-CN" sz="2400" b="1" kern="1000" dirty="0">
                    <a:effectLst/>
                    <a:latin typeface="微软雅黑" panose="020B0503020204020204" pitchFamily="34" charset="-122"/>
                    <a:ea typeface="微软雅黑" panose="020B0503020204020204" pitchFamily="34" charset="-122"/>
                  </a:rPr>
                  <a:t>和</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𝒈</m:t>
                        </m:r>
                      </m:e>
                      <m:sub>
                        <m:r>
                          <a:rPr lang="en-US" altLang="zh-CN" sz="2400" b="1" i="1" kern="1000">
                            <a:effectLst/>
                            <a:latin typeface="Cambria Math" panose="02040503050406030204" pitchFamily="18" charset="0"/>
                            <a:ea typeface="宋体" panose="02010600030101010101" pitchFamily="2" charset="-122"/>
                          </a:rPr>
                          <m:t>𝒊</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𝒊</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𝟏</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𝟐</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𝒏</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𝒋</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𝟏</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𝟐</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𝒏</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，它们的神经网络近似表示为</a:t>
                </a:r>
              </a:p>
              <a:p>
                <a:pPr algn="just">
                  <a:spcBef>
                    <a:spcPts val="600"/>
                  </a:spcBef>
                  <a:spcAft>
                    <a:spcPts val="6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𝒎</m:t>
                        </m:r>
                      </m:e>
                      <m:sub>
                        <m:r>
                          <a:rPr lang="en-US" altLang="zh-CN" sz="2000" b="1" i="1" kern="1050">
                            <a:effectLst/>
                            <a:latin typeface="Cambria Math" panose="02040503050406030204" pitchFamily="18" charset="0"/>
                            <a:ea typeface="宋体" panose="02010600030101010101" pitchFamily="2" charset="-122"/>
                          </a:rPr>
                          <m:t>𝒊𝒋</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𝒙</m:t>
                    </m:r>
                    <m:r>
                      <a:rPr lang="en-US" altLang="zh-CN" sz="2000" b="1" i="1" kern="105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a:effectLst/>
                            <a:latin typeface="Cambria Math" panose="02040503050406030204" pitchFamily="18" charset="0"/>
                            <a:ea typeface="宋体" panose="02010600030101010101" pitchFamily="2" charset="-122"/>
                          </a:rPr>
                          <m:t>𝜽</m:t>
                        </m:r>
                      </m:e>
                      <m:sub>
                        <m:r>
                          <a:rPr lang="en-US" altLang="zh-CN" sz="2000" b="1" i="1" kern="1050">
                            <a:effectLst/>
                            <a:latin typeface="Cambria Math" panose="02040503050406030204" pitchFamily="18" charset="0"/>
                            <a:ea typeface="宋体" panose="02010600030101010101" pitchFamily="2" charset="-122"/>
                          </a:rPr>
                          <m:t>𝑴𝒊𝒋</m:t>
                        </m:r>
                      </m:sub>
                      <m:sup>
                        <m:r>
                          <a:rPr lang="en-US" altLang="zh-CN" sz="2000" b="1" i="1" kern="1050">
                            <a:effectLst/>
                            <a:latin typeface="Cambria Math" panose="02040503050406030204" pitchFamily="18" charset="0"/>
                            <a:ea typeface="宋体" panose="02010600030101010101" pitchFamily="2" charset="-122"/>
                          </a:rPr>
                          <m:t>𝑻</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𝝃</m:t>
                        </m:r>
                      </m:e>
                      <m:sub>
                        <m:r>
                          <a:rPr lang="en-US" altLang="zh-CN" sz="2000" b="1" i="1" kern="1050">
                            <a:effectLst/>
                            <a:latin typeface="Cambria Math" panose="02040503050406030204" pitchFamily="18" charset="0"/>
                            <a:ea typeface="宋体" panose="02010600030101010101" pitchFamily="2" charset="-122"/>
                          </a:rPr>
                          <m:t>𝑴𝒊𝒋</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𝜺</m:t>
                        </m:r>
                      </m:e>
                      <m:sub>
                        <m:r>
                          <a:rPr lang="en-US" altLang="zh-CN" sz="2000" b="1" i="1" kern="1050">
                            <a:effectLst/>
                            <a:latin typeface="Cambria Math" panose="02040503050406030204" pitchFamily="18" charset="0"/>
                            <a:ea typeface="宋体" panose="02010600030101010101" pitchFamily="2" charset="-122"/>
                          </a:rPr>
                          <m:t>𝑴𝒊𝒋</m:t>
                        </m:r>
                      </m:sub>
                    </m:sSub>
                  </m:oMath>
                </a14:m>
                <a:r>
                  <a:rPr lang="en-US" altLang="zh-CN" sz="2000" b="1" kern="1050" dirty="0">
                    <a:effectLst/>
                    <a:latin typeface="微软雅黑" panose="020B0503020204020204" pitchFamily="34" charset="-122"/>
                    <a:ea typeface="微软雅黑" panose="020B0503020204020204" pitchFamily="34" charset="-122"/>
                  </a:rPr>
                  <a:t>	           (7.105)</a:t>
                </a:r>
                <a:endParaRPr lang="zh-CN" altLang="zh-CN" sz="2000" b="1" kern="1050" dirty="0">
                  <a:effectLst/>
                  <a:latin typeface="微软雅黑" panose="020B0503020204020204" pitchFamily="34" charset="-122"/>
                  <a:ea typeface="微软雅黑" panose="020B0503020204020204" pitchFamily="34" charset="-122"/>
                </a:endParaRPr>
              </a:p>
              <a:p>
                <a:pPr algn="just">
                  <a:spcBef>
                    <a:spcPts val="600"/>
                  </a:spcBef>
                  <a:spcAft>
                    <a:spcPts val="6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𝒄</m:t>
                        </m:r>
                      </m:e>
                      <m:sub>
                        <m:r>
                          <a:rPr lang="en-US" altLang="zh-CN" sz="2000" b="1" i="1" kern="1050">
                            <a:effectLst/>
                            <a:latin typeface="Cambria Math" panose="02040503050406030204" pitchFamily="18" charset="0"/>
                            <a:ea typeface="宋体" panose="02010600030101010101" pitchFamily="2" charset="-122"/>
                          </a:rPr>
                          <m:t>𝒊𝒋</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𝒙</m:t>
                    </m:r>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𝒙</m:t>
                        </m:r>
                      </m:e>
                    </m:acc>
                    <m:r>
                      <a:rPr lang="en-US" altLang="zh-CN" sz="2000" b="1" i="1" kern="105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a:effectLst/>
                            <a:latin typeface="Cambria Math" panose="02040503050406030204" pitchFamily="18" charset="0"/>
                            <a:ea typeface="宋体" panose="02010600030101010101" pitchFamily="2" charset="-122"/>
                          </a:rPr>
                          <m:t>𝜽</m:t>
                        </m:r>
                      </m:e>
                      <m:sub>
                        <m:r>
                          <a:rPr lang="en-US" altLang="zh-CN" sz="2000" b="1" i="1" kern="1050">
                            <a:effectLst/>
                            <a:latin typeface="Cambria Math" panose="02040503050406030204" pitchFamily="18" charset="0"/>
                            <a:ea typeface="宋体" panose="02010600030101010101" pitchFamily="2" charset="-122"/>
                          </a:rPr>
                          <m:t>𝑪𝒊𝒋</m:t>
                        </m:r>
                      </m:sub>
                      <m:sup>
                        <m:r>
                          <a:rPr lang="en-US" altLang="zh-CN" sz="2000" b="1" i="1" kern="1050">
                            <a:effectLst/>
                            <a:latin typeface="Cambria Math" panose="02040503050406030204" pitchFamily="18" charset="0"/>
                            <a:ea typeface="宋体" panose="02010600030101010101" pitchFamily="2" charset="-122"/>
                          </a:rPr>
                          <m:t>𝑻</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𝝃</m:t>
                        </m:r>
                      </m:e>
                      <m:sub>
                        <m:r>
                          <a:rPr lang="en-US" altLang="zh-CN" sz="2000" b="1" i="1" kern="1050">
                            <a:effectLst/>
                            <a:latin typeface="Cambria Math" panose="02040503050406030204" pitchFamily="18" charset="0"/>
                            <a:ea typeface="宋体" panose="02010600030101010101" pitchFamily="2" charset="-122"/>
                          </a:rPr>
                          <m:t>𝑪𝒊𝒋</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𝜺</m:t>
                        </m:r>
                      </m:e>
                      <m:sub>
                        <m:r>
                          <a:rPr lang="en-US" altLang="zh-CN" sz="2000" b="1" i="1" kern="1050">
                            <a:effectLst/>
                            <a:latin typeface="Cambria Math" panose="02040503050406030204" pitchFamily="18" charset="0"/>
                            <a:ea typeface="宋体" panose="02010600030101010101" pitchFamily="2" charset="-122"/>
                          </a:rPr>
                          <m:t>𝑪𝒊𝒋</m:t>
                        </m:r>
                      </m:sub>
                    </m:sSub>
                  </m:oMath>
                </a14:m>
                <a:r>
                  <a:rPr lang="en-US" altLang="zh-CN" sz="2000" b="1" kern="1050" dirty="0">
                    <a:effectLst/>
                    <a:latin typeface="微软雅黑" panose="020B0503020204020204" pitchFamily="34" charset="-122"/>
                    <a:ea typeface="微软雅黑" panose="020B0503020204020204" pitchFamily="34" charset="-122"/>
                  </a:rPr>
                  <a:t>	           (7.106)</a:t>
                </a:r>
                <a:endParaRPr lang="zh-CN" altLang="zh-CN" sz="2000" b="1" kern="1050" dirty="0">
                  <a:effectLst/>
                  <a:latin typeface="微软雅黑" panose="020B0503020204020204" pitchFamily="34" charset="-122"/>
                  <a:ea typeface="微软雅黑" panose="020B0503020204020204" pitchFamily="34" charset="-122"/>
                </a:endParaRPr>
              </a:p>
              <a:p>
                <a:pPr algn="just">
                  <a:spcBef>
                    <a:spcPts val="600"/>
                  </a:spcBef>
                  <a:spcAft>
                    <a:spcPts val="6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𝒈</m:t>
                        </m:r>
                      </m:e>
                      <m:sub>
                        <m:r>
                          <a:rPr lang="en-US" altLang="zh-CN" sz="2000" b="1" i="1" kern="1050">
                            <a:effectLst/>
                            <a:latin typeface="Cambria Math" panose="02040503050406030204" pitchFamily="18" charset="0"/>
                            <a:ea typeface="宋体" panose="02010600030101010101" pitchFamily="2" charset="-122"/>
                          </a:rPr>
                          <m:t>𝒊</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𝒙</m:t>
                    </m:r>
                    <m:r>
                      <a:rPr lang="en-US" altLang="zh-CN" sz="2000" b="1" i="1" kern="105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a:effectLst/>
                            <a:latin typeface="Cambria Math" panose="02040503050406030204" pitchFamily="18" charset="0"/>
                            <a:ea typeface="宋体" panose="02010600030101010101" pitchFamily="2" charset="-122"/>
                          </a:rPr>
                          <m:t>𝜽</m:t>
                        </m:r>
                      </m:e>
                      <m:sub>
                        <m:r>
                          <a:rPr lang="en-US" altLang="zh-CN" sz="2000" b="1" i="1" kern="1050">
                            <a:effectLst/>
                            <a:latin typeface="Cambria Math" panose="02040503050406030204" pitchFamily="18" charset="0"/>
                            <a:ea typeface="宋体" panose="02010600030101010101" pitchFamily="2" charset="-122"/>
                          </a:rPr>
                          <m:t>𝑮𝒊</m:t>
                        </m:r>
                      </m:sub>
                      <m:sup>
                        <m:r>
                          <a:rPr lang="en-US" altLang="zh-CN" sz="2000" b="1" i="1" kern="1050">
                            <a:effectLst/>
                            <a:latin typeface="Cambria Math" panose="02040503050406030204" pitchFamily="18" charset="0"/>
                            <a:ea typeface="宋体" panose="02010600030101010101" pitchFamily="2" charset="-122"/>
                          </a:rPr>
                          <m:t>𝑻</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𝝃</m:t>
                        </m:r>
                      </m:e>
                      <m:sub>
                        <m:r>
                          <a:rPr lang="en-US" altLang="zh-CN" sz="2000" b="1" i="1" kern="1050">
                            <a:effectLst/>
                            <a:latin typeface="Cambria Math" panose="02040503050406030204" pitchFamily="18" charset="0"/>
                            <a:ea typeface="宋体" panose="02010600030101010101" pitchFamily="2" charset="-122"/>
                          </a:rPr>
                          <m:t>𝑮𝒊</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𝜺</m:t>
                        </m:r>
                      </m:e>
                      <m:sub>
                        <m:r>
                          <a:rPr lang="en-US" altLang="zh-CN" sz="2000" b="1" i="1" kern="1050">
                            <a:effectLst/>
                            <a:latin typeface="Cambria Math" panose="02040503050406030204" pitchFamily="18" charset="0"/>
                            <a:ea typeface="宋体" panose="02010600030101010101" pitchFamily="2" charset="-122"/>
                          </a:rPr>
                          <m:t>𝑮𝒊</m:t>
                        </m:r>
                      </m:sub>
                    </m:sSub>
                  </m:oMath>
                </a14:m>
                <a:r>
                  <a:rPr lang="en-US" altLang="zh-CN" sz="2000" b="1" kern="1050" dirty="0">
                    <a:effectLst/>
                    <a:latin typeface="微软雅黑" panose="020B0503020204020204" pitchFamily="34" charset="-122"/>
                    <a:ea typeface="微软雅黑" panose="020B0503020204020204" pitchFamily="34" charset="-122"/>
                  </a:rPr>
                  <a:t>	           (7.107)</a:t>
                </a:r>
                <a:endParaRPr lang="zh-CN" altLang="zh-CN" sz="2000" b="1" kern="1050" dirty="0">
                  <a:effectLst/>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40C11C36-C35B-FFD3-4D3F-A2BB6465E5E2}"/>
                  </a:ext>
                </a:extLst>
              </p:cNvPr>
              <p:cNvSpPr txBox="1">
                <a:spLocks noRot="1" noChangeAspect="1" noMove="1" noResize="1" noEditPoints="1" noAdjustHandles="1" noChangeArrowheads="1" noChangeShapeType="1" noTextEdit="1"/>
              </p:cNvSpPr>
              <p:nvPr/>
            </p:nvSpPr>
            <p:spPr>
              <a:xfrm>
                <a:off x="904875" y="1247776"/>
                <a:ext cx="10229850" cy="2315249"/>
              </a:xfrm>
              <a:prstGeom prst="rect">
                <a:avLst/>
              </a:prstGeom>
              <a:blipFill>
                <a:blip r:embed="rId3"/>
                <a:stretch>
                  <a:fillRect l="-893" t="-2111" r="-3871" b="-395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242CC078-1F73-26F6-271D-A5A2A16B199D}"/>
                  </a:ext>
                </a:extLst>
              </p:cNvPr>
              <p:cNvSpPr txBox="1"/>
              <p:nvPr/>
            </p:nvSpPr>
            <p:spPr>
              <a:xfrm>
                <a:off x="904875" y="4095751"/>
                <a:ext cx="10439400" cy="901016"/>
              </a:xfrm>
              <a:prstGeom prst="rect">
                <a:avLst/>
              </a:prstGeom>
              <a:noFill/>
            </p:spPr>
            <p:txBody>
              <a:bodyPr wrap="square">
                <a:spAutoFit/>
              </a:bodyPr>
              <a:lstStyle/>
              <a:p>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其中，</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𝜺</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𝑴𝒊𝒋</m:t>
                        </m:r>
                      </m:sub>
                    </m:sSub>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𝜺</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𝑪𝒊𝒋</m:t>
                        </m:r>
                      </m:sub>
                    </m:sSub>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和</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𝜺</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𝑮𝒊</m:t>
                        </m:r>
                      </m:sub>
                    </m:sSub>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是近似误差，</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𝜽</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𝑴𝒊𝒋</m:t>
                        </m:r>
                      </m:sub>
                    </m:sSub>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𝜽</m:t>
                        </m:r>
                      </m:e>
                      <m:sub>
                        <m:r>
                          <a:rPr lang="en-US" altLang="zh-CN" sz="2400" b="1" i="1" kern="1000" smtClean="0">
                            <a:effectLst/>
                            <a:latin typeface="Cambria Math" panose="02040503050406030204" pitchFamily="18" charset="0"/>
                            <a:ea typeface="宋体" panose="02010600030101010101" pitchFamily="2" charset="-122"/>
                            <a:cs typeface="Times New Roman" panose="02020603050405020304" pitchFamily="18" charset="0"/>
                          </a:rPr>
                          <m:t>𝑪</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𝒊𝒋</m:t>
                        </m:r>
                      </m:sub>
                    </m:sSub>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和</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𝜽</m:t>
                        </m:r>
                      </m:e>
                      <m:sub>
                        <m:r>
                          <a:rPr lang="en-US" altLang="zh-CN" sz="2400" b="1" i="1" kern="1000" smtClean="0">
                            <a:effectLst/>
                            <a:latin typeface="Cambria Math" panose="02040503050406030204" pitchFamily="18" charset="0"/>
                            <a:ea typeface="宋体" panose="02010600030101010101" pitchFamily="2" charset="-122"/>
                            <a:cs typeface="Times New Roman" panose="02020603050405020304" pitchFamily="18" charset="0"/>
                          </a:rPr>
                          <m:t>𝑮</m:t>
                        </m:r>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𝒊𝒋</m:t>
                        </m:r>
                      </m:sub>
                    </m:sSub>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是神经网络权值的列向量，</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𝝃</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𝑴𝒊𝒋</m:t>
                        </m:r>
                      </m:sub>
                    </m:sSub>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𝝃</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𝑪𝒊𝒋</m:t>
                        </m:r>
                      </m:sub>
                    </m:sSub>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和</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𝝃</m:t>
                        </m:r>
                      </m:e>
                      <m:sub>
                        <m:r>
                          <a:rPr lang="en-US" altLang="zh-CN" sz="2400" b="1" i="1" kern="1000">
                            <a:effectLst/>
                            <a:latin typeface="Cambria Math" panose="02040503050406030204" pitchFamily="18" charset="0"/>
                            <a:ea typeface="宋体" panose="02010600030101010101" pitchFamily="2" charset="-122"/>
                            <a:cs typeface="Times New Roman" panose="02020603050405020304" pitchFamily="18" charset="0"/>
                          </a:rPr>
                          <m:t>𝑮𝒊</m:t>
                        </m:r>
                      </m:sub>
                    </m:sSub>
                  </m:oMath>
                </a14:m>
                <a:r>
                  <a:rPr lang="zh-CN" altLang="zh-CN" sz="2400" b="1" kern="1000" dirty="0">
                    <a:effectLst/>
                    <a:latin typeface="微软雅黑" panose="020B0503020204020204" pitchFamily="34" charset="-122"/>
                    <a:ea typeface="微软雅黑" panose="020B0503020204020204" pitchFamily="34" charset="-122"/>
                    <a:cs typeface="Times New Roman" panose="02020603050405020304" pitchFamily="18" charset="0"/>
                  </a:rPr>
                  <a:t>是高斯函数（基函数）输出向量。</a:t>
                </a:r>
                <a:endParaRPr lang="zh-CN" altLang="en-US" sz="2400" b="1" dirty="0">
                  <a:latin typeface="微软雅黑" panose="020B0503020204020204" pitchFamily="34" charset="-122"/>
                  <a:ea typeface="微软雅黑" panose="020B0503020204020204" pitchFamily="34" charset="-122"/>
                </a:endParaRPr>
              </a:p>
            </p:txBody>
          </p:sp>
        </mc:Choice>
        <mc:Fallback>
          <p:sp>
            <p:nvSpPr>
              <p:cNvPr id="5" name="文本框 4">
                <a:extLst>
                  <a:ext uri="{FF2B5EF4-FFF2-40B4-BE49-F238E27FC236}">
                    <a16:creationId xmlns:a16="http://schemas.microsoft.com/office/drawing/2014/main" id="{242CC078-1F73-26F6-271D-A5A2A16B199D}"/>
                  </a:ext>
                </a:extLst>
              </p:cNvPr>
              <p:cNvSpPr txBox="1">
                <a:spLocks noRot="1" noChangeAspect="1" noMove="1" noResize="1" noEditPoints="1" noAdjustHandles="1" noChangeArrowheads="1" noChangeShapeType="1" noTextEdit="1"/>
              </p:cNvSpPr>
              <p:nvPr/>
            </p:nvSpPr>
            <p:spPr>
              <a:xfrm>
                <a:off x="904875" y="4095751"/>
                <a:ext cx="10439400" cy="901016"/>
              </a:xfrm>
              <a:prstGeom prst="rect">
                <a:avLst/>
              </a:prstGeom>
              <a:blipFill>
                <a:blip r:embed="rId4"/>
                <a:stretch>
                  <a:fillRect l="-876" t="-5405" b="-10135"/>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07B8C84A-2B85-8751-167C-53D54E9B71BE}"/>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6</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阻抗控制</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401C67CE-98B0-3256-BD15-089755C6C56A}"/>
                  </a:ext>
                </a:extLst>
              </p:cNvPr>
              <p:cNvSpPr txBox="1"/>
              <p:nvPr/>
            </p:nvSpPr>
            <p:spPr>
              <a:xfrm>
                <a:off x="1162049" y="1228725"/>
                <a:ext cx="9039225" cy="3755259"/>
              </a:xfrm>
              <a:prstGeom prst="rect">
                <a:avLst/>
              </a:prstGeom>
              <a:noFill/>
            </p:spPr>
            <p:txBody>
              <a:bodyPr wrap="square">
                <a:spAutoFit/>
              </a:bodyPr>
              <a:lstStyle/>
              <a:p>
                <a:pPr indent="269875" algn="just">
                  <a:lnSpc>
                    <a:spcPts val="1595"/>
                  </a:lnSpc>
                </a:pPr>
                <a:r>
                  <a:rPr lang="zh-CN" altLang="zh-CN" sz="2400" b="1" kern="1000" dirty="0">
                    <a:effectLst/>
                    <a:latin typeface="Times New Roman" panose="02020603050405020304" pitchFamily="18" charset="0"/>
                    <a:ea typeface="宋体" panose="02010600030101010101" pitchFamily="2" charset="-122"/>
                  </a:rPr>
                  <a:t>为了简化神经网络的表达式，引入</a:t>
                </a:r>
                <a:r>
                  <a:rPr lang="en-US" altLang="zh-CN" sz="2400" b="1" kern="1000" dirty="0">
                    <a:effectLst/>
                    <a:latin typeface="Times New Roman" panose="02020603050405020304" pitchFamily="18" charset="0"/>
                    <a:ea typeface="宋体" panose="02010600030101010101" pitchFamily="2" charset="-122"/>
                  </a:rPr>
                  <a:t>GL</a:t>
                </a:r>
                <a:r>
                  <a:rPr lang="zh-CN" altLang="zh-CN" sz="2400" b="1" kern="1000" dirty="0">
                    <a:effectLst/>
                    <a:latin typeface="Times New Roman" panose="02020603050405020304" pitchFamily="18" charset="0"/>
                    <a:ea typeface="宋体" panose="02010600030101010101" pitchFamily="2" charset="-122"/>
                  </a:rPr>
                  <a:t>乘积算子，令</a:t>
                </a:r>
              </a:p>
              <a:p>
                <a:pPr algn="just">
                  <a:spcBef>
                    <a:spcPts val="600"/>
                  </a:spcBef>
                  <a:spcAft>
                    <a:spcPts val="600"/>
                  </a:spcAft>
                  <a:tabLst>
                    <a:tab pos="5364480" algn="r"/>
                  </a:tabLst>
                </a:pPr>
                <a:r>
                  <a:rPr lang="en-US" altLang="zh-CN" sz="2000" b="1" kern="1050" dirty="0">
                    <a:effectLst/>
                    <a:latin typeface="Times New Roman" panose="02020603050405020304" pitchFamily="18" charset="0"/>
                    <a:ea typeface="宋体" panose="02010600030101010101" pitchFamily="2" charset="-122"/>
                  </a:rPr>
                  <a:t>	</a:t>
                </a:r>
                <a14:m>
                  <m:oMath xmlns:m="http://schemas.openxmlformats.org/officeDocument/2006/math">
                    <m:r>
                      <a:rPr lang="en-US" altLang="zh-CN" sz="2000" b="1" i="1" kern="1050" smtClean="0">
                        <a:effectLst/>
                        <a:latin typeface="Cambria Math" panose="02040503050406030204" pitchFamily="18" charset="0"/>
                        <a:ea typeface="宋体" panose="02010600030101010101" pitchFamily="2" charset="-122"/>
                      </a:rPr>
                      <m:t>𝜣</m:t>
                    </m:r>
                    <m:r>
                      <a:rPr lang="en-US" altLang="zh-CN" sz="2000" b="1" i="1" kern="1050" smtClean="0">
                        <a:effectLst/>
                        <a:latin typeface="Cambria Math" panose="02040503050406030204" pitchFamily="18" charset="0"/>
                        <a:ea typeface="宋体" panose="02010600030101010101" pitchFamily="2" charset="-122"/>
                      </a:rPr>
                      <m:t>=</m:t>
                    </m:r>
                    <m:d>
                      <m:dPr>
                        <m:begChr m:val="["/>
                        <m:endChr m:val="]"/>
                        <m:ctrlPr>
                          <a:rPr lang="zh-CN" altLang="zh-CN" sz="2000" b="1" i="1" kern="1050">
                            <a:effectLst/>
                            <a:latin typeface="Cambria Math" panose="02040503050406030204" pitchFamily="18" charset="0"/>
                            <a:ea typeface="Cambria Math" panose="02040503050406030204" pitchFamily="18" charset="0"/>
                          </a:rPr>
                        </m:ctrlPr>
                      </m:dPr>
                      <m:e>
                        <m:m>
                          <m:mPr>
                            <m:mcs>
                              <m:mc>
                                <m:mcPr>
                                  <m:count m:val="4"/>
                                  <m:mcJc m:val="center"/>
                                </m:mcPr>
                              </m:mc>
                            </m:mcs>
                            <m:ctrlPr>
                              <a:rPr lang="zh-CN" altLang="zh-CN" sz="2000" b="1" i="1" kern="1050">
                                <a:effectLst/>
                                <a:latin typeface="Cambria Math" panose="02040503050406030204" pitchFamily="18" charset="0"/>
                                <a:ea typeface="Cambria Math" panose="02040503050406030204" pitchFamily="18" charset="0"/>
                              </a:rPr>
                            </m:ctrlPr>
                          </m:mPr>
                          <m:m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𝜽</m:t>
                                  </m:r>
                                </m:e>
                                <m:sub>
                                  <m:r>
                                    <a:rPr lang="en-US" altLang="zh-CN" sz="2000" b="1" i="1" kern="1050" smtClean="0">
                                      <a:effectLst/>
                                      <a:latin typeface="Cambria Math" panose="02040503050406030204" pitchFamily="18" charset="0"/>
                                      <a:ea typeface="宋体" panose="02010600030101010101" pitchFamily="2" charset="-122"/>
                                    </a:rPr>
                                    <m:t>𝟏𝟏</m:t>
                                  </m:r>
                                </m:sub>
                              </m:sSub>
                            </m:e>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𝜽</m:t>
                                  </m:r>
                                </m:e>
                                <m:sub>
                                  <m:r>
                                    <a:rPr lang="en-US" altLang="zh-CN" sz="2000" b="1" i="1" kern="1050" smtClean="0">
                                      <a:effectLst/>
                                      <a:latin typeface="Cambria Math" panose="02040503050406030204" pitchFamily="18" charset="0"/>
                                      <a:ea typeface="宋体" panose="02010600030101010101" pitchFamily="2" charset="-122"/>
                                    </a:rPr>
                                    <m:t>𝟏𝟐</m:t>
                                  </m:r>
                                </m:sub>
                              </m:sSub>
                            </m:e>
                            <m:e>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e>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𝜽</m:t>
                                  </m:r>
                                </m:e>
                                <m:sub>
                                  <m:r>
                                    <a:rPr lang="en-US" altLang="zh-CN" sz="2000" b="1" i="1" kern="1050" smtClean="0">
                                      <a:effectLst/>
                                      <a:latin typeface="Cambria Math" panose="02040503050406030204" pitchFamily="18" charset="0"/>
                                      <a:ea typeface="宋体" panose="02010600030101010101" pitchFamily="2" charset="-122"/>
                                    </a:rPr>
                                    <m:t>𝟏</m:t>
                                  </m:r>
                                  <m:r>
                                    <a:rPr lang="en-US" altLang="zh-CN" sz="2000" b="1" i="1" kern="1050" smtClean="0">
                                      <a:effectLst/>
                                      <a:latin typeface="Cambria Math" panose="02040503050406030204" pitchFamily="18" charset="0"/>
                                      <a:ea typeface="宋体" panose="02010600030101010101" pitchFamily="2" charset="-122"/>
                                    </a:rPr>
                                    <m:t>𝒏</m:t>
                                  </m:r>
                                </m:sub>
                              </m:sSub>
                            </m:e>
                          </m:mr>
                          <m:m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𝜽</m:t>
                                  </m:r>
                                </m:e>
                                <m:sub>
                                  <m:r>
                                    <a:rPr lang="en-US" altLang="zh-CN" sz="2000" b="1" i="1" kern="1050" smtClean="0">
                                      <a:effectLst/>
                                      <a:latin typeface="Cambria Math" panose="02040503050406030204" pitchFamily="18" charset="0"/>
                                      <a:ea typeface="宋体" panose="02010600030101010101" pitchFamily="2" charset="-122"/>
                                    </a:rPr>
                                    <m:t>𝟐𝟏</m:t>
                                  </m:r>
                                </m:sub>
                              </m:sSub>
                            </m:e>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𝜽</m:t>
                                  </m:r>
                                </m:e>
                                <m:sub>
                                  <m:r>
                                    <a:rPr lang="en-US" altLang="zh-CN" sz="2000" b="1" i="1" kern="1050" smtClean="0">
                                      <a:effectLst/>
                                      <a:latin typeface="Cambria Math" panose="02040503050406030204" pitchFamily="18" charset="0"/>
                                      <a:ea typeface="宋体" panose="02010600030101010101" pitchFamily="2" charset="-122"/>
                                    </a:rPr>
                                    <m:t>𝟐𝟐</m:t>
                                  </m:r>
                                </m:sub>
                              </m:sSub>
                            </m:e>
                            <m:e>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e>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𝜽</m:t>
                                  </m:r>
                                </m:e>
                                <m:sub>
                                  <m:r>
                                    <a:rPr lang="en-US" altLang="zh-CN" sz="2000" b="1" i="1" kern="1050" smtClean="0">
                                      <a:effectLst/>
                                      <a:latin typeface="Cambria Math" panose="02040503050406030204" pitchFamily="18" charset="0"/>
                                      <a:ea typeface="宋体" panose="02010600030101010101" pitchFamily="2" charset="-122"/>
                                    </a:rPr>
                                    <m:t>𝟐</m:t>
                                  </m:r>
                                  <m:r>
                                    <a:rPr lang="en-US" altLang="zh-CN" sz="2000" b="1" i="1" kern="1050" smtClean="0">
                                      <a:effectLst/>
                                      <a:latin typeface="Cambria Math" panose="02040503050406030204" pitchFamily="18" charset="0"/>
                                      <a:ea typeface="宋体" panose="02010600030101010101" pitchFamily="2" charset="-122"/>
                                    </a:rPr>
                                    <m:t>𝒏</m:t>
                                  </m:r>
                                </m:sub>
                              </m:sSub>
                            </m:e>
                          </m:mr>
                          <m:mr>
                            <m:e>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e>
                            <m:e>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e>
                            <m:e>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e>
                            <m:e>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e>
                          </m:mr>
                          <m:m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𝜽</m:t>
                                  </m:r>
                                </m:e>
                                <m:sub>
                                  <m:r>
                                    <a:rPr lang="en-US" altLang="zh-CN" sz="2000" b="1" i="1" kern="1050" smtClean="0">
                                      <a:effectLst/>
                                      <a:latin typeface="Cambria Math" panose="02040503050406030204" pitchFamily="18" charset="0"/>
                                      <a:ea typeface="宋体" panose="02010600030101010101" pitchFamily="2" charset="-122"/>
                                    </a:rPr>
                                    <m:t>𝒏</m:t>
                                  </m:r>
                                  <m:r>
                                    <a:rPr lang="en-US" altLang="zh-CN" sz="2000" b="1" i="1" kern="1050" smtClean="0">
                                      <a:effectLst/>
                                      <a:latin typeface="Cambria Math" panose="02040503050406030204" pitchFamily="18" charset="0"/>
                                      <a:ea typeface="宋体" panose="02010600030101010101" pitchFamily="2" charset="-122"/>
                                    </a:rPr>
                                    <m:t>𝟏</m:t>
                                  </m:r>
                                </m:sub>
                              </m:sSub>
                            </m:e>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𝒏</m:t>
                                  </m:r>
                                  <m:r>
                                    <a:rPr lang="en-US" altLang="zh-CN" sz="2000" b="1" i="1" kern="1050" smtClean="0">
                                      <a:effectLst/>
                                      <a:latin typeface="Cambria Math" panose="02040503050406030204" pitchFamily="18" charset="0"/>
                                      <a:ea typeface="宋体" panose="02010600030101010101" pitchFamily="2" charset="-122"/>
                                    </a:rPr>
                                    <m:t>𝟐</m:t>
                                  </m:r>
                                </m:sub>
                              </m:sSub>
                            </m:e>
                            <m:e>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e>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𝒏𝒏</m:t>
                                  </m:r>
                                </m:sub>
                              </m:sSub>
                            </m:e>
                          </m:mr>
                        </m:m>
                      </m:e>
                    </m:d>
                    <m:r>
                      <a:rPr lang="en-US" altLang="zh-CN" sz="2000" b="1" i="1" kern="1050" smtClean="0">
                        <a:effectLst/>
                        <a:latin typeface="Cambria Math" panose="02040503050406030204" pitchFamily="18" charset="0"/>
                        <a:ea typeface="宋体" panose="02010600030101010101" pitchFamily="2" charset="-122"/>
                      </a:rPr>
                      <m:t>=</m:t>
                    </m:r>
                    <m:d>
                      <m:dPr>
                        <m:begChr m:val="["/>
                        <m:endChr m:val="]"/>
                        <m:ctrlPr>
                          <a:rPr lang="zh-CN" altLang="zh-CN" sz="2000" b="1" i="1" kern="1050">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sz="2000" b="1" i="1" kern="1050">
                                <a:effectLst/>
                                <a:latin typeface="Cambria Math" panose="02040503050406030204" pitchFamily="18" charset="0"/>
                                <a:ea typeface="Cambria Math" panose="02040503050406030204" pitchFamily="18" charset="0"/>
                              </a:rPr>
                            </m:ctrlPr>
                          </m:mPr>
                          <m:m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𝜽</m:t>
                                  </m:r>
                                </m:e>
                                <m:sub>
                                  <m:r>
                                    <a:rPr lang="en-US" altLang="zh-CN" sz="2000" b="1" i="1" kern="1050" smtClean="0">
                                      <a:effectLst/>
                                      <a:latin typeface="Cambria Math" panose="02040503050406030204" pitchFamily="18" charset="0"/>
                                      <a:ea typeface="宋体" panose="02010600030101010101" pitchFamily="2" charset="-122"/>
                                    </a:rPr>
                                    <m:t>𝟏</m:t>
                                  </m:r>
                                </m:sub>
                              </m:sSub>
                            </m:e>
                          </m:mr>
                          <m:m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𝜽</m:t>
                                  </m:r>
                                </m:e>
                                <m:sub>
                                  <m:r>
                                    <a:rPr lang="en-US" altLang="zh-CN" sz="2000" b="1" i="1" kern="1050" smtClean="0">
                                      <a:effectLst/>
                                      <a:latin typeface="Cambria Math" panose="02040503050406030204" pitchFamily="18" charset="0"/>
                                      <a:ea typeface="宋体" panose="02010600030101010101" pitchFamily="2" charset="-122"/>
                                    </a:rPr>
                                    <m:t>𝟐</m:t>
                                  </m:r>
                                </m:sub>
                              </m:sSub>
                            </m:e>
                          </m:mr>
                          <m:mr>
                            <m:e>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e>
                          </m:mr>
                          <m:m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𝜽</m:t>
                                  </m:r>
                                </m:e>
                                <m:sub>
                                  <m:r>
                                    <a:rPr lang="en-US" altLang="zh-CN" sz="2000" b="1" i="1" kern="1050" smtClean="0">
                                      <a:effectLst/>
                                      <a:latin typeface="Cambria Math" panose="02040503050406030204" pitchFamily="18" charset="0"/>
                                      <a:ea typeface="宋体" panose="02010600030101010101" pitchFamily="2" charset="-122"/>
                                    </a:rPr>
                                    <m:t>𝒏</m:t>
                                  </m:r>
                                </m:sub>
                              </m:sSub>
                            </m:e>
                          </m:mr>
                        </m:m>
                      </m:e>
                    </m:d>
                  </m:oMath>
                </a14:m>
                <a:r>
                  <a:rPr lang="en-US" altLang="zh-CN" sz="2000" b="1" kern="1050" dirty="0">
                    <a:effectLst/>
                    <a:latin typeface="Times New Roman" panose="02020603050405020304" pitchFamily="18" charset="0"/>
                    <a:ea typeface="宋体" panose="02010600030101010101" pitchFamily="2" charset="-122"/>
                  </a:rPr>
                  <a:t>	               </a:t>
                </a:r>
                <a:r>
                  <a:rPr lang="en-US" altLang="zh-CN" sz="2000" b="1" kern="1050" dirty="0">
                    <a:effectLst/>
                    <a:latin typeface="宋体" panose="02010600030101010101" pitchFamily="2" charset="-122"/>
                    <a:ea typeface="宋体" panose="02010600030101010101" pitchFamily="2" charset="-122"/>
                  </a:rPr>
                  <a:t>(</a:t>
                </a:r>
                <a:r>
                  <a:rPr lang="en-US" altLang="zh-CN" sz="2000" b="1" kern="1050" dirty="0">
                    <a:effectLst/>
                    <a:latin typeface="Times New Roman" panose="02020603050405020304" pitchFamily="18" charset="0"/>
                    <a:ea typeface="宋体" panose="02010600030101010101" pitchFamily="2" charset="-122"/>
                  </a:rPr>
                  <a:t>7.108</a:t>
                </a:r>
                <a:r>
                  <a:rPr lang="en-US" altLang="zh-CN" sz="2000" b="1" kern="1050" dirty="0">
                    <a:effectLst/>
                    <a:latin typeface="宋体" panose="02010600030101010101" pitchFamily="2" charset="-122"/>
                    <a:ea typeface="宋体" panose="02010600030101010101" pitchFamily="2" charset="-122"/>
                  </a:rPr>
                  <a:t>)</a:t>
                </a:r>
                <a:endParaRPr lang="zh-CN" altLang="zh-CN" sz="2000" b="1" kern="1050" dirty="0">
                  <a:effectLst/>
                  <a:latin typeface="Times New Roman" panose="02020603050405020304" pitchFamily="18" charset="0"/>
                  <a:ea typeface="宋体" panose="02010600030101010101" pitchFamily="2" charset="-122"/>
                </a:endParaRPr>
              </a:p>
              <a:p>
                <a:pPr algn="just">
                  <a:spcBef>
                    <a:spcPts val="400"/>
                  </a:spcBef>
                  <a:spcAft>
                    <a:spcPts val="400"/>
                  </a:spcAft>
                  <a:tabLst>
                    <a:tab pos="5364480" algn="r"/>
                  </a:tabLst>
                </a:pPr>
                <a:r>
                  <a:rPr lang="en-US" altLang="zh-CN" sz="2000" b="1" kern="1050" dirty="0">
                    <a:effectLst/>
                    <a:latin typeface="Times New Roman" panose="02020603050405020304" pitchFamily="18" charset="0"/>
                    <a:ea typeface="宋体" panose="02010600030101010101" pitchFamily="2" charset="-122"/>
                  </a:rPr>
                  <a:t>	</a:t>
                </a:r>
                <a14:m>
                  <m:oMath xmlns:m="http://schemas.openxmlformats.org/officeDocument/2006/math">
                    <m:r>
                      <a:rPr lang="en-US" altLang="zh-CN" sz="2000" b="1" i="1" kern="1050" smtClean="0">
                        <a:effectLst/>
                        <a:latin typeface="Cambria Math" panose="02040503050406030204" pitchFamily="18" charset="0"/>
                        <a:ea typeface="宋体" panose="02010600030101010101" pitchFamily="2" charset="-122"/>
                      </a:rPr>
                      <m:t>𝜩</m:t>
                    </m:r>
                    <m:r>
                      <a:rPr lang="en-US" altLang="zh-CN" sz="2000" b="1" i="1" kern="1050" smtClean="0">
                        <a:effectLst/>
                        <a:latin typeface="Cambria Math" panose="02040503050406030204" pitchFamily="18" charset="0"/>
                        <a:ea typeface="宋体" panose="02010600030101010101" pitchFamily="2" charset="-122"/>
                      </a:rPr>
                      <m:t>=</m:t>
                    </m:r>
                    <m:d>
                      <m:dPr>
                        <m:begChr m:val="["/>
                        <m:endChr m:val="]"/>
                        <m:ctrlPr>
                          <a:rPr lang="zh-CN" altLang="zh-CN" sz="2000" b="1" i="1" kern="1050">
                            <a:effectLst/>
                            <a:latin typeface="Cambria Math" panose="02040503050406030204" pitchFamily="18" charset="0"/>
                            <a:ea typeface="Cambria Math" panose="02040503050406030204" pitchFamily="18" charset="0"/>
                          </a:rPr>
                        </m:ctrlPr>
                      </m:dPr>
                      <m:e>
                        <m:m>
                          <m:mPr>
                            <m:mcs>
                              <m:mc>
                                <m:mcPr>
                                  <m:count m:val="4"/>
                                  <m:mcJc m:val="center"/>
                                </m:mcPr>
                              </m:mc>
                            </m:mcs>
                            <m:ctrlPr>
                              <a:rPr lang="zh-CN" altLang="zh-CN" sz="2000" b="1" i="1" kern="1050">
                                <a:effectLst/>
                                <a:latin typeface="Cambria Math" panose="02040503050406030204" pitchFamily="18" charset="0"/>
                                <a:ea typeface="Cambria Math" panose="02040503050406030204" pitchFamily="18" charset="0"/>
                              </a:rPr>
                            </m:ctrlPr>
                          </m:mPr>
                          <m:m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𝟏𝟏</m:t>
                                  </m:r>
                                </m:sub>
                              </m:sSub>
                            </m:e>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𝟏𝟐</m:t>
                                  </m:r>
                                </m:sub>
                              </m:sSub>
                            </m:e>
                            <m:e>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e>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𝟏</m:t>
                                  </m:r>
                                  <m:r>
                                    <a:rPr lang="en-US" altLang="zh-CN" sz="2000" b="1" i="1" kern="1050" smtClean="0">
                                      <a:effectLst/>
                                      <a:latin typeface="Cambria Math" panose="02040503050406030204" pitchFamily="18" charset="0"/>
                                      <a:ea typeface="宋体" panose="02010600030101010101" pitchFamily="2" charset="-122"/>
                                    </a:rPr>
                                    <m:t>𝒏</m:t>
                                  </m:r>
                                </m:sub>
                              </m:sSub>
                            </m:e>
                          </m:mr>
                          <m:m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𝟐𝟏</m:t>
                                  </m:r>
                                </m:sub>
                              </m:sSub>
                            </m:e>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𝟐𝟐</m:t>
                                  </m:r>
                                </m:sub>
                              </m:sSub>
                            </m:e>
                            <m:e>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e>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𝟐</m:t>
                                  </m:r>
                                  <m:r>
                                    <a:rPr lang="en-US" altLang="zh-CN" sz="2000" b="1" i="1" kern="1050" smtClean="0">
                                      <a:effectLst/>
                                      <a:latin typeface="Cambria Math" panose="02040503050406030204" pitchFamily="18" charset="0"/>
                                      <a:ea typeface="宋体" panose="02010600030101010101" pitchFamily="2" charset="-122"/>
                                    </a:rPr>
                                    <m:t>𝒏</m:t>
                                  </m:r>
                                </m:sub>
                              </m:sSub>
                            </m:e>
                          </m:mr>
                          <m:mr>
                            <m:e>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e>
                            <m:e>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e>
                            <m:e>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e>
                            <m:e>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e>
                          </m:mr>
                          <m:m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𝒏</m:t>
                                  </m:r>
                                  <m:r>
                                    <a:rPr lang="en-US" altLang="zh-CN" sz="2000" b="1" i="1" kern="1050" smtClean="0">
                                      <a:effectLst/>
                                      <a:latin typeface="Cambria Math" panose="02040503050406030204" pitchFamily="18" charset="0"/>
                                      <a:ea typeface="宋体" panose="02010600030101010101" pitchFamily="2" charset="-122"/>
                                    </a:rPr>
                                    <m:t>𝟏</m:t>
                                  </m:r>
                                </m:sub>
                              </m:sSub>
                            </m:e>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𝒏</m:t>
                                  </m:r>
                                  <m:r>
                                    <a:rPr lang="en-US" altLang="zh-CN" sz="2000" b="1" i="1" kern="1050" smtClean="0">
                                      <a:effectLst/>
                                      <a:latin typeface="Cambria Math" panose="02040503050406030204" pitchFamily="18" charset="0"/>
                                      <a:ea typeface="宋体" panose="02010600030101010101" pitchFamily="2" charset="-122"/>
                                    </a:rPr>
                                    <m:t>𝟐</m:t>
                                  </m:r>
                                </m:sub>
                              </m:sSub>
                            </m:e>
                            <m:e>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e>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𝒏𝒏</m:t>
                                  </m:r>
                                </m:sub>
                              </m:sSub>
                            </m:e>
                          </m:mr>
                        </m:m>
                      </m:e>
                    </m:d>
                    <m:r>
                      <a:rPr lang="en-US" altLang="zh-CN" sz="2000" b="1" i="1" kern="1050" smtClean="0">
                        <a:effectLst/>
                        <a:latin typeface="Cambria Math" panose="02040503050406030204" pitchFamily="18" charset="0"/>
                        <a:ea typeface="宋体" panose="02010600030101010101" pitchFamily="2" charset="-122"/>
                      </a:rPr>
                      <m:t>=</m:t>
                    </m:r>
                    <m:d>
                      <m:dPr>
                        <m:begChr m:val="["/>
                        <m:endChr m:val="]"/>
                        <m:ctrlPr>
                          <a:rPr lang="zh-CN" altLang="zh-CN" sz="2000" b="1" i="1" kern="1050">
                            <a:effectLst/>
                            <a:latin typeface="Cambria Math" panose="02040503050406030204" pitchFamily="18" charset="0"/>
                            <a:ea typeface="Cambria Math" panose="02040503050406030204" pitchFamily="18" charset="0"/>
                          </a:rPr>
                        </m:ctrlPr>
                      </m:dPr>
                      <m:e>
                        <m:m>
                          <m:mPr>
                            <m:mcs>
                              <m:mc>
                                <m:mcPr>
                                  <m:count m:val="1"/>
                                  <m:mcJc m:val="center"/>
                                </m:mcPr>
                              </m:mc>
                            </m:mcs>
                            <m:ctrlPr>
                              <a:rPr lang="zh-CN" altLang="zh-CN" sz="2000" b="1" i="1" kern="1050">
                                <a:effectLst/>
                                <a:latin typeface="Cambria Math" panose="02040503050406030204" pitchFamily="18" charset="0"/>
                                <a:ea typeface="Cambria Math" panose="02040503050406030204" pitchFamily="18" charset="0"/>
                              </a:rPr>
                            </m:ctrlPr>
                          </m:mPr>
                          <m:m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𝟏</m:t>
                                  </m:r>
                                </m:sub>
                              </m:sSub>
                            </m:e>
                          </m:mr>
                          <m:m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𝟐</m:t>
                                  </m:r>
                                </m:sub>
                              </m:sSub>
                            </m:e>
                          </m:mr>
                          <m:mr>
                            <m:e>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e>
                          </m:mr>
                          <m:m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𝒏</m:t>
                                  </m:r>
                                </m:sub>
                              </m:sSub>
                            </m:e>
                          </m:mr>
                        </m:m>
                      </m:e>
                    </m:d>
                  </m:oMath>
                </a14:m>
                <a:r>
                  <a:rPr lang="en-US" altLang="zh-CN" sz="2000" b="1" kern="1050" dirty="0">
                    <a:effectLst/>
                    <a:latin typeface="Times New Roman" panose="02020603050405020304" pitchFamily="18" charset="0"/>
                    <a:ea typeface="宋体" panose="02010600030101010101" pitchFamily="2" charset="-122"/>
                  </a:rPr>
                  <a:t>	               </a:t>
                </a:r>
                <a:r>
                  <a:rPr lang="en-US" altLang="zh-CN" sz="2000" b="1" kern="1050" dirty="0">
                    <a:effectLst/>
                    <a:latin typeface="宋体" panose="02010600030101010101" pitchFamily="2" charset="-122"/>
                    <a:ea typeface="宋体" panose="02010600030101010101" pitchFamily="2" charset="-122"/>
                  </a:rPr>
                  <a:t>(</a:t>
                </a:r>
                <a:r>
                  <a:rPr lang="en-US" altLang="zh-CN" sz="2000" b="1" kern="1050" dirty="0">
                    <a:effectLst/>
                    <a:latin typeface="Times New Roman" panose="02020603050405020304" pitchFamily="18" charset="0"/>
                    <a:ea typeface="宋体" panose="02010600030101010101" pitchFamily="2" charset="-122"/>
                  </a:rPr>
                  <a:t>7.109</a:t>
                </a:r>
                <a:r>
                  <a:rPr lang="en-US" altLang="zh-CN" sz="2000" b="1" kern="1050" dirty="0">
                    <a:effectLst/>
                    <a:latin typeface="宋体" panose="02010600030101010101" pitchFamily="2" charset="-122"/>
                    <a:ea typeface="宋体" panose="02010600030101010101" pitchFamily="2" charset="-122"/>
                  </a:rPr>
                  <a:t>)</a:t>
                </a:r>
                <a:endParaRPr lang="zh-CN" altLang="zh-CN" sz="2000" b="1" kern="1050" dirty="0">
                  <a:effectLst/>
                  <a:latin typeface="Times New Roman" panose="02020603050405020304" pitchFamily="18" charset="0"/>
                  <a:ea typeface="宋体" panose="02010600030101010101" pitchFamily="2" charset="-122"/>
                </a:endParaRPr>
              </a:p>
              <a:p>
                <a:pPr algn="just">
                  <a:spcBef>
                    <a:spcPts val="400"/>
                  </a:spcBef>
                  <a:spcAft>
                    <a:spcPts val="400"/>
                  </a:spcAft>
                  <a:tabLst>
                    <a:tab pos="5364480" algn="r"/>
                  </a:tabLst>
                </a:pPr>
                <a:r>
                  <a:rPr lang="en-US" altLang="zh-CN" sz="2000" b="1" kern="1050" dirty="0">
                    <a:effectLst/>
                    <a:latin typeface="Times New Roman" panose="02020603050405020304" pitchFamily="18" charset="0"/>
                    <a:ea typeface="宋体" panose="02010600030101010101" pitchFamily="2"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𝜞</m:t>
                        </m:r>
                      </m:e>
                      <m:sub>
                        <m:r>
                          <a:rPr lang="en-US" altLang="zh-CN" sz="2000" b="1" i="1" kern="1050" smtClean="0">
                            <a:effectLst/>
                            <a:latin typeface="Cambria Math" panose="02040503050406030204" pitchFamily="18" charset="0"/>
                            <a:ea typeface="宋体" panose="02010600030101010101" pitchFamily="2" charset="-122"/>
                          </a:rPr>
                          <m:t>𝒊</m:t>
                        </m:r>
                      </m:sub>
                    </m:sSub>
                    <m:r>
                      <a:rPr lang="en-US" altLang="zh-CN" sz="2000" b="1" i="1" kern="1050" smtClean="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smtClean="0">
                            <a:effectLst/>
                            <a:latin typeface="Cambria Math" panose="02040503050406030204" pitchFamily="18" charset="0"/>
                            <a:ea typeface="宋体" panose="02010600030101010101" pitchFamily="2" charset="-122"/>
                          </a:rPr>
                          <m:t>𝜞</m:t>
                        </m:r>
                      </m:e>
                      <m:sub>
                        <m:r>
                          <a:rPr lang="en-US" altLang="zh-CN" sz="2000" b="1" i="1" kern="1050" smtClean="0">
                            <a:effectLst/>
                            <a:latin typeface="Cambria Math" panose="02040503050406030204" pitchFamily="18" charset="0"/>
                            <a:ea typeface="宋体" panose="02010600030101010101" pitchFamily="2" charset="-122"/>
                          </a:rPr>
                          <m:t>𝒊</m:t>
                        </m:r>
                      </m:sub>
                      <m:sup>
                        <m:r>
                          <a:rPr lang="en-US" altLang="zh-CN" sz="2000" b="1" i="1" kern="1050" smtClean="0">
                            <a:effectLst/>
                            <a:latin typeface="Cambria Math" panose="02040503050406030204" pitchFamily="18" charset="0"/>
                            <a:ea typeface="宋体" panose="02010600030101010101" pitchFamily="2" charset="-122"/>
                          </a:rPr>
                          <m:t>𝑻</m:t>
                        </m:r>
                      </m:sup>
                    </m:sSubSup>
                    <m:r>
                      <a:rPr lang="en-US" altLang="zh-CN" sz="2000" b="1" i="1" kern="1050" smtClean="0">
                        <a:effectLst/>
                        <a:latin typeface="Cambria Math" panose="02040503050406030204" pitchFamily="18" charset="0"/>
                        <a:ea typeface="宋体" panose="02010600030101010101" pitchFamily="2" charset="-122"/>
                      </a:rPr>
                      <m:t>=[</m:t>
                    </m:r>
                    <m:m>
                      <m:mPr>
                        <m:mcs>
                          <m:mc>
                            <m:mcPr>
                              <m:count m:val="4"/>
                              <m:mcJc m:val="center"/>
                            </m:mcPr>
                          </m:mc>
                        </m:mcs>
                        <m:ctrlPr>
                          <a:rPr lang="zh-CN" altLang="zh-CN" sz="2000" b="1" i="1" kern="1050">
                            <a:effectLst/>
                            <a:latin typeface="Cambria Math" panose="02040503050406030204" pitchFamily="18" charset="0"/>
                            <a:ea typeface="Cambria Math" panose="02040503050406030204" pitchFamily="18" charset="0"/>
                          </a:rPr>
                        </m:ctrlPr>
                      </m:mPr>
                      <m:m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𝜸</m:t>
                              </m:r>
                            </m:e>
                            <m:sub>
                              <m:r>
                                <a:rPr lang="en-US" altLang="zh-CN" sz="2000" b="1" i="1" kern="1050" smtClean="0">
                                  <a:effectLst/>
                                  <a:latin typeface="Cambria Math" panose="02040503050406030204" pitchFamily="18" charset="0"/>
                                  <a:ea typeface="宋体" panose="02010600030101010101" pitchFamily="2" charset="-122"/>
                                </a:rPr>
                                <m:t>𝒊</m:t>
                              </m:r>
                              <m:r>
                                <a:rPr lang="en-US" altLang="zh-CN" sz="2000" b="1" i="1" kern="1050" smtClean="0">
                                  <a:effectLst/>
                                  <a:latin typeface="Cambria Math" panose="02040503050406030204" pitchFamily="18" charset="0"/>
                                  <a:ea typeface="宋体" panose="02010600030101010101" pitchFamily="2" charset="-122"/>
                                </a:rPr>
                                <m:t>𝟏</m:t>
                              </m:r>
                            </m:sub>
                          </m:sSub>
                        </m:e>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𝜸</m:t>
                              </m:r>
                            </m:e>
                            <m:sub>
                              <m:r>
                                <a:rPr lang="en-US" altLang="zh-CN" sz="2000" b="1" i="1" kern="1050" smtClean="0">
                                  <a:effectLst/>
                                  <a:latin typeface="Cambria Math" panose="02040503050406030204" pitchFamily="18" charset="0"/>
                                  <a:ea typeface="宋体" panose="02010600030101010101" pitchFamily="2" charset="-122"/>
                                </a:rPr>
                                <m:t>𝒊</m:t>
                              </m:r>
                              <m:r>
                                <a:rPr lang="en-US" altLang="zh-CN" sz="2000" b="1" i="1" kern="1050" smtClean="0">
                                  <a:effectLst/>
                                  <a:latin typeface="Cambria Math" panose="02040503050406030204" pitchFamily="18" charset="0"/>
                                  <a:ea typeface="宋体" panose="02010600030101010101" pitchFamily="2" charset="-122"/>
                                </a:rPr>
                                <m:t>𝟐</m:t>
                              </m:r>
                            </m:sub>
                          </m:sSub>
                        </m:e>
                        <m:e>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e>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𝜸</m:t>
                              </m:r>
                            </m:e>
                            <m:sub>
                              <m:r>
                                <a:rPr lang="en-US" altLang="zh-CN" sz="2000" b="1" i="1" kern="1050" smtClean="0">
                                  <a:effectLst/>
                                  <a:latin typeface="Cambria Math" panose="02040503050406030204" pitchFamily="18" charset="0"/>
                                  <a:ea typeface="宋体" panose="02010600030101010101" pitchFamily="2" charset="-122"/>
                                </a:rPr>
                                <m:t>𝒊𝒏</m:t>
                              </m:r>
                            </m:sub>
                          </m:sSub>
                        </m:e>
                      </m:mr>
                    </m:m>
                    <m:r>
                      <a:rPr lang="en-US" altLang="zh-CN" sz="2000" b="1" i="1" kern="1050" smtClean="0">
                        <a:effectLst/>
                        <a:latin typeface="Cambria Math" panose="02040503050406030204" pitchFamily="18" charset="0"/>
                        <a:ea typeface="宋体" panose="02010600030101010101" pitchFamily="2" charset="-122"/>
                      </a:rPr>
                      <m:t>]</m:t>
                    </m:r>
                  </m:oMath>
                </a14:m>
                <a:r>
                  <a:rPr lang="en-US" altLang="zh-CN" sz="2000" b="1" kern="1050" dirty="0">
                    <a:effectLst/>
                    <a:latin typeface="Times New Roman" panose="02020603050405020304" pitchFamily="18" charset="0"/>
                    <a:ea typeface="宋体" panose="02010600030101010101" pitchFamily="2" charset="-122"/>
                  </a:rPr>
                  <a:t>	               </a:t>
                </a:r>
                <a:r>
                  <a:rPr lang="en-US" altLang="zh-CN" sz="2000" b="1" kern="1050" dirty="0">
                    <a:effectLst/>
                    <a:latin typeface="宋体" panose="02010600030101010101" pitchFamily="2" charset="-122"/>
                    <a:ea typeface="宋体" panose="02010600030101010101" pitchFamily="2" charset="-122"/>
                  </a:rPr>
                  <a:t>(</a:t>
                </a:r>
                <a:r>
                  <a:rPr lang="en-US" altLang="zh-CN" sz="2000" b="1" kern="1050" dirty="0">
                    <a:effectLst/>
                    <a:latin typeface="Times New Roman" panose="02020603050405020304" pitchFamily="18" charset="0"/>
                    <a:ea typeface="宋体" panose="02010600030101010101" pitchFamily="2" charset="-122"/>
                  </a:rPr>
                  <a:t>7.110</a:t>
                </a:r>
                <a:r>
                  <a:rPr lang="en-US" altLang="zh-CN" sz="2000" b="1" kern="1050" dirty="0">
                    <a:effectLst/>
                    <a:latin typeface="宋体" panose="02010600030101010101" pitchFamily="2" charset="-122"/>
                    <a:ea typeface="宋体" panose="02010600030101010101" pitchFamily="2" charset="-122"/>
                  </a:rPr>
                  <a:t>)</a:t>
                </a:r>
                <a:endParaRPr lang="zh-CN" altLang="zh-CN" sz="2000" b="1" kern="1050" dirty="0">
                  <a:effectLst/>
                  <a:latin typeface="Times New Roman" panose="02020603050405020304" pitchFamily="18" charset="0"/>
                  <a:ea typeface="宋体" panose="02010600030101010101" pitchFamily="2" charset="-122"/>
                </a:endParaRPr>
              </a:p>
              <a:p>
                <a:pPr algn="just"/>
                <a:r>
                  <a:rPr lang="zh-CN" altLang="zh-CN" sz="2400" b="1" kern="1000" dirty="0">
                    <a:effectLst/>
                    <a:latin typeface="Times New Roman" panose="02020603050405020304" pitchFamily="18" charset="0"/>
                    <a:ea typeface="宋体" panose="02010600030101010101" pitchFamily="2" charset="-122"/>
                  </a:rPr>
                  <a:t>其中，</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𝜽</m:t>
                        </m:r>
                      </m:e>
                      <m:sub>
                        <m:r>
                          <a:rPr lang="en-US" altLang="zh-CN" sz="2400" b="1" i="1" kern="1000" smtClean="0">
                            <a:effectLst/>
                            <a:latin typeface="Cambria Math" panose="02040503050406030204" pitchFamily="18" charset="0"/>
                            <a:ea typeface="宋体" panose="02010600030101010101" pitchFamily="2" charset="-122"/>
                          </a:rPr>
                          <m:t>𝒊𝒋</m:t>
                        </m:r>
                      </m:sub>
                    </m:sSub>
                  </m:oMath>
                </a14:m>
                <a:r>
                  <a:rPr lang="en-US" altLang="zh-CN" sz="2400" b="1" kern="1000" dirty="0">
                    <a:effectLst/>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𝝃</m:t>
                        </m:r>
                      </m:e>
                      <m:sub>
                        <m:r>
                          <a:rPr lang="en-US" altLang="zh-CN" sz="2400" b="1" i="1" kern="1000" smtClean="0">
                            <a:effectLst/>
                            <a:latin typeface="Cambria Math" panose="02040503050406030204" pitchFamily="18" charset="0"/>
                            <a:ea typeface="宋体" panose="02010600030101010101" pitchFamily="2" charset="-122"/>
                          </a:rPr>
                          <m:t>𝒊𝒋</m:t>
                        </m:r>
                      </m:sub>
                    </m:sSub>
                  </m:oMath>
                </a14:m>
                <a:r>
                  <a:rPr lang="en-US" altLang="zh-CN" sz="2400" b="1" kern="1000" dirty="0">
                    <a:effectLst/>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𝜸</m:t>
                        </m:r>
                      </m:e>
                      <m:sub>
                        <m:r>
                          <a:rPr lang="en-US" altLang="zh-CN" sz="2400" b="1" i="1" kern="1000" smtClean="0">
                            <a:effectLst/>
                            <a:latin typeface="Cambria Math" panose="02040503050406030204" pitchFamily="18" charset="0"/>
                            <a:ea typeface="宋体" panose="02010600030101010101" pitchFamily="2" charset="-122"/>
                          </a:rPr>
                          <m:t>𝒊𝒋</m:t>
                        </m:r>
                      </m:sub>
                    </m:sSub>
                  </m:oMath>
                </a14:m>
                <a:r>
                  <a:rPr lang="zh-CN" altLang="zh-CN" sz="2400" b="1" kern="1000" dirty="0">
                    <a:effectLst/>
                    <a:latin typeface="Times New Roman" panose="02020603050405020304" pitchFamily="18" charset="0"/>
                    <a:ea typeface="宋体" panose="02010600030101010101" pitchFamily="2" charset="-122"/>
                  </a:rPr>
                  <a:t>是具有合适维数的向量。</a:t>
                </a:r>
              </a:p>
            </p:txBody>
          </p:sp>
        </mc:Choice>
        <mc:Fallback xmlns="">
          <p:sp>
            <p:nvSpPr>
              <p:cNvPr id="3" name="文本框 2">
                <a:extLst>
                  <a:ext uri="{FF2B5EF4-FFF2-40B4-BE49-F238E27FC236}">
                    <a16:creationId xmlns:a16="http://schemas.microsoft.com/office/drawing/2014/main" id="{401C67CE-98B0-3256-BD15-089755C6C56A}"/>
                  </a:ext>
                </a:extLst>
              </p:cNvPr>
              <p:cNvSpPr txBox="1">
                <a:spLocks noRot="1" noChangeAspect="1" noMove="1" noResize="1" noEditPoints="1" noAdjustHandles="1" noChangeArrowheads="1" noChangeShapeType="1" noTextEdit="1"/>
              </p:cNvSpPr>
              <p:nvPr/>
            </p:nvSpPr>
            <p:spPr>
              <a:xfrm>
                <a:off x="1162049" y="1228725"/>
                <a:ext cx="9039225" cy="3755259"/>
              </a:xfrm>
              <a:prstGeom prst="rect">
                <a:avLst/>
              </a:prstGeom>
              <a:blipFill>
                <a:blip r:embed="rId3"/>
                <a:stretch>
                  <a:fillRect l="-1080" t="-5682" b="-1948"/>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42B4EE2B-D49A-1684-7B84-6E90B4873693}"/>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6</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阻抗控制</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文本框 2">
                <a:extLst>
                  <a:ext uri="{FF2B5EF4-FFF2-40B4-BE49-F238E27FC236}">
                    <a16:creationId xmlns:a16="http://schemas.microsoft.com/office/drawing/2014/main" id="{76EFC83D-F6B0-4558-1936-F1B5240E6DFB}"/>
                  </a:ext>
                </a:extLst>
              </p:cNvPr>
              <p:cNvSpPr txBox="1"/>
              <p:nvPr/>
            </p:nvSpPr>
            <p:spPr>
              <a:xfrm>
                <a:off x="1381125" y="1084676"/>
                <a:ext cx="8415337" cy="4136197"/>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那么，我们有</a:t>
                </a:r>
              </a:p>
              <a:p>
                <a:pPr algn="just">
                  <a:spcBef>
                    <a:spcPts val="400"/>
                  </a:spcBef>
                  <a:spcAft>
                    <a:spcPts val="400"/>
                  </a:spcAft>
                  <a:tabLst>
                    <a:tab pos="5364480" algn="r"/>
                  </a:tabLst>
                </a:pPr>
                <a:r>
                  <a:rPr lang="en-US" altLang="zh-CN" sz="1800" b="1" kern="105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000" b="1" i="1" kern="1050" smtClean="0">
                        <a:effectLst/>
                        <a:latin typeface="Cambria Math" panose="02040503050406030204" pitchFamily="18" charset="0"/>
                        <a:ea typeface="宋体" panose="02010600030101010101" pitchFamily="2" charset="-122"/>
                      </a:rPr>
                      <m:t>𝜣</m:t>
                    </m:r>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r>
                      <a:rPr lang="en-US" altLang="zh-CN" sz="2000" b="1" i="1" kern="1050" smtClean="0">
                        <a:effectLst/>
                        <a:latin typeface="Cambria Math" panose="02040503050406030204" pitchFamily="18" charset="0"/>
                        <a:ea typeface="宋体" panose="02010600030101010101" pitchFamily="2" charset="-122"/>
                      </a:rPr>
                      <m:t>𝜩</m:t>
                    </m:r>
                    <m:r>
                      <a:rPr lang="en-US" altLang="zh-CN" sz="2000" b="1" i="1" kern="1050" smtClean="0">
                        <a:effectLst/>
                        <a:latin typeface="Cambria Math" panose="02040503050406030204" pitchFamily="18" charset="0"/>
                        <a:ea typeface="宋体" panose="02010600030101010101" pitchFamily="2" charset="-122"/>
                      </a:rPr>
                      <m:t>=</m:t>
                    </m:r>
                    <m:d>
                      <m:dPr>
                        <m:begChr m:val="["/>
                        <m:endChr m:val="]"/>
                        <m:ctrlPr>
                          <a:rPr lang="zh-CN" altLang="zh-CN" sz="2000" b="1" i="1" kern="1050">
                            <a:effectLst/>
                            <a:latin typeface="Cambria Math" panose="02040503050406030204" pitchFamily="18" charset="0"/>
                            <a:ea typeface="Cambria Math" panose="02040503050406030204" pitchFamily="18" charset="0"/>
                          </a:rPr>
                        </m:ctrlPr>
                      </m:dPr>
                      <m:e>
                        <m:m>
                          <m:mPr>
                            <m:mcs>
                              <m:mc>
                                <m:mcPr>
                                  <m:count m:val="4"/>
                                  <m:mcJc m:val="center"/>
                                </m:mcPr>
                              </m:mc>
                            </m:mcs>
                            <m:ctrlPr>
                              <a:rPr lang="zh-CN" altLang="zh-CN" sz="2000" b="1" i="1" kern="1050">
                                <a:effectLst/>
                                <a:latin typeface="Cambria Math" panose="02040503050406030204" pitchFamily="18" charset="0"/>
                                <a:ea typeface="Cambria Math" panose="02040503050406030204" pitchFamily="18" charset="0"/>
                              </a:rPr>
                            </m:ctrlPr>
                          </m:mPr>
                          <m:m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𝜽</m:t>
                                  </m:r>
                                </m:e>
                                <m:sub>
                                  <m:r>
                                    <a:rPr lang="en-US" altLang="zh-CN" sz="2000" b="1" i="1" kern="1050" smtClean="0">
                                      <a:effectLst/>
                                      <a:latin typeface="Cambria Math" panose="02040503050406030204" pitchFamily="18" charset="0"/>
                                      <a:ea typeface="宋体" panose="02010600030101010101" pitchFamily="2" charset="-122"/>
                                    </a:rPr>
                                    <m:t>𝟏𝟏</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𝟏𝟏</m:t>
                                  </m:r>
                                </m:sub>
                              </m:sSub>
                            </m:e>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𝜽</m:t>
                                  </m:r>
                                </m:e>
                                <m:sub>
                                  <m:r>
                                    <a:rPr lang="en-US" altLang="zh-CN" sz="2000" b="1" i="1" kern="1050" smtClean="0">
                                      <a:effectLst/>
                                      <a:latin typeface="Cambria Math" panose="02040503050406030204" pitchFamily="18" charset="0"/>
                                      <a:ea typeface="宋体" panose="02010600030101010101" pitchFamily="2" charset="-122"/>
                                    </a:rPr>
                                    <m:t>𝟏𝟐</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𝟏𝟐</m:t>
                                  </m:r>
                                </m:sub>
                              </m:sSub>
                            </m:e>
                            <m:e>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e>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𝜽</m:t>
                                  </m:r>
                                </m:e>
                                <m:sub>
                                  <m:r>
                                    <a:rPr lang="en-US" altLang="zh-CN" sz="2000" b="1" i="1" kern="1050" smtClean="0">
                                      <a:effectLst/>
                                      <a:latin typeface="Cambria Math" panose="02040503050406030204" pitchFamily="18" charset="0"/>
                                      <a:ea typeface="宋体" panose="02010600030101010101" pitchFamily="2" charset="-122"/>
                                    </a:rPr>
                                    <m:t>𝟏</m:t>
                                  </m:r>
                                  <m:r>
                                    <a:rPr lang="en-US" altLang="zh-CN" sz="2000" b="1" i="1" kern="1050" smtClean="0">
                                      <a:effectLst/>
                                      <a:latin typeface="Cambria Math" panose="02040503050406030204" pitchFamily="18" charset="0"/>
                                      <a:ea typeface="宋体" panose="02010600030101010101" pitchFamily="2" charset="-122"/>
                                    </a:rPr>
                                    <m:t>𝒏</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𝟏</m:t>
                                  </m:r>
                                  <m:r>
                                    <a:rPr lang="en-US" altLang="zh-CN" sz="2000" b="1" i="1" kern="1050" smtClean="0">
                                      <a:effectLst/>
                                      <a:latin typeface="Cambria Math" panose="02040503050406030204" pitchFamily="18" charset="0"/>
                                      <a:ea typeface="宋体" panose="02010600030101010101" pitchFamily="2" charset="-122"/>
                                    </a:rPr>
                                    <m:t>𝒏</m:t>
                                  </m:r>
                                </m:sub>
                              </m:sSub>
                            </m:e>
                          </m:mr>
                          <m:m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𝜽</m:t>
                                  </m:r>
                                </m:e>
                                <m:sub>
                                  <m:r>
                                    <a:rPr lang="en-US" altLang="zh-CN" sz="2000" b="1" i="1" kern="1050" smtClean="0">
                                      <a:effectLst/>
                                      <a:latin typeface="Cambria Math" panose="02040503050406030204" pitchFamily="18" charset="0"/>
                                      <a:ea typeface="宋体" panose="02010600030101010101" pitchFamily="2" charset="-122"/>
                                    </a:rPr>
                                    <m:t>𝟐𝟏</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𝟏𝟏</m:t>
                                  </m:r>
                                </m:sub>
                              </m:sSub>
                            </m:e>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𝜽</m:t>
                                  </m:r>
                                </m:e>
                                <m:sub>
                                  <m:r>
                                    <a:rPr lang="en-US" altLang="zh-CN" sz="2000" b="1" i="1" kern="1050" smtClean="0">
                                      <a:effectLst/>
                                      <a:latin typeface="Cambria Math" panose="02040503050406030204" pitchFamily="18" charset="0"/>
                                      <a:ea typeface="宋体" panose="02010600030101010101" pitchFamily="2" charset="-122"/>
                                    </a:rPr>
                                    <m:t>𝟐𝟐</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𝟐𝟐</m:t>
                                  </m:r>
                                </m:sub>
                              </m:sSub>
                            </m:e>
                            <m:e>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e>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𝜽</m:t>
                                  </m:r>
                                </m:e>
                                <m:sub>
                                  <m:r>
                                    <a:rPr lang="en-US" altLang="zh-CN" sz="2000" b="1" i="1" kern="1050" smtClean="0">
                                      <a:effectLst/>
                                      <a:latin typeface="Cambria Math" panose="02040503050406030204" pitchFamily="18" charset="0"/>
                                      <a:ea typeface="宋体" panose="02010600030101010101" pitchFamily="2" charset="-122"/>
                                    </a:rPr>
                                    <m:t>𝟐</m:t>
                                  </m:r>
                                  <m:r>
                                    <a:rPr lang="en-US" altLang="zh-CN" sz="2000" b="1" i="1" kern="1050" smtClean="0">
                                      <a:effectLst/>
                                      <a:latin typeface="Cambria Math" panose="02040503050406030204" pitchFamily="18" charset="0"/>
                                      <a:ea typeface="宋体" panose="02010600030101010101" pitchFamily="2" charset="-122"/>
                                    </a:rPr>
                                    <m:t>𝒏</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𝟐</m:t>
                                  </m:r>
                                  <m:r>
                                    <a:rPr lang="en-US" altLang="zh-CN" sz="2000" b="1" i="1" kern="1050" smtClean="0">
                                      <a:effectLst/>
                                      <a:latin typeface="Cambria Math" panose="02040503050406030204" pitchFamily="18" charset="0"/>
                                      <a:ea typeface="宋体" panose="02010600030101010101" pitchFamily="2" charset="-122"/>
                                    </a:rPr>
                                    <m:t>𝒏</m:t>
                                  </m:r>
                                </m:sub>
                              </m:sSub>
                            </m:e>
                          </m:mr>
                          <m:mr>
                            <m:e>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e>
                            <m:e>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e>
                            <m:e>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e>
                            <m:e>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e>
                          </m:mr>
                          <m:m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𝜽</m:t>
                                  </m:r>
                                </m:e>
                                <m:sub>
                                  <m:r>
                                    <a:rPr lang="en-US" altLang="zh-CN" sz="2000" b="1" i="1" kern="1050" smtClean="0">
                                      <a:effectLst/>
                                      <a:latin typeface="Cambria Math" panose="02040503050406030204" pitchFamily="18" charset="0"/>
                                      <a:ea typeface="宋体" panose="02010600030101010101" pitchFamily="2" charset="-122"/>
                                    </a:rPr>
                                    <m:t>𝒏</m:t>
                                  </m:r>
                                  <m:r>
                                    <a:rPr lang="en-US" altLang="zh-CN" sz="2000" b="1" i="1" kern="1050" smtClean="0">
                                      <a:effectLst/>
                                      <a:latin typeface="Cambria Math" panose="02040503050406030204" pitchFamily="18" charset="0"/>
                                      <a:ea typeface="宋体" panose="02010600030101010101" pitchFamily="2" charset="-122"/>
                                    </a:rPr>
                                    <m:t>𝟏</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𝟏𝟏</m:t>
                                  </m:r>
                                </m:sub>
                              </m:sSub>
                            </m:e>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𝒏</m:t>
                                  </m:r>
                                  <m:r>
                                    <a:rPr lang="en-US" altLang="zh-CN" sz="2000" b="1" i="1" kern="1050" smtClean="0">
                                      <a:effectLst/>
                                      <a:latin typeface="Cambria Math" panose="02040503050406030204" pitchFamily="18" charset="0"/>
                                      <a:ea typeface="宋体" panose="02010600030101010101" pitchFamily="2" charset="-122"/>
                                    </a:rPr>
                                    <m:t>𝟐</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𝒏</m:t>
                                  </m:r>
                                  <m:r>
                                    <a:rPr lang="en-US" altLang="zh-CN" sz="2000" b="1" i="1" kern="1050" smtClean="0">
                                      <a:effectLst/>
                                      <a:latin typeface="Cambria Math" panose="02040503050406030204" pitchFamily="18" charset="0"/>
                                      <a:ea typeface="宋体" panose="02010600030101010101" pitchFamily="2" charset="-122"/>
                                    </a:rPr>
                                    <m:t>𝟐</m:t>
                                  </m:r>
                                </m:sub>
                              </m:sSub>
                            </m:e>
                            <m:e>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e>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𝒏𝒏</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𝒏𝒏</m:t>
                                  </m:r>
                                </m:sub>
                              </m:sSub>
                            </m:e>
                          </m:mr>
                        </m:m>
                      </m:e>
                    </m:d>
                  </m:oMath>
                </a14:m>
                <a:r>
                  <a:rPr lang="en-US" altLang="zh-CN" sz="2000" b="1" kern="1050" dirty="0">
                    <a:effectLst/>
                    <a:latin typeface="微软雅黑" panose="020B0503020204020204" pitchFamily="34" charset="-122"/>
                    <a:ea typeface="微软雅黑" panose="020B0503020204020204" pitchFamily="34" charset="-122"/>
                  </a:rPr>
                  <a:t>	    (7.111)</a:t>
                </a:r>
                <a:endParaRPr lang="zh-CN" altLang="zh-CN" sz="2000" b="1" kern="1050" dirty="0">
                  <a:effectLst/>
                  <a:latin typeface="微软雅黑" panose="020B0503020204020204" pitchFamily="34" charset="-122"/>
                  <a:ea typeface="微软雅黑" panose="020B0503020204020204" pitchFamily="34" charset="-122"/>
                </a:endParaRPr>
              </a:p>
              <a:p>
                <a:pPr algn="just">
                  <a:spcBef>
                    <a:spcPts val="400"/>
                  </a:spcBef>
                  <a:spcAft>
                    <a:spcPts val="4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𝜞</m:t>
                        </m:r>
                      </m:e>
                      <m:sub>
                        <m:r>
                          <a:rPr lang="en-US" altLang="zh-CN" sz="2000" b="1" i="1" kern="1050" smtClean="0">
                            <a:effectLst/>
                            <a:latin typeface="Cambria Math" panose="02040503050406030204" pitchFamily="18" charset="0"/>
                            <a:ea typeface="宋体" panose="02010600030101010101" pitchFamily="2" charset="-122"/>
                          </a:rPr>
                          <m:t>𝒊</m:t>
                        </m:r>
                      </m:sub>
                    </m:sSub>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𝒊</m:t>
                        </m:r>
                      </m:sub>
                    </m:sSub>
                    <m:r>
                      <a:rPr lang="en-US" altLang="zh-CN" sz="2000" b="1" i="1" kern="1050" smtClean="0">
                        <a:effectLst/>
                        <a:latin typeface="Cambria Math" panose="02040503050406030204" pitchFamily="18" charset="0"/>
                        <a:ea typeface="宋体" panose="02010600030101010101" pitchFamily="2" charset="-122"/>
                      </a:rPr>
                      <m:t>=[</m:t>
                    </m:r>
                    <m:m>
                      <m:mPr>
                        <m:mcs>
                          <m:mc>
                            <m:mcPr>
                              <m:count m:val="4"/>
                              <m:mcJc m:val="center"/>
                            </m:mcPr>
                          </m:mc>
                        </m:mcs>
                        <m:ctrlPr>
                          <a:rPr lang="zh-CN" altLang="zh-CN" sz="2000" b="1" i="1" kern="1050">
                            <a:effectLst/>
                            <a:latin typeface="Cambria Math" panose="02040503050406030204" pitchFamily="18" charset="0"/>
                            <a:ea typeface="Cambria Math" panose="02040503050406030204" pitchFamily="18" charset="0"/>
                          </a:rPr>
                        </m:ctrlPr>
                      </m:mPr>
                      <m:mr>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𝜸</m:t>
                              </m:r>
                            </m:e>
                            <m:sub>
                              <m:r>
                                <a:rPr lang="en-US" altLang="zh-CN" sz="2000" b="1" i="1" kern="1050" smtClean="0">
                                  <a:effectLst/>
                                  <a:latin typeface="Cambria Math" panose="02040503050406030204" pitchFamily="18" charset="0"/>
                                  <a:ea typeface="宋体" panose="02010600030101010101" pitchFamily="2" charset="-122"/>
                                </a:rPr>
                                <m:t>𝒊</m:t>
                              </m:r>
                              <m:r>
                                <a:rPr lang="en-US" altLang="zh-CN" sz="2000" b="1" i="1" kern="1050" smtClean="0">
                                  <a:effectLst/>
                                  <a:latin typeface="Cambria Math" panose="02040503050406030204" pitchFamily="18" charset="0"/>
                                  <a:ea typeface="宋体" panose="02010600030101010101" pitchFamily="2" charset="-122"/>
                                </a:rPr>
                                <m:t>𝟏</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𝒊</m:t>
                              </m:r>
                              <m:r>
                                <a:rPr lang="en-US" altLang="zh-CN" sz="2000" b="1" i="1" kern="1050" smtClean="0">
                                  <a:effectLst/>
                                  <a:latin typeface="Cambria Math" panose="02040503050406030204" pitchFamily="18" charset="0"/>
                                  <a:ea typeface="宋体" panose="02010600030101010101" pitchFamily="2" charset="-122"/>
                                </a:rPr>
                                <m:t>𝟏</m:t>
                              </m:r>
                            </m:sub>
                          </m:sSub>
                        </m:e>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𝜸</m:t>
                              </m:r>
                            </m:e>
                            <m:sub>
                              <m:r>
                                <a:rPr lang="en-US" altLang="zh-CN" sz="2000" b="1" i="1" kern="1050" smtClean="0">
                                  <a:effectLst/>
                                  <a:latin typeface="Cambria Math" panose="02040503050406030204" pitchFamily="18" charset="0"/>
                                  <a:ea typeface="宋体" panose="02010600030101010101" pitchFamily="2" charset="-122"/>
                                </a:rPr>
                                <m:t>𝒊</m:t>
                              </m:r>
                              <m:r>
                                <a:rPr lang="en-US" altLang="zh-CN" sz="2000" b="1" i="1" kern="1050" smtClean="0">
                                  <a:effectLst/>
                                  <a:latin typeface="Cambria Math" panose="02040503050406030204" pitchFamily="18" charset="0"/>
                                  <a:ea typeface="宋体" panose="02010600030101010101" pitchFamily="2" charset="-122"/>
                                </a:rPr>
                                <m:t>𝟐</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𝒊</m:t>
                              </m:r>
                              <m:r>
                                <a:rPr lang="en-US" altLang="zh-CN" sz="2000" b="1" i="1" kern="1050" smtClean="0">
                                  <a:effectLst/>
                                  <a:latin typeface="Cambria Math" panose="02040503050406030204" pitchFamily="18" charset="0"/>
                                  <a:ea typeface="宋体" panose="02010600030101010101" pitchFamily="2" charset="-122"/>
                                </a:rPr>
                                <m:t>𝟐</m:t>
                              </m:r>
                            </m:sub>
                          </m:sSub>
                        </m:e>
                        <m:e>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e>
                        <m:e>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𝜸</m:t>
                              </m:r>
                            </m:e>
                            <m:sub>
                              <m:r>
                                <a:rPr lang="en-US" altLang="zh-CN" sz="2000" b="1" i="1" kern="1050" smtClean="0">
                                  <a:effectLst/>
                                  <a:latin typeface="Cambria Math" panose="02040503050406030204" pitchFamily="18" charset="0"/>
                                  <a:ea typeface="宋体" panose="02010600030101010101" pitchFamily="2" charset="-122"/>
                                </a:rPr>
                                <m:t>𝒊𝒏</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𝝃</m:t>
                              </m:r>
                            </m:e>
                            <m:sub>
                              <m:r>
                                <a:rPr lang="en-US" altLang="zh-CN" sz="2000" b="1" i="1" kern="1050" smtClean="0">
                                  <a:effectLst/>
                                  <a:latin typeface="Cambria Math" panose="02040503050406030204" pitchFamily="18" charset="0"/>
                                  <a:ea typeface="宋体" panose="02010600030101010101" pitchFamily="2" charset="-122"/>
                                </a:rPr>
                                <m:t>𝒊𝒏</m:t>
                              </m:r>
                            </m:sub>
                          </m:sSub>
                        </m:e>
                      </m:mr>
                    </m:m>
                    <m:r>
                      <a:rPr lang="en-US" altLang="zh-CN" sz="2000" b="1" i="1" kern="1050" smtClean="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(7.112)</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r>
                      <a:rPr lang="zh-CN" altLang="zh-CN" sz="2400" b="0" i="0" kern="1000" smtClean="0">
                        <a:effectLst/>
                        <a:latin typeface="Cambria Math" panose="02040503050406030204" pitchFamily="18" charset="0"/>
                        <a:ea typeface="MS Gothic" panose="020B0609070205080204" pitchFamily="49" charset="-128"/>
                        <a:cs typeface="MS Gothic" panose="020B0609070205080204" pitchFamily="49" charset="-128"/>
                      </a:rPr>
                      <m:t>⋅</m:t>
                    </m:r>
                  </m:oMath>
                </a14:m>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是</a:t>
                </a:r>
                <a:r>
                  <a:rPr lang="en-US" altLang="zh-CN" sz="2400" b="1" kern="1000" dirty="0">
                    <a:effectLst/>
                    <a:latin typeface="微软雅黑" panose="020B0503020204020204" pitchFamily="34" charset="-122"/>
                    <a:ea typeface="微软雅黑" panose="020B0503020204020204" pitchFamily="34" charset="-122"/>
                  </a:rPr>
                  <a:t>GL</a:t>
                </a:r>
                <a:r>
                  <a:rPr lang="zh-CN" altLang="zh-CN" sz="2400" b="1" kern="1000" dirty="0">
                    <a:effectLst/>
                    <a:latin typeface="微软雅黑" panose="020B0503020204020204" pitchFamily="34" charset="-122"/>
                    <a:ea typeface="微软雅黑" panose="020B0503020204020204" pitchFamily="34" charset="-122"/>
                  </a:rPr>
                  <a:t>算子。</a:t>
                </a:r>
              </a:p>
              <a:p>
                <a:pPr algn="just"/>
                <a:r>
                  <a:rPr lang="zh-CN" altLang="zh-CN" sz="2400" b="1" kern="1000" dirty="0">
                    <a:effectLst/>
                    <a:latin typeface="微软雅黑" panose="020B0503020204020204" pitchFamily="34" charset="-122"/>
                    <a:ea typeface="微软雅黑" panose="020B0503020204020204" pitchFamily="34" charset="-122"/>
                  </a:rPr>
                  <a:t>通过使用</a:t>
                </a:r>
                <a:r>
                  <a:rPr lang="en-US" altLang="zh-CN" sz="2400" b="1" kern="1000" dirty="0">
                    <a:effectLst/>
                    <a:latin typeface="微软雅黑" panose="020B0503020204020204" pitchFamily="34" charset="-122"/>
                    <a:ea typeface="微软雅黑" panose="020B0503020204020204" pitchFamily="34" charset="-122"/>
                  </a:rPr>
                  <a:t>GL</a:t>
                </a:r>
                <a:r>
                  <a:rPr lang="zh-CN" altLang="zh-CN" sz="2400" b="1" kern="1000" dirty="0">
                    <a:effectLst/>
                    <a:latin typeface="微软雅黑" panose="020B0503020204020204" pitchFamily="34" charset="-122"/>
                    <a:ea typeface="微软雅黑" panose="020B0503020204020204" pitchFamily="34" charset="-122"/>
                  </a:rPr>
                  <a:t>算子的概念，</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𝑴</m:t>
                        </m:r>
                      </m:e>
                      <m:sub>
                        <m:r>
                          <a:rPr lang="en-US" altLang="zh-CN" sz="2400" b="1" i="1" kern="1000" smtClean="0">
                            <a:effectLst/>
                            <a:latin typeface="Cambria Math" panose="02040503050406030204" pitchFamily="18" charset="0"/>
                            <a:ea typeface="宋体" panose="02010600030101010101" pitchFamily="2" charset="-122"/>
                          </a:rPr>
                          <m:t>𝒙</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𝑪</m:t>
                        </m:r>
                      </m:e>
                      <m:sub>
                        <m:r>
                          <a:rPr lang="en-US" altLang="zh-CN" sz="2400" b="1" i="1" kern="1000" smtClean="0">
                            <a:effectLst/>
                            <a:latin typeface="Cambria Math" panose="02040503050406030204" pitchFamily="18" charset="0"/>
                            <a:ea typeface="宋体" panose="02010600030101010101" pitchFamily="2" charset="-122"/>
                          </a:rPr>
                          <m:t>𝒙</m:t>
                        </m:r>
                      </m:sub>
                    </m:sSub>
                  </m:oMath>
                </a14:m>
                <a:r>
                  <a:rPr lang="zh-CN" altLang="zh-CN" sz="2400" b="1" kern="1000" dirty="0">
                    <a:effectLst/>
                    <a:latin typeface="微软雅黑" panose="020B0503020204020204" pitchFamily="34" charset="-122"/>
                    <a:ea typeface="微软雅黑" panose="020B0503020204020204" pitchFamily="34" charset="-122"/>
                  </a:rPr>
                  <a:t>和</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𝑮</m:t>
                        </m:r>
                      </m:e>
                      <m:sub>
                        <m:r>
                          <a:rPr lang="en-US" altLang="zh-CN" sz="2400" b="1" i="1" kern="1000" smtClean="0">
                            <a:effectLst/>
                            <a:latin typeface="Cambria Math" panose="02040503050406030204" pitchFamily="18" charset="0"/>
                            <a:ea typeface="宋体" panose="02010600030101010101" pitchFamily="2" charset="-122"/>
                          </a:rPr>
                          <m:t>𝒙</m:t>
                        </m:r>
                      </m:sub>
                    </m:sSub>
                  </m:oMath>
                </a14:m>
                <a:r>
                  <a:rPr lang="zh-CN" altLang="zh-CN" sz="2400" b="1" kern="1000" dirty="0">
                    <a:effectLst/>
                    <a:latin typeface="微软雅黑" panose="020B0503020204020204" pitchFamily="34" charset="-122"/>
                    <a:ea typeface="微软雅黑" panose="020B0503020204020204" pitchFamily="34" charset="-122"/>
                  </a:rPr>
                  <a:t>被描述为</a:t>
                </a:r>
              </a:p>
              <a:p>
                <a:pPr algn="just">
                  <a:spcBef>
                    <a:spcPts val="400"/>
                  </a:spcBef>
                  <a:spcAft>
                    <a:spcPts val="400"/>
                  </a:spcAft>
                  <a:tabLst>
                    <a:tab pos="5364480" algn="r"/>
                  </a:tabLst>
                </a:pPr>
                <a:r>
                  <a:rPr lang="en-US" altLang="zh-CN" sz="18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𝑴</m:t>
                        </m:r>
                      </m:e>
                      <m:sub>
                        <m:r>
                          <a:rPr lang="en-US" altLang="zh-CN" sz="2000" b="1" i="1" kern="1050" smtClean="0">
                            <a:effectLst/>
                            <a:latin typeface="Cambria Math" panose="02040503050406030204" pitchFamily="18" charset="0"/>
                            <a:ea typeface="宋体" panose="02010600030101010101" pitchFamily="2" charset="-122"/>
                          </a:rPr>
                          <m:t>𝒙</m:t>
                        </m:r>
                      </m:sub>
                    </m:sSub>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𝒒</m:t>
                    </m:r>
                    <m:r>
                      <a:rPr lang="en-US" altLang="zh-CN" sz="2000" b="1" i="1" kern="1050" smtClean="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smtClean="0">
                            <a:effectLst/>
                            <a:latin typeface="Cambria Math" panose="02040503050406030204" pitchFamily="18" charset="0"/>
                            <a:ea typeface="宋体" panose="02010600030101010101" pitchFamily="2" charset="-122"/>
                          </a:rPr>
                          <m:t>𝜣</m:t>
                        </m:r>
                      </m:e>
                      <m:sub>
                        <m:r>
                          <a:rPr lang="en-US" altLang="zh-CN" sz="2000" b="1" i="1" kern="1050" smtClean="0">
                            <a:effectLst/>
                            <a:latin typeface="Cambria Math" panose="02040503050406030204" pitchFamily="18" charset="0"/>
                            <a:ea typeface="宋体" panose="02010600030101010101" pitchFamily="2" charset="-122"/>
                          </a:rPr>
                          <m:t>𝑴</m:t>
                        </m:r>
                      </m:sub>
                      <m:sup>
                        <m:r>
                          <a:rPr lang="en-US" altLang="zh-CN" sz="2000" b="1" i="1" kern="1050" smtClean="0">
                            <a:effectLst/>
                            <a:latin typeface="Cambria Math" panose="02040503050406030204" pitchFamily="18" charset="0"/>
                            <a:ea typeface="宋体" panose="02010600030101010101" pitchFamily="2" charset="-122"/>
                          </a:rPr>
                          <m:t>𝑻</m:t>
                        </m:r>
                      </m:sup>
                    </m:sSubSup>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𝜩</m:t>
                        </m:r>
                      </m:e>
                      <m:sub>
                        <m:r>
                          <a:rPr lang="en-US" altLang="zh-CN" sz="2000" b="1" i="1" kern="1050" smtClean="0">
                            <a:effectLst/>
                            <a:latin typeface="Cambria Math" panose="02040503050406030204" pitchFamily="18" charset="0"/>
                            <a:ea typeface="宋体" panose="02010600030101010101" pitchFamily="2" charset="-122"/>
                          </a:rPr>
                          <m:t>𝑴</m:t>
                        </m:r>
                      </m:sub>
                    </m:sSub>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𝒙</m:t>
                    </m:r>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𝑬</m:t>
                        </m:r>
                      </m:e>
                      <m:sub>
                        <m:r>
                          <a:rPr lang="en-US" altLang="zh-CN" sz="2000" b="1" i="1" kern="1050" smtClean="0">
                            <a:effectLst/>
                            <a:latin typeface="Cambria Math" panose="02040503050406030204" pitchFamily="18" charset="0"/>
                            <a:ea typeface="宋体" panose="02010600030101010101" pitchFamily="2" charset="-122"/>
                          </a:rPr>
                          <m:t>𝑴</m:t>
                        </m:r>
                      </m:sub>
                    </m:sSub>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𝒙</m:t>
                    </m:r>
                    <m:r>
                      <a:rPr lang="en-US" altLang="zh-CN" sz="2000" b="1" i="1" kern="1050" smtClean="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(7.113)</a:t>
                </a:r>
                <a:endParaRPr lang="zh-CN" altLang="zh-CN" sz="2000" b="1" kern="1050" dirty="0">
                  <a:effectLst/>
                  <a:latin typeface="微软雅黑" panose="020B0503020204020204" pitchFamily="34" charset="-122"/>
                  <a:ea typeface="微软雅黑" panose="020B0503020204020204" pitchFamily="34" charset="-122"/>
                </a:endParaRPr>
              </a:p>
              <a:p>
                <a:pPr algn="just">
                  <a:spcBef>
                    <a:spcPts val="400"/>
                  </a:spcBef>
                  <a:spcAft>
                    <a:spcPts val="4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𝑪</m:t>
                        </m:r>
                      </m:e>
                      <m:sub>
                        <m:r>
                          <a:rPr lang="en-US" altLang="zh-CN" sz="2000" b="1" i="1" kern="1050" smtClean="0">
                            <a:effectLst/>
                            <a:latin typeface="Cambria Math" panose="02040503050406030204" pitchFamily="18" charset="0"/>
                            <a:ea typeface="宋体" panose="02010600030101010101" pitchFamily="2" charset="-122"/>
                          </a:rPr>
                          <m:t>𝒙</m:t>
                        </m:r>
                      </m:sub>
                    </m:sSub>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𝒒</m:t>
                    </m:r>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𝒒</m:t>
                        </m:r>
                      </m:e>
                    </m:acc>
                    <m:r>
                      <a:rPr lang="en-US" altLang="zh-CN" sz="2000" b="1" i="1" kern="1050" smtClean="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smtClean="0">
                            <a:effectLst/>
                            <a:latin typeface="Cambria Math" panose="02040503050406030204" pitchFamily="18" charset="0"/>
                            <a:ea typeface="宋体" panose="02010600030101010101" pitchFamily="2" charset="-122"/>
                          </a:rPr>
                          <m:t>𝜣</m:t>
                        </m:r>
                      </m:e>
                      <m:sub>
                        <m:r>
                          <a:rPr lang="en-US" altLang="zh-CN" sz="2000" b="1" i="1" kern="1050" smtClean="0">
                            <a:effectLst/>
                            <a:latin typeface="Cambria Math" panose="02040503050406030204" pitchFamily="18" charset="0"/>
                            <a:ea typeface="宋体" panose="02010600030101010101" pitchFamily="2" charset="-122"/>
                          </a:rPr>
                          <m:t>𝑪</m:t>
                        </m:r>
                      </m:sub>
                      <m:sup>
                        <m:r>
                          <a:rPr lang="en-US" altLang="zh-CN" sz="2000" b="1" i="1" kern="1050" smtClean="0">
                            <a:effectLst/>
                            <a:latin typeface="Cambria Math" panose="02040503050406030204" pitchFamily="18" charset="0"/>
                            <a:ea typeface="宋体" panose="02010600030101010101" pitchFamily="2" charset="-122"/>
                          </a:rPr>
                          <m:t>𝑻</m:t>
                        </m:r>
                      </m:sup>
                    </m:sSubSup>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𝜩</m:t>
                        </m:r>
                      </m:e>
                      <m:sub>
                        <m:r>
                          <a:rPr lang="en-US" altLang="zh-CN" sz="2000" b="1" i="1" kern="1050" smtClean="0">
                            <a:effectLst/>
                            <a:latin typeface="Cambria Math" panose="02040503050406030204" pitchFamily="18" charset="0"/>
                            <a:ea typeface="宋体" panose="02010600030101010101" pitchFamily="2" charset="-122"/>
                          </a:rPr>
                          <m:t>𝑪</m:t>
                        </m:r>
                      </m:sub>
                    </m:sSub>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𝒙</m:t>
                    </m:r>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𝒙</m:t>
                        </m:r>
                      </m:e>
                    </m:acc>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𝑬</m:t>
                        </m:r>
                      </m:e>
                      <m:sub>
                        <m:r>
                          <a:rPr lang="en-US" altLang="zh-CN" sz="2000" b="1" i="1" kern="1050" smtClean="0">
                            <a:effectLst/>
                            <a:latin typeface="Cambria Math" panose="02040503050406030204" pitchFamily="18" charset="0"/>
                            <a:ea typeface="宋体" panose="02010600030101010101" pitchFamily="2" charset="-122"/>
                          </a:rPr>
                          <m:t>𝑪</m:t>
                        </m:r>
                      </m:sub>
                    </m:sSub>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𝒙</m:t>
                    </m:r>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𝒙</m:t>
                        </m:r>
                      </m:e>
                    </m:acc>
                    <m:r>
                      <a:rPr lang="en-US" altLang="zh-CN" sz="2000" b="1" i="1" kern="1050" smtClean="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(7.114)</a:t>
                </a:r>
                <a:endParaRPr lang="zh-CN" altLang="zh-CN" sz="2000" b="1" kern="1050" dirty="0">
                  <a:effectLst/>
                  <a:latin typeface="微软雅黑" panose="020B0503020204020204" pitchFamily="34" charset="-122"/>
                  <a:ea typeface="微软雅黑" panose="020B0503020204020204" pitchFamily="34" charset="-122"/>
                </a:endParaRPr>
              </a:p>
              <a:p>
                <a:pPr algn="just">
                  <a:spcBef>
                    <a:spcPts val="400"/>
                  </a:spcBef>
                  <a:spcAft>
                    <a:spcPts val="4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𝑮</m:t>
                        </m:r>
                      </m:e>
                      <m:sub>
                        <m:r>
                          <a:rPr lang="en-US" altLang="zh-CN" sz="2000" b="1" i="1" kern="1050" smtClean="0">
                            <a:effectLst/>
                            <a:latin typeface="Cambria Math" panose="02040503050406030204" pitchFamily="18" charset="0"/>
                            <a:ea typeface="宋体" panose="02010600030101010101" pitchFamily="2" charset="-122"/>
                          </a:rPr>
                          <m:t>𝒙</m:t>
                        </m:r>
                      </m:sub>
                    </m:sSub>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𝒒</m:t>
                    </m:r>
                    <m:r>
                      <a:rPr lang="en-US" altLang="zh-CN" sz="2000" b="1" i="1" kern="1050" smtClean="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smtClean="0">
                            <a:effectLst/>
                            <a:latin typeface="Cambria Math" panose="02040503050406030204" pitchFamily="18" charset="0"/>
                            <a:ea typeface="宋体" panose="02010600030101010101" pitchFamily="2" charset="-122"/>
                          </a:rPr>
                          <m:t>𝜣</m:t>
                        </m:r>
                      </m:e>
                      <m:sub>
                        <m:r>
                          <a:rPr lang="en-US" altLang="zh-CN" sz="2000" b="1" i="1" kern="1050" smtClean="0">
                            <a:effectLst/>
                            <a:latin typeface="Cambria Math" panose="02040503050406030204" pitchFamily="18" charset="0"/>
                            <a:ea typeface="宋体" panose="02010600030101010101" pitchFamily="2" charset="-122"/>
                          </a:rPr>
                          <m:t>𝑮</m:t>
                        </m:r>
                      </m:sub>
                      <m:sup>
                        <m:r>
                          <a:rPr lang="en-US" altLang="zh-CN" sz="2000" b="1" i="1" kern="1050" smtClean="0">
                            <a:effectLst/>
                            <a:latin typeface="Cambria Math" panose="02040503050406030204" pitchFamily="18" charset="0"/>
                            <a:ea typeface="宋体" panose="02010600030101010101" pitchFamily="2" charset="-122"/>
                          </a:rPr>
                          <m:t>𝑻</m:t>
                        </m:r>
                      </m:sup>
                    </m:sSubSup>
                    <m:r>
                      <a:rPr lang="zh-CN" altLang="zh-CN" sz="2000" b="1" i="1" kern="1050" smtClean="0">
                        <a:effectLst/>
                        <a:latin typeface="Cambria Math" panose="02040503050406030204" pitchFamily="18" charset="0"/>
                        <a:ea typeface="MS Gothic" panose="020B0609070205080204" pitchFamily="49" charset="-128"/>
                        <a:cs typeface="MS Gothic" panose="020B0609070205080204" pitchFamily="49" charset="-128"/>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𝜩</m:t>
                        </m:r>
                      </m:e>
                      <m:sub>
                        <m:r>
                          <a:rPr lang="en-US" altLang="zh-CN" sz="2000" b="1" i="1" kern="1050" smtClean="0">
                            <a:effectLst/>
                            <a:latin typeface="Cambria Math" panose="02040503050406030204" pitchFamily="18" charset="0"/>
                            <a:ea typeface="宋体" panose="02010600030101010101" pitchFamily="2" charset="-122"/>
                          </a:rPr>
                          <m:t>𝑮</m:t>
                        </m:r>
                      </m:sub>
                    </m:sSub>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𝒙</m:t>
                    </m:r>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𝑬</m:t>
                        </m:r>
                      </m:e>
                      <m:sub>
                        <m:r>
                          <a:rPr lang="en-US" altLang="zh-CN" sz="2000" b="1" i="1" kern="1050" smtClean="0">
                            <a:effectLst/>
                            <a:latin typeface="Cambria Math" panose="02040503050406030204" pitchFamily="18" charset="0"/>
                            <a:ea typeface="宋体" panose="02010600030101010101" pitchFamily="2" charset="-122"/>
                          </a:rPr>
                          <m:t>𝑮</m:t>
                        </m:r>
                      </m:sub>
                    </m:sSub>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𝒙</m:t>
                    </m:r>
                    <m:r>
                      <a:rPr lang="en-US" altLang="zh-CN" sz="2000" b="1" i="1" kern="1050" smtClean="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(7.115)</a:t>
                </a:r>
                <a:endParaRPr lang="zh-CN" altLang="zh-CN" sz="2000" b="1" kern="1050" dirty="0">
                  <a:effectLst/>
                  <a:latin typeface="微软雅黑" panose="020B0503020204020204" pitchFamily="34" charset="-122"/>
                  <a:ea typeface="微软雅黑" panose="020B0503020204020204" pitchFamily="34" charset="-122"/>
                </a:endParaRPr>
              </a:p>
            </p:txBody>
          </p:sp>
        </mc:Choice>
        <mc:Fallback>
          <p:sp>
            <p:nvSpPr>
              <p:cNvPr id="3" name="文本框 2">
                <a:extLst>
                  <a:ext uri="{FF2B5EF4-FFF2-40B4-BE49-F238E27FC236}">
                    <a16:creationId xmlns:a16="http://schemas.microsoft.com/office/drawing/2014/main" id="{76EFC83D-F6B0-4558-1936-F1B5240E6DFB}"/>
                  </a:ext>
                </a:extLst>
              </p:cNvPr>
              <p:cNvSpPr txBox="1">
                <a:spLocks noRot="1" noChangeAspect="1" noMove="1" noResize="1" noEditPoints="1" noAdjustHandles="1" noChangeArrowheads="1" noChangeShapeType="1" noTextEdit="1"/>
              </p:cNvSpPr>
              <p:nvPr/>
            </p:nvSpPr>
            <p:spPr>
              <a:xfrm>
                <a:off x="1381125" y="1084676"/>
                <a:ext cx="8415337" cy="4136197"/>
              </a:xfrm>
              <a:prstGeom prst="rect">
                <a:avLst/>
              </a:prstGeom>
              <a:blipFill>
                <a:blip r:embed="rId3"/>
                <a:stretch>
                  <a:fillRect l="-1159" t="-1180" b="-17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CD2C25D7-7E4C-04C6-E6E4-9C5E9E7D2466}"/>
                  </a:ext>
                </a:extLst>
              </p:cNvPr>
              <p:cNvSpPr txBox="1"/>
              <p:nvPr/>
            </p:nvSpPr>
            <p:spPr>
              <a:xfrm>
                <a:off x="1381125" y="5220873"/>
                <a:ext cx="9339262" cy="1305357"/>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𝜣</m:t>
                        </m:r>
                      </m:e>
                      <m:sub>
                        <m:r>
                          <a:rPr lang="en-US" altLang="zh-CN" sz="2400" b="1" i="1" kern="1000">
                            <a:effectLst/>
                            <a:latin typeface="Cambria Math" panose="02040503050406030204" pitchFamily="18" charset="0"/>
                            <a:ea typeface="宋体" panose="02010600030101010101" pitchFamily="2" charset="-122"/>
                          </a:rPr>
                          <m:t>𝑴</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𝜣</m:t>
                        </m:r>
                      </m:e>
                      <m:sub>
                        <m:r>
                          <a:rPr lang="en-US" altLang="zh-CN" sz="2400" b="1" i="1" kern="1000">
                            <a:effectLst/>
                            <a:latin typeface="Cambria Math" panose="02040503050406030204" pitchFamily="18" charset="0"/>
                            <a:ea typeface="宋体" panose="02010600030101010101" pitchFamily="2" charset="-122"/>
                          </a:rPr>
                          <m:t>𝑪</m:t>
                        </m:r>
                      </m:sub>
                    </m:sSub>
                  </m:oMath>
                </a14:m>
                <a:r>
                  <a:rPr lang="zh-CN" altLang="zh-CN" sz="2400" b="1" kern="1000" dirty="0">
                    <a:effectLst/>
                    <a:latin typeface="微软雅黑" panose="020B0503020204020204" pitchFamily="34" charset="-122"/>
                    <a:ea typeface="微软雅黑" panose="020B0503020204020204" pitchFamily="34" charset="-122"/>
                  </a:rPr>
                  <a:t>和</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𝜣</m:t>
                        </m:r>
                      </m:e>
                      <m:sub>
                        <m:r>
                          <a:rPr lang="en-US" altLang="zh-CN" sz="2400" b="1" i="1" kern="1000">
                            <a:effectLst/>
                            <a:latin typeface="Cambria Math" panose="02040503050406030204" pitchFamily="18" charset="0"/>
                            <a:ea typeface="宋体" panose="02010600030101010101" pitchFamily="2" charset="-122"/>
                          </a:rPr>
                          <m:t>𝑮</m:t>
                        </m:r>
                      </m:sub>
                    </m:sSub>
                  </m:oMath>
                </a14:m>
                <a:r>
                  <a:rPr lang="zh-CN" altLang="zh-CN" sz="2400" b="1" kern="1000" dirty="0">
                    <a:effectLst/>
                    <a:latin typeface="微软雅黑" panose="020B0503020204020204" pitchFamily="34" charset="-122"/>
                    <a:ea typeface="微软雅黑" panose="020B0503020204020204" pitchFamily="34" charset="-122"/>
                  </a:rPr>
                  <a:t>分别是由</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𝜽</m:t>
                        </m:r>
                      </m:e>
                      <m:sub>
                        <m:r>
                          <a:rPr lang="en-US" altLang="zh-CN" sz="2400" b="1" i="1" kern="1000">
                            <a:effectLst/>
                            <a:latin typeface="Cambria Math" panose="02040503050406030204" pitchFamily="18" charset="0"/>
                            <a:ea typeface="宋体" panose="02010600030101010101" pitchFamily="2" charset="-122"/>
                          </a:rPr>
                          <m:t>𝑴𝒊𝒋</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𝜽</m:t>
                        </m:r>
                      </m:e>
                      <m:sub>
                        <m:r>
                          <a:rPr lang="en-US" altLang="zh-CN" sz="2400" b="1" i="1" kern="1000">
                            <a:effectLst/>
                            <a:latin typeface="Cambria Math" panose="02040503050406030204" pitchFamily="18" charset="0"/>
                            <a:ea typeface="宋体" panose="02010600030101010101" pitchFamily="2" charset="-122"/>
                          </a:rPr>
                          <m:t>𝑪𝒊𝒋</m:t>
                        </m:r>
                      </m:sub>
                    </m:sSub>
                  </m:oMath>
                </a14:m>
                <a:r>
                  <a:rPr lang="zh-CN" altLang="zh-CN" sz="2400" b="1" kern="1000" dirty="0">
                    <a:effectLst/>
                    <a:latin typeface="微软雅黑" panose="020B0503020204020204" pitchFamily="34" charset="-122"/>
                    <a:ea typeface="微软雅黑" panose="020B0503020204020204" pitchFamily="34" charset="-122"/>
                  </a:rPr>
                  <a:t>和</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𝜽</m:t>
                        </m:r>
                      </m:e>
                      <m:sub>
                        <m:r>
                          <a:rPr lang="en-US" altLang="zh-CN" sz="2400" b="1" i="1" kern="1000">
                            <a:effectLst/>
                            <a:latin typeface="Cambria Math" panose="02040503050406030204" pitchFamily="18" charset="0"/>
                            <a:ea typeface="宋体" panose="02010600030101010101" pitchFamily="2" charset="-122"/>
                          </a:rPr>
                          <m:t>𝑮𝒊</m:t>
                        </m:r>
                      </m:sub>
                    </m:sSub>
                  </m:oMath>
                </a14:m>
                <a:r>
                  <a:rPr lang="zh-CN" altLang="zh-CN" sz="2400" b="1" kern="1000" dirty="0">
                    <a:effectLst/>
                    <a:latin typeface="微软雅黑" panose="020B0503020204020204" pitchFamily="34" charset="-122"/>
                    <a:ea typeface="微软雅黑" panose="020B0503020204020204" pitchFamily="34" charset="-122"/>
                  </a:rPr>
                  <a:t>组成的矩阵，</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𝜩</m:t>
                        </m:r>
                      </m:e>
                      <m:sub>
                        <m:r>
                          <a:rPr lang="en-US" altLang="zh-CN" sz="2400" b="1" i="1" kern="1000">
                            <a:effectLst/>
                            <a:latin typeface="Cambria Math" panose="02040503050406030204" pitchFamily="18" charset="0"/>
                            <a:ea typeface="宋体" panose="02010600030101010101" pitchFamily="2" charset="-122"/>
                          </a:rPr>
                          <m:t>𝑴</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𝜩</m:t>
                        </m:r>
                      </m:e>
                      <m:sub>
                        <m:r>
                          <a:rPr lang="en-US" altLang="zh-CN" sz="2400" b="1" i="1" kern="1000">
                            <a:effectLst/>
                            <a:latin typeface="Cambria Math" panose="02040503050406030204" pitchFamily="18" charset="0"/>
                            <a:ea typeface="宋体" panose="02010600030101010101" pitchFamily="2" charset="-122"/>
                          </a:rPr>
                          <m:t>𝑪</m:t>
                        </m:r>
                      </m:sub>
                    </m:sSub>
                  </m:oMath>
                </a14:m>
                <a:r>
                  <a:rPr lang="zh-CN" altLang="zh-CN" sz="2400" b="1" kern="1000" dirty="0">
                    <a:effectLst/>
                    <a:latin typeface="微软雅黑" panose="020B0503020204020204" pitchFamily="34" charset="-122"/>
                    <a:ea typeface="微软雅黑" panose="020B0503020204020204" pitchFamily="34" charset="-122"/>
                  </a:rPr>
                  <a:t>和</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𝜩</m:t>
                        </m:r>
                      </m:e>
                      <m:sub>
                        <m:r>
                          <a:rPr lang="en-US" altLang="zh-CN" sz="2400" b="1" i="1" kern="1000">
                            <a:effectLst/>
                            <a:latin typeface="Cambria Math" panose="02040503050406030204" pitchFamily="18" charset="0"/>
                            <a:ea typeface="宋体" panose="02010600030101010101" pitchFamily="2" charset="-122"/>
                          </a:rPr>
                          <m:t>𝑮</m:t>
                        </m:r>
                      </m:sub>
                    </m:sSub>
                  </m:oMath>
                </a14:m>
                <a:r>
                  <a:rPr lang="zh-CN" altLang="zh-CN" sz="2400" b="1" kern="1000" dirty="0">
                    <a:effectLst/>
                    <a:latin typeface="微软雅黑" panose="020B0503020204020204" pitchFamily="34" charset="-122"/>
                    <a:ea typeface="微软雅黑" panose="020B0503020204020204" pitchFamily="34" charset="-122"/>
                  </a:rPr>
                  <a:t>分别是由</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𝝃</m:t>
                        </m:r>
                      </m:e>
                      <m:sub>
                        <m:r>
                          <a:rPr lang="en-US" altLang="zh-CN" sz="2400" b="1" i="1" kern="1000">
                            <a:effectLst/>
                            <a:latin typeface="Cambria Math" panose="02040503050406030204" pitchFamily="18" charset="0"/>
                            <a:ea typeface="宋体" panose="02010600030101010101" pitchFamily="2" charset="-122"/>
                          </a:rPr>
                          <m:t>𝑴𝒊𝒋</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𝝃</m:t>
                        </m:r>
                      </m:e>
                      <m:sub>
                        <m:r>
                          <a:rPr lang="en-US" altLang="zh-CN" sz="2400" b="1" i="1" kern="1000">
                            <a:effectLst/>
                            <a:latin typeface="Cambria Math" panose="02040503050406030204" pitchFamily="18" charset="0"/>
                            <a:ea typeface="宋体" panose="02010600030101010101" pitchFamily="2" charset="-122"/>
                          </a:rPr>
                          <m:t>𝑪𝒊𝒋</m:t>
                        </m:r>
                      </m:sub>
                    </m:sSub>
                  </m:oMath>
                </a14:m>
                <a:r>
                  <a:rPr lang="zh-CN" altLang="zh-CN" sz="2400" b="1" kern="1000" dirty="0">
                    <a:effectLst/>
                    <a:latin typeface="微软雅黑" panose="020B0503020204020204" pitchFamily="34" charset="-122"/>
                    <a:ea typeface="微软雅黑" panose="020B0503020204020204" pitchFamily="34" charset="-122"/>
                  </a:rPr>
                  <a:t>和</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𝝃</m:t>
                        </m:r>
                      </m:e>
                      <m:sub>
                        <m:r>
                          <a:rPr lang="en-US" altLang="zh-CN" sz="2400" b="1" i="1" kern="1000">
                            <a:effectLst/>
                            <a:latin typeface="Cambria Math" panose="02040503050406030204" pitchFamily="18" charset="0"/>
                            <a:ea typeface="宋体" panose="02010600030101010101" pitchFamily="2" charset="-122"/>
                          </a:rPr>
                          <m:t>𝑮𝒊</m:t>
                        </m:r>
                      </m:sub>
                    </m:sSub>
                  </m:oMath>
                </a14:m>
                <a:r>
                  <a:rPr lang="zh-CN" altLang="zh-CN" sz="2400" b="1" kern="1000" dirty="0">
                    <a:effectLst/>
                    <a:latin typeface="微软雅黑" panose="020B0503020204020204" pitchFamily="34" charset="-122"/>
                    <a:ea typeface="微软雅黑" panose="020B0503020204020204" pitchFamily="34" charset="-122"/>
                  </a:rPr>
                  <a:t>组成的矩阵，</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𝑬</m:t>
                        </m:r>
                      </m:e>
                      <m:sub>
                        <m:r>
                          <a:rPr lang="en-US" altLang="zh-CN" sz="2400" b="1" i="1" kern="1000">
                            <a:effectLst/>
                            <a:latin typeface="Cambria Math" panose="02040503050406030204" pitchFamily="18" charset="0"/>
                            <a:ea typeface="宋体" panose="02010600030101010101" pitchFamily="2" charset="-122"/>
                          </a:rPr>
                          <m:t>𝑴</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𝑬</m:t>
                        </m:r>
                      </m:e>
                      <m:sub>
                        <m:r>
                          <a:rPr lang="en-US" altLang="zh-CN" sz="2400" b="1" i="1" kern="1000">
                            <a:effectLst/>
                            <a:latin typeface="Cambria Math" panose="02040503050406030204" pitchFamily="18" charset="0"/>
                            <a:ea typeface="宋体" panose="02010600030101010101" pitchFamily="2" charset="-122"/>
                          </a:rPr>
                          <m:t>𝑪</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𝑬</m:t>
                        </m:r>
                      </m:e>
                      <m:sub>
                        <m:r>
                          <a:rPr lang="en-US" altLang="zh-CN" sz="2400" b="1" i="1" kern="1000">
                            <a:effectLst/>
                            <a:latin typeface="Cambria Math" panose="02040503050406030204" pitchFamily="18" charset="0"/>
                            <a:ea typeface="宋体" panose="02010600030101010101" pitchFamily="2" charset="-122"/>
                          </a:rPr>
                          <m:t>𝑮</m:t>
                        </m:r>
                      </m:sub>
                    </m:sSub>
                  </m:oMath>
                </a14:m>
                <a:r>
                  <a:rPr lang="zh-CN" altLang="zh-CN" sz="2400" b="1" kern="1000" dirty="0">
                    <a:effectLst/>
                    <a:latin typeface="微软雅黑" panose="020B0503020204020204" pitchFamily="34" charset="-122"/>
                    <a:ea typeface="微软雅黑" panose="020B0503020204020204" pitchFamily="34" charset="-122"/>
                  </a:rPr>
                  <a:t>分别是由</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𝜺</m:t>
                        </m:r>
                      </m:e>
                      <m:sub>
                        <m:r>
                          <a:rPr lang="en-US" altLang="zh-CN" sz="2400" b="1" i="1" kern="1000">
                            <a:effectLst/>
                            <a:latin typeface="Cambria Math" panose="02040503050406030204" pitchFamily="18" charset="0"/>
                            <a:ea typeface="宋体" panose="02010600030101010101" pitchFamily="2" charset="-122"/>
                          </a:rPr>
                          <m:t>𝑴𝒊𝒋</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𝜺</m:t>
                        </m:r>
                      </m:e>
                      <m:sub>
                        <m:r>
                          <a:rPr lang="en-US" altLang="zh-CN" sz="2400" b="1" i="1" kern="1000">
                            <a:effectLst/>
                            <a:latin typeface="Cambria Math" panose="02040503050406030204" pitchFamily="18" charset="0"/>
                            <a:ea typeface="宋体" panose="02010600030101010101" pitchFamily="2" charset="-122"/>
                          </a:rPr>
                          <m:t>𝑪𝒊𝒋</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𝜺</m:t>
                        </m:r>
                      </m:e>
                      <m:sub>
                        <m:r>
                          <a:rPr lang="en-US" altLang="zh-CN" sz="2400" b="1" i="1" kern="1000">
                            <a:effectLst/>
                            <a:latin typeface="Cambria Math" panose="02040503050406030204" pitchFamily="18" charset="0"/>
                            <a:ea typeface="宋体" panose="02010600030101010101" pitchFamily="2" charset="-122"/>
                          </a:rPr>
                          <m:t>𝑮𝒊</m:t>
                        </m:r>
                      </m:sub>
                    </m:sSub>
                  </m:oMath>
                </a14:m>
                <a:r>
                  <a:rPr lang="zh-CN" altLang="zh-CN" sz="2400" b="1" kern="1000" dirty="0">
                    <a:effectLst/>
                    <a:latin typeface="微软雅黑" panose="020B0503020204020204" pitchFamily="34" charset="-122"/>
                    <a:ea typeface="微软雅黑" panose="020B0503020204020204" pitchFamily="34" charset="-122"/>
                  </a:rPr>
                  <a:t>形成的近似误差。</a:t>
                </a:r>
              </a:p>
            </p:txBody>
          </p:sp>
        </mc:Choice>
        <mc:Fallback xmlns="">
          <p:sp>
            <p:nvSpPr>
              <p:cNvPr id="5" name="文本框 4">
                <a:extLst>
                  <a:ext uri="{FF2B5EF4-FFF2-40B4-BE49-F238E27FC236}">
                    <a16:creationId xmlns:a16="http://schemas.microsoft.com/office/drawing/2014/main" id="{CD2C25D7-7E4C-04C6-E6E4-9C5E9E7D2466}"/>
                  </a:ext>
                </a:extLst>
              </p:cNvPr>
              <p:cNvSpPr txBox="1">
                <a:spLocks noRot="1" noChangeAspect="1" noMove="1" noResize="1" noEditPoints="1" noAdjustHandles="1" noChangeArrowheads="1" noChangeShapeType="1" noTextEdit="1"/>
              </p:cNvSpPr>
              <p:nvPr/>
            </p:nvSpPr>
            <p:spPr>
              <a:xfrm>
                <a:off x="1381125" y="5220873"/>
                <a:ext cx="9339262" cy="1305357"/>
              </a:xfrm>
              <a:prstGeom prst="rect">
                <a:avLst/>
              </a:prstGeom>
              <a:blipFill>
                <a:blip r:embed="rId4"/>
                <a:stretch>
                  <a:fillRect l="-1044" t="-3721" r="-4243" b="-6512"/>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63147DB6-83A8-825B-2D0A-EE76D2256921}"/>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6</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阻抗控制</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D90168C-513D-4FF3-0D0B-E003DA3F8753}"/>
                  </a:ext>
                </a:extLst>
              </p:cNvPr>
              <p:cNvSpPr txBox="1"/>
              <p:nvPr/>
            </p:nvSpPr>
            <p:spPr>
              <a:xfrm>
                <a:off x="885825" y="1019176"/>
                <a:ext cx="10201275" cy="2304605"/>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在笛卡尔空间</a:t>
                </a:r>
                <a:r>
                  <a:rPr lang="en-US" altLang="zh-CN" sz="2400" b="1" kern="1000" dirty="0">
                    <a:effectLst/>
                    <a:latin typeface="微软雅黑" panose="020B0503020204020204" pitchFamily="34" charset="-122"/>
                    <a:ea typeface="微软雅黑" panose="020B0503020204020204" pitchFamily="34" charset="-122"/>
                  </a:rPr>
                  <a:t>(</a:t>
                </a:r>
                <a:r>
                  <a:rPr lang="zh-CN" altLang="zh-CN" sz="2400" b="1" kern="1000" dirty="0">
                    <a:effectLst/>
                    <a:latin typeface="微软雅黑" panose="020B0503020204020204" pitchFamily="34" charset="-122"/>
                    <a:ea typeface="微软雅黑" panose="020B0503020204020204" pitchFamily="34" charset="-122"/>
                  </a:rPr>
                  <a:t>代替关节空间</a:t>
                </a:r>
                <a:r>
                  <a:rPr lang="en-US" altLang="zh-CN" sz="2400" b="1" kern="1000" dirty="0">
                    <a:effectLst/>
                    <a:latin typeface="微软雅黑" panose="020B0503020204020204" pitchFamily="34" charset="-122"/>
                    <a:ea typeface="微软雅黑" panose="020B0503020204020204" pitchFamily="34" charset="-122"/>
                  </a:rPr>
                  <a:t>)</a:t>
                </a:r>
                <a:r>
                  <a:rPr lang="zh-CN" altLang="zh-CN" sz="2400" b="1" kern="1000" dirty="0">
                    <a:effectLst/>
                    <a:latin typeface="微软雅黑" panose="020B0503020204020204" pitchFamily="34" charset="-122"/>
                    <a:ea typeface="微软雅黑" panose="020B0503020204020204" pitchFamily="34" charset="-122"/>
                  </a:rPr>
                  <a:t>中给出的所需阻抗模型如下：</a:t>
                </a:r>
              </a:p>
              <a:p>
                <a:pPr algn="just">
                  <a:spcBef>
                    <a:spcPts val="200"/>
                  </a:spcBef>
                  <a:spcAft>
                    <a:spcPts val="2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𝑴</m:t>
                        </m:r>
                      </m:e>
                      <m:sub>
                        <m:r>
                          <a:rPr lang="en-US" altLang="zh-CN" sz="2000" b="1" i="1" kern="1050" smtClean="0">
                            <a:effectLst/>
                            <a:latin typeface="Cambria Math" panose="02040503050406030204" pitchFamily="18" charset="0"/>
                            <a:ea typeface="宋体" panose="02010600030101010101" pitchFamily="2" charset="-122"/>
                          </a:rPr>
                          <m:t>𝒅</m:t>
                        </m:r>
                      </m:sub>
                    </m:sSub>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𝒙</m:t>
                    </m:r>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𝒙</m:t>
                        </m:r>
                      </m:e>
                    </m:acc>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𝒙</m:t>
                            </m:r>
                          </m:e>
                        </m:acc>
                      </m:e>
                      <m:sub>
                        <m:r>
                          <a:rPr lang="en-US" altLang="zh-CN" sz="2000" b="1" i="1" kern="1050" smtClean="0">
                            <a:effectLst/>
                            <a:latin typeface="Cambria Math" panose="02040503050406030204" pitchFamily="18" charset="0"/>
                            <a:ea typeface="宋体" panose="02010600030101010101" pitchFamily="2" charset="-122"/>
                          </a:rPr>
                          <m:t>𝒅</m:t>
                        </m:r>
                      </m:sub>
                    </m:sSub>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𝑪</m:t>
                        </m:r>
                      </m:e>
                      <m:sub>
                        <m:r>
                          <a:rPr lang="en-US" altLang="zh-CN" sz="2000" b="1" i="1" kern="1050" smtClean="0">
                            <a:effectLst/>
                            <a:latin typeface="Cambria Math" panose="02040503050406030204" pitchFamily="18" charset="0"/>
                            <a:ea typeface="宋体" panose="02010600030101010101" pitchFamily="2" charset="-122"/>
                          </a:rPr>
                          <m:t>𝒅</m:t>
                        </m:r>
                      </m:sub>
                    </m:sSub>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𝒙</m:t>
                    </m:r>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𝒙</m:t>
                        </m:r>
                      </m:e>
                    </m:acc>
                    <m:r>
                      <a:rPr lang="en-US" altLang="zh-CN" sz="2000" b="1" i="1" kern="1050" smtClean="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𝒙</m:t>
                        </m:r>
                      </m:e>
                    </m:acc>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smtClean="0">
                                <a:effectLst/>
                                <a:latin typeface="Cambria Math" panose="02040503050406030204" pitchFamily="18" charset="0"/>
                                <a:ea typeface="宋体" panose="02010600030101010101" pitchFamily="2" charset="-122"/>
                              </a:rPr>
                              <m:t>𝒙</m:t>
                            </m:r>
                          </m:e>
                        </m:acc>
                      </m:e>
                      <m:sub>
                        <m:r>
                          <a:rPr lang="en-US" altLang="zh-CN" sz="2000" b="1" i="1" kern="1050" smtClean="0">
                            <a:effectLst/>
                            <a:latin typeface="Cambria Math" panose="02040503050406030204" pitchFamily="18" charset="0"/>
                            <a:ea typeface="宋体" panose="02010600030101010101" pitchFamily="2" charset="-122"/>
                          </a:rPr>
                          <m:t>𝒅</m:t>
                        </m:r>
                      </m:sub>
                    </m:sSub>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𝑮</m:t>
                        </m:r>
                      </m:e>
                      <m:sub>
                        <m:r>
                          <a:rPr lang="en-US" altLang="zh-CN" sz="2000" b="1" i="1" kern="1050" smtClean="0">
                            <a:effectLst/>
                            <a:latin typeface="Cambria Math" panose="02040503050406030204" pitchFamily="18" charset="0"/>
                            <a:ea typeface="宋体" panose="02010600030101010101" pitchFamily="2" charset="-122"/>
                          </a:rPr>
                          <m:t>𝒅</m:t>
                        </m:r>
                      </m:sub>
                    </m:sSub>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𝒙</m:t>
                    </m:r>
                    <m:r>
                      <a:rPr lang="en-US" altLang="zh-CN" sz="2000" b="1" i="1" kern="1050" smtClean="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smtClean="0">
                            <a:effectLst/>
                            <a:latin typeface="Cambria Math" panose="02040503050406030204" pitchFamily="18" charset="0"/>
                            <a:ea typeface="宋体" panose="02010600030101010101" pitchFamily="2" charset="-122"/>
                          </a:rPr>
                          <m:t>𝒙</m:t>
                        </m:r>
                      </m:e>
                      <m:sub>
                        <m:r>
                          <a:rPr lang="en-US" altLang="zh-CN" sz="2000" b="1" i="1" kern="1050" smtClean="0">
                            <a:effectLst/>
                            <a:latin typeface="Cambria Math" panose="02040503050406030204" pitchFamily="18" charset="0"/>
                            <a:ea typeface="宋体" panose="02010600030101010101" pitchFamily="2" charset="-122"/>
                          </a:rPr>
                          <m:t>𝒅</m:t>
                        </m:r>
                      </m:sub>
                    </m:sSub>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𝒇</m:t>
                    </m:r>
                    <m:r>
                      <a:rPr lang="en-US" altLang="zh-CN" sz="2000" b="1" i="1" kern="1050" smtClean="0">
                        <a:effectLst/>
                        <a:latin typeface="Cambria Math" panose="02040503050406030204" pitchFamily="18" charset="0"/>
                        <a:ea typeface="宋体" panose="02010600030101010101" pitchFamily="2" charset="-122"/>
                      </a:rPr>
                      <m:t>(</m:t>
                    </m:r>
                    <m:r>
                      <a:rPr lang="en-US" altLang="zh-CN" sz="2000" b="1" i="1" kern="1050" smtClean="0">
                        <a:effectLst/>
                        <a:latin typeface="Cambria Math" panose="02040503050406030204" pitchFamily="18" charset="0"/>
                        <a:ea typeface="宋体" panose="02010600030101010101" pitchFamily="2" charset="-122"/>
                      </a:rPr>
                      <m:t>𝒕</m:t>
                    </m:r>
                    <m:r>
                      <a:rPr lang="en-US" altLang="zh-CN" sz="2000" b="1" i="1" kern="1050" smtClean="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(7.116)</a:t>
                </a:r>
                <a:endParaRPr lang="zh-CN" altLang="zh-CN" sz="2000" b="1" kern="1050" dirty="0">
                  <a:effectLst/>
                  <a:latin typeface="微软雅黑" panose="020B0503020204020204" pitchFamily="34" charset="-122"/>
                  <a:ea typeface="微软雅黑" panose="020B0503020204020204" pitchFamily="34" charset="-122"/>
                </a:endParaRPr>
              </a:p>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𝒙</m:t>
                        </m:r>
                      </m:e>
                      <m:sub>
                        <m:r>
                          <a:rPr lang="en-US" altLang="zh-CN" sz="2400" b="1" i="1" kern="1000" smtClean="0">
                            <a:effectLst/>
                            <a:latin typeface="Cambria Math" panose="02040503050406030204" pitchFamily="18" charset="0"/>
                            <a:ea typeface="宋体" panose="02010600030101010101" pitchFamily="2" charset="-122"/>
                          </a:rPr>
                          <m:t>𝒅</m:t>
                        </m:r>
                      </m:sub>
                    </m:sSub>
                  </m:oMath>
                </a14:m>
                <a:r>
                  <a:rPr lang="zh-CN" altLang="zh-CN" sz="2400" b="1" kern="1000" dirty="0">
                    <a:effectLst/>
                    <a:latin typeface="微软雅黑" panose="020B0503020204020204" pitchFamily="34" charset="-122"/>
                    <a:ea typeface="微软雅黑" panose="020B0503020204020204" pitchFamily="34" charset="-122"/>
                  </a:rPr>
                  <a:t>是笛卡尔空间中的期望轨迹，</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𝑴</m:t>
                        </m:r>
                      </m:e>
                      <m:sub>
                        <m:r>
                          <a:rPr lang="en-US" altLang="zh-CN" sz="2400" b="1" i="1" kern="1000" smtClean="0">
                            <a:effectLst/>
                            <a:latin typeface="Cambria Math" panose="02040503050406030204" pitchFamily="18" charset="0"/>
                            <a:ea typeface="宋体" panose="02010600030101010101" pitchFamily="2" charset="-122"/>
                          </a:rPr>
                          <m:t>𝒅</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𝑪</m:t>
                        </m:r>
                      </m:e>
                      <m:sub>
                        <m:r>
                          <a:rPr lang="en-US" altLang="zh-CN" sz="2400" b="1" i="1" kern="1000" smtClean="0">
                            <a:effectLst/>
                            <a:latin typeface="Cambria Math" panose="02040503050406030204" pitchFamily="18" charset="0"/>
                            <a:ea typeface="宋体" panose="02010600030101010101" pitchFamily="2" charset="-122"/>
                          </a:rPr>
                          <m:t>𝒅</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𝑮</m:t>
                        </m:r>
                      </m:e>
                      <m:sub>
                        <m:r>
                          <a:rPr lang="en-US" altLang="zh-CN" sz="2400" b="1" i="1" kern="1000" smtClean="0">
                            <a:effectLst/>
                            <a:latin typeface="Cambria Math" panose="02040503050406030204" pitchFamily="18" charset="0"/>
                            <a:ea typeface="宋体" panose="02010600030101010101" pitchFamily="2" charset="-122"/>
                          </a:rPr>
                          <m:t>𝒅</m:t>
                        </m:r>
                      </m:sub>
                    </m:sSub>
                  </m:oMath>
                </a14:m>
                <a:r>
                  <a:rPr lang="zh-CN" altLang="zh-CN" sz="2400" b="1" kern="1000" dirty="0">
                    <a:effectLst/>
                    <a:latin typeface="微软雅黑" panose="020B0503020204020204" pitchFamily="34" charset="-122"/>
                    <a:ea typeface="微软雅黑" panose="020B0503020204020204" pitchFamily="34" charset="-122"/>
                  </a:rPr>
                  <a:t>分别是期望惯性、阻尼和刚度矩阵。</a:t>
                </a:r>
              </a:p>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假设动态模型和期望阻抗模型是完全已知的，我们可以设计基于模型的阻抗控制。设</a:t>
                </a:r>
                <a14:m>
                  <m:oMath xmlns:m="http://schemas.openxmlformats.org/officeDocument/2006/math">
                    <m:r>
                      <a:rPr lang="en-US" altLang="zh-CN" sz="2400" b="1" i="1" kern="1000" smtClean="0">
                        <a:effectLst/>
                        <a:latin typeface="Cambria Math" panose="02040503050406030204" pitchFamily="18" charset="0"/>
                        <a:ea typeface="宋体" panose="02010600030101010101" pitchFamily="2" charset="-122"/>
                      </a:rPr>
                      <m:t>𝝉</m:t>
                    </m:r>
                    <m:r>
                      <a:rPr lang="en-US" altLang="zh-CN" sz="2400" b="1" i="1" kern="1000" smtClean="0">
                        <a:effectLst/>
                        <a:latin typeface="Cambria Math" panose="02040503050406030204" pitchFamily="18" charset="0"/>
                        <a:ea typeface="宋体" panose="02010600030101010101" pitchFamily="2" charset="-122"/>
                      </a:rPr>
                      <m:t>(</m:t>
                    </m:r>
                    <m:r>
                      <a:rPr lang="en-US" altLang="zh-CN" sz="2400" b="1" i="1" kern="1000" smtClean="0">
                        <a:effectLst/>
                        <a:latin typeface="Cambria Math" panose="02040503050406030204" pitchFamily="18" charset="0"/>
                        <a:ea typeface="宋体" panose="02010600030101010101" pitchFamily="2" charset="-122"/>
                      </a:rPr>
                      <m:t>𝒕</m:t>
                    </m:r>
                    <m:r>
                      <a:rPr lang="en-US" altLang="zh-CN" sz="2400" b="1" i="1" kern="1000" smtClean="0">
                        <a:effectLst/>
                        <a:latin typeface="Cambria Math" panose="02040503050406030204" pitchFamily="18" charset="0"/>
                        <a:ea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smtClean="0">
                            <a:effectLst/>
                            <a:latin typeface="Cambria Math" panose="02040503050406030204" pitchFamily="18" charset="0"/>
                            <a:ea typeface="宋体" panose="02010600030101010101" pitchFamily="2" charset="-122"/>
                          </a:rPr>
                          <m:t>𝑱</m:t>
                        </m:r>
                      </m:e>
                      <m:sup>
                        <m:r>
                          <a:rPr lang="en-US" altLang="zh-CN" sz="2400" b="1" i="1" kern="1000" smtClean="0">
                            <a:effectLst/>
                            <a:latin typeface="Cambria Math" panose="02040503050406030204" pitchFamily="18" charset="0"/>
                            <a:ea typeface="宋体" panose="02010600030101010101" pitchFamily="2" charset="-122"/>
                          </a:rPr>
                          <m:t>𝑻</m:t>
                        </m:r>
                      </m:sup>
                    </m:sSup>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smtClean="0">
                            <a:effectLst/>
                            <a:latin typeface="Cambria Math" panose="02040503050406030204" pitchFamily="18" charset="0"/>
                            <a:ea typeface="宋体" panose="02010600030101010101" pitchFamily="2" charset="-122"/>
                          </a:rPr>
                          <m:t>𝝉</m:t>
                        </m:r>
                      </m:e>
                      <m:sub>
                        <m:r>
                          <a:rPr lang="en-US" altLang="zh-CN" sz="2400" b="1" i="1" kern="1000" smtClean="0">
                            <a:effectLst/>
                            <a:latin typeface="Cambria Math" panose="02040503050406030204" pitchFamily="18" charset="0"/>
                            <a:ea typeface="宋体" panose="02010600030101010101" pitchFamily="2" charset="-122"/>
                          </a:rPr>
                          <m:t>𝟎</m:t>
                        </m:r>
                      </m:sub>
                    </m:sSub>
                    <m:r>
                      <a:rPr lang="en-US" altLang="zh-CN" sz="2400" b="1" i="1" kern="1000" smtClean="0">
                        <a:effectLst/>
                        <a:latin typeface="Cambria Math" panose="02040503050406030204" pitchFamily="18" charset="0"/>
                        <a:ea typeface="宋体" panose="02010600030101010101" pitchFamily="2" charset="-122"/>
                      </a:rPr>
                      <m:t>(</m:t>
                    </m:r>
                    <m:r>
                      <a:rPr lang="en-US" altLang="zh-CN" sz="2400" b="1" i="1" kern="1000" smtClean="0">
                        <a:effectLst/>
                        <a:latin typeface="Cambria Math" panose="02040503050406030204" pitchFamily="18" charset="0"/>
                        <a:ea typeface="宋体" panose="02010600030101010101" pitchFamily="2" charset="-122"/>
                      </a:rPr>
                      <m:t>𝒕</m:t>
                    </m:r>
                    <m:r>
                      <a:rPr lang="en-US" altLang="zh-CN" sz="2400" b="1" i="1" kern="1000" smtClean="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，提出以下控制：</a:t>
                </a:r>
              </a:p>
            </p:txBody>
          </p:sp>
        </mc:Choice>
        <mc:Fallback xmlns="">
          <p:sp>
            <p:nvSpPr>
              <p:cNvPr id="3" name="文本框 2">
                <a:extLst>
                  <a:ext uri="{FF2B5EF4-FFF2-40B4-BE49-F238E27FC236}">
                    <a16:creationId xmlns:a16="http://schemas.microsoft.com/office/drawing/2014/main" id="{2D90168C-513D-4FF3-0D0B-E003DA3F8753}"/>
                  </a:ext>
                </a:extLst>
              </p:cNvPr>
              <p:cNvSpPr txBox="1">
                <a:spLocks noRot="1" noChangeAspect="1" noMove="1" noResize="1" noEditPoints="1" noAdjustHandles="1" noChangeArrowheads="1" noChangeShapeType="1" noTextEdit="1"/>
              </p:cNvSpPr>
              <p:nvPr/>
            </p:nvSpPr>
            <p:spPr>
              <a:xfrm>
                <a:off x="885825" y="1019176"/>
                <a:ext cx="10201275" cy="2304605"/>
              </a:xfrm>
              <a:prstGeom prst="rect">
                <a:avLst/>
              </a:prstGeom>
              <a:blipFill>
                <a:blip r:embed="rId3"/>
                <a:stretch>
                  <a:fillRect l="-896" t="-2116" r="-3823" b="-52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对象 9">
                <a:extLst>
                  <a:ext uri="{FF2B5EF4-FFF2-40B4-BE49-F238E27FC236}">
                    <a16:creationId xmlns:a16="http://schemas.microsoft.com/office/drawing/2014/main" id="{5D7847D5-A4EB-F6B4-36E0-A14D06A5FB99}"/>
                  </a:ext>
                </a:extLst>
              </p:cNvPr>
              <p:cNvSpPr txBox="1"/>
              <p:nvPr/>
            </p:nvSpPr>
            <p:spPr bwMode="auto">
              <a:xfrm>
                <a:off x="1543050" y="3534220"/>
                <a:ext cx="9391650" cy="1714055"/>
              </a:xfrm>
              <a:prstGeom prst="rect">
                <a:avLst/>
              </a:prstGeom>
              <a:solidFill>
                <a:schemeClr val="bg1"/>
              </a:solidFill>
              <a:ln>
                <a:solidFill>
                  <a:schemeClr val="bg1"/>
                </a:solidFill>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000" b="1" i="1" smtClean="0">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𝝉</m:t>
                          </m:r>
                        </m:e>
                        <m:sub>
                          <m:r>
                            <a:rPr lang="zh-CN" altLang="en-US" sz="2000" b="1" i="1">
                              <a:solidFill>
                                <a:srgbClr val="000000"/>
                              </a:solidFill>
                              <a:latin typeface="Cambria Math" panose="02040503050406030204" pitchFamily="18" charset="0"/>
                            </a:rPr>
                            <m:t>𝟎</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𝒕</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𝒇</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𝒕</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𝑮</m:t>
                          </m:r>
                        </m:e>
                        <m:sub>
                          <m:r>
                            <a:rPr lang="zh-CN" altLang="en-US" sz="2000" b="1" i="1">
                              <a:solidFill>
                                <a:srgbClr val="000000"/>
                              </a:solidFill>
                              <a:latin typeface="Cambria Math" panose="02040503050406030204" pitchFamily="18" charset="0"/>
                            </a:rPr>
                            <m:t>𝒙</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𝒙</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𝑪</m:t>
                          </m:r>
                        </m:e>
                        <m:sub>
                          <m:r>
                            <a:rPr lang="zh-CN" altLang="en-US" sz="2000" b="1" i="1">
                              <a:solidFill>
                                <a:srgbClr val="000000"/>
                              </a:solidFill>
                              <a:latin typeface="Cambria Math" panose="02040503050406030204" pitchFamily="18" charset="0"/>
                            </a:rPr>
                            <m:t>𝒙</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𝒙</m:t>
                      </m:r>
                      <m:r>
                        <a:rPr lang="zh-CN" altLang="en-US" sz="2000" b="1" i="1">
                          <a:solidFill>
                            <a:srgbClr val="000000"/>
                          </a:solidFill>
                          <a:latin typeface="Cambria Math" panose="02040503050406030204" pitchFamily="18" charset="0"/>
                        </a:rPr>
                        <m:t>,</m:t>
                      </m:r>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𝒙</m:t>
                          </m:r>
                        </m:e>
                      </m:acc>
                      <m:r>
                        <a:rPr lang="zh-CN" altLang="en-US" sz="2000" b="1" i="1">
                          <a:solidFill>
                            <a:srgbClr val="000000"/>
                          </a:solidFill>
                          <a:latin typeface="Cambria Math" panose="02040503050406030204" pitchFamily="18" charset="0"/>
                        </a:rPr>
                        <m:t>)</m:t>
                      </m:r>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𝒙</m:t>
                          </m:r>
                        </m:e>
                      </m:acc>
                      <m:r>
                        <a:rPr lang="zh-CN" altLang="en-US" sz="2000" b="1" i="1">
                          <a:solidFill>
                            <a:srgbClr val="000000"/>
                          </a:solidFill>
                          <a:latin typeface="Cambria Math" panose="02040503050406030204" pitchFamily="18" charset="0"/>
                        </a:rPr>
                        <m:t>+</m:t>
                      </m:r>
                    </m:oMath>
                  </m:oMathPara>
                </a14:m>
                <a:br>
                  <a:rPr lang="zh-CN" altLang="en-US" sz="2000" b="1" i="1" dirty="0">
                    <a:solidFill>
                      <a:srgbClr val="000000"/>
                    </a:solidFill>
                    <a:latin typeface="微软雅黑" panose="020B0503020204020204" pitchFamily="34" charset="-122"/>
                    <a:ea typeface="微软雅黑" panose="020B0503020204020204" pitchFamily="34" charset="-122"/>
                  </a:rPr>
                </a:br>
                <a14:m>
                  <m:oMath xmlns:m="http://schemas.openxmlformats.org/officeDocument/2006/math">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𝑴</m:t>
                        </m:r>
                      </m:e>
                      <m:sub>
                        <m:r>
                          <a:rPr lang="zh-CN" altLang="en-US" sz="2000" b="1" i="1">
                            <a:solidFill>
                              <a:srgbClr val="000000"/>
                            </a:solidFill>
                            <a:latin typeface="Cambria Math" panose="02040503050406030204" pitchFamily="18" charset="0"/>
                          </a:rPr>
                          <m:t>𝒙</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𝒙</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𝒙</m:t>
                            </m:r>
                          </m:e>
                        </m:acc>
                      </m:e>
                      <m:sub>
                        <m:r>
                          <a:rPr lang="zh-CN" altLang="en-US" sz="2000" b="1" i="1">
                            <a:solidFill>
                              <a:srgbClr val="000000"/>
                            </a:solidFill>
                            <a:latin typeface="Cambria Math" panose="02040503050406030204" pitchFamily="18" charset="0"/>
                          </a:rPr>
                          <m:t>𝒅</m:t>
                        </m:r>
                      </m:sub>
                    </m:sSub>
                    <m:r>
                      <a:rPr lang="zh-CN" altLang="en-US" sz="2000" b="1" i="1">
                        <a:solidFill>
                          <a:srgbClr val="000000"/>
                        </a:solidFill>
                        <a:latin typeface="Cambria Math" panose="02040503050406030204" pitchFamily="18" charset="0"/>
                      </a:rPr>
                      <m:t>−</m:t>
                    </m:r>
                    <m:sSubSup>
                      <m:sSubSupPr>
                        <m:ctrlPr>
                          <a:rPr lang="zh-CN" altLang="en-US" sz="2000" b="1" i="1">
                            <a:solidFill>
                              <a:srgbClr val="000000"/>
                            </a:solidFill>
                            <a:latin typeface="Cambria Math" panose="02040503050406030204" pitchFamily="18" charset="0"/>
                          </a:rPr>
                        </m:ctrlPr>
                      </m:sSubSupPr>
                      <m:e>
                        <m:r>
                          <a:rPr lang="zh-CN" altLang="en-US" sz="2000" b="1" i="1">
                            <a:solidFill>
                              <a:srgbClr val="000000"/>
                            </a:solidFill>
                            <a:latin typeface="Cambria Math" panose="02040503050406030204" pitchFamily="18" charset="0"/>
                          </a:rPr>
                          <m:t>𝑴</m:t>
                        </m:r>
                      </m:e>
                      <m:sub>
                        <m:r>
                          <a:rPr lang="zh-CN" altLang="en-US" sz="2000" b="1" i="1">
                            <a:solidFill>
                              <a:srgbClr val="000000"/>
                            </a:solidFill>
                            <a:latin typeface="Cambria Math" panose="02040503050406030204" pitchFamily="18" charset="0"/>
                          </a:rPr>
                          <m:t>𝒅</m:t>
                        </m:r>
                      </m:sub>
                      <m:sup>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𝟏</m:t>
                        </m:r>
                      </m:sup>
                    </m:sSubSup>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𝒙</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𝑪</m:t>
                        </m:r>
                      </m:e>
                      <m:sub>
                        <m:r>
                          <a:rPr lang="zh-CN" altLang="en-US" sz="2000" b="1" i="1">
                            <a:solidFill>
                              <a:srgbClr val="000000"/>
                            </a:solidFill>
                            <a:latin typeface="Cambria Math" panose="02040503050406030204" pitchFamily="18" charset="0"/>
                          </a:rPr>
                          <m:t>𝒅</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𝒙</m:t>
                    </m:r>
                    <m:r>
                      <a:rPr lang="zh-CN" altLang="en-US" sz="2000" b="1" i="1">
                        <a:solidFill>
                          <a:srgbClr val="000000"/>
                        </a:solidFill>
                        <a:latin typeface="Cambria Math" panose="02040503050406030204" pitchFamily="18" charset="0"/>
                      </a:rPr>
                      <m:t>,</m:t>
                    </m:r>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𝒙</m:t>
                        </m:r>
                      </m:e>
                    </m:acc>
                    <m:r>
                      <a:rPr lang="zh-CN" altLang="en-US" sz="2000" b="1" i="1">
                        <a:solidFill>
                          <a:srgbClr val="000000"/>
                        </a:solidFill>
                        <a:latin typeface="Cambria Math" panose="02040503050406030204" pitchFamily="18" charset="0"/>
                      </a:rPr>
                      <m:t>)(</m:t>
                    </m:r>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𝒙</m:t>
                        </m:r>
                      </m:e>
                    </m:acc>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acc>
                          <m:accPr>
                            <m:chr m:val="̈"/>
                            <m:ctrlPr>
                              <a:rPr lang="zh-CN" altLang="en-US" sz="2000" b="1" i="1">
                                <a:solidFill>
                                  <a:srgbClr val="000000"/>
                                </a:solidFill>
                                <a:latin typeface="Cambria Math" panose="02040503050406030204" pitchFamily="18" charset="0"/>
                              </a:rPr>
                            </m:ctrlPr>
                          </m:accPr>
                          <m:e>
                            <m:r>
                              <a:rPr lang="zh-CN" altLang="en-US" sz="2000" b="1" i="1">
                                <a:solidFill>
                                  <a:srgbClr val="000000"/>
                                </a:solidFill>
                                <a:latin typeface="Cambria Math" panose="02040503050406030204" pitchFamily="18" charset="0"/>
                              </a:rPr>
                              <m:t>𝒙</m:t>
                            </m:r>
                          </m:e>
                        </m:acc>
                      </m:e>
                      <m:sub>
                        <m:r>
                          <a:rPr lang="zh-CN" altLang="en-US" sz="2000" b="1" i="1">
                            <a:solidFill>
                              <a:srgbClr val="000000"/>
                            </a:solidFill>
                            <a:latin typeface="Cambria Math" panose="02040503050406030204" pitchFamily="18" charset="0"/>
                          </a:rPr>
                          <m:t>𝒅</m:t>
                        </m:r>
                      </m:sub>
                    </m:sSub>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𝑮</m:t>
                        </m:r>
                      </m:e>
                      <m:sub>
                        <m:r>
                          <a:rPr lang="zh-CN" altLang="en-US" sz="2000" b="1" i="1">
                            <a:solidFill>
                              <a:srgbClr val="000000"/>
                            </a:solidFill>
                            <a:latin typeface="Cambria Math" panose="02040503050406030204" pitchFamily="18" charset="0"/>
                          </a:rPr>
                          <m:t>𝒅</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𝒙</m:t>
                    </m:r>
                    <m:r>
                      <a:rPr lang="zh-CN" altLang="en-US" sz="2000" b="1" i="1">
                        <a:solidFill>
                          <a:srgbClr val="000000"/>
                        </a:solidFill>
                        <a:latin typeface="Cambria Math" panose="02040503050406030204" pitchFamily="18" charset="0"/>
                      </a:rPr>
                      <m:t>−</m:t>
                    </m:r>
                    <m:sSub>
                      <m:sSubPr>
                        <m:ctrlPr>
                          <a:rPr lang="zh-CN" altLang="en-US" sz="2000" b="1" i="1">
                            <a:solidFill>
                              <a:srgbClr val="000000"/>
                            </a:solidFill>
                            <a:latin typeface="Cambria Math" panose="02040503050406030204" pitchFamily="18" charset="0"/>
                          </a:rPr>
                        </m:ctrlPr>
                      </m:sSubPr>
                      <m:e>
                        <m:r>
                          <a:rPr lang="zh-CN" altLang="en-US" sz="2000" b="1" i="1">
                            <a:solidFill>
                              <a:srgbClr val="000000"/>
                            </a:solidFill>
                            <a:latin typeface="Cambria Math" panose="02040503050406030204" pitchFamily="18" charset="0"/>
                          </a:rPr>
                          <m:t>𝒙</m:t>
                        </m:r>
                      </m:e>
                      <m:sub>
                        <m:r>
                          <a:rPr lang="zh-CN" altLang="en-US" sz="2000" b="1" i="1">
                            <a:solidFill>
                              <a:srgbClr val="000000"/>
                            </a:solidFill>
                            <a:latin typeface="Cambria Math" panose="02040503050406030204" pitchFamily="18" charset="0"/>
                          </a:rPr>
                          <m:t>𝒅</m:t>
                        </m:r>
                      </m:sub>
                    </m:sSub>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𝒇</m:t>
                    </m:r>
                    <m:r>
                      <a:rPr lang="zh-CN" altLang="en-US" sz="2000" b="1" i="1">
                        <a:solidFill>
                          <a:srgbClr val="000000"/>
                        </a:solidFill>
                        <a:latin typeface="Cambria Math" panose="02040503050406030204" pitchFamily="18" charset="0"/>
                      </a:rPr>
                      <m:t>(</m:t>
                    </m:r>
                    <m:r>
                      <a:rPr lang="zh-CN" altLang="en-US" sz="2000" b="1" i="1">
                        <a:solidFill>
                          <a:srgbClr val="000000"/>
                        </a:solidFill>
                        <a:latin typeface="Cambria Math" panose="02040503050406030204" pitchFamily="18" charset="0"/>
                      </a:rPr>
                      <m:t>𝒕</m:t>
                    </m:r>
                    <m:r>
                      <a:rPr lang="zh-CN" altLang="en-US" sz="2000" b="1" i="1">
                        <a:solidFill>
                          <a:srgbClr val="000000"/>
                        </a:solidFill>
                        <a:latin typeface="Cambria Math" panose="02040503050406030204" pitchFamily="18" charset="0"/>
                      </a:rPr>
                      <m:t>)]}</m:t>
                    </m:r>
                  </m:oMath>
                </a14:m>
                <a:r>
                  <a:rPr lang="en-US" altLang="zh-CN" sz="2000" b="1" dirty="0">
                    <a:latin typeface="微软雅黑" panose="020B0503020204020204" pitchFamily="34" charset="-122"/>
                    <a:ea typeface="微软雅黑" panose="020B0503020204020204" pitchFamily="34" charset="-122"/>
                  </a:rPr>
                  <a:t>              (7.117)</a:t>
                </a:r>
                <a:endParaRPr lang="zh-CN" altLang="zh-CN" sz="2000" b="1" dirty="0">
                  <a:latin typeface="微软雅黑" panose="020B0503020204020204" pitchFamily="34" charset="-122"/>
                  <a:ea typeface="微软雅黑" panose="020B0503020204020204" pitchFamily="34" charset="-122"/>
                </a:endParaRPr>
              </a:p>
              <a:p>
                <a:endParaRPr lang="zh-CN" altLang="en-US" dirty="0"/>
              </a:p>
            </p:txBody>
          </p:sp>
        </mc:Choice>
        <mc:Fallback xmlns="">
          <p:sp>
            <p:nvSpPr>
              <p:cNvPr id="4" name="对象 9">
                <a:extLst>
                  <a:ext uri="{FF2B5EF4-FFF2-40B4-BE49-F238E27FC236}">
                    <a16:creationId xmlns:a16="http://schemas.microsoft.com/office/drawing/2014/main" id="{5D7847D5-A4EB-F6B4-36E0-A14D06A5FB99}"/>
                  </a:ext>
                </a:extLst>
              </p:cNvPr>
              <p:cNvSpPr txBox="1">
                <a:spLocks noRot="1" noChangeAspect="1" noMove="1" noResize="1" noEditPoints="1" noAdjustHandles="1" noChangeArrowheads="1" noChangeShapeType="1" noTextEdit="1"/>
              </p:cNvSpPr>
              <p:nvPr/>
            </p:nvSpPr>
            <p:spPr bwMode="auto">
              <a:xfrm>
                <a:off x="1543050" y="3534220"/>
                <a:ext cx="9391650" cy="1714055"/>
              </a:xfrm>
              <a:prstGeom prst="rect">
                <a:avLst/>
              </a:prstGeom>
              <a:blipFill>
                <a:blip r:embed="rId4"/>
                <a:stretch>
                  <a:fillRect/>
                </a:stretch>
              </a:blipFill>
              <a:ln>
                <a:solidFill>
                  <a:schemeClr val="bg1"/>
                </a:solidFill>
              </a:ln>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8EB839AE-3D3F-B410-96C2-FED88EAEDE9A}"/>
              </a:ext>
            </a:extLst>
          </p:cNvPr>
          <p:cNvSpPr txBox="1"/>
          <p:nvPr/>
        </p:nvSpPr>
        <p:spPr>
          <a:xfrm>
            <a:off x="885825" y="4552770"/>
            <a:ext cx="10201274" cy="1200329"/>
          </a:xfrm>
          <a:prstGeom prst="rect">
            <a:avLst/>
          </a:prstGeom>
          <a:noFill/>
        </p:spPr>
        <p:txBody>
          <a:bodyPr wrap="square">
            <a:spAutoFit/>
          </a:bodyPr>
          <a:lstStyle/>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上述系统的阻抗模型是时变的，基于神经网络的阻抗控制也可以通过在线估计和阻抗自适应来改善系统的性能。在这一部分中，我们将设计自适应神经网络阻抗控制，以逼近受约束机器人的未知模型。</a:t>
            </a:r>
          </a:p>
        </p:txBody>
      </p:sp>
      <p:sp>
        <p:nvSpPr>
          <p:cNvPr id="9" name="文本框 8">
            <a:extLst>
              <a:ext uri="{FF2B5EF4-FFF2-40B4-BE49-F238E27FC236}">
                <a16:creationId xmlns:a16="http://schemas.microsoft.com/office/drawing/2014/main" id="{ECECC5E3-6688-BDC2-A546-233065C609C7}"/>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6</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阻抗控制</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D3F505ED-264B-D980-0A08-D4070EEE4D82}"/>
                  </a:ext>
                </a:extLst>
              </p:cNvPr>
              <p:cNvSpPr txBox="1"/>
              <p:nvPr/>
            </p:nvSpPr>
            <p:spPr>
              <a:xfrm>
                <a:off x="800101" y="1133475"/>
                <a:ext cx="9467850" cy="5066708"/>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定义</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𝒆</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𝒅</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𝒙</m:t>
                    </m:r>
                  </m:oMath>
                </a14:m>
                <a:r>
                  <a:rPr lang="zh-CN" altLang="zh-CN" sz="2400" b="1" kern="1000" dirty="0">
                    <a:effectLst/>
                    <a:latin typeface="微软雅黑" panose="020B0503020204020204" pitchFamily="34" charset="-122"/>
                    <a:ea typeface="微软雅黑" panose="020B0503020204020204" pitchFamily="34" charset="-122"/>
                  </a:rPr>
                  <a:t>，有</a:t>
                </a:r>
              </a:p>
              <a:p>
                <a:pPr algn="just">
                  <a:spcBef>
                    <a:spcPts val="200"/>
                  </a:spcBef>
                  <a:spcAft>
                    <a:spcPts val="2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𝑮</m:t>
                        </m:r>
                      </m:e>
                      <m:sub>
                        <m:r>
                          <a:rPr lang="en-US" altLang="zh-CN" sz="2000" b="1" i="1" kern="1050">
                            <a:effectLst/>
                            <a:latin typeface="Cambria Math" panose="02040503050406030204" pitchFamily="18" charset="0"/>
                            <a:ea typeface="宋体" panose="02010600030101010101" pitchFamily="2" charset="-122"/>
                          </a:rPr>
                          <m:t>𝒙</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𝒙</m:t>
                    </m:r>
                    <m:r>
                      <a:rPr lang="en-US" altLang="zh-CN" sz="2000" b="1" i="1" kern="1050">
                        <a:effectLst/>
                        <a:latin typeface="Cambria Math" panose="02040503050406030204" pitchFamily="18" charset="0"/>
                        <a:ea typeface="宋体" panose="02010600030101010101" pitchFamily="2" charset="-122"/>
                      </a:rPr>
                      <m:t>)=</m:t>
                    </m:r>
                    <m:sSup>
                      <m:sSupPr>
                        <m:ctrlPr>
                          <a:rPr lang="zh-CN" altLang="zh-CN" sz="2000" b="1" i="1" kern="1050">
                            <a:effectLst/>
                            <a:latin typeface="Cambria Math" panose="02040503050406030204" pitchFamily="18" charset="0"/>
                            <a:ea typeface="Cambria Math" panose="02040503050406030204" pitchFamily="18" charset="0"/>
                          </a:rPr>
                        </m:ctrlPr>
                      </m:sSupPr>
                      <m:e>
                        <m:r>
                          <a:rPr lang="en-US" altLang="zh-CN" sz="2000" b="1" i="1" kern="1050">
                            <a:effectLst/>
                            <a:latin typeface="Cambria Math" panose="02040503050406030204" pitchFamily="18" charset="0"/>
                            <a:ea typeface="宋体" panose="02010600030101010101" pitchFamily="2" charset="-122"/>
                          </a:rPr>
                          <m:t>𝑱</m:t>
                        </m:r>
                      </m:e>
                      <m: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𝑻</m:t>
                        </m:r>
                      </m:sup>
                    </m:s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𝒒</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𝑮</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𝒒</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𝑮</m:t>
                        </m:r>
                      </m:e>
                      <m:sub>
                        <m:r>
                          <a:rPr lang="en-US" altLang="zh-CN" sz="2000" b="1" i="1" kern="1050">
                            <a:effectLst/>
                            <a:latin typeface="Cambria Math" panose="02040503050406030204" pitchFamily="18" charset="0"/>
                            <a:ea typeface="宋体" panose="02010600030101010101" pitchFamily="2" charset="-122"/>
                          </a:rPr>
                          <m:t>𝒅</m:t>
                        </m:r>
                      </m:sub>
                    </m:sSub>
                    <m:r>
                      <a:rPr lang="en-US" altLang="zh-CN" sz="2000" b="1" i="1" kern="1050">
                        <a:effectLst/>
                        <a:latin typeface="Cambria Math" panose="02040503050406030204" pitchFamily="18" charset="0"/>
                        <a:ea typeface="宋体" panose="02010600030101010101" pitchFamily="2" charset="-122"/>
                      </a:rPr>
                      <m:t>𝒆</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𝒇</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𝒕</m:t>
                    </m:r>
                    <m:r>
                      <a:rPr lang="en-US" altLang="zh-CN" sz="2000" b="1" i="1" kern="105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(7.118)</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考虑以下动力学补偿</a:t>
                </a:r>
                <a:r>
                  <a:rPr lang="en-US" altLang="zh-CN" sz="2400" b="1" kern="1000" dirty="0">
                    <a:effectLst/>
                    <a:latin typeface="微软雅黑" panose="020B0503020204020204" pitchFamily="34" charset="-122"/>
                    <a:ea typeface="微软雅黑" panose="020B0503020204020204" pitchFamily="34" charset="-122"/>
                  </a:rPr>
                  <a:t> </a:t>
                </a:r>
                <a:endParaRPr lang="zh-CN" altLang="zh-CN" sz="2400" b="1" kern="1000" dirty="0">
                  <a:effectLst/>
                  <a:latin typeface="微软雅黑" panose="020B0503020204020204" pitchFamily="34" charset="-122"/>
                  <a:ea typeface="微软雅黑" panose="020B0503020204020204" pitchFamily="34" charset="-122"/>
                </a:endParaRPr>
              </a:p>
              <a:p>
                <a:pPr algn="just">
                  <a:spcBef>
                    <a:spcPts val="200"/>
                  </a:spcBef>
                  <a:spcAft>
                    <a:spcPts val="2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𝒛</m:t>
                        </m:r>
                      </m:e>
                    </m:acc>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𝑫𝒛</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𝒗</m:t>
                        </m:r>
                      </m:sub>
                    </m:sSub>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𝒆</m:t>
                        </m:r>
                      </m:e>
                    </m:acc>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𝒑</m:t>
                        </m:r>
                      </m:sub>
                    </m:sSub>
                    <m:r>
                      <a:rPr lang="en-US" altLang="zh-CN" sz="2000" b="1" i="1" kern="1050">
                        <a:effectLst/>
                        <a:latin typeface="Cambria Math" panose="02040503050406030204" pitchFamily="18" charset="0"/>
                        <a:ea typeface="宋体" panose="02010600030101010101" pitchFamily="2" charset="-122"/>
                      </a:rPr>
                      <m:t>𝒆</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𝒇</m:t>
                        </m:r>
                      </m:sub>
                    </m:sSub>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a:effectLst/>
                            <a:latin typeface="Cambria Math" panose="02040503050406030204" pitchFamily="18" charset="0"/>
                            <a:ea typeface="宋体" panose="02010600030101010101" pitchFamily="2" charset="-122"/>
                          </a:rPr>
                          <m:t>𝑴</m:t>
                        </m:r>
                      </m:e>
                      <m:sub>
                        <m:r>
                          <a:rPr lang="en-US" altLang="zh-CN" sz="2000" b="1" i="1" kern="1050">
                            <a:effectLst/>
                            <a:latin typeface="Cambria Math" panose="02040503050406030204" pitchFamily="18" charset="0"/>
                            <a:ea typeface="宋体" panose="02010600030101010101" pitchFamily="2" charset="-122"/>
                          </a:rPr>
                          <m:t>𝒅</m:t>
                        </m:r>
                      </m:sub>
                      <m: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sup>
                    </m:sSubSup>
                    <m:r>
                      <a:rPr lang="en-US" altLang="zh-CN" sz="2000" b="1" i="1" kern="1050">
                        <a:effectLst/>
                        <a:latin typeface="Cambria Math" panose="02040503050406030204" pitchFamily="18" charset="0"/>
                        <a:ea typeface="宋体" panose="02010600030101010101" pitchFamily="2" charset="-122"/>
                      </a:rPr>
                      <m:t>𝒇</m:t>
                    </m:r>
                  </m:oMath>
                </a14:m>
                <a:r>
                  <a:rPr lang="en-US" altLang="zh-CN" sz="2000" b="1" kern="1050" dirty="0">
                    <a:effectLst/>
                    <a:latin typeface="微软雅黑" panose="020B0503020204020204" pitchFamily="34" charset="-122"/>
                    <a:ea typeface="微软雅黑" panose="020B0503020204020204" pitchFamily="34" charset="-122"/>
                  </a:rPr>
                  <a:t>              	(7.110)</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𝑫</m:t>
                    </m:r>
                    <m:r>
                      <a:rPr lang="en-US" altLang="zh-CN" sz="2400" b="1" i="1" kern="1000">
                        <a:effectLst/>
                        <a:latin typeface="Cambria Math" panose="02040503050406030204" pitchFamily="18" charset="0"/>
                        <a:ea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𝑹</m:t>
                        </m:r>
                      </m:e>
                      <m:sup>
                        <m:r>
                          <a:rPr lang="en-US" altLang="zh-CN" sz="2400" b="1" i="1" kern="1000">
                            <a:effectLst/>
                            <a:latin typeface="Cambria Math" panose="02040503050406030204" pitchFamily="18" charset="0"/>
                            <a:ea typeface="宋体" panose="02010600030101010101" pitchFamily="2" charset="-122"/>
                          </a:rPr>
                          <m:t>𝒏</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𝒏</m:t>
                        </m:r>
                      </m:sup>
                    </m:sSup>
                  </m:oMath>
                </a14:m>
                <a:r>
                  <a:rPr lang="zh-CN" altLang="zh-CN" sz="2400" b="1" kern="1000" dirty="0">
                    <a:effectLst/>
                    <a:latin typeface="微软雅黑" panose="020B0503020204020204" pitchFamily="34" charset="-122"/>
                    <a:ea typeface="微软雅黑" panose="020B0503020204020204" pitchFamily="34" charset="-122"/>
                  </a:rPr>
                  <a:t>是一个正定常数矩阵。</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𝑲</m:t>
                        </m:r>
                      </m:e>
                      <m:sub>
                        <m:r>
                          <a:rPr lang="en-US" altLang="zh-CN" sz="2400" b="1" i="1" kern="1000">
                            <a:effectLst/>
                            <a:latin typeface="Cambria Math" panose="02040503050406030204" pitchFamily="18" charset="0"/>
                            <a:ea typeface="宋体" panose="02010600030101010101" pitchFamily="2" charset="-122"/>
                          </a:rPr>
                          <m:t>𝒑</m:t>
                        </m:r>
                      </m:sub>
                    </m:sSub>
                    <m:r>
                      <a:rPr lang="en-US" altLang="zh-CN" sz="2400" b="1" i="1" kern="1000">
                        <a:effectLst/>
                        <a:latin typeface="Cambria Math" panose="02040503050406030204" pitchFamily="18" charset="0"/>
                        <a:ea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𝑹</m:t>
                        </m:r>
                      </m:e>
                      <m:sup>
                        <m:r>
                          <a:rPr lang="en-US" altLang="zh-CN" sz="2400" b="1" i="1" kern="1000">
                            <a:effectLst/>
                            <a:latin typeface="Cambria Math" panose="02040503050406030204" pitchFamily="18" charset="0"/>
                            <a:ea typeface="宋体" panose="02010600030101010101" pitchFamily="2" charset="-122"/>
                          </a:rPr>
                          <m:t>𝒏</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𝒏</m:t>
                        </m:r>
                      </m:sup>
                    </m:sSup>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𝑲</m:t>
                        </m:r>
                      </m:e>
                      <m:sub>
                        <m:r>
                          <a:rPr lang="en-US" altLang="zh-CN" sz="2400" b="1" i="1" kern="1000">
                            <a:effectLst/>
                            <a:latin typeface="Cambria Math" panose="02040503050406030204" pitchFamily="18" charset="0"/>
                            <a:ea typeface="宋体" panose="02010600030101010101" pitchFamily="2" charset="-122"/>
                          </a:rPr>
                          <m:t>𝒗</m:t>
                        </m:r>
                      </m:sub>
                    </m:sSub>
                    <m:r>
                      <a:rPr lang="en-US" altLang="zh-CN" sz="2400" b="1" i="1" kern="1000">
                        <a:effectLst/>
                        <a:latin typeface="Cambria Math" panose="02040503050406030204" pitchFamily="18" charset="0"/>
                        <a:ea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𝑹</m:t>
                        </m:r>
                      </m:e>
                      <m:sup>
                        <m:r>
                          <a:rPr lang="en-US" altLang="zh-CN" sz="2400" b="1" i="1" kern="1000">
                            <a:effectLst/>
                            <a:latin typeface="Cambria Math" panose="02040503050406030204" pitchFamily="18" charset="0"/>
                            <a:ea typeface="宋体" panose="02010600030101010101" pitchFamily="2" charset="-122"/>
                          </a:rPr>
                          <m:t>𝒏</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𝒏</m:t>
                        </m:r>
                      </m:sup>
                    </m:sSup>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𝑲</m:t>
                        </m:r>
                      </m:e>
                      <m:sub>
                        <m:r>
                          <a:rPr lang="en-US" altLang="zh-CN" sz="2400" b="1" i="1" kern="1000">
                            <a:effectLst/>
                            <a:latin typeface="Cambria Math" panose="02040503050406030204" pitchFamily="18" charset="0"/>
                            <a:ea typeface="宋体" panose="02010600030101010101" pitchFamily="2" charset="-122"/>
                          </a:rPr>
                          <m:t>𝒇</m:t>
                        </m:r>
                      </m:sub>
                    </m:sSub>
                    <m:r>
                      <a:rPr lang="zh-CN" altLang="zh-CN" sz="2400" b="1" i="1" kern="10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𝑹</m:t>
                        </m:r>
                      </m:e>
                      <m:sup>
                        <m:r>
                          <a:rPr lang="en-US" altLang="zh-CN" sz="2400" b="1" i="1" kern="1000">
                            <a:effectLst/>
                            <a:latin typeface="Cambria Math" panose="02040503050406030204" pitchFamily="18" charset="0"/>
                            <a:ea typeface="宋体" panose="02010600030101010101" pitchFamily="2" charset="-122"/>
                          </a:rPr>
                          <m:t>𝒏</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𝒏</m:t>
                        </m:r>
                      </m:sup>
                    </m:sSup>
                  </m:oMath>
                </a14:m>
                <a:r>
                  <a:rPr lang="zh-CN" altLang="zh-CN" sz="2400" b="1" kern="1000" dirty="0">
                    <a:effectLst/>
                    <a:latin typeface="微软雅黑" panose="020B0503020204020204" pitchFamily="34" charset="-122"/>
                    <a:ea typeface="微软雅黑" panose="020B0503020204020204" pitchFamily="34" charset="-122"/>
                  </a:rPr>
                  <a:t>是稍后确定的矩阵。定义</a:t>
                </a:r>
              </a:p>
              <a:p>
                <a:pPr algn="just">
                  <a:spcBef>
                    <a:spcPts val="200"/>
                  </a:spcBef>
                  <a:spcAft>
                    <a:spcPts val="2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000" b="1" i="1" kern="1050">
                        <a:effectLst/>
                        <a:latin typeface="Cambria Math" panose="02040503050406030204" pitchFamily="18" charset="0"/>
                        <a:ea typeface="宋体" panose="02010600030101010101" pitchFamily="2" charset="-122"/>
                      </a:rPr>
                      <m:t>𝒔</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𝒆</m:t>
                    </m:r>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𝒆</m:t>
                        </m:r>
                      </m:e>
                    </m:acc>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𝒛</m:t>
                    </m:r>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𝒆</m:t>
                        </m:r>
                      </m:e>
                    </m:acc>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𝒆</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𝟐</m:t>
                        </m:r>
                      </m:sub>
                    </m:sSub>
                    <m:r>
                      <a:rPr lang="en-US" altLang="zh-CN" sz="2000" b="1" i="1" kern="1050">
                        <a:effectLst/>
                        <a:latin typeface="Cambria Math" panose="02040503050406030204" pitchFamily="18" charset="0"/>
                        <a:ea typeface="宋体" panose="02010600030101010101" pitchFamily="2" charset="-122"/>
                      </a:rPr>
                      <m:t>𝒛</m:t>
                    </m:r>
                  </m:oMath>
                </a14:m>
                <a:r>
                  <a:rPr lang="en-US" altLang="zh-CN" sz="2000" b="1" kern="1050" dirty="0">
                    <a:effectLst/>
                    <a:latin typeface="微软雅黑" panose="020B0503020204020204" pitchFamily="34" charset="-122"/>
                    <a:ea typeface="微软雅黑" panose="020B0503020204020204" pitchFamily="34" charset="-122"/>
                  </a:rPr>
                  <a:t>	                         (7.120)</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𝑲</m:t>
                        </m:r>
                      </m:e>
                      <m:sub>
                        <m:r>
                          <a:rPr lang="en-US" altLang="zh-CN" sz="2400" b="1" i="1" kern="1000">
                            <a:effectLst/>
                            <a:latin typeface="Cambria Math" panose="02040503050406030204" pitchFamily="18" charset="0"/>
                            <a:ea typeface="宋体" panose="02010600030101010101" pitchFamily="2" charset="-122"/>
                          </a:rPr>
                          <m:t>𝟏</m:t>
                        </m:r>
                      </m:sub>
                    </m:sSub>
                    <m:r>
                      <a:rPr lang="en-US" altLang="zh-CN" sz="2400" b="1" i="1" kern="1000">
                        <a:effectLst/>
                        <a:latin typeface="Cambria Math" panose="02040503050406030204" pitchFamily="18" charset="0"/>
                        <a:ea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𝑹</m:t>
                        </m:r>
                      </m:e>
                      <m:sup>
                        <m:r>
                          <a:rPr lang="en-US" altLang="zh-CN" sz="2400" b="1" i="1" kern="1000">
                            <a:effectLst/>
                            <a:latin typeface="Cambria Math" panose="02040503050406030204" pitchFamily="18" charset="0"/>
                            <a:ea typeface="宋体" panose="02010600030101010101" pitchFamily="2" charset="-122"/>
                          </a:rPr>
                          <m:t>𝒏</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𝒏</m:t>
                        </m:r>
                      </m:sup>
                    </m:sSup>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𝑲</m:t>
                        </m:r>
                      </m:e>
                      <m:sub>
                        <m:r>
                          <a:rPr lang="en-US" altLang="zh-CN" sz="2400" b="1" i="1" kern="1000">
                            <a:effectLst/>
                            <a:latin typeface="Cambria Math" panose="02040503050406030204" pitchFamily="18" charset="0"/>
                            <a:ea typeface="宋体" panose="02010600030101010101" pitchFamily="2" charset="-122"/>
                          </a:rPr>
                          <m:t>𝟐</m:t>
                        </m:r>
                      </m:sub>
                    </m:sSub>
                    <m:r>
                      <a:rPr lang="zh-CN" altLang="zh-CN" sz="2400" b="1" i="1" kern="1000">
                        <a:effectLst/>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2400" b="1" i="1" kern="1000">
                            <a:effectLst/>
                            <a:latin typeface="Cambria Math" panose="02040503050406030204" pitchFamily="18" charset="0"/>
                            <a:ea typeface="Cambria Math" panose="02040503050406030204" pitchFamily="18" charset="0"/>
                          </a:rPr>
                        </m:ctrlPr>
                      </m:sSupPr>
                      <m:e>
                        <m:r>
                          <a:rPr lang="en-US" altLang="zh-CN" sz="2400" b="1" i="1" kern="1000">
                            <a:effectLst/>
                            <a:latin typeface="Cambria Math" panose="02040503050406030204" pitchFamily="18" charset="0"/>
                            <a:ea typeface="宋体" panose="02010600030101010101" pitchFamily="2" charset="-122"/>
                          </a:rPr>
                          <m:t>𝑹</m:t>
                        </m:r>
                      </m:e>
                      <m:sup>
                        <m:r>
                          <a:rPr lang="en-US" altLang="zh-CN" sz="2400" b="1" i="1" kern="1000">
                            <a:effectLst/>
                            <a:latin typeface="Cambria Math" panose="02040503050406030204" pitchFamily="18" charset="0"/>
                            <a:ea typeface="宋体" panose="02010600030101010101" pitchFamily="2" charset="-122"/>
                          </a:rPr>
                          <m:t>𝒏</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𝒏</m:t>
                        </m:r>
                      </m:sup>
                    </m:sSup>
                  </m:oMath>
                </a14:m>
                <a:r>
                  <a:rPr lang="zh-CN" altLang="zh-CN" sz="2400" b="1" kern="1000" dirty="0">
                    <a:effectLst/>
                    <a:latin typeface="微软雅黑" panose="020B0503020204020204" pitchFamily="34" charset="-122"/>
                    <a:ea typeface="微软雅黑" panose="020B0503020204020204" pitchFamily="34" charset="-122"/>
                  </a:rPr>
                  <a:t>，均是常数正定矩阵。有</a:t>
                </a:r>
              </a:p>
              <a:p>
                <a:pPr algn="just">
                  <a:spcBef>
                    <a:spcPts val="200"/>
                  </a:spcBef>
                  <a:spcAft>
                    <a:spcPts val="2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𝒆</m:t>
                        </m:r>
                      </m:e>
                    </m:acc>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𝟐</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𝒗</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𝟐</m:t>
                        </m:r>
                      </m:sub>
                    </m:sSub>
                    <m:r>
                      <a:rPr lang="en-US" altLang="zh-CN" sz="2000" b="1" i="1" kern="1050">
                        <a:effectLst/>
                        <a:latin typeface="Cambria Math" panose="02040503050406030204" pitchFamily="18" charset="0"/>
                        <a:ea typeface="宋体" panose="02010600030101010101" pitchFamily="2" charset="-122"/>
                      </a:rPr>
                      <m:t>𝑫</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𝟐</m:t>
                        </m:r>
                      </m:sub>
                      <m: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sup>
                    </m:sSubSup>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𝒆</m:t>
                        </m:r>
                      </m:e>
                    </m:acc>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𝟐</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𝒑</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𝑫</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𝟐</m:t>
                        </m:r>
                      </m:sub>
                      <m: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𝒆</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𝟐</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𝒇</m:t>
                        </m:r>
                      </m:sub>
                    </m:sSub>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a:effectLst/>
                            <a:latin typeface="Cambria Math" panose="02040503050406030204" pitchFamily="18" charset="0"/>
                            <a:ea typeface="宋体" panose="02010600030101010101" pitchFamily="2" charset="-122"/>
                          </a:rPr>
                          <m:t>𝑴</m:t>
                        </m:r>
                      </m:e>
                      <m:sub>
                        <m:r>
                          <a:rPr lang="en-US" altLang="zh-CN" sz="2000" b="1" i="1" kern="1050">
                            <a:effectLst/>
                            <a:latin typeface="Cambria Math" panose="02040503050406030204" pitchFamily="18" charset="0"/>
                            <a:ea typeface="宋体" panose="02010600030101010101" pitchFamily="2" charset="-122"/>
                          </a:rPr>
                          <m:t>𝒅</m:t>
                        </m:r>
                      </m:sub>
                      <m: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sup>
                    </m:sSubSup>
                    <m:r>
                      <a:rPr lang="en-US" altLang="zh-CN" sz="2000" b="1" i="1" kern="1050">
                        <a:effectLst/>
                        <a:latin typeface="Cambria Math" panose="02040503050406030204" pitchFamily="18" charset="0"/>
                        <a:ea typeface="宋体" panose="02010600030101010101" pitchFamily="2" charset="-122"/>
                      </a:rPr>
                      <m:t>𝒇</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𝑫</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𝟐</m:t>
                        </m:r>
                      </m:sub>
                      <m: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sup>
                    </m:sSubSup>
                    <m:r>
                      <a:rPr lang="en-US" altLang="zh-CN" sz="2000" b="1" i="1" kern="1050">
                        <a:effectLst/>
                        <a:latin typeface="Cambria Math" panose="02040503050406030204" pitchFamily="18" charset="0"/>
                        <a:ea typeface="宋体" panose="02010600030101010101" pitchFamily="2" charset="-122"/>
                      </a:rPr>
                      <m:t>𝒔</m:t>
                    </m:r>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𝒔</m:t>
                        </m:r>
                      </m:e>
                    </m:acc>
                    <m:r>
                      <a:rPr lang="en-US" altLang="zh-CN" sz="2000" b="1" i="1" kern="105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其中</a:t>
                </a:r>
              </a:p>
              <a:p>
                <a:pPr algn="just">
                  <a:spcBef>
                    <a:spcPts val="200"/>
                  </a:spcBef>
                  <a:spcAft>
                    <a:spcPts val="2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smtClean="0">
                            <a:effectLst/>
                            <a:latin typeface="Cambria Math" panose="02040503050406030204" pitchFamily="18" charset="0"/>
                            <a:ea typeface="宋体" panose="02010600030101010101" pitchFamily="2" charset="-122"/>
                          </a:rPr>
                          <m:t>𝒗</m:t>
                        </m:r>
                      </m:sub>
                    </m:sSub>
                    <m:r>
                      <a:rPr lang="en-US" altLang="zh-CN" sz="2000" b="1" i="1" kern="105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𝟐</m:t>
                        </m:r>
                      </m:sub>
                      <m: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sup>
                    </m:sSubSup>
                    <m:r>
                      <a:rPr lang="en-US" altLang="zh-CN" sz="2000" b="1" i="1" kern="105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a:effectLst/>
                            <a:latin typeface="Cambria Math" panose="02040503050406030204" pitchFamily="18" charset="0"/>
                            <a:ea typeface="宋体" panose="02010600030101010101" pitchFamily="2" charset="-122"/>
                          </a:rPr>
                          <m:t>𝑴</m:t>
                        </m:r>
                      </m:e>
                      <m:sub>
                        <m:r>
                          <a:rPr lang="en-US" altLang="zh-CN" sz="2000" b="1" i="1" kern="1050">
                            <a:effectLst/>
                            <a:latin typeface="Cambria Math" panose="02040503050406030204" pitchFamily="18" charset="0"/>
                            <a:ea typeface="宋体" panose="02010600030101010101" pitchFamily="2" charset="-122"/>
                          </a:rPr>
                          <m:t>𝒅</m:t>
                        </m:r>
                      </m:sub>
                      <m: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𝑪</m:t>
                        </m:r>
                      </m:e>
                      <m:sub>
                        <m:r>
                          <a:rPr lang="en-US" altLang="zh-CN" sz="2000" b="1" i="1" kern="1050">
                            <a:effectLst/>
                            <a:latin typeface="Cambria Math" panose="02040503050406030204" pitchFamily="18" charset="0"/>
                            <a:ea typeface="宋体" panose="02010600030101010101" pitchFamily="2" charset="-122"/>
                          </a:rPr>
                          <m:t>𝒅</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𝟐</m:t>
                        </m:r>
                      </m:sub>
                    </m:sSub>
                    <m:r>
                      <a:rPr lang="en-US" altLang="zh-CN" sz="2000" b="1" i="1" kern="1050">
                        <a:effectLst/>
                        <a:latin typeface="Cambria Math" panose="02040503050406030204" pitchFamily="18" charset="0"/>
                        <a:ea typeface="宋体" panose="02010600030101010101" pitchFamily="2" charset="-122"/>
                      </a:rPr>
                      <m:t>𝑫</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𝟐</m:t>
                        </m:r>
                      </m:sub>
                      <m: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sup>
                    </m:sSubSup>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m:t>
                    </m:r>
                  </m:oMath>
                </a14:m>
                <a:r>
                  <a:rPr lang="zh-CN" altLang="zh-CN" sz="2000" b="1" kern="105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𝒑</m:t>
                        </m:r>
                      </m:sub>
                    </m:sSub>
                    <m:r>
                      <a:rPr lang="en-US" altLang="zh-CN" sz="2000" b="1" i="1" kern="105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𝟐</m:t>
                        </m:r>
                      </m:sub>
                      <m: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𝑴</m:t>
                        </m:r>
                      </m:e>
                      <m:sub>
                        <m:r>
                          <a:rPr lang="en-US" altLang="zh-CN" sz="2000" b="1" i="1" kern="1050">
                            <a:effectLst/>
                            <a:latin typeface="Cambria Math" panose="02040503050406030204" pitchFamily="18" charset="0"/>
                            <a:ea typeface="宋体" panose="02010600030101010101" pitchFamily="2" charset="-122"/>
                          </a:rPr>
                          <m:t>𝒅</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𝑮</m:t>
                        </m:r>
                      </m:e>
                      <m:sub>
                        <m:r>
                          <a:rPr lang="en-US" altLang="zh-CN" sz="2000" b="1" i="1" kern="1050">
                            <a:effectLst/>
                            <a:latin typeface="Cambria Math" panose="02040503050406030204" pitchFamily="18" charset="0"/>
                            <a:ea typeface="宋体" panose="02010600030101010101" pitchFamily="2" charset="-122"/>
                          </a:rPr>
                          <m:t>𝒅</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𝑫</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𝟐</m:t>
                        </m:r>
                      </m:sub>
                      <m: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𝟏</m:t>
                        </m:r>
                      </m:sub>
                    </m:sSub>
                  </m:oMath>
                </a14:m>
                <a:r>
                  <a:rPr lang="zh-CN" altLang="zh-CN" sz="2000" b="1" kern="105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𝒇</m:t>
                        </m:r>
                      </m:sub>
                    </m:sSub>
                    <m:r>
                      <a:rPr lang="en-US" altLang="zh-CN" sz="2000" b="1" i="1" kern="105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𝟐</m:t>
                        </m:r>
                      </m:sub>
                      <m: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sup>
                    </m:sSubSup>
                  </m:oMath>
                </a14:m>
                <a:r>
                  <a:rPr lang="zh-CN" altLang="zh-CN" sz="2000" b="1" kern="1050" dirty="0">
                    <a:effectLst/>
                    <a:latin typeface="微软雅黑" panose="020B0503020204020204" pitchFamily="34" charset="-122"/>
                    <a:ea typeface="微软雅黑" panose="020B0503020204020204" pitchFamily="34" charset="-122"/>
                  </a:rPr>
                  <a:t>。</a:t>
                </a:r>
              </a:p>
              <a:p>
                <a:pPr algn="just"/>
                <a:r>
                  <a:rPr lang="zh-CN" altLang="zh-CN" sz="2400" b="1" kern="1000" dirty="0">
                    <a:effectLst/>
                    <a:latin typeface="微软雅黑" panose="020B0503020204020204" pitchFamily="34" charset="-122"/>
                    <a:ea typeface="微软雅黑" panose="020B0503020204020204" pitchFamily="34" charset="-122"/>
                  </a:rPr>
                  <a:t>然后，可以得到</a:t>
                </a:r>
              </a:p>
              <a:p>
                <a:pPr algn="just">
                  <a:spcBef>
                    <a:spcPts val="200"/>
                  </a:spcBef>
                  <a:spcAft>
                    <a:spcPts val="2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𝒆</m:t>
                        </m:r>
                      </m:e>
                    </m:acc>
                    <m:r>
                      <a:rPr lang="en-US" altLang="zh-CN" sz="2000" b="1" i="1" kern="105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a:effectLst/>
                            <a:latin typeface="Cambria Math" panose="02040503050406030204" pitchFamily="18" charset="0"/>
                            <a:ea typeface="宋体" panose="02010600030101010101" pitchFamily="2" charset="-122"/>
                          </a:rPr>
                          <m:t>𝑴</m:t>
                        </m:r>
                      </m:e>
                      <m:sub>
                        <m:r>
                          <a:rPr lang="en-US" altLang="zh-CN" sz="2000" b="1" i="1" kern="1050">
                            <a:effectLst/>
                            <a:latin typeface="Cambria Math" panose="02040503050406030204" pitchFamily="18" charset="0"/>
                            <a:ea typeface="宋体" panose="02010600030101010101" pitchFamily="2" charset="-122"/>
                          </a:rPr>
                          <m:t>𝒅</m:t>
                        </m:r>
                      </m:sub>
                      <m: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𝑪</m:t>
                        </m:r>
                      </m:e>
                      <m:sub>
                        <m:r>
                          <a:rPr lang="en-US" altLang="zh-CN" sz="2000" b="1" i="1" kern="1050">
                            <a:effectLst/>
                            <a:latin typeface="Cambria Math" panose="02040503050406030204" pitchFamily="18" charset="0"/>
                            <a:ea typeface="宋体" panose="02010600030101010101" pitchFamily="2" charset="-122"/>
                          </a:rPr>
                          <m:t>𝒅</m:t>
                        </m:r>
                      </m:sub>
                    </m:sSub>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𝒆</m:t>
                        </m:r>
                      </m:e>
                    </m:acc>
                    <m:r>
                      <a:rPr lang="en-US" altLang="zh-CN" sz="2000" b="1" i="1" kern="105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a:effectLst/>
                            <a:latin typeface="Cambria Math" panose="02040503050406030204" pitchFamily="18" charset="0"/>
                            <a:ea typeface="宋体" panose="02010600030101010101" pitchFamily="2" charset="-122"/>
                          </a:rPr>
                          <m:t>𝑴</m:t>
                        </m:r>
                      </m:e>
                      <m:sub>
                        <m:r>
                          <a:rPr lang="en-US" altLang="zh-CN" sz="2000" b="1" i="1" kern="1050">
                            <a:effectLst/>
                            <a:latin typeface="Cambria Math" panose="02040503050406030204" pitchFamily="18" charset="0"/>
                            <a:ea typeface="宋体" panose="02010600030101010101" pitchFamily="2" charset="-122"/>
                          </a:rPr>
                          <m:t>𝒅</m:t>
                        </m:r>
                      </m:sub>
                      <m: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sup>
                    </m:sSubSup>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𝑪</m:t>
                        </m:r>
                      </m:e>
                      <m:sub>
                        <m:r>
                          <a:rPr lang="en-US" altLang="zh-CN" sz="2000" b="1" i="1" kern="1050">
                            <a:effectLst/>
                            <a:latin typeface="Cambria Math" panose="02040503050406030204" pitchFamily="18" charset="0"/>
                            <a:ea typeface="宋体" panose="02010600030101010101" pitchFamily="2" charset="-122"/>
                          </a:rPr>
                          <m:t>𝒅</m:t>
                        </m:r>
                      </m:sub>
                    </m:sSub>
                    <m:r>
                      <a:rPr lang="en-US" altLang="zh-CN" sz="2000" b="1" i="1" kern="1050">
                        <a:effectLst/>
                        <a:latin typeface="Cambria Math" panose="02040503050406030204" pitchFamily="18" charset="0"/>
                        <a:ea typeface="宋体" panose="02010600030101010101" pitchFamily="2" charset="-122"/>
                      </a:rPr>
                      <m:t>𝒆</m:t>
                    </m:r>
                    <m:r>
                      <a:rPr lang="en-US" altLang="zh-CN" sz="2000" b="1" i="1" kern="105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r>
                          <a:rPr lang="en-US" altLang="zh-CN" sz="2000" b="1" i="1" kern="1050">
                            <a:effectLst/>
                            <a:latin typeface="Cambria Math" panose="02040503050406030204" pitchFamily="18" charset="0"/>
                            <a:ea typeface="宋体" panose="02010600030101010101" pitchFamily="2" charset="-122"/>
                          </a:rPr>
                          <m:t>𝑴</m:t>
                        </m:r>
                      </m:e>
                      <m:sub>
                        <m:r>
                          <a:rPr lang="en-US" altLang="zh-CN" sz="2000" b="1" i="1" kern="1050">
                            <a:effectLst/>
                            <a:latin typeface="Cambria Math" panose="02040503050406030204" pitchFamily="18" charset="0"/>
                            <a:ea typeface="宋体" panose="02010600030101010101" pitchFamily="2" charset="-122"/>
                          </a:rPr>
                          <m:t>𝒅</m:t>
                        </m:r>
                      </m:sub>
                      <m:sup>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𝟏</m:t>
                        </m:r>
                      </m:sup>
                    </m:sSubSup>
                    <m:r>
                      <a:rPr lang="en-US" altLang="zh-CN" sz="2000" b="1" i="1" kern="1050">
                        <a:effectLst/>
                        <a:latin typeface="Cambria Math" panose="02040503050406030204" pitchFamily="18" charset="0"/>
                        <a:ea typeface="宋体" panose="02010600030101010101" pitchFamily="2" charset="-122"/>
                      </a:rPr>
                      <m:t>𝒇</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𝝈</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𝒔</m:t>
                    </m:r>
                    <m:r>
                      <a:rPr lang="en-US" altLang="zh-CN" sz="2000" b="1" i="1" kern="105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(7.122)</a:t>
                </a:r>
                <a:endParaRPr lang="zh-CN" altLang="zh-CN" sz="2000" b="1" kern="1050" dirty="0">
                  <a:effectLst/>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D3F505ED-264B-D980-0A08-D4070EEE4D82}"/>
                  </a:ext>
                </a:extLst>
              </p:cNvPr>
              <p:cNvSpPr txBox="1">
                <a:spLocks noRot="1" noChangeAspect="1" noMove="1" noResize="1" noEditPoints="1" noAdjustHandles="1" noChangeArrowheads="1" noChangeShapeType="1" noTextEdit="1"/>
              </p:cNvSpPr>
              <p:nvPr/>
            </p:nvSpPr>
            <p:spPr>
              <a:xfrm>
                <a:off x="800101" y="1133475"/>
                <a:ext cx="9467850" cy="5066708"/>
              </a:xfrm>
              <a:prstGeom prst="rect">
                <a:avLst/>
              </a:prstGeom>
              <a:blipFill>
                <a:blip r:embed="rId3"/>
                <a:stretch>
                  <a:fillRect l="-966" t="-963" r="-1030" b="-1203"/>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BC887EAF-87DE-830C-69E0-5B81EADC9C2B}"/>
              </a:ext>
            </a:extLst>
          </p:cNvPr>
          <p:cNvSpPr txBox="1"/>
          <p:nvPr/>
        </p:nvSpPr>
        <p:spPr>
          <a:xfrm>
            <a:off x="10464596" y="4244458"/>
            <a:ext cx="1727404" cy="400110"/>
          </a:xfrm>
          <a:prstGeom prst="rect">
            <a:avLst/>
          </a:prstGeom>
          <a:noFill/>
        </p:spPr>
        <p:txBody>
          <a:bodyPr wrap="square">
            <a:spAutoFit/>
          </a:bodyPr>
          <a:lstStyle/>
          <a:p>
            <a:r>
              <a:rPr lang="en-US" altLang="zh-CN" sz="2000" b="1" dirty="0">
                <a:latin typeface="微软雅黑" panose="020B0503020204020204" pitchFamily="34" charset="-122"/>
                <a:ea typeface="微软雅黑" panose="020B0503020204020204" pitchFamily="34" charset="-122"/>
              </a:rPr>
              <a:t>(7.121)</a:t>
            </a:r>
          </a:p>
        </p:txBody>
      </p:sp>
      <p:sp>
        <p:nvSpPr>
          <p:cNvPr id="6" name="文本框 5">
            <a:extLst>
              <a:ext uri="{FF2B5EF4-FFF2-40B4-BE49-F238E27FC236}">
                <a16:creationId xmlns:a16="http://schemas.microsoft.com/office/drawing/2014/main" id="{151450D1-C2FC-8F43-5AE2-413B1A241608}"/>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6</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阻抗控制</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C73DE078-7DC2-412D-E7C6-510BE610390A}"/>
                  </a:ext>
                </a:extLst>
              </p:cNvPr>
              <p:cNvSpPr txBox="1"/>
              <p:nvPr/>
            </p:nvSpPr>
            <p:spPr>
              <a:xfrm>
                <a:off x="1162050" y="1066801"/>
                <a:ext cx="9963149" cy="5447004"/>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其中，</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𝝈</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𝒔</m:t>
                    </m:r>
                    <m:r>
                      <a:rPr lang="en-US" altLang="zh-CN" sz="2400" b="1" i="1" kern="1000">
                        <a:effectLst/>
                        <a:latin typeface="Cambria Math" panose="02040503050406030204" pitchFamily="18" charset="0"/>
                        <a:ea typeface="宋体" panose="02010600030101010101" pitchFamily="2" charset="-122"/>
                      </a:rPr>
                      <m:t>)=</m:t>
                    </m:r>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𝑲</m:t>
                        </m:r>
                      </m:e>
                      <m:sub>
                        <m:r>
                          <a:rPr lang="en-US" altLang="zh-CN" sz="2400" b="1" i="1" kern="1000">
                            <a:effectLst/>
                            <a:latin typeface="Cambria Math" panose="02040503050406030204" pitchFamily="18" charset="0"/>
                            <a:ea typeface="宋体" panose="02010600030101010101" pitchFamily="2" charset="-122"/>
                          </a:rPr>
                          <m:t>𝟐</m:t>
                        </m:r>
                      </m:sub>
                    </m:sSub>
                    <m:r>
                      <a:rPr lang="en-US" altLang="zh-CN" sz="2400" b="1" i="1" kern="1000">
                        <a:effectLst/>
                        <a:latin typeface="Cambria Math" panose="02040503050406030204" pitchFamily="18" charset="0"/>
                        <a:ea typeface="宋体" panose="02010600030101010101" pitchFamily="2" charset="-122"/>
                      </a:rPr>
                      <m:t>(</m:t>
                    </m:r>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𝒔</m:t>
                        </m:r>
                      </m:e>
                    </m:acc>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𝑫</m:t>
                    </m:r>
                    <m:sSubSup>
                      <m:sSubSupPr>
                        <m:ctrlPr>
                          <a:rPr lang="zh-CN" altLang="zh-CN" sz="2400" b="1" i="1" kern="1000">
                            <a:effectLst/>
                            <a:latin typeface="Cambria Math" panose="02040503050406030204" pitchFamily="18" charset="0"/>
                            <a:ea typeface="Cambria Math" panose="02040503050406030204" pitchFamily="18" charset="0"/>
                          </a:rPr>
                        </m:ctrlPr>
                      </m:sSubSupPr>
                      <m:e>
                        <m:r>
                          <a:rPr lang="en-US" altLang="zh-CN" sz="2400" b="1" i="1" kern="1000">
                            <a:effectLst/>
                            <a:latin typeface="Cambria Math" panose="02040503050406030204" pitchFamily="18" charset="0"/>
                            <a:ea typeface="宋体" panose="02010600030101010101" pitchFamily="2" charset="-122"/>
                          </a:rPr>
                          <m:t>𝑲</m:t>
                        </m:r>
                      </m:e>
                      <m:sub>
                        <m:r>
                          <a:rPr lang="en-US" altLang="zh-CN" sz="2400" b="1" i="1" kern="1000">
                            <a:effectLst/>
                            <a:latin typeface="Cambria Math" panose="02040503050406030204" pitchFamily="18" charset="0"/>
                            <a:ea typeface="宋体" panose="02010600030101010101" pitchFamily="2" charset="-122"/>
                          </a:rPr>
                          <m:t>𝟐</m:t>
                        </m:r>
                      </m:sub>
                      <m:sup>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𝟏</m:t>
                        </m:r>
                      </m:sup>
                    </m:sSubSup>
                    <m:r>
                      <a:rPr lang="en-US" altLang="zh-CN" sz="2400" b="1" i="1" kern="1000">
                        <a:effectLst/>
                        <a:latin typeface="Cambria Math" panose="02040503050406030204" pitchFamily="18" charset="0"/>
                        <a:ea typeface="宋体" panose="02010600030101010101" pitchFamily="2" charset="-122"/>
                      </a:rPr>
                      <m:t>𝒔</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，很明显，当</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𝝈</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𝒔</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𝟎</m:t>
                    </m:r>
                  </m:oMath>
                </a14:m>
                <a:r>
                  <a:rPr lang="zh-CN" altLang="zh-CN" sz="2400" b="1" kern="1000" dirty="0">
                    <a:effectLst/>
                    <a:latin typeface="微软雅黑" panose="020B0503020204020204" pitchFamily="34" charset="-122"/>
                    <a:ea typeface="微软雅黑" panose="020B0503020204020204" pitchFamily="34" charset="-122"/>
                  </a:rPr>
                  <a:t>时，达到了所需的阻抗。我们把控制器设计成</a:t>
                </a:r>
              </a:p>
              <a:p>
                <a:pPr algn="just">
                  <a:spcBef>
                    <a:spcPts val="200"/>
                  </a:spcBef>
                  <a:spcAft>
                    <a:spcPts val="2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000" b="1" i="1" kern="1050">
                        <a:effectLst/>
                        <a:latin typeface="Cambria Math" panose="02040503050406030204" pitchFamily="18" charset="0"/>
                        <a:ea typeface="宋体" panose="02010600030101010101" pitchFamily="2" charset="-122"/>
                      </a:rPr>
                      <m:t>𝝉</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𝑴</m:t>
                            </m:r>
                          </m:e>
                        </m:acc>
                      </m:e>
                      <m:sub>
                        <m:r>
                          <a:rPr lang="en-US" altLang="zh-CN" sz="2000" b="1" i="1" kern="1050">
                            <a:effectLst/>
                            <a:latin typeface="Cambria Math" panose="02040503050406030204" pitchFamily="18" charset="0"/>
                            <a:ea typeface="宋体" panose="02010600030101010101" pitchFamily="2" charset="-122"/>
                          </a:rPr>
                          <m:t>𝒙</m:t>
                        </m:r>
                      </m:sub>
                    </m:sSub>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𝒙</m:t>
                            </m:r>
                          </m:e>
                        </m:acc>
                      </m:e>
                      <m:sub>
                        <m:r>
                          <a:rPr lang="en-US" altLang="zh-CN" sz="2000" b="1" i="1" kern="1050">
                            <a:effectLst/>
                            <a:latin typeface="Cambria Math" panose="02040503050406030204" pitchFamily="18" charset="0"/>
                            <a:ea typeface="宋体" panose="02010600030101010101" pitchFamily="2" charset="-122"/>
                          </a:rPr>
                          <m:t>𝒆𝒒</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𝒔</m:t>
                        </m:r>
                      </m:sub>
                    </m:sSub>
                    <m:r>
                      <a:rPr lang="en-US" altLang="zh-CN" sz="2000" b="1" i="1" kern="1050">
                        <a:effectLst/>
                        <a:latin typeface="Cambria Math" panose="02040503050406030204" pitchFamily="18" charset="0"/>
                        <a:ea typeface="宋体" panose="02010600030101010101" pitchFamily="2" charset="-122"/>
                      </a:rPr>
                      <m:t>𝒔</m:t>
                    </m:r>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𝒅</m:t>
                    </m:r>
                    <m:func>
                      <m:funcPr>
                        <m:ctrlPr>
                          <a:rPr lang="zh-CN" altLang="zh-CN" sz="2000" b="1" i="1" kern="1050">
                            <a:effectLst/>
                            <a:latin typeface="Cambria Math" panose="02040503050406030204" pitchFamily="18" charset="0"/>
                            <a:ea typeface="Cambria Math" panose="02040503050406030204" pitchFamily="18" charset="0"/>
                          </a:rPr>
                        </m:ctrlPr>
                      </m:funcPr>
                      <m:fName>
                        <m:r>
                          <a:rPr lang="en-US" altLang="zh-CN" sz="2000" b="1" i="1" kern="1050">
                            <a:effectLst/>
                            <a:latin typeface="Cambria Math" panose="02040503050406030204" pitchFamily="18" charset="0"/>
                            <a:ea typeface="宋体" panose="02010600030101010101" pitchFamily="2" charset="-122"/>
                          </a:rPr>
                          <m:t>𝒔𝒈𝒏</m:t>
                        </m:r>
                      </m:fName>
                      <m:e>
                        <m:r>
                          <a:rPr lang="en-US" altLang="zh-CN" sz="2000" b="1" i="1" kern="1050">
                            <a:effectLst/>
                            <a:latin typeface="Cambria Math" panose="02040503050406030204" pitchFamily="18" charset="0"/>
                            <a:ea typeface="宋体" panose="02010600030101010101" pitchFamily="2" charset="-122"/>
                          </a:rPr>
                          <m:t>(</m:t>
                        </m:r>
                      </m:e>
                    </m:func>
                    <m:r>
                      <a:rPr lang="en-US" altLang="zh-CN" sz="2000" b="1" i="1" kern="1050">
                        <a:effectLst/>
                        <a:latin typeface="Cambria Math" panose="02040503050406030204" pitchFamily="18" charset="0"/>
                        <a:ea typeface="宋体" panose="02010600030101010101" pitchFamily="2" charset="-122"/>
                      </a:rPr>
                      <m:t>𝒔</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𝑪</m:t>
                            </m:r>
                          </m:e>
                        </m:acc>
                      </m:e>
                      <m:sub>
                        <m:r>
                          <a:rPr lang="en-US" altLang="zh-CN" sz="2000" b="1" i="1" kern="1050">
                            <a:effectLst/>
                            <a:latin typeface="Cambria Math" panose="02040503050406030204" pitchFamily="18" charset="0"/>
                            <a:ea typeface="宋体" panose="02010600030101010101" pitchFamily="2" charset="-122"/>
                          </a:rPr>
                          <m:t>𝒙</m:t>
                        </m:r>
                      </m:sub>
                    </m:sSub>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𝒙</m:t>
                            </m:r>
                          </m:e>
                        </m:acc>
                      </m:e>
                      <m:sub>
                        <m:r>
                          <a:rPr lang="en-US" altLang="zh-CN" sz="2000" b="1" i="1" kern="1050">
                            <a:effectLst/>
                            <a:latin typeface="Cambria Math" panose="02040503050406030204" pitchFamily="18" charset="0"/>
                            <a:ea typeface="宋体" panose="02010600030101010101" pitchFamily="2" charset="-122"/>
                          </a:rPr>
                          <m:t>𝒆𝒒</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𝑮</m:t>
                            </m:r>
                          </m:e>
                        </m:acc>
                      </m:e>
                      <m:sub>
                        <m:r>
                          <a:rPr lang="en-US" altLang="zh-CN" sz="2000" b="1" i="1" kern="1050">
                            <a:effectLst/>
                            <a:latin typeface="Cambria Math" panose="02040503050406030204" pitchFamily="18" charset="0"/>
                            <a:ea typeface="宋体" panose="02010600030101010101" pitchFamily="2" charset="-122"/>
                          </a:rPr>
                          <m:t>𝒙</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𝒇</m:t>
                    </m:r>
                  </m:oMath>
                </a14:m>
                <a:r>
                  <a:rPr lang="en-US" altLang="zh-CN" sz="2000" b="1" kern="1050" dirty="0">
                    <a:effectLst/>
                    <a:latin typeface="微软雅黑" panose="020B0503020204020204" pitchFamily="34" charset="-122"/>
                    <a:ea typeface="微软雅黑" panose="020B0503020204020204" pitchFamily="34" charset="-122"/>
                  </a:rPr>
                  <a:t>	            (7.123)</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其中</a:t>
                </a:r>
              </a:p>
              <a:p>
                <a:pPr algn="just">
                  <a:spcBef>
                    <a:spcPts val="200"/>
                  </a:spcBef>
                  <a:spcAft>
                    <a:spcPts val="2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𝒙</m:t>
                            </m:r>
                          </m:e>
                        </m:acc>
                      </m:e>
                      <m:sub>
                        <m:r>
                          <a:rPr lang="en-US" altLang="zh-CN" sz="2000" b="1" i="1" kern="1050">
                            <a:effectLst/>
                            <a:latin typeface="Cambria Math" panose="02040503050406030204" pitchFamily="18" charset="0"/>
                            <a:ea typeface="宋体" panose="02010600030101010101" pitchFamily="2" charset="-122"/>
                          </a:rPr>
                          <m:t>𝒆𝒒</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𝒙</m:t>
                            </m:r>
                          </m:e>
                        </m:acc>
                      </m:e>
                      <m:sub>
                        <m:r>
                          <a:rPr lang="en-US" altLang="zh-CN" sz="2000" b="1" i="1" kern="1050">
                            <a:effectLst/>
                            <a:latin typeface="Cambria Math" panose="02040503050406030204" pitchFamily="18" charset="0"/>
                            <a:ea typeface="宋体" panose="02010600030101010101" pitchFamily="2" charset="-122"/>
                          </a:rPr>
                          <m:t>𝒅</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𝟏</m:t>
                        </m:r>
                      </m:sub>
                    </m:sSub>
                    <m:r>
                      <a:rPr lang="en-US" altLang="zh-CN" sz="2000" b="1" i="1" kern="1050">
                        <a:effectLst/>
                        <a:latin typeface="Cambria Math" panose="02040503050406030204" pitchFamily="18" charset="0"/>
                        <a:ea typeface="宋体" panose="02010600030101010101" pitchFamily="2" charset="-122"/>
                      </a:rPr>
                      <m:t>𝒆</m:t>
                    </m:r>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𝟐</m:t>
                        </m:r>
                      </m:sub>
                    </m:sSub>
                    <m:r>
                      <a:rPr lang="en-US" altLang="zh-CN" sz="2000" b="1" i="1" kern="1050">
                        <a:effectLst/>
                        <a:latin typeface="Cambria Math" panose="02040503050406030204" pitchFamily="18" charset="0"/>
                        <a:ea typeface="宋体" panose="02010600030101010101" pitchFamily="2" charset="-122"/>
                      </a:rPr>
                      <m:t>𝒛</m:t>
                    </m:r>
                  </m:oMath>
                </a14:m>
                <a:r>
                  <a:rPr lang="en-US" altLang="zh-CN" sz="2000" b="1" kern="1050" dirty="0">
                    <a:effectLst/>
                    <a:latin typeface="微软雅黑" panose="020B0503020204020204" pitchFamily="34" charset="-122"/>
                    <a:ea typeface="微软雅黑" panose="020B0503020204020204" pitchFamily="34" charset="-122"/>
                  </a:rPr>
                  <a:t>	            (7.124)</a:t>
                </a:r>
                <a:endParaRPr lang="zh-CN" altLang="zh-CN" sz="2000" b="1" kern="1050" dirty="0">
                  <a:effectLst/>
                  <a:latin typeface="微软雅黑" panose="020B0503020204020204" pitchFamily="34" charset="-122"/>
                  <a:ea typeface="微软雅黑" panose="020B0503020204020204" pitchFamily="34" charset="-122"/>
                </a:endParaRPr>
              </a:p>
              <a:p>
                <a:pPr algn="just">
                  <a:spcBef>
                    <a:spcPts val="200"/>
                  </a:spcBef>
                  <a:spcAft>
                    <a:spcPts val="2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𝒙</m:t>
                            </m:r>
                          </m:e>
                        </m:acc>
                      </m:e>
                      <m:sub>
                        <m:r>
                          <a:rPr lang="en-US" altLang="zh-CN" sz="2000" b="1" i="1" kern="1050">
                            <a:effectLst/>
                            <a:latin typeface="Cambria Math" panose="02040503050406030204" pitchFamily="18" charset="0"/>
                            <a:ea typeface="宋体" panose="02010600030101010101" pitchFamily="2" charset="-122"/>
                          </a:rPr>
                          <m:t>𝒆𝒒</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𝒙</m:t>
                            </m:r>
                          </m:e>
                        </m:acc>
                      </m:e>
                      <m:sub>
                        <m:r>
                          <a:rPr lang="en-US" altLang="zh-CN" sz="2000" b="1" i="1" kern="1050">
                            <a:effectLst/>
                            <a:latin typeface="Cambria Math" panose="02040503050406030204" pitchFamily="18" charset="0"/>
                            <a:ea typeface="宋体" panose="02010600030101010101" pitchFamily="2" charset="-122"/>
                          </a:rPr>
                          <m:t>𝒅</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𝟏</m:t>
                        </m:r>
                      </m:sub>
                    </m:sSub>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𝒆</m:t>
                        </m:r>
                      </m:e>
                    </m:acc>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𝑲</m:t>
                        </m:r>
                      </m:e>
                      <m:sub>
                        <m:r>
                          <a:rPr lang="en-US" altLang="zh-CN" sz="2000" b="1" i="1" kern="1050">
                            <a:effectLst/>
                            <a:latin typeface="Cambria Math" panose="02040503050406030204" pitchFamily="18" charset="0"/>
                            <a:ea typeface="宋体" panose="02010600030101010101" pitchFamily="2" charset="-122"/>
                          </a:rPr>
                          <m:t>𝟐</m:t>
                        </m:r>
                      </m:sub>
                    </m:sSub>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𝒛</m:t>
                        </m:r>
                      </m:e>
                    </m:acc>
                  </m:oMath>
                </a14:m>
                <a:r>
                  <a:rPr lang="en-US" altLang="zh-CN" sz="2000" b="1" kern="1050" dirty="0">
                    <a:effectLst/>
                    <a:latin typeface="微软雅黑" panose="020B0503020204020204" pitchFamily="34" charset="-122"/>
                    <a:ea typeface="微软雅黑" panose="020B0503020204020204" pitchFamily="34" charset="-122"/>
                  </a:rPr>
                  <a:t>  	(7.125)</a:t>
                </a:r>
                <a:endParaRPr lang="zh-CN" altLang="zh-CN" sz="2000" b="1" kern="1050" dirty="0">
                  <a:effectLst/>
                  <a:latin typeface="微软雅黑" panose="020B0503020204020204" pitchFamily="34" charset="-122"/>
                  <a:ea typeface="微软雅黑" panose="020B0503020204020204" pitchFamily="34" charset="-122"/>
                </a:endParaRPr>
              </a:p>
              <a:p>
                <a:pPr algn="just"/>
                <a14:m>
                  <m:oMath xmlns:m="http://schemas.openxmlformats.org/officeDocument/2006/math">
                    <m:func>
                      <m:funcPr>
                        <m:ctrlPr>
                          <a:rPr lang="zh-CN" altLang="zh-CN" sz="2400" b="1" i="1" kern="1000">
                            <a:effectLst/>
                            <a:latin typeface="Cambria Math" panose="02040503050406030204" pitchFamily="18" charset="0"/>
                            <a:ea typeface="Cambria Math" panose="02040503050406030204" pitchFamily="18" charset="0"/>
                          </a:rPr>
                        </m:ctrlPr>
                      </m:funcPr>
                      <m:fName>
                        <m:r>
                          <a:rPr lang="en-US" altLang="zh-CN" sz="2400" b="1" i="1" kern="1000">
                            <a:effectLst/>
                            <a:latin typeface="Cambria Math" panose="02040503050406030204" pitchFamily="18" charset="0"/>
                            <a:ea typeface="宋体" panose="02010600030101010101" pitchFamily="2" charset="-122"/>
                          </a:rPr>
                          <m:t>𝒔𝒈𝒏</m:t>
                        </m:r>
                      </m:fName>
                      <m:e>
                        <m:r>
                          <a:rPr lang="en-US" altLang="zh-CN" sz="2400" b="1" i="1" kern="1000">
                            <a:effectLst/>
                            <a:latin typeface="Cambria Math" panose="02040503050406030204" pitchFamily="18" charset="0"/>
                            <a:ea typeface="宋体" panose="02010600030101010101" pitchFamily="2" charset="-122"/>
                          </a:rPr>
                          <m:t>(</m:t>
                        </m:r>
                      </m:e>
                    </m:func>
                    <m:r>
                      <a:rPr lang="en-US" altLang="zh-CN" sz="2400" b="1" i="1" kern="1000">
                        <a:effectLst/>
                        <a:latin typeface="Cambria Math" panose="02040503050406030204" pitchFamily="18" charset="0"/>
                        <a:ea typeface="宋体" panose="02010600030101010101" pitchFamily="2" charset="-122"/>
                      </a:rPr>
                      <m:t>𝒔</m:t>
                    </m:r>
                    <m:r>
                      <a:rPr lang="en-US" altLang="zh-CN" sz="2400" b="1" i="1" kern="1000">
                        <a:effectLst/>
                        <a:latin typeface="Cambria Math" panose="02040503050406030204" pitchFamily="18" charset="0"/>
                        <a:ea typeface="宋体" panose="02010600030101010101" pitchFamily="2" charset="-122"/>
                      </a:rPr>
                      <m:t>)=[</m:t>
                    </m:r>
                    <m:m>
                      <m:mPr>
                        <m:mcs>
                          <m:mc>
                            <m:mcPr>
                              <m:count m:val="4"/>
                              <m:mcJc m:val="center"/>
                            </m:mcPr>
                          </m:mc>
                        </m:mcs>
                        <m:ctrlPr>
                          <a:rPr lang="zh-CN" altLang="zh-CN" sz="2400" b="1" i="1" kern="1000">
                            <a:effectLst/>
                            <a:latin typeface="Cambria Math" panose="02040503050406030204" pitchFamily="18" charset="0"/>
                            <a:ea typeface="Cambria Math" panose="02040503050406030204" pitchFamily="18" charset="0"/>
                          </a:rPr>
                        </m:ctrlPr>
                      </m:mPr>
                      <m:mr>
                        <m:e>
                          <m:func>
                            <m:funcPr>
                              <m:ctrlPr>
                                <a:rPr lang="zh-CN" altLang="zh-CN" sz="2400" b="1" i="1" kern="1000">
                                  <a:effectLst/>
                                  <a:latin typeface="Cambria Math" panose="02040503050406030204" pitchFamily="18" charset="0"/>
                                  <a:ea typeface="Cambria Math" panose="02040503050406030204" pitchFamily="18" charset="0"/>
                                </a:rPr>
                              </m:ctrlPr>
                            </m:funcPr>
                            <m:fName>
                              <m:r>
                                <a:rPr lang="en-US" altLang="zh-CN" sz="2400" b="1" i="1" kern="1000">
                                  <a:effectLst/>
                                  <a:latin typeface="Cambria Math" panose="02040503050406030204" pitchFamily="18" charset="0"/>
                                  <a:ea typeface="宋体" panose="02010600030101010101" pitchFamily="2" charset="-122"/>
                                </a:rPr>
                                <m:t>𝒔𝒈𝒏</m:t>
                              </m:r>
                            </m:fName>
                            <m:e>
                              <m:r>
                                <a:rPr lang="en-US" altLang="zh-CN" sz="2400" b="1" i="1" kern="1000">
                                  <a:effectLst/>
                                  <a:latin typeface="Cambria Math" panose="02040503050406030204" pitchFamily="18" charset="0"/>
                                  <a:ea typeface="宋体" panose="02010600030101010101" pitchFamily="2" charset="-122"/>
                                </a:rPr>
                                <m:t>(</m:t>
                              </m:r>
                            </m:e>
                          </m:func>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𝒔</m:t>
                              </m:r>
                            </m:e>
                            <m:sub>
                              <m:r>
                                <a:rPr lang="en-US" altLang="zh-CN" sz="2400" b="1" i="1" kern="1000">
                                  <a:effectLst/>
                                  <a:latin typeface="Cambria Math" panose="02040503050406030204" pitchFamily="18" charset="0"/>
                                  <a:ea typeface="宋体" panose="02010600030101010101" pitchFamily="2" charset="-122"/>
                                </a:rPr>
                                <m:t>𝟏</m:t>
                              </m:r>
                            </m:sub>
                          </m:sSub>
                          <m:r>
                            <a:rPr lang="en-US" altLang="zh-CN" sz="2400" b="1" i="1" kern="1000">
                              <a:effectLst/>
                              <a:latin typeface="Cambria Math" panose="02040503050406030204" pitchFamily="18" charset="0"/>
                              <a:ea typeface="宋体" panose="02010600030101010101" pitchFamily="2" charset="-122"/>
                            </a:rPr>
                            <m:t>)</m:t>
                          </m:r>
                        </m:e>
                        <m:e>
                          <m:func>
                            <m:funcPr>
                              <m:ctrlPr>
                                <a:rPr lang="zh-CN" altLang="zh-CN" sz="2400" b="1" i="1" kern="1000">
                                  <a:effectLst/>
                                  <a:latin typeface="Cambria Math" panose="02040503050406030204" pitchFamily="18" charset="0"/>
                                  <a:ea typeface="Cambria Math" panose="02040503050406030204" pitchFamily="18" charset="0"/>
                                </a:rPr>
                              </m:ctrlPr>
                            </m:funcPr>
                            <m:fName>
                              <m:r>
                                <a:rPr lang="en-US" altLang="zh-CN" sz="2400" b="1" i="1" kern="1000">
                                  <a:effectLst/>
                                  <a:latin typeface="Cambria Math" panose="02040503050406030204" pitchFamily="18" charset="0"/>
                                  <a:ea typeface="宋体" panose="02010600030101010101" pitchFamily="2" charset="-122"/>
                                </a:rPr>
                                <m:t>𝒔𝒈𝒏</m:t>
                              </m:r>
                            </m:fName>
                            <m:e>
                              <m:r>
                                <a:rPr lang="en-US" altLang="zh-CN" sz="2400" b="1" i="1" kern="1000">
                                  <a:effectLst/>
                                  <a:latin typeface="Cambria Math" panose="02040503050406030204" pitchFamily="18" charset="0"/>
                                  <a:ea typeface="宋体" panose="02010600030101010101" pitchFamily="2" charset="-122"/>
                                </a:rPr>
                                <m:t>(</m:t>
                              </m:r>
                            </m:e>
                          </m:func>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𝒔</m:t>
                              </m:r>
                            </m:e>
                            <m:sub>
                              <m:r>
                                <a:rPr lang="en-US" altLang="zh-CN" sz="2400" b="1" i="1" kern="1000">
                                  <a:effectLst/>
                                  <a:latin typeface="Cambria Math" panose="02040503050406030204" pitchFamily="18" charset="0"/>
                                  <a:ea typeface="宋体" panose="02010600030101010101" pitchFamily="2" charset="-122"/>
                                </a:rPr>
                                <m:t>𝟐</m:t>
                              </m:r>
                            </m:sub>
                          </m:sSub>
                          <m:r>
                            <a:rPr lang="en-US" altLang="zh-CN" sz="2400" b="1" i="1" kern="1000">
                              <a:effectLst/>
                              <a:latin typeface="Cambria Math" panose="02040503050406030204" pitchFamily="18" charset="0"/>
                              <a:ea typeface="宋体" panose="02010600030101010101" pitchFamily="2" charset="-122"/>
                            </a:rPr>
                            <m:t>)</m:t>
                          </m:r>
                        </m:e>
                        <m:e>
                          <m:r>
                            <a:rPr lang="en-US" altLang="zh-CN" sz="2400" b="1" i="1" kern="1000">
                              <a:effectLst/>
                              <a:latin typeface="Cambria Math" panose="02040503050406030204" pitchFamily="18" charset="0"/>
                              <a:ea typeface="宋体" panose="02010600030101010101" pitchFamily="2" charset="-122"/>
                            </a:rPr>
                            <m:t>⋯</m:t>
                          </m:r>
                        </m:e>
                        <m:e>
                          <m:func>
                            <m:funcPr>
                              <m:ctrlPr>
                                <a:rPr lang="zh-CN" altLang="zh-CN" sz="2400" b="1" i="1" kern="1000">
                                  <a:effectLst/>
                                  <a:latin typeface="Cambria Math" panose="02040503050406030204" pitchFamily="18" charset="0"/>
                                  <a:ea typeface="Cambria Math" panose="02040503050406030204" pitchFamily="18" charset="0"/>
                                </a:rPr>
                              </m:ctrlPr>
                            </m:funcPr>
                            <m:fName>
                              <m:r>
                                <a:rPr lang="en-US" altLang="zh-CN" sz="2400" b="1" i="1" kern="1000">
                                  <a:effectLst/>
                                  <a:latin typeface="Cambria Math" panose="02040503050406030204" pitchFamily="18" charset="0"/>
                                  <a:ea typeface="宋体" panose="02010600030101010101" pitchFamily="2" charset="-122"/>
                                </a:rPr>
                                <m:t>𝒔𝒈𝒏</m:t>
                              </m:r>
                            </m:fName>
                            <m:e>
                              <m:r>
                                <a:rPr lang="en-US" altLang="zh-CN" sz="2400" b="1" i="1" kern="1000">
                                  <a:effectLst/>
                                  <a:latin typeface="Cambria Math" panose="02040503050406030204" pitchFamily="18" charset="0"/>
                                  <a:ea typeface="宋体" panose="02010600030101010101" pitchFamily="2" charset="-122"/>
                                </a:rPr>
                                <m:t>(</m:t>
                              </m:r>
                            </m:e>
                          </m:func>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𝒔</m:t>
                              </m:r>
                            </m:e>
                            <m:sub>
                              <m:r>
                                <a:rPr lang="en-US" altLang="zh-CN" sz="2400" b="1" i="1" kern="1000">
                                  <a:effectLst/>
                                  <a:latin typeface="Cambria Math" panose="02040503050406030204" pitchFamily="18" charset="0"/>
                                  <a:ea typeface="宋体" panose="02010600030101010101" pitchFamily="2" charset="-122"/>
                                </a:rPr>
                                <m:t>𝒏</m:t>
                              </m:r>
                            </m:sub>
                          </m:sSub>
                          <m:r>
                            <a:rPr lang="en-US" altLang="zh-CN" sz="2400" b="1" i="1" kern="1000">
                              <a:effectLst/>
                              <a:latin typeface="Cambria Math" panose="02040503050406030204" pitchFamily="18" charset="0"/>
                              <a:ea typeface="宋体" panose="02010600030101010101" pitchFamily="2" charset="-122"/>
                            </a:rPr>
                            <m:t>)</m:t>
                          </m:r>
                        </m:e>
                      </m:mr>
                    </m:m>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作为符号函数，</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𝑲</m:t>
                        </m:r>
                      </m:e>
                      <m:sub>
                        <m:r>
                          <a:rPr lang="en-US" altLang="zh-CN" sz="2400" b="1" i="1" kern="1000">
                            <a:effectLst/>
                            <a:latin typeface="Cambria Math" panose="02040503050406030204" pitchFamily="18" charset="0"/>
                            <a:ea typeface="宋体" panose="02010600030101010101" pitchFamily="2" charset="-122"/>
                          </a:rPr>
                          <m:t>𝒔</m:t>
                        </m:r>
                      </m:sub>
                    </m:sSub>
                  </m:oMath>
                </a14:m>
                <a:r>
                  <a:rPr lang="zh-CN" altLang="zh-CN" sz="2400" b="1" kern="1000" dirty="0">
                    <a:effectLst/>
                    <a:latin typeface="微软雅黑" panose="020B0503020204020204" pitchFamily="34" charset="-122"/>
                    <a:ea typeface="微软雅黑" panose="020B0503020204020204" pitchFamily="34" charset="-122"/>
                  </a:rPr>
                  <a:t>为矩阵，</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𝒅</m:t>
                    </m:r>
                  </m:oMath>
                </a14:m>
                <a:r>
                  <a:rPr lang="zh-CN" altLang="zh-CN" sz="2400" b="1" kern="1000" dirty="0">
                    <a:effectLst/>
                    <a:latin typeface="微软雅黑" panose="020B0503020204020204" pitchFamily="34" charset="-122"/>
                    <a:ea typeface="微软雅黑" panose="020B0503020204020204" pitchFamily="34" charset="-122"/>
                  </a:rPr>
                  <a:t>为常数标量，</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𝑴</m:t>
                            </m:r>
                          </m:e>
                        </m:acc>
                      </m:e>
                      <m:sub>
                        <m:r>
                          <a:rPr lang="en-US" altLang="zh-CN" sz="2400" b="1" i="1" kern="1000">
                            <a:effectLst/>
                            <a:latin typeface="Cambria Math" panose="02040503050406030204" pitchFamily="18" charset="0"/>
                            <a:ea typeface="宋体" panose="02010600030101010101" pitchFamily="2" charset="-122"/>
                          </a:rPr>
                          <m:t>𝒙</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𝑪</m:t>
                            </m:r>
                          </m:e>
                        </m:acc>
                      </m:e>
                      <m:sub>
                        <m:r>
                          <a:rPr lang="en-US" altLang="zh-CN" sz="2400" b="1" i="1" kern="1000">
                            <a:effectLst/>
                            <a:latin typeface="Cambria Math" panose="02040503050406030204" pitchFamily="18" charset="0"/>
                            <a:ea typeface="宋体" panose="02010600030101010101" pitchFamily="2" charset="-122"/>
                          </a:rPr>
                          <m:t>𝒙</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acc>
                          <m:accPr>
                            <m:chr m:val="̂"/>
                            <m:ctrlPr>
                              <a:rPr lang="zh-CN" altLang="zh-CN" sz="2400" b="1" i="1" kern="1000">
                                <a:effectLst/>
                                <a:latin typeface="Cambria Math" panose="02040503050406030204" pitchFamily="18" charset="0"/>
                                <a:ea typeface="Cambria Math" panose="02040503050406030204" pitchFamily="18" charset="0"/>
                              </a:rPr>
                            </m:ctrlPr>
                          </m:accPr>
                          <m:e>
                            <m:r>
                              <a:rPr lang="en-US" altLang="zh-CN" sz="2400" b="1" i="1" kern="1000">
                                <a:effectLst/>
                                <a:latin typeface="Cambria Math" panose="02040503050406030204" pitchFamily="18" charset="0"/>
                                <a:ea typeface="宋体" panose="02010600030101010101" pitchFamily="2" charset="-122"/>
                              </a:rPr>
                              <m:t>𝑮</m:t>
                            </m:r>
                          </m:e>
                        </m:acc>
                      </m:e>
                      <m:sub>
                        <m:r>
                          <a:rPr lang="en-US" altLang="zh-CN" sz="2400" b="1" i="1" kern="1000">
                            <a:effectLst/>
                            <a:latin typeface="Cambria Math" panose="02040503050406030204" pitchFamily="18" charset="0"/>
                            <a:ea typeface="宋体" panose="02010600030101010101" pitchFamily="2" charset="-122"/>
                          </a:rPr>
                          <m:t>𝒙</m:t>
                        </m:r>
                      </m:sub>
                    </m:sSub>
                  </m:oMath>
                </a14:m>
                <a:r>
                  <a:rPr lang="zh-CN" altLang="zh-CN" sz="2400" b="1" kern="1000" dirty="0">
                    <a:effectLst/>
                    <a:latin typeface="微软雅黑" panose="020B0503020204020204" pitchFamily="34" charset="-122"/>
                    <a:ea typeface="微软雅黑" panose="020B0503020204020204" pitchFamily="34" charset="-122"/>
                  </a:rPr>
                  <a:t>是参数估计值矩阵。定义</a:t>
                </a:r>
              </a:p>
              <a:p>
                <a:pPr algn="just">
                  <a:spcBef>
                    <a:spcPts val="200"/>
                  </a:spcBef>
                  <a:spcAft>
                    <a:spcPts val="2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𝑴</m:t>
                            </m:r>
                          </m:e>
                        </m:acc>
                      </m:e>
                      <m:sub>
                        <m:r>
                          <a:rPr lang="en-US" altLang="zh-CN" sz="2000" b="1" i="1" kern="1050">
                            <a:effectLst/>
                            <a:latin typeface="Cambria Math" panose="02040503050406030204" pitchFamily="18" charset="0"/>
                            <a:ea typeface="宋体" panose="02010600030101010101" pitchFamily="2" charset="-122"/>
                          </a:rPr>
                          <m:t>𝒙</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𝒙</m:t>
                    </m:r>
                    <m:r>
                      <a:rPr lang="en-US" altLang="zh-CN" sz="2000" b="1" i="1" kern="105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𝜣</m:t>
                            </m:r>
                          </m:e>
                        </m:acc>
                      </m:e>
                      <m:sub>
                        <m:r>
                          <a:rPr lang="en-US" altLang="zh-CN" sz="2000" b="1" i="1" kern="1050">
                            <a:effectLst/>
                            <a:latin typeface="Cambria Math" panose="02040503050406030204" pitchFamily="18" charset="0"/>
                            <a:ea typeface="宋体" panose="02010600030101010101" pitchFamily="2" charset="-122"/>
                          </a:rPr>
                          <m:t>𝑴</m:t>
                        </m:r>
                      </m:sub>
                      <m:sup>
                        <m:r>
                          <a:rPr lang="en-US" altLang="zh-CN" sz="2000" b="1" i="1" kern="1050">
                            <a:effectLst/>
                            <a:latin typeface="Cambria Math" panose="02040503050406030204" pitchFamily="18" charset="0"/>
                            <a:ea typeface="宋体" panose="02010600030101010101" pitchFamily="2" charset="-122"/>
                          </a:rPr>
                          <m:t>𝑻</m:t>
                        </m:r>
                      </m:sup>
                    </m:sSubSup>
                    <m:r>
                      <a:rPr lang="zh-CN" altLang="zh-CN" sz="2000" b="1" i="1" kern="1050">
                        <a:effectLst/>
                        <a:latin typeface="Cambria Math" panose="02040503050406030204" pitchFamily="18" charset="0"/>
                        <a:ea typeface="MS Gothic" panose="020B0609070205080204" pitchFamily="49" charset="-128"/>
                        <a:cs typeface="MS Gothic" panose="020B0609070205080204" pitchFamily="49" charset="-128"/>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𝜩</m:t>
                        </m:r>
                      </m:e>
                      <m:sub>
                        <m:r>
                          <a:rPr lang="en-US" altLang="zh-CN" sz="2000" b="1" i="1" kern="1050">
                            <a:effectLst/>
                            <a:latin typeface="Cambria Math" panose="02040503050406030204" pitchFamily="18" charset="0"/>
                            <a:ea typeface="宋体" panose="02010600030101010101" pitchFamily="2" charset="-122"/>
                          </a:rPr>
                          <m:t>𝑴</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𝒙</m:t>
                    </m:r>
                    <m:r>
                      <a:rPr lang="en-US" altLang="zh-CN" sz="2000" b="1" i="1" kern="105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(7.126)</a:t>
                </a:r>
                <a:endParaRPr lang="zh-CN" altLang="zh-CN" sz="2000" b="1" kern="1050" dirty="0">
                  <a:effectLst/>
                  <a:latin typeface="微软雅黑" panose="020B0503020204020204" pitchFamily="34" charset="-122"/>
                  <a:ea typeface="微软雅黑" panose="020B0503020204020204" pitchFamily="34" charset="-122"/>
                </a:endParaRPr>
              </a:p>
              <a:p>
                <a:pPr algn="just">
                  <a:spcBef>
                    <a:spcPts val="200"/>
                  </a:spcBef>
                  <a:spcAft>
                    <a:spcPts val="2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𝑪</m:t>
                            </m:r>
                          </m:e>
                        </m:acc>
                      </m:e>
                      <m:sub>
                        <m:r>
                          <a:rPr lang="en-US" altLang="zh-CN" sz="2000" b="1" i="1" kern="1050">
                            <a:effectLst/>
                            <a:latin typeface="Cambria Math" panose="02040503050406030204" pitchFamily="18" charset="0"/>
                            <a:ea typeface="宋体" panose="02010600030101010101" pitchFamily="2" charset="-122"/>
                          </a:rPr>
                          <m:t>𝒙</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𝒙</m:t>
                    </m:r>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𝒙</m:t>
                        </m:r>
                      </m:e>
                    </m:acc>
                    <m:r>
                      <a:rPr lang="en-US" altLang="zh-CN" sz="2000" b="1" i="1" kern="105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𝜣</m:t>
                            </m:r>
                          </m:e>
                        </m:acc>
                      </m:e>
                      <m:sub>
                        <m:r>
                          <a:rPr lang="en-US" altLang="zh-CN" sz="2000" b="1" i="1" kern="1050">
                            <a:effectLst/>
                            <a:latin typeface="Cambria Math" panose="02040503050406030204" pitchFamily="18" charset="0"/>
                            <a:ea typeface="宋体" panose="02010600030101010101" pitchFamily="2" charset="-122"/>
                          </a:rPr>
                          <m:t>𝑪</m:t>
                        </m:r>
                      </m:sub>
                      <m:sup>
                        <m:r>
                          <a:rPr lang="en-US" altLang="zh-CN" sz="2000" b="1" i="1" kern="1050">
                            <a:effectLst/>
                            <a:latin typeface="Cambria Math" panose="02040503050406030204" pitchFamily="18" charset="0"/>
                            <a:ea typeface="宋体" panose="02010600030101010101" pitchFamily="2" charset="-122"/>
                          </a:rPr>
                          <m:t>𝑻</m:t>
                        </m:r>
                      </m:sup>
                    </m:sSubSup>
                    <m:r>
                      <a:rPr lang="zh-CN" altLang="zh-CN" sz="2000" b="1" i="1" kern="1050">
                        <a:effectLst/>
                        <a:latin typeface="Cambria Math" panose="02040503050406030204" pitchFamily="18" charset="0"/>
                        <a:ea typeface="MS Gothic" panose="020B0609070205080204" pitchFamily="49" charset="-128"/>
                        <a:cs typeface="MS Gothic" panose="020B0609070205080204" pitchFamily="49" charset="-128"/>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𝜩</m:t>
                        </m:r>
                      </m:e>
                      <m:sub>
                        <m:r>
                          <a:rPr lang="en-US" altLang="zh-CN" sz="2000" b="1" i="1" kern="1050">
                            <a:effectLst/>
                            <a:latin typeface="Cambria Math" panose="02040503050406030204" pitchFamily="18" charset="0"/>
                            <a:ea typeface="宋体" panose="02010600030101010101" pitchFamily="2" charset="-122"/>
                          </a:rPr>
                          <m:t>𝑪</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𝒙</m:t>
                    </m:r>
                    <m:r>
                      <a:rPr lang="en-US" altLang="zh-CN" sz="2000" b="1" i="1" kern="1050">
                        <a:effectLst/>
                        <a:latin typeface="Cambria Math" panose="02040503050406030204" pitchFamily="18" charset="0"/>
                        <a:ea typeface="宋体" panose="02010600030101010101" pitchFamily="2" charset="-122"/>
                      </a:rPr>
                      <m:t>,</m:t>
                    </m:r>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𝒙</m:t>
                        </m:r>
                      </m:e>
                    </m:acc>
                    <m:r>
                      <a:rPr lang="en-US" altLang="zh-CN" sz="2000" b="1" i="1" kern="105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(7.127)</a:t>
                </a:r>
                <a:endParaRPr lang="zh-CN" altLang="zh-CN" sz="2000" b="1" kern="1050" dirty="0">
                  <a:effectLst/>
                  <a:latin typeface="微软雅黑" panose="020B0503020204020204" pitchFamily="34" charset="-122"/>
                  <a:ea typeface="微软雅黑" panose="020B0503020204020204" pitchFamily="34" charset="-122"/>
                </a:endParaRPr>
              </a:p>
              <a:p>
                <a:pPr algn="just">
                  <a:spcBef>
                    <a:spcPts val="200"/>
                  </a:spcBef>
                  <a:spcAft>
                    <a:spcPts val="2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𝑮</m:t>
                            </m:r>
                          </m:e>
                        </m:acc>
                      </m:e>
                      <m:sub>
                        <m:r>
                          <a:rPr lang="en-US" altLang="zh-CN" sz="2000" b="1" i="1" kern="1050">
                            <a:effectLst/>
                            <a:latin typeface="Cambria Math" panose="02040503050406030204" pitchFamily="18" charset="0"/>
                            <a:ea typeface="宋体" panose="02010600030101010101" pitchFamily="2" charset="-122"/>
                          </a:rPr>
                          <m:t>𝒙</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𝒙</m:t>
                    </m:r>
                    <m:r>
                      <a:rPr lang="en-US" altLang="zh-CN" sz="2000" b="1" i="1" kern="1050">
                        <a:effectLst/>
                        <a:latin typeface="Cambria Math" panose="02040503050406030204" pitchFamily="18" charset="0"/>
                        <a:ea typeface="宋体" panose="02010600030101010101" pitchFamily="2" charset="-122"/>
                      </a:rPr>
                      <m:t>)=</m:t>
                    </m:r>
                    <m:sSubSup>
                      <m:sSubSupPr>
                        <m:ctrlPr>
                          <a:rPr lang="zh-CN" altLang="zh-CN" sz="2000" b="1" i="1" kern="1050">
                            <a:effectLst/>
                            <a:latin typeface="Cambria Math" panose="02040503050406030204" pitchFamily="18" charset="0"/>
                            <a:ea typeface="Cambria Math" panose="02040503050406030204" pitchFamily="18" charset="0"/>
                          </a:rPr>
                        </m:ctrlPr>
                      </m:sSubSup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𝜣</m:t>
                            </m:r>
                          </m:e>
                        </m:acc>
                      </m:e>
                      <m:sub>
                        <m:r>
                          <a:rPr lang="en-US" altLang="zh-CN" sz="2000" b="1" i="1" kern="1050">
                            <a:effectLst/>
                            <a:latin typeface="Cambria Math" panose="02040503050406030204" pitchFamily="18" charset="0"/>
                            <a:ea typeface="宋体" panose="02010600030101010101" pitchFamily="2" charset="-122"/>
                          </a:rPr>
                          <m:t>𝑮</m:t>
                        </m:r>
                      </m:sub>
                      <m:sup>
                        <m:r>
                          <a:rPr lang="en-US" altLang="zh-CN" sz="2000" b="1" i="1" kern="1050">
                            <a:effectLst/>
                            <a:latin typeface="Cambria Math" panose="02040503050406030204" pitchFamily="18" charset="0"/>
                            <a:ea typeface="宋体" panose="02010600030101010101" pitchFamily="2" charset="-122"/>
                          </a:rPr>
                          <m:t>𝑻</m:t>
                        </m:r>
                      </m:sup>
                    </m:sSubSup>
                    <m:r>
                      <a:rPr lang="zh-CN" altLang="zh-CN" sz="2000" b="1" i="1" kern="1050">
                        <a:effectLst/>
                        <a:latin typeface="Cambria Math" panose="02040503050406030204" pitchFamily="18" charset="0"/>
                        <a:ea typeface="MS Gothic" panose="020B0609070205080204" pitchFamily="49" charset="-128"/>
                        <a:cs typeface="MS Gothic" panose="020B0609070205080204" pitchFamily="49" charset="-128"/>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𝜩</m:t>
                        </m:r>
                      </m:e>
                      <m:sub>
                        <m:r>
                          <a:rPr lang="en-US" altLang="zh-CN" sz="2000" b="1" i="1" kern="1050">
                            <a:effectLst/>
                            <a:latin typeface="Cambria Math" panose="02040503050406030204" pitchFamily="18" charset="0"/>
                            <a:ea typeface="宋体" panose="02010600030101010101" pitchFamily="2" charset="-122"/>
                          </a:rPr>
                          <m:t>𝑮</m:t>
                        </m:r>
                      </m:sub>
                    </m:sSub>
                    <m:r>
                      <a:rPr lang="en-US" altLang="zh-CN" sz="2000" b="1" i="1" kern="1050">
                        <a:effectLst/>
                        <a:latin typeface="Cambria Math" panose="02040503050406030204" pitchFamily="18" charset="0"/>
                        <a:ea typeface="宋体" panose="02010600030101010101" pitchFamily="2" charset="-122"/>
                      </a:rPr>
                      <m:t>(</m:t>
                    </m:r>
                    <m:r>
                      <a:rPr lang="en-US" altLang="zh-CN" sz="2000" b="1" i="1" kern="1050">
                        <a:effectLst/>
                        <a:latin typeface="Cambria Math" panose="02040503050406030204" pitchFamily="18" charset="0"/>
                        <a:ea typeface="宋体" panose="02010600030101010101" pitchFamily="2" charset="-122"/>
                      </a:rPr>
                      <m:t>𝒙</m:t>
                    </m:r>
                    <m:r>
                      <a:rPr lang="en-US" altLang="zh-CN" sz="2000" b="1" i="1" kern="1050">
                        <a:effectLst/>
                        <a:latin typeface="Cambria Math" panose="02040503050406030204" pitchFamily="18" charset="0"/>
                        <a:ea typeface="宋体" panose="02010600030101010101" pitchFamily="2" charset="-122"/>
                      </a:rPr>
                      <m:t>)</m:t>
                    </m:r>
                  </m:oMath>
                </a14:m>
                <a:r>
                  <a:rPr lang="en-US" altLang="zh-CN" sz="2000" b="1" kern="1050" dirty="0">
                    <a:effectLst/>
                    <a:latin typeface="微软雅黑" panose="020B0503020204020204" pitchFamily="34" charset="-122"/>
                    <a:ea typeface="微软雅黑" panose="020B0503020204020204" pitchFamily="34" charset="-122"/>
                  </a:rPr>
                  <a:t>	            (7.128)</a:t>
                </a:r>
                <a:endParaRPr lang="zh-CN" altLang="zh-CN" sz="2000" b="1" kern="1050" dirty="0">
                  <a:effectLst/>
                  <a:latin typeface="微软雅黑" panose="020B0503020204020204" pitchFamily="34" charset="-122"/>
                  <a:ea typeface="微软雅黑" panose="020B0503020204020204" pitchFamily="34" charset="-122"/>
                </a:endParaRPr>
              </a:p>
              <a:p>
                <a:pPr algn="just"/>
                <a:r>
                  <a:rPr lang="zh-CN" altLang="zh-CN" sz="2400" b="1" kern="1000" dirty="0">
                    <a:effectLst/>
                    <a:latin typeface="微软雅黑" panose="020B0503020204020204" pitchFamily="34" charset="-122"/>
                    <a:ea typeface="微软雅黑" panose="020B0503020204020204" pitchFamily="34" charset="-122"/>
                  </a:rPr>
                  <a:t>自适应律设计为</a:t>
                </a:r>
              </a:p>
              <a:p>
                <a:pPr algn="just">
                  <a:spcBef>
                    <a:spcPts val="200"/>
                  </a:spcBef>
                  <a:spcAft>
                    <a:spcPts val="2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14:m>
                  <m:oMath xmlns:m="http://schemas.openxmlformats.org/officeDocument/2006/math">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𝜣</m:t>
                                </m:r>
                              </m:e>
                            </m:acc>
                          </m:e>
                        </m:acc>
                      </m:e>
                      <m:sub>
                        <m:r>
                          <a:rPr lang="en-US" altLang="zh-CN" sz="2000" b="1" i="1" kern="1050">
                            <a:effectLst/>
                            <a:latin typeface="Cambria Math" panose="02040503050406030204" pitchFamily="18" charset="0"/>
                            <a:ea typeface="宋体" panose="02010600030101010101" pitchFamily="2" charset="-122"/>
                          </a:rPr>
                          <m:t>𝑴𝒊𝒋</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𝜞</m:t>
                        </m:r>
                      </m:e>
                      <m:sub>
                        <m:r>
                          <a:rPr lang="en-US" altLang="zh-CN" sz="2000" b="1" i="1" kern="1050">
                            <a:effectLst/>
                            <a:latin typeface="Cambria Math" panose="02040503050406030204" pitchFamily="18" charset="0"/>
                            <a:ea typeface="宋体" panose="02010600030101010101" pitchFamily="2" charset="-122"/>
                          </a:rPr>
                          <m:t>𝑴𝒊𝒋</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𝝃</m:t>
                        </m:r>
                      </m:e>
                      <m:sub>
                        <m:r>
                          <a:rPr lang="en-US" altLang="zh-CN" sz="2000" b="1" i="1" kern="1050">
                            <a:effectLst/>
                            <a:latin typeface="Cambria Math" panose="02040503050406030204" pitchFamily="18" charset="0"/>
                            <a:ea typeface="宋体" panose="02010600030101010101" pitchFamily="2" charset="-122"/>
                          </a:rPr>
                          <m:t>𝑴𝒊𝒋</m:t>
                        </m:r>
                      </m:sub>
                    </m:sSub>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𝒙</m:t>
                            </m:r>
                          </m:e>
                        </m:acc>
                      </m:e>
                      <m:sub>
                        <m:r>
                          <a:rPr lang="en-US" altLang="zh-CN" sz="2000" b="1" i="1" kern="1050">
                            <a:effectLst/>
                            <a:latin typeface="Cambria Math" panose="02040503050406030204" pitchFamily="18" charset="0"/>
                            <a:ea typeface="宋体" panose="02010600030101010101" pitchFamily="2" charset="-122"/>
                          </a:rPr>
                          <m:t>𝒆𝒒𝒋</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𝒔</m:t>
                        </m:r>
                      </m:e>
                      <m:sub>
                        <m:r>
                          <a:rPr lang="en-US" altLang="zh-CN" sz="2000" b="1" i="1" kern="1050">
                            <a:effectLst/>
                            <a:latin typeface="Cambria Math" panose="02040503050406030204" pitchFamily="18" charset="0"/>
                            <a:ea typeface="宋体" panose="02010600030101010101" pitchFamily="2" charset="-122"/>
                          </a:rPr>
                          <m:t>𝒊</m:t>
                        </m:r>
                      </m:sub>
                    </m:sSub>
                    <m:r>
                      <a:rPr lang="en-US" altLang="zh-CN" sz="2000" b="1" i="1" kern="1050">
                        <a:effectLst/>
                        <a:latin typeface="Cambria Math" panose="02040503050406030204" pitchFamily="18" charset="0"/>
                        <a:ea typeface="宋体" panose="02010600030101010101" pitchFamily="2" charset="-122"/>
                      </a:rPr>
                      <m:t>−</m:t>
                    </m:r>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𝝈</m:t>
                        </m:r>
                      </m:e>
                      <m:sub>
                        <m:r>
                          <a:rPr lang="en-US" altLang="zh-CN" sz="2000" b="1" i="1" kern="1050">
                            <a:effectLst/>
                            <a:latin typeface="Cambria Math" panose="02040503050406030204" pitchFamily="18" charset="0"/>
                            <a:ea typeface="宋体" panose="02010600030101010101" pitchFamily="2" charset="-122"/>
                          </a:rPr>
                          <m:t>𝑴</m:t>
                        </m:r>
                      </m:sub>
                    </m:sSub>
                    <m:sSub>
                      <m:sSubPr>
                        <m:ctrlPr>
                          <a:rPr lang="zh-CN" altLang="zh-CN" sz="2000" b="1" i="1" kern="1050">
                            <a:effectLst/>
                            <a:latin typeface="Cambria Math" panose="02040503050406030204" pitchFamily="18" charset="0"/>
                            <a:ea typeface="Cambria Math" panose="02040503050406030204" pitchFamily="18" charset="0"/>
                          </a:rPr>
                        </m:ctrlPr>
                      </m:sSubPr>
                      <m:e>
                        <m:r>
                          <a:rPr lang="en-US" altLang="zh-CN" sz="2000" b="1" i="1" kern="1050">
                            <a:effectLst/>
                            <a:latin typeface="Cambria Math" panose="02040503050406030204" pitchFamily="18" charset="0"/>
                            <a:ea typeface="宋体" panose="02010600030101010101" pitchFamily="2" charset="-122"/>
                          </a:rPr>
                          <m:t>𝜞</m:t>
                        </m:r>
                      </m:e>
                      <m:sub>
                        <m:r>
                          <a:rPr lang="en-US" altLang="zh-CN" sz="2000" b="1" i="1" kern="1050">
                            <a:effectLst/>
                            <a:latin typeface="Cambria Math" panose="02040503050406030204" pitchFamily="18" charset="0"/>
                            <a:ea typeface="宋体" panose="02010600030101010101" pitchFamily="2" charset="-122"/>
                          </a:rPr>
                          <m:t>𝑴𝒊𝒋</m:t>
                        </m:r>
                      </m:sub>
                    </m:sSub>
                    <m:sSub>
                      <m:sSubPr>
                        <m:ctrlPr>
                          <a:rPr lang="zh-CN" altLang="zh-CN" sz="2000" b="1" i="1" kern="1050">
                            <a:effectLst/>
                            <a:latin typeface="Cambria Math" panose="02040503050406030204" pitchFamily="18" charset="0"/>
                            <a:ea typeface="Cambria Math" panose="02040503050406030204" pitchFamily="18" charset="0"/>
                          </a:rPr>
                        </m:ctrlPr>
                      </m:sSubPr>
                      <m:e>
                        <m:acc>
                          <m:accPr>
                            <m:chr m:val="̂"/>
                            <m:ctrlPr>
                              <a:rPr lang="zh-CN" altLang="zh-CN" sz="2000" b="1" i="1" kern="1050">
                                <a:effectLst/>
                                <a:latin typeface="Cambria Math" panose="02040503050406030204" pitchFamily="18" charset="0"/>
                                <a:ea typeface="Cambria Math" panose="02040503050406030204" pitchFamily="18" charset="0"/>
                              </a:rPr>
                            </m:ctrlPr>
                          </m:accPr>
                          <m:e>
                            <m:r>
                              <a:rPr lang="en-US" altLang="zh-CN" sz="2000" b="1" i="1" kern="1050">
                                <a:effectLst/>
                                <a:latin typeface="Cambria Math" panose="02040503050406030204" pitchFamily="18" charset="0"/>
                                <a:ea typeface="宋体" panose="02010600030101010101" pitchFamily="2" charset="-122"/>
                              </a:rPr>
                              <m:t>𝜣</m:t>
                            </m:r>
                          </m:e>
                        </m:acc>
                      </m:e>
                      <m:sub>
                        <m:r>
                          <a:rPr lang="en-US" altLang="zh-CN" sz="2000" b="1" i="1" kern="1050">
                            <a:effectLst/>
                            <a:latin typeface="Cambria Math" panose="02040503050406030204" pitchFamily="18" charset="0"/>
                            <a:ea typeface="宋体" panose="02010600030101010101" pitchFamily="2" charset="-122"/>
                          </a:rPr>
                          <m:t>𝑴𝒊𝒋</m:t>
                        </m:r>
                      </m:sub>
                    </m:sSub>
                  </m:oMath>
                </a14:m>
                <a:r>
                  <a:rPr lang="en-US" altLang="zh-CN" sz="2000" b="1" kern="1050" dirty="0">
                    <a:effectLst/>
                    <a:latin typeface="微软雅黑" panose="020B0503020204020204" pitchFamily="34" charset="-122"/>
                    <a:ea typeface="微软雅黑" panose="020B0503020204020204" pitchFamily="34" charset="-122"/>
                  </a:rPr>
                  <a:t>	            (7.129)</a:t>
                </a:r>
                <a:endParaRPr lang="zh-CN" altLang="zh-CN" sz="2000" b="1" kern="1050" dirty="0">
                  <a:effectLst/>
                  <a:latin typeface="微软雅黑" panose="020B0503020204020204" pitchFamily="34" charset="-122"/>
                  <a:ea typeface="微软雅黑" panose="020B0503020204020204" pitchFamily="34" charset="-122"/>
                </a:endParaRPr>
              </a:p>
              <a:p>
                <a:pPr algn="just">
                  <a:spcBef>
                    <a:spcPts val="200"/>
                  </a:spcBef>
                  <a:spcAft>
                    <a:spcPts val="200"/>
                  </a:spcAft>
                  <a:tabLst>
                    <a:tab pos="5364480" algn="r"/>
                  </a:tabLst>
                </a:pPr>
                <a:r>
                  <a:rPr lang="en-US" altLang="zh-CN" sz="2000" b="1" kern="1050" dirty="0">
                    <a:effectLst/>
                    <a:latin typeface="微软雅黑" panose="020B0503020204020204" pitchFamily="34" charset="-122"/>
                    <a:ea typeface="微软雅黑" panose="020B0503020204020204" pitchFamily="34" charset="-122"/>
                  </a:rPr>
                  <a:t>	</a:t>
                </a:r>
                <a:endParaRPr lang="zh-CN" altLang="zh-CN" sz="2000" b="1" kern="1050" dirty="0">
                  <a:effectLst/>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C73DE078-7DC2-412D-E7C6-510BE610390A}"/>
                  </a:ext>
                </a:extLst>
              </p:cNvPr>
              <p:cNvSpPr txBox="1">
                <a:spLocks noRot="1" noChangeAspect="1" noMove="1" noResize="1" noEditPoints="1" noAdjustHandles="1" noChangeArrowheads="1" noChangeShapeType="1" noTextEdit="1"/>
              </p:cNvSpPr>
              <p:nvPr/>
            </p:nvSpPr>
            <p:spPr>
              <a:xfrm>
                <a:off x="1162050" y="1066801"/>
                <a:ext cx="9963149" cy="5447004"/>
              </a:xfrm>
              <a:prstGeom prst="rect">
                <a:avLst/>
              </a:prstGeom>
              <a:blipFill>
                <a:blip r:embed="rId3"/>
                <a:stretch>
                  <a:fillRect l="-979" t="-447" r="-3978"/>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97E4EDB0-17F3-D920-7469-8C4FDA3D61AA}"/>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6</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阻抗控制</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E52B34A6-D7DF-F613-85FB-DBC9FB0AF14C}"/>
                  </a:ext>
                </a:extLst>
              </p:cNvPr>
              <p:cNvSpPr txBox="1"/>
              <p:nvPr/>
            </p:nvSpPr>
            <p:spPr>
              <a:xfrm>
                <a:off x="2990850" y="1276350"/>
                <a:ext cx="8029575" cy="842346"/>
              </a:xfrm>
              <a:prstGeom prst="rect">
                <a:avLst/>
              </a:prstGeom>
              <a:noFill/>
            </p:spPr>
            <p:txBody>
              <a:bodyPr wrap="square">
                <a:spAutoFit/>
              </a:bodyPr>
              <a:lstStyle/>
              <a:p>
                <a:pPr algn="just">
                  <a:spcBef>
                    <a:spcPts val="200"/>
                  </a:spcBef>
                  <a:spcAft>
                    <a:spcPts val="200"/>
                  </a:spcAft>
                  <a:tabLst>
                    <a:tab pos="5364480" algn="r"/>
                  </a:tabLst>
                </a:pPr>
                <a14:m>
                  <m:oMath xmlns:m="http://schemas.openxmlformats.org/officeDocument/2006/math">
                    <m:sSub>
                      <m:sSubPr>
                        <m:ctrlPr>
                          <a:rPr lang="zh-CN" altLang="zh-CN" sz="1800" b="1" i="1" kern="1050" smtClean="0">
                            <a:effectLst/>
                            <a:latin typeface="Cambria Math" panose="02040503050406030204" pitchFamily="18" charset="0"/>
                            <a:ea typeface="Cambria Math" panose="02040503050406030204" pitchFamily="18" charset="0"/>
                          </a:rPr>
                        </m:ctrlPr>
                      </m:sSubPr>
                      <m:e>
                        <m:acc>
                          <m:accPr>
                            <m:chr m:val="̇"/>
                            <m:ctrlPr>
                              <a:rPr lang="zh-CN" altLang="zh-CN" sz="1800" b="1" i="1" kern="1050">
                                <a:effectLst/>
                                <a:latin typeface="Cambria Math" panose="02040503050406030204" pitchFamily="18" charset="0"/>
                                <a:ea typeface="Cambria Math" panose="02040503050406030204" pitchFamily="18" charset="0"/>
                              </a:rPr>
                            </m:ctrlPr>
                          </m:accPr>
                          <m:e>
                            <m:acc>
                              <m:accPr>
                                <m:chr m:val="̂"/>
                                <m:ctrlPr>
                                  <a:rPr lang="zh-CN" altLang="zh-CN" sz="1800" b="1" i="1" kern="1050">
                                    <a:effectLst/>
                                    <a:latin typeface="Cambria Math" panose="02040503050406030204" pitchFamily="18" charset="0"/>
                                    <a:ea typeface="Cambria Math" panose="02040503050406030204" pitchFamily="18" charset="0"/>
                                  </a:rPr>
                                </m:ctrlPr>
                              </m:accPr>
                              <m:e>
                                <m:r>
                                  <a:rPr lang="en-US" altLang="zh-CN" sz="1800" b="1" i="1" kern="1050">
                                    <a:effectLst/>
                                    <a:latin typeface="Cambria Math" panose="02040503050406030204" pitchFamily="18" charset="0"/>
                                    <a:ea typeface="宋体" panose="02010600030101010101" pitchFamily="2" charset="-122"/>
                                  </a:rPr>
                                  <m:t>𝜣</m:t>
                                </m:r>
                              </m:e>
                            </m:acc>
                          </m:e>
                        </m:acc>
                      </m:e>
                      <m:sub>
                        <m:r>
                          <a:rPr lang="en-US" altLang="zh-CN" sz="1800" b="1" i="1" kern="1050">
                            <a:effectLst/>
                            <a:latin typeface="Cambria Math" panose="02040503050406030204" pitchFamily="18" charset="0"/>
                            <a:ea typeface="宋体" panose="02010600030101010101" pitchFamily="2" charset="-122"/>
                          </a:rPr>
                          <m:t>𝑪𝒊𝒋</m:t>
                        </m:r>
                      </m:sub>
                    </m:sSub>
                    <m:r>
                      <a:rPr lang="en-US" altLang="zh-CN" sz="1800" b="1" i="1" kern="1050">
                        <a:effectLst/>
                        <a:latin typeface="Cambria Math" panose="02040503050406030204" pitchFamily="18" charset="0"/>
                        <a:ea typeface="宋体" panose="02010600030101010101" pitchFamily="2" charset="-122"/>
                      </a:rPr>
                      <m:t>=</m:t>
                    </m:r>
                    <m:sSub>
                      <m:sSubPr>
                        <m:ctrlPr>
                          <a:rPr lang="zh-CN" altLang="zh-CN" sz="1800" b="1" i="1" kern="1050">
                            <a:effectLst/>
                            <a:latin typeface="Cambria Math" panose="02040503050406030204" pitchFamily="18" charset="0"/>
                            <a:ea typeface="Cambria Math" panose="02040503050406030204" pitchFamily="18" charset="0"/>
                          </a:rPr>
                        </m:ctrlPr>
                      </m:sSubPr>
                      <m:e>
                        <m:r>
                          <a:rPr lang="en-US" altLang="zh-CN" sz="1800" b="1" i="1" kern="1050">
                            <a:effectLst/>
                            <a:latin typeface="Cambria Math" panose="02040503050406030204" pitchFamily="18" charset="0"/>
                            <a:ea typeface="宋体" panose="02010600030101010101" pitchFamily="2" charset="-122"/>
                          </a:rPr>
                          <m:t>𝜞</m:t>
                        </m:r>
                      </m:e>
                      <m:sub>
                        <m:r>
                          <a:rPr lang="en-US" altLang="zh-CN" sz="1800" b="1" i="1" kern="1050">
                            <a:effectLst/>
                            <a:latin typeface="Cambria Math" panose="02040503050406030204" pitchFamily="18" charset="0"/>
                            <a:ea typeface="宋体" panose="02010600030101010101" pitchFamily="2" charset="-122"/>
                          </a:rPr>
                          <m:t>𝑪𝒊𝒋</m:t>
                        </m:r>
                      </m:sub>
                    </m:sSub>
                    <m:sSub>
                      <m:sSubPr>
                        <m:ctrlPr>
                          <a:rPr lang="zh-CN" altLang="zh-CN" sz="1800" b="1" i="1" kern="1050">
                            <a:effectLst/>
                            <a:latin typeface="Cambria Math" panose="02040503050406030204" pitchFamily="18" charset="0"/>
                            <a:ea typeface="Cambria Math" panose="02040503050406030204" pitchFamily="18" charset="0"/>
                          </a:rPr>
                        </m:ctrlPr>
                      </m:sSubPr>
                      <m:e>
                        <m:r>
                          <a:rPr lang="en-US" altLang="zh-CN" sz="1800" b="1" i="1" kern="1050">
                            <a:effectLst/>
                            <a:latin typeface="Cambria Math" panose="02040503050406030204" pitchFamily="18" charset="0"/>
                            <a:ea typeface="宋体" panose="02010600030101010101" pitchFamily="2" charset="-122"/>
                          </a:rPr>
                          <m:t>𝝃</m:t>
                        </m:r>
                      </m:e>
                      <m:sub>
                        <m:r>
                          <a:rPr lang="en-US" altLang="zh-CN" sz="1800" b="1" i="1" kern="1050">
                            <a:effectLst/>
                            <a:latin typeface="Cambria Math" panose="02040503050406030204" pitchFamily="18" charset="0"/>
                            <a:ea typeface="宋体" panose="02010600030101010101" pitchFamily="2" charset="-122"/>
                          </a:rPr>
                          <m:t>𝑪𝒊𝒋</m:t>
                        </m:r>
                      </m:sub>
                    </m:sSub>
                    <m:sSub>
                      <m:sSubPr>
                        <m:ctrlPr>
                          <a:rPr lang="zh-CN" altLang="zh-CN" sz="1800" b="1" i="1" kern="1050">
                            <a:effectLst/>
                            <a:latin typeface="Cambria Math" panose="02040503050406030204" pitchFamily="18" charset="0"/>
                            <a:ea typeface="Cambria Math" panose="02040503050406030204" pitchFamily="18" charset="0"/>
                          </a:rPr>
                        </m:ctrlPr>
                      </m:sSubPr>
                      <m:e>
                        <m:acc>
                          <m:accPr>
                            <m:chr m:val="̇"/>
                            <m:ctrlPr>
                              <a:rPr lang="zh-CN" altLang="zh-CN" sz="1800" b="1" i="1" kern="1050">
                                <a:effectLst/>
                                <a:latin typeface="Cambria Math" panose="02040503050406030204" pitchFamily="18" charset="0"/>
                                <a:ea typeface="Cambria Math" panose="02040503050406030204" pitchFamily="18" charset="0"/>
                              </a:rPr>
                            </m:ctrlPr>
                          </m:accPr>
                          <m:e>
                            <m:r>
                              <a:rPr lang="en-US" altLang="zh-CN" sz="1800" b="1" i="1" kern="1050">
                                <a:effectLst/>
                                <a:latin typeface="Cambria Math" panose="02040503050406030204" pitchFamily="18" charset="0"/>
                                <a:ea typeface="宋体" panose="02010600030101010101" pitchFamily="2" charset="-122"/>
                              </a:rPr>
                              <m:t>𝒙</m:t>
                            </m:r>
                          </m:e>
                        </m:acc>
                      </m:e>
                      <m:sub>
                        <m:r>
                          <a:rPr lang="en-US" altLang="zh-CN" sz="1800" b="1" i="1" kern="1050">
                            <a:effectLst/>
                            <a:latin typeface="Cambria Math" panose="02040503050406030204" pitchFamily="18" charset="0"/>
                            <a:ea typeface="宋体" panose="02010600030101010101" pitchFamily="2" charset="-122"/>
                          </a:rPr>
                          <m:t>𝒆𝒒𝒋</m:t>
                        </m:r>
                      </m:sub>
                    </m:sSub>
                    <m:sSub>
                      <m:sSubPr>
                        <m:ctrlPr>
                          <a:rPr lang="zh-CN" altLang="zh-CN" sz="1800" b="1" i="1" kern="1050">
                            <a:effectLst/>
                            <a:latin typeface="Cambria Math" panose="02040503050406030204" pitchFamily="18" charset="0"/>
                            <a:ea typeface="Cambria Math" panose="02040503050406030204" pitchFamily="18" charset="0"/>
                          </a:rPr>
                        </m:ctrlPr>
                      </m:sSubPr>
                      <m:e>
                        <m:r>
                          <a:rPr lang="en-US" altLang="zh-CN" sz="1800" b="1" i="1" kern="1050">
                            <a:effectLst/>
                            <a:latin typeface="Cambria Math" panose="02040503050406030204" pitchFamily="18" charset="0"/>
                            <a:ea typeface="宋体" panose="02010600030101010101" pitchFamily="2" charset="-122"/>
                          </a:rPr>
                          <m:t>𝒔</m:t>
                        </m:r>
                      </m:e>
                      <m:sub>
                        <m:r>
                          <a:rPr lang="en-US" altLang="zh-CN" sz="1800" b="1" i="1" kern="1050">
                            <a:effectLst/>
                            <a:latin typeface="Cambria Math" panose="02040503050406030204" pitchFamily="18" charset="0"/>
                            <a:ea typeface="宋体" panose="02010600030101010101" pitchFamily="2" charset="-122"/>
                          </a:rPr>
                          <m:t>𝒊</m:t>
                        </m:r>
                      </m:sub>
                    </m:sSub>
                    <m:r>
                      <a:rPr lang="en-US" altLang="zh-CN" sz="1800" b="1" i="1" kern="1050">
                        <a:effectLst/>
                        <a:latin typeface="Cambria Math" panose="02040503050406030204" pitchFamily="18" charset="0"/>
                        <a:ea typeface="宋体" panose="02010600030101010101" pitchFamily="2" charset="-122"/>
                      </a:rPr>
                      <m:t>−</m:t>
                    </m:r>
                    <m:sSub>
                      <m:sSubPr>
                        <m:ctrlPr>
                          <a:rPr lang="zh-CN" altLang="zh-CN" sz="1800" b="1" i="1" kern="1050">
                            <a:effectLst/>
                            <a:latin typeface="Cambria Math" panose="02040503050406030204" pitchFamily="18" charset="0"/>
                            <a:ea typeface="Cambria Math" panose="02040503050406030204" pitchFamily="18" charset="0"/>
                          </a:rPr>
                        </m:ctrlPr>
                      </m:sSubPr>
                      <m:e>
                        <m:r>
                          <a:rPr lang="en-US" altLang="zh-CN" sz="1800" b="1" i="1" kern="1050">
                            <a:effectLst/>
                            <a:latin typeface="Cambria Math" panose="02040503050406030204" pitchFamily="18" charset="0"/>
                            <a:ea typeface="宋体" panose="02010600030101010101" pitchFamily="2" charset="-122"/>
                          </a:rPr>
                          <m:t>𝝈</m:t>
                        </m:r>
                      </m:e>
                      <m:sub>
                        <m:r>
                          <a:rPr lang="en-US" altLang="zh-CN" sz="1800" b="1" i="1" kern="1050">
                            <a:effectLst/>
                            <a:latin typeface="Cambria Math" panose="02040503050406030204" pitchFamily="18" charset="0"/>
                            <a:ea typeface="宋体" panose="02010600030101010101" pitchFamily="2" charset="-122"/>
                          </a:rPr>
                          <m:t>𝑪</m:t>
                        </m:r>
                      </m:sub>
                    </m:sSub>
                    <m:sSub>
                      <m:sSubPr>
                        <m:ctrlPr>
                          <a:rPr lang="zh-CN" altLang="zh-CN" sz="1800" b="1" i="1" kern="1050">
                            <a:effectLst/>
                            <a:latin typeface="Cambria Math" panose="02040503050406030204" pitchFamily="18" charset="0"/>
                            <a:ea typeface="Cambria Math" panose="02040503050406030204" pitchFamily="18" charset="0"/>
                          </a:rPr>
                        </m:ctrlPr>
                      </m:sSubPr>
                      <m:e>
                        <m:r>
                          <a:rPr lang="en-US" altLang="zh-CN" sz="1800" b="1" i="1" kern="1050">
                            <a:effectLst/>
                            <a:latin typeface="Cambria Math" panose="02040503050406030204" pitchFamily="18" charset="0"/>
                            <a:ea typeface="宋体" panose="02010600030101010101" pitchFamily="2" charset="-122"/>
                          </a:rPr>
                          <m:t>𝜞</m:t>
                        </m:r>
                      </m:e>
                      <m:sub>
                        <m:r>
                          <a:rPr lang="en-US" altLang="zh-CN" sz="1800" b="1" i="1" kern="1050">
                            <a:effectLst/>
                            <a:latin typeface="Cambria Math" panose="02040503050406030204" pitchFamily="18" charset="0"/>
                            <a:ea typeface="宋体" panose="02010600030101010101" pitchFamily="2" charset="-122"/>
                          </a:rPr>
                          <m:t>𝑴𝒊𝒋</m:t>
                        </m:r>
                      </m:sub>
                    </m:sSub>
                    <m:sSub>
                      <m:sSubPr>
                        <m:ctrlPr>
                          <a:rPr lang="zh-CN" altLang="zh-CN" sz="1800" b="1" i="1" kern="1050">
                            <a:effectLst/>
                            <a:latin typeface="Cambria Math" panose="02040503050406030204" pitchFamily="18" charset="0"/>
                            <a:ea typeface="Cambria Math" panose="02040503050406030204" pitchFamily="18" charset="0"/>
                          </a:rPr>
                        </m:ctrlPr>
                      </m:sSubPr>
                      <m:e>
                        <m:acc>
                          <m:accPr>
                            <m:chr m:val="̂"/>
                            <m:ctrlPr>
                              <a:rPr lang="zh-CN" altLang="zh-CN" sz="1800" b="1" i="1" kern="1050">
                                <a:effectLst/>
                                <a:latin typeface="Cambria Math" panose="02040503050406030204" pitchFamily="18" charset="0"/>
                                <a:ea typeface="Cambria Math" panose="02040503050406030204" pitchFamily="18" charset="0"/>
                              </a:rPr>
                            </m:ctrlPr>
                          </m:accPr>
                          <m:e>
                            <m:r>
                              <a:rPr lang="en-US" altLang="zh-CN" sz="1800" b="1" i="1" kern="1050">
                                <a:effectLst/>
                                <a:latin typeface="Cambria Math" panose="02040503050406030204" pitchFamily="18" charset="0"/>
                                <a:ea typeface="宋体" panose="02010600030101010101" pitchFamily="2" charset="-122"/>
                              </a:rPr>
                              <m:t>𝜣</m:t>
                            </m:r>
                          </m:e>
                        </m:acc>
                      </m:e>
                      <m:sub>
                        <m:r>
                          <a:rPr lang="en-US" altLang="zh-CN" sz="1800" b="1" i="1" kern="1050">
                            <a:effectLst/>
                            <a:latin typeface="Cambria Math" panose="02040503050406030204" pitchFamily="18" charset="0"/>
                            <a:ea typeface="宋体" panose="02010600030101010101" pitchFamily="2" charset="-122"/>
                          </a:rPr>
                          <m:t>𝑪𝒊𝒋</m:t>
                        </m:r>
                      </m:sub>
                    </m:sSub>
                    <m:r>
                      <a:rPr lang="en-US" altLang="zh-CN" sz="1800" b="1" i="1" kern="1050">
                        <a:effectLst/>
                        <a:latin typeface="Cambria Math" panose="02040503050406030204" pitchFamily="18" charset="0"/>
                        <a:ea typeface="宋体" panose="02010600030101010101" pitchFamily="2" charset="-122"/>
                      </a:rPr>
                      <m:t>}</m:t>
                    </m:r>
                  </m:oMath>
                </a14:m>
                <a:r>
                  <a:rPr lang="en-US" altLang="zh-CN" sz="1800" b="1" kern="1050" dirty="0">
                    <a:effectLst/>
                    <a:latin typeface="微软雅黑" panose="020B0503020204020204" pitchFamily="34" charset="-122"/>
                    <a:ea typeface="微软雅黑" panose="020B0503020204020204" pitchFamily="34" charset="-122"/>
                  </a:rPr>
                  <a:t>	(7.130)</a:t>
                </a:r>
                <a:endParaRPr lang="zh-CN" altLang="zh-CN" sz="1800" b="1" kern="1050" dirty="0">
                  <a:effectLst/>
                  <a:latin typeface="微软雅黑" panose="020B0503020204020204" pitchFamily="34" charset="-122"/>
                  <a:ea typeface="微软雅黑" panose="020B0503020204020204" pitchFamily="34" charset="-122"/>
                </a:endParaRPr>
              </a:p>
              <a:p>
                <a:pPr algn="just">
                  <a:spcBef>
                    <a:spcPts val="200"/>
                  </a:spcBef>
                  <a:spcAft>
                    <a:spcPts val="200"/>
                  </a:spcAft>
                  <a:tabLst>
                    <a:tab pos="5364480" algn="r"/>
                  </a:tabLst>
                </a:pPr>
                <a14:m>
                  <m:oMath xmlns:m="http://schemas.openxmlformats.org/officeDocument/2006/math">
                    <m:sSub>
                      <m:sSubPr>
                        <m:ctrlPr>
                          <a:rPr lang="zh-CN" altLang="zh-CN" sz="1800" b="1" i="1" kern="1050">
                            <a:effectLst/>
                            <a:latin typeface="Cambria Math" panose="02040503050406030204" pitchFamily="18" charset="0"/>
                            <a:ea typeface="Cambria Math" panose="02040503050406030204" pitchFamily="18" charset="0"/>
                          </a:rPr>
                        </m:ctrlPr>
                      </m:sSubPr>
                      <m:e>
                        <m:acc>
                          <m:accPr>
                            <m:chr m:val="̇"/>
                            <m:ctrlPr>
                              <a:rPr lang="zh-CN" altLang="zh-CN" sz="1800" b="1" i="1" kern="1050">
                                <a:effectLst/>
                                <a:latin typeface="Cambria Math" panose="02040503050406030204" pitchFamily="18" charset="0"/>
                                <a:ea typeface="Cambria Math" panose="02040503050406030204" pitchFamily="18" charset="0"/>
                              </a:rPr>
                            </m:ctrlPr>
                          </m:accPr>
                          <m:e>
                            <m:acc>
                              <m:accPr>
                                <m:chr m:val="̂"/>
                                <m:ctrlPr>
                                  <a:rPr lang="zh-CN" altLang="zh-CN" sz="1800" b="1" i="1" kern="1050">
                                    <a:effectLst/>
                                    <a:latin typeface="Cambria Math" panose="02040503050406030204" pitchFamily="18" charset="0"/>
                                    <a:ea typeface="Cambria Math" panose="02040503050406030204" pitchFamily="18" charset="0"/>
                                  </a:rPr>
                                </m:ctrlPr>
                              </m:accPr>
                              <m:e>
                                <m:r>
                                  <a:rPr lang="en-US" altLang="zh-CN" sz="1800" b="1" i="1" kern="1050">
                                    <a:effectLst/>
                                    <a:latin typeface="Cambria Math" panose="02040503050406030204" pitchFamily="18" charset="0"/>
                                    <a:ea typeface="宋体" panose="02010600030101010101" pitchFamily="2" charset="-122"/>
                                  </a:rPr>
                                  <m:t>𝜣</m:t>
                                </m:r>
                              </m:e>
                            </m:acc>
                          </m:e>
                        </m:acc>
                      </m:e>
                      <m:sub>
                        <m:r>
                          <a:rPr lang="en-US" altLang="zh-CN" sz="1800" b="1" i="1" kern="1050">
                            <a:effectLst/>
                            <a:latin typeface="Cambria Math" panose="02040503050406030204" pitchFamily="18" charset="0"/>
                            <a:ea typeface="宋体" panose="02010600030101010101" pitchFamily="2" charset="-122"/>
                          </a:rPr>
                          <m:t>𝑮𝒊</m:t>
                        </m:r>
                      </m:sub>
                    </m:sSub>
                    <m:r>
                      <a:rPr lang="en-US" altLang="zh-CN" sz="1800" b="1" i="1" kern="1050">
                        <a:effectLst/>
                        <a:latin typeface="Cambria Math" panose="02040503050406030204" pitchFamily="18" charset="0"/>
                        <a:ea typeface="宋体" panose="02010600030101010101" pitchFamily="2" charset="-122"/>
                      </a:rPr>
                      <m:t>=</m:t>
                    </m:r>
                    <m:sSub>
                      <m:sSubPr>
                        <m:ctrlPr>
                          <a:rPr lang="zh-CN" altLang="zh-CN" sz="1800" b="1" i="1" kern="1050">
                            <a:effectLst/>
                            <a:latin typeface="Cambria Math" panose="02040503050406030204" pitchFamily="18" charset="0"/>
                            <a:ea typeface="Cambria Math" panose="02040503050406030204" pitchFamily="18" charset="0"/>
                          </a:rPr>
                        </m:ctrlPr>
                      </m:sSubPr>
                      <m:e>
                        <m:r>
                          <a:rPr lang="en-US" altLang="zh-CN" sz="1800" b="1" i="1" kern="1050">
                            <a:effectLst/>
                            <a:latin typeface="Cambria Math" panose="02040503050406030204" pitchFamily="18" charset="0"/>
                            <a:ea typeface="宋体" panose="02010600030101010101" pitchFamily="2" charset="-122"/>
                          </a:rPr>
                          <m:t>𝜞</m:t>
                        </m:r>
                      </m:e>
                      <m:sub>
                        <m:r>
                          <a:rPr lang="en-US" altLang="zh-CN" sz="1800" b="1" i="1" kern="1050">
                            <a:effectLst/>
                            <a:latin typeface="Cambria Math" panose="02040503050406030204" pitchFamily="18" charset="0"/>
                            <a:ea typeface="宋体" panose="02010600030101010101" pitchFamily="2" charset="-122"/>
                          </a:rPr>
                          <m:t>𝑮𝒊</m:t>
                        </m:r>
                      </m:sub>
                    </m:sSub>
                    <m:sSub>
                      <m:sSubPr>
                        <m:ctrlPr>
                          <a:rPr lang="zh-CN" altLang="zh-CN" sz="1800" b="1" i="1" kern="1050">
                            <a:effectLst/>
                            <a:latin typeface="Cambria Math" panose="02040503050406030204" pitchFamily="18" charset="0"/>
                            <a:ea typeface="Cambria Math" panose="02040503050406030204" pitchFamily="18" charset="0"/>
                          </a:rPr>
                        </m:ctrlPr>
                      </m:sSubPr>
                      <m:e>
                        <m:r>
                          <a:rPr lang="en-US" altLang="zh-CN" sz="1800" b="1" i="1" kern="1050">
                            <a:effectLst/>
                            <a:latin typeface="Cambria Math" panose="02040503050406030204" pitchFamily="18" charset="0"/>
                            <a:ea typeface="宋体" panose="02010600030101010101" pitchFamily="2" charset="-122"/>
                          </a:rPr>
                          <m:t>𝝃</m:t>
                        </m:r>
                      </m:e>
                      <m:sub>
                        <m:r>
                          <a:rPr lang="en-US" altLang="zh-CN" sz="1800" b="1" i="1" kern="1050">
                            <a:effectLst/>
                            <a:latin typeface="Cambria Math" panose="02040503050406030204" pitchFamily="18" charset="0"/>
                            <a:ea typeface="宋体" panose="02010600030101010101" pitchFamily="2" charset="-122"/>
                          </a:rPr>
                          <m:t>𝑮𝒊</m:t>
                        </m:r>
                      </m:sub>
                    </m:sSub>
                    <m:sSub>
                      <m:sSubPr>
                        <m:ctrlPr>
                          <a:rPr lang="zh-CN" altLang="zh-CN" sz="1800" b="1" i="1" kern="1050">
                            <a:effectLst/>
                            <a:latin typeface="Cambria Math" panose="02040503050406030204" pitchFamily="18" charset="0"/>
                            <a:ea typeface="Cambria Math" panose="02040503050406030204" pitchFamily="18" charset="0"/>
                          </a:rPr>
                        </m:ctrlPr>
                      </m:sSubPr>
                      <m:e>
                        <m:r>
                          <a:rPr lang="en-US" altLang="zh-CN" sz="1800" b="1" i="1" kern="1050">
                            <a:effectLst/>
                            <a:latin typeface="Cambria Math" panose="02040503050406030204" pitchFamily="18" charset="0"/>
                            <a:ea typeface="宋体" panose="02010600030101010101" pitchFamily="2" charset="-122"/>
                          </a:rPr>
                          <m:t>𝒔</m:t>
                        </m:r>
                      </m:e>
                      <m:sub>
                        <m:r>
                          <a:rPr lang="en-US" altLang="zh-CN" sz="1800" b="1" i="1" kern="1050">
                            <a:effectLst/>
                            <a:latin typeface="Cambria Math" panose="02040503050406030204" pitchFamily="18" charset="0"/>
                            <a:ea typeface="宋体" panose="02010600030101010101" pitchFamily="2" charset="-122"/>
                          </a:rPr>
                          <m:t>𝒊</m:t>
                        </m:r>
                      </m:sub>
                    </m:sSub>
                    <m:r>
                      <a:rPr lang="en-US" altLang="zh-CN" sz="1800" b="1" i="1" kern="1050">
                        <a:effectLst/>
                        <a:latin typeface="Cambria Math" panose="02040503050406030204" pitchFamily="18" charset="0"/>
                        <a:ea typeface="宋体" panose="02010600030101010101" pitchFamily="2" charset="-122"/>
                      </a:rPr>
                      <m:t>−</m:t>
                    </m:r>
                    <m:sSub>
                      <m:sSubPr>
                        <m:ctrlPr>
                          <a:rPr lang="zh-CN" altLang="zh-CN" sz="1800" b="1" i="1" kern="1050">
                            <a:effectLst/>
                            <a:latin typeface="Cambria Math" panose="02040503050406030204" pitchFamily="18" charset="0"/>
                            <a:ea typeface="Cambria Math" panose="02040503050406030204" pitchFamily="18" charset="0"/>
                          </a:rPr>
                        </m:ctrlPr>
                      </m:sSubPr>
                      <m:e>
                        <m:r>
                          <a:rPr lang="en-US" altLang="zh-CN" sz="1800" b="1" i="1" kern="1050">
                            <a:effectLst/>
                            <a:latin typeface="Cambria Math" panose="02040503050406030204" pitchFamily="18" charset="0"/>
                            <a:ea typeface="宋体" panose="02010600030101010101" pitchFamily="2" charset="-122"/>
                          </a:rPr>
                          <m:t>𝝈</m:t>
                        </m:r>
                      </m:e>
                      <m:sub>
                        <m:r>
                          <a:rPr lang="en-US" altLang="zh-CN" sz="1800" b="1" i="1" kern="1050">
                            <a:effectLst/>
                            <a:latin typeface="Cambria Math" panose="02040503050406030204" pitchFamily="18" charset="0"/>
                            <a:ea typeface="宋体" panose="02010600030101010101" pitchFamily="2" charset="-122"/>
                          </a:rPr>
                          <m:t>𝑮</m:t>
                        </m:r>
                      </m:sub>
                    </m:sSub>
                    <m:sSub>
                      <m:sSubPr>
                        <m:ctrlPr>
                          <a:rPr lang="zh-CN" altLang="zh-CN" sz="1800" b="1" i="1" kern="1050">
                            <a:effectLst/>
                            <a:latin typeface="Cambria Math" panose="02040503050406030204" pitchFamily="18" charset="0"/>
                            <a:ea typeface="Cambria Math" panose="02040503050406030204" pitchFamily="18" charset="0"/>
                          </a:rPr>
                        </m:ctrlPr>
                      </m:sSubPr>
                      <m:e>
                        <m:r>
                          <a:rPr lang="en-US" altLang="zh-CN" sz="1800" b="1" i="1" kern="1050">
                            <a:effectLst/>
                            <a:latin typeface="Cambria Math" panose="02040503050406030204" pitchFamily="18" charset="0"/>
                            <a:ea typeface="宋体" panose="02010600030101010101" pitchFamily="2" charset="-122"/>
                          </a:rPr>
                          <m:t>𝜞</m:t>
                        </m:r>
                      </m:e>
                      <m:sub>
                        <m:r>
                          <a:rPr lang="en-US" altLang="zh-CN" sz="1800" b="1" i="1" kern="1050">
                            <a:effectLst/>
                            <a:latin typeface="Cambria Math" panose="02040503050406030204" pitchFamily="18" charset="0"/>
                            <a:ea typeface="宋体" panose="02010600030101010101" pitchFamily="2" charset="-122"/>
                          </a:rPr>
                          <m:t>𝑮𝒊</m:t>
                        </m:r>
                      </m:sub>
                    </m:sSub>
                    <m:sSub>
                      <m:sSubPr>
                        <m:ctrlPr>
                          <a:rPr lang="zh-CN" altLang="zh-CN" sz="1800" b="1" i="1" kern="1050">
                            <a:effectLst/>
                            <a:latin typeface="Cambria Math" panose="02040503050406030204" pitchFamily="18" charset="0"/>
                            <a:ea typeface="Cambria Math" panose="02040503050406030204" pitchFamily="18" charset="0"/>
                          </a:rPr>
                        </m:ctrlPr>
                      </m:sSubPr>
                      <m:e>
                        <m:acc>
                          <m:accPr>
                            <m:chr m:val="̂"/>
                            <m:ctrlPr>
                              <a:rPr lang="zh-CN" altLang="zh-CN" sz="1800" b="1" i="1" kern="1050">
                                <a:effectLst/>
                                <a:latin typeface="Cambria Math" panose="02040503050406030204" pitchFamily="18" charset="0"/>
                                <a:ea typeface="Cambria Math" panose="02040503050406030204" pitchFamily="18" charset="0"/>
                              </a:rPr>
                            </m:ctrlPr>
                          </m:accPr>
                          <m:e>
                            <m:r>
                              <a:rPr lang="en-US" altLang="zh-CN" sz="1800" b="1" i="1" kern="1050">
                                <a:effectLst/>
                                <a:latin typeface="Cambria Math" panose="02040503050406030204" pitchFamily="18" charset="0"/>
                                <a:ea typeface="宋体" panose="02010600030101010101" pitchFamily="2" charset="-122"/>
                              </a:rPr>
                              <m:t>𝜣</m:t>
                            </m:r>
                          </m:e>
                        </m:acc>
                      </m:e>
                      <m:sub>
                        <m:r>
                          <a:rPr lang="en-US" altLang="zh-CN" sz="1800" b="1" i="1" kern="1050">
                            <a:effectLst/>
                            <a:latin typeface="Cambria Math" panose="02040503050406030204" pitchFamily="18" charset="0"/>
                            <a:ea typeface="宋体" panose="02010600030101010101" pitchFamily="2" charset="-122"/>
                          </a:rPr>
                          <m:t>𝑮𝒊</m:t>
                        </m:r>
                      </m:sub>
                    </m:sSub>
                  </m:oMath>
                </a14:m>
                <a:r>
                  <a:rPr lang="en-US" altLang="zh-CN" sz="1800" b="1" kern="1050" dirty="0">
                    <a:effectLst/>
                    <a:latin typeface="微软雅黑" panose="020B0503020204020204" pitchFamily="34" charset="-122"/>
                    <a:ea typeface="微软雅黑" panose="020B0503020204020204" pitchFamily="34" charset="-122"/>
                  </a:rPr>
                  <a:t>	(7.131)</a:t>
                </a:r>
                <a:endParaRPr lang="zh-CN" altLang="zh-CN" sz="1800" b="1" kern="1050" dirty="0">
                  <a:effectLst/>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E52B34A6-D7DF-F613-85FB-DBC9FB0AF14C}"/>
                  </a:ext>
                </a:extLst>
              </p:cNvPr>
              <p:cNvSpPr txBox="1">
                <a:spLocks noRot="1" noChangeAspect="1" noMove="1" noResize="1" noEditPoints="1" noAdjustHandles="1" noChangeArrowheads="1" noChangeShapeType="1" noTextEdit="1"/>
              </p:cNvSpPr>
              <p:nvPr/>
            </p:nvSpPr>
            <p:spPr>
              <a:xfrm>
                <a:off x="2990850" y="1276350"/>
                <a:ext cx="8029575" cy="842346"/>
              </a:xfrm>
              <a:prstGeom prst="rect">
                <a:avLst/>
              </a:prstGeom>
              <a:blipFill>
                <a:blip r:embed="rId3"/>
                <a:stretch>
                  <a:fillRect b="-100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F3EC5230-5CD8-710C-890A-7F9E462560B6}"/>
                  </a:ext>
                </a:extLst>
              </p:cNvPr>
              <p:cNvSpPr txBox="1"/>
              <p:nvPr/>
            </p:nvSpPr>
            <p:spPr>
              <a:xfrm>
                <a:off x="938213" y="2292058"/>
                <a:ext cx="10434638" cy="3528274"/>
              </a:xfrm>
              <a:prstGeom prst="rect">
                <a:avLst/>
              </a:prstGeom>
              <a:noFill/>
            </p:spPr>
            <p:txBody>
              <a:bodyPr wrap="square">
                <a:spAutoFit/>
              </a:bodyPr>
              <a:lstStyle/>
              <a:p>
                <a:pPr algn="just"/>
                <a:r>
                  <a:rPr lang="zh-CN" altLang="zh-CN" sz="2400" b="1" kern="1000" dirty="0">
                    <a:effectLst/>
                    <a:latin typeface="微软雅黑" panose="020B0503020204020204" pitchFamily="34" charset="-122"/>
                    <a:ea typeface="微软雅黑" panose="020B0503020204020204" pitchFamily="34" charset="-122"/>
                  </a:rPr>
                  <a:t>式中，</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𝜞</m:t>
                        </m:r>
                      </m:e>
                      <m:sub>
                        <m:r>
                          <a:rPr lang="en-US" altLang="zh-CN" sz="2400" b="1" i="1" kern="1000">
                            <a:effectLst/>
                            <a:latin typeface="Cambria Math" panose="02040503050406030204" pitchFamily="18" charset="0"/>
                            <a:ea typeface="宋体" panose="02010600030101010101" pitchFamily="2" charset="-122"/>
                          </a:rPr>
                          <m:t>𝑴𝒊𝒋</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𝜞</m:t>
                        </m:r>
                      </m:e>
                      <m:sub>
                        <m:r>
                          <a:rPr lang="en-US" altLang="zh-CN" sz="2400" b="1" i="1" kern="1000">
                            <a:effectLst/>
                            <a:latin typeface="Cambria Math" panose="02040503050406030204" pitchFamily="18" charset="0"/>
                            <a:ea typeface="宋体" panose="02010600030101010101" pitchFamily="2" charset="-122"/>
                          </a:rPr>
                          <m:t>𝑪𝒊𝒋</m:t>
                        </m:r>
                      </m:sub>
                    </m:sSub>
                  </m:oMath>
                </a14:m>
                <a:r>
                  <a:rPr lang="zh-CN" altLang="zh-CN" sz="2400" b="1" kern="1000" dirty="0">
                    <a:effectLst/>
                    <a:latin typeface="微软雅黑" panose="020B0503020204020204" pitchFamily="34" charset="-122"/>
                    <a:ea typeface="微软雅黑" panose="020B0503020204020204" pitchFamily="34" charset="-122"/>
                  </a:rPr>
                  <a:t>和</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𝜞</m:t>
                        </m:r>
                      </m:e>
                      <m:sub>
                        <m:r>
                          <a:rPr lang="en-US" altLang="zh-CN" sz="2400" b="1" i="1" kern="1000">
                            <a:effectLst/>
                            <a:latin typeface="Cambria Math" panose="02040503050406030204" pitchFamily="18" charset="0"/>
                            <a:ea typeface="宋体" panose="02010600030101010101" pitchFamily="2" charset="-122"/>
                          </a:rPr>
                          <m:t>𝑮𝒊</m:t>
                        </m:r>
                      </m:sub>
                    </m:sSub>
                  </m:oMath>
                </a14:m>
                <a:r>
                  <a:rPr lang="zh-CN" altLang="zh-CN" sz="2400" b="1" kern="1000" dirty="0">
                    <a:effectLst/>
                    <a:latin typeface="微软雅黑" panose="020B0503020204020204" pitchFamily="34" charset="-122"/>
                    <a:ea typeface="微软雅黑" panose="020B0503020204020204" pitchFamily="34" charset="-122"/>
                  </a:rPr>
                  <a:t>是常数对称正定矩阵，</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𝒔</m:t>
                        </m:r>
                      </m:e>
                      <m:sub>
                        <m:r>
                          <a:rPr lang="en-US" altLang="zh-CN" sz="2400" b="1" i="1" kern="1000">
                            <a:effectLst/>
                            <a:latin typeface="Cambria Math" panose="02040503050406030204" pitchFamily="18" charset="0"/>
                            <a:ea typeface="宋体" panose="02010600030101010101" pitchFamily="2" charset="-122"/>
                          </a:rPr>
                          <m:t>𝒊</m:t>
                        </m:r>
                      </m:sub>
                    </m:sSub>
                  </m:oMath>
                </a14:m>
                <a:r>
                  <a:rPr lang="zh-CN" altLang="zh-CN" sz="2400" b="1" kern="1000" dirty="0">
                    <a:effectLst/>
                    <a:latin typeface="微软雅黑" panose="020B0503020204020204" pitchFamily="34" charset="-122"/>
                    <a:ea typeface="微软雅黑" panose="020B0503020204020204" pitchFamily="34" charset="-122"/>
                  </a:rPr>
                  <a:t>是</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𝒔</m:t>
                    </m:r>
                  </m:oMath>
                </a14:m>
                <a:r>
                  <a:rPr lang="zh-CN" altLang="zh-CN" sz="2400" b="1" kern="1000" dirty="0">
                    <a:effectLst/>
                    <a:latin typeface="微软雅黑" panose="020B0503020204020204" pitchFamily="34" charset="-122"/>
                    <a:ea typeface="微软雅黑" panose="020B0503020204020204" pitchFamily="34" charset="-122"/>
                  </a:rPr>
                  <a:t>的第</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𝒊</m:t>
                    </m:r>
                  </m:oMath>
                </a14:m>
                <a:r>
                  <a:rPr lang="zh-CN" altLang="zh-CN" sz="2400" b="1" kern="1000" dirty="0">
                    <a:effectLst/>
                    <a:latin typeface="微软雅黑" panose="020B0503020204020204" pitchFamily="34" charset="-122"/>
                    <a:ea typeface="微软雅黑" panose="020B0503020204020204" pitchFamily="34" charset="-122"/>
                  </a:rPr>
                  <a:t>个元素，</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𝒆𝒒𝒋</m:t>
                        </m:r>
                      </m:sub>
                    </m:sSub>
                  </m:oMath>
                </a14:m>
                <a:r>
                  <a:rPr lang="zh-CN" altLang="zh-CN" sz="2400" b="1" kern="1000" dirty="0">
                    <a:effectLst/>
                    <a:latin typeface="微软雅黑" panose="020B0503020204020204" pitchFamily="34" charset="-122"/>
                    <a:ea typeface="微软雅黑" panose="020B0503020204020204" pitchFamily="34" charset="-122"/>
                  </a:rPr>
                  <a:t>是</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𝒙</m:t>
                        </m:r>
                      </m:e>
                      <m:sub>
                        <m:r>
                          <a:rPr lang="en-US" altLang="zh-CN" sz="2400" b="1" i="1" kern="1000">
                            <a:effectLst/>
                            <a:latin typeface="Cambria Math" panose="02040503050406030204" pitchFamily="18" charset="0"/>
                            <a:ea typeface="宋体" panose="02010600030101010101" pitchFamily="2" charset="-122"/>
                          </a:rPr>
                          <m:t>𝒆𝒒</m:t>
                        </m:r>
                      </m:sub>
                    </m:sSub>
                  </m:oMath>
                </a14:m>
                <a:r>
                  <a:rPr lang="zh-CN" altLang="zh-CN" sz="2400" b="1" kern="1000" dirty="0">
                    <a:effectLst/>
                    <a:latin typeface="微软雅黑" panose="020B0503020204020204" pitchFamily="34" charset="-122"/>
                    <a:ea typeface="微软雅黑" panose="020B0503020204020204" pitchFamily="34" charset="-122"/>
                  </a:rPr>
                  <a:t>的第</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𝒋</m:t>
                    </m:r>
                  </m:oMath>
                </a14:m>
                <a:r>
                  <a:rPr lang="zh-CN" altLang="zh-CN" sz="2400" b="1" kern="1000" dirty="0">
                    <a:effectLst/>
                    <a:latin typeface="微软雅黑" panose="020B0503020204020204" pitchFamily="34" charset="-122"/>
                    <a:ea typeface="微软雅黑" panose="020B0503020204020204" pitchFamily="34" charset="-122"/>
                  </a:rPr>
                  <a:t>个元素，</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𝝈</m:t>
                        </m:r>
                      </m:e>
                      <m:sub>
                        <m:r>
                          <a:rPr lang="en-US" altLang="zh-CN" sz="2400" b="1" i="1" kern="1000">
                            <a:effectLst/>
                            <a:latin typeface="Cambria Math" panose="02040503050406030204" pitchFamily="18" charset="0"/>
                            <a:ea typeface="宋体" panose="02010600030101010101" pitchFamily="2" charset="-122"/>
                          </a:rPr>
                          <m:t>𝑴</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𝝈</m:t>
                        </m:r>
                      </m:e>
                      <m:sub>
                        <m:r>
                          <a:rPr lang="en-US" altLang="zh-CN" sz="2400" b="1" i="1" kern="1000">
                            <a:effectLst/>
                            <a:latin typeface="Cambria Math" panose="02040503050406030204" pitchFamily="18" charset="0"/>
                            <a:ea typeface="宋体" panose="02010600030101010101" pitchFamily="2" charset="-122"/>
                          </a:rPr>
                          <m:t>𝑪</m:t>
                        </m:r>
                      </m:sub>
                    </m:sSub>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𝝈</m:t>
                        </m:r>
                      </m:e>
                      <m:sub>
                        <m:r>
                          <a:rPr lang="en-US" altLang="zh-CN" sz="2400" b="1" i="1" kern="1000">
                            <a:effectLst/>
                            <a:latin typeface="Cambria Math" panose="02040503050406030204" pitchFamily="18" charset="0"/>
                            <a:ea typeface="宋体" panose="02010600030101010101" pitchFamily="2" charset="-122"/>
                          </a:rPr>
                          <m:t>𝑮</m:t>
                        </m:r>
                      </m:sub>
                    </m:sSub>
                  </m:oMath>
                </a14:m>
                <a:r>
                  <a:rPr lang="zh-CN" altLang="zh-CN" sz="2400" b="1" kern="1000" dirty="0">
                    <a:effectLst/>
                    <a:latin typeface="微软雅黑" panose="020B0503020204020204" pitchFamily="34" charset="-122"/>
                    <a:ea typeface="微软雅黑" panose="020B0503020204020204" pitchFamily="34" charset="-122"/>
                  </a:rPr>
                  <a:t>是小的正常数。</a:t>
                </a:r>
              </a:p>
              <a:p>
                <a:pPr algn="just">
                  <a:lnSpc>
                    <a:spcPct val="200000"/>
                  </a:lnSpc>
                  <a:spcBef>
                    <a:spcPts val="600"/>
                  </a:spcBef>
                </a:pPr>
                <a:r>
                  <a:rPr lang="en-US" altLang="zh-CN" sz="2400" b="1" kern="1050" dirty="0">
                    <a:effectLst/>
                    <a:latin typeface="微软雅黑" panose="020B0503020204020204" pitchFamily="34" charset="-122"/>
                    <a:ea typeface="微软雅黑" panose="020B0503020204020204" pitchFamily="34" charset="-122"/>
                  </a:rPr>
                  <a:t>2)</a:t>
                </a:r>
                <a:r>
                  <a:rPr lang="zh-CN" altLang="zh-CN" sz="2400" b="1" kern="1050" dirty="0">
                    <a:effectLst/>
                    <a:latin typeface="微软雅黑" panose="020B0503020204020204" pitchFamily="34" charset="-122"/>
                    <a:ea typeface="微软雅黑" panose="020B0503020204020204" pitchFamily="34" charset="-122"/>
                  </a:rPr>
                  <a:t>数值仿真</a:t>
                </a:r>
              </a:p>
              <a:p>
                <a:r>
                  <a:rPr lang="zh-CN" altLang="zh-CN" sz="2400" b="1" kern="0" dirty="0">
                    <a:effectLst/>
                    <a:latin typeface="微软雅黑" panose="020B0503020204020204" pitchFamily="34" charset="-122"/>
                    <a:ea typeface="微软雅黑" panose="020B0503020204020204" pitchFamily="34" charset="-122"/>
                  </a:rPr>
                  <a:t>下面</a:t>
                </a:r>
                <a:r>
                  <a:rPr lang="zh-CN" altLang="zh-CN" sz="2400" b="1" kern="1000" dirty="0">
                    <a:effectLst/>
                    <a:latin typeface="微软雅黑" panose="020B0503020204020204" pitchFamily="34" charset="-122"/>
                    <a:ea typeface="微软雅黑" panose="020B0503020204020204" pitchFamily="34" charset="-122"/>
                  </a:rPr>
                  <a:t>针对机器人动力学系统应用基于阻抗控制的神经网络算法进行数值仿真。关节的期望轨迹为</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𝒒</m:t>
                        </m:r>
                      </m:e>
                      <m:sub>
                        <m:r>
                          <a:rPr lang="en-US" altLang="zh-CN" sz="2400" b="1" i="1" kern="1000">
                            <a:effectLst/>
                            <a:latin typeface="Cambria Math" panose="02040503050406030204" pitchFamily="18" charset="0"/>
                            <a:ea typeface="宋体" panose="02010600030101010101" pitchFamily="2" charset="-122"/>
                          </a:rPr>
                          <m:t>𝒅</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𝟎</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𝟏𝟒</m:t>
                    </m:r>
                    <m:func>
                      <m:funcPr>
                        <m:ctrlPr>
                          <a:rPr lang="zh-CN" altLang="zh-CN" sz="2400" b="1" i="1" kern="1000">
                            <a:effectLst/>
                            <a:latin typeface="Cambria Math" panose="02040503050406030204" pitchFamily="18" charset="0"/>
                            <a:ea typeface="Cambria Math" panose="02040503050406030204" pitchFamily="18" charset="0"/>
                          </a:rPr>
                        </m:ctrlPr>
                      </m:funcPr>
                      <m:fName>
                        <m:r>
                          <a:rPr lang="en-US" altLang="zh-CN" sz="2400" b="1" i="1" kern="1000">
                            <a:effectLst/>
                            <a:latin typeface="Cambria Math" panose="02040503050406030204" pitchFamily="18" charset="0"/>
                            <a:ea typeface="宋体" panose="02010600030101010101" pitchFamily="2" charset="-122"/>
                          </a:rPr>
                          <m:t>𝒄𝒐𝒔</m:t>
                        </m:r>
                      </m:fName>
                      <m:e>
                        <m:r>
                          <a:rPr lang="en-US" altLang="zh-CN" sz="2400" b="1" i="1" kern="1000">
                            <a:effectLst/>
                            <a:latin typeface="Cambria Math" panose="02040503050406030204" pitchFamily="18" charset="0"/>
                            <a:ea typeface="宋体" panose="02010600030101010101" pitchFamily="2" charset="-122"/>
                          </a:rPr>
                          <m:t>(</m:t>
                        </m:r>
                      </m:e>
                    </m:func>
                    <m:r>
                      <a:rPr lang="en-US" altLang="zh-CN" sz="2400" b="1" i="1" kern="1000">
                        <a:effectLst/>
                        <a:latin typeface="Cambria Math" panose="02040503050406030204" pitchFamily="18" charset="0"/>
                        <a:ea typeface="宋体" panose="02010600030101010101" pitchFamily="2" charset="-122"/>
                      </a:rPr>
                      <m:t>𝟎</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𝟓</m:t>
                    </m:r>
                    <m:r>
                      <a:rPr lang="en-US" altLang="zh-CN" sz="2400" b="1" i="1" kern="1000">
                        <a:effectLst/>
                        <a:latin typeface="Cambria Math" panose="02040503050406030204" pitchFamily="18" charset="0"/>
                        <a:ea typeface="宋体" panose="02010600030101010101" pitchFamily="2" charset="-122"/>
                      </a:rPr>
                      <m:t>𝒕</m:t>
                    </m:r>
                    <m:r>
                      <a:rPr lang="en-US" altLang="zh-CN" sz="2400" b="1" i="1" kern="1000">
                        <a:effectLst/>
                        <a:latin typeface="Cambria Math" panose="02040503050406030204" pitchFamily="18" charset="0"/>
                        <a:ea typeface="宋体" panose="02010600030101010101" pitchFamily="2" charset="-122"/>
                      </a:rPr>
                      <m:t>)</m:t>
                    </m:r>
                    <m:r>
                      <m:rPr>
                        <m:nor/>
                      </m:rPr>
                      <a:rPr lang="en-US" altLang="zh-CN" sz="2400" b="1" kern="1000">
                        <a:effectLst/>
                        <a:latin typeface="微软雅黑" panose="020B0503020204020204" pitchFamily="34" charset="-122"/>
                        <a:ea typeface="微软雅黑" panose="020B0503020204020204" pitchFamily="34" charset="-122"/>
                      </a:rPr>
                      <m:t>  </m:t>
                    </m:r>
                    <m:r>
                      <a:rPr lang="en-US" altLang="zh-CN" sz="2400" b="1" i="1" kern="1000">
                        <a:effectLst/>
                        <a:latin typeface="Cambria Math" panose="02040503050406030204" pitchFamily="18" charset="0"/>
                        <a:ea typeface="宋体" panose="02010600030101010101" pitchFamily="2" charset="-122"/>
                      </a:rPr>
                      <m:t>𝟎</m:t>
                    </m:r>
                    <m:r>
                      <a:rPr lang="en-US" altLang="zh-CN" sz="2400" b="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𝟏𝟒</m:t>
                    </m:r>
                    <m:func>
                      <m:funcPr>
                        <m:ctrlPr>
                          <a:rPr lang="zh-CN" altLang="zh-CN" sz="2400" b="1" i="1" kern="1000">
                            <a:effectLst/>
                            <a:latin typeface="Cambria Math" panose="02040503050406030204" pitchFamily="18" charset="0"/>
                            <a:ea typeface="Cambria Math" panose="02040503050406030204" pitchFamily="18" charset="0"/>
                          </a:rPr>
                        </m:ctrlPr>
                      </m:funcPr>
                      <m:fName>
                        <m:r>
                          <a:rPr lang="en-US" altLang="zh-CN" sz="2400" b="1" i="1" kern="1000">
                            <a:effectLst/>
                            <a:latin typeface="Cambria Math" panose="02040503050406030204" pitchFamily="18" charset="0"/>
                            <a:ea typeface="宋体" panose="02010600030101010101" pitchFamily="2" charset="-122"/>
                          </a:rPr>
                          <m:t>𝒔𝒊𝒏</m:t>
                        </m:r>
                      </m:fName>
                      <m:e>
                        <m:r>
                          <a:rPr lang="en-US" altLang="zh-CN" sz="2400" b="1" i="1" kern="1000">
                            <a:effectLst/>
                            <a:latin typeface="Cambria Math" panose="02040503050406030204" pitchFamily="18" charset="0"/>
                            <a:ea typeface="宋体" panose="02010600030101010101" pitchFamily="2" charset="-122"/>
                          </a:rPr>
                          <m:t>(</m:t>
                        </m:r>
                      </m:e>
                    </m:func>
                    <m:r>
                      <a:rPr lang="en-US" altLang="zh-CN" sz="2400" b="1" i="1" kern="1000">
                        <a:effectLst/>
                        <a:latin typeface="Cambria Math" panose="02040503050406030204" pitchFamily="18" charset="0"/>
                        <a:ea typeface="宋体" panose="02010600030101010101" pitchFamily="2" charset="-122"/>
                      </a:rPr>
                      <m:t>𝟎</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𝟓</m:t>
                    </m:r>
                    <m:r>
                      <a:rPr lang="en-US" altLang="zh-CN" sz="2400" b="1" i="1" kern="1000">
                        <a:effectLst/>
                        <a:latin typeface="Cambria Math" panose="02040503050406030204" pitchFamily="18" charset="0"/>
                        <a:ea typeface="宋体" panose="02010600030101010101" pitchFamily="2" charset="-122"/>
                      </a:rPr>
                      <m:t>𝒕</m:t>
                    </m:r>
                    <m:r>
                      <a:rPr lang="en-US" altLang="zh-CN" sz="2400" b="1" i="1" kern="1000">
                        <a:effectLst/>
                        <a:latin typeface="Cambria Math" panose="02040503050406030204" pitchFamily="18" charset="0"/>
                        <a:ea typeface="宋体" panose="02010600030101010101" pitchFamily="2" charset="-122"/>
                      </a:rPr>
                      <m:t>)</m:t>
                    </m:r>
                    <m:r>
                      <m:rPr>
                        <m:nor/>
                      </m:rPr>
                      <a:rPr lang="en-US" altLang="zh-CN" sz="2400" b="1" kern="1000">
                        <a:effectLst/>
                        <a:latin typeface="微软雅黑" panose="020B0503020204020204" pitchFamily="34" charset="-122"/>
                        <a:ea typeface="微软雅黑" panose="020B0503020204020204" pitchFamily="34" charset="-122"/>
                      </a:rPr>
                      <m:t>  </m:t>
                    </m:r>
                    <m:r>
                      <a:rPr lang="en-US" altLang="zh-CN" sz="2400" b="1" i="1" kern="1000">
                        <a:effectLst/>
                        <a:latin typeface="Cambria Math" panose="02040503050406030204" pitchFamily="18" charset="0"/>
                        <a:ea typeface="宋体" panose="02010600030101010101" pitchFamily="2" charset="-122"/>
                      </a:rPr>
                      <m:t>𝟎</m:t>
                    </m:r>
                    <m:r>
                      <a:rPr lang="en-US" altLang="zh-CN" sz="2400" b="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𝟏𝟒</m:t>
                    </m:r>
                    <m:func>
                      <m:funcPr>
                        <m:ctrlPr>
                          <a:rPr lang="zh-CN" altLang="zh-CN" sz="2400" b="1" i="1" kern="1000">
                            <a:effectLst/>
                            <a:latin typeface="Cambria Math" panose="02040503050406030204" pitchFamily="18" charset="0"/>
                            <a:ea typeface="Cambria Math" panose="02040503050406030204" pitchFamily="18" charset="0"/>
                          </a:rPr>
                        </m:ctrlPr>
                      </m:funcPr>
                      <m:fName>
                        <m:r>
                          <a:rPr lang="en-US" altLang="zh-CN" sz="2400" b="1" i="1" kern="1000">
                            <a:effectLst/>
                            <a:latin typeface="Cambria Math" panose="02040503050406030204" pitchFamily="18" charset="0"/>
                            <a:ea typeface="宋体" panose="02010600030101010101" pitchFamily="2" charset="-122"/>
                          </a:rPr>
                          <m:t>𝒄𝒐𝒔</m:t>
                        </m:r>
                      </m:fName>
                      <m:e>
                        <m:r>
                          <a:rPr lang="en-US" altLang="zh-CN" sz="2400" b="1" i="1" kern="1000">
                            <a:effectLst/>
                            <a:latin typeface="Cambria Math" panose="02040503050406030204" pitchFamily="18" charset="0"/>
                            <a:ea typeface="宋体" panose="02010600030101010101" pitchFamily="2" charset="-122"/>
                          </a:rPr>
                          <m:t>(</m:t>
                        </m:r>
                      </m:e>
                    </m:func>
                    <m:r>
                      <a:rPr lang="en-US" altLang="zh-CN" sz="2400" b="1" i="1" kern="1000">
                        <a:effectLst/>
                        <a:latin typeface="Cambria Math" panose="02040503050406030204" pitchFamily="18" charset="0"/>
                        <a:ea typeface="宋体" panose="02010600030101010101" pitchFamily="2" charset="-122"/>
                      </a:rPr>
                      <m:t>𝟎</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𝟓</m:t>
                    </m:r>
                    <m:r>
                      <a:rPr lang="en-US" altLang="zh-CN" sz="2400" b="1" i="1" kern="1000">
                        <a:effectLst/>
                        <a:latin typeface="Cambria Math" panose="02040503050406030204" pitchFamily="18" charset="0"/>
                        <a:ea typeface="宋体" panose="02010600030101010101" pitchFamily="2" charset="-122"/>
                      </a:rPr>
                      <m:t>𝒕</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，接触力为</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𝒇</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𝟓</m:t>
                    </m:r>
                    <m:r>
                      <m:rPr>
                        <m:nor/>
                      </m:rPr>
                      <a:rPr lang="en-US" altLang="zh-CN" sz="2400" b="1" kern="1000">
                        <a:effectLst/>
                        <a:latin typeface="微软雅黑" panose="020B0503020204020204" pitchFamily="34" charset="-122"/>
                        <a:ea typeface="微软雅黑" panose="020B0503020204020204" pitchFamily="34" charset="-122"/>
                      </a:rPr>
                      <m:t>  </m:t>
                    </m:r>
                    <m:r>
                      <a:rPr lang="en-US" altLang="zh-CN" sz="2400" b="1" i="1" kern="1000">
                        <a:effectLst/>
                        <a:latin typeface="Cambria Math" panose="02040503050406030204" pitchFamily="18" charset="0"/>
                        <a:ea typeface="宋体" panose="02010600030101010101" pitchFamily="2" charset="-122"/>
                      </a:rPr>
                      <m:t>𝟓</m:t>
                    </m:r>
                    <m:r>
                      <m:rPr>
                        <m:nor/>
                      </m:rPr>
                      <a:rPr lang="en-US" altLang="zh-CN" sz="2400" b="1" kern="1000">
                        <a:effectLst/>
                        <a:latin typeface="微软雅黑" panose="020B0503020204020204" pitchFamily="34" charset="-122"/>
                        <a:ea typeface="微软雅黑" panose="020B0503020204020204" pitchFamily="34" charset="-122"/>
                      </a:rPr>
                      <m:t>  </m:t>
                    </m:r>
                    <m:r>
                      <a:rPr lang="en-US" altLang="zh-CN" sz="2400" b="1" i="1" kern="1000">
                        <a:effectLst/>
                        <a:latin typeface="Cambria Math" panose="02040503050406030204" pitchFamily="18" charset="0"/>
                        <a:ea typeface="宋体" panose="02010600030101010101" pitchFamily="2" charset="-122"/>
                      </a:rPr>
                      <m:t>𝟓</m:t>
                    </m:r>
                    <m:r>
                      <a:rPr lang="en-US" altLang="zh-CN" sz="2400" b="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，初始位置</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𝒒</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𝟎</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𝟎</m:t>
                    </m:r>
                    <m:r>
                      <a:rPr lang="en-US" altLang="zh-CN" sz="2400" b="1" i="1" kern="1000">
                        <a:effectLst/>
                        <a:latin typeface="Cambria Math" panose="02040503050406030204" pitchFamily="18" charset="0"/>
                        <a:ea typeface="宋体" panose="02010600030101010101" pitchFamily="2" charset="-122"/>
                      </a:rPr>
                      <m:t>  </m:t>
                    </m:r>
                    <m:r>
                      <a:rPr lang="en-US" altLang="zh-CN" sz="2400" b="1" i="1" kern="1000">
                        <a:effectLst/>
                        <a:latin typeface="Cambria Math" panose="02040503050406030204" pitchFamily="18" charset="0"/>
                        <a:ea typeface="宋体" panose="02010600030101010101" pitchFamily="2" charset="-122"/>
                      </a:rPr>
                      <m:t>𝟎</m:t>
                    </m:r>
                    <m:r>
                      <a:rPr lang="en-US" altLang="zh-CN" sz="2400" b="1" i="1" kern="1000">
                        <a:effectLst/>
                        <a:latin typeface="Cambria Math" panose="02040503050406030204" pitchFamily="18" charset="0"/>
                        <a:ea typeface="宋体" panose="02010600030101010101" pitchFamily="2" charset="-122"/>
                      </a:rPr>
                      <m:t>  </m:t>
                    </m:r>
                    <m:r>
                      <a:rPr lang="en-US" altLang="zh-CN" sz="2400" b="1" i="1" kern="1000">
                        <a:effectLst/>
                        <a:latin typeface="Cambria Math" panose="02040503050406030204" pitchFamily="18" charset="0"/>
                        <a:ea typeface="宋体" panose="02010600030101010101" pitchFamily="2" charset="-122"/>
                      </a:rPr>
                      <m:t>𝟎</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𝑴</m:t>
                        </m:r>
                      </m:e>
                      <m:sub>
                        <m:r>
                          <a:rPr lang="en-US" altLang="zh-CN" sz="2400" b="1" i="1" kern="1000">
                            <a:effectLst/>
                            <a:latin typeface="Cambria Math" panose="02040503050406030204" pitchFamily="18" charset="0"/>
                            <a:ea typeface="宋体" panose="02010600030101010101" pitchFamily="2" charset="-122"/>
                          </a:rPr>
                          <m:t>𝒅</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𝟐</m:t>
                    </m:r>
                    <m:r>
                      <a:rPr lang="en-US" altLang="zh-CN" sz="2400" b="1" i="1" kern="1000">
                        <a:effectLst/>
                        <a:latin typeface="Cambria Math" panose="02040503050406030204" pitchFamily="18" charset="0"/>
                        <a:ea typeface="宋体" panose="02010600030101010101" pitchFamily="2" charset="-122"/>
                      </a:rPr>
                      <m:t>  </m:t>
                    </m:r>
                    <m:r>
                      <a:rPr lang="en-US" altLang="zh-CN" sz="2400" b="1" i="1" kern="1000">
                        <a:effectLst/>
                        <a:latin typeface="Cambria Math" panose="02040503050406030204" pitchFamily="18" charset="0"/>
                        <a:ea typeface="宋体" panose="02010600030101010101" pitchFamily="2" charset="-122"/>
                      </a:rPr>
                      <m:t>𝟐</m:t>
                    </m:r>
                    <m:r>
                      <a:rPr lang="en-US" altLang="zh-CN" sz="2400" b="1" i="1" kern="1000">
                        <a:effectLst/>
                        <a:latin typeface="Cambria Math" panose="02040503050406030204" pitchFamily="18" charset="0"/>
                        <a:ea typeface="宋体" panose="02010600030101010101" pitchFamily="2" charset="-122"/>
                      </a:rPr>
                      <m:t>  </m:t>
                    </m:r>
                    <m:r>
                      <a:rPr lang="en-US" altLang="zh-CN" sz="2400" b="1" i="1" kern="1000">
                        <a:effectLst/>
                        <a:latin typeface="Cambria Math" panose="02040503050406030204" pitchFamily="18" charset="0"/>
                        <a:ea typeface="宋体" panose="02010600030101010101" pitchFamily="2" charset="-122"/>
                      </a:rPr>
                      <m:t>𝟐</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𝑪</m:t>
                        </m:r>
                      </m:e>
                      <m:sub>
                        <m:r>
                          <a:rPr lang="en-US" altLang="zh-CN" sz="2400" b="1" i="1" kern="1000">
                            <a:effectLst/>
                            <a:latin typeface="Cambria Math" panose="02040503050406030204" pitchFamily="18" charset="0"/>
                            <a:ea typeface="宋体" panose="02010600030101010101" pitchFamily="2" charset="-122"/>
                          </a:rPr>
                          <m:t>𝒅</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𝟓</m:t>
                    </m:r>
                    <m:r>
                      <a:rPr lang="en-US" altLang="zh-CN" sz="2400" b="1" i="1" kern="1000">
                        <a:effectLst/>
                        <a:latin typeface="Cambria Math" panose="02040503050406030204" pitchFamily="18" charset="0"/>
                        <a:ea typeface="宋体" panose="02010600030101010101" pitchFamily="2" charset="-122"/>
                      </a:rPr>
                      <m:t>  </m:t>
                    </m:r>
                    <m:r>
                      <a:rPr lang="en-US" altLang="zh-CN" sz="2400" b="1" i="1" kern="1000">
                        <a:effectLst/>
                        <a:latin typeface="Cambria Math" panose="02040503050406030204" pitchFamily="18" charset="0"/>
                        <a:ea typeface="宋体" panose="02010600030101010101" pitchFamily="2" charset="-122"/>
                      </a:rPr>
                      <m:t>𝟓</m:t>
                    </m:r>
                    <m:r>
                      <a:rPr lang="en-US" altLang="zh-CN" sz="2400" b="1" i="1" kern="1000">
                        <a:effectLst/>
                        <a:latin typeface="Cambria Math" panose="02040503050406030204" pitchFamily="18" charset="0"/>
                        <a:ea typeface="宋体" panose="02010600030101010101" pitchFamily="2" charset="-122"/>
                      </a:rPr>
                      <m:t>  </m:t>
                    </m:r>
                    <m:r>
                      <a:rPr lang="en-US" altLang="zh-CN" sz="2400" b="1" i="1" kern="1000">
                        <a:effectLst/>
                        <a:latin typeface="Cambria Math" panose="02040503050406030204" pitchFamily="18" charset="0"/>
                        <a:ea typeface="宋体" panose="02010600030101010101" pitchFamily="2" charset="-122"/>
                      </a:rPr>
                      <m:t>𝟓</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𝑮</m:t>
                        </m:r>
                      </m:e>
                      <m:sub>
                        <m:r>
                          <a:rPr lang="en-US" altLang="zh-CN" sz="2400" b="1" i="1" kern="1000">
                            <a:effectLst/>
                            <a:latin typeface="Cambria Math" panose="02040503050406030204" pitchFamily="18" charset="0"/>
                            <a:ea typeface="宋体" panose="02010600030101010101" pitchFamily="2" charset="-122"/>
                          </a:rPr>
                          <m:t>𝒅</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𝟓𝟎</m:t>
                    </m:r>
                    <m:r>
                      <a:rPr lang="en-US" altLang="zh-CN" sz="2400" b="1" i="1" kern="1000">
                        <a:effectLst/>
                        <a:latin typeface="Cambria Math" panose="02040503050406030204" pitchFamily="18" charset="0"/>
                        <a:ea typeface="宋体" panose="02010600030101010101" pitchFamily="2" charset="-122"/>
                      </a:rPr>
                      <m:t>  </m:t>
                    </m:r>
                    <m:r>
                      <a:rPr lang="en-US" altLang="zh-CN" sz="2400" b="1" i="1" kern="1000">
                        <a:effectLst/>
                        <a:latin typeface="Cambria Math" panose="02040503050406030204" pitchFamily="18" charset="0"/>
                        <a:ea typeface="宋体" panose="02010600030101010101" pitchFamily="2" charset="-122"/>
                      </a:rPr>
                      <m:t>𝟓𝟎</m:t>
                    </m:r>
                    <m:r>
                      <a:rPr lang="en-US" altLang="zh-CN" sz="2400" b="1" i="1" kern="1000">
                        <a:effectLst/>
                        <a:latin typeface="Cambria Math" panose="02040503050406030204" pitchFamily="18" charset="0"/>
                        <a:ea typeface="宋体" panose="02010600030101010101" pitchFamily="2" charset="-122"/>
                      </a:rPr>
                      <m:t>  </m:t>
                    </m:r>
                    <m:r>
                      <a:rPr lang="en-US" altLang="zh-CN" sz="2400" b="1" i="1" kern="1000">
                        <a:effectLst/>
                        <a:latin typeface="Cambria Math" panose="02040503050406030204" pitchFamily="18" charset="0"/>
                        <a:ea typeface="宋体" panose="02010600030101010101" pitchFamily="2" charset="-122"/>
                      </a:rPr>
                      <m:t>𝟓𝟎</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𝑲</m:t>
                        </m:r>
                      </m:e>
                      <m:sub>
                        <m:r>
                          <a:rPr lang="en-US" altLang="zh-CN" sz="2400" b="1" i="1" kern="1000">
                            <a:effectLst/>
                            <a:latin typeface="Cambria Math" panose="02040503050406030204" pitchFamily="18" charset="0"/>
                            <a:ea typeface="宋体" panose="02010600030101010101" pitchFamily="2" charset="-122"/>
                          </a:rPr>
                          <m:t>𝟏</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𝟏</m:t>
                    </m:r>
                    <m:r>
                      <a:rPr lang="en-US" altLang="zh-CN" sz="2400" b="1" i="1" kern="1000">
                        <a:effectLst/>
                        <a:latin typeface="Cambria Math" panose="02040503050406030204" pitchFamily="18" charset="0"/>
                        <a:ea typeface="宋体" panose="02010600030101010101" pitchFamily="2" charset="-122"/>
                      </a:rPr>
                      <m:t>  </m:t>
                    </m:r>
                    <m:r>
                      <a:rPr lang="en-US" altLang="zh-CN" sz="2400" b="1" i="1" kern="1000">
                        <a:effectLst/>
                        <a:latin typeface="Cambria Math" panose="02040503050406030204" pitchFamily="18" charset="0"/>
                        <a:ea typeface="宋体" panose="02010600030101010101" pitchFamily="2" charset="-122"/>
                      </a:rPr>
                      <m:t>𝟏</m:t>
                    </m:r>
                    <m:r>
                      <a:rPr lang="en-US" altLang="zh-CN" sz="2400" b="1" i="1" kern="1000">
                        <a:effectLst/>
                        <a:latin typeface="Cambria Math" panose="02040503050406030204" pitchFamily="18" charset="0"/>
                        <a:ea typeface="宋体" panose="02010600030101010101" pitchFamily="2" charset="-122"/>
                      </a:rPr>
                      <m:t>  </m:t>
                    </m:r>
                    <m:r>
                      <a:rPr lang="en-US" altLang="zh-CN" sz="2400" b="1" i="1" kern="1000">
                        <a:effectLst/>
                        <a:latin typeface="Cambria Math" panose="02040503050406030204" pitchFamily="18" charset="0"/>
                        <a:ea typeface="宋体" panose="02010600030101010101" pitchFamily="2" charset="-122"/>
                      </a:rPr>
                      <m:t>𝟏</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𝑲</m:t>
                        </m:r>
                      </m:e>
                      <m:sub>
                        <m:r>
                          <a:rPr lang="en-US" altLang="zh-CN" sz="2400" b="1" i="1" kern="1000">
                            <a:effectLst/>
                            <a:latin typeface="Cambria Math" panose="02040503050406030204" pitchFamily="18" charset="0"/>
                            <a:ea typeface="宋体" panose="02010600030101010101" pitchFamily="2" charset="-122"/>
                          </a:rPr>
                          <m:t>𝟐</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𝟏𝟎</m:t>
                    </m:r>
                    <m:r>
                      <a:rPr lang="en-US" altLang="zh-CN" sz="2400" b="1" i="1" kern="1000">
                        <a:effectLst/>
                        <a:latin typeface="Cambria Math" panose="02040503050406030204" pitchFamily="18" charset="0"/>
                        <a:ea typeface="宋体" panose="02010600030101010101" pitchFamily="2" charset="-122"/>
                      </a:rPr>
                      <m:t>  </m:t>
                    </m:r>
                    <m:r>
                      <a:rPr lang="en-US" altLang="zh-CN" sz="2400" b="1" i="1" kern="1000">
                        <a:effectLst/>
                        <a:latin typeface="Cambria Math" panose="02040503050406030204" pitchFamily="18" charset="0"/>
                        <a:ea typeface="宋体" panose="02010600030101010101" pitchFamily="2" charset="-122"/>
                      </a:rPr>
                      <m:t>𝟏𝟎</m:t>
                    </m:r>
                  </m:oMath>
                </a14:m>
                <a:r>
                  <a:rPr lang="en-US" altLang="zh-CN" sz="2400" b="1" kern="1000" dirty="0">
                    <a:effectLst/>
                    <a:latin typeface="微软雅黑" panose="020B0503020204020204" pitchFamily="34" charset="-122"/>
                    <a:ea typeface="微软雅黑" panose="020B0503020204020204" pitchFamily="34" charset="-122"/>
                  </a:rPr>
                  <a:t> </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𝟏𝟎</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sSub>
                      <m:sSubPr>
                        <m:ctrlPr>
                          <a:rPr lang="zh-CN" altLang="zh-CN" sz="2400" b="1" i="1" kern="1000">
                            <a:effectLst/>
                            <a:latin typeface="Cambria Math" panose="02040503050406030204" pitchFamily="18" charset="0"/>
                            <a:ea typeface="Cambria Math" panose="02040503050406030204" pitchFamily="18" charset="0"/>
                          </a:rPr>
                        </m:ctrlPr>
                      </m:sSubPr>
                      <m:e>
                        <m:r>
                          <a:rPr lang="en-US" altLang="zh-CN" sz="2400" b="1" i="1" kern="1000">
                            <a:effectLst/>
                            <a:latin typeface="Cambria Math" panose="02040503050406030204" pitchFamily="18" charset="0"/>
                            <a:ea typeface="宋体" panose="02010600030101010101" pitchFamily="2" charset="-122"/>
                          </a:rPr>
                          <m:t>𝑲</m:t>
                        </m:r>
                      </m:e>
                      <m:sub>
                        <m:r>
                          <a:rPr lang="en-US" altLang="zh-CN" sz="2400" b="1" i="1" kern="1000">
                            <a:effectLst/>
                            <a:latin typeface="Cambria Math" panose="02040503050406030204" pitchFamily="18" charset="0"/>
                            <a:ea typeface="宋体" panose="02010600030101010101" pitchFamily="2" charset="-122"/>
                          </a:rPr>
                          <m:t>𝒔</m:t>
                        </m:r>
                      </m:sub>
                    </m:sSub>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𝟓𝟎</m:t>
                    </m:r>
                    <m:r>
                      <a:rPr lang="en-US" altLang="zh-CN" sz="2400" b="1" i="1" kern="1000">
                        <a:effectLst/>
                        <a:latin typeface="Cambria Math" panose="02040503050406030204" pitchFamily="18" charset="0"/>
                        <a:ea typeface="宋体" panose="02010600030101010101" pitchFamily="2" charset="-122"/>
                      </a:rPr>
                      <m:t>  </m:t>
                    </m:r>
                    <m:r>
                      <a:rPr lang="en-US" altLang="zh-CN" sz="2400" b="1" i="1" kern="1000">
                        <a:effectLst/>
                        <a:latin typeface="Cambria Math" panose="02040503050406030204" pitchFamily="18" charset="0"/>
                        <a:ea typeface="宋体" panose="02010600030101010101" pitchFamily="2" charset="-122"/>
                      </a:rPr>
                      <m:t>𝟓𝟎</m:t>
                    </m:r>
                    <m:r>
                      <a:rPr lang="en-US" altLang="zh-CN" sz="2400" b="1" i="1" kern="1000">
                        <a:effectLst/>
                        <a:latin typeface="Cambria Math" panose="02040503050406030204" pitchFamily="18" charset="0"/>
                        <a:ea typeface="宋体" panose="02010600030101010101" pitchFamily="2" charset="-122"/>
                      </a:rPr>
                      <m:t>  </m:t>
                    </m:r>
                    <m:r>
                      <a:rPr lang="en-US" altLang="zh-CN" sz="2400" b="1" i="1" kern="1000">
                        <a:effectLst/>
                        <a:latin typeface="Cambria Math" panose="02040503050406030204" pitchFamily="18" charset="0"/>
                        <a:ea typeface="宋体" panose="02010600030101010101" pitchFamily="2" charset="-122"/>
                      </a:rPr>
                      <m:t>𝟓𝟎</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𝒅</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𝟎</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𝟏</m:t>
                    </m:r>
                    <m:r>
                      <a:rPr lang="en-US" altLang="zh-CN" sz="2400" b="1" i="1" kern="1000">
                        <a:effectLst/>
                        <a:latin typeface="Cambria Math" panose="02040503050406030204" pitchFamily="18" charset="0"/>
                        <a:ea typeface="宋体" panose="02010600030101010101" pitchFamily="2" charset="-122"/>
                      </a:rPr>
                      <m:t>  </m:t>
                    </m:r>
                    <m:r>
                      <a:rPr lang="en-US" altLang="zh-CN" sz="2400" b="1" i="1" kern="1000">
                        <a:effectLst/>
                        <a:latin typeface="Cambria Math" panose="02040503050406030204" pitchFamily="18" charset="0"/>
                        <a:ea typeface="宋体" panose="02010600030101010101" pitchFamily="2" charset="-122"/>
                      </a:rPr>
                      <m:t>𝟎</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𝟏</m:t>
                    </m:r>
                    <m:r>
                      <a:rPr lang="en-US" altLang="zh-CN" sz="2400" b="1" i="1" kern="1000">
                        <a:effectLst/>
                        <a:latin typeface="Cambria Math" panose="02040503050406030204" pitchFamily="18" charset="0"/>
                        <a:ea typeface="宋体" panose="02010600030101010101" pitchFamily="2" charset="-122"/>
                      </a:rPr>
                      <m:t>  </m:t>
                    </m:r>
                    <m:r>
                      <a:rPr lang="en-US" altLang="zh-CN" sz="2400" b="1" i="1" kern="1000">
                        <a:effectLst/>
                        <a:latin typeface="Cambria Math" panose="02040503050406030204" pitchFamily="18" charset="0"/>
                        <a:ea typeface="宋体" panose="02010600030101010101" pitchFamily="2" charset="-122"/>
                      </a:rPr>
                      <m:t>𝟎</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𝟏</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a:t>
                </a:r>
                <a14:m>
                  <m:oMath xmlns:m="http://schemas.openxmlformats.org/officeDocument/2006/math">
                    <m:r>
                      <a:rPr lang="en-US" altLang="zh-CN" sz="2400" b="1" i="1" kern="1000">
                        <a:effectLst/>
                        <a:latin typeface="Cambria Math" panose="02040503050406030204" pitchFamily="18" charset="0"/>
                        <a:ea typeface="宋体" panose="02010600030101010101" pitchFamily="2" charset="-122"/>
                      </a:rPr>
                      <m:t>𝑫</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𝟎</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𝟏</m:t>
                    </m:r>
                    <m:r>
                      <a:rPr lang="en-US" altLang="zh-CN" sz="2400" b="1" i="1" kern="1000">
                        <a:effectLst/>
                        <a:latin typeface="Cambria Math" panose="02040503050406030204" pitchFamily="18" charset="0"/>
                        <a:ea typeface="宋体" panose="02010600030101010101" pitchFamily="2" charset="-122"/>
                      </a:rPr>
                      <m:t>  </m:t>
                    </m:r>
                    <m:r>
                      <a:rPr lang="en-US" altLang="zh-CN" sz="2400" b="1" i="1" kern="1000">
                        <a:effectLst/>
                        <a:latin typeface="Cambria Math" panose="02040503050406030204" pitchFamily="18" charset="0"/>
                        <a:ea typeface="宋体" panose="02010600030101010101" pitchFamily="2" charset="-122"/>
                      </a:rPr>
                      <m:t>𝟎</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𝟏</m:t>
                    </m:r>
                    <m:r>
                      <a:rPr lang="en-US" altLang="zh-CN" sz="2400" b="1" i="1" kern="1000">
                        <a:effectLst/>
                        <a:latin typeface="Cambria Math" panose="02040503050406030204" pitchFamily="18" charset="0"/>
                        <a:ea typeface="宋体" panose="02010600030101010101" pitchFamily="2" charset="-122"/>
                      </a:rPr>
                      <m:t>  </m:t>
                    </m:r>
                    <m:r>
                      <a:rPr lang="en-US" altLang="zh-CN" sz="2400" b="1" i="1" kern="1000">
                        <a:effectLst/>
                        <a:latin typeface="Cambria Math" panose="02040503050406030204" pitchFamily="18" charset="0"/>
                        <a:ea typeface="宋体" panose="02010600030101010101" pitchFamily="2" charset="-122"/>
                      </a:rPr>
                      <m:t>𝟎</m:t>
                    </m:r>
                    <m:r>
                      <a:rPr lang="en-US" altLang="zh-CN" sz="2400" b="1" i="1" kern="1000">
                        <a:effectLst/>
                        <a:latin typeface="Cambria Math" panose="02040503050406030204" pitchFamily="18" charset="0"/>
                        <a:ea typeface="宋体" panose="02010600030101010101" pitchFamily="2" charset="-122"/>
                      </a:rPr>
                      <m:t>.</m:t>
                    </m:r>
                    <m:r>
                      <a:rPr lang="en-US" altLang="zh-CN" sz="2400" b="1" i="1" kern="1000">
                        <a:effectLst/>
                        <a:latin typeface="Cambria Math" panose="02040503050406030204" pitchFamily="18" charset="0"/>
                        <a:ea typeface="宋体" panose="02010600030101010101" pitchFamily="2" charset="-122"/>
                      </a:rPr>
                      <m:t>𝟏</m:t>
                    </m:r>
                    <m:r>
                      <a:rPr lang="en-US" altLang="zh-CN" sz="2400" b="1" i="1" kern="1000">
                        <a:effectLst/>
                        <a:latin typeface="Cambria Math" panose="02040503050406030204" pitchFamily="18" charset="0"/>
                        <a:ea typeface="宋体" panose="02010600030101010101" pitchFamily="2" charset="-122"/>
                      </a:rPr>
                      <m:t>]</m:t>
                    </m:r>
                  </m:oMath>
                </a14:m>
                <a:r>
                  <a:rPr lang="zh-CN" altLang="zh-CN" sz="2400" b="1" kern="1000" dirty="0">
                    <a:effectLst/>
                    <a:latin typeface="微软雅黑" panose="020B0503020204020204" pitchFamily="34" charset="-122"/>
                    <a:ea typeface="微软雅黑" panose="020B0503020204020204" pitchFamily="34" charset="-122"/>
                  </a:rPr>
                  <a:t>。</a:t>
                </a:r>
              </a:p>
            </p:txBody>
          </p:sp>
        </mc:Choice>
        <mc:Fallback xmlns="">
          <p:sp>
            <p:nvSpPr>
              <p:cNvPr id="5" name="文本框 4">
                <a:extLst>
                  <a:ext uri="{FF2B5EF4-FFF2-40B4-BE49-F238E27FC236}">
                    <a16:creationId xmlns:a16="http://schemas.microsoft.com/office/drawing/2014/main" id="{F3EC5230-5CD8-710C-890A-7F9E462560B6}"/>
                  </a:ext>
                </a:extLst>
              </p:cNvPr>
              <p:cNvSpPr txBox="1">
                <a:spLocks noRot="1" noChangeAspect="1" noMove="1" noResize="1" noEditPoints="1" noAdjustHandles="1" noChangeArrowheads="1" noChangeShapeType="1" noTextEdit="1"/>
              </p:cNvSpPr>
              <p:nvPr/>
            </p:nvSpPr>
            <p:spPr>
              <a:xfrm>
                <a:off x="938213" y="2292058"/>
                <a:ext cx="10434638" cy="3528274"/>
              </a:xfrm>
              <a:prstGeom prst="rect">
                <a:avLst/>
              </a:prstGeom>
              <a:blipFill>
                <a:blip r:embed="rId4"/>
                <a:stretch>
                  <a:fillRect l="-935" t="-1382" r="-3797" b="-2936"/>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686BF9B5-1446-C3A8-13B3-DA962B560E82}"/>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6</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阻抗控制</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EDD0167-2179-F3AF-D6EB-4182E77F1BB4}"/>
              </a:ext>
            </a:extLst>
          </p:cNvPr>
          <p:cNvSpPr txBox="1"/>
          <p:nvPr/>
        </p:nvSpPr>
        <p:spPr>
          <a:xfrm>
            <a:off x="1266229" y="1285874"/>
            <a:ext cx="9659541" cy="1569660"/>
          </a:xfrm>
          <a:prstGeom prst="rect">
            <a:avLst/>
          </a:prstGeom>
          <a:noFill/>
        </p:spPr>
        <p:txBody>
          <a:bodyPr wrap="square">
            <a:spAutoFit/>
          </a:bodyPr>
          <a:lstStyle/>
          <a:p>
            <a:pPr algn="just"/>
            <a:r>
              <a:rPr lang="en-US" altLang="zh-CN" sz="2400" b="1" kern="1000" dirty="0">
                <a:effectLst/>
                <a:latin typeface="微软雅黑" panose="020B0503020204020204" pitchFamily="34" charset="-122"/>
                <a:ea typeface="微软雅黑" panose="020B0503020204020204" pitchFamily="34" charset="-122"/>
              </a:rPr>
              <a:t>       </a:t>
            </a:r>
            <a:r>
              <a:rPr lang="zh-CN" altLang="zh-CN" sz="2400" b="1" kern="1000" dirty="0">
                <a:effectLst/>
                <a:latin typeface="微软雅黑" panose="020B0503020204020204" pitchFamily="34" charset="-122"/>
                <a:ea typeface="微软雅黑" panose="020B0503020204020204" pitchFamily="34" charset="-122"/>
              </a:rPr>
              <a:t>图</a:t>
            </a:r>
            <a:r>
              <a:rPr lang="en-US" altLang="zh-CN" sz="2400" b="1" kern="1000" dirty="0">
                <a:effectLst/>
                <a:latin typeface="微软雅黑" panose="020B0503020204020204" pitchFamily="34" charset="-122"/>
                <a:ea typeface="微软雅黑" panose="020B0503020204020204" pitchFamily="34" charset="-122"/>
              </a:rPr>
              <a:t>7.47</a:t>
            </a:r>
            <a:r>
              <a:rPr lang="zh-CN" altLang="zh-CN" sz="2400" b="1" kern="1000" dirty="0">
                <a:effectLst/>
                <a:latin typeface="微软雅黑" panose="020B0503020204020204" pitchFamily="34" charset="-122"/>
                <a:ea typeface="微软雅黑" panose="020B0503020204020204" pitchFamily="34" charset="-122"/>
              </a:rPr>
              <a:t>～图</a:t>
            </a:r>
            <a:r>
              <a:rPr lang="en-US" altLang="zh-CN" sz="2400" b="1" kern="1000" dirty="0">
                <a:effectLst/>
                <a:latin typeface="微软雅黑" panose="020B0503020204020204" pitchFamily="34" charset="-122"/>
                <a:ea typeface="微软雅黑" panose="020B0503020204020204" pitchFamily="34" charset="-122"/>
              </a:rPr>
              <a:t>7.50</a:t>
            </a:r>
            <a:r>
              <a:rPr lang="zh-CN" altLang="zh-CN" sz="2400" b="1" kern="1000" dirty="0">
                <a:effectLst/>
                <a:latin typeface="微软雅黑" panose="020B0503020204020204" pitchFamily="34" charset="-122"/>
                <a:ea typeface="微软雅黑" panose="020B0503020204020204" pitchFamily="34" charset="-122"/>
              </a:rPr>
              <a:t>展示了关节位置轨迹与跟踪误差。图</a:t>
            </a:r>
            <a:r>
              <a:rPr lang="en-US" altLang="zh-CN" sz="2400" b="1" kern="1000" dirty="0">
                <a:effectLst/>
                <a:latin typeface="微软雅黑" panose="020B0503020204020204" pitchFamily="34" charset="-122"/>
                <a:ea typeface="微软雅黑" panose="020B0503020204020204" pitchFamily="34" charset="-122"/>
              </a:rPr>
              <a:t>7.51</a:t>
            </a:r>
            <a:r>
              <a:rPr lang="zh-CN" altLang="zh-CN" sz="2400" b="1" kern="1000" dirty="0">
                <a:effectLst/>
                <a:latin typeface="微软雅黑" panose="020B0503020204020204" pitchFamily="34" charset="-122"/>
                <a:ea typeface="微软雅黑" panose="020B0503020204020204" pitchFamily="34" charset="-122"/>
              </a:rPr>
              <a:t>给出了系统的力矩控制输入。可以看出，基于阻抗控制神经网络算法实现三自由度机器人轨迹跟踪控制是非有效的，机器人所有的关节都能准确跟踪预先设定的期望轨迹。</a:t>
            </a:r>
          </a:p>
        </p:txBody>
      </p:sp>
      <p:sp>
        <p:nvSpPr>
          <p:cNvPr id="11" name="文本框 10">
            <a:extLst>
              <a:ext uri="{FF2B5EF4-FFF2-40B4-BE49-F238E27FC236}">
                <a16:creationId xmlns:a16="http://schemas.microsoft.com/office/drawing/2014/main" id="{EFC98524-865D-B1BB-4783-5FD3F88E1562}"/>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6</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阻抗控制</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5">
            <a:extLst>
              <a:ext uri="{FF2B5EF4-FFF2-40B4-BE49-F238E27FC236}">
                <a16:creationId xmlns:a16="http://schemas.microsoft.com/office/drawing/2014/main" id="{36005825-F9D8-10A0-C159-7B73D111F3B7}"/>
              </a:ext>
            </a:extLst>
          </p:cNvPr>
          <p:cNvGrpSpPr>
            <a:grpSpLocks/>
          </p:cNvGrpSpPr>
          <p:nvPr/>
        </p:nvGrpSpPr>
        <p:grpSpPr bwMode="auto">
          <a:xfrm>
            <a:off x="2532062" y="1013618"/>
            <a:ext cx="7127875" cy="5211763"/>
            <a:chOff x="1331640" y="764704"/>
            <a:chExt cx="7128792" cy="5212142"/>
          </a:xfrm>
        </p:grpSpPr>
        <p:pic>
          <p:nvPicPr>
            <p:cNvPr id="3" name="图片 1">
              <a:extLst>
                <a:ext uri="{FF2B5EF4-FFF2-40B4-BE49-F238E27FC236}">
                  <a16:creationId xmlns:a16="http://schemas.microsoft.com/office/drawing/2014/main" id="{8637281D-8DEF-B919-FA2F-BDF32DE0EE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764704"/>
              <a:ext cx="5760640" cy="4718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E9C46189-37A1-0FA7-D1F5-13D9DD81963E}"/>
                </a:ext>
              </a:extLst>
            </p:cNvPr>
            <p:cNvSpPr txBox="1"/>
            <p:nvPr/>
          </p:nvSpPr>
          <p:spPr>
            <a:xfrm>
              <a:off x="1331640" y="5576767"/>
              <a:ext cx="7128792" cy="400079"/>
            </a:xfrm>
            <a:prstGeom prst="rect">
              <a:avLst/>
            </a:prstGeom>
            <a:noFill/>
          </p:spPr>
          <p:txBody>
            <a:bodyPr>
              <a:spAutoFit/>
            </a:bodyPr>
            <a:lstStyle/>
            <a:p>
              <a:pPr algn="ctr" fontAlgn="ctr">
                <a:defRPr/>
              </a:pPr>
              <a:r>
                <a:rPr lang="zh-CN" altLang="zh-CN" sz="2000" kern="0" dirty="0">
                  <a:latin typeface="Times New Roman" panose="02020603050405020304" pitchFamily="18" charset="0"/>
                  <a:cs typeface="Times New Roman" panose="02020603050405020304" pitchFamily="18" charset="0"/>
                </a:rPr>
                <a:t>图</a:t>
              </a:r>
              <a:r>
                <a:rPr lang="en-US" altLang="zh-CN" sz="2000" kern="0" dirty="0">
                  <a:latin typeface="Times New Roman" panose="02020603050405020304" pitchFamily="18" charset="0"/>
                  <a:cs typeface="Times New Roman" panose="02020603050405020304" pitchFamily="18" charset="0"/>
                </a:rPr>
                <a:t>7-47</a:t>
              </a:r>
              <a:r>
                <a:rPr lang="zh-CN" altLang="zh-CN" sz="2000" kern="0" dirty="0">
                  <a:latin typeface="Times New Roman" panose="02020603050405020304" pitchFamily="18" charset="0"/>
                  <a:cs typeface="Times New Roman" panose="02020603050405020304" pitchFamily="18" charset="0"/>
                </a:rPr>
                <a:t>：关节</a:t>
              </a:r>
              <a:r>
                <a:rPr lang="en-US" altLang="zh-CN" sz="2000" kern="0" dirty="0">
                  <a:latin typeface="Times New Roman" panose="02020603050405020304" pitchFamily="18" charset="0"/>
                  <a:cs typeface="Times New Roman" panose="02020603050405020304" pitchFamily="18" charset="0"/>
                </a:rPr>
                <a:t>1</a:t>
              </a:r>
              <a:r>
                <a:rPr lang="zh-CN" altLang="zh-CN" sz="2000" kern="100" dirty="0">
                  <a:latin typeface="Times New Roman" panose="02020603050405020304" pitchFamily="18" charset="0"/>
                  <a:cs typeface="Times New Roman" panose="02020603050405020304" pitchFamily="18" charset="0"/>
                </a:rPr>
                <a:t>基于阻抗控制跟踪</a:t>
              </a:r>
              <a:r>
                <a:rPr lang="zh-CN" altLang="zh-CN" sz="2000" kern="0" dirty="0">
                  <a:latin typeface="Times New Roman" panose="02020603050405020304" pitchFamily="18" charset="0"/>
                  <a:cs typeface="Times New Roman" panose="02020603050405020304" pitchFamily="18" charset="0"/>
                </a:rPr>
                <a:t>的位置轨迹跟踪曲线和误差</a:t>
              </a:r>
              <a:endParaRPr lang="zh-CN" altLang="zh-CN" sz="2000" kern="100" dirty="0">
                <a:latin typeface="Calibri" panose="020F0502020204030204" pitchFamily="34" charset="0"/>
                <a:cs typeface="Times New Roman" panose="02020603050405020304" pitchFamily="18" charset="0"/>
              </a:endParaRPr>
            </a:p>
          </p:txBody>
        </p:sp>
      </p:grpSp>
      <p:sp>
        <p:nvSpPr>
          <p:cNvPr id="5" name="文本框 4">
            <a:extLst>
              <a:ext uri="{FF2B5EF4-FFF2-40B4-BE49-F238E27FC236}">
                <a16:creationId xmlns:a16="http://schemas.microsoft.com/office/drawing/2014/main" id="{FBAE5E1F-2D33-A208-D078-DEB0AF348B07}"/>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6</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阻抗控制</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5">
            <a:extLst>
              <a:ext uri="{FF2B5EF4-FFF2-40B4-BE49-F238E27FC236}">
                <a16:creationId xmlns:a16="http://schemas.microsoft.com/office/drawing/2014/main" id="{36B8F6B5-75B2-50C0-0EE8-E718D8B4C7AE}"/>
              </a:ext>
            </a:extLst>
          </p:cNvPr>
          <p:cNvGrpSpPr>
            <a:grpSpLocks/>
          </p:cNvGrpSpPr>
          <p:nvPr/>
        </p:nvGrpSpPr>
        <p:grpSpPr bwMode="auto">
          <a:xfrm>
            <a:off x="2863056" y="1177925"/>
            <a:ext cx="6465887" cy="4978400"/>
            <a:chOff x="1547664" y="692696"/>
            <a:chExt cx="6466166" cy="4977844"/>
          </a:xfrm>
        </p:grpSpPr>
        <p:pic>
          <p:nvPicPr>
            <p:cNvPr id="3" name="图片 1">
              <a:extLst>
                <a:ext uri="{FF2B5EF4-FFF2-40B4-BE49-F238E27FC236}">
                  <a16:creationId xmlns:a16="http://schemas.microsoft.com/office/drawing/2014/main" id="{ABD76AFA-8774-1256-7731-DD82BFA463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4" y="692696"/>
              <a:ext cx="6408712" cy="4479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15DF5A15-B715-329C-B965-8844D5ADC164}"/>
                </a:ext>
              </a:extLst>
            </p:cNvPr>
            <p:cNvSpPr txBox="1"/>
            <p:nvPr/>
          </p:nvSpPr>
          <p:spPr>
            <a:xfrm>
              <a:off x="1560365" y="5300694"/>
              <a:ext cx="6453465" cy="369846"/>
            </a:xfrm>
            <a:prstGeom prst="rect">
              <a:avLst/>
            </a:prstGeom>
            <a:noFill/>
          </p:spPr>
          <p:txBody>
            <a:bodyPr>
              <a:spAutoFit/>
            </a:bodyPr>
            <a:lstStyle/>
            <a:p>
              <a:pPr algn="ctr" fontAlgn="ctr">
                <a:defRPr/>
              </a:pPr>
              <a:r>
                <a:rPr lang="zh-CN" altLang="zh-CN" kern="0" dirty="0">
                  <a:latin typeface="Times New Roman" panose="02020603050405020304" pitchFamily="18" charset="0"/>
                  <a:cs typeface="Times New Roman" panose="02020603050405020304" pitchFamily="18" charset="0"/>
                </a:rPr>
                <a:t>图</a:t>
              </a:r>
              <a:r>
                <a:rPr lang="en-US" altLang="zh-CN" kern="0" dirty="0">
                  <a:latin typeface="Times New Roman" panose="02020603050405020304" pitchFamily="18" charset="0"/>
                  <a:cs typeface="Times New Roman" panose="02020603050405020304" pitchFamily="18" charset="0"/>
                </a:rPr>
                <a:t>7-48</a:t>
              </a:r>
              <a:r>
                <a:rPr lang="zh-CN" altLang="zh-CN" kern="0" dirty="0">
                  <a:latin typeface="Times New Roman" panose="02020603050405020304" pitchFamily="18" charset="0"/>
                  <a:cs typeface="Times New Roman" panose="02020603050405020304" pitchFamily="18" charset="0"/>
                </a:rPr>
                <a:t>：关节</a:t>
              </a:r>
              <a:r>
                <a:rPr lang="en-US" altLang="zh-CN" kern="0" dirty="0">
                  <a:latin typeface="Times New Roman" panose="02020603050405020304" pitchFamily="18" charset="0"/>
                  <a:cs typeface="Times New Roman" panose="02020603050405020304" pitchFamily="18" charset="0"/>
                </a:rPr>
                <a:t>2</a:t>
              </a:r>
              <a:r>
                <a:rPr lang="zh-CN" altLang="zh-CN" kern="100" dirty="0">
                  <a:latin typeface="Times New Roman" panose="02020603050405020304" pitchFamily="18" charset="0"/>
                  <a:cs typeface="Times New Roman" panose="02020603050405020304" pitchFamily="18" charset="0"/>
                </a:rPr>
                <a:t>基于阻抗控制跟踪</a:t>
              </a:r>
              <a:r>
                <a:rPr lang="zh-CN" altLang="zh-CN" kern="0" dirty="0">
                  <a:latin typeface="Times New Roman" panose="02020603050405020304" pitchFamily="18" charset="0"/>
                  <a:cs typeface="Times New Roman" panose="02020603050405020304" pitchFamily="18" charset="0"/>
                </a:rPr>
                <a:t>的位置轨迹跟踪曲线和误差</a:t>
              </a:r>
              <a:endParaRPr lang="zh-CN" altLang="zh-CN" sz="2400" kern="100" dirty="0">
                <a:latin typeface="Calibri" panose="020F0502020204030204" pitchFamily="34" charset="0"/>
                <a:cs typeface="Times New Roman" panose="02020603050405020304" pitchFamily="18" charset="0"/>
              </a:endParaRPr>
            </a:p>
          </p:txBody>
        </p:sp>
      </p:grpSp>
      <p:sp>
        <p:nvSpPr>
          <p:cNvPr id="5" name="文本框 4">
            <a:extLst>
              <a:ext uri="{FF2B5EF4-FFF2-40B4-BE49-F238E27FC236}">
                <a16:creationId xmlns:a16="http://schemas.microsoft.com/office/drawing/2014/main" id="{5097950C-22CC-C8C8-9AC4-F20BC8691F38}"/>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6</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阻抗控制</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5">
            <a:extLst>
              <a:ext uri="{FF2B5EF4-FFF2-40B4-BE49-F238E27FC236}">
                <a16:creationId xmlns:a16="http://schemas.microsoft.com/office/drawing/2014/main" id="{04BA8599-07C7-6A07-1F70-267C74ECF86B}"/>
              </a:ext>
            </a:extLst>
          </p:cNvPr>
          <p:cNvGrpSpPr>
            <a:grpSpLocks/>
          </p:cNvGrpSpPr>
          <p:nvPr/>
        </p:nvGrpSpPr>
        <p:grpSpPr bwMode="auto">
          <a:xfrm>
            <a:off x="2478087" y="1276350"/>
            <a:ext cx="7235825" cy="5153025"/>
            <a:chOff x="953561" y="476672"/>
            <a:chExt cx="7236878" cy="5152638"/>
          </a:xfrm>
        </p:grpSpPr>
        <p:pic>
          <p:nvPicPr>
            <p:cNvPr id="3" name="图片 1">
              <a:extLst>
                <a:ext uri="{FF2B5EF4-FFF2-40B4-BE49-F238E27FC236}">
                  <a16:creationId xmlns:a16="http://schemas.microsoft.com/office/drawing/2014/main" id="{7C8D8544-D525-85FD-1D13-E2398643ED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476672"/>
              <a:ext cx="6192688" cy="4519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68CCD65B-5B13-8C74-5AA0-970F4C87A78B}"/>
                </a:ext>
              </a:extLst>
            </p:cNvPr>
            <p:cNvSpPr txBox="1"/>
            <p:nvPr/>
          </p:nvSpPr>
          <p:spPr>
            <a:xfrm>
              <a:off x="953561" y="5229290"/>
              <a:ext cx="7236878" cy="400020"/>
            </a:xfrm>
            <a:prstGeom prst="rect">
              <a:avLst/>
            </a:prstGeom>
            <a:noFill/>
          </p:spPr>
          <p:txBody>
            <a:bodyPr>
              <a:spAutoFit/>
            </a:bodyPr>
            <a:lstStyle/>
            <a:p>
              <a:pPr algn="ctr" fontAlgn="ctr">
                <a:defRPr/>
              </a:pPr>
              <a:r>
                <a:rPr lang="zh-CN" altLang="zh-CN" sz="2000" kern="0" dirty="0">
                  <a:latin typeface="Times New Roman" panose="02020603050405020304" pitchFamily="18" charset="0"/>
                  <a:cs typeface="Times New Roman" panose="02020603050405020304" pitchFamily="18" charset="0"/>
                </a:rPr>
                <a:t>图</a:t>
              </a:r>
              <a:r>
                <a:rPr lang="en-US" altLang="zh-CN" sz="2000" kern="0" dirty="0">
                  <a:latin typeface="Times New Roman" panose="02020603050405020304" pitchFamily="18" charset="0"/>
                  <a:cs typeface="Times New Roman" panose="02020603050405020304" pitchFamily="18" charset="0"/>
                </a:rPr>
                <a:t>7-49</a:t>
              </a:r>
              <a:r>
                <a:rPr lang="zh-CN" altLang="zh-CN" sz="2000" kern="0" dirty="0">
                  <a:latin typeface="Times New Roman" panose="02020603050405020304" pitchFamily="18" charset="0"/>
                  <a:cs typeface="Times New Roman" panose="02020603050405020304" pitchFamily="18" charset="0"/>
                </a:rPr>
                <a:t>：关节</a:t>
              </a:r>
              <a:r>
                <a:rPr lang="en-US" altLang="zh-CN" sz="2000" kern="0" dirty="0">
                  <a:latin typeface="Times New Roman" panose="02020603050405020304" pitchFamily="18" charset="0"/>
                  <a:cs typeface="Times New Roman" panose="02020603050405020304" pitchFamily="18" charset="0"/>
                </a:rPr>
                <a:t>3</a:t>
              </a:r>
              <a:r>
                <a:rPr lang="zh-CN" altLang="zh-CN" sz="2000" kern="100" dirty="0">
                  <a:latin typeface="Times New Roman" panose="02020603050405020304" pitchFamily="18" charset="0"/>
                  <a:cs typeface="Times New Roman" panose="02020603050405020304" pitchFamily="18" charset="0"/>
                </a:rPr>
                <a:t>基于阻抗控制跟踪</a:t>
              </a:r>
              <a:r>
                <a:rPr lang="zh-CN" altLang="zh-CN" sz="2000" kern="0" dirty="0">
                  <a:latin typeface="Times New Roman" panose="02020603050405020304" pitchFamily="18" charset="0"/>
                  <a:cs typeface="Times New Roman" panose="02020603050405020304" pitchFamily="18" charset="0"/>
                </a:rPr>
                <a:t>的位置轨迹跟踪曲线和误差</a:t>
              </a:r>
              <a:endParaRPr lang="zh-CN" altLang="zh-CN" sz="2000" kern="100" dirty="0">
                <a:latin typeface="Calibri" panose="020F0502020204030204" pitchFamily="34" charset="0"/>
                <a:cs typeface="Times New Roman" panose="02020603050405020304" pitchFamily="18" charset="0"/>
              </a:endParaRPr>
            </a:p>
          </p:txBody>
        </p:sp>
      </p:grpSp>
      <p:sp>
        <p:nvSpPr>
          <p:cNvPr id="5" name="文本框 4">
            <a:extLst>
              <a:ext uri="{FF2B5EF4-FFF2-40B4-BE49-F238E27FC236}">
                <a16:creationId xmlns:a16="http://schemas.microsoft.com/office/drawing/2014/main" id="{6267C03F-C657-19A3-292E-1043BD175468}"/>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6</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阻抗控制</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5">
            <a:extLst>
              <a:ext uri="{FF2B5EF4-FFF2-40B4-BE49-F238E27FC236}">
                <a16:creationId xmlns:a16="http://schemas.microsoft.com/office/drawing/2014/main" id="{9808EC2A-93F9-49B0-C336-5E85B0DEAF39}"/>
              </a:ext>
            </a:extLst>
          </p:cNvPr>
          <p:cNvGrpSpPr>
            <a:grpSpLocks/>
          </p:cNvGrpSpPr>
          <p:nvPr/>
        </p:nvGrpSpPr>
        <p:grpSpPr bwMode="auto">
          <a:xfrm>
            <a:off x="2891631" y="1374775"/>
            <a:ext cx="6408738" cy="4675188"/>
            <a:chOff x="1475656" y="908720"/>
            <a:chExt cx="6408712" cy="4675168"/>
          </a:xfrm>
        </p:grpSpPr>
        <p:pic>
          <p:nvPicPr>
            <p:cNvPr id="3" name="图片 1">
              <a:extLst>
                <a:ext uri="{FF2B5EF4-FFF2-40B4-BE49-F238E27FC236}">
                  <a16:creationId xmlns:a16="http://schemas.microsoft.com/office/drawing/2014/main" id="{3F8E46AB-BAF0-7452-9155-FE3EE2DD9B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908720"/>
              <a:ext cx="6408712" cy="4262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87E33988-893D-D99A-44FA-A38182E100DE}"/>
                </a:ext>
              </a:extLst>
            </p:cNvPr>
            <p:cNvSpPr txBox="1"/>
            <p:nvPr/>
          </p:nvSpPr>
          <p:spPr>
            <a:xfrm>
              <a:off x="2051917" y="5183840"/>
              <a:ext cx="4575156" cy="400048"/>
            </a:xfrm>
            <a:prstGeom prst="rect">
              <a:avLst/>
            </a:prstGeom>
            <a:noFill/>
          </p:spPr>
          <p:txBody>
            <a:bodyPr>
              <a:spAutoFit/>
            </a:bodyPr>
            <a:lstStyle/>
            <a:p>
              <a:pPr algn="ctr" fontAlgn="ctr">
                <a:defRPr/>
              </a:pPr>
              <a:r>
                <a:rPr lang="zh-CN" altLang="zh-CN" sz="2000" kern="0" dirty="0">
                  <a:latin typeface="Times New Roman" panose="02020603050405020304" pitchFamily="18" charset="0"/>
                  <a:cs typeface="Times New Roman" panose="02020603050405020304" pitchFamily="18" charset="0"/>
                </a:rPr>
                <a:t>图</a:t>
              </a:r>
              <a:r>
                <a:rPr lang="en-US" altLang="zh-CN" sz="2000" kern="0" dirty="0">
                  <a:latin typeface="Times New Roman" panose="02020603050405020304" pitchFamily="18" charset="0"/>
                  <a:cs typeface="Times New Roman" panose="02020603050405020304" pitchFamily="18" charset="0"/>
                </a:rPr>
                <a:t>7-50</a:t>
              </a:r>
              <a:r>
                <a:rPr lang="zh-CN" altLang="zh-CN" sz="2000" kern="0" dirty="0">
                  <a:latin typeface="Times New Roman" panose="02020603050405020304" pitchFamily="18" charset="0"/>
                  <a:cs typeface="Times New Roman" panose="02020603050405020304" pitchFamily="18" charset="0"/>
                </a:rPr>
                <a:t>：关节位置跟踪误差</a:t>
              </a:r>
              <a:endParaRPr lang="zh-CN" altLang="zh-CN" sz="2000" kern="100" dirty="0">
                <a:latin typeface="Calibri" panose="020F0502020204030204" pitchFamily="34" charset="0"/>
                <a:cs typeface="Times New Roman" panose="02020603050405020304" pitchFamily="18" charset="0"/>
              </a:endParaRPr>
            </a:p>
          </p:txBody>
        </p:sp>
      </p:grpSp>
      <p:sp>
        <p:nvSpPr>
          <p:cNvPr id="5" name="文本框 4">
            <a:extLst>
              <a:ext uri="{FF2B5EF4-FFF2-40B4-BE49-F238E27FC236}">
                <a16:creationId xmlns:a16="http://schemas.microsoft.com/office/drawing/2014/main" id="{00B4F6FB-2AA8-535B-A054-479EB25FE341}"/>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6</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阻抗控制</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5">
            <a:extLst>
              <a:ext uri="{FF2B5EF4-FFF2-40B4-BE49-F238E27FC236}">
                <a16:creationId xmlns:a16="http://schemas.microsoft.com/office/drawing/2014/main" id="{F93D61A3-56F7-C7CC-1B15-0DE1DF128F1A}"/>
              </a:ext>
            </a:extLst>
          </p:cNvPr>
          <p:cNvGrpSpPr>
            <a:grpSpLocks/>
          </p:cNvGrpSpPr>
          <p:nvPr/>
        </p:nvGrpSpPr>
        <p:grpSpPr bwMode="auto">
          <a:xfrm>
            <a:off x="3197225" y="1111250"/>
            <a:ext cx="5797550" cy="5305425"/>
            <a:chOff x="1672711" y="548680"/>
            <a:chExt cx="5798577" cy="5306526"/>
          </a:xfrm>
        </p:grpSpPr>
        <p:pic>
          <p:nvPicPr>
            <p:cNvPr id="3" name="图片 1">
              <a:extLst>
                <a:ext uri="{FF2B5EF4-FFF2-40B4-BE49-F238E27FC236}">
                  <a16:creationId xmlns:a16="http://schemas.microsoft.com/office/drawing/2014/main" id="{69B75E2B-9BC5-CF0C-A8C2-F84A401569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2711" y="548680"/>
              <a:ext cx="5798577" cy="4583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5A190760-37B5-E6D5-4304-123FE0555845}"/>
                </a:ext>
              </a:extLst>
            </p:cNvPr>
            <p:cNvSpPr txBox="1"/>
            <p:nvPr/>
          </p:nvSpPr>
          <p:spPr>
            <a:xfrm>
              <a:off x="2123641" y="5301054"/>
              <a:ext cx="4575985" cy="554152"/>
            </a:xfrm>
            <a:prstGeom prst="rect">
              <a:avLst/>
            </a:prstGeom>
            <a:noFill/>
          </p:spPr>
          <p:txBody>
            <a:bodyPr>
              <a:spAutoFit/>
            </a:bodyPr>
            <a:lstStyle/>
            <a:p>
              <a:pPr algn="ctr" fontAlgn="ctr">
                <a:lnSpc>
                  <a:spcPct val="150000"/>
                </a:lnSpc>
                <a:defRPr/>
              </a:pPr>
              <a:r>
                <a:rPr lang="zh-CN" altLang="zh-CN" sz="2000" kern="0" dirty="0">
                  <a:latin typeface="Times New Roman" panose="02020603050405020304" pitchFamily="18" charset="0"/>
                  <a:cs typeface="Times New Roman" panose="02020603050405020304" pitchFamily="18" charset="0"/>
                </a:rPr>
                <a:t>图</a:t>
              </a:r>
              <a:r>
                <a:rPr lang="en-US" altLang="zh-CN" sz="2000" kern="0" dirty="0">
                  <a:latin typeface="Times New Roman" panose="02020603050405020304" pitchFamily="18" charset="0"/>
                  <a:cs typeface="Times New Roman" panose="02020603050405020304" pitchFamily="18" charset="0"/>
                </a:rPr>
                <a:t>7-51</a:t>
              </a:r>
              <a:r>
                <a:rPr lang="zh-CN" altLang="zh-CN" sz="2000" kern="0" dirty="0">
                  <a:latin typeface="Times New Roman" panose="02020603050405020304" pitchFamily="18" charset="0"/>
                  <a:cs typeface="Times New Roman" panose="02020603050405020304" pitchFamily="18" charset="0"/>
                </a:rPr>
                <a:t>：系统</a:t>
              </a:r>
              <a:r>
                <a:rPr lang="zh-CN" altLang="en-US" sz="2000" kern="0" dirty="0">
                  <a:latin typeface="Times New Roman" panose="02020603050405020304" pitchFamily="18" charset="0"/>
                  <a:cs typeface="Times New Roman" panose="02020603050405020304" pitchFamily="18" charset="0"/>
                </a:rPr>
                <a:t>的力矩</a:t>
              </a:r>
              <a:r>
                <a:rPr lang="zh-CN" altLang="zh-CN" sz="2000" kern="100" dirty="0">
                  <a:latin typeface="Times New Roman" panose="02020603050405020304" pitchFamily="18" charset="0"/>
                  <a:cs typeface="Times New Roman" panose="02020603050405020304" pitchFamily="18" charset="0"/>
                </a:rPr>
                <a:t>控制输入</a:t>
              </a:r>
              <a:endParaRPr lang="zh-CN" altLang="zh-CN" sz="2000" kern="100" dirty="0">
                <a:latin typeface="Calibri" panose="020F0502020204030204" pitchFamily="34" charset="0"/>
                <a:cs typeface="Times New Roman" panose="02020603050405020304" pitchFamily="18" charset="0"/>
              </a:endParaRPr>
            </a:p>
          </p:txBody>
        </p:sp>
      </p:grpSp>
      <p:sp>
        <p:nvSpPr>
          <p:cNvPr id="5" name="文本框 4">
            <a:extLst>
              <a:ext uri="{FF2B5EF4-FFF2-40B4-BE49-F238E27FC236}">
                <a16:creationId xmlns:a16="http://schemas.microsoft.com/office/drawing/2014/main" id="{D764B8C7-0DD3-51E6-3B52-BBC3E2BBCB90}"/>
              </a:ext>
            </a:extLst>
          </p:cNvPr>
          <p:cNvSpPr txBox="1"/>
          <p:nvPr>
            <p:custDataLst>
              <p:tags r:id="rId1"/>
            </p:custDataLst>
          </p:nvPr>
        </p:nvSpPr>
        <p:spPr>
          <a:xfrm>
            <a:off x="1357313" y="128685"/>
            <a:ext cx="8158162" cy="523220"/>
          </a:xfrm>
          <a:prstGeom prst="rect">
            <a:avLst/>
          </a:prstGeom>
          <a:noFill/>
        </p:spPr>
        <p:txBody>
          <a:bodyPr wrap="square" rtlCol="0">
            <a:spAutoFit/>
          </a:bodyPr>
          <a:lstStyle/>
          <a:p>
            <a:pPr algn="just">
              <a:spcBef>
                <a:spcPts val="600"/>
              </a:spcBef>
              <a:spcAft>
                <a:spcPts val="600"/>
              </a:spcAft>
            </a:pPr>
            <a:r>
              <a:rPr kumimoji="0"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7.2.</a:t>
            </a:r>
            <a:r>
              <a:rPr lang="en-US"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6</a:t>
            </a:r>
            <a:r>
              <a:rPr lang="zh-CN" altLang="zh-CN" sz="2800" b="1" kern="1000" dirty="0">
                <a:effectLst/>
                <a:latin typeface="微软雅黑" panose="020B0503020204020204" pitchFamily="34" charset="-122"/>
                <a:ea typeface="微软雅黑" panose="020B0503020204020204" pitchFamily="34" charset="-122"/>
                <a:cs typeface="Times New Roman" panose="02020603050405020304" pitchFamily="18" charset="0"/>
              </a:rPr>
              <a:t>阻抗控制</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8B07A50-EEC4-0EC6-29D3-A5A1B3C256A2}"/>
              </a:ext>
            </a:extLst>
          </p:cNvPr>
          <p:cNvSpPr txBox="1"/>
          <p:nvPr/>
        </p:nvSpPr>
        <p:spPr>
          <a:xfrm>
            <a:off x="2102644" y="904875"/>
            <a:ext cx="7986712" cy="4247317"/>
          </a:xfrm>
          <a:prstGeom prst="rect">
            <a:avLst/>
          </a:prstGeom>
          <a:noFill/>
        </p:spPr>
        <p:txBody>
          <a:bodyPr wrap="square">
            <a:spAutoFit/>
          </a:bodyPr>
          <a:lstStyle/>
          <a:p>
            <a:pPr algn="ctr">
              <a:lnSpc>
                <a:spcPct val="350000"/>
              </a:lnSpc>
            </a:pPr>
            <a:r>
              <a:rPr lang="zh-CN" altLang="zh-CN" sz="3600" b="1" kern="1400" dirty="0">
                <a:effectLst/>
                <a:latin typeface="Arial" panose="020B0604020202020204" pitchFamily="34" charset="0"/>
                <a:ea typeface="方正小标宋_GBK"/>
                <a:cs typeface="Times New Roman" panose="02020603050405020304" pitchFamily="18" charset="0"/>
              </a:rPr>
              <a:t>习</a:t>
            </a:r>
            <a:r>
              <a:rPr lang="en-US" altLang="zh-CN" sz="3600" b="1" kern="1400" dirty="0">
                <a:effectLst/>
                <a:latin typeface="Arial" panose="020B0604020202020204" pitchFamily="34" charset="0"/>
                <a:ea typeface="方正小标宋_GBK"/>
                <a:cs typeface="Times New Roman" panose="02020603050405020304" pitchFamily="18" charset="0"/>
              </a:rPr>
              <a:t>    </a:t>
            </a:r>
            <a:r>
              <a:rPr lang="zh-CN" altLang="zh-CN" sz="3600" b="1" kern="1400" dirty="0">
                <a:effectLst/>
                <a:latin typeface="Arial" panose="020B0604020202020204" pitchFamily="34" charset="0"/>
                <a:ea typeface="方正小标宋_GBK"/>
                <a:cs typeface="Times New Roman" panose="02020603050405020304" pitchFamily="18" charset="0"/>
              </a:rPr>
              <a:t>题</a:t>
            </a:r>
          </a:p>
          <a:p>
            <a:pPr algn="just"/>
            <a:r>
              <a:rPr lang="en-US" altLang="zh-CN" sz="2400" b="1" kern="1000" dirty="0">
                <a:effectLst/>
                <a:latin typeface="Times New Roman" panose="02020603050405020304" pitchFamily="18" charset="0"/>
                <a:ea typeface="宋体" panose="02010600030101010101" pitchFamily="2" charset="-122"/>
              </a:rPr>
              <a:t>1</a:t>
            </a:r>
            <a:r>
              <a:rPr lang="zh-CN" altLang="zh-CN" sz="2400" b="1" kern="1000" dirty="0">
                <a:effectLst/>
                <a:latin typeface="Times New Roman" panose="02020603050405020304" pitchFamily="18" charset="0"/>
                <a:ea typeface="宋体" panose="02010600030101010101" pitchFamily="2" charset="-122"/>
              </a:rPr>
              <a:t>．简要叙述比例、微分和积分控制的各自优缺点。</a:t>
            </a:r>
          </a:p>
          <a:p>
            <a:pPr algn="just"/>
            <a:r>
              <a:rPr lang="en-US" altLang="zh-CN" sz="2400" b="1" kern="1000" dirty="0">
                <a:effectLst/>
                <a:latin typeface="Times New Roman" panose="02020603050405020304" pitchFamily="18" charset="0"/>
                <a:ea typeface="宋体" panose="02010600030101010101" pitchFamily="2" charset="-122"/>
              </a:rPr>
              <a:t>2</a:t>
            </a:r>
            <a:r>
              <a:rPr lang="zh-CN" altLang="zh-CN" sz="2400" b="1" kern="1000" dirty="0">
                <a:effectLst/>
                <a:latin typeface="Times New Roman" panose="02020603050405020304" pitchFamily="18" charset="0"/>
                <a:ea typeface="宋体" panose="02010600030101010101" pitchFamily="2" charset="-122"/>
              </a:rPr>
              <a:t>．简要叙述自适应控制的基本原理？</a:t>
            </a:r>
          </a:p>
          <a:p>
            <a:pPr algn="just"/>
            <a:r>
              <a:rPr lang="en-US" altLang="zh-CN" sz="2400" b="1" kern="1000" dirty="0">
                <a:effectLst/>
                <a:latin typeface="Times New Roman" panose="02020603050405020304" pitchFamily="18" charset="0"/>
                <a:ea typeface="宋体" panose="02010600030101010101" pitchFamily="2" charset="-122"/>
              </a:rPr>
              <a:t>3</a:t>
            </a:r>
            <a:r>
              <a:rPr lang="zh-CN" altLang="zh-CN" sz="2400" b="1" kern="1000" dirty="0">
                <a:effectLst/>
                <a:latin typeface="Times New Roman" panose="02020603050405020304" pitchFamily="18" charset="0"/>
                <a:ea typeface="宋体" panose="02010600030101010101" pitchFamily="2" charset="-122"/>
              </a:rPr>
              <a:t>．神经网络补偿控制的思想是什么。</a:t>
            </a:r>
          </a:p>
          <a:p>
            <a:pPr algn="just"/>
            <a:r>
              <a:rPr lang="en-US" altLang="zh-CN" sz="2400" b="1" kern="1000" dirty="0">
                <a:effectLst/>
                <a:latin typeface="Times New Roman" panose="02020603050405020304" pitchFamily="18" charset="0"/>
                <a:ea typeface="宋体" panose="02010600030101010101" pitchFamily="2" charset="-122"/>
              </a:rPr>
              <a:t>4</a:t>
            </a:r>
            <a:r>
              <a:rPr lang="zh-CN" altLang="zh-CN" sz="2400" b="1" kern="1000" dirty="0">
                <a:effectLst/>
                <a:latin typeface="Times New Roman" panose="02020603050405020304" pitchFamily="18" charset="0"/>
                <a:ea typeface="宋体" panose="02010600030101010101" pitchFamily="2" charset="-122"/>
              </a:rPr>
              <a:t>．简要叙述滑模控制的基本思想。</a:t>
            </a:r>
          </a:p>
          <a:p>
            <a:pPr algn="just"/>
            <a:r>
              <a:rPr lang="en-US" altLang="zh-CN" sz="2400" b="1" kern="1000" dirty="0">
                <a:effectLst/>
                <a:latin typeface="Times New Roman" panose="02020603050405020304" pitchFamily="18" charset="0"/>
                <a:ea typeface="宋体" panose="02010600030101010101" pitchFamily="2" charset="-122"/>
              </a:rPr>
              <a:t>5</a:t>
            </a:r>
            <a:r>
              <a:rPr lang="zh-CN" altLang="zh-CN" sz="2400" b="1" kern="1000" dirty="0">
                <a:effectLst/>
                <a:latin typeface="Times New Roman" panose="02020603050405020304" pitchFamily="18" charset="0"/>
                <a:ea typeface="宋体" panose="02010600030101010101" pitchFamily="2" charset="-122"/>
              </a:rPr>
              <a:t>．利用滑模控制，定义并证明其</a:t>
            </a:r>
            <a:r>
              <a:rPr lang="en-US" altLang="zh-CN" sz="2400" b="1" kern="1000" dirty="0">
                <a:effectLst/>
                <a:latin typeface="Times New Roman" panose="02020603050405020304" pitchFamily="18" charset="0"/>
                <a:ea typeface="宋体" panose="02010600030101010101" pitchFamily="2" charset="-122"/>
              </a:rPr>
              <a:t>Lyapunov</a:t>
            </a:r>
            <a:r>
              <a:rPr lang="zh-CN" altLang="zh-CN" sz="2400" b="1" kern="1000" dirty="0">
                <a:effectLst/>
                <a:latin typeface="Times New Roman" panose="02020603050405020304" pitchFamily="18" charset="0"/>
                <a:ea typeface="宋体" panose="02010600030101010101" pitchFamily="2" charset="-122"/>
              </a:rPr>
              <a:t>函数的稳定性。</a:t>
            </a:r>
          </a:p>
          <a:p>
            <a:pPr algn="just"/>
            <a:r>
              <a:rPr lang="en-US" altLang="zh-CN" sz="2400" b="1" kern="1000" dirty="0">
                <a:effectLst/>
                <a:latin typeface="Times New Roman" panose="02020603050405020304" pitchFamily="18" charset="0"/>
                <a:ea typeface="宋体" panose="02010600030101010101" pitchFamily="2" charset="-122"/>
              </a:rPr>
              <a:t>6</a:t>
            </a:r>
            <a:r>
              <a:rPr lang="zh-CN" altLang="zh-CN" sz="2400" b="1" kern="1000" dirty="0">
                <a:effectLst/>
                <a:latin typeface="Times New Roman" panose="02020603050405020304" pitchFamily="18" charset="0"/>
                <a:ea typeface="宋体" panose="02010600030101010101" pitchFamily="2" charset="-122"/>
              </a:rPr>
              <a:t>．简要叙述阻抗控制和神经网络补偿控制结合的优点。</a:t>
            </a:r>
          </a:p>
        </p:txBody>
      </p:sp>
    </p:spTree>
    <p:extLst>
      <p:ext uri="{BB962C8B-B14F-4D97-AF65-F5344CB8AC3E}">
        <p14:creationId xmlns:p14="http://schemas.microsoft.com/office/powerpoint/2010/main" val="397605085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AutoShape 4">
            <a:extLst>
              <a:ext uri="{FF2B5EF4-FFF2-40B4-BE49-F238E27FC236}">
                <a16:creationId xmlns:a16="http://schemas.microsoft.com/office/drawing/2014/main" id="{FE83B4BD-3396-63CB-6EEC-46CA92D11E33}"/>
              </a:ext>
            </a:extLst>
          </p:cNvPr>
          <p:cNvSpPr>
            <a:spLocks noChangeArrowheads="1"/>
          </p:cNvSpPr>
          <p:nvPr/>
        </p:nvSpPr>
        <p:spPr bwMode="auto">
          <a:xfrm>
            <a:off x="3124200" y="838200"/>
            <a:ext cx="3200400" cy="2895600"/>
          </a:xfrm>
          <a:prstGeom prst="cloudCallout">
            <a:avLst>
              <a:gd name="adj1" fmla="val 70833"/>
              <a:gd name="adj2" fmla="val 63213"/>
            </a:avLst>
          </a:prstGeom>
          <a:solidFill>
            <a:schemeClr val="accent1"/>
          </a:solidFill>
          <a:ln w="28575">
            <a:solidFill>
              <a:srgbClr val="0000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hlink"/>
              </a:buClr>
              <a:buSzPct val="80000"/>
              <a:buFont typeface="Arial" panose="020B0604020202020204" pitchFamily="34" charset="0"/>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folHlink"/>
              </a:buClr>
              <a:buFont typeface="Wingdings" panose="05000000000000000000" pitchFamily="2" charset="2"/>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hlink"/>
              </a:buClr>
              <a:buSzPct val="80000"/>
              <a:buFont typeface="Arial" panose="020B0604020202020204" pitchFamily="34" charset="0"/>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folHlink"/>
              </a:buClr>
              <a:buFont typeface="Wingdings" panose="05000000000000000000" pitchFamily="2" charset="2"/>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hlink"/>
              </a:buClr>
              <a:buSzPct val="80000"/>
              <a:buFont typeface="Arial" panose="020B0604020202020204" pitchFamily="34" charset="0"/>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r>
              <a:rPr kumimoji="1" lang="en-US" altLang="zh-CN" sz="4400" b="1">
                <a:solidFill>
                  <a:srgbClr val="FF3300"/>
                </a:solidFill>
                <a:latin typeface="Monotype Corsiva" panose="03010101010201010101" pitchFamily="66" charset="0"/>
              </a:rPr>
              <a:t>Class is over.</a:t>
            </a:r>
            <a:br>
              <a:rPr kumimoji="1" lang="en-US" altLang="zh-CN" sz="4400" b="1">
                <a:solidFill>
                  <a:srgbClr val="FF3300"/>
                </a:solidFill>
                <a:latin typeface="Monotype Corsiva" panose="03010101010201010101" pitchFamily="66" charset="0"/>
              </a:rPr>
            </a:br>
            <a:r>
              <a:rPr kumimoji="1" lang="en-US" altLang="zh-CN" sz="4400" b="1">
                <a:solidFill>
                  <a:srgbClr val="FF3300"/>
                </a:solidFill>
                <a:latin typeface="Monotype Corsiva" panose="03010101010201010101" pitchFamily="66" charset="0"/>
              </a:rPr>
              <a:t>Bye-bye!</a:t>
            </a:r>
          </a:p>
        </p:txBody>
      </p:sp>
      <p:pic>
        <p:nvPicPr>
          <p:cNvPr id="102403" name="Picture 5" descr="PE01832_">
            <a:extLst>
              <a:ext uri="{FF2B5EF4-FFF2-40B4-BE49-F238E27FC236}">
                <a16:creationId xmlns:a16="http://schemas.microsoft.com/office/drawing/2014/main" id="{80409230-E30F-2B33-AAE8-D07B0A7F6E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91400" y="3581401"/>
            <a:ext cx="3049588" cy="2786063"/>
          </a:xfrm>
          <a:prstGeom prst="rect">
            <a:avLst/>
          </a:prstGeom>
          <a:noFill/>
          <a:ln>
            <a:noFill/>
          </a:ln>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jM3ZWI0MTQ0Y2E3ODlhYzE4NTUzNDI4YjE3OTFmMGQ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2769</TotalTime>
  <Words>12562</Words>
  <Application>Microsoft Office PowerPoint</Application>
  <PresentationFormat>宽屏</PresentationFormat>
  <Paragraphs>634</Paragraphs>
  <Slides>116</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116</vt:i4>
      </vt:variant>
    </vt:vector>
  </HeadingPairs>
  <TitlesOfParts>
    <vt:vector size="129" baseType="lpstr">
      <vt:lpstr>等线</vt:lpstr>
      <vt:lpstr>等线 Light</vt:lpstr>
      <vt:lpstr>宋体</vt:lpstr>
      <vt:lpstr>微软雅黑</vt:lpstr>
      <vt:lpstr>Arial</vt:lpstr>
      <vt:lpstr>Calibri</vt:lpstr>
      <vt:lpstr>Cambria Math</vt:lpstr>
      <vt:lpstr>Monotype Corsiva</vt:lpstr>
      <vt:lpstr>Tahoma</vt:lpstr>
      <vt:lpstr>Times New Roman</vt:lpstr>
      <vt:lpstr>Wingdings</vt:lpstr>
      <vt:lpstr>Office 主题​​</vt:lpstr>
      <vt:lpstr>MathType 7.0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郝 子鑫1</cp:lastModifiedBy>
  <cp:revision>11</cp:revision>
  <dcterms:created xsi:type="dcterms:W3CDTF">2023-05-09T06:35:00Z</dcterms:created>
  <dcterms:modified xsi:type="dcterms:W3CDTF">2023-05-15T14:34:46Z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1238AA68CF4746A6913CACC12A22C1F3_12</vt:lpwstr>
  </property>
  <property fmtid="{D5CDD505-2E9C-101B-9397-08002B2CF9AE}" pid="3" name="KSOProductBuildVer">
    <vt:lpwstr>2052-11.1.0.14036</vt:lpwstr>
  </property>
</Properties>
</file>