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8" r:id="rId3"/>
    <p:sldId id="259" r:id="rId4"/>
    <p:sldId id="262" r:id="rId5"/>
    <p:sldId id="263" r:id="rId6"/>
    <p:sldId id="264" r:id="rId7"/>
    <p:sldId id="260"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171.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notesMaster" Target="notesMasters/notes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0.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6" Type="http://schemas.openxmlformats.org/officeDocument/2006/relationships/image" Target="../media/image45.wmf"/><Relationship Id="rId5" Type="http://schemas.openxmlformats.org/officeDocument/2006/relationships/image" Target="../media/image39.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37.wmf"/><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46.wmf"/><Relationship Id="rId1"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9.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57.wmf"/><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72.wmf"/><Relationship Id="rId8" Type="http://schemas.openxmlformats.org/officeDocument/2006/relationships/image" Target="../media/image71.wmf"/><Relationship Id="rId7" Type="http://schemas.openxmlformats.org/officeDocument/2006/relationships/image" Target="../media/image70.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52.wmf"/><Relationship Id="rId1" Type="http://schemas.openxmlformats.org/officeDocument/2006/relationships/image" Target="../media/image65.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
        <p:nvSpPr>
          <p:cNvPr id="7" name="Line 7"/>
          <p:cNvSpPr/>
          <p:nvPr/>
        </p:nvSpPr>
        <p:spPr>
          <a:xfrm>
            <a:off x="0" y="684213"/>
            <a:ext cx="12192000" cy="0"/>
          </a:xfrm>
          <a:prstGeom prst="line">
            <a:avLst/>
          </a:prstGeom>
          <a:ln w="114300" cap="flat" cmpd="thickThin">
            <a:solidFill>
              <a:srgbClr val="660033"/>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pn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wmf"/><Relationship Id="rId7" Type="http://schemas.openxmlformats.org/officeDocument/2006/relationships/oleObject" Target="../embeddings/oleObject2.bin"/><Relationship Id="rId6" Type="http://schemas.openxmlformats.org/officeDocument/2006/relationships/tags" Target="../tags/tag12.xml"/><Relationship Id="rId5" Type="http://schemas.openxmlformats.org/officeDocument/2006/relationships/image" Target="../media/image3.wmf"/><Relationship Id="rId4" Type="http://schemas.openxmlformats.org/officeDocument/2006/relationships/oleObject" Target="../embeddings/oleObject1.bin"/><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vmlDrawing" Target="../drawings/vmlDrawing1.v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tags" Target="../tags/tag16.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tags" Target="../tags/tag18.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7.wmf"/><Relationship Id="rId3" Type="http://schemas.openxmlformats.org/officeDocument/2006/relationships/oleObject" Target="../embeddings/oleObject3.bin"/><Relationship Id="rId2" Type="http://schemas.openxmlformats.org/officeDocument/2006/relationships/tags" Target="../tags/tag20.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tags" Target="../tags/tag24.xml"/><Relationship Id="rId1" Type="http://schemas.openxmlformats.org/officeDocument/2006/relationships/tags" Target="../tags/tag2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tags" Target="../tags/tag31.xml"/><Relationship Id="rId7" Type="http://schemas.openxmlformats.org/officeDocument/2006/relationships/image" Target="../media/image11.wmf"/><Relationship Id="rId6" Type="http://schemas.openxmlformats.org/officeDocument/2006/relationships/oleObject" Target="../embeddings/oleObject6.bin"/><Relationship Id="rId5" Type="http://schemas.openxmlformats.org/officeDocument/2006/relationships/tags" Target="../tags/tag30.xml"/><Relationship Id="rId4" Type="http://schemas.openxmlformats.org/officeDocument/2006/relationships/image" Target="../media/image10.wmf"/><Relationship Id="rId30" Type="http://schemas.openxmlformats.org/officeDocument/2006/relationships/vmlDrawing" Target="../drawings/vmlDrawing4.vml"/><Relationship Id="rId3" Type="http://schemas.openxmlformats.org/officeDocument/2006/relationships/oleObject" Target="../embeddings/oleObject5.bin"/><Relationship Id="rId29" Type="http://schemas.openxmlformats.org/officeDocument/2006/relationships/slideLayout" Target="../slideLayouts/slideLayout1.xml"/><Relationship Id="rId28" Type="http://schemas.openxmlformats.org/officeDocument/2006/relationships/image" Target="../media/image16.wmf"/><Relationship Id="rId27" Type="http://schemas.openxmlformats.org/officeDocument/2006/relationships/oleObject" Target="../embeddings/oleObject13.bin"/><Relationship Id="rId26" Type="http://schemas.openxmlformats.org/officeDocument/2006/relationships/tags" Target="../tags/tag39.xml"/><Relationship Id="rId25" Type="http://schemas.openxmlformats.org/officeDocument/2006/relationships/image" Target="../media/image15.wmf"/><Relationship Id="rId24" Type="http://schemas.openxmlformats.org/officeDocument/2006/relationships/oleObject" Target="../embeddings/oleObject12.bin"/><Relationship Id="rId23" Type="http://schemas.openxmlformats.org/officeDocument/2006/relationships/tags" Target="../tags/tag38.xml"/><Relationship Id="rId22" Type="http://schemas.openxmlformats.org/officeDocument/2006/relationships/oleObject" Target="../embeddings/oleObject11.bin"/><Relationship Id="rId21" Type="http://schemas.openxmlformats.org/officeDocument/2006/relationships/tags" Target="../tags/tag37.xml"/><Relationship Id="rId20" Type="http://schemas.openxmlformats.org/officeDocument/2006/relationships/oleObject" Target="../embeddings/oleObject10.bin"/><Relationship Id="rId2" Type="http://schemas.openxmlformats.org/officeDocument/2006/relationships/tags" Target="../tags/tag29.xml"/><Relationship Id="rId19" Type="http://schemas.openxmlformats.org/officeDocument/2006/relationships/tags" Target="../tags/tag36.xml"/><Relationship Id="rId18" Type="http://schemas.openxmlformats.org/officeDocument/2006/relationships/image" Target="../media/image14.wmf"/><Relationship Id="rId17" Type="http://schemas.openxmlformats.org/officeDocument/2006/relationships/oleObject" Target="../embeddings/oleObject9.bin"/><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image" Target="../media/image13.wmf"/><Relationship Id="rId12" Type="http://schemas.openxmlformats.org/officeDocument/2006/relationships/oleObject" Target="../embeddings/oleObject8.bin"/><Relationship Id="rId11" Type="http://schemas.openxmlformats.org/officeDocument/2006/relationships/tags" Target="../tags/tag32.xml"/><Relationship Id="rId10" Type="http://schemas.openxmlformats.org/officeDocument/2006/relationships/image" Target="../media/image12.wmf"/><Relationship Id="rId1" Type="http://schemas.openxmlformats.org/officeDocument/2006/relationships/tags" Target="../tags/tag28.xml"/></Relationships>
</file>

<file path=ppt/slides/_rels/slide18.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1.xml"/><Relationship Id="rId7" Type="http://schemas.openxmlformats.org/officeDocument/2006/relationships/image" Target="../media/image18.wmf"/><Relationship Id="rId6" Type="http://schemas.openxmlformats.org/officeDocument/2006/relationships/oleObject" Target="../embeddings/oleObject14.bin"/><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17.png"/><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s>
</file>

<file path=ppt/slides/_rels/slide21.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image" Target="../media/image20.wmf"/><Relationship Id="rId7" Type="http://schemas.openxmlformats.org/officeDocument/2006/relationships/oleObject" Target="../embeddings/oleObject16.bin"/><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image" Target="../media/image19.wmf"/><Relationship Id="rId3" Type="http://schemas.openxmlformats.org/officeDocument/2006/relationships/oleObject" Target="../embeddings/oleObject15.bin"/><Relationship Id="rId28" Type="http://schemas.openxmlformats.org/officeDocument/2006/relationships/vmlDrawing" Target="../drawings/vmlDrawing6.vml"/><Relationship Id="rId27" Type="http://schemas.openxmlformats.org/officeDocument/2006/relationships/slideLayout" Target="../slideLayouts/slideLayout1.xml"/><Relationship Id="rId26" Type="http://schemas.openxmlformats.org/officeDocument/2006/relationships/image" Target="../media/image26.wmf"/><Relationship Id="rId25" Type="http://schemas.openxmlformats.org/officeDocument/2006/relationships/oleObject" Target="../embeddings/oleObject22.bin"/><Relationship Id="rId24" Type="http://schemas.openxmlformats.org/officeDocument/2006/relationships/tags" Target="../tags/tag56.xml"/><Relationship Id="rId23" Type="http://schemas.openxmlformats.org/officeDocument/2006/relationships/image" Target="../media/image25.wmf"/><Relationship Id="rId22" Type="http://schemas.openxmlformats.org/officeDocument/2006/relationships/oleObject" Target="../embeddings/oleObject21.bin"/><Relationship Id="rId21" Type="http://schemas.openxmlformats.org/officeDocument/2006/relationships/tags" Target="../tags/tag55.xml"/><Relationship Id="rId20" Type="http://schemas.openxmlformats.org/officeDocument/2006/relationships/image" Target="../media/image24.wmf"/><Relationship Id="rId2" Type="http://schemas.openxmlformats.org/officeDocument/2006/relationships/tags" Target="../tags/tag48.xml"/><Relationship Id="rId19" Type="http://schemas.openxmlformats.org/officeDocument/2006/relationships/oleObject" Target="../embeddings/oleObject20.bin"/><Relationship Id="rId18" Type="http://schemas.openxmlformats.org/officeDocument/2006/relationships/tags" Target="../tags/tag54.xml"/><Relationship Id="rId17" Type="http://schemas.openxmlformats.org/officeDocument/2006/relationships/image" Target="../media/image23.wmf"/><Relationship Id="rId16" Type="http://schemas.openxmlformats.org/officeDocument/2006/relationships/oleObject" Target="../embeddings/oleObject19.bin"/><Relationship Id="rId15" Type="http://schemas.openxmlformats.org/officeDocument/2006/relationships/tags" Target="../tags/tag53.xml"/><Relationship Id="rId14" Type="http://schemas.openxmlformats.org/officeDocument/2006/relationships/image" Target="../media/image22.wmf"/><Relationship Id="rId13" Type="http://schemas.openxmlformats.org/officeDocument/2006/relationships/oleObject" Target="../embeddings/oleObject18.bin"/><Relationship Id="rId12" Type="http://schemas.openxmlformats.org/officeDocument/2006/relationships/tags" Target="../tags/tag52.xml"/><Relationship Id="rId11" Type="http://schemas.openxmlformats.org/officeDocument/2006/relationships/image" Target="../media/image21.wmf"/><Relationship Id="rId10" Type="http://schemas.openxmlformats.org/officeDocument/2006/relationships/oleObject" Target="../embeddings/oleObject17.bin"/><Relationship Id="rId1" Type="http://schemas.openxmlformats.org/officeDocument/2006/relationships/tags" Target="../tags/tag47.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7.png"/><Relationship Id="rId2" Type="http://schemas.openxmlformats.org/officeDocument/2006/relationships/tags" Target="../tags/tag58.xml"/><Relationship Id="rId1" Type="http://schemas.openxmlformats.org/officeDocument/2006/relationships/tags" Target="../tags/tag57.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tags" Target="../tags/tag62.xml"/><Relationship Id="rId7" Type="http://schemas.openxmlformats.org/officeDocument/2006/relationships/image" Target="../media/image20.wmf"/><Relationship Id="rId6" Type="http://schemas.openxmlformats.org/officeDocument/2006/relationships/oleObject" Target="../embeddings/oleObject24.bin"/><Relationship Id="rId5" Type="http://schemas.openxmlformats.org/officeDocument/2006/relationships/tags" Target="../tags/tag61.xml"/><Relationship Id="rId4" Type="http://schemas.openxmlformats.org/officeDocument/2006/relationships/image" Target="../media/image28.wmf"/><Relationship Id="rId3" Type="http://schemas.openxmlformats.org/officeDocument/2006/relationships/oleObject" Target="../embeddings/oleObject23.bin"/><Relationship Id="rId2" Type="http://schemas.openxmlformats.org/officeDocument/2006/relationships/tags" Target="../tags/tag60.xml"/><Relationship Id="rId14" Type="http://schemas.openxmlformats.org/officeDocument/2006/relationships/vmlDrawing" Target="../drawings/vmlDrawing7.vml"/><Relationship Id="rId13" Type="http://schemas.openxmlformats.org/officeDocument/2006/relationships/slideLayout" Target="../slideLayouts/slideLayout1.xml"/><Relationship Id="rId12" Type="http://schemas.openxmlformats.org/officeDocument/2006/relationships/oleObject" Target="../embeddings/oleObject26.bin"/><Relationship Id="rId11" Type="http://schemas.openxmlformats.org/officeDocument/2006/relationships/tags" Target="../tags/tag63.xml"/><Relationship Id="rId10" Type="http://schemas.openxmlformats.org/officeDocument/2006/relationships/image" Target="../media/image29.wmf"/><Relationship Id="rId1" Type="http://schemas.openxmlformats.org/officeDocument/2006/relationships/tags" Target="../tags/tag59.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tags" Target="../tags/tag67.xml"/><Relationship Id="rId7" Type="http://schemas.openxmlformats.org/officeDocument/2006/relationships/image" Target="../media/image31.wmf"/><Relationship Id="rId6" Type="http://schemas.openxmlformats.org/officeDocument/2006/relationships/oleObject" Target="../embeddings/oleObject28.bin"/><Relationship Id="rId5" Type="http://schemas.openxmlformats.org/officeDocument/2006/relationships/tags" Target="../tags/tag66.xml"/><Relationship Id="rId4" Type="http://schemas.openxmlformats.org/officeDocument/2006/relationships/image" Target="../media/image30.wmf"/><Relationship Id="rId3" Type="http://schemas.openxmlformats.org/officeDocument/2006/relationships/oleObject" Target="../embeddings/oleObject27.bin"/><Relationship Id="rId2" Type="http://schemas.openxmlformats.org/officeDocument/2006/relationships/tags" Target="../tags/tag65.xml"/><Relationship Id="rId12" Type="http://schemas.openxmlformats.org/officeDocument/2006/relationships/vmlDrawing" Target="../drawings/vmlDrawing8.vml"/><Relationship Id="rId11" Type="http://schemas.openxmlformats.org/officeDocument/2006/relationships/slideLayout" Target="../slideLayouts/slideLayout1.xml"/><Relationship Id="rId10" Type="http://schemas.openxmlformats.org/officeDocument/2006/relationships/image" Target="../media/image32.wmf"/><Relationship Id="rId1" Type="http://schemas.openxmlformats.org/officeDocument/2006/relationships/tags" Target="../tags/tag64.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tags" Target="../tags/tag69.xml"/><Relationship Id="rId1" Type="http://schemas.openxmlformats.org/officeDocument/2006/relationships/tags" Target="../tags/tag68.xml"/></Relationships>
</file>

<file path=ppt/slides/_rels/slide26.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1.xml"/><Relationship Id="rId7" Type="http://schemas.openxmlformats.org/officeDocument/2006/relationships/image" Target="../media/image35.wmf"/><Relationship Id="rId6" Type="http://schemas.openxmlformats.org/officeDocument/2006/relationships/oleObject" Target="../embeddings/oleObject31.bin"/><Relationship Id="rId5" Type="http://schemas.openxmlformats.org/officeDocument/2006/relationships/tags" Target="../tags/tag72.xml"/><Relationship Id="rId4" Type="http://schemas.openxmlformats.org/officeDocument/2006/relationships/image" Target="../media/image34.wmf"/><Relationship Id="rId3" Type="http://schemas.openxmlformats.org/officeDocument/2006/relationships/oleObject" Target="../embeddings/oleObject30.bin"/><Relationship Id="rId2" Type="http://schemas.openxmlformats.org/officeDocument/2006/relationships/tags" Target="../tags/tag71.xml"/><Relationship Id="rId1" Type="http://schemas.openxmlformats.org/officeDocument/2006/relationships/tags" Target="../tags/tag70.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tags" Target="../tags/tag76.xml"/><Relationship Id="rId7" Type="http://schemas.openxmlformats.org/officeDocument/2006/relationships/image" Target="../media/image37.wmf"/><Relationship Id="rId6" Type="http://schemas.openxmlformats.org/officeDocument/2006/relationships/oleObject" Target="../embeddings/oleObject33.bin"/><Relationship Id="rId5" Type="http://schemas.openxmlformats.org/officeDocument/2006/relationships/tags" Target="../tags/tag75.xml"/><Relationship Id="rId4" Type="http://schemas.openxmlformats.org/officeDocument/2006/relationships/image" Target="../media/image36.wmf"/><Relationship Id="rId3" Type="http://schemas.openxmlformats.org/officeDocument/2006/relationships/oleObject" Target="../embeddings/oleObject32.bin"/><Relationship Id="rId2" Type="http://schemas.openxmlformats.org/officeDocument/2006/relationships/tags" Target="../tags/tag74.xml"/><Relationship Id="rId17" Type="http://schemas.openxmlformats.org/officeDocument/2006/relationships/vmlDrawing" Target="../drawings/vmlDrawing10.vml"/><Relationship Id="rId16" Type="http://schemas.openxmlformats.org/officeDocument/2006/relationships/slideLayout" Target="../slideLayouts/slideLayout1.xml"/><Relationship Id="rId15" Type="http://schemas.openxmlformats.org/officeDocument/2006/relationships/oleObject" Target="../embeddings/oleObject36.bin"/><Relationship Id="rId14" Type="http://schemas.openxmlformats.org/officeDocument/2006/relationships/tags" Target="../tags/tag78.xml"/><Relationship Id="rId13" Type="http://schemas.openxmlformats.org/officeDocument/2006/relationships/image" Target="../media/image39.wmf"/><Relationship Id="rId12" Type="http://schemas.openxmlformats.org/officeDocument/2006/relationships/oleObject" Target="../embeddings/oleObject35.bin"/><Relationship Id="rId11" Type="http://schemas.openxmlformats.org/officeDocument/2006/relationships/tags" Target="../tags/tag77.xml"/><Relationship Id="rId10" Type="http://schemas.openxmlformats.org/officeDocument/2006/relationships/image" Target="../media/image38.wmf"/><Relationship Id="rId1" Type="http://schemas.openxmlformats.org/officeDocument/2006/relationships/tags" Target="../tags/tag73.xml"/></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tags" Target="../tags/tag82.xml"/><Relationship Id="rId7" Type="http://schemas.openxmlformats.org/officeDocument/2006/relationships/image" Target="../media/image41.wmf"/><Relationship Id="rId6" Type="http://schemas.openxmlformats.org/officeDocument/2006/relationships/oleObject" Target="../embeddings/oleObject38.bin"/><Relationship Id="rId5" Type="http://schemas.openxmlformats.org/officeDocument/2006/relationships/tags" Target="../tags/tag81.xml"/><Relationship Id="rId4" Type="http://schemas.openxmlformats.org/officeDocument/2006/relationships/image" Target="../media/image40.wmf"/><Relationship Id="rId3" Type="http://schemas.openxmlformats.org/officeDocument/2006/relationships/oleObject" Target="../embeddings/oleObject37.bin"/><Relationship Id="rId2" Type="http://schemas.openxmlformats.org/officeDocument/2006/relationships/tags" Target="../tags/tag80.xml"/><Relationship Id="rId12" Type="http://schemas.openxmlformats.org/officeDocument/2006/relationships/vmlDrawing" Target="../drawings/vmlDrawing11.vml"/><Relationship Id="rId11" Type="http://schemas.openxmlformats.org/officeDocument/2006/relationships/slideLayout" Target="../slideLayouts/slideLayout1.xml"/><Relationship Id="rId10" Type="http://schemas.openxmlformats.org/officeDocument/2006/relationships/image" Target="../media/image42.wmf"/><Relationship Id="rId1" Type="http://schemas.openxmlformats.org/officeDocument/2006/relationships/tags" Target="../tags/tag79.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tags" Target="../tags/tag86.xml"/><Relationship Id="rId7" Type="http://schemas.openxmlformats.org/officeDocument/2006/relationships/image" Target="../media/image37.wmf"/><Relationship Id="rId6" Type="http://schemas.openxmlformats.org/officeDocument/2006/relationships/oleObject" Target="../embeddings/oleObject41.bin"/><Relationship Id="rId5" Type="http://schemas.openxmlformats.org/officeDocument/2006/relationships/tags" Target="../tags/tag85.xml"/><Relationship Id="rId4" Type="http://schemas.openxmlformats.org/officeDocument/2006/relationships/image" Target="../media/image36.wmf"/><Relationship Id="rId3" Type="http://schemas.openxmlformats.org/officeDocument/2006/relationships/oleObject" Target="../embeddings/oleObject40.bin"/><Relationship Id="rId21" Type="http://schemas.openxmlformats.org/officeDocument/2006/relationships/vmlDrawing" Target="../drawings/vmlDrawing12.vml"/><Relationship Id="rId20" Type="http://schemas.openxmlformats.org/officeDocument/2006/relationships/slideLayout" Target="../slideLayouts/slideLayout1.xml"/><Relationship Id="rId2" Type="http://schemas.openxmlformats.org/officeDocument/2006/relationships/tags" Target="../tags/tag84.xml"/><Relationship Id="rId19" Type="http://schemas.openxmlformats.org/officeDocument/2006/relationships/image" Target="../media/image45.wmf"/><Relationship Id="rId18" Type="http://schemas.openxmlformats.org/officeDocument/2006/relationships/oleObject" Target="../embeddings/oleObject45.bin"/><Relationship Id="rId17" Type="http://schemas.openxmlformats.org/officeDocument/2006/relationships/tags" Target="../tags/tag89.xml"/><Relationship Id="rId16" Type="http://schemas.openxmlformats.org/officeDocument/2006/relationships/image" Target="../media/image39.wmf"/><Relationship Id="rId15" Type="http://schemas.openxmlformats.org/officeDocument/2006/relationships/oleObject" Target="../embeddings/oleObject44.bin"/><Relationship Id="rId14" Type="http://schemas.openxmlformats.org/officeDocument/2006/relationships/tags" Target="../tags/tag88.xml"/><Relationship Id="rId13" Type="http://schemas.openxmlformats.org/officeDocument/2006/relationships/image" Target="../media/image44.wmf"/><Relationship Id="rId12" Type="http://schemas.openxmlformats.org/officeDocument/2006/relationships/oleObject" Target="../embeddings/oleObject43.bin"/><Relationship Id="rId11" Type="http://schemas.openxmlformats.org/officeDocument/2006/relationships/tags" Target="../tags/tag87.xml"/><Relationship Id="rId10" Type="http://schemas.openxmlformats.org/officeDocument/2006/relationships/image" Target="../media/image43.wmf"/><Relationship Id="rId1" Type="http://schemas.openxmlformats.org/officeDocument/2006/relationships/tags" Target="../tags/tag83.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tags" Target="../tags/tag93.xml"/><Relationship Id="rId7" Type="http://schemas.openxmlformats.org/officeDocument/2006/relationships/image" Target="../media/image46.wmf"/><Relationship Id="rId6" Type="http://schemas.openxmlformats.org/officeDocument/2006/relationships/oleObject" Target="../embeddings/oleObject47.bin"/><Relationship Id="rId5" Type="http://schemas.openxmlformats.org/officeDocument/2006/relationships/tags" Target="../tags/tag92.xml"/><Relationship Id="rId4" Type="http://schemas.openxmlformats.org/officeDocument/2006/relationships/image" Target="../media/image39.wmf"/><Relationship Id="rId3" Type="http://schemas.openxmlformats.org/officeDocument/2006/relationships/oleObject" Target="../embeddings/oleObject46.bin"/><Relationship Id="rId2" Type="http://schemas.openxmlformats.org/officeDocument/2006/relationships/tags" Target="../tags/tag91.xml"/><Relationship Id="rId15" Type="http://schemas.openxmlformats.org/officeDocument/2006/relationships/vmlDrawing" Target="../drawings/vmlDrawing13.vml"/><Relationship Id="rId14" Type="http://schemas.openxmlformats.org/officeDocument/2006/relationships/slideLayout" Target="../slideLayouts/slideLayout1.xml"/><Relationship Id="rId13" Type="http://schemas.openxmlformats.org/officeDocument/2006/relationships/image" Target="../media/image37.wmf"/><Relationship Id="rId12" Type="http://schemas.openxmlformats.org/officeDocument/2006/relationships/oleObject" Target="../embeddings/oleObject49.bin"/><Relationship Id="rId11" Type="http://schemas.openxmlformats.org/officeDocument/2006/relationships/tags" Target="../tags/tag94.xml"/><Relationship Id="rId10" Type="http://schemas.openxmlformats.org/officeDocument/2006/relationships/image" Target="../media/image36.wmf"/><Relationship Id="rId1" Type="http://schemas.openxmlformats.org/officeDocument/2006/relationships/tags" Target="../tags/tag90.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7.png"/><Relationship Id="rId2" Type="http://schemas.openxmlformats.org/officeDocument/2006/relationships/tags" Target="../tags/tag96.xml"/><Relationship Id="rId1" Type="http://schemas.openxmlformats.org/officeDocument/2006/relationships/tags" Target="../tags/tag95.xml"/></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tags" Target="../tags/tag100.xml"/><Relationship Id="rId7" Type="http://schemas.openxmlformats.org/officeDocument/2006/relationships/image" Target="../media/image36.wmf"/><Relationship Id="rId6" Type="http://schemas.openxmlformats.org/officeDocument/2006/relationships/oleObject" Target="../embeddings/oleObject51.bin"/><Relationship Id="rId5" Type="http://schemas.openxmlformats.org/officeDocument/2006/relationships/tags" Target="../tags/tag99.xml"/><Relationship Id="rId4" Type="http://schemas.openxmlformats.org/officeDocument/2006/relationships/image" Target="../media/image48.wmf"/><Relationship Id="rId3" Type="http://schemas.openxmlformats.org/officeDocument/2006/relationships/oleObject" Target="../embeddings/oleObject50.bin"/><Relationship Id="rId2" Type="http://schemas.openxmlformats.org/officeDocument/2006/relationships/tags" Target="../tags/tag98.xml"/><Relationship Id="rId15" Type="http://schemas.openxmlformats.org/officeDocument/2006/relationships/vmlDrawing" Target="../drawings/vmlDrawing14.vml"/><Relationship Id="rId14" Type="http://schemas.openxmlformats.org/officeDocument/2006/relationships/slideLayout" Target="../slideLayouts/slideLayout1.xml"/><Relationship Id="rId13" Type="http://schemas.openxmlformats.org/officeDocument/2006/relationships/image" Target="../media/image49.wmf"/><Relationship Id="rId12" Type="http://schemas.openxmlformats.org/officeDocument/2006/relationships/oleObject" Target="../embeddings/oleObject53.bin"/><Relationship Id="rId11" Type="http://schemas.openxmlformats.org/officeDocument/2006/relationships/tags" Target="../tags/tag101.xml"/><Relationship Id="rId10" Type="http://schemas.openxmlformats.org/officeDocument/2006/relationships/image" Target="../media/image37.wmf"/><Relationship Id="rId1" Type="http://schemas.openxmlformats.org/officeDocument/2006/relationships/tags" Target="../tags/tag97.xml"/></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tags" Target="../tags/tag105.xml"/><Relationship Id="rId7" Type="http://schemas.openxmlformats.org/officeDocument/2006/relationships/image" Target="../media/image51.wmf"/><Relationship Id="rId6" Type="http://schemas.openxmlformats.org/officeDocument/2006/relationships/oleObject" Target="../embeddings/oleObject55.bin"/><Relationship Id="rId5" Type="http://schemas.openxmlformats.org/officeDocument/2006/relationships/tags" Target="../tags/tag104.xml"/><Relationship Id="rId4" Type="http://schemas.openxmlformats.org/officeDocument/2006/relationships/image" Target="../media/image50.wmf"/><Relationship Id="rId3" Type="http://schemas.openxmlformats.org/officeDocument/2006/relationships/oleObject" Target="../embeddings/oleObject54.bin"/><Relationship Id="rId28" Type="http://schemas.openxmlformats.org/officeDocument/2006/relationships/vmlDrawing" Target="../drawings/vmlDrawing15.vml"/><Relationship Id="rId27" Type="http://schemas.openxmlformats.org/officeDocument/2006/relationships/slideLayout" Target="../slideLayouts/slideLayout1.xml"/><Relationship Id="rId26" Type="http://schemas.openxmlformats.org/officeDocument/2006/relationships/tags" Target="../tags/tag111.xml"/><Relationship Id="rId25" Type="http://schemas.openxmlformats.org/officeDocument/2006/relationships/image" Target="../media/image57.wmf"/><Relationship Id="rId24" Type="http://schemas.openxmlformats.org/officeDocument/2006/relationships/oleObject" Target="../embeddings/oleObject61.bin"/><Relationship Id="rId23" Type="http://schemas.openxmlformats.org/officeDocument/2006/relationships/tags" Target="../tags/tag110.xml"/><Relationship Id="rId22" Type="http://schemas.openxmlformats.org/officeDocument/2006/relationships/image" Target="../media/image56.wmf"/><Relationship Id="rId21" Type="http://schemas.openxmlformats.org/officeDocument/2006/relationships/oleObject" Target="../embeddings/oleObject60.bin"/><Relationship Id="rId20" Type="http://schemas.openxmlformats.org/officeDocument/2006/relationships/tags" Target="../tags/tag109.xml"/><Relationship Id="rId2" Type="http://schemas.openxmlformats.org/officeDocument/2006/relationships/tags" Target="../tags/tag103.xml"/><Relationship Id="rId19" Type="http://schemas.openxmlformats.org/officeDocument/2006/relationships/image" Target="../media/image55.wmf"/><Relationship Id="rId18" Type="http://schemas.openxmlformats.org/officeDocument/2006/relationships/oleObject" Target="../embeddings/oleObject59.bin"/><Relationship Id="rId17" Type="http://schemas.openxmlformats.org/officeDocument/2006/relationships/tags" Target="../tags/tag108.xml"/><Relationship Id="rId16" Type="http://schemas.openxmlformats.org/officeDocument/2006/relationships/image" Target="../media/image54.wmf"/><Relationship Id="rId15" Type="http://schemas.openxmlformats.org/officeDocument/2006/relationships/oleObject" Target="../embeddings/oleObject58.bin"/><Relationship Id="rId14" Type="http://schemas.openxmlformats.org/officeDocument/2006/relationships/tags" Target="../tags/tag107.xml"/><Relationship Id="rId13" Type="http://schemas.openxmlformats.org/officeDocument/2006/relationships/image" Target="../media/image53.wmf"/><Relationship Id="rId12" Type="http://schemas.openxmlformats.org/officeDocument/2006/relationships/oleObject" Target="../embeddings/oleObject57.bin"/><Relationship Id="rId11" Type="http://schemas.openxmlformats.org/officeDocument/2006/relationships/tags" Target="../tags/tag106.xml"/><Relationship Id="rId10" Type="http://schemas.openxmlformats.org/officeDocument/2006/relationships/image" Target="../media/image52.wmf"/><Relationship Id="rId1" Type="http://schemas.openxmlformats.org/officeDocument/2006/relationships/tags" Target="../tags/tag102.xml"/></Relationships>
</file>

<file path=ppt/slides/_rels/slide34.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image" Target="../media/image59.wmf"/><Relationship Id="rId7" Type="http://schemas.openxmlformats.org/officeDocument/2006/relationships/oleObject" Target="../embeddings/oleObject63.bin"/><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image" Target="../media/image58.wmf"/><Relationship Id="rId3" Type="http://schemas.openxmlformats.org/officeDocument/2006/relationships/oleObject" Target="../embeddings/oleObject62.bin"/><Relationship Id="rId2" Type="http://schemas.openxmlformats.org/officeDocument/2006/relationships/tags" Target="../tags/tag113.xml"/><Relationship Id="rId11" Type="http://schemas.openxmlformats.org/officeDocument/2006/relationships/vmlDrawing" Target="../drawings/vmlDrawing16.vml"/><Relationship Id="rId10" Type="http://schemas.openxmlformats.org/officeDocument/2006/relationships/slideLayout" Target="../slideLayouts/slideLayout1.xml"/><Relationship Id="rId1" Type="http://schemas.openxmlformats.org/officeDocument/2006/relationships/tags" Target="../tags/tag112.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tags" Target="../tags/tag120.xml"/><Relationship Id="rId7" Type="http://schemas.openxmlformats.org/officeDocument/2006/relationships/image" Target="../media/image61.wmf"/><Relationship Id="rId6" Type="http://schemas.openxmlformats.org/officeDocument/2006/relationships/oleObject" Target="../embeddings/oleObject65.bin"/><Relationship Id="rId5" Type="http://schemas.openxmlformats.org/officeDocument/2006/relationships/tags" Target="../tags/tag119.xml"/><Relationship Id="rId4" Type="http://schemas.openxmlformats.org/officeDocument/2006/relationships/image" Target="../media/image60.wmf"/><Relationship Id="rId3" Type="http://schemas.openxmlformats.org/officeDocument/2006/relationships/oleObject" Target="../embeddings/oleObject64.bin"/><Relationship Id="rId2" Type="http://schemas.openxmlformats.org/officeDocument/2006/relationships/tags" Target="../tags/tag118.xml"/><Relationship Id="rId19" Type="http://schemas.openxmlformats.org/officeDocument/2006/relationships/vmlDrawing" Target="../drawings/vmlDrawing17.vml"/><Relationship Id="rId18" Type="http://schemas.openxmlformats.org/officeDocument/2006/relationships/slideLayout" Target="../slideLayouts/slideLayout1.xml"/><Relationship Id="rId17" Type="http://schemas.openxmlformats.org/officeDocument/2006/relationships/tags" Target="../tags/tag123.xml"/><Relationship Id="rId16" Type="http://schemas.openxmlformats.org/officeDocument/2006/relationships/image" Target="../media/image64.wmf"/><Relationship Id="rId15" Type="http://schemas.openxmlformats.org/officeDocument/2006/relationships/oleObject" Target="../embeddings/oleObject68.bin"/><Relationship Id="rId14" Type="http://schemas.openxmlformats.org/officeDocument/2006/relationships/tags" Target="../tags/tag122.xml"/><Relationship Id="rId13" Type="http://schemas.openxmlformats.org/officeDocument/2006/relationships/image" Target="../media/image63.wmf"/><Relationship Id="rId12" Type="http://schemas.openxmlformats.org/officeDocument/2006/relationships/oleObject" Target="../embeddings/oleObject67.bin"/><Relationship Id="rId11" Type="http://schemas.openxmlformats.org/officeDocument/2006/relationships/tags" Target="../tags/tag121.xml"/><Relationship Id="rId10" Type="http://schemas.openxmlformats.org/officeDocument/2006/relationships/image" Target="../media/image62.wmf"/><Relationship Id="rId1" Type="http://schemas.openxmlformats.org/officeDocument/2006/relationships/tags" Target="../tags/tag117.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71.bin"/><Relationship Id="rId8" Type="http://schemas.openxmlformats.org/officeDocument/2006/relationships/tags" Target="../tags/tag127.xml"/><Relationship Id="rId7" Type="http://schemas.openxmlformats.org/officeDocument/2006/relationships/image" Target="../media/image52.wmf"/><Relationship Id="rId6" Type="http://schemas.openxmlformats.org/officeDocument/2006/relationships/oleObject" Target="../embeddings/oleObject70.bin"/><Relationship Id="rId5" Type="http://schemas.openxmlformats.org/officeDocument/2006/relationships/tags" Target="../tags/tag126.xml"/><Relationship Id="rId4" Type="http://schemas.openxmlformats.org/officeDocument/2006/relationships/image" Target="../media/image65.wmf"/><Relationship Id="rId34" Type="http://schemas.openxmlformats.org/officeDocument/2006/relationships/vmlDrawing" Target="../drawings/vmlDrawing18.vml"/><Relationship Id="rId33" Type="http://schemas.openxmlformats.org/officeDocument/2006/relationships/slideLayout" Target="../slideLayouts/slideLayout1.xml"/><Relationship Id="rId32" Type="http://schemas.openxmlformats.org/officeDocument/2006/relationships/image" Target="../media/image72.wmf"/><Relationship Id="rId31" Type="http://schemas.openxmlformats.org/officeDocument/2006/relationships/oleObject" Target="../embeddings/oleObject77.bin"/><Relationship Id="rId30" Type="http://schemas.openxmlformats.org/officeDocument/2006/relationships/tags" Target="../tags/tag137.xml"/><Relationship Id="rId3" Type="http://schemas.openxmlformats.org/officeDocument/2006/relationships/oleObject" Target="../embeddings/oleObject69.bin"/><Relationship Id="rId29" Type="http://schemas.openxmlformats.org/officeDocument/2006/relationships/tags" Target="../tags/tag136.xml"/><Relationship Id="rId28" Type="http://schemas.openxmlformats.org/officeDocument/2006/relationships/tags" Target="../tags/tag135.xml"/><Relationship Id="rId27" Type="http://schemas.openxmlformats.org/officeDocument/2006/relationships/tags" Target="../tags/tag134.xml"/><Relationship Id="rId26" Type="http://schemas.openxmlformats.org/officeDocument/2006/relationships/tags" Target="../tags/tag133.xml"/><Relationship Id="rId25" Type="http://schemas.openxmlformats.org/officeDocument/2006/relationships/image" Target="../media/image71.wmf"/><Relationship Id="rId24" Type="http://schemas.openxmlformats.org/officeDocument/2006/relationships/oleObject" Target="../embeddings/oleObject76.bin"/><Relationship Id="rId23" Type="http://schemas.openxmlformats.org/officeDocument/2006/relationships/tags" Target="../tags/tag132.xml"/><Relationship Id="rId22" Type="http://schemas.openxmlformats.org/officeDocument/2006/relationships/image" Target="../media/image70.wmf"/><Relationship Id="rId21" Type="http://schemas.openxmlformats.org/officeDocument/2006/relationships/oleObject" Target="../embeddings/oleObject75.bin"/><Relationship Id="rId20" Type="http://schemas.openxmlformats.org/officeDocument/2006/relationships/tags" Target="../tags/tag131.xml"/><Relationship Id="rId2" Type="http://schemas.openxmlformats.org/officeDocument/2006/relationships/tags" Target="../tags/tag125.xml"/><Relationship Id="rId19" Type="http://schemas.openxmlformats.org/officeDocument/2006/relationships/image" Target="../media/image69.wmf"/><Relationship Id="rId18" Type="http://schemas.openxmlformats.org/officeDocument/2006/relationships/oleObject" Target="../embeddings/oleObject74.bin"/><Relationship Id="rId17" Type="http://schemas.openxmlformats.org/officeDocument/2006/relationships/tags" Target="../tags/tag130.xml"/><Relationship Id="rId16" Type="http://schemas.openxmlformats.org/officeDocument/2006/relationships/image" Target="../media/image68.wmf"/><Relationship Id="rId15" Type="http://schemas.openxmlformats.org/officeDocument/2006/relationships/oleObject" Target="../embeddings/oleObject73.bin"/><Relationship Id="rId14" Type="http://schemas.openxmlformats.org/officeDocument/2006/relationships/tags" Target="../tags/tag129.xml"/><Relationship Id="rId13" Type="http://schemas.openxmlformats.org/officeDocument/2006/relationships/image" Target="../media/image67.wmf"/><Relationship Id="rId12" Type="http://schemas.openxmlformats.org/officeDocument/2006/relationships/oleObject" Target="../embeddings/oleObject72.bin"/><Relationship Id="rId11" Type="http://schemas.openxmlformats.org/officeDocument/2006/relationships/tags" Target="../tags/tag128.xml"/><Relationship Id="rId10" Type="http://schemas.openxmlformats.org/officeDocument/2006/relationships/image" Target="../media/image66.wmf"/><Relationship Id="rId1" Type="http://schemas.openxmlformats.org/officeDocument/2006/relationships/tags" Target="../tags/tag124.xml"/></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tags" Target="../tags/tag141.xml"/><Relationship Id="rId7" Type="http://schemas.openxmlformats.org/officeDocument/2006/relationships/image" Target="../media/image74.wmf"/><Relationship Id="rId6" Type="http://schemas.openxmlformats.org/officeDocument/2006/relationships/oleObject" Target="../embeddings/oleObject79.bin"/><Relationship Id="rId5" Type="http://schemas.openxmlformats.org/officeDocument/2006/relationships/tags" Target="../tags/tag140.xml"/><Relationship Id="rId4" Type="http://schemas.openxmlformats.org/officeDocument/2006/relationships/image" Target="../media/image73.wmf"/><Relationship Id="rId3" Type="http://schemas.openxmlformats.org/officeDocument/2006/relationships/oleObject" Target="../embeddings/oleObject78.bin"/><Relationship Id="rId2" Type="http://schemas.openxmlformats.org/officeDocument/2006/relationships/tags" Target="../tags/tag139.xml"/><Relationship Id="rId18" Type="http://schemas.openxmlformats.org/officeDocument/2006/relationships/vmlDrawing" Target="../drawings/vmlDrawing19.vml"/><Relationship Id="rId17" Type="http://schemas.openxmlformats.org/officeDocument/2006/relationships/slideLayout" Target="../slideLayouts/slideLayout1.xml"/><Relationship Id="rId16" Type="http://schemas.openxmlformats.org/officeDocument/2006/relationships/tags" Target="../tags/tag145.xml"/><Relationship Id="rId15" Type="http://schemas.openxmlformats.org/officeDocument/2006/relationships/tags" Target="../tags/tag144.xml"/><Relationship Id="rId14" Type="http://schemas.openxmlformats.org/officeDocument/2006/relationships/tags" Target="../tags/tag143.xml"/><Relationship Id="rId13" Type="http://schemas.openxmlformats.org/officeDocument/2006/relationships/image" Target="../media/image76.wmf"/><Relationship Id="rId12" Type="http://schemas.openxmlformats.org/officeDocument/2006/relationships/oleObject" Target="../embeddings/oleObject81.bin"/><Relationship Id="rId11" Type="http://schemas.openxmlformats.org/officeDocument/2006/relationships/tags" Target="../tags/tag142.xml"/><Relationship Id="rId10" Type="http://schemas.openxmlformats.org/officeDocument/2006/relationships/image" Target="../media/image75.wmf"/><Relationship Id="rId1" Type="http://schemas.openxmlformats.org/officeDocument/2006/relationships/tags" Target="../tags/tag138.xml"/></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84.bin"/><Relationship Id="rId8" Type="http://schemas.openxmlformats.org/officeDocument/2006/relationships/tags" Target="../tags/tag149.xml"/><Relationship Id="rId7" Type="http://schemas.openxmlformats.org/officeDocument/2006/relationships/image" Target="../media/image78.wmf"/><Relationship Id="rId6" Type="http://schemas.openxmlformats.org/officeDocument/2006/relationships/oleObject" Target="../embeddings/oleObject83.bin"/><Relationship Id="rId5" Type="http://schemas.openxmlformats.org/officeDocument/2006/relationships/tags" Target="../tags/tag148.xml"/><Relationship Id="rId4" Type="http://schemas.openxmlformats.org/officeDocument/2006/relationships/image" Target="../media/image77.wmf"/><Relationship Id="rId3" Type="http://schemas.openxmlformats.org/officeDocument/2006/relationships/oleObject" Target="../embeddings/oleObject82.bin"/><Relationship Id="rId2" Type="http://schemas.openxmlformats.org/officeDocument/2006/relationships/tags" Target="../tags/tag147.xml"/><Relationship Id="rId14" Type="http://schemas.openxmlformats.org/officeDocument/2006/relationships/vmlDrawing" Target="../drawings/vmlDrawing20.vml"/><Relationship Id="rId13" Type="http://schemas.openxmlformats.org/officeDocument/2006/relationships/slideLayout" Target="../slideLayouts/slideLayout1.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image" Target="../media/image79.wmf"/><Relationship Id="rId1" Type="http://schemas.openxmlformats.org/officeDocument/2006/relationships/tags" Target="../tags/tag14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2.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0.png"/><Relationship Id="rId2" Type="http://schemas.openxmlformats.org/officeDocument/2006/relationships/tags" Target="../tags/tag154.xml"/><Relationship Id="rId1" Type="http://schemas.openxmlformats.org/officeDocument/2006/relationships/tags" Target="../tags/tag153.xml"/></Relationships>
</file>

<file path=ppt/slides/_rels/slide41.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image" Target="../media/image82.wmf"/><Relationship Id="rId6" Type="http://schemas.openxmlformats.org/officeDocument/2006/relationships/oleObject" Target="../embeddings/oleObject86.bin"/><Relationship Id="rId5" Type="http://schemas.openxmlformats.org/officeDocument/2006/relationships/tags" Target="../tags/tag157.xml"/><Relationship Id="rId4" Type="http://schemas.openxmlformats.org/officeDocument/2006/relationships/image" Target="../media/image81.wmf"/><Relationship Id="rId3" Type="http://schemas.openxmlformats.org/officeDocument/2006/relationships/oleObject" Target="../embeddings/oleObject85.bin"/><Relationship Id="rId2" Type="http://schemas.openxmlformats.org/officeDocument/2006/relationships/tags" Target="../tags/tag156.xml"/><Relationship Id="rId11" Type="http://schemas.openxmlformats.org/officeDocument/2006/relationships/vmlDrawing" Target="../drawings/vmlDrawing21.vml"/><Relationship Id="rId10" Type="http://schemas.openxmlformats.org/officeDocument/2006/relationships/slideLayout" Target="../slideLayouts/slideLayout1.xml"/><Relationship Id="rId1" Type="http://schemas.openxmlformats.org/officeDocument/2006/relationships/tags" Target="../tags/tag155.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0.xml"/></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22.vml"/><Relationship Id="rId6" Type="http://schemas.openxmlformats.org/officeDocument/2006/relationships/slideLayout" Target="../slideLayouts/slideLayout1.xml"/><Relationship Id="rId5" Type="http://schemas.openxmlformats.org/officeDocument/2006/relationships/tags" Target="../tags/tag163.xml"/><Relationship Id="rId4" Type="http://schemas.openxmlformats.org/officeDocument/2006/relationships/image" Target="../media/image83.wmf"/><Relationship Id="rId3" Type="http://schemas.openxmlformats.org/officeDocument/2006/relationships/oleObject" Target="../embeddings/oleObject87.bin"/><Relationship Id="rId2" Type="http://schemas.openxmlformats.org/officeDocument/2006/relationships/tags" Target="../tags/tag162.xml"/><Relationship Id="rId1" Type="http://schemas.openxmlformats.org/officeDocument/2006/relationships/tags" Target="../tags/tag161.xml"/></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90.bin"/><Relationship Id="rId8" Type="http://schemas.openxmlformats.org/officeDocument/2006/relationships/tags" Target="../tags/tag167.xml"/><Relationship Id="rId7" Type="http://schemas.openxmlformats.org/officeDocument/2006/relationships/image" Target="../media/image85.wmf"/><Relationship Id="rId6" Type="http://schemas.openxmlformats.org/officeDocument/2006/relationships/oleObject" Target="../embeddings/oleObject89.bin"/><Relationship Id="rId5" Type="http://schemas.openxmlformats.org/officeDocument/2006/relationships/tags" Target="../tags/tag166.xml"/><Relationship Id="rId4" Type="http://schemas.openxmlformats.org/officeDocument/2006/relationships/image" Target="../media/image84.wmf"/><Relationship Id="rId3" Type="http://schemas.openxmlformats.org/officeDocument/2006/relationships/oleObject" Target="../embeddings/oleObject88.bin"/><Relationship Id="rId2" Type="http://schemas.openxmlformats.org/officeDocument/2006/relationships/tags" Target="../tags/tag165.xml"/><Relationship Id="rId14" Type="http://schemas.openxmlformats.org/officeDocument/2006/relationships/vmlDrawing" Target="../drawings/vmlDrawing23.vml"/><Relationship Id="rId13" Type="http://schemas.openxmlformats.org/officeDocument/2006/relationships/slideLayout" Target="../slideLayouts/slideLayout1.xml"/><Relationship Id="rId12" Type="http://schemas.openxmlformats.org/officeDocument/2006/relationships/image" Target="../media/image86.wmf"/><Relationship Id="rId11" Type="http://schemas.openxmlformats.org/officeDocument/2006/relationships/oleObject" Target="../embeddings/oleObject91.bin"/><Relationship Id="rId10" Type="http://schemas.openxmlformats.org/officeDocument/2006/relationships/tags" Target="../tags/tag168.xml"/><Relationship Id="rId1" Type="http://schemas.openxmlformats.org/officeDocument/2006/relationships/tags" Target="../tags/tag16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0.xml"/><Relationship Id="rId1" Type="http://schemas.openxmlformats.org/officeDocument/2006/relationships/tags" Target="../tags/tag16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245235" y="1878965"/>
            <a:ext cx="9144000" cy="586740"/>
          </a:xfrm>
        </p:spPr>
        <p:txBody>
          <a:bodyPr>
            <a:normAutofit fontScale="90000"/>
          </a:bodyPr>
          <a:p>
            <a:r>
              <a:rPr lang="zh-CN" altLang="en-US" sz="4800" b="1">
                <a:latin typeface="微软雅黑" panose="020B0503020204020204" pitchFamily="34" charset="-122"/>
                <a:ea typeface="微软雅黑" panose="020B0503020204020204" pitchFamily="34" charset="-122"/>
                <a:cs typeface="微软雅黑" panose="020B0503020204020204" pitchFamily="34" charset="-122"/>
              </a:rPr>
              <a:t>第八章</a:t>
            </a:r>
            <a:r>
              <a:rPr lang="en-US" altLang="zh-CN" sz="48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a:latin typeface="微软雅黑" panose="020B0503020204020204" pitchFamily="34" charset="-122"/>
                <a:ea typeface="微软雅黑" panose="020B0503020204020204" pitchFamily="34" charset="-122"/>
                <a:cs typeface="微软雅黑" panose="020B0503020204020204" pitchFamily="34" charset="-122"/>
              </a:rPr>
              <a:t>四足机器人稳定性判定方法</a:t>
            </a:r>
            <a:endParaRPr lang="zh-CN" altLang="en-US" sz="48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副标题 2"/>
          <p:cNvSpPr>
            <a:spLocks noGrp="1"/>
          </p:cNvSpPr>
          <p:nvPr>
            <p:ph type="subTitle" idx="1"/>
          </p:nvPr>
        </p:nvSpPr>
        <p:spPr/>
        <p:txBody>
          <a:bodyPr>
            <a:normAutofit lnSpcReduction="20000"/>
          </a:bodyPr>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8.2 </a:t>
            </a:r>
            <a:r>
              <a:rPr lang="zh-CN" altLang="en-US" b="1">
                <a:latin typeface="微软雅黑" panose="020B0503020204020204" pitchFamily="34" charset="-122"/>
                <a:ea typeface="微软雅黑" panose="020B0503020204020204" pitchFamily="34" charset="-122"/>
                <a:cs typeface="微软雅黑" panose="020B0503020204020204" pitchFamily="34" charset="-122"/>
              </a:rPr>
              <a:t>四足机器人稳定性基本概念</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8.4</a:t>
            </a:r>
            <a:r>
              <a:rPr lang="zh-CN" altLang="en-US" b="1">
                <a:latin typeface="微软雅黑" panose="020B0503020204020204" pitchFamily="34" charset="-122"/>
                <a:ea typeface="微软雅黑" panose="020B0503020204020204" pitchFamily="34" charset="-122"/>
                <a:cs typeface="微软雅黑" panose="020B0503020204020204" pitchFamily="34" charset="-122"/>
              </a:rPr>
              <a:t>动态稳定性判定方法</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262380" y="1305560"/>
            <a:ext cx="9279255" cy="3469005"/>
          </a:xfrm>
          <a:prstGeom prst="rect">
            <a:avLst/>
          </a:prstGeom>
          <a:noFill/>
        </p:spPr>
        <p:txBody>
          <a:bodyPr wrap="square" rtlCol="0">
            <a:noAutofit/>
          </a:bodyPr>
          <a:p>
            <a:pPr marL="457200" lvl="1" indent="609600" fontAlgn="auto">
              <a:lnSpc>
                <a:spcPct val="120000"/>
              </a:lnSpc>
              <a:extLst>
                <a:ext uri="{35155182-B16C-46BC-9424-99874614C6A1}">
                  <wpsdc:indentchars xmlns:wpsdc="http://www.wps.cn/officeDocument/2017/drawingmlCustomData" val="200" checksum="4158780845"/>
                </a:ext>
              </a:extLst>
            </a:pPr>
            <a:r>
              <a:rPr lang="zh-CN" altLang="zh-CN" sz="24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在四足机器人的运动控制中，需要考虑机器人运动过程中的稳定性。当机器人在静态行走和奔跑时，为了防止身体失稳，出现跌倒或者倾覆，甚至机器人损坏，必须考虑机器人的稳定性控制问题。为了保证机器人运动的稳定性，首先要考虑衡量机器人稳定性的准则或者机器人稳定性的判定方法，在机器人运动控制中，融合机器人的稳定性判定准则或者腿部力的优化分配方法，可以提高机器人的运动稳定性和抗扰动冲击能力。因此，本章主要讲解四足机器人稳定性判定方法，为后续机器人的稳定运动控制提供较好的理论基础。</a:t>
            </a:r>
            <a:endParaRPr lang="zh-CN" altLang="zh-CN" sz="24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20000"/>
              </a:lnSpc>
            </a:pPr>
            <a:endPar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custDataLst>
              <p:tags r:id="rId1"/>
            </p:custDataLst>
          </p:nvPr>
        </p:nvSpPr>
        <p:spPr>
          <a:xfrm>
            <a:off x="1262380" y="1694180"/>
            <a:ext cx="9279255" cy="3469005"/>
          </a:xfrm>
          <a:prstGeom prst="rect">
            <a:avLst/>
          </a:prstGeom>
          <a:noFill/>
        </p:spPr>
        <p:txBody>
          <a:bodyPr wrap="square" rtlCol="0">
            <a:noAutofit/>
          </a:bodyPr>
          <a:p>
            <a:pPr marL="457200" lvl="1" indent="609600" fontAlgn="auto">
              <a:lnSpc>
                <a:spcPct val="120000"/>
              </a:lnSpc>
              <a:extLst>
                <a:ext uri="{35155182-B16C-46BC-9424-99874614C6A1}">
                  <wpsdc:indentchars xmlns:wpsdc="http://www.wps.cn/officeDocument/2017/drawingmlCustomData" val="200" checksum="4158780845"/>
                </a:ext>
              </a:extLst>
            </a:pPr>
            <a:r>
              <a:rPr lang="zh-CN" altLang="zh-CN" sz="24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机器人的稳定性与机器人的步态密切相关，机器人的步态与机器人能量消耗也有较大的关系，当四足机器人的步态从静态行走转化为慢跑再转化为飞奔的过程中，一般遵循的原则是消耗的能量最小。即当四足机器人的运动速度逐渐增加时，为了使得消耗的能量最小，必须根据速度的不同选择不同的步态。为了减小运动中的能量消耗，随着四足机器人运动速度的提高，除步态需要发生变化之外，其运动参数也需要变化，一般情况下，机器人运动速度越快，身体躯干中心越低，步长越大。</a:t>
            </a:r>
            <a:endParaRPr lang="zh-CN" altLang="zh-CN" sz="24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2"/>
            </p:custDataLst>
          </p:nvPr>
        </p:nvSpPr>
        <p:spPr>
          <a:xfrm>
            <a:off x="1158875" y="1136650"/>
            <a:ext cx="9864090" cy="2306955"/>
          </a:xfrm>
          <a:prstGeom prst="rect">
            <a:avLst/>
          </a:prstGeom>
          <a:noFill/>
        </p:spPr>
        <p:txBody>
          <a:bodyPr wrap="square">
            <a:spAutoFit/>
          </a:bodyPr>
          <a:p>
            <a:pPr marR="0" indent="457200" defTabSz="914400" fontAlgn="auto">
              <a:buClrTx/>
              <a:buSzTx/>
              <a:buFontTx/>
              <a:buNone/>
              <a:defRPr/>
            </a:pPr>
            <a:r>
              <a:rPr kumimoji="1" lang="zh-CN" altLang="en-US" sz="2400" b="1" kern="1200" cap="none" spc="0" normalizeH="0" baseline="0" noProof="0" dirty="0">
                <a:effectLst>
                  <a:outerShdw blurRad="38100" dist="38100" dir="2700000" algn="tl">
                    <a:srgbClr val="000000"/>
                  </a:outerShdw>
                </a:effectLst>
                <a:latin typeface="+mn-ea"/>
                <a:ea typeface="+mn-ea"/>
                <a:cs typeface="+mn-cs"/>
              </a:rPr>
              <a:t>    </a:t>
            </a:r>
            <a:r>
              <a:rPr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当四足机器人的步态从静态行走到慢跑然后到飞奔的步态转化过程中，一般遵循的原则是消耗的能量最小。即当四足机器人的运动速度逐渐增加时，为了使得消耗的能量最优，必须根据速度的不同选择不同的步态。为了减少运动中的能量消耗，随着四足机器人运动速度的提高，除了步态需要发生变化之外，其运动参数也需要相应的变化，一般情况下，机器人运动速度越快，身体躯干中心越低，步长越大。</a:t>
            </a:r>
            <a:endParaRPr kumimoji="0" lang="zh-CN" altLang="en-US" sz="2400" kern="1200" cap="none" spc="0" normalizeH="0" baseline="0" noProof="0" dirty="0">
              <a:latin typeface="+mn-ea"/>
              <a:ea typeface="+mn-ea"/>
              <a:cs typeface="+mn-cs"/>
            </a:endParaRPr>
          </a:p>
        </p:txBody>
      </p:sp>
      <p:pic>
        <p:nvPicPr>
          <p:cNvPr id="7171" name="图片 3"/>
          <p:cNvPicPr>
            <a:picLocks noChangeAspect="1"/>
          </p:cNvPicPr>
          <p:nvPr>
            <p:custDataLst>
              <p:tags r:id="rId3"/>
            </p:custDataLst>
          </p:nvPr>
        </p:nvPicPr>
        <p:blipFill>
          <a:blip r:embed="rId4"/>
          <a:stretch>
            <a:fillRect/>
          </a:stretch>
        </p:blipFill>
        <p:spPr>
          <a:xfrm>
            <a:off x="4695825" y="3567430"/>
            <a:ext cx="3375025" cy="29337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016000" y="1205865"/>
            <a:ext cx="9484360" cy="829945"/>
          </a:xfrm>
          <a:prstGeom prst="rect">
            <a:avLst/>
          </a:prstGeom>
          <a:noFill/>
          <a:ln w="9525">
            <a:noFill/>
          </a:ln>
        </p:spPr>
        <p:txBody>
          <a:bodyPr wrap="square">
            <a:spAutoFit/>
          </a:bodyPr>
          <a:p>
            <a:pPr indent="609600" fontAlgn="auto">
              <a:extLst>
                <a:ext uri="{35155182-B16C-46BC-9424-99874614C6A1}">
                  <wpsdc:indentchars xmlns:wpsdc="http://www.wps.cn/officeDocument/2017/drawingmlCustomData" val="200" checksum="4158780845"/>
                </a:ext>
              </a:extLst>
            </a:pPr>
            <a:r>
              <a:rPr lang="zh-CN" sz="2400" b="1">
                <a:latin typeface="微软雅黑" panose="020B0503020204020204" pitchFamily="34" charset="-122"/>
                <a:ea typeface="微软雅黑" panose="020B0503020204020204" pitchFamily="34" charset="-122"/>
                <a:cs typeface="微软雅黑" panose="020B0503020204020204" pitchFamily="34" charset="-122"/>
              </a:rPr>
              <a:t>一般情况下，可以用弗劳德</a:t>
            </a:r>
            <a:r>
              <a:rPr lang="en-US" sz="2400" b="1">
                <a:latin typeface="微软雅黑" panose="020B0503020204020204" pitchFamily="34" charset="-122"/>
                <a:ea typeface="微软雅黑" panose="020B0503020204020204" pitchFamily="34" charset="-122"/>
                <a:cs typeface="微软雅黑" panose="020B0503020204020204" pitchFamily="34" charset="-122"/>
              </a:rPr>
              <a:t>(Froude)</a:t>
            </a:r>
            <a:r>
              <a:rPr lang="zh-CN" sz="2400" b="1">
                <a:latin typeface="微软雅黑" panose="020B0503020204020204" pitchFamily="34" charset="-122"/>
                <a:ea typeface="微软雅黑" panose="020B0503020204020204" pitchFamily="34" charset="-122"/>
                <a:cs typeface="微软雅黑" panose="020B0503020204020204" pitchFamily="34" charset="-122"/>
              </a:rPr>
              <a:t>数来比较不同生物的步态。不同种类的四足动物在相同的步态下运动速度不同，其定义形式如下：</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p:nvPr/>
        </p:nvPicPr>
        <p:blipFill>
          <a:blip r:embed="rId2"/>
          <a:stretch>
            <a:fillRect/>
          </a:stretch>
        </p:blipFill>
        <p:spPr>
          <a:xfrm>
            <a:off x="4735195" y="2505710"/>
            <a:ext cx="866775" cy="923290"/>
          </a:xfrm>
          <a:prstGeom prst="rect">
            <a:avLst/>
          </a:prstGeom>
          <a:noFill/>
          <a:ln w="9525">
            <a:noFill/>
          </a:ln>
        </p:spPr>
      </p:pic>
      <p:sp>
        <p:nvSpPr>
          <p:cNvPr id="7" name="文本框 6"/>
          <p:cNvSpPr txBox="1"/>
          <p:nvPr/>
        </p:nvSpPr>
        <p:spPr>
          <a:xfrm>
            <a:off x="3173730" y="2736850"/>
            <a:ext cx="1473200" cy="460375"/>
          </a:xfrm>
          <a:prstGeom prst="rect">
            <a:avLst/>
          </a:prstGeom>
          <a:noFill/>
        </p:spPr>
        <p:txBody>
          <a:bodyPr wrap="square" rtlCol="0">
            <a:spAutoFit/>
          </a:bodyPr>
          <a:p>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弗劳德数</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nvSpPr>
        <p:spPr>
          <a:xfrm>
            <a:off x="1153795" y="4080510"/>
            <a:ext cx="9345930" cy="2306955"/>
          </a:xfrm>
          <a:prstGeom prst="rect">
            <a:avLst/>
          </a:prstGeom>
          <a:noFill/>
        </p:spPr>
        <p:txBody>
          <a:bodyPr wrap="square" rtlCol="0">
            <a:spAutoFit/>
          </a:bodyPr>
          <a:p>
            <a:pPr indent="457200" fontAlgn="auto"/>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rPr>
              <a:t>u</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表示动物的运动速度，</a:t>
            </a:r>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表示重力加速度，</a:t>
            </a:r>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表示身体躯干中心与地面的距离，对于四足动物来说，当弗劳德数为0.5左右时，运动步态一般从静步态转换成动步态，当弗劳德数为2.5左右时，运动步态从动步态转换成飞奔步态。例如，一般情况下，狗从动步态转换成飞奔步态的速度为，而骆驼的转换速度为，但是，考虑两者腿的长度不同，其弗劳德数一样，均为2.5 。</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8518525" y="2828290"/>
            <a:ext cx="1065530"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8.1</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文本框 103"/>
          <p:cNvSpPr txBox="1"/>
          <p:nvPr/>
        </p:nvSpPr>
        <p:spPr>
          <a:xfrm>
            <a:off x="1367155" y="1351915"/>
            <a:ext cx="9655810" cy="4892675"/>
          </a:xfrm>
          <a:prstGeom prst="rect">
            <a:avLst/>
          </a:prstGeom>
          <a:noFill/>
          <a:ln w="9525">
            <a:noFill/>
          </a:ln>
        </p:spPr>
        <p:txBody>
          <a:bodyPr wrap="square">
            <a:spAutoFit/>
          </a:bodyPr>
          <a:p>
            <a:pPr indent="457200" fontAlgn="auto"/>
            <a:r>
              <a:rPr lang="zh-CN" sz="2400" b="1">
                <a:latin typeface="微软雅黑" panose="020B0503020204020204" pitchFamily="34" charset="-122"/>
                <a:ea typeface="微软雅黑" panose="020B0503020204020204" pitchFamily="34" charset="-122"/>
              </a:rPr>
              <a:t>因此，如果四足机器人的运动与四足动物的运动类似，为了使其能耗最优，当弗劳德数达到临界状态时，四足机器人的运动步态必须随之改变，也就是说，可以根据四足动物的运动步态来构造四足机器人的步态，以实现运动过程中的最优能耗，从而可以用弗劳德数作为判定四足机器人步态变换的一个参考依据。</a:t>
            </a:r>
            <a:endParaRPr lang="zh-CN" sz="2400" b="1">
              <a:latin typeface="微软雅黑" panose="020B0503020204020204" pitchFamily="34" charset="-122"/>
              <a:ea typeface="微软雅黑" panose="020B0503020204020204" pitchFamily="34" charset="-122"/>
            </a:endParaRPr>
          </a:p>
          <a:p>
            <a:pPr indent="457200" fontAlgn="auto"/>
            <a:r>
              <a:rPr lang="en-US" altLang="zh-CN" sz="2400" b="1">
                <a:latin typeface="微软雅黑" panose="020B0503020204020204" pitchFamily="34" charset="-122"/>
                <a:ea typeface="微软雅黑" panose="020B0503020204020204" pitchFamily="34" charset="-122"/>
              </a:rPr>
              <a:t>    </a:t>
            </a:r>
            <a:r>
              <a:rPr lang="zh-CN" sz="2400" b="1">
                <a:latin typeface="微软雅黑" panose="020B0503020204020204" pitchFamily="34" charset="-122"/>
                <a:ea typeface="微软雅黑" panose="020B0503020204020204" pitchFamily="34" charset="-122"/>
              </a:rPr>
              <a:t>为了取得从低速到高速的平滑协调运动，步态之间需要能够连续平稳切换。从爬行步态到对角小跑步态和单侧步态的人工智能切换方法已在四足机器人平台上开展实验。</a:t>
            </a:r>
            <a:endParaRPr lang="zh-CN" sz="2400" b="1">
              <a:latin typeface="微软雅黑" panose="020B0503020204020204" pitchFamily="34" charset="-122"/>
              <a:ea typeface="微软雅黑" panose="020B0503020204020204" pitchFamily="34" charset="-122"/>
            </a:endParaRPr>
          </a:p>
          <a:p>
            <a:pPr indent="457200" fontAlgn="auto"/>
            <a:r>
              <a:rPr lang="zh-CN" altLang="en-US" sz="2400" b="1">
                <a:latin typeface="微软雅黑" panose="020B0503020204020204" pitchFamily="34" charset="-122"/>
                <a:ea typeface="微软雅黑" panose="020B0503020204020204" pitchFamily="34" charset="-122"/>
              </a:rPr>
              <a:t>动物步态的改变不仅与速度变化有关，还与动物的负重有关，对于马这种四足动物来说，其负重较多与不负重时的步态变换条件是不一样的。多种不同四足动物的负重与步态速度、步态频率、能量消耗的关系如表8.1所示。从表中可以看出，在不同的速度下，步态速度、步态频率、能量消耗和体重的关系由参数</a:t>
            </a:r>
            <a:r>
              <a:rPr lang="en-US" altLang="zh-CN" sz="2400" b="1" i="1">
                <a:latin typeface="微软雅黑" panose="020B0503020204020204" pitchFamily="34" charset="-122"/>
                <a:ea typeface="微软雅黑" panose="020B0503020204020204" pitchFamily="34" charset="-122"/>
              </a:rPr>
              <a:t>a</a:t>
            </a:r>
            <a:r>
              <a:rPr lang="zh-CN" altLang="en-US"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b</a:t>
            </a:r>
            <a:r>
              <a:rPr lang="zh-CN" altLang="en-US" sz="2400" b="1">
                <a:latin typeface="微软雅黑" panose="020B0503020204020204" pitchFamily="34" charset="-122"/>
                <a:ea typeface="微软雅黑" panose="020B0503020204020204" pitchFamily="34" charset="-122"/>
              </a:rPr>
              <a:t>共同决定。</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custDataLst>
              <p:tags r:id="rId1"/>
            </p:custDataLst>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文本框 103"/>
          <p:cNvSpPr txBox="1"/>
          <p:nvPr/>
        </p:nvSpPr>
        <p:spPr>
          <a:xfrm>
            <a:off x="1567815" y="1182370"/>
            <a:ext cx="8898890" cy="3060700"/>
          </a:xfrm>
          <a:prstGeom prst="rect">
            <a:avLst/>
          </a:prstGeom>
          <a:noFill/>
          <a:ln w="9525">
            <a:noFill/>
          </a:ln>
        </p:spPr>
        <p:txBody>
          <a:bodyPr>
            <a:noAutofit/>
          </a:bodyPr>
          <a:p>
            <a:pPr indent="0" algn="ctr"/>
            <a:r>
              <a:rPr lang="zh-CN" b="1">
                <a:latin typeface="微软雅黑" panose="020B0503020204020204" pitchFamily="34" charset="-122"/>
                <a:ea typeface="微软雅黑" panose="020B0503020204020204" pitchFamily="34" charset="-122"/>
                <a:cs typeface="微软雅黑" panose="020B0503020204020204" pitchFamily="34" charset="-122"/>
              </a:rPr>
              <a:t>表</a:t>
            </a:r>
            <a:r>
              <a:rPr lang="en-US" b="1">
                <a:latin typeface="微软雅黑" panose="020B0503020204020204" pitchFamily="34" charset="-122"/>
                <a:ea typeface="微软雅黑" panose="020B0503020204020204" pitchFamily="34" charset="-122"/>
                <a:cs typeface="微软雅黑" panose="020B0503020204020204" pitchFamily="34" charset="-122"/>
              </a:rPr>
              <a:t>8.1  </a:t>
            </a:r>
            <a:r>
              <a:rPr lang="zh-CN" b="1">
                <a:latin typeface="微软雅黑" panose="020B0503020204020204" pitchFamily="34" charset="-122"/>
                <a:ea typeface="微软雅黑" panose="020B0503020204020204" pitchFamily="34" charset="-122"/>
                <a:cs typeface="微软雅黑" panose="020B0503020204020204" pitchFamily="34" charset="-122"/>
              </a:rPr>
              <a:t>步态速度、步态频率、能量消耗与负重之间的关系</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p:nvPr>
            <p:custDataLst>
              <p:tags r:id="rId2"/>
            </p:custDataLst>
          </p:nvPr>
        </p:nvGraphicFramePr>
        <p:xfrm>
          <a:off x="1513840" y="1638935"/>
          <a:ext cx="9142095" cy="4219575"/>
        </p:xfrm>
        <a:graphic>
          <a:graphicData uri="http://schemas.openxmlformats.org/drawingml/2006/table">
            <a:tbl>
              <a:tblPr/>
              <a:tblGrid>
                <a:gridCol w="1744345"/>
                <a:gridCol w="1325880"/>
                <a:gridCol w="1228090"/>
                <a:gridCol w="1156970"/>
                <a:gridCol w="1061720"/>
                <a:gridCol w="1156970"/>
                <a:gridCol w="1468120"/>
              </a:tblGrid>
              <a:tr h="843915">
                <a:tc rowSpan="2">
                  <a:txBody>
                    <a:bodyPr/>
                    <a:p>
                      <a:pPr indent="0" algn="ctr">
                        <a:buNone/>
                      </a:pPr>
                      <a:r>
                        <a:rPr lang="en-US" sz="1600" b="1">
                          <a:latin typeface="微软雅黑" panose="020B0503020204020204" pitchFamily="34" charset="-122"/>
                          <a:ea typeface="微软雅黑" panose="020B0503020204020204" pitchFamily="34" charset="-122"/>
                          <a:cs typeface="Arial" panose="020B0604020202020204" pitchFamily="34" charset="0"/>
                        </a:rPr>
                        <a:t>等价速度</a:t>
                      </a:r>
                      <a:endParaRPr lang="en-US" altLang="en-US" sz="1600" b="1">
                        <a:latin typeface="微软雅黑" panose="020B0503020204020204" pitchFamily="34" charset="-122"/>
                        <a:ea typeface="微软雅黑" panose="020B0503020204020204" pitchFamily="34"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buNone/>
                      </a:pPr>
                      <a:r>
                        <a:rPr lang="en-US" sz="1600" b="1">
                          <a:latin typeface="微软雅黑" panose="020B0503020204020204" pitchFamily="34" charset="-122"/>
                          <a:ea typeface="微软雅黑" panose="020B0503020204020204" pitchFamily="34" charset="-122"/>
                          <a:cs typeface="Arial" panose="020B0604020202020204" pitchFamily="34" charset="0"/>
                        </a:rPr>
                        <a:t>步态速度与</a:t>
                      </a:r>
                      <a:r>
                        <a:rPr lang="en-US" sz="1600" b="1">
                          <a:latin typeface="微软雅黑" panose="020B0503020204020204" pitchFamily="34" charset="-122"/>
                          <a:ea typeface="微软雅黑" panose="020B0503020204020204" pitchFamily="34" charset="-122"/>
                          <a:cs typeface="黑体" panose="02010609060101010101" charset="-122"/>
                        </a:rPr>
                        <a:t>负</a:t>
                      </a:r>
                      <a:r>
                        <a:rPr lang="en-US" sz="1600" b="1">
                          <a:latin typeface="微软雅黑" panose="020B0503020204020204" pitchFamily="34" charset="-122"/>
                          <a:ea typeface="微软雅黑" panose="020B0503020204020204" pitchFamily="34" charset="-122"/>
                          <a:cs typeface="Arial" panose="020B0604020202020204" pitchFamily="34" charset="0"/>
                        </a:rPr>
                        <a:t>重之间的关系</a:t>
                      </a:r>
                      <a:endParaRPr lang="en-US" altLang="en-US" sz="1600" b="1">
                        <a:latin typeface="微软雅黑" panose="020B0503020204020204" pitchFamily="34" charset="-122"/>
                        <a:ea typeface="微软雅黑" panose="020B0503020204020204" pitchFamily="34"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indent="0" algn="ctr">
                        <a:buNone/>
                      </a:pPr>
                      <a:r>
                        <a:rPr lang="en-US" sz="1600" b="1">
                          <a:latin typeface="微软雅黑" panose="020B0503020204020204" pitchFamily="34" charset="-122"/>
                          <a:ea typeface="微软雅黑" panose="020B0503020204020204" pitchFamily="34" charset="-122"/>
                          <a:cs typeface="Arial" panose="020B0604020202020204" pitchFamily="34" charset="0"/>
                        </a:rPr>
                        <a:t>步态频率与</a:t>
                      </a:r>
                      <a:r>
                        <a:rPr lang="en-US" sz="1600" b="1">
                          <a:latin typeface="微软雅黑" panose="020B0503020204020204" pitchFamily="34" charset="-122"/>
                          <a:ea typeface="微软雅黑" panose="020B0503020204020204" pitchFamily="34" charset="-122"/>
                          <a:cs typeface="黑体" panose="02010609060101010101" charset="-122"/>
                        </a:rPr>
                        <a:t>负</a:t>
                      </a:r>
                      <a:r>
                        <a:rPr lang="en-US" sz="1600" b="1">
                          <a:latin typeface="微软雅黑" panose="020B0503020204020204" pitchFamily="34" charset="-122"/>
                          <a:ea typeface="微软雅黑" panose="020B0503020204020204" pitchFamily="34" charset="-122"/>
                          <a:cs typeface="Arial" panose="020B0604020202020204" pitchFamily="34" charset="0"/>
                        </a:rPr>
                        <a:t>重之间的关系</a:t>
                      </a:r>
                      <a:endParaRPr lang="en-US" altLang="en-US" sz="1600" b="1">
                        <a:latin typeface="微软雅黑" panose="020B0503020204020204" pitchFamily="34" charset="-122"/>
                        <a:ea typeface="微软雅黑" panose="020B0503020204020204" pitchFamily="34"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p>
                      <a:pPr indent="0" algn="ctr">
                        <a:buNone/>
                      </a:pPr>
                      <a:r>
                        <a:rPr lang="en-US" sz="1600" b="1">
                          <a:latin typeface="微软雅黑" panose="020B0503020204020204" pitchFamily="34" charset="-122"/>
                          <a:ea typeface="微软雅黑" panose="020B0503020204020204" pitchFamily="34" charset="-122"/>
                          <a:cs typeface="Arial" panose="020B0604020202020204" pitchFamily="34" charset="0"/>
                        </a:rPr>
                        <a:t>能量消耗与</a:t>
                      </a:r>
                      <a:r>
                        <a:rPr lang="en-US" sz="1600" b="1">
                          <a:latin typeface="微软雅黑" panose="020B0503020204020204" pitchFamily="34" charset="-122"/>
                          <a:ea typeface="微软雅黑" panose="020B0503020204020204" pitchFamily="34" charset="-122"/>
                          <a:cs typeface="黑体" panose="02010609060101010101" charset="-122"/>
                        </a:rPr>
                        <a:t>负</a:t>
                      </a:r>
                      <a:r>
                        <a:rPr lang="en-US" sz="1600" b="1">
                          <a:latin typeface="微软雅黑" panose="020B0503020204020204" pitchFamily="34" charset="-122"/>
                          <a:ea typeface="微软雅黑" panose="020B0503020204020204" pitchFamily="34" charset="-122"/>
                          <a:cs typeface="Arial" panose="020B0604020202020204" pitchFamily="34" charset="0"/>
                        </a:rPr>
                        <a:t>重之间的关系</a:t>
                      </a:r>
                      <a:endParaRPr lang="en-US" altLang="en-US" sz="1600" b="1">
                        <a:latin typeface="微软雅黑" panose="020B0503020204020204" pitchFamily="34" charset="-122"/>
                        <a:ea typeface="微软雅黑" panose="020B0503020204020204" pitchFamily="34" charset="-122"/>
                        <a:cs typeface="Arial" panose="020B0604020202020204" pitchFamily="34"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84391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系数</a:t>
                      </a:r>
                      <a:r>
                        <a:rPr lang="en-US" sz="1800" b="1" i="1">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1800" b="1" i="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43915">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最优小跑速度</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1.09</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0.222</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3.35</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Symbol" panose="05050102010706020507" charset="0"/>
                        </a:rPr>
                        <a:t>-</a:t>
                      </a:r>
                      <a:r>
                        <a:rPr lang="en-US" sz="1600" b="1">
                          <a:latin typeface="微软雅黑" panose="020B0503020204020204" pitchFamily="34" charset="-122"/>
                          <a:ea typeface="微软雅黑" panose="020B0503020204020204" pitchFamily="34" charset="-122"/>
                          <a:cs typeface="宋体" panose="02010600030101010101" pitchFamily="2" charset="-122"/>
                        </a:rPr>
                        <a:t>0.130</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5.35</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Symbol" panose="05050102010706020507" charset="0"/>
                        </a:rPr>
                        <a:t>-</a:t>
                      </a:r>
                      <a:r>
                        <a:rPr lang="en-US" sz="1600" b="1">
                          <a:latin typeface="微软雅黑" panose="020B0503020204020204" pitchFamily="34" charset="-122"/>
                          <a:ea typeface="微软雅黑" panose="020B0503020204020204" pitchFamily="34" charset="-122"/>
                          <a:cs typeface="宋体" panose="02010600030101010101" pitchFamily="2" charset="-122"/>
                        </a:rPr>
                        <a:t>0.046</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43915">
                <a:tc>
                  <a:txBody>
                    <a:bodyPr/>
                    <a:p>
                      <a:pPr indent="0" algn="ctr">
                        <a:buNone/>
                      </a:pPr>
                      <a:r>
                        <a:rPr lang="en-US" sz="1600" b="1">
                          <a:latin typeface="微软雅黑" panose="020B0503020204020204" pitchFamily="34" charset="-122"/>
                          <a:ea typeface="微软雅黑" panose="020B0503020204020204" pitchFamily="34" charset="-122"/>
                          <a:cs typeface="微软雅黑" panose="020B0503020204020204" pitchFamily="34" charset="-122"/>
                        </a:rPr>
                        <a:t>小跑-奔跑步态</a:t>
                      </a:r>
                      <a:endParaRPr lang="en-US" altLang="en-US" sz="16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1.54</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0.216</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4.19</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Symbol" panose="05050102010706020507" charset="0"/>
                        </a:rPr>
                        <a:t>-</a:t>
                      </a:r>
                      <a:r>
                        <a:rPr lang="en-US" sz="1600" b="1">
                          <a:latin typeface="微软雅黑" panose="020B0503020204020204" pitchFamily="34" charset="-122"/>
                          <a:ea typeface="微软雅黑" panose="020B0503020204020204" pitchFamily="34" charset="-122"/>
                          <a:cs typeface="宋体" panose="02010600030101010101" pitchFamily="2" charset="-122"/>
                        </a:rPr>
                        <a:t>0.150</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5.39</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Symbol" panose="05050102010706020507" charset="0"/>
                        </a:rPr>
                        <a:t>-</a:t>
                      </a:r>
                      <a:r>
                        <a:rPr lang="en-US" sz="1600" b="1">
                          <a:latin typeface="微软雅黑" panose="020B0503020204020204" pitchFamily="34" charset="-122"/>
                          <a:ea typeface="微软雅黑" panose="020B0503020204020204" pitchFamily="34" charset="-122"/>
                          <a:cs typeface="宋体" panose="02010600030101010101" pitchFamily="2" charset="-122"/>
                        </a:rPr>
                        <a:t>0.011</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43915">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最优</a:t>
                      </a:r>
                      <a:r>
                        <a:rPr lang="en-US" sz="1600" b="1">
                          <a:latin typeface="微软雅黑" panose="020B0503020204020204" pitchFamily="34" charset="-122"/>
                          <a:ea typeface="微软雅黑" panose="020B0503020204020204" pitchFamily="34" charset="-122"/>
                          <a:cs typeface="Times New Roman" panose="02020603050405020304" pitchFamily="18" charset="0"/>
                        </a:rPr>
                        <a:t>奔跑</a:t>
                      </a:r>
                      <a:r>
                        <a:rPr lang="en-US" sz="1600" b="1">
                          <a:latin typeface="微软雅黑" panose="020B0503020204020204" pitchFamily="34" charset="-122"/>
                          <a:ea typeface="微软雅黑" panose="020B0503020204020204" pitchFamily="34" charset="-122"/>
                          <a:cs typeface="宋体" panose="02010600030101010101" pitchFamily="2" charset="-122"/>
                        </a:rPr>
                        <a:t>步态</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2.78</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0.176</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4.44</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Symbol" panose="05050102010706020507" charset="0"/>
                        </a:rPr>
                        <a:t>-</a:t>
                      </a:r>
                      <a:r>
                        <a:rPr lang="en-US" sz="1600" b="1">
                          <a:latin typeface="微软雅黑" panose="020B0503020204020204" pitchFamily="34" charset="-122"/>
                          <a:ea typeface="微软雅黑" panose="020B0503020204020204" pitchFamily="34" charset="-122"/>
                          <a:cs typeface="宋体" panose="02010600030101010101" pitchFamily="2" charset="-122"/>
                        </a:rPr>
                        <a:t>0.156</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7.21</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微软雅黑" panose="020B0503020204020204" pitchFamily="34" charset="-122"/>
                          <a:ea typeface="微软雅黑" panose="020B0503020204020204" pitchFamily="34" charset="-122"/>
                          <a:cs typeface="宋体" panose="02010600030101010101" pitchFamily="2" charset="-122"/>
                        </a:rPr>
                        <a:t>0.04</a:t>
                      </a:r>
                      <a:endParaRPr lang="en-US" altLang="en-US" sz="16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487170" y="1203325"/>
            <a:ext cx="9055100" cy="1568450"/>
          </a:xfrm>
          <a:prstGeom prst="rect">
            <a:avLst/>
          </a:prstGeom>
          <a:noFill/>
        </p:spPr>
        <p:txBody>
          <a:bodyPr wrap="square" rtlCol="0">
            <a:spAutoFit/>
          </a:bodyPr>
          <a:p>
            <a:pPr indent="457200"/>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多种四足动物的负重和步态速度、步态频率、能量消耗的关系为：</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indent="457200"/>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indent="457200"/>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	步态速度(步态频率、能量消耗)</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custDataLst>
              <p:tags r:id="rId2"/>
            </p:custDataLst>
          </p:nvPr>
        </p:nvSpPr>
        <p:spPr>
          <a:xfrm>
            <a:off x="864235" y="228600"/>
            <a:ext cx="442277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四足机器人步态选择策略</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2147482610"/>
          <p:cNvGraphicFramePr>
            <a:graphicFrameLocks noChangeAspect="1"/>
          </p:cNvGraphicFramePr>
          <p:nvPr>
            <p:custDataLst>
              <p:tags r:id="rId3"/>
            </p:custDataLst>
          </p:nvPr>
        </p:nvGraphicFramePr>
        <p:xfrm>
          <a:off x="6788785" y="2287905"/>
          <a:ext cx="1222375" cy="483870"/>
        </p:xfrm>
        <a:graphic>
          <a:graphicData uri="http://schemas.openxmlformats.org/presentationml/2006/ole">
            <mc:AlternateContent xmlns:mc="http://schemas.openxmlformats.org/markup-compatibility/2006">
              <mc:Choice xmlns:v="urn:schemas-microsoft-com:vml" Requires="v">
                <p:oleObj spid="_x0000_s3076" name="" r:id="rId4" imgW="545465" imgH="215900" progId="Equation.DSMT4">
                  <p:embed/>
                </p:oleObj>
              </mc:Choice>
              <mc:Fallback>
                <p:oleObj name="" r:id="rId4" imgW="545465" imgH="215900" progId="Equation.DSMT4">
                  <p:embed/>
                  <p:pic>
                    <p:nvPicPr>
                      <p:cNvPr id="0" name="图片 3075"/>
                      <p:cNvPicPr/>
                      <p:nvPr/>
                    </p:nvPicPr>
                    <p:blipFill>
                      <a:blip r:embed="rId5"/>
                      <a:stretch>
                        <a:fillRect/>
                      </a:stretch>
                    </p:blipFill>
                    <p:spPr>
                      <a:xfrm>
                        <a:off x="6788785" y="2287905"/>
                        <a:ext cx="1222375" cy="483870"/>
                      </a:xfrm>
                      <a:prstGeom prst="rect">
                        <a:avLst/>
                      </a:prstGeom>
                      <a:noFill/>
                      <a:ln w="38100">
                        <a:noFill/>
                        <a:miter/>
                      </a:ln>
                    </p:spPr>
                  </p:pic>
                </p:oleObj>
              </mc:Fallback>
            </mc:AlternateContent>
          </a:graphicData>
        </a:graphic>
      </p:graphicFrame>
      <p:sp>
        <p:nvSpPr>
          <p:cNvPr id="4" name="文本框 3"/>
          <p:cNvSpPr txBox="1"/>
          <p:nvPr/>
        </p:nvSpPr>
        <p:spPr>
          <a:xfrm>
            <a:off x="8906510" y="2287905"/>
            <a:ext cx="1383665"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8.2</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1487170" y="3145155"/>
            <a:ext cx="7861935"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为待定常数，</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为四足动物负重，单位为kg。</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 name="对象 -2147482607"/>
          <p:cNvGraphicFramePr>
            <a:graphicFrameLocks noChangeAspect="1"/>
          </p:cNvGraphicFramePr>
          <p:nvPr>
            <p:custDataLst>
              <p:tags r:id="rId6"/>
            </p:custDataLst>
          </p:nvPr>
        </p:nvGraphicFramePr>
        <p:xfrm>
          <a:off x="4773295" y="3145155"/>
          <a:ext cx="513715" cy="483235"/>
        </p:xfrm>
        <a:graphic>
          <a:graphicData uri="http://schemas.openxmlformats.org/presentationml/2006/ole">
            <mc:AlternateContent xmlns:mc="http://schemas.openxmlformats.org/markup-compatibility/2006">
              <mc:Choice xmlns:v="urn:schemas-microsoft-com:vml" Requires="v">
                <p:oleObj spid="_x0000_s8" name="" r:id="rId7" imgW="215900" imgH="203200" progId="Equation.DSMT4">
                  <p:embed/>
                </p:oleObj>
              </mc:Choice>
              <mc:Fallback>
                <p:oleObj name="" r:id="rId7" imgW="215900" imgH="203200" progId="Equation.DSMT4">
                  <p:embed/>
                  <p:pic>
                    <p:nvPicPr>
                      <p:cNvPr id="0" name="图片 6"/>
                      <p:cNvPicPr/>
                      <p:nvPr/>
                    </p:nvPicPr>
                    <p:blipFill>
                      <a:blip r:embed="rId8"/>
                      <a:stretch>
                        <a:fillRect/>
                      </a:stretch>
                    </p:blipFill>
                    <p:spPr>
                      <a:xfrm>
                        <a:off x="4773295" y="3145155"/>
                        <a:ext cx="513715" cy="483235"/>
                      </a:xfrm>
                      <a:prstGeom prst="rect">
                        <a:avLst/>
                      </a:prstGeom>
                      <a:noFill/>
                      <a:ln w="38100">
                        <a:noFill/>
                        <a:miter/>
                      </a:ln>
                    </p:spPr>
                  </p:pic>
                </p:oleObj>
              </mc:Fallback>
            </mc:AlternateContent>
          </a:graphicData>
        </a:graphic>
      </p:graphicFrame>
      <p:sp>
        <p:nvSpPr>
          <p:cNvPr id="104" name="文本框 103"/>
          <p:cNvSpPr txBox="1"/>
          <p:nvPr/>
        </p:nvSpPr>
        <p:spPr>
          <a:xfrm>
            <a:off x="1487170" y="3827145"/>
            <a:ext cx="8802370" cy="1938020"/>
          </a:xfrm>
          <a:prstGeom prst="rect">
            <a:avLst/>
          </a:prstGeom>
          <a:noFill/>
          <a:ln w="9525">
            <a:noFill/>
          </a:ln>
        </p:spPr>
        <p:txBody>
          <a:bodyPr wrap="square">
            <a:spAutoFit/>
          </a:bodyPr>
          <a:p>
            <a:pPr indent="269875" fontAlgn="auto">
              <a:lnSpc>
                <a:spcPct val="125000"/>
              </a:lnSpc>
            </a:pPr>
            <a:r>
              <a:rPr lang="zh-CN" sz="2400" b="1">
                <a:latin typeface="微软雅黑" panose="020B0503020204020204" pitchFamily="34" charset="-122"/>
                <a:ea typeface="微软雅黑" panose="020B0503020204020204" pitchFamily="34" charset="-122"/>
              </a:rPr>
              <a:t>综上，四足机器人步态选择与其稳定性的衡量密切相关，而步态选择策略与机器人的能量消耗和负重相关，上述理论结果为构造负重四足机器人的运动步态和步态频率提供了一定的理论支持，从而可以基于规定的运动步态来进行机器人稳定性的研究和判定。</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四足机器人稳定性基本概念</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Rectangle 10"/>
          <p:cNvSpPr>
            <a:spLocks noChangeArrowheads="1"/>
          </p:cNvSpPr>
          <p:nvPr>
            <p:custDataLst>
              <p:tags r:id="rId2"/>
            </p:custDataLst>
          </p:nvPr>
        </p:nvSpPr>
        <p:spPr bwMode="auto">
          <a:xfrm>
            <a:off x="662940" y="1560830"/>
            <a:ext cx="10279380" cy="3733800"/>
          </a:xfrm>
          <a:prstGeom prst="rect">
            <a:avLst/>
          </a:prstGeom>
          <a:solidFill>
            <a:schemeClr val="bg1"/>
          </a:solidFill>
          <a:ln>
            <a:noFill/>
          </a:ln>
          <a:effectLst/>
        </p:spPr>
        <p:txBody>
          <a:bodyPr wrap="square">
            <a:no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n-ea"/>
                <a:ea typeface="+mn-ea"/>
                <a:cs typeface="+mn-cs"/>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在四足机器人的行走步态中，根据运动速度的不同，分为静态行走和动态行走</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相应的稳定性判定方法分为静态稳定性和动态稳定性。为了保持四足机器人静态稳定性，只需要保证其质量中心在支撑多边形区域内部。因为四足机器人在动态运动过程中，一般情况下，至多只有两条腿与地面同时接触，不存在支撑多边形区域，也就无法定义动态稳定性。为了较好的描述机器人的稳定性概念，本节给出机器人基本稳定性判定参数的定义</a:t>
            </a:r>
            <a:r>
              <a:rPr kumimoji="1" lang="zh-CN" altLang="en-US"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稳定裕度</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654810" y="1054735"/>
            <a:ext cx="8305800" cy="230695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在机器人的研究中，支撑模式这个术语常用来代替支撑多边形。通过忽略身体和和腿部加速度所引起的惯性作用，我们可以保证如果质心（</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Center of Mass</a:t>
            </a:r>
            <a:r>
              <a:rPr kumimoji="1" lang="zh-CN" altLang="en-US"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en-US" altLang="zh-CN" sz="2400" b="1"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CoM</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）的投影在支撑模式内，那么机器人就可以保持平衡，如图所示。</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243" name="图片 3"/>
          <p:cNvPicPr>
            <a:picLocks noChangeAspect="1"/>
          </p:cNvPicPr>
          <p:nvPr>
            <p:custDataLst>
              <p:tags r:id="rId2"/>
            </p:custDataLst>
          </p:nvPr>
        </p:nvPicPr>
        <p:blipFill>
          <a:blip r:embed="rId3"/>
          <a:stretch>
            <a:fillRect/>
          </a:stretch>
        </p:blipFill>
        <p:spPr>
          <a:xfrm>
            <a:off x="3246438" y="3361690"/>
            <a:ext cx="3825875" cy="3255963"/>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26515" y="1214120"/>
            <a:ext cx="8793480" cy="230695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对一个给定构型的行走机器人，</a:t>
            </a:r>
            <a:r>
              <a:rPr kumimoji="1" lang="zh-CN" altLang="en-US" sz="24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稳定裕度</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定义为质心的垂直投影与水平面上的支撑模式边界的最小距离。此外，还提出了另一个指标来解析地求解最优步态，</a:t>
            </a:r>
            <a:r>
              <a:rPr kumimoji="1" lang="zh-CN" altLang="en-US" sz="2400" b="1"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水平稳定裕度</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被定义为质心的垂直投影与支撑模式边界在平行于身体运动方向的最小距离。</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稳定裕度</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267" name="图片 5"/>
          <p:cNvPicPr>
            <a:picLocks noChangeAspect="1"/>
          </p:cNvPicPr>
          <p:nvPr>
            <p:custDataLst>
              <p:tags r:id="rId2"/>
            </p:custDataLst>
          </p:nvPr>
        </p:nvPicPr>
        <p:blipFill>
          <a:blip r:embed="rId3"/>
          <a:stretch>
            <a:fillRect/>
          </a:stretch>
        </p:blipFill>
        <p:spPr>
          <a:xfrm>
            <a:off x="2137093" y="3593465"/>
            <a:ext cx="7318375" cy="2979738"/>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占空比</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2122805" y="1485900"/>
            <a:ext cx="7618730"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机器人步态规划中定义的占空比，可以用来区分机器人的静步态和动步态，它被定义为</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2301875" y="4035425"/>
            <a:ext cx="7440295"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zh-CN" altLang="en-US"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当占空比大于等于</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0.5</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时一般认为机器人的步态为静步态，而占空比小于</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0.5</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时的步态为动步态。</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0" name="对象 9"/>
          <p:cNvGraphicFramePr/>
          <p:nvPr>
            <p:custDataLst>
              <p:tags r:id="rId2"/>
            </p:custDataLst>
          </p:nvPr>
        </p:nvGraphicFramePr>
        <p:xfrm>
          <a:off x="4646930" y="3010535"/>
          <a:ext cx="2750185" cy="837565"/>
        </p:xfrm>
        <a:graphic>
          <a:graphicData uri="http://schemas.openxmlformats.org/presentationml/2006/ole">
            <mc:AlternateContent xmlns:mc="http://schemas.openxmlformats.org/markup-compatibility/2006">
              <mc:Choice xmlns:v="urn:schemas-microsoft-com:vml" Requires="v">
                <p:oleObj spid="_x0000_s11" name="" r:id="rId3" imgW="1929130" imgH="869950" progId="Equation.DSMT4">
                  <p:embed/>
                </p:oleObj>
              </mc:Choice>
              <mc:Fallback>
                <p:oleObj name="" r:id="rId3" imgW="1929130" imgH="869950" progId="Equation.DSMT4">
                  <p:embed/>
                  <p:pic>
                    <p:nvPicPr>
                      <p:cNvPr id="0" name="图片 10"/>
                      <p:cNvPicPr/>
                      <p:nvPr/>
                    </p:nvPicPr>
                    <p:blipFill>
                      <a:blip r:embed="rId4"/>
                      <a:stretch>
                        <a:fillRect/>
                      </a:stretch>
                    </p:blipFill>
                    <p:spPr>
                      <a:xfrm>
                        <a:off x="4646930" y="3010535"/>
                        <a:ext cx="2750185" cy="837565"/>
                      </a:xfrm>
                      <a:prstGeom prst="rect">
                        <a:avLst/>
                      </a:prstGeom>
                    </p:spPr>
                  </p:pic>
                </p:oleObj>
              </mc:Fallback>
            </mc:AlternateContent>
          </a:graphicData>
        </a:graphic>
      </p:graphicFrame>
      <p:sp>
        <p:nvSpPr>
          <p:cNvPr id="12" name="文本框 11"/>
          <p:cNvSpPr txBox="1"/>
          <p:nvPr/>
        </p:nvSpPr>
        <p:spPr>
          <a:xfrm>
            <a:off x="8886190" y="3198495"/>
            <a:ext cx="1035050"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8.3</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阻力系数</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664335" y="1339215"/>
            <a:ext cx="7717790" cy="175323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阻力系数是另一个重要的无量纲数，用来描述运动的平滑性，与前述定义的弗劳德数类似，它也可以用来评价一个机器人的能量效率，其定义形式为</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graphicFrame>
        <p:nvGraphicFramePr>
          <p:cNvPr id="4" name="对象 3"/>
          <p:cNvGraphicFramePr/>
          <p:nvPr>
            <p:custDataLst>
              <p:tags r:id="rId2"/>
            </p:custDataLst>
          </p:nvPr>
        </p:nvGraphicFramePr>
        <p:xfrm>
          <a:off x="4728845" y="3212465"/>
          <a:ext cx="2605405" cy="1129665"/>
        </p:xfrm>
        <a:graphic>
          <a:graphicData uri="http://schemas.openxmlformats.org/presentationml/2006/ole">
            <mc:AlternateContent xmlns:mc="http://schemas.openxmlformats.org/markup-compatibility/2006">
              <mc:Choice xmlns:v="urn:schemas-microsoft-com:vml" Requires="v">
                <p:oleObj spid="_x0000_s8" name="" r:id="rId3" imgW="1529715" imgH="962025" progId="Equation.DSMT4">
                  <p:embed/>
                </p:oleObj>
              </mc:Choice>
              <mc:Fallback>
                <p:oleObj name="" r:id="rId3" imgW="1529715" imgH="962025" progId="Equation.DSMT4">
                  <p:embed/>
                  <p:pic>
                    <p:nvPicPr>
                      <p:cNvPr id="0" name="图片 7"/>
                      <p:cNvPicPr/>
                      <p:nvPr/>
                    </p:nvPicPr>
                    <p:blipFill>
                      <a:blip r:embed="rId4"/>
                      <a:stretch>
                        <a:fillRect/>
                      </a:stretch>
                    </p:blipFill>
                    <p:spPr>
                      <a:xfrm>
                        <a:off x="4728845" y="3212465"/>
                        <a:ext cx="2605405" cy="1129665"/>
                      </a:xfrm>
                      <a:prstGeom prst="rect">
                        <a:avLst/>
                      </a:prstGeom>
                    </p:spPr>
                  </p:pic>
                </p:oleObj>
              </mc:Fallback>
            </mc:AlternateContent>
          </a:graphicData>
        </a:graphic>
      </p:graphicFrame>
      <p:sp>
        <p:nvSpPr>
          <p:cNvPr id="9" name="文本框 8"/>
          <p:cNvSpPr txBox="1"/>
          <p:nvPr/>
        </p:nvSpPr>
        <p:spPr>
          <a:xfrm>
            <a:off x="8339455" y="3413760"/>
            <a:ext cx="1213485"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8.4</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1773555" y="4680585"/>
            <a:ext cx="7608570"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en-US" altLang="zh-CN" sz="2400" b="1" noProof="0" dirty="0">
                <a:ln>
                  <a:noFill/>
                </a:ln>
                <a:solidFill>
                  <a:schemeClr val="tx1"/>
                </a:solidFill>
                <a:effectLst/>
                <a:uLnTx/>
                <a:uFillTx/>
                <a:latin typeface="宋体" panose="02010600030101010101" pitchFamily="2" charset="-122"/>
                <a:ea typeface="宋体" panose="02010600030101010101" pitchFamily="2"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其中，</a:t>
            </a:r>
            <a:r>
              <a:rPr kumimoji="1" lang="en-US" altLang="zh-CN" sz="2400" b="1" i="1"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是行走距离</a:t>
            </a:r>
            <a:r>
              <a:rPr kumimoji="1" lang="en-US" altLang="zh-CN" sz="2400" b="1" i="1"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d</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的总耗能；</a:t>
            </a:r>
            <a:r>
              <a:rPr kumimoji="1" lang="en-US" altLang="zh-CN" sz="2400" b="1" i="1"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M</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是机器人的总质量；</a:t>
            </a:r>
            <a:r>
              <a:rPr kumimoji="1" lang="en-US" altLang="zh-CN" sz="2400" b="1" i="1"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g</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是重力加速度。</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864235" y="1077595"/>
            <a:ext cx="10075545" cy="341503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en-US" altLang="zh-CN"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在机器人的静态稳定性定义中，一般利用机器人的重心在足支撑平面上的垂直投影到各足支撑点构成的多边形各边的最短距离作为静态稳定裕度的衡量标准，这个稳定性策略基于几何的概念，不考虑机器人的运动和动态参数，对于机器人在水平面上运动时，具有直观简便的优点。常用的有静态稳定边界法、纵向稳定边界法和转纵向稳定边界法。机器人静态稳定性定义示意如图所示</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p:txBody>
      </p:sp>
      <p:pic>
        <p:nvPicPr>
          <p:cNvPr id="18434" name="图片 2"/>
          <p:cNvPicPr>
            <a:picLocks noChangeAspect="1"/>
          </p:cNvPicPr>
          <p:nvPr>
            <p:custDataLst>
              <p:tags r:id="rId2"/>
            </p:custDataLst>
          </p:nvPr>
        </p:nvPicPr>
        <p:blipFill>
          <a:blip r:embed="rId3"/>
          <a:stretch>
            <a:fillRect/>
          </a:stretch>
        </p:blipFill>
        <p:spPr>
          <a:xfrm>
            <a:off x="4548505" y="3807460"/>
            <a:ext cx="3562350" cy="305054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Rectangle 10"/>
          <p:cNvSpPr>
            <a:spLocks noChangeArrowheads="1"/>
          </p:cNvSpPr>
          <p:nvPr>
            <p:custDataLst>
              <p:tags r:id="rId2"/>
            </p:custDataLst>
          </p:nvPr>
        </p:nvSpPr>
        <p:spPr bwMode="auto">
          <a:xfrm>
            <a:off x="864235" y="996950"/>
            <a:ext cx="10263505" cy="5280660"/>
          </a:xfrm>
          <a:prstGeom prst="rect">
            <a:avLst/>
          </a:prstGeom>
          <a:solidFill>
            <a:schemeClr val="bg1"/>
          </a:solidFill>
          <a:ln>
            <a:noFill/>
          </a:ln>
          <a:effectLst/>
        </p:spPr>
        <p:txBody>
          <a:bodyPr>
            <a:no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静态稳定边界（</a:t>
            </a:r>
            <a:r>
              <a:rPr kumimoji="1"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 Static Stability Margin</a:t>
            </a:r>
            <a:r>
              <a:rPr kumimoji="1" lang="zh-CN" altLang="en-US"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SSM</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）法</a:t>
            </a:r>
            <a:endPar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在给定的支撑区域内，机器人重心投影至支撑区域各边界距离的最小值。</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纵向稳定边界（</a:t>
            </a:r>
            <a:r>
              <a:rPr kumimoji="1"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Longitudinal Stability Margin, LSM</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）法</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在给定的支撑区域内，机器人机体重心的垂直投影至支撑区域前、后边界的较小纵向距离。与</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SSM</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方法比较，</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LSM</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方法计算较为简单。</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偏转纵向稳定边界（</a:t>
            </a:r>
            <a:r>
              <a:rPr kumimoji="1" lang="en-US" altLang="zh-CN" sz="24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Crab Longitudinal Stability Margin, CLSM</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）法</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沿着机器人运动方向，机器人重心投影到支撑多边形前后边缘的最小距离。当考虑机器人加速过程中的惯性力影响时，该方法比较有效。</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929005" y="1452880"/>
            <a:ext cx="9398635" cy="4246245"/>
          </a:xfrm>
          <a:prstGeom prst="rect">
            <a:avLst/>
          </a:prstGeom>
          <a:noFill/>
          <a:ln w="9525">
            <a:noFill/>
          </a:ln>
        </p:spPr>
        <p:txBody>
          <a:bodyPr wrap="square">
            <a:spAutoFit/>
          </a:bodyPr>
          <a:p>
            <a:pPr indent="269875" fontAlgn="auto">
              <a:lnSpc>
                <a:spcPct val="125000"/>
              </a:lnSpc>
            </a:pPr>
            <a:r>
              <a:rPr lang="en-US" altLang="zh-CN" sz="2400" b="1">
                <a:latin typeface="微软雅黑" panose="020B0503020204020204" pitchFamily="34" charset="-122"/>
                <a:ea typeface="微软雅黑" panose="020B0503020204020204" pitchFamily="34" charset="-122"/>
              </a:rPr>
              <a:t>   </a:t>
            </a:r>
            <a:r>
              <a:rPr lang="zh-CN" sz="2400" b="1">
                <a:latin typeface="微软雅黑" panose="020B0503020204020204" pitchFamily="34" charset="-122"/>
                <a:ea typeface="微软雅黑" panose="020B0503020204020204" pitchFamily="34" charset="-122"/>
              </a:rPr>
              <a:t>上述静态稳定性方法采用机器人重心投影与支撑模式边界之间的距离进行判定，计算比较简单，在判定四足机器人稳定性时效率较高，但是这种简单是以忽略系统的动态性为代价的，在实际预测四足机器人的稳定性时，静态稳定裕度并不是一个精确的方法，这是因为对于大多数的四足机器人的动态运动来说，机器人的腿部和躯干存在较大的惯性力，机器人的运动一般也是在较为复杂、比较崎岖的环境中的，这时静态稳定性判定方法就会失效。在机器人运动过程中，倾覆力矩不可避免，但即使存在间歇的倾覆力矩，四足机器人也有稳定的极限环存在。</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0"/>
          <p:cNvSpPr>
            <a:spLocks noChangeArrowheads="1"/>
          </p:cNvSpPr>
          <p:nvPr>
            <p:custDataLst>
              <p:tags r:id="rId1"/>
            </p:custDataLst>
          </p:nvPr>
        </p:nvSpPr>
        <p:spPr bwMode="auto">
          <a:xfrm>
            <a:off x="1130300" y="821690"/>
            <a:ext cx="9508490" cy="1753235"/>
          </a:xfrm>
          <a:prstGeom prst="rect">
            <a:avLst/>
          </a:prstGeom>
          <a:solidFill>
            <a:schemeClr val="bg1"/>
          </a:solidFill>
          <a:ln>
            <a:noFill/>
          </a:ln>
          <a:effectLst/>
        </p:spPr>
        <p:txBody>
          <a:bodyPr wrap="square">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）能量稳定裕度法 </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(energy stability margin, ESM)</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该方法是指当前机器人在其支撑多边形各边倾倒过程中的所需的最小势能，也就是</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对象 4"/>
          <p:cNvGraphicFramePr/>
          <p:nvPr>
            <p:custDataLst>
              <p:tags r:id="rId2"/>
            </p:custDataLst>
          </p:nvPr>
        </p:nvGraphicFramePr>
        <p:xfrm>
          <a:off x="4154170" y="2349500"/>
          <a:ext cx="3460750" cy="722630"/>
        </p:xfrm>
        <a:graphic>
          <a:graphicData uri="http://schemas.openxmlformats.org/presentationml/2006/ole">
            <mc:AlternateContent xmlns:mc="http://schemas.openxmlformats.org/markup-compatibility/2006">
              <mc:Choice xmlns:v="urn:schemas-microsoft-com:vml" Requires="v">
                <p:oleObj spid="_x0000_s6" name="" r:id="rId3" imgW="3433445" imgH="951230" progId="Equation.DSMT4">
                  <p:embed/>
                </p:oleObj>
              </mc:Choice>
              <mc:Fallback>
                <p:oleObj name="" r:id="rId3" imgW="3433445" imgH="951230" progId="Equation.DSMT4">
                  <p:embed/>
                  <p:pic>
                    <p:nvPicPr>
                      <p:cNvPr id="0" name="图片 5"/>
                      <p:cNvPicPr/>
                      <p:nvPr/>
                    </p:nvPicPr>
                    <p:blipFill>
                      <a:blip r:embed="rId4"/>
                      <a:stretch>
                        <a:fillRect/>
                      </a:stretch>
                    </p:blipFill>
                    <p:spPr>
                      <a:xfrm>
                        <a:off x="4154170" y="2349500"/>
                        <a:ext cx="3460750" cy="722630"/>
                      </a:xfrm>
                      <a:prstGeom prst="rect">
                        <a:avLst/>
                      </a:prstGeom>
                    </p:spPr>
                  </p:pic>
                </p:oleObj>
              </mc:Fallback>
            </mc:AlternateContent>
          </a:graphicData>
        </a:graphic>
      </p:graphicFrame>
      <p:sp>
        <p:nvSpPr>
          <p:cNvPr id="9" name="Rectangle 10"/>
          <p:cNvSpPr>
            <a:spLocks noChangeArrowheads="1"/>
          </p:cNvSpPr>
          <p:nvPr>
            <p:custDataLst>
              <p:tags r:id="rId5"/>
            </p:custDataLst>
          </p:nvPr>
        </p:nvSpPr>
        <p:spPr bwMode="auto">
          <a:xfrm>
            <a:off x="1543685" y="3202940"/>
            <a:ext cx="9095105" cy="1753235"/>
          </a:xfrm>
          <a:prstGeom prst="rect">
            <a:avLst/>
          </a:prstGeom>
          <a:solidFill>
            <a:schemeClr val="bg1"/>
          </a:solidFill>
          <a:ln>
            <a:noFill/>
          </a:ln>
          <a:effectLst/>
        </p:spPr>
        <p:txBody>
          <a:bodyPr wrap="square">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其中，</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表示所考虑旋转角度的支撑区域的各个边，  表示支撑腿的个数，  表示机器人躯干质量中心（重心）的高度变化，其表示形式为</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 name="对象 9">
            <a:hlinkClick r:id="" action="ppaction://ole?verb="/>
          </p:cNvPr>
          <p:cNvGraphicFramePr>
            <a:graphicFrameLocks noChangeAspect="1"/>
          </p:cNvGraphicFramePr>
          <p:nvPr/>
        </p:nvGraphicFramePr>
        <p:xfrm>
          <a:off x="8845550" y="3351530"/>
          <a:ext cx="364490" cy="539115"/>
        </p:xfrm>
        <a:graphic>
          <a:graphicData uri="http://schemas.openxmlformats.org/presentationml/2006/ole">
            <mc:AlternateContent xmlns:mc="http://schemas.openxmlformats.org/markup-compatibility/2006">
              <mc:Choice xmlns:v="urn:schemas-microsoft-com:vml" Requires="v">
                <p:oleObj spid="_x0000_s1025" name="" r:id="rId6" imgW="127000" imgH="228600" progId="Equation.DSMT4">
                  <p:embed/>
                </p:oleObj>
              </mc:Choice>
              <mc:Fallback>
                <p:oleObj name="" r:id="rId6" imgW="127000" imgH="228600" progId="Equation.DSMT4">
                  <p:embed/>
                  <p:pic>
                    <p:nvPicPr>
                      <p:cNvPr id="0" name="图片 1024"/>
                      <p:cNvPicPr/>
                      <p:nvPr/>
                    </p:nvPicPr>
                    <p:blipFill>
                      <a:blip r:embed="rId7"/>
                      <a:stretch>
                        <a:fillRect/>
                      </a:stretch>
                    </p:blipFill>
                    <p:spPr>
                      <a:xfrm>
                        <a:off x="8845550" y="3351530"/>
                        <a:ext cx="364490" cy="53911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custDataLst>
              <p:tags r:id="rId8"/>
            </p:custDataLst>
          </p:nvPr>
        </p:nvGraphicFramePr>
        <p:xfrm>
          <a:off x="2959735" y="3890645"/>
          <a:ext cx="401320" cy="539115"/>
        </p:xfrm>
        <a:graphic>
          <a:graphicData uri="http://schemas.openxmlformats.org/presentationml/2006/ole">
            <mc:AlternateContent xmlns:mc="http://schemas.openxmlformats.org/markup-compatibility/2006">
              <mc:Choice xmlns:v="urn:schemas-microsoft-com:vml" Requires="v">
                <p:oleObj spid="_x0000_s3" name="" r:id="rId9" imgW="139700" imgH="228600" progId="Equation.DSMT4">
                  <p:embed/>
                </p:oleObj>
              </mc:Choice>
              <mc:Fallback>
                <p:oleObj name="" r:id="rId9" imgW="139700" imgH="228600" progId="Equation.DSMT4">
                  <p:embed/>
                  <p:pic>
                    <p:nvPicPr>
                      <p:cNvPr id="0" name="图片 1024"/>
                      <p:cNvPicPr/>
                      <p:nvPr/>
                    </p:nvPicPr>
                    <p:blipFill>
                      <a:blip r:embed="rId10"/>
                      <a:stretch>
                        <a:fillRect/>
                      </a:stretch>
                    </p:blipFill>
                    <p:spPr>
                      <a:xfrm>
                        <a:off x="2959735" y="3890645"/>
                        <a:ext cx="401320" cy="539115"/>
                      </a:xfrm>
                      <a:prstGeom prst="rect">
                        <a:avLst/>
                      </a:prstGeom>
                    </p:spPr>
                  </p:pic>
                </p:oleObj>
              </mc:Fallback>
            </mc:AlternateContent>
          </a:graphicData>
        </a:graphic>
      </p:graphicFrame>
      <p:graphicFrame>
        <p:nvGraphicFramePr>
          <p:cNvPr id="12" name="对象 11"/>
          <p:cNvGraphicFramePr/>
          <p:nvPr>
            <p:custDataLst>
              <p:tags r:id="rId11"/>
            </p:custDataLst>
          </p:nvPr>
        </p:nvGraphicFramePr>
        <p:xfrm>
          <a:off x="4307840" y="4629785"/>
          <a:ext cx="3153410" cy="461010"/>
        </p:xfrm>
        <a:graphic>
          <a:graphicData uri="http://schemas.openxmlformats.org/presentationml/2006/ole">
            <mc:AlternateContent xmlns:mc="http://schemas.openxmlformats.org/markup-compatibility/2006">
              <mc:Choice xmlns:v="urn:schemas-microsoft-com:vml" Requires="v">
                <p:oleObj spid="_x0000_s13" name="" r:id="rId12" imgW="3191510" imgH="517525" progId="Equation.DSMT4">
                  <p:embed/>
                </p:oleObj>
              </mc:Choice>
              <mc:Fallback>
                <p:oleObj name="" r:id="rId12" imgW="3191510" imgH="517525" progId="Equation.DSMT4">
                  <p:embed/>
                  <p:pic>
                    <p:nvPicPr>
                      <p:cNvPr id="0" name="图片 12"/>
                      <p:cNvPicPr/>
                      <p:nvPr/>
                    </p:nvPicPr>
                    <p:blipFill>
                      <a:blip r:embed="rId13"/>
                      <a:stretch>
                        <a:fillRect/>
                      </a:stretch>
                    </p:blipFill>
                    <p:spPr>
                      <a:xfrm>
                        <a:off x="4307840" y="4629785"/>
                        <a:ext cx="3153410" cy="461010"/>
                      </a:xfrm>
                      <a:prstGeom prst="rect">
                        <a:avLst/>
                      </a:prstGeom>
                    </p:spPr>
                  </p:pic>
                </p:oleObj>
              </mc:Fallback>
            </mc:AlternateContent>
          </a:graphicData>
        </a:graphic>
      </p:graphicFrame>
      <p:sp>
        <p:nvSpPr>
          <p:cNvPr id="14" name="文本框 13"/>
          <p:cNvSpPr txBox="1"/>
          <p:nvPr>
            <p:custDataLst>
              <p:tags r:id="rId14"/>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Rectangle 10"/>
          <p:cNvSpPr>
            <a:spLocks noChangeArrowheads="1"/>
          </p:cNvSpPr>
          <p:nvPr>
            <p:custDataLst>
              <p:tags r:id="rId15"/>
            </p:custDataLst>
          </p:nvPr>
        </p:nvSpPr>
        <p:spPr bwMode="auto">
          <a:xfrm>
            <a:off x="1606550" y="5218430"/>
            <a:ext cx="9032240" cy="1198880"/>
          </a:xfrm>
          <a:prstGeom prst="rect">
            <a:avLst/>
          </a:prstGeom>
          <a:solidFill>
            <a:schemeClr val="bg1"/>
          </a:solidFill>
          <a:ln>
            <a:noFill/>
          </a:ln>
          <a:effectLst/>
        </p:spPr>
        <p:txBody>
          <a:bodyPr wrap="square">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其中，  表示身体质量中心到旋转角度的距离， 表示  </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和垂直轴之间的角度，  表示旋转轴相对于水平面的倾角。</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6" name="对象 15">
            <a:hlinkClick r:id="" action="ppaction://ole?verb="/>
          </p:cNvPr>
          <p:cNvGraphicFramePr>
            <a:graphicFrameLocks noChangeAspect="1"/>
          </p:cNvGraphicFramePr>
          <p:nvPr>
            <p:custDataLst>
              <p:tags r:id="rId16"/>
            </p:custDataLst>
          </p:nvPr>
        </p:nvGraphicFramePr>
        <p:xfrm>
          <a:off x="2363153" y="5375910"/>
          <a:ext cx="474345" cy="539115"/>
        </p:xfrm>
        <a:graphic>
          <a:graphicData uri="http://schemas.openxmlformats.org/presentationml/2006/ole">
            <mc:AlternateContent xmlns:mc="http://schemas.openxmlformats.org/markup-compatibility/2006">
              <mc:Choice xmlns:v="urn:schemas-microsoft-com:vml" Requires="v">
                <p:oleObj spid="_x0000_s17" name="" r:id="rId17" imgW="165100" imgH="228600" progId="Equation.DSMT4">
                  <p:embed/>
                </p:oleObj>
              </mc:Choice>
              <mc:Fallback>
                <p:oleObj name="" r:id="rId17" imgW="165100" imgH="228600" progId="Equation.DSMT4">
                  <p:embed/>
                  <p:pic>
                    <p:nvPicPr>
                      <p:cNvPr id="0" name="图片 1024"/>
                      <p:cNvPicPr/>
                      <p:nvPr/>
                    </p:nvPicPr>
                    <p:blipFill>
                      <a:blip r:embed="rId18"/>
                      <a:stretch>
                        <a:fillRect/>
                      </a:stretch>
                    </p:blipFill>
                    <p:spPr>
                      <a:xfrm>
                        <a:off x="2363153" y="5375910"/>
                        <a:ext cx="474345" cy="53911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custDataLst>
              <p:tags r:id="rId19"/>
            </p:custDataLst>
          </p:nvPr>
        </p:nvGraphicFramePr>
        <p:xfrm>
          <a:off x="8972550" y="3478530"/>
          <a:ext cx="364490" cy="539115"/>
        </p:xfrm>
        <a:graphic>
          <a:graphicData uri="http://schemas.openxmlformats.org/presentationml/2006/ole">
            <mc:AlternateContent xmlns:mc="http://schemas.openxmlformats.org/markup-compatibility/2006">
              <mc:Choice xmlns:v="urn:schemas-microsoft-com:vml" Requires="v">
                <p:oleObj spid="_x0000_s19" name="" r:id="rId20" imgW="127000" imgH="228600" progId="Equation.DSMT4">
                  <p:embed/>
                </p:oleObj>
              </mc:Choice>
              <mc:Fallback>
                <p:oleObj name="" r:id="rId20" imgW="127000" imgH="228600" progId="Equation.DSMT4">
                  <p:embed/>
                  <p:pic>
                    <p:nvPicPr>
                      <p:cNvPr id="0" name="图片 1024"/>
                      <p:cNvPicPr/>
                      <p:nvPr/>
                    </p:nvPicPr>
                    <p:blipFill>
                      <a:blip r:embed="rId7"/>
                      <a:stretch>
                        <a:fillRect/>
                      </a:stretch>
                    </p:blipFill>
                    <p:spPr>
                      <a:xfrm>
                        <a:off x="8972550" y="3478530"/>
                        <a:ext cx="364490" cy="539115"/>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custDataLst>
              <p:tags r:id="rId21"/>
            </p:custDataLst>
          </p:nvPr>
        </p:nvGraphicFramePr>
        <p:xfrm>
          <a:off x="8602028" y="5375910"/>
          <a:ext cx="474345" cy="539115"/>
        </p:xfrm>
        <a:graphic>
          <a:graphicData uri="http://schemas.openxmlformats.org/presentationml/2006/ole">
            <mc:AlternateContent xmlns:mc="http://schemas.openxmlformats.org/markup-compatibility/2006">
              <mc:Choice xmlns:v="urn:schemas-microsoft-com:vml" Requires="v">
                <p:oleObj spid="_x0000_s21" name="" r:id="rId22" imgW="165100" imgH="228600" progId="Equation.DSMT4">
                  <p:embed/>
                </p:oleObj>
              </mc:Choice>
              <mc:Fallback>
                <p:oleObj name="" r:id="rId22" imgW="165100" imgH="228600" progId="Equation.DSMT4">
                  <p:embed/>
                  <p:pic>
                    <p:nvPicPr>
                      <p:cNvPr id="0" name="图片 1024"/>
                      <p:cNvPicPr/>
                      <p:nvPr/>
                    </p:nvPicPr>
                    <p:blipFill>
                      <a:blip r:embed="rId18"/>
                      <a:stretch>
                        <a:fillRect/>
                      </a:stretch>
                    </p:blipFill>
                    <p:spPr>
                      <a:xfrm>
                        <a:off x="8602028" y="5375910"/>
                        <a:ext cx="474345" cy="539115"/>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custDataLst>
              <p:tags r:id="rId23"/>
            </p:custDataLst>
          </p:nvPr>
        </p:nvGraphicFramePr>
        <p:xfrm>
          <a:off x="7782878" y="5375593"/>
          <a:ext cx="365125" cy="417830"/>
        </p:xfrm>
        <a:graphic>
          <a:graphicData uri="http://schemas.openxmlformats.org/presentationml/2006/ole">
            <mc:AlternateContent xmlns:mc="http://schemas.openxmlformats.org/markup-compatibility/2006">
              <mc:Choice xmlns:v="urn:schemas-microsoft-com:vml" Requires="v">
                <p:oleObj spid="_x0000_s23" name="" r:id="rId24" imgW="127000" imgH="177165" progId="Equation.DSMT4">
                  <p:embed/>
                </p:oleObj>
              </mc:Choice>
              <mc:Fallback>
                <p:oleObj name="" r:id="rId24" imgW="127000" imgH="177165" progId="Equation.DSMT4">
                  <p:embed/>
                  <p:pic>
                    <p:nvPicPr>
                      <p:cNvPr id="0" name="图片 1024"/>
                      <p:cNvPicPr/>
                      <p:nvPr/>
                    </p:nvPicPr>
                    <p:blipFill>
                      <a:blip r:embed="rId25"/>
                      <a:stretch>
                        <a:fillRect/>
                      </a:stretch>
                    </p:blipFill>
                    <p:spPr>
                      <a:xfrm>
                        <a:off x="7782878" y="5375593"/>
                        <a:ext cx="365125" cy="417830"/>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custDataLst>
              <p:tags r:id="rId26"/>
            </p:custDataLst>
          </p:nvPr>
        </p:nvGraphicFramePr>
        <p:xfrm>
          <a:off x="3287396" y="5944870"/>
          <a:ext cx="438150" cy="479425"/>
        </p:xfrm>
        <a:graphic>
          <a:graphicData uri="http://schemas.openxmlformats.org/presentationml/2006/ole">
            <mc:AlternateContent xmlns:mc="http://schemas.openxmlformats.org/markup-compatibility/2006">
              <mc:Choice xmlns:v="urn:schemas-microsoft-com:vml" Requires="v">
                <p:oleObj spid="_x0000_s25" name="" r:id="rId27" imgW="152400" imgH="203200" progId="Equation.DSMT4">
                  <p:embed/>
                </p:oleObj>
              </mc:Choice>
              <mc:Fallback>
                <p:oleObj name="" r:id="rId27" imgW="152400" imgH="203200" progId="Equation.DSMT4">
                  <p:embed/>
                  <p:pic>
                    <p:nvPicPr>
                      <p:cNvPr id="0" name="图片 1024"/>
                      <p:cNvPicPr/>
                      <p:nvPr/>
                    </p:nvPicPr>
                    <p:blipFill>
                      <a:blip r:embed="rId28"/>
                      <a:stretch>
                        <a:fillRect/>
                      </a:stretch>
                    </p:blipFill>
                    <p:spPr>
                      <a:xfrm>
                        <a:off x="3287396" y="5944870"/>
                        <a:ext cx="438150" cy="479425"/>
                      </a:xfrm>
                      <a:prstGeom prst="rect">
                        <a:avLst/>
                      </a:prstGeom>
                    </p:spPr>
                  </p:pic>
                </p:oleObj>
              </mc:Fallback>
            </mc:AlternateContent>
          </a:graphicData>
        </a:graphic>
      </p:graphicFrame>
      <p:sp>
        <p:nvSpPr>
          <p:cNvPr id="26" name="文本框 25"/>
          <p:cNvSpPr txBox="1"/>
          <p:nvPr/>
        </p:nvSpPr>
        <p:spPr>
          <a:xfrm>
            <a:off x="9453245" y="4630420"/>
            <a:ext cx="1886585"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8.6</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p:cNvSpPr txBox="1"/>
          <p:nvPr/>
        </p:nvSpPr>
        <p:spPr>
          <a:xfrm>
            <a:off x="9337040" y="2480310"/>
            <a:ext cx="1574165"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8.5</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2" name="图片 2"/>
          <p:cNvPicPr>
            <a:picLocks noChangeAspect="1"/>
          </p:cNvPicPr>
          <p:nvPr>
            <p:custDataLst>
              <p:tags r:id="rId1"/>
            </p:custDataLst>
          </p:nvPr>
        </p:nvPicPr>
        <p:blipFill>
          <a:blip r:embed="rId2"/>
          <a:stretch>
            <a:fillRect/>
          </a:stretch>
        </p:blipFill>
        <p:spPr>
          <a:xfrm>
            <a:off x="2522538" y="910273"/>
            <a:ext cx="7146925" cy="3817937"/>
          </a:xfrm>
          <a:prstGeom prst="rect">
            <a:avLst/>
          </a:prstGeom>
          <a:noFill/>
          <a:ln w="9525">
            <a:noFill/>
          </a:ln>
        </p:spPr>
      </p:pic>
      <p:sp>
        <p:nvSpPr>
          <p:cNvPr id="14" name="文本框 13"/>
          <p:cNvSpPr txBox="1"/>
          <p:nvPr>
            <p:custDataLst>
              <p:tags r:id="rId3"/>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静态稳定性判定方法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10"/>
          <p:cNvSpPr>
            <a:spLocks noChangeArrowheads="1"/>
          </p:cNvSpPr>
          <p:nvPr>
            <p:custDataLst>
              <p:tags r:id="rId4"/>
            </p:custDataLst>
          </p:nvPr>
        </p:nvSpPr>
        <p:spPr bwMode="auto">
          <a:xfrm>
            <a:off x="1365250" y="4727893"/>
            <a:ext cx="8616950" cy="1198880"/>
          </a:xfrm>
          <a:prstGeom prst="rect">
            <a:avLst/>
          </a:prstGeom>
          <a:solidFill>
            <a:schemeClr val="bg1"/>
          </a:solidFill>
          <a:ln>
            <a:noFill/>
          </a:ln>
          <a:effectLst/>
        </p:spPr>
        <p:txBody>
          <a:bodyPr>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ESM</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进行标准化，可以得到标准能量稳定裕度（</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NESM</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），定义如下</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1"/>
          <p:cNvGraphicFramePr/>
          <p:nvPr>
            <p:custDataLst>
              <p:tags r:id="rId5"/>
            </p:custDataLst>
          </p:nvPr>
        </p:nvGraphicFramePr>
        <p:xfrm>
          <a:off x="4424680" y="5652135"/>
          <a:ext cx="3871595" cy="918210"/>
        </p:xfrm>
        <a:graphic>
          <a:graphicData uri="http://schemas.openxmlformats.org/presentationml/2006/ole">
            <mc:AlternateContent xmlns:mc="http://schemas.openxmlformats.org/markup-compatibility/2006">
              <mc:Choice xmlns:v="urn:schemas-microsoft-com:vml" Requires="v">
                <p:oleObj spid="_x0000_s5" name="" r:id="rId6" imgW="3136265" imgH="1023620" progId="Equation.DSMT4">
                  <p:embed/>
                </p:oleObj>
              </mc:Choice>
              <mc:Fallback>
                <p:oleObj name="" r:id="rId6" imgW="3136265" imgH="1023620" progId="Equation.DSMT4">
                  <p:embed/>
                  <p:pic>
                    <p:nvPicPr>
                      <p:cNvPr id="0" name="图片 4"/>
                      <p:cNvPicPr/>
                      <p:nvPr/>
                    </p:nvPicPr>
                    <p:blipFill>
                      <a:blip r:embed="rId7"/>
                      <a:stretch>
                        <a:fillRect/>
                      </a:stretch>
                    </p:blipFill>
                    <p:spPr>
                      <a:xfrm>
                        <a:off x="4424680" y="5652135"/>
                        <a:ext cx="3871595" cy="918210"/>
                      </a:xfrm>
                      <a:prstGeom prst="rect">
                        <a:avLst/>
                      </a:prstGeom>
                    </p:spPr>
                  </p:pic>
                </p:oleObj>
              </mc:Fallback>
            </mc:AlternateContent>
          </a:graphicData>
        </a:graphic>
      </p:graphicFrame>
      <p:sp>
        <p:nvSpPr>
          <p:cNvPr id="6" name="文本框 5"/>
          <p:cNvSpPr txBox="1"/>
          <p:nvPr/>
        </p:nvSpPr>
        <p:spPr>
          <a:xfrm>
            <a:off x="9173210" y="5795010"/>
            <a:ext cx="1433195" cy="460375"/>
          </a:xfrm>
          <a:prstGeom prst="rect">
            <a:avLst/>
          </a:prstGeom>
          <a:noFill/>
        </p:spPr>
        <p:txBody>
          <a:bodyPr wrap="square" rtlCol="0">
            <a:spAutoFit/>
          </a:bodyPr>
          <a:p>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8.7</a:t>
            </a:r>
            <a:r>
              <a:rPr lang="zh-CN" altLang="en-US" sz="2400" b="1">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动态稳定性判定方法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217930" y="1583055"/>
            <a:ext cx="9669780" cy="4246245"/>
          </a:xfrm>
          <a:prstGeom prst="rect">
            <a:avLst/>
          </a:prstGeom>
          <a:noFill/>
          <a:ln w="9525">
            <a:noFill/>
          </a:ln>
        </p:spPr>
        <p:txBody>
          <a:bodyPr wrap="square">
            <a:spAutoFit/>
          </a:bodyPr>
          <a:p>
            <a:pPr indent="269875" fontAlgn="auto">
              <a:lnSpc>
                <a:spcPct val="125000"/>
              </a:lnSpc>
            </a:pP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rPr>
              <a:t>机器人的动态稳定性判定方法一般是机器人在利用动步态行走、在崎岖地形环境下行走或者在强外界干扰情况下行走需要考虑的方法。动态稳定性判定方法在一定条件下也可以用来判定机器人的静态稳定性。四足机器人常用的动态稳定性判定方法有</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零点力矩</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Zero Moment Point</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ZMP</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法、动态稳定性裕度</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Dynamic Stability Margin</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DSM</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法、倾倒稳定性判定</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Tumble Stability Judgment</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TSJ</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法、标准动态能量稳定裕度</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The Normalized Dynamic Energy Stability Margin</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NDESM</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法、改进的泛稳定裕量</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Modified Wide Stability Margin</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MWSM</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法和着陆符合率</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Landing Accordance Ration</a:t>
            </a:r>
            <a:r>
              <a:rPr lang="zh-CN"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1">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LAR</a:t>
            </a:r>
            <a:r>
              <a:rPr 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法</a:t>
            </a:r>
            <a:r>
              <a:rPr lang="zh-CN" sz="2400" b="1">
                <a:latin typeface="微软雅黑" panose="020B0503020204020204" pitchFamily="34" charset="-122"/>
                <a:ea typeface="微软雅黑" panose="020B0503020204020204" pitchFamily="34" charset="-122"/>
                <a:cs typeface="微软雅黑" panose="020B0503020204020204" pitchFamily="34" charset="-122"/>
              </a:rPr>
              <a:t>等。</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418" name="Rectangle 10"/>
          <p:cNvSpPr>
            <a:spLocks noChangeArrowheads="1"/>
          </p:cNvSpPr>
          <p:nvPr>
            <p:custDataLst>
              <p:tags r:id="rId2"/>
            </p:custDataLst>
          </p:nvPr>
        </p:nvSpPr>
        <p:spPr bwMode="auto">
          <a:xfrm>
            <a:off x="864235" y="1198245"/>
            <a:ext cx="10471785" cy="3969385"/>
          </a:xfrm>
          <a:prstGeom prst="rect">
            <a:avLst/>
          </a:prstGeom>
          <a:solidFill>
            <a:schemeClr val="bg1"/>
          </a:solidFill>
          <a:ln>
            <a:noFill/>
          </a:ln>
          <a:effectLst/>
        </p:spPr>
        <p:txBody>
          <a:bodyPr wrap="square">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四足机器人动态平衡和静态平衡有所不同，当机器人处于运动状态时，其平衡的必要条件为机器人重力与所受惯性力的合力延长线位于机器人支撑区域内。本节采用的二维倒立摆简化力学模型，设模型的质心高度为 </a:t>
            </a:r>
            <a:r>
              <a:rPr kumimoji="1" lang="en-US" altLang="zh-CN" sz="2400" b="1" i="1"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 </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，当系统在高度为 </a:t>
            </a:r>
            <a:r>
              <a:rPr kumimoji="1" lang="en-US" altLang="zh-CN" sz="2400" b="1" i="1"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 </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的水平面内运动时，一般会翻倒，但是，当质心以某个适当的加速度运动时，倒立摆系统可以维持瞬时平衡而不倒。该系统的重力和惯性力合力的延长线与支撑平面的交点称为</a:t>
            </a:r>
            <a:r>
              <a:rPr kumimoji="1" lang="en-US" altLang="zh-CN" sz="2400" b="1" i="0"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ZMP</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点</a:t>
            </a:r>
            <a:r>
              <a:rPr kumimoji="1" lang="en-US" altLang="zh-CN"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400" b="1" i="0"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Zero Moment Point</a:t>
            </a:r>
            <a:r>
              <a:rPr kumimoji="1" lang="en-US" altLang="zh-CN"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，即</a:t>
            </a:r>
            <a:r>
              <a:rPr kumimoji="1" lang="en-US" altLang="zh-CN" sz="2400" b="1" i="0" u="none" strike="noStrike" kern="1200" cap="none" spc="0" normalizeH="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ZMP</a:t>
            </a:r>
            <a:r>
              <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点必须落在支撑区域内，可以保证机器人的动态平衡。</a:t>
            </a:r>
            <a:endParaRPr kumimoji="1" lang="zh-CN" altLang="en-US" sz="2400" b="1" i="0" u="none" strike="noStrike" kern="120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5605" name="组合 3"/>
          <p:cNvGrpSpPr/>
          <p:nvPr/>
        </p:nvGrpSpPr>
        <p:grpSpPr>
          <a:xfrm>
            <a:off x="1104265" y="941705"/>
            <a:ext cx="9484360" cy="2180590"/>
            <a:chOff x="878205" y="-664210"/>
            <a:chExt cx="8616950" cy="2180273"/>
          </a:xfrm>
        </p:grpSpPr>
        <p:sp>
          <p:nvSpPr>
            <p:cNvPr id="2" name="Rectangle 10"/>
            <p:cNvSpPr>
              <a:spLocks noChangeArrowheads="1"/>
            </p:cNvSpPr>
            <p:nvPr>
              <p:custDataLst>
                <p:tags r:id="rId1"/>
              </p:custDataLst>
            </p:nvPr>
          </p:nvSpPr>
          <p:spPr bwMode="auto">
            <a:xfrm>
              <a:off x="878205" y="-664210"/>
              <a:ext cx="8616950" cy="1198706"/>
            </a:xfrm>
            <a:prstGeom prst="rect">
              <a:avLst/>
            </a:prstGeom>
            <a:solidFill>
              <a:schemeClr val="bg1"/>
            </a:solidFill>
            <a:ln>
              <a:noFill/>
            </a:ln>
            <a:effectLst/>
          </p:spPr>
          <p:txBody>
            <a:bodyPr>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2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设机器人质心当前所处的位置为   </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，运动过程中保持平衡的</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ZMP</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点为    </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ZMP</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的定义，所有力矩之和为</a:t>
              </a:r>
              <a:r>
                <a:rPr kumimoji="1"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，可以得出</a:t>
              </a:r>
              <a:endParaRPr kumimoji="1"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5613" name="对象 8"/>
            <p:cNvGraphicFramePr>
              <a:graphicFrameLocks noChangeAspect="1"/>
            </p:cNvGraphicFramePr>
            <p:nvPr>
              <p:custDataLst>
                <p:tags r:id="rId2"/>
              </p:custDataLst>
            </p:nvPr>
          </p:nvGraphicFramePr>
          <p:xfrm>
            <a:off x="1673225" y="1089025"/>
            <a:ext cx="466725" cy="427038"/>
          </p:xfrm>
          <a:graphic>
            <a:graphicData uri="http://schemas.openxmlformats.org/presentationml/2006/ole">
              <mc:AlternateContent xmlns:mc="http://schemas.openxmlformats.org/markup-compatibility/2006">
                <mc:Choice xmlns:v="urn:schemas-microsoft-com:vml" Requires="v">
                  <p:oleObj spid="_x0000_s3153" name="" r:id="rId3" imgW="266700" imgH="241300" progId="Equation.DSMT4">
                    <p:embed/>
                  </p:oleObj>
                </mc:Choice>
                <mc:Fallback>
                  <p:oleObj name="" r:id="rId3" imgW="266700" imgH="241300" progId="Equation.DSMT4">
                    <p:embed/>
                    <p:pic>
                      <p:nvPicPr>
                        <p:cNvPr id="0" name="图片 3152"/>
                        <p:cNvPicPr/>
                        <p:nvPr/>
                      </p:nvPicPr>
                      <p:blipFill>
                        <a:blip r:embed="rId4"/>
                        <a:stretch>
                          <a:fillRect/>
                        </a:stretch>
                      </p:blipFill>
                      <p:spPr>
                        <a:xfrm>
                          <a:off x="1673225" y="1089025"/>
                          <a:ext cx="466725" cy="427038"/>
                        </a:xfrm>
                        <a:prstGeom prst="rect">
                          <a:avLst/>
                        </a:prstGeom>
                        <a:noFill/>
                        <a:ln w="38100">
                          <a:noFill/>
                          <a:miter/>
                        </a:ln>
                      </p:spPr>
                    </p:pic>
                  </p:oleObj>
                </mc:Fallback>
              </mc:AlternateContent>
            </a:graphicData>
          </a:graphic>
        </p:graphicFrame>
      </p:grpSp>
      <p:sp>
        <p:nvSpPr>
          <p:cNvPr id="14" name="文本框 13"/>
          <p:cNvSpPr txBox="1"/>
          <p:nvPr>
            <p:custDataLst>
              <p:tags r:id="rId5"/>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对象 4"/>
          <p:cNvGraphicFramePr/>
          <p:nvPr>
            <p:custDataLst>
              <p:tags r:id="rId6"/>
            </p:custDataLst>
          </p:nvPr>
        </p:nvGraphicFramePr>
        <p:xfrm>
          <a:off x="2593340" y="1756728"/>
          <a:ext cx="506730" cy="383540"/>
        </p:xfrm>
        <a:graphic>
          <a:graphicData uri="http://schemas.openxmlformats.org/presentationml/2006/ole">
            <mc:AlternateContent xmlns:mc="http://schemas.openxmlformats.org/markup-compatibility/2006">
              <mc:Choice xmlns:v="urn:schemas-microsoft-com:vml" Requires="v">
                <p:oleObj spid="_x0000_s6" name="" r:id="rId7" imgW="342900" imgH="304800" progId="Equation.DSMT4">
                  <p:embed/>
                </p:oleObj>
              </mc:Choice>
              <mc:Fallback>
                <p:oleObj name="" r:id="rId7" imgW="342900" imgH="304800" progId="Equation.DSMT4">
                  <p:embed/>
                  <p:pic>
                    <p:nvPicPr>
                      <p:cNvPr id="0" name="图片 5"/>
                      <p:cNvPicPr/>
                      <p:nvPr/>
                    </p:nvPicPr>
                    <p:blipFill>
                      <a:blip r:embed="rId8"/>
                      <a:stretch>
                        <a:fillRect/>
                      </a:stretch>
                    </p:blipFill>
                    <p:spPr>
                      <a:xfrm>
                        <a:off x="2593340" y="1756728"/>
                        <a:ext cx="506730" cy="383540"/>
                      </a:xfrm>
                      <a:prstGeom prst="rect">
                        <a:avLst/>
                      </a:prstGeom>
                    </p:spPr>
                  </p:pic>
                </p:oleObj>
              </mc:Fallback>
            </mc:AlternateContent>
          </a:graphicData>
        </a:graphic>
      </p:graphicFrame>
      <p:graphicFrame>
        <p:nvGraphicFramePr>
          <p:cNvPr id="7" name="对象 6"/>
          <p:cNvGraphicFramePr/>
          <p:nvPr>
            <p:custDataLst>
              <p:tags r:id="rId9"/>
            </p:custDataLst>
          </p:nvPr>
        </p:nvGraphicFramePr>
        <p:xfrm>
          <a:off x="6021705" y="1184275"/>
          <a:ext cx="975360" cy="351155"/>
        </p:xfrm>
        <a:graphic>
          <a:graphicData uri="http://schemas.openxmlformats.org/presentationml/2006/ole">
            <mc:AlternateContent xmlns:mc="http://schemas.openxmlformats.org/markup-compatibility/2006">
              <mc:Choice xmlns:v="urn:schemas-microsoft-com:vml" Requires="v">
                <p:oleObj spid="_x0000_s8" name="" r:id="rId10" imgW="660400" imgH="279400" progId="Equation.DSMT4">
                  <p:embed/>
                </p:oleObj>
              </mc:Choice>
              <mc:Fallback>
                <p:oleObj name="" r:id="rId10" imgW="660400" imgH="279400" progId="Equation.DSMT4">
                  <p:embed/>
                  <p:pic>
                    <p:nvPicPr>
                      <p:cNvPr id="0" name="图片 5"/>
                      <p:cNvPicPr/>
                      <p:nvPr/>
                    </p:nvPicPr>
                    <p:blipFill>
                      <a:blip r:embed="rId11"/>
                      <a:stretch>
                        <a:fillRect/>
                      </a:stretch>
                    </p:blipFill>
                    <p:spPr>
                      <a:xfrm>
                        <a:off x="6021705" y="1184275"/>
                        <a:ext cx="975360" cy="351155"/>
                      </a:xfrm>
                      <a:prstGeom prst="rect">
                        <a:avLst/>
                      </a:prstGeom>
                    </p:spPr>
                  </p:pic>
                </p:oleObj>
              </mc:Fallback>
            </mc:AlternateContent>
          </a:graphicData>
        </a:graphic>
      </p:graphicFrame>
      <p:graphicFrame>
        <p:nvGraphicFramePr>
          <p:cNvPr id="9" name="对象 8"/>
          <p:cNvGraphicFramePr/>
          <p:nvPr>
            <p:custDataLst>
              <p:tags r:id="rId12"/>
            </p:custDataLst>
          </p:nvPr>
        </p:nvGraphicFramePr>
        <p:xfrm>
          <a:off x="3690620" y="2458085"/>
          <a:ext cx="4311650" cy="528320"/>
        </p:xfrm>
        <a:graphic>
          <a:graphicData uri="http://schemas.openxmlformats.org/presentationml/2006/ole">
            <mc:AlternateContent xmlns:mc="http://schemas.openxmlformats.org/markup-compatibility/2006">
              <mc:Choice xmlns:v="urn:schemas-microsoft-com:vml" Requires="v">
                <p:oleObj spid="_x0000_s10" name="" r:id="rId13" imgW="3896360" imgH="572135" progId="Equation.DSMT4">
                  <p:embed/>
                </p:oleObj>
              </mc:Choice>
              <mc:Fallback>
                <p:oleObj name="" r:id="rId13" imgW="3896360" imgH="572135" progId="Equation.DSMT4">
                  <p:embed/>
                  <p:pic>
                    <p:nvPicPr>
                      <p:cNvPr id="0" name="图片 9"/>
                      <p:cNvPicPr/>
                      <p:nvPr/>
                    </p:nvPicPr>
                    <p:blipFill>
                      <a:blip r:embed="rId14"/>
                      <a:stretch>
                        <a:fillRect/>
                      </a:stretch>
                    </p:blipFill>
                    <p:spPr>
                      <a:xfrm>
                        <a:off x="3690620" y="2458085"/>
                        <a:ext cx="4311650" cy="528320"/>
                      </a:xfrm>
                      <a:prstGeom prst="rect">
                        <a:avLst/>
                      </a:prstGeom>
                    </p:spPr>
                  </p:pic>
                </p:oleObj>
              </mc:Fallback>
            </mc:AlternateContent>
          </a:graphicData>
        </a:graphic>
      </p:graphicFrame>
      <p:sp>
        <p:nvSpPr>
          <p:cNvPr id="15" name="文本框 14"/>
          <p:cNvSpPr txBox="1"/>
          <p:nvPr/>
        </p:nvSpPr>
        <p:spPr>
          <a:xfrm>
            <a:off x="8960485" y="2517775"/>
            <a:ext cx="1628140" cy="460375"/>
          </a:xfrm>
          <a:prstGeom prst="rect">
            <a:avLst/>
          </a:prstGeom>
          <a:noFill/>
        </p:spPr>
        <p:txBody>
          <a:bodyPr wrap="square" rtlCol="0">
            <a:spAutoFit/>
          </a:bodyPr>
          <a:p>
            <a:r>
              <a:rPr lang="zh-CN" altLang="en-US"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8.8</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graphicFrame>
        <p:nvGraphicFramePr>
          <p:cNvPr id="16" name="对象 15"/>
          <p:cNvGraphicFramePr/>
          <p:nvPr>
            <p:custDataLst>
              <p:tags r:id="rId15"/>
            </p:custDataLst>
          </p:nvPr>
        </p:nvGraphicFramePr>
        <p:xfrm>
          <a:off x="4003040" y="3159760"/>
          <a:ext cx="3686810" cy="1057275"/>
        </p:xfrm>
        <a:graphic>
          <a:graphicData uri="http://schemas.openxmlformats.org/presentationml/2006/ole">
            <mc:AlternateContent xmlns:mc="http://schemas.openxmlformats.org/markup-compatibility/2006">
              <mc:Choice xmlns:v="urn:schemas-microsoft-com:vml" Requires="v">
                <p:oleObj spid="_x0000_s17" name="" r:id="rId16" imgW="2243455" imgH="750570" progId="Equation.DSMT4">
                  <p:embed/>
                </p:oleObj>
              </mc:Choice>
              <mc:Fallback>
                <p:oleObj name="" r:id="rId16" imgW="2243455" imgH="750570" progId="Equation.DSMT4">
                  <p:embed/>
                  <p:pic>
                    <p:nvPicPr>
                      <p:cNvPr id="0" name="图片 16"/>
                      <p:cNvPicPr/>
                      <p:nvPr/>
                    </p:nvPicPr>
                    <p:blipFill>
                      <a:blip r:embed="rId17"/>
                      <a:stretch>
                        <a:fillRect/>
                      </a:stretch>
                    </p:blipFill>
                    <p:spPr>
                      <a:xfrm>
                        <a:off x="4003040" y="3159760"/>
                        <a:ext cx="3686810" cy="1057275"/>
                      </a:xfrm>
                      <a:prstGeom prst="rect">
                        <a:avLst/>
                      </a:prstGeom>
                    </p:spPr>
                  </p:pic>
                </p:oleObj>
              </mc:Fallback>
            </mc:AlternateContent>
          </a:graphicData>
        </a:graphic>
      </p:graphicFrame>
      <p:sp>
        <p:nvSpPr>
          <p:cNvPr id="18" name="文本框 17"/>
          <p:cNvSpPr txBox="1"/>
          <p:nvPr/>
        </p:nvSpPr>
        <p:spPr>
          <a:xfrm>
            <a:off x="8960485" y="3355340"/>
            <a:ext cx="915670" cy="460375"/>
          </a:xfrm>
          <a:prstGeom prst="rect">
            <a:avLst/>
          </a:prstGeom>
          <a:noFill/>
        </p:spPr>
        <p:txBody>
          <a:bodyPr wrap="square" rtlCol="0">
            <a:spAutoFit/>
          </a:bodyPr>
          <a:p>
            <a:r>
              <a:rPr lang="zh-CN" altLang="en-US"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8.9</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sp>
        <p:nvSpPr>
          <p:cNvPr id="19" name="文本框 18"/>
          <p:cNvSpPr txBox="1"/>
          <p:nvPr/>
        </p:nvSpPr>
        <p:spPr>
          <a:xfrm>
            <a:off x="1286510" y="4217035"/>
            <a:ext cx="9302750"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在行走过程中，当四足机器人的身体质量中心保持一个恒定高度时，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，从而上式可简化为</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0" name="对象 19"/>
          <p:cNvGraphicFramePr/>
          <p:nvPr>
            <p:custDataLst>
              <p:tags r:id="rId18"/>
            </p:custDataLst>
          </p:nvPr>
        </p:nvGraphicFramePr>
        <p:xfrm>
          <a:off x="1842135" y="5022215"/>
          <a:ext cx="895350" cy="393700"/>
        </p:xfrm>
        <a:graphic>
          <a:graphicData uri="http://schemas.openxmlformats.org/presentationml/2006/ole">
            <mc:AlternateContent xmlns:mc="http://schemas.openxmlformats.org/markup-compatibility/2006">
              <mc:Choice xmlns:v="urn:schemas-microsoft-com:vml" Requires="v">
                <p:oleObj spid="_x0000_s21" name="" r:id="rId19" imgW="533400" imgH="279400" progId="Equation.DSMT4">
                  <p:embed/>
                </p:oleObj>
              </mc:Choice>
              <mc:Fallback>
                <p:oleObj name="" r:id="rId19" imgW="533400" imgH="279400" progId="Equation.DSMT4">
                  <p:embed/>
                  <p:pic>
                    <p:nvPicPr>
                      <p:cNvPr id="0" name="图片 5"/>
                      <p:cNvPicPr/>
                      <p:nvPr/>
                    </p:nvPicPr>
                    <p:blipFill>
                      <a:blip r:embed="rId20"/>
                      <a:stretch>
                        <a:fillRect/>
                      </a:stretch>
                    </p:blipFill>
                    <p:spPr>
                      <a:xfrm>
                        <a:off x="1842135" y="5022215"/>
                        <a:ext cx="895350" cy="393700"/>
                      </a:xfrm>
                      <a:prstGeom prst="rect">
                        <a:avLst/>
                      </a:prstGeom>
                    </p:spPr>
                  </p:pic>
                </p:oleObj>
              </mc:Fallback>
            </mc:AlternateContent>
          </a:graphicData>
        </a:graphic>
      </p:graphicFrame>
      <p:graphicFrame>
        <p:nvGraphicFramePr>
          <p:cNvPr id="22" name="对象 21"/>
          <p:cNvGraphicFramePr/>
          <p:nvPr>
            <p:custDataLst>
              <p:tags r:id="rId21"/>
            </p:custDataLst>
          </p:nvPr>
        </p:nvGraphicFramePr>
        <p:xfrm>
          <a:off x="3009583" y="5064760"/>
          <a:ext cx="805815" cy="351155"/>
        </p:xfrm>
        <a:graphic>
          <a:graphicData uri="http://schemas.openxmlformats.org/presentationml/2006/ole">
            <mc:AlternateContent xmlns:mc="http://schemas.openxmlformats.org/markup-compatibility/2006">
              <mc:Choice xmlns:v="urn:schemas-microsoft-com:vml" Requires="v">
                <p:oleObj spid="_x0000_s23" name="" r:id="rId22" imgW="545465" imgH="279400" progId="Equation.DSMT4">
                  <p:embed/>
                </p:oleObj>
              </mc:Choice>
              <mc:Fallback>
                <p:oleObj name="" r:id="rId22" imgW="545465" imgH="279400" progId="Equation.DSMT4">
                  <p:embed/>
                  <p:pic>
                    <p:nvPicPr>
                      <p:cNvPr id="0" name="图片 5"/>
                      <p:cNvPicPr/>
                      <p:nvPr/>
                    </p:nvPicPr>
                    <p:blipFill>
                      <a:blip r:embed="rId23"/>
                      <a:stretch>
                        <a:fillRect/>
                      </a:stretch>
                    </p:blipFill>
                    <p:spPr>
                      <a:xfrm>
                        <a:off x="3009583" y="5064760"/>
                        <a:ext cx="805815" cy="351155"/>
                      </a:xfrm>
                      <a:prstGeom prst="rect">
                        <a:avLst/>
                      </a:prstGeom>
                    </p:spPr>
                  </p:pic>
                </p:oleObj>
              </mc:Fallback>
            </mc:AlternateContent>
          </a:graphicData>
        </a:graphic>
      </p:graphicFrame>
      <p:sp>
        <p:nvSpPr>
          <p:cNvPr id="26" name="文本框 25"/>
          <p:cNvSpPr txBox="1"/>
          <p:nvPr/>
        </p:nvSpPr>
        <p:spPr>
          <a:xfrm>
            <a:off x="8960485" y="5817235"/>
            <a:ext cx="1110615" cy="460375"/>
          </a:xfrm>
          <a:prstGeom prst="rect">
            <a:avLst/>
          </a:prstGeom>
          <a:noFill/>
        </p:spPr>
        <p:txBody>
          <a:bodyPr wrap="square" rtlCol="0">
            <a:spAutoFit/>
          </a:bodyPr>
          <a:p>
            <a:r>
              <a:rPr lang="zh-CN" altLang="en-US"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8.10</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graphicFrame>
        <p:nvGraphicFramePr>
          <p:cNvPr id="29" name="对象 28"/>
          <p:cNvGraphicFramePr/>
          <p:nvPr>
            <p:custDataLst>
              <p:tags r:id="rId24"/>
            </p:custDataLst>
          </p:nvPr>
        </p:nvGraphicFramePr>
        <p:xfrm>
          <a:off x="4701540" y="5747385"/>
          <a:ext cx="2740025" cy="770890"/>
        </p:xfrm>
        <a:graphic>
          <a:graphicData uri="http://schemas.openxmlformats.org/presentationml/2006/ole">
            <mc:AlternateContent xmlns:mc="http://schemas.openxmlformats.org/markup-compatibility/2006">
              <mc:Choice xmlns:v="urn:schemas-microsoft-com:vml" Requires="v">
                <p:oleObj spid="_x0000_s30" name="" r:id="rId25" imgW="2878455" imgH="824865" progId="Equation.DSMT4">
                  <p:embed/>
                </p:oleObj>
              </mc:Choice>
              <mc:Fallback>
                <p:oleObj name="" r:id="rId25" imgW="2878455" imgH="824865" progId="Equation.DSMT4">
                  <p:embed/>
                  <p:pic>
                    <p:nvPicPr>
                      <p:cNvPr id="0" name="图片 29"/>
                      <p:cNvPicPr/>
                      <p:nvPr/>
                    </p:nvPicPr>
                    <p:blipFill>
                      <a:blip r:embed="rId26"/>
                      <a:stretch>
                        <a:fillRect/>
                      </a:stretch>
                    </p:blipFill>
                    <p:spPr>
                      <a:xfrm>
                        <a:off x="4701540" y="5747385"/>
                        <a:ext cx="2740025" cy="77089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4578" name="图片 2"/>
          <p:cNvPicPr>
            <a:picLocks noChangeAspect="1"/>
          </p:cNvPicPr>
          <p:nvPr>
            <p:custDataLst>
              <p:tags r:id="rId2"/>
            </p:custDataLst>
          </p:nvPr>
        </p:nvPicPr>
        <p:blipFill>
          <a:blip r:embed="rId3"/>
          <a:stretch>
            <a:fillRect/>
          </a:stretch>
        </p:blipFill>
        <p:spPr>
          <a:xfrm>
            <a:off x="3806190" y="1108710"/>
            <a:ext cx="4579620" cy="3849370"/>
          </a:xfrm>
          <a:prstGeom prst="rect">
            <a:avLst/>
          </a:prstGeom>
          <a:noFill/>
          <a:ln w="9525">
            <a:noFill/>
          </a:ln>
        </p:spPr>
      </p:pic>
      <p:sp>
        <p:nvSpPr>
          <p:cNvPr id="2" name="文本框 1"/>
          <p:cNvSpPr txBox="1"/>
          <p:nvPr/>
        </p:nvSpPr>
        <p:spPr>
          <a:xfrm>
            <a:off x="1711325" y="5074285"/>
            <a:ext cx="8401685" cy="829945"/>
          </a:xfrm>
          <a:prstGeom prst="rect">
            <a:avLst/>
          </a:prstGeom>
          <a:noFill/>
        </p:spPr>
        <p:txBody>
          <a:bodyPr wrap="square" rtlCol="0" anchor="t">
            <a:spAutoFit/>
          </a:bodyPr>
          <a:p>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直接计算上式的逆问题比较困难，既根据一个期望的</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ZMP</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运动轨迹来得出需要的身体质量中心运动轨迹的问题。</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035685"/>
            <a:ext cx="9059545" cy="2306955"/>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22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因此，为了求解这个问题，二阶系统中加入水平加速度作为状态变量，使之成为一个三阶系统，使得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可以表示成一个状态变量的输出，从而，可以定义一个新的变量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令其为关于身体质量中心的水平加速度关于时间 </a:t>
            </a:r>
            <a:r>
              <a:rPr kumimoji="1" lang="en-US" altLang="zh-CN" sz="2400" b="1" i="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t</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的偏导数，可得</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6828790" y="2325370"/>
          <a:ext cx="313055" cy="431165"/>
        </p:xfrm>
        <a:graphic>
          <a:graphicData uri="http://schemas.openxmlformats.org/presentationml/2006/ole">
            <mc:AlternateContent xmlns:mc="http://schemas.openxmlformats.org/markup-compatibility/2006">
              <mc:Choice xmlns:v="urn:schemas-microsoft-com:vml" Requires="v">
                <p:oleObj spid="_x0000_s4" name="" r:id="rId3" imgW="203200" imgH="279400" progId="Equation.DSMT4">
                  <p:embed/>
                </p:oleObj>
              </mc:Choice>
              <mc:Fallback>
                <p:oleObj name="" r:id="rId3" imgW="203200" imgH="279400" progId="Equation.DSMT4">
                  <p:embed/>
                  <p:pic>
                    <p:nvPicPr>
                      <p:cNvPr id="0" name="图片 3"/>
                      <p:cNvPicPr/>
                      <p:nvPr/>
                    </p:nvPicPr>
                    <p:blipFill>
                      <a:blip r:embed="rId4"/>
                      <a:stretch>
                        <a:fillRect/>
                      </a:stretch>
                    </p:blipFill>
                    <p:spPr>
                      <a:xfrm>
                        <a:off x="6828790" y="2325370"/>
                        <a:ext cx="313055" cy="431165"/>
                      </a:xfrm>
                      <a:prstGeom prst="rect">
                        <a:avLst/>
                      </a:prstGeom>
                    </p:spPr>
                  </p:pic>
                </p:oleObj>
              </mc:Fallback>
            </mc:AlternateContent>
          </a:graphicData>
        </a:graphic>
      </p:graphicFrame>
      <p:graphicFrame>
        <p:nvGraphicFramePr>
          <p:cNvPr id="7" name="对象 6"/>
          <p:cNvGraphicFramePr/>
          <p:nvPr>
            <p:custDataLst>
              <p:tags r:id="rId5"/>
            </p:custDataLst>
          </p:nvPr>
        </p:nvGraphicFramePr>
        <p:xfrm>
          <a:off x="6096000" y="1770380"/>
          <a:ext cx="663575" cy="436880"/>
        </p:xfrm>
        <a:graphic>
          <a:graphicData uri="http://schemas.openxmlformats.org/presentationml/2006/ole">
            <mc:AlternateContent xmlns:mc="http://schemas.openxmlformats.org/markup-compatibility/2006">
              <mc:Choice xmlns:v="urn:schemas-microsoft-com:vml" Requires="v">
                <p:oleObj spid="_x0000_s8" name="" r:id="rId6" imgW="342900" imgH="304800" progId="Equation.DSMT4">
                  <p:embed/>
                </p:oleObj>
              </mc:Choice>
              <mc:Fallback>
                <p:oleObj name="" r:id="rId6" imgW="342900" imgH="304800" progId="Equation.DSMT4">
                  <p:embed/>
                  <p:pic>
                    <p:nvPicPr>
                      <p:cNvPr id="0" name="图片 5"/>
                      <p:cNvPicPr/>
                      <p:nvPr/>
                    </p:nvPicPr>
                    <p:blipFill>
                      <a:blip r:embed="rId7"/>
                      <a:stretch>
                        <a:fillRect/>
                      </a:stretch>
                    </p:blipFill>
                    <p:spPr>
                      <a:xfrm>
                        <a:off x="6096000" y="1770380"/>
                        <a:ext cx="663575" cy="436880"/>
                      </a:xfrm>
                      <a:prstGeom prst="rect">
                        <a:avLst/>
                      </a:prstGeom>
                    </p:spPr>
                  </p:pic>
                </p:oleObj>
              </mc:Fallback>
            </mc:AlternateContent>
          </a:graphicData>
        </a:graphic>
      </p:graphicFrame>
      <p:graphicFrame>
        <p:nvGraphicFramePr>
          <p:cNvPr id="9" name="对象 8"/>
          <p:cNvGraphicFramePr/>
          <p:nvPr>
            <p:custDataLst>
              <p:tags r:id="rId8"/>
            </p:custDataLst>
          </p:nvPr>
        </p:nvGraphicFramePr>
        <p:xfrm>
          <a:off x="4264660" y="3613150"/>
          <a:ext cx="2564130" cy="961390"/>
        </p:xfrm>
        <a:graphic>
          <a:graphicData uri="http://schemas.openxmlformats.org/presentationml/2006/ole">
            <mc:AlternateContent xmlns:mc="http://schemas.openxmlformats.org/markup-compatibility/2006">
              <mc:Choice xmlns:v="urn:schemas-microsoft-com:vml" Requires="v">
                <p:oleObj spid="_x0000_s10" name="" r:id="rId9" imgW="1569085" imgH="916940" progId="Equation.DSMT4">
                  <p:embed/>
                </p:oleObj>
              </mc:Choice>
              <mc:Fallback>
                <p:oleObj name="" r:id="rId9" imgW="1569085" imgH="916940" progId="Equation.DSMT4">
                  <p:embed/>
                  <p:pic>
                    <p:nvPicPr>
                      <p:cNvPr id="0" name="图片 9"/>
                      <p:cNvPicPr/>
                      <p:nvPr/>
                    </p:nvPicPr>
                    <p:blipFill>
                      <a:blip r:embed="rId10"/>
                      <a:stretch>
                        <a:fillRect/>
                      </a:stretch>
                    </p:blipFill>
                    <p:spPr>
                      <a:xfrm>
                        <a:off x="4264660" y="3613150"/>
                        <a:ext cx="2564130" cy="961390"/>
                      </a:xfrm>
                      <a:prstGeom prst="rect">
                        <a:avLst/>
                      </a:prstGeom>
                    </p:spPr>
                  </p:pic>
                </p:oleObj>
              </mc:Fallback>
            </mc:AlternateContent>
          </a:graphicData>
        </a:graphic>
      </p:graphicFrame>
      <p:sp>
        <p:nvSpPr>
          <p:cNvPr id="11" name="文本框 10"/>
          <p:cNvSpPr txBox="1"/>
          <p:nvPr/>
        </p:nvSpPr>
        <p:spPr>
          <a:xfrm>
            <a:off x="1045845" y="4650105"/>
            <a:ext cx="8769350"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把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当成输入，从而可以把</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ZMP</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方程转换成一个严格的动态系统</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2" name="对象 11"/>
          <p:cNvGraphicFramePr/>
          <p:nvPr>
            <p:custDataLst>
              <p:tags r:id="rId11"/>
            </p:custDataLst>
          </p:nvPr>
        </p:nvGraphicFramePr>
        <p:xfrm>
          <a:off x="1814195" y="4770120"/>
          <a:ext cx="313055" cy="431165"/>
        </p:xfrm>
        <a:graphic>
          <a:graphicData uri="http://schemas.openxmlformats.org/presentationml/2006/ole">
            <mc:AlternateContent xmlns:mc="http://schemas.openxmlformats.org/markup-compatibility/2006">
              <mc:Choice xmlns:v="urn:schemas-microsoft-com:vml" Requires="v">
                <p:oleObj spid="_x0000_s13" name="" r:id="rId12" imgW="203200" imgH="279400" progId="Equation.DSMT4">
                  <p:embed/>
                </p:oleObj>
              </mc:Choice>
              <mc:Fallback>
                <p:oleObj name="" r:id="rId12" imgW="203200" imgH="279400" progId="Equation.DSMT4">
                  <p:embed/>
                  <p:pic>
                    <p:nvPicPr>
                      <p:cNvPr id="0" name="图片 3"/>
                      <p:cNvPicPr/>
                      <p:nvPr/>
                    </p:nvPicPr>
                    <p:blipFill>
                      <a:blip r:embed="rId4"/>
                      <a:stretch>
                        <a:fillRect/>
                      </a:stretch>
                    </p:blipFill>
                    <p:spPr>
                      <a:xfrm>
                        <a:off x="1814195" y="4770120"/>
                        <a:ext cx="313055" cy="431165"/>
                      </a:xfrm>
                      <a:prstGeom prst="rect">
                        <a:avLst/>
                      </a:prstGeom>
                    </p:spPr>
                  </p:pic>
                </p:oleObj>
              </mc:Fallback>
            </mc:AlternateContent>
          </a:graphicData>
        </a:graphic>
      </p:graphicFrame>
      <p:sp>
        <p:nvSpPr>
          <p:cNvPr id="15" name="文本框 14"/>
          <p:cNvSpPr txBox="1"/>
          <p:nvPr/>
        </p:nvSpPr>
        <p:spPr>
          <a:xfrm>
            <a:off x="8698865" y="3778885"/>
            <a:ext cx="1088390" cy="460375"/>
          </a:xfrm>
          <a:prstGeom prst="rect">
            <a:avLst/>
          </a:prstGeom>
          <a:noFill/>
        </p:spPr>
        <p:txBody>
          <a:bodyPr wrap="square" rtlCol="0">
            <a:spAutoFit/>
          </a:bodyPr>
          <a:p>
            <a:r>
              <a:rPr lang="zh-CN" altLang="en-US"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8.11</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1"/>
          <p:cNvGraphicFramePr/>
          <p:nvPr>
            <p:custDataLst>
              <p:tags r:id="rId2"/>
            </p:custDataLst>
          </p:nvPr>
        </p:nvGraphicFramePr>
        <p:xfrm>
          <a:off x="3664585" y="1115695"/>
          <a:ext cx="4789170" cy="2229485"/>
        </p:xfrm>
        <a:graphic>
          <a:graphicData uri="http://schemas.openxmlformats.org/presentationml/2006/ole">
            <mc:AlternateContent xmlns:mc="http://schemas.openxmlformats.org/markup-compatibility/2006">
              <mc:Choice xmlns:v="urn:schemas-microsoft-com:vml" Requires="v">
                <p:oleObj spid="_x0000_s3" name="" r:id="rId3" imgW="3562350" imgH="2263140" progId="Equation.DSMT4">
                  <p:embed/>
                </p:oleObj>
              </mc:Choice>
              <mc:Fallback>
                <p:oleObj name="" r:id="rId3" imgW="3562350" imgH="2263140" progId="Equation.DSMT4">
                  <p:embed/>
                  <p:pic>
                    <p:nvPicPr>
                      <p:cNvPr id="0" name="图片 2"/>
                      <p:cNvPicPr/>
                      <p:nvPr/>
                    </p:nvPicPr>
                    <p:blipFill>
                      <a:blip r:embed="rId4"/>
                      <a:stretch>
                        <a:fillRect/>
                      </a:stretch>
                    </p:blipFill>
                    <p:spPr>
                      <a:xfrm>
                        <a:off x="3664585" y="1115695"/>
                        <a:ext cx="4789170" cy="2229485"/>
                      </a:xfrm>
                      <a:prstGeom prst="rect">
                        <a:avLst/>
                      </a:prstGeom>
                    </p:spPr>
                  </p:pic>
                </p:oleObj>
              </mc:Fallback>
            </mc:AlternateContent>
          </a:graphicData>
        </a:graphic>
      </p:graphicFrame>
      <p:sp>
        <p:nvSpPr>
          <p:cNvPr id="4" name="文本框 3"/>
          <p:cNvSpPr txBox="1"/>
          <p:nvPr/>
        </p:nvSpPr>
        <p:spPr>
          <a:xfrm>
            <a:off x="9453245" y="2000250"/>
            <a:ext cx="1152525" cy="460375"/>
          </a:xfrm>
          <a:prstGeom prst="rect">
            <a:avLst/>
          </a:prstGeom>
          <a:noFill/>
        </p:spPr>
        <p:txBody>
          <a:bodyPr wrap="square" rtlCol="0">
            <a:spAutoFit/>
          </a:bodyPr>
          <a:p>
            <a:r>
              <a:rPr lang="zh-CN" altLang="en-US" sz="2400" b="1">
                <a:latin typeface="Times New Roman" panose="02020603050405020304" pitchFamily="18" charset="0"/>
                <a:cs typeface="Times New Roman" panose="02020603050405020304" pitchFamily="18" charset="0"/>
              </a:rPr>
              <a:t>（</a:t>
            </a:r>
            <a:r>
              <a:rPr lang="en-US" altLang="zh-CN" sz="2400" b="1">
                <a:latin typeface="Times New Roman" panose="02020603050405020304" pitchFamily="18" charset="0"/>
                <a:cs typeface="Times New Roman" panose="02020603050405020304" pitchFamily="18" charset="0"/>
              </a:rPr>
              <a:t>8.12</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sp>
        <p:nvSpPr>
          <p:cNvPr id="5" name="文本框 4"/>
          <p:cNvSpPr txBox="1"/>
          <p:nvPr/>
        </p:nvSpPr>
        <p:spPr>
          <a:xfrm>
            <a:off x="1140460" y="3287395"/>
            <a:ext cx="9383395" cy="286131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为机器人身体质量中心的离地高度，</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g</a:t>
            </a:r>
            <a:r>
              <a:rPr kumimoji="1" lang="zh-CN" altLang="en-US"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为重力加速度。同理，可以定义关于  </a:t>
            </a:r>
            <a:r>
              <a:rPr kumimoji="1"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的动态系统方程。通过使用动态系统，可以构造一个行走模式生成器作为</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ZMP</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的跟踪控制系统。这个系统能够产生一个身体质量中心的轨迹使得</a:t>
            </a:r>
            <a:r>
              <a:rPr kumimoji="1" lang="en-US" altLang="zh-CN" sz="2400" b="1"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ZMP</a:t>
            </a:r>
            <a:r>
              <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与其期望的参考轨迹产生尽可能小的误差。</a:t>
            </a:r>
            <a:endParaRPr kumimoji="1"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对象 5"/>
          <p:cNvGraphicFramePr/>
          <p:nvPr>
            <p:custDataLst>
              <p:tags r:id="rId5"/>
            </p:custDataLst>
          </p:nvPr>
        </p:nvGraphicFramePr>
        <p:xfrm>
          <a:off x="2336165" y="3429000"/>
          <a:ext cx="474980" cy="494665"/>
        </p:xfrm>
        <a:graphic>
          <a:graphicData uri="http://schemas.openxmlformats.org/presentationml/2006/ole">
            <mc:AlternateContent xmlns:mc="http://schemas.openxmlformats.org/markup-compatibility/2006">
              <mc:Choice xmlns:v="urn:schemas-microsoft-com:vml" Requires="v">
                <p:oleObj spid="_x0000_s7" name="" r:id="rId6" imgW="177165" imgH="228600" progId="Equation.DSMT4">
                  <p:embed/>
                </p:oleObj>
              </mc:Choice>
              <mc:Fallback>
                <p:oleObj name="" r:id="rId6" imgW="177165" imgH="228600" progId="Equation.DSMT4">
                  <p:embed/>
                  <p:pic>
                    <p:nvPicPr>
                      <p:cNvPr id="0" name="图片 2"/>
                      <p:cNvPicPr/>
                      <p:nvPr/>
                    </p:nvPicPr>
                    <p:blipFill>
                      <a:blip r:embed="rId7"/>
                      <a:stretch>
                        <a:fillRect/>
                      </a:stretch>
                    </p:blipFill>
                    <p:spPr>
                      <a:xfrm>
                        <a:off x="2336165" y="3429000"/>
                        <a:ext cx="474980" cy="494665"/>
                      </a:xfrm>
                      <a:prstGeom prst="rect">
                        <a:avLst/>
                      </a:prstGeom>
                    </p:spPr>
                  </p:pic>
                </p:oleObj>
              </mc:Fallback>
            </mc:AlternateContent>
          </a:graphicData>
        </a:graphic>
      </p:graphicFrame>
      <p:graphicFrame>
        <p:nvGraphicFramePr>
          <p:cNvPr id="8" name="对象 7"/>
          <p:cNvGraphicFramePr/>
          <p:nvPr>
            <p:custDataLst>
              <p:tags r:id="rId8"/>
            </p:custDataLst>
          </p:nvPr>
        </p:nvGraphicFramePr>
        <p:xfrm>
          <a:off x="3664585" y="3923665"/>
          <a:ext cx="749300" cy="522605"/>
        </p:xfrm>
        <a:graphic>
          <a:graphicData uri="http://schemas.openxmlformats.org/presentationml/2006/ole">
            <mc:AlternateContent xmlns:mc="http://schemas.openxmlformats.org/markup-compatibility/2006">
              <mc:Choice xmlns:v="urn:schemas-microsoft-com:vml" Requires="v">
                <p:oleObj spid="_x0000_s9" name="" r:id="rId9" imgW="279400" imgH="241300" progId="Equation.DSMT4">
                  <p:embed/>
                </p:oleObj>
              </mc:Choice>
              <mc:Fallback>
                <p:oleObj name="" r:id="rId9" imgW="279400" imgH="241300" progId="Equation.DSMT4">
                  <p:embed/>
                  <p:pic>
                    <p:nvPicPr>
                      <p:cNvPr id="0" name="图片 2"/>
                      <p:cNvPicPr/>
                      <p:nvPr/>
                    </p:nvPicPr>
                    <p:blipFill>
                      <a:blip r:embed="rId10"/>
                      <a:stretch>
                        <a:fillRect/>
                      </a:stretch>
                    </p:blipFill>
                    <p:spPr>
                      <a:xfrm>
                        <a:off x="3664585" y="3923665"/>
                        <a:ext cx="749300" cy="522605"/>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35735" y="1416050"/>
            <a:ext cx="8354695"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kumimoji="1" lang="en-US" altLang="zh-CN" sz="2400" b="1" noProof="0" dirty="0">
                <a:ln>
                  <a:noFill/>
                </a:ln>
                <a:solidFill>
                  <a:srgbClr val="FFFFFF"/>
                </a:solidFill>
                <a:effectLst>
                  <a:outerShdw blurRad="38100" dist="38100" dir="2700000" algn="tl">
                    <a:srgbClr val="000000"/>
                  </a:outerShdw>
                </a:effectLst>
                <a:uLnTx/>
                <a:uFillTx/>
                <a:latin typeface="宋体" panose="02010600030101010101" pitchFamily="2" charset="-122"/>
                <a:ea typeface="宋体" panose="02010600030101010101" pitchFamily="2" charset="-122"/>
                <a:sym typeface="+mn-ea"/>
              </a:rPr>
              <a:t>   </a:t>
            </a:r>
            <a:r>
              <a:rPr lang="en-US" altLang="zh-CN" sz="2400" b="1" kern="100" noProof="0" dirty="0">
                <a:ln>
                  <a:noFill/>
                </a:ln>
                <a:effectLst/>
                <a:uLnTx/>
                <a:uFillTx/>
                <a:latin typeface="Times New Roman" panose="02020603050405020304" pitchFamily="18" charset="0"/>
                <a:ea typeface="宋体" panose="02010600030101010101" pitchFamily="2" charset="-122"/>
                <a:sym typeface="+mn-ea"/>
              </a:rPr>
              <a:t>ZMP</a:t>
            </a:r>
            <a:r>
              <a:rPr lang="zh-CN" altLang="zh-CN" sz="24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跟踪控制系统的方框图如图所示，该系统是一个可控可观的动态系统。</a:t>
            </a:r>
            <a:endParaRPr lang="zh-CN" altLang="zh-CN" sz="24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零点力矩法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8675" name="图片 7"/>
          <p:cNvPicPr>
            <a:picLocks noChangeAspect="1"/>
          </p:cNvPicPr>
          <p:nvPr>
            <p:custDataLst>
              <p:tags r:id="rId2"/>
            </p:custDataLst>
          </p:nvPr>
        </p:nvPicPr>
        <p:blipFill>
          <a:blip r:embed="rId3"/>
          <a:stretch>
            <a:fillRect/>
          </a:stretch>
        </p:blipFill>
        <p:spPr>
          <a:xfrm>
            <a:off x="1871980" y="2890203"/>
            <a:ext cx="7918450" cy="28797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动态稳定裕度方法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042670"/>
            <a:ext cx="9370060" cy="1753235"/>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zh-CN" sz="24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四足机器人在运动过程中，作用在机器人身体质心的力和动量会使机器人变得不稳定，如要保持机器人的身体质心稳定，基于机器人的动量稳定性准则，需要满足下面的动态方程</a:t>
            </a:r>
            <a:r>
              <a:rPr lang="zh-CN" altLang="en-US" sz="24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en-US" sz="2400" b="1" kern="10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3" name="对象 2"/>
          <p:cNvGraphicFramePr/>
          <p:nvPr>
            <p:custDataLst>
              <p:tags r:id="rId2"/>
            </p:custDataLst>
          </p:nvPr>
        </p:nvGraphicFramePr>
        <p:xfrm>
          <a:off x="3837940" y="3229610"/>
          <a:ext cx="3182620" cy="567055"/>
        </p:xfrm>
        <a:graphic>
          <a:graphicData uri="http://schemas.openxmlformats.org/presentationml/2006/ole">
            <mc:AlternateContent xmlns:mc="http://schemas.openxmlformats.org/markup-compatibility/2006">
              <mc:Choice xmlns:v="urn:schemas-microsoft-com:vml" Requires="v">
                <p:oleObj spid="_x0000_s4" name="" r:id="rId3" imgW="2492375" imgH="553085" progId="Equation.DSMT4">
                  <p:embed/>
                </p:oleObj>
              </mc:Choice>
              <mc:Fallback>
                <p:oleObj name="" r:id="rId3" imgW="2492375" imgH="553085" progId="Equation.DSMT4">
                  <p:embed/>
                  <p:pic>
                    <p:nvPicPr>
                      <p:cNvPr id="0" name="图片 3"/>
                      <p:cNvPicPr/>
                      <p:nvPr/>
                    </p:nvPicPr>
                    <p:blipFill>
                      <a:blip r:embed="rId4"/>
                      <a:stretch>
                        <a:fillRect/>
                      </a:stretch>
                    </p:blipFill>
                    <p:spPr>
                      <a:xfrm>
                        <a:off x="3837940" y="3229610"/>
                        <a:ext cx="3182620" cy="56705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3949700" y="4229735"/>
          <a:ext cx="3070860" cy="502920"/>
        </p:xfrm>
        <a:graphic>
          <a:graphicData uri="http://schemas.openxmlformats.org/presentationml/2006/ole">
            <mc:AlternateContent xmlns:mc="http://schemas.openxmlformats.org/markup-compatibility/2006">
              <mc:Choice xmlns:v="urn:schemas-microsoft-com:vml" Requires="v">
                <p:oleObj spid="_x0000_s6" name="" r:id="rId6" imgW="2759710" imgH="522605" progId="Equation.DSMT4">
                  <p:embed/>
                </p:oleObj>
              </mc:Choice>
              <mc:Fallback>
                <p:oleObj name="" r:id="rId6" imgW="2759710" imgH="522605" progId="Equation.DSMT4">
                  <p:embed/>
                  <p:pic>
                    <p:nvPicPr>
                      <p:cNvPr id="0" name="图片 5"/>
                      <p:cNvPicPr/>
                      <p:nvPr/>
                    </p:nvPicPr>
                    <p:blipFill>
                      <a:blip r:embed="rId7"/>
                      <a:stretch>
                        <a:fillRect/>
                      </a:stretch>
                    </p:blipFill>
                    <p:spPr>
                      <a:xfrm>
                        <a:off x="3949700" y="4229735"/>
                        <a:ext cx="3070860" cy="502920"/>
                      </a:xfrm>
                      <a:prstGeom prst="rect">
                        <a:avLst/>
                      </a:prstGeom>
                    </p:spPr>
                  </p:pic>
                </p:oleObj>
              </mc:Fallback>
            </mc:AlternateContent>
          </a:graphicData>
        </a:graphic>
      </p:graphicFrame>
      <p:sp>
        <p:nvSpPr>
          <p:cNvPr id="7" name="文本框 6"/>
          <p:cNvSpPr txBox="1"/>
          <p:nvPr/>
        </p:nvSpPr>
        <p:spPr>
          <a:xfrm>
            <a:off x="1127125" y="4949190"/>
            <a:ext cx="8853170"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400" b="1" kern="1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其中，下标 </a:t>
            </a:r>
            <a:r>
              <a:rPr lang="en-US" altLang="zh-CN" sz="2400" b="1" i="1" kern="1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 , S , G , M </a:t>
            </a:r>
            <a:r>
              <a:rPr lang="zh-CN" altLang="en-US" sz="2400" b="1" kern="1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分别表示惯性力，支撑力，重力和外界对机器人的影响。</a:t>
            </a:r>
            <a:endParaRPr lang="zh-CN" altLang="en-US" sz="2400" b="1" kern="1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8956040" y="3149600"/>
            <a:ext cx="164211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8956040" y="4319270"/>
            <a:ext cx="1642745"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动态稳定裕度方法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430020"/>
            <a:ext cx="9772650" cy="4530725"/>
          </a:xfrm>
          <a:prstGeom prst="rect">
            <a:avLst/>
          </a:prstGeom>
          <a:noFill/>
        </p:spPr>
        <p:txBody>
          <a:bodyPr wrap="square" rtlCol="0" anchor="t">
            <a:no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在四足机器人倾倒过程中，大部分的支撑腿不再与地面接触，机器人与地面只存在一个旋转轴。这时，仅存在机器人与地面之间的相互作用力     和动量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它们分别是各腿反作用力       在机器人身体质心周围生成的动量之和。因此，为了确保机器人的稳定性，这个反作用力和在旋转轴 </a:t>
            </a:r>
            <a:r>
              <a:rPr lang="en-US" altLang="zh-CN" sz="2400" b="1" i="1" kern="10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上生成的动量</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必须进行补偿，当这种补偿不充分时，称之为动态不稳定。基于上述描述，动态稳定性裕度定义为支撑多边形上每一个旋转轴的动量      的最小值的标准化</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1591945" y="2722245"/>
          <a:ext cx="427355" cy="446405"/>
        </p:xfrm>
        <a:graphic>
          <a:graphicData uri="http://schemas.openxmlformats.org/presentationml/2006/ole">
            <mc:AlternateContent xmlns:mc="http://schemas.openxmlformats.org/markup-compatibility/2006">
              <mc:Choice xmlns:v="urn:schemas-microsoft-com:vml" Requires="v">
                <p:oleObj spid="_x0000_s4" name="" r:id="rId3" imgW="241300" imgH="279400" progId="Equation.DSMT4">
                  <p:embed/>
                </p:oleObj>
              </mc:Choice>
              <mc:Fallback>
                <p:oleObj name="" r:id="rId3" imgW="241300" imgH="279400" progId="Equation.DSMT4">
                  <p:embed/>
                  <p:pic>
                    <p:nvPicPr>
                      <p:cNvPr id="0" name="图片 3"/>
                      <p:cNvPicPr/>
                      <p:nvPr/>
                    </p:nvPicPr>
                    <p:blipFill>
                      <a:blip r:embed="rId4"/>
                      <a:stretch>
                        <a:fillRect/>
                      </a:stretch>
                    </p:blipFill>
                    <p:spPr>
                      <a:xfrm>
                        <a:off x="1591945" y="2722245"/>
                        <a:ext cx="427355" cy="44640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3104833" y="2722245"/>
          <a:ext cx="561340" cy="446405"/>
        </p:xfrm>
        <a:graphic>
          <a:graphicData uri="http://schemas.openxmlformats.org/presentationml/2006/ole">
            <mc:AlternateContent xmlns:mc="http://schemas.openxmlformats.org/markup-compatibility/2006">
              <mc:Choice xmlns:v="urn:schemas-microsoft-com:vml" Requires="v">
                <p:oleObj spid="_x0000_s6" name="" r:id="rId6" imgW="316865" imgH="279400" progId="Equation.DSMT4">
                  <p:embed/>
                </p:oleObj>
              </mc:Choice>
              <mc:Fallback>
                <p:oleObj name="" r:id="rId6" imgW="316865" imgH="279400" progId="Equation.DSMT4">
                  <p:embed/>
                  <p:pic>
                    <p:nvPicPr>
                      <p:cNvPr id="0" name="图片 3"/>
                      <p:cNvPicPr/>
                      <p:nvPr/>
                    </p:nvPicPr>
                    <p:blipFill>
                      <a:blip r:embed="rId7"/>
                      <a:stretch>
                        <a:fillRect/>
                      </a:stretch>
                    </p:blipFill>
                    <p:spPr>
                      <a:xfrm>
                        <a:off x="3104833" y="2722245"/>
                        <a:ext cx="561340" cy="446405"/>
                      </a:xfrm>
                      <a:prstGeom prst="rect">
                        <a:avLst/>
                      </a:prstGeom>
                    </p:spPr>
                  </p:pic>
                </p:oleObj>
              </mc:Fallback>
            </mc:AlternateContent>
          </a:graphicData>
        </a:graphic>
      </p:graphicFrame>
      <p:graphicFrame>
        <p:nvGraphicFramePr>
          <p:cNvPr id="7" name="对象 6"/>
          <p:cNvGraphicFramePr/>
          <p:nvPr>
            <p:custDataLst>
              <p:tags r:id="rId8"/>
            </p:custDataLst>
          </p:nvPr>
        </p:nvGraphicFramePr>
        <p:xfrm>
          <a:off x="7541895" y="2722245"/>
          <a:ext cx="427355" cy="446405"/>
        </p:xfrm>
        <a:graphic>
          <a:graphicData uri="http://schemas.openxmlformats.org/presentationml/2006/ole">
            <mc:AlternateContent xmlns:mc="http://schemas.openxmlformats.org/markup-compatibility/2006">
              <mc:Choice xmlns:v="urn:schemas-microsoft-com:vml" Requires="v">
                <p:oleObj spid="_x0000_s8" name="" r:id="rId9" imgW="241300" imgH="279400" progId="Equation.DSMT4">
                  <p:embed/>
                </p:oleObj>
              </mc:Choice>
              <mc:Fallback>
                <p:oleObj name="" r:id="rId9" imgW="241300" imgH="279400" progId="Equation.DSMT4">
                  <p:embed/>
                  <p:pic>
                    <p:nvPicPr>
                      <p:cNvPr id="0" name="图片 3"/>
                      <p:cNvPicPr/>
                      <p:nvPr/>
                    </p:nvPicPr>
                    <p:blipFill>
                      <a:blip r:embed="rId10"/>
                      <a:stretch>
                        <a:fillRect/>
                      </a:stretch>
                    </p:blipFill>
                    <p:spPr>
                      <a:xfrm>
                        <a:off x="7541895" y="2722245"/>
                        <a:ext cx="427355" cy="446405"/>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4691063" y="3775710"/>
          <a:ext cx="495300" cy="446405"/>
        </p:xfrm>
        <a:graphic>
          <a:graphicData uri="http://schemas.openxmlformats.org/presentationml/2006/ole">
            <mc:AlternateContent xmlns:mc="http://schemas.openxmlformats.org/markup-compatibility/2006">
              <mc:Choice xmlns:v="urn:schemas-microsoft-com:vml" Requires="v">
                <p:oleObj spid="_x0000_s10" name="" r:id="rId12" imgW="279400" imgH="279400" progId="Equation.DSMT4">
                  <p:embed/>
                </p:oleObj>
              </mc:Choice>
              <mc:Fallback>
                <p:oleObj name="" r:id="rId12" imgW="279400" imgH="279400" progId="Equation.DSMT4">
                  <p:embed/>
                  <p:pic>
                    <p:nvPicPr>
                      <p:cNvPr id="0" name="图片 3"/>
                      <p:cNvPicPr/>
                      <p:nvPr/>
                    </p:nvPicPr>
                    <p:blipFill>
                      <a:blip r:embed="rId13"/>
                      <a:stretch>
                        <a:fillRect/>
                      </a:stretch>
                    </p:blipFill>
                    <p:spPr>
                      <a:xfrm>
                        <a:off x="4691063" y="3775710"/>
                        <a:ext cx="495300" cy="446405"/>
                      </a:xfrm>
                      <a:prstGeom prst="rect">
                        <a:avLst/>
                      </a:prstGeom>
                    </p:spPr>
                  </p:pic>
                </p:oleObj>
              </mc:Fallback>
            </mc:AlternateContent>
          </a:graphicData>
        </a:graphic>
      </p:graphicFrame>
      <p:graphicFrame>
        <p:nvGraphicFramePr>
          <p:cNvPr id="11" name="对象 10"/>
          <p:cNvGraphicFramePr/>
          <p:nvPr>
            <p:custDataLst>
              <p:tags r:id="rId14"/>
            </p:custDataLst>
          </p:nvPr>
        </p:nvGraphicFramePr>
        <p:xfrm>
          <a:off x="4021138" y="4888865"/>
          <a:ext cx="495300" cy="446405"/>
        </p:xfrm>
        <a:graphic>
          <a:graphicData uri="http://schemas.openxmlformats.org/presentationml/2006/ole">
            <mc:AlternateContent xmlns:mc="http://schemas.openxmlformats.org/markup-compatibility/2006">
              <mc:Choice xmlns:v="urn:schemas-microsoft-com:vml" Requires="v">
                <p:oleObj spid="_x0000_s12" name="" r:id="rId15" imgW="279400" imgH="279400" progId="Equation.DSMT4">
                  <p:embed/>
                </p:oleObj>
              </mc:Choice>
              <mc:Fallback>
                <p:oleObj name="" r:id="rId15" imgW="279400" imgH="279400" progId="Equation.DSMT4">
                  <p:embed/>
                  <p:pic>
                    <p:nvPicPr>
                      <p:cNvPr id="0" name="图片 3"/>
                      <p:cNvPicPr/>
                      <p:nvPr/>
                    </p:nvPicPr>
                    <p:blipFill>
                      <a:blip r:embed="rId13"/>
                      <a:stretch>
                        <a:fillRect/>
                      </a:stretch>
                    </p:blipFill>
                    <p:spPr>
                      <a:xfrm>
                        <a:off x="4021138" y="4888865"/>
                        <a:ext cx="495300" cy="446405"/>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动态稳定裕度方法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1"/>
          <p:cNvGraphicFramePr/>
          <p:nvPr>
            <p:custDataLst>
              <p:tags r:id="rId2"/>
            </p:custDataLst>
          </p:nvPr>
        </p:nvGraphicFramePr>
        <p:xfrm>
          <a:off x="3504565" y="2410460"/>
          <a:ext cx="4646930" cy="919480"/>
        </p:xfrm>
        <a:graphic>
          <a:graphicData uri="http://schemas.openxmlformats.org/presentationml/2006/ole">
            <mc:AlternateContent xmlns:mc="http://schemas.openxmlformats.org/markup-compatibility/2006">
              <mc:Choice xmlns:v="urn:schemas-microsoft-com:vml" Requires="v">
                <p:oleObj spid="_x0000_s3" name="" r:id="rId3" imgW="4178300" imgH="1181735" progId="Equation.DSMT4">
                  <p:embed/>
                </p:oleObj>
              </mc:Choice>
              <mc:Fallback>
                <p:oleObj name="" r:id="rId3" imgW="4178300" imgH="1181735" progId="Equation.DSMT4">
                  <p:embed/>
                  <p:pic>
                    <p:nvPicPr>
                      <p:cNvPr id="0" name="图片 2"/>
                      <p:cNvPicPr/>
                      <p:nvPr/>
                    </p:nvPicPr>
                    <p:blipFill>
                      <a:blip r:embed="rId4"/>
                      <a:stretch>
                        <a:fillRect/>
                      </a:stretch>
                    </p:blipFill>
                    <p:spPr>
                      <a:xfrm>
                        <a:off x="3504565" y="2410460"/>
                        <a:ext cx="4646930" cy="919480"/>
                      </a:xfrm>
                      <a:prstGeom prst="rect">
                        <a:avLst/>
                      </a:prstGeom>
                    </p:spPr>
                  </p:pic>
                </p:oleObj>
              </mc:Fallback>
            </mc:AlternateContent>
          </a:graphicData>
        </a:graphic>
      </p:graphicFrame>
      <p:sp>
        <p:nvSpPr>
          <p:cNvPr id="4" name="文本框 3"/>
          <p:cNvSpPr txBox="1"/>
          <p:nvPr/>
        </p:nvSpPr>
        <p:spPr>
          <a:xfrm>
            <a:off x="9255125" y="2600325"/>
            <a:ext cx="1542415"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177290" y="4185285"/>
            <a:ext cx="9291955" cy="1198880"/>
          </a:xfrm>
          <a:prstGeom prst="rect">
            <a:avLst/>
          </a:prstGeom>
          <a:noFill/>
        </p:spPr>
        <p:txBody>
          <a:bodyPr wrap="square" rtlCol="0" anchor="t">
            <a:spAutoFit/>
          </a:bodyPr>
          <a:p>
            <a:r>
              <a:rPr lang="en-US" altLang="zh-CN" sz="2400" b="1" kern="100" noProof="0" dirty="0">
                <a:ln>
                  <a:noFill/>
                </a:ln>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是身体质心到第 个支撑腿的位置向量，    是沿着支撑边界顺时针方向的一个单位向量。如果所有的动量相对于      都是正的，则称系统是稳定的。</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对象 10"/>
          <p:cNvGraphicFramePr/>
          <p:nvPr>
            <p:custDataLst>
              <p:tags r:id="rId5"/>
            </p:custDataLst>
          </p:nvPr>
        </p:nvGraphicFramePr>
        <p:xfrm>
          <a:off x="2608263" y="4185285"/>
          <a:ext cx="314960" cy="446405"/>
        </p:xfrm>
        <a:graphic>
          <a:graphicData uri="http://schemas.openxmlformats.org/presentationml/2006/ole">
            <mc:AlternateContent xmlns:mc="http://schemas.openxmlformats.org/markup-compatibility/2006">
              <mc:Choice xmlns:v="urn:schemas-microsoft-com:vml" Requires="v">
                <p:oleObj spid="_x0000_s12" name="" r:id="rId6" imgW="177165" imgH="279400" progId="Equation.DSMT4">
                  <p:embed/>
                </p:oleObj>
              </mc:Choice>
              <mc:Fallback>
                <p:oleObj name="" r:id="rId6" imgW="177165" imgH="279400" progId="Equation.DSMT4">
                  <p:embed/>
                  <p:pic>
                    <p:nvPicPr>
                      <p:cNvPr id="0" name="图片 3"/>
                      <p:cNvPicPr/>
                      <p:nvPr/>
                    </p:nvPicPr>
                    <p:blipFill>
                      <a:blip r:embed="rId7"/>
                      <a:stretch>
                        <a:fillRect/>
                      </a:stretch>
                    </p:blipFill>
                    <p:spPr>
                      <a:xfrm>
                        <a:off x="2608263" y="4185285"/>
                        <a:ext cx="314960" cy="446405"/>
                      </a:xfrm>
                      <a:prstGeom prst="rect">
                        <a:avLst/>
                      </a:prstGeom>
                    </p:spPr>
                  </p:pic>
                </p:oleObj>
              </mc:Fallback>
            </mc:AlternateContent>
          </a:graphicData>
        </a:graphic>
      </p:graphicFrame>
      <p:graphicFrame>
        <p:nvGraphicFramePr>
          <p:cNvPr id="6" name="对象 5"/>
          <p:cNvGraphicFramePr/>
          <p:nvPr>
            <p:custDataLst>
              <p:tags r:id="rId8"/>
            </p:custDataLst>
          </p:nvPr>
        </p:nvGraphicFramePr>
        <p:xfrm>
          <a:off x="8252461" y="4185285"/>
          <a:ext cx="292735" cy="446405"/>
        </p:xfrm>
        <a:graphic>
          <a:graphicData uri="http://schemas.openxmlformats.org/presentationml/2006/ole">
            <mc:AlternateContent xmlns:mc="http://schemas.openxmlformats.org/markup-compatibility/2006">
              <mc:Choice xmlns:v="urn:schemas-microsoft-com:vml" Requires="v">
                <p:oleObj spid="_x0000_s7" name="" r:id="rId9" imgW="165100" imgH="279400" progId="Equation.DSMT4">
                  <p:embed/>
                </p:oleObj>
              </mc:Choice>
              <mc:Fallback>
                <p:oleObj name="" r:id="rId9" imgW="165100" imgH="279400" progId="Equation.DSMT4">
                  <p:embed/>
                  <p:pic>
                    <p:nvPicPr>
                      <p:cNvPr id="0" name="图片 3"/>
                      <p:cNvPicPr/>
                      <p:nvPr/>
                    </p:nvPicPr>
                    <p:blipFill>
                      <a:blip r:embed="rId10"/>
                      <a:stretch>
                        <a:fillRect/>
                      </a:stretch>
                    </p:blipFill>
                    <p:spPr>
                      <a:xfrm>
                        <a:off x="8252461" y="4185285"/>
                        <a:ext cx="292735" cy="446405"/>
                      </a:xfrm>
                      <a:prstGeom prst="rect">
                        <a:avLst/>
                      </a:prstGeom>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倾倒稳定性判定法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236980"/>
            <a:ext cx="8910955"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在系统的动态平衡中，假设机器人的腿无质量，从而合反作用力      和动量       的形式</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1691640" y="1989455"/>
          <a:ext cx="427355" cy="446405"/>
        </p:xfrm>
        <a:graphic>
          <a:graphicData uri="http://schemas.openxmlformats.org/presentationml/2006/ole">
            <mc:AlternateContent xmlns:mc="http://schemas.openxmlformats.org/markup-compatibility/2006">
              <mc:Choice xmlns:v="urn:schemas-microsoft-com:vml" Requires="v">
                <p:oleObj spid="_x0000_s4" name="" r:id="rId3" imgW="241300" imgH="279400" progId="Equation.DSMT4">
                  <p:embed/>
                </p:oleObj>
              </mc:Choice>
              <mc:Fallback>
                <p:oleObj name="" r:id="rId3" imgW="241300" imgH="279400" progId="Equation.DSMT4">
                  <p:embed/>
                  <p:pic>
                    <p:nvPicPr>
                      <p:cNvPr id="0" name="图片 3"/>
                      <p:cNvPicPr/>
                      <p:nvPr/>
                    </p:nvPicPr>
                    <p:blipFill>
                      <a:blip r:embed="rId4"/>
                      <a:stretch>
                        <a:fillRect/>
                      </a:stretch>
                    </p:blipFill>
                    <p:spPr>
                      <a:xfrm>
                        <a:off x="1691640" y="1989455"/>
                        <a:ext cx="427355" cy="44640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3082290" y="1989455"/>
          <a:ext cx="551815" cy="446405"/>
        </p:xfrm>
        <a:graphic>
          <a:graphicData uri="http://schemas.openxmlformats.org/presentationml/2006/ole">
            <mc:AlternateContent xmlns:mc="http://schemas.openxmlformats.org/markup-compatibility/2006">
              <mc:Choice xmlns:v="urn:schemas-microsoft-com:vml" Requires="v">
                <p:oleObj spid="_x0000_s6" name="" r:id="rId6" imgW="316865" imgH="279400" progId="Equation.DSMT4">
                  <p:embed/>
                </p:oleObj>
              </mc:Choice>
              <mc:Fallback>
                <p:oleObj name="" r:id="rId6" imgW="316865" imgH="279400" progId="Equation.DSMT4">
                  <p:embed/>
                  <p:pic>
                    <p:nvPicPr>
                      <p:cNvPr id="0" name="图片 3"/>
                      <p:cNvPicPr/>
                      <p:nvPr/>
                    </p:nvPicPr>
                    <p:blipFill>
                      <a:blip r:embed="rId7"/>
                      <a:stretch>
                        <a:fillRect/>
                      </a:stretch>
                    </p:blipFill>
                    <p:spPr>
                      <a:xfrm>
                        <a:off x="3082290" y="1989455"/>
                        <a:ext cx="551815" cy="446405"/>
                      </a:xfrm>
                      <a:prstGeom prst="rect">
                        <a:avLst/>
                      </a:prstGeom>
                    </p:spPr>
                  </p:pic>
                </p:oleObj>
              </mc:Fallback>
            </mc:AlternateContent>
          </a:graphicData>
        </a:graphic>
      </p:graphicFrame>
      <p:graphicFrame>
        <p:nvGraphicFramePr>
          <p:cNvPr id="7" name="对象 6"/>
          <p:cNvGraphicFramePr/>
          <p:nvPr>
            <p:custDataLst>
              <p:tags r:id="rId8"/>
            </p:custDataLst>
          </p:nvPr>
        </p:nvGraphicFramePr>
        <p:xfrm>
          <a:off x="4194810" y="2904490"/>
          <a:ext cx="2480310" cy="532130"/>
        </p:xfrm>
        <a:graphic>
          <a:graphicData uri="http://schemas.openxmlformats.org/presentationml/2006/ole">
            <mc:AlternateContent xmlns:mc="http://schemas.openxmlformats.org/markup-compatibility/2006">
              <mc:Choice xmlns:v="urn:schemas-microsoft-com:vml" Requires="v">
                <p:oleObj spid="_x0000_s8" name="" r:id="rId9" imgW="1746885" imgH="443230" progId="Equation.DSMT4">
                  <p:embed/>
                </p:oleObj>
              </mc:Choice>
              <mc:Fallback>
                <p:oleObj name="" r:id="rId9" imgW="1746885" imgH="443230" progId="Equation.DSMT4">
                  <p:embed/>
                  <p:pic>
                    <p:nvPicPr>
                      <p:cNvPr id="0" name="图片 7"/>
                      <p:cNvPicPr/>
                      <p:nvPr/>
                    </p:nvPicPr>
                    <p:blipFill>
                      <a:blip r:embed="rId10"/>
                      <a:stretch>
                        <a:fillRect/>
                      </a:stretch>
                    </p:blipFill>
                    <p:spPr>
                      <a:xfrm>
                        <a:off x="4194810" y="2904490"/>
                        <a:ext cx="2480310" cy="532130"/>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4194810" y="3896360"/>
          <a:ext cx="2553970" cy="530225"/>
        </p:xfrm>
        <a:graphic>
          <a:graphicData uri="http://schemas.openxmlformats.org/presentationml/2006/ole">
            <mc:AlternateContent xmlns:mc="http://schemas.openxmlformats.org/markup-compatibility/2006">
              <mc:Choice xmlns:v="urn:schemas-microsoft-com:vml" Requires="v">
                <p:oleObj spid="_x0000_s10" name="" r:id="rId12" imgW="2550160" imgH="558800" progId="Equation.DSMT4">
                  <p:embed/>
                </p:oleObj>
              </mc:Choice>
              <mc:Fallback>
                <p:oleObj name="" r:id="rId12" imgW="2550160" imgH="558800" progId="Equation.DSMT4">
                  <p:embed/>
                  <p:pic>
                    <p:nvPicPr>
                      <p:cNvPr id="0" name="图片 9"/>
                      <p:cNvPicPr/>
                      <p:nvPr/>
                    </p:nvPicPr>
                    <p:blipFill>
                      <a:blip r:embed="rId13"/>
                      <a:stretch>
                        <a:fillRect/>
                      </a:stretch>
                    </p:blipFill>
                    <p:spPr>
                      <a:xfrm>
                        <a:off x="4194810" y="3896360"/>
                        <a:ext cx="2553970" cy="530225"/>
                      </a:xfrm>
                      <a:prstGeom prst="rect">
                        <a:avLst/>
                      </a:prstGeom>
                    </p:spPr>
                  </p:pic>
                </p:oleObj>
              </mc:Fallback>
            </mc:AlternateContent>
          </a:graphicData>
        </a:graphic>
      </p:graphicFrame>
      <p:sp>
        <p:nvSpPr>
          <p:cNvPr id="11" name="文本框 10"/>
          <p:cNvSpPr txBox="1"/>
          <p:nvPr/>
        </p:nvSpPr>
        <p:spPr>
          <a:xfrm>
            <a:off x="1385570" y="4589145"/>
            <a:ext cx="6096000" cy="64516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从而，作用于旋转轴上的动量       计算如下</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2" name="对象 11"/>
          <p:cNvGraphicFramePr/>
          <p:nvPr>
            <p:custDataLst>
              <p:tags r:id="rId14"/>
            </p:custDataLst>
          </p:nvPr>
        </p:nvGraphicFramePr>
        <p:xfrm>
          <a:off x="5556568" y="4787900"/>
          <a:ext cx="495300" cy="446405"/>
        </p:xfrm>
        <a:graphic>
          <a:graphicData uri="http://schemas.openxmlformats.org/presentationml/2006/ole">
            <mc:AlternateContent xmlns:mc="http://schemas.openxmlformats.org/markup-compatibility/2006">
              <mc:Choice xmlns:v="urn:schemas-microsoft-com:vml" Requires="v">
                <p:oleObj spid="_x0000_s13" name="" r:id="rId15" imgW="279400" imgH="279400" progId="Equation.DSMT4">
                  <p:embed/>
                </p:oleObj>
              </mc:Choice>
              <mc:Fallback>
                <p:oleObj name="" r:id="rId15" imgW="279400" imgH="279400" progId="Equation.DSMT4">
                  <p:embed/>
                  <p:pic>
                    <p:nvPicPr>
                      <p:cNvPr id="0" name="图片 3"/>
                      <p:cNvPicPr/>
                      <p:nvPr/>
                    </p:nvPicPr>
                    <p:blipFill>
                      <a:blip r:embed="rId16"/>
                      <a:stretch>
                        <a:fillRect/>
                      </a:stretch>
                    </p:blipFill>
                    <p:spPr>
                      <a:xfrm>
                        <a:off x="5556568" y="4787900"/>
                        <a:ext cx="495300" cy="446405"/>
                      </a:xfrm>
                      <a:prstGeom prst="rect">
                        <a:avLst/>
                      </a:prstGeom>
                    </p:spPr>
                  </p:pic>
                </p:oleObj>
              </mc:Fallback>
            </mc:AlternateContent>
          </a:graphicData>
        </a:graphic>
      </p:graphicFrame>
      <p:sp>
        <p:nvSpPr>
          <p:cNvPr id="15" name="文本框 14"/>
          <p:cNvSpPr txBox="1"/>
          <p:nvPr/>
        </p:nvSpPr>
        <p:spPr>
          <a:xfrm>
            <a:off x="8401050" y="2884805"/>
            <a:ext cx="1671955"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8.16</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8401050" y="3966210"/>
            <a:ext cx="13741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8.17</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7" name="对象 16"/>
          <p:cNvGraphicFramePr/>
          <p:nvPr>
            <p:custDataLst>
              <p:tags r:id="rId17"/>
            </p:custDataLst>
          </p:nvPr>
        </p:nvGraphicFramePr>
        <p:xfrm>
          <a:off x="4194810" y="5760720"/>
          <a:ext cx="3182620" cy="501015"/>
        </p:xfrm>
        <a:graphic>
          <a:graphicData uri="http://schemas.openxmlformats.org/presentationml/2006/ole">
            <mc:AlternateContent xmlns:mc="http://schemas.openxmlformats.org/markup-compatibility/2006">
              <mc:Choice xmlns:v="urn:schemas-microsoft-com:vml" Requires="v">
                <p:oleObj spid="_x0000_s18" name="" r:id="rId18" imgW="2715260" imgH="535940" progId="Equation.DSMT4">
                  <p:embed/>
                </p:oleObj>
              </mc:Choice>
              <mc:Fallback>
                <p:oleObj name="" r:id="rId18" imgW="2715260" imgH="535940" progId="Equation.DSMT4">
                  <p:embed/>
                  <p:pic>
                    <p:nvPicPr>
                      <p:cNvPr id="0" name="图片 17"/>
                      <p:cNvPicPr/>
                      <p:nvPr/>
                    </p:nvPicPr>
                    <p:blipFill>
                      <a:blip r:embed="rId19"/>
                      <a:stretch>
                        <a:fillRect/>
                      </a:stretch>
                    </p:blipFill>
                    <p:spPr>
                      <a:xfrm>
                        <a:off x="4194810" y="5760720"/>
                        <a:ext cx="3182620" cy="501015"/>
                      </a:xfrm>
                      <a:prstGeom prst="rect">
                        <a:avLst/>
                      </a:prstGeom>
                    </p:spPr>
                  </p:pic>
                </p:oleObj>
              </mc:Fallback>
            </mc:AlternateContent>
          </a:graphicData>
        </a:graphic>
      </p:graphicFrame>
      <p:sp>
        <p:nvSpPr>
          <p:cNvPr id="19" name="文本框 18"/>
          <p:cNvSpPr txBox="1"/>
          <p:nvPr/>
        </p:nvSpPr>
        <p:spPr>
          <a:xfrm>
            <a:off x="8469630" y="5671185"/>
            <a:ext cx="1603375" cy="460375"/>
          </a:xfrm>
          <a:prstGeom prst="rect">
            <a:avLst/>
          </a:prstGeom>
          <a:noFill/>
        </p:spPr>
        <p:txBody>
          <a:bodyPr wrap="square" rtlCol="0">
            <a:spAutoFit/>
          </a:bodyPr>
          <a:p>
            <a:r>
              <a:rPr lang="zh-CN" alt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8.18</a:t>
            </a:r>
            <a:r>
              <a:rPr lang="zh-CN" alt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倾倒稳定性判定法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610995"/>
            <a:ext cx="9059545" cy="903605"/>
          </a:xfrm>
          <a:prstGeom prst="rect">
            <a:avLst/>
          </a:prstGeom>
          <a:noFill/>
          <a:ln w="9525">
            <a:noFill/>
          </a:ln>
        </p:spPr>
        <p:txBody>
          <a:bodyPr wrap="square">
            <a:spAutoFit/>
          </a:bodyPr>
          <a:p>
            <a:pPr indent="0" fontAlgn="auto">
              <a:lnSpc>
                <a:spcPct val="120000"/>
              </a:lnSpc>
            </a:pP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rPr>
              <a:t>从上式可以看出，其动量</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的计算方法与式</a:t>
            </a:r>
            <a:r>
              <a:rPr lang="en-US" sz="2400" b="1">
                <a:latin typeface="微软雅黑" panose="020B0503020204020204" pitchFamily="34" charset="-122"/>
                <a:ea typeface="微软雅黑" panose="020B0503020204020204" pitchFamily="34" charset="-122"/>
                <a:cs typeface="微软雅黑" panose="020B0503020204020204" pitchFamily="34" charset="-122"/>
                <a:sym typeface="+mn-ea"/>
              </a:rPr>
              <a:t>(8.15</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)一样，从而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indent="0"/>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9" name="对象 8"/>
          <p:cNvGraphicFramePr/>
          <p:nvPr>
            <p:custDataLst>
              <p:tags r:id="rId2"/>
            </p:custDataLst>
          </p:nvPr>
        </p:nvGraphicFramePr>
        <p:xfrm>
          <a:off x="4691063" y="1701165"/>
          <a:ext cx="495300" cy="446405"/>
        </p:xfrm>
        <a:graphic>
          <a:graphicData uri="http://schemas.openxmlformats.org/presentationml/2006/ole">
            <mc:AlternateContent xmlns:mc="http://schemas.openxmlformats.org/markup-compatibility/2006">
              <mc:Choice xmlns:v="urn:schemas-microsoft-com:vml" Requires="v">
                <p:oleObj spid="_x0000_s10" name="" r:id="rId3" imgW="279400" imgH="279400" progId="Equation.DSMT4">
                  <p:embed/>
                </p:oleObj>
              </mc:Choice>
              <mc:Fallback>
                <p:oleObj name="" r:id="rId3" imgW="279400" imgH="279400" progId="Equation.DSMT4">
                  <p:embed/>
                  <p:pic>
                    <p:nvPicPr>
                      <p:cNvPr id="0" name="图片 3"/>
                      <p:cNvPicPr/>
                      <p:nvPr/>
                    </p:nvPicPr>
                    <p:blipFill>
                      <a:blip r:embed="rId4"/>
                      <a:stretch>
                        <a:fillRect/>
                      </a:stretch>
                    </p:blipFill>
                    <p:spPr>
                      <a:xfrm>
                        <a:off x="4691063" y="1701165"/>
                        <a:ext cx="495300" cy="44640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4029075" y="2689225"/>
          <a:ext cx="2522855" cy="1050290"/>
        </p:xfrm>
        <a:graphic>
          <a:graphicData uri="http://schemas.openxmlformats.org/presentationml/2006/ole">
            <mc:AlternateContent xmlns:mc="http://schemas.openxmlformats.org/markup-compatibility/2006">
              <mc:Choice xmlns:v="urn:schemas-microsoft-com:vml" Requires="v">
                <p:oleObj spid="_x0000_s6" name="" r:id="rId6" imgW="1948815" imgH="882015" progId="Equation.DSMT4">
                  <p:embed/>
                </p:oleObj>
              </mc:Choice>
              <mc:Fallback>
                <p:oleObj name="" r:id="rId6" imgW="1948815" imgH="882015" progId="Equation.DSMT4">
                  <p:embed/>
                  <p:pic>
                    <p:nvPicPr>
                      <p:cNvPr id="0" name="图片 5"/>
                      <p:cNvPicPr/>
                      <p:nvPr/>
                    </p:nvPicPr>
                    <p:blipFill>
                      <a:blip r:embed="rId7"/>
                      <a:stretch>
                        <a:fillRect/>
                      </a:stretch>
                    </p:blipFill>
                    <p:spPr>
                      <a:xfrm>
                        <a:off x="4029075" y="2689225"/>
                        <a:ext cx="2522855" cy="1050290"/>
                      </a:xfrm>
                      <a:prstGeom prst="rect">
                        <a:avLst/>
                      </a:prstGeom>
                    </p:spPr>
                  </p:pic>
                </p:oleObj>
              </mc:Fallback>
            </mc:AlternateContent>
          </a:graphicData>
        </a:graphic>
      </p:graphicFrame>
      <p:sp>
        <p:nvSpPr>
          <p:cNvPr id="7" name="文本框 6"/>
          <p:cNvSpPr txBox="1"/>
          <p:nvPr/>
        </p:nvSpPr>
        <p:spPr>
          <a:xfrm>
            <a:off x="1116965" y="4360545"/>
            <a:ext cx="8807450" cy="1845310"/>
          </a:xfrm>
          <a:prstGeom prst="rect">
            <a:avLst/>
          </a:prstGeom>
          <a:noFill/>
          <a:ln w="9525">
            <a:noFill/>
          </a:ln>
        </p:spPr>
        <p:txBody>
          <a:bodyPr wrap="square">
            <a:spAutoFit/>
          </a:bodyPr>
          <a:p>
            <a:pPr indent="0" fontAlgn="auto">
              <a:lnSpc>
                <a:spcPct val="125000"/>
              </a:lnSpc>
            </a:pPr>
            <a:r>
              <a:rPr lang="en-US" altLang="zh-CN" b="0">
                <a:ea typeface="宋体" panose="02010600030101010101" pitchFamily="2"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rPr>
              <a:t>如果在旋转方向上存在任意支撑腿</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rPr>
              <a:t>j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使得系统不倾倒，则称系统是动态稳定的。为了简化计算，</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也可以利用安装在足底末端的力传感器测量得到。</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indent="0"/>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3" name="对象 12"/>
          <p:cNvGraphicFramePr/>
          <p:nvPr>
            <p:custDataLst>
              <p:tags r:id="rId8"/>
            </p:custDataLst>
          </p:nvPr>
        </p:nvGraphicFramePr>
        <p:xfrm>
          <a:off x="6004560" y="4932680"/>
          <a:ext cx="427355" cy="446405"/>
        </p:xfrm>
        <a:graphic>
          <a:graphicData uri="http://schemas.openxmlformats.org/presentationml/2006/ole">
            <mc:AlternateContent xmlns:mc="http://schemas.openxmlformats.org/markup-compatibility/2006">
              <mc:Choice xmlns:v="urn:schemas-microsoft-com:vml" Requires="v">
                <p:oleObj spid="_x0000_s15" name="" r:id="rId9" imgW="241300" imgH="279400" progId="Equation.DSMT4">
                  <p:embed/>
                </p:oleObj>
              </mc:Choice>
              <mc:Fallback>
                <p:oleObj name="" r:id="rId9" imgW="241300" imgH="279400" progId="Equation.DSMT4">
                  <p:embed/>
                  <p:pic>
                    <p:nvPicPr>
                      <p:cNvPr id="0" name="图片 3"/>
                      <p:cNvPicPr/>
                      <p:nvPr/>
                    </p:nvPicPr>
                    <p:blipFill>
                      <a:blip r:embed="rId10"/>
                      <a:stretch>
                        <a:fillRect/>
                      </a:stretch>
                    </p:blipFill>
                    <p:spPr>
                      <a:xfrm>
                        <a:off x="6004560" y="4932680"/>
                        <a:ext cx="427355" cy="446405"/>
                      </a:xfrm>
                      <a:prstGeom prst="rect">
                        <a:avLst/>
                      </a:prstGeom>
                    </p:spPr>
                  </p:pic>
                </p:oleObj>
              </mc:Fallback>
            </mc:AlternateContent>
          </a:graphicData>
        </a:graphic>
      </p:graphicFrame>
      <p:graphicFrame>
        <p:nvGraphicFramePr>
          <p:cNvPr id="16" name="对象 15"/>
          <p:cNvGraphicFramePr/>
          <p:nvPr>
            <p:custDataLst>
              <p:tags r:id="rId11"/>
            </p:custDataLst>
          </p:nvPr>
        </p:nvGraphicFramePr>
        <p:xfrm>
          <a:off x="6797993" y="4932680"/>
          <a:ext cx="561340" cy="446405"/>
        </p:xfrm>
        <a:graphic>
          <a:graphicData uri="http://schemas.openxmlformats.org/presentationml/2006/ole">
            <mc:AlternateContent xmlns:mc="http://schemas.openxmlformats.org/markup-compatibility/2006">
              <mc:Choice xmlns:v="urn:schemas-microsoft-com:vml" Requires="v">
                <p:oleObj spid="_x0000_s17" name="" r:id="rId12" imgW="316865" imgH="279400" progId="Equation.DSMT4">
                  <p:embed/>
                </p:oleObj>
              </mc:Choice>
              <mc:Fallback>
                <p:oleObj name="" r:id="rId12" imgW="316865" imgH="279400" progId="Equation.DSMT4">
                  <p:embed/>
                  <p:pic>
                    <p:nvPicPr>
                      <p:cNvPr id="0" name="图片 3"/>
                      <p:cNvPicPr/>
                      <p:nvPr/>
                    </p:nvPicPr>
                    <p:blipFill>
                      <a:blip r:embed="rId13"/>
                      <a:stretch>
                        <a:fillRect/>
                      </a:stretch>
                    </p:blipFill>
                    <p:spPr>
                      <a:xfrm>
                        <a:off x="6797993" y="4932680"/>
                        <a:ext cx="561340" cy="446405"/>
                      </a:xfrm>
                      <a:prstGeom prst="rect">
                        <a:avLst/>
                      </a:prstGeom>
                    </p:spPr>
                  </p:pic>
                </p:oleObj>
              </mc:Fallback>
            </mc:AlternateContent>
          </a:graphicData>
        </a:graphic>
      </p:graphicFrame>
      <p:sp>
        <p:nvSpPr>
          <p:cNvPr id="18" name="文本框 17"/>
          <p:cNvSpPr txBox="1"/>
          <p:nvPr/>
        </p:nvSpPr>
        <p:spPr>
          <a:xfrm>
            <a:off x="8422005" y="2975610"/>
            <a:ext cx="134366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8.19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 name="文本框 103"/>
          <p:cNvSpPr txBox="1"/>
          <p:nvPr/>
        </p:nvSpPr>
        <p:spPr>
          <a:xfrm>
            <a:off x="864235" y="1240790"/>
            <a:ext cx="9838690" cy="1476375"/>
          </a:xfrm>
          <a:prstGeom prst="rect">
            <a:avLst/>
          </a:prstGeom>
          <a:noFill/>
          <a:ln w="9525">
            <a:noFill/>
          </a:ln>
        </p:spPr>
        <p:txBody>
          <a:bodyPr wrap="square">
            <a:spAutoFit/>
          </a:bodyPr>
          <a:p>
            <a:pPr indent="269875" fontAlgn="auto">
              <a:lnSpc>
                <a:spcPct val="125000"/>
              </a:lnSpc>
            </a:pP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rPr>
              <a:t>四足机器人在行走的某个瞬间，机器人的质心绕着支撑模式的某支撑边翻转，该支撑边由机器人的支撑腿与地面的接触点</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b="1" i="1">
                <a:latin typeface="Times New Roman" panose="02020603050405020304" pitchFamily="18" charset="0"/>
                <a:ea typeface="微软雅黑" panose="020B0503020204020204" pitchFamily="34" charset="-122"/>
                <a:cs typeface="Times New Roman" panose="02020603050405020304" pitchFamily="18" charset="0"/>
                <a:sym typeface="+mn-ea"/>
              </a:rPr>
              <a:t>i+1 </a:t>
            </a:r>
            <a:r>
              <a:rPr lang="zh-CN" sz="2400" b="1">
                <a:latin typeface="微软雅黑" panose="020B0503020204020204" pitchFamily="34" charset="-122"/>
                <a:ea typeface="微软雅黑" panose="020B0503020204020204" pitchFamily="34" charset="-122"/>
                <a:cs typeface="微软雅黑" panose="020B0503020204020204" pitchFamily="34" charset="-122"/>
                <a:sym typeface="+mn-ea"/>
              </a:rPr>
              <a:t>之间的连线组成。</a:t>
            </a:r>
            <a:endParaRPr lang="zh-CN" altLang="zh-CN" sz="24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4818" name="图片 2"/>
          <p:cNvPicPr>
            <a:picLocks noChangeAspect="1"/>
          </p:cNvPicPr>
          <p:nvPr>
            <p:custDataLst>
              <p:tags r:id="rId2"/>
            </p:custDataLst>
          </p:nvPr>
        </p:nvPicPr>
        <p:blipFill>
          <a:blip r:embed="rId3"/>
          <a:stretch>
            <a:fillRect/>
          </a:stretch>
        </p:blipFill>
        <p:spPr>
          <a:xfrm>
            <a:off x="2872740" y="2283460"/>
            <a:ext cx="5687060" cy="427101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17905" y="1488440"/>
            <a:ext cx="9787255" cy="3322955"/>
          </a:xfrm>
          <a:prstGeom prst="rect">
            <a:avLst/>
          </a:prstGeom>
          <a:noFill/>
        </p:spPr>
        <p:txBody>
          <a:bodyPr wrap="square" rtlCol="0" anchor="t">
            <a:spAutoFit/>
          </a:bodyPr>
          <a:p>
            <a:pPr indent="0" fontAlgn="auto">
              <a:lnSpc>
                <a:spcPct val="125000"/>
              </a:lnSpc>
            </a:pPr>
            <a:r>
              <a:rPr lang="en-US" altLang="zh-CN"/>
              <a:t>      </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当机器人在不规则地形上行走时，该支撑边有可能与水平面存在倾角，设旋转轴的支撑边与水平面的夹角为</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。由于机器人质心上的力和力矩的作用，机器人存在绕支撑边旋转的动能。为了保证机器人系统在行走过程中的稳定性，机器人和地面接触点处的合力</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和合力矩</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必须产生足够的补偿。当足底接触力矩和绕着旋转轴的倾覆力矩相等时，机器人处于临界稳定状态，此时，质心位于临界平面内，该临界平面和通过旋转轴的垂直平面之间的夹角为</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2"/>
          <p:cNvGraphicFramePr/>
          <p:nvPr>
            <p:custDataLst>
              <p:tags r:id="rId2"/>
            </p:custDataLst>
          </p:nvPr>
        </p:nvGraphicFramePr>
        <p:xfrm>
          <a:off x="6633528" y="2119948"/>
          <a:ext cx="337820" cy="325120"/>
        </p:xfrm>
        <a:graphic>
          <a:graphicData uri="http://schemas.openxmlformats.org/presentationml/2006/ole">
            <mc:AlternateContent xmlns:mc="http://schemas.openxmlformats.org/markup-compatibility/2006">
              <mc:Choice xmlns:v="urn:schemas-microsoft-com:vml" Requires="v">
                <p:oleObj spid="_x0000_s4" name="" r:id="rId3" imgW="190500" imgH="203200" progId="Equation.DSMT4">
                  <p:embed/>
                </p:oleObj>
              </mc:Choice>
              <mc:Fallback>
                <p:oleObj name="" r:id="rId3" imgW="190500" imgH="203200" progId="Equation.DSMT4">
                  <p:embed/>
                  <p:pic>
                    <p:nvPicPr>
                      <p:cNvPr id="0" name="图片 3"/>
                      <p:cNvPicPr/>
                      <p:nvPr/>
                    </p:nvPicPr>
                    <p:blipFill>
                      <a:blip r:embed="rId4"/>
                      <a:stretch>
                        <a:fillRect/>
                      </a:stretch>
                    </p:blipFill>
                    <p:spPr>
                      <a:xfrm>
                        <a:off x="6633528" y="2119948"/>
                        <a:ext cx="337820" cy="325120"/>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8161655" y="2982595"/>
          <a:ext cx="427355" cy="446405"/>
        </p:xfrm>
        <a:graphic>
          <a:graphicData uri="http://schemas.openxmlformats.org/presentationml/2006/ole">
            <mc:AlternateContent xmlns:mc="http://schemas.openxmlformats.org/markup-compatibility/2006">
              <mc:Choice xmlns:v="urn:schemas-microsoft-com:vml" Requires="v">
                <p:oleObj spid="_x0000_s6" name="" r:id="rId6" imgW="241300" imgH="279400" progId="Equation.DSMT4">
                  <p:embed/>
                </p:oleObj>
              </mc:Choice>
              <mc:Fallback>
                <p:oleObj name="" r:id="rId6" imgW="241300" imgH="279400" progId="Equation.DSMT4">
                  <p:embed/>
                  <p:pic>
                    <p:nvPicPr>
                      <p:cNvPr id="0" name="图片 3"/>
                      <p:cNvPicPr/>
                      <p:nvPr/>
                    </p:nvPicPr>
                    <p:blipFill>
                      <a:blip r:embed="rId7"/>
                      <a:stretch>
                        <a:fillRect/>
                      </a:stretch>
                    </p:blipFill>
                    <p:spPr>
                      <a:xfrm>
                        <a:off x="8161655" y="2982595"/>
                        <a:ext cx="427355" cy="446405"/>
                      </a:xfrm>
                      <a:prstGeom prst="rect">
                        <a:avLst/>
                      </a:prstGeom>
                    </p:spPr>
                  </p:pic>
                </p:oleObj>
              </mc:Fallback>
            </mc:AlternateContent>
          </a:graphicData>
        </a:graphic>
      </p:graphicFrame>
      <p:graphicFrame>
        <p:nvGraphicFramePr>
          <p:cNvPr id="7" name="对象 6"/>
          <p:cNvGraphicFramePr/>
          <p:nvPr>
            <p:custDataLst>
              <p:tags r:id="rId8"/>
            </p:custDataLst>
          </p:nvPr>
        </p:nvGraphicFramePr>
        <p:xfrm>
          <a:off x="9770745" y="2982595"/>
          <a:ext cx="551815" cy="446405"/>
        </p:xfrm>
        <a:graphic>
          <a:graphicData uri="http://schemas.openxmlformats.org/presentationml/2006/ole">
            <mc:AlternateContent xmlns:mc="http://schemas.openxmlformats.org/markup-compatibility/2006">
              <mc:Choice xmlns:v="urn:schemas-microsoft-com:vml" Requires="v">
                <p:oleObj spid="_x0000_s8" name="" r:id="rId9" imgW="316865" imgH="279400" progId="Equation.DSMT4">
                  <p:embed/>
                </p:oleObj>
              </mc:Choice>
              <mc:Fallback>
                <p:oleObj name="" r:id="rId9" imgW="316865" imgH="279400" progId="Equation.DSMT4">
                  <p:embed/>
                  <p:pic>
                    <p:nvPicPr>
                      <p:cNvPr id="0" name="图片 3"/>
                      <p:cNvPicPr/>
                      <p:nvPr/>
                    </p:nvPicPr>
                    <p:blipFill>
                      <a:blip r:embed="rId10"/>
                      <a:stretch>
                        <a:fillRect/>
                      </a:stretch>
                    </p:blipFill>
                    <p:spPr>
                      <a:xfrm>
                        <a:off x="9770745" y="2982595"/>
                        <a:ext cx="551815" cy="446405"/>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6026785" y="4395470"/>
          <a:ext cx="324485" cy="386080"/>
        </p:xfrm>
        <a:graphic>
          <a:graphicData uri="http://schemas.openxmlformats.org/presentationml/2006/ole">
            <mc:AlternateContent xmlns:mc="http://schemas.openxmlformats.org/markup-compatibility/2006">
              <mc:Choice xmlns:v="urn:schemas-microsoft-com:vml" Requires="v">
                <p:oleObj spid="_x0000_s10" name="" r:id="rId12" imgW="152400" imgH="241300" progId="Equation.DSMT4">
                  <p:embed/>
                </p:oleObj>
              </mc:Choice>
              <mc:Fallback>
                <p:oleObj name="" r:id="rId12" imgW="152400" imgH="241300" progId="Equation.DSMT4">
                  <p:embed/>
                  <p:pic>
                    <p:nvPicPr>
                      <p:cNvPr id="0" name="图片 3"/>
                      <p:cNvPicPr/>
                      <p:nvPr/>
                    </p:nvPicPr>
                    <p:blipFill>
                      <a:blip r:embed="rId13"/>
                      <a:stretch>
                        <a:fillRect/>
                      </a:stretch>
                    </p:blipFill>
                    <p:spPr>
                      <a:xfrm>
                        <a:off x="6026785" y="4395470"/>
                        <a:ext cx="324485" cy="386080"/>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431290"/>
            <a:ext cx="8733155" cy="2306955"/>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机器人重心受</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种力和力矩的作用。惯性力     和惯性力矩</a:t>
            </a:r>
            <a:endParaRPr kumimoji="0" lang="en-US" altLang="zh-CN"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，重力      和重力矩        ， 操纵力      和操纵力矩        。 机器人腿不同状态之间的变换引起的干扰也可看作操纵力。从而有</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对象 4"/>
          <p:cNvGraphicFramePr/>
          <p:nvPr>
            <p:custDataLst>
              <p:tags r:id="rId2"/>
            </p:custDataLst>
          </p:nvPr>
        </p:nvGraphicFramePr>
        <p:xfrm>
          <a:off x="7238365" y="1589405"/>
          <a:ext cx="382905" cy="446405"/>
        </p:xfrm>
        <a:graphic>
          <a:graphicData uri="http://schemas.openxmlformats.org/presentationml/2006/ole">
            <mc:AlternateContent xmlns:mc="http://schemas.openxmlformats.org/markup-compatibility/2006">
              <mc:Choice xmlns:v="urn:schemas-microsoft-com:vml" Requires="v">
                <p:oleObj spid="_x0000_s6" name="" r:id="rId3" imgW="215900" imgH="279400" progId="Equation.DSMT4">
                  <p:embed/>
                </p:oleObj>
              </mc:Choice>
              <mc:Fallback>
                <p:oleObj name="" r:id="rId3" imgW="215900" imgH="279400" progId="Equation.DSMT4">
                  <p:embed/>
                  <p:pic>
                    <p:nvPicPr>
                      <p:cNvPr id="0" name="图片 3"/>
                      <p:cNvPicPr/>
                      <p:nvPr/>
                    </p:nvPicPr>
                    <p:blipFill>
                      <a:blip r:embed="rId4"/>
                      <a:stretch>
                        <a:fillRect/>
                      </a:stretch>
                    </p:blipFill>
                    <p:spPr>
                      <a:xfrm>
                        <a:off x="7238365" y="1589405"/>
                        <a:ext cx="382905" cy="446405"/>
                      </a:xfrm>
                      <a:prstGeom prst="rect">
                        <a:avLst/>
                      </a:prstGeom>
                    </p:spPr>
                  </p:pic>
                </p:oleObj>
              </mc:Fallback>
            </mc:AlternateContent>
          </a:graphicData>
        </a:graphic>
      </p:graphicFrame>
      <p:graphicFrame>
        <p:nvGraphicFramePr>
          <p:cNvPr id="3" name="对象 2"/>
          <p:cNvGraphicFramePr/>
          <p:nvPr>
            <p:custDataLst>
              <p:tags r:id="rId5"/>
            </p:custDataLst>
          </p:nvPr>
        </p:nvGraphicFramePr>
        <p:xfrm>
          <a:off x="1009650" y="2166620"/>
          <a:ext cx="517525" cy="446405"/>
        </p:xfrm>
        <a:graphic>
          <a:graphicData uri="http://schemas.openxmlformats.org/presentationml/2006/ole">
            <mc:AlternateContent xmlns:mc="http://schemas.openxmlformats.org/markup-compatibility/2006">
              <mc:Choice xmlns:v="urn:schemas-microsoft-com:vml" Requires="v">
                <p:oleObj spid="_x0000_s4" name="" r:id="rId6" imgW="292100" imgH="279400" progId="Equation.DSMT4">
                  <p:embed/>
                </p:oleObj>
              </mc:Choice>
              <mc:Fallback>
                <p:oleObj name="" r:id="rId6" imgW="292100" imgH="279400" progId="Equation.DSMT4">
                  <p:embed/>
                  <p:pic>
                    <p:nvPicPr>
                      <p:cNvPr id="0" name="图片 3"/>
                      <p:cNvPicPr/>
                      <p:nvPr/>
                    </p:nvPicPr>
                    <p:blipFill>
                      <a:blip r:embed="rId7"/>
                      <a:stretch>
                        <a:fillRect/>
                      </a:stretch>
                    </p:blipFill>
                    <p:spPr>
                      <a:xfrm>
                        <a:off x="1009650" y="2166620"/>
                        <a:ext cx="517525" cy="446405"/>
                      </a:xfrm>
                      <a:prstGeom prst="rect">
                        <a:avLst/>
                      </a:prstGeom>
                    </p:spPr>
                  </p:pic>
                </p:oleObj>
              </mc:Fallback>
            </mc:AlternateContent>
          </a:graphicData>
        </a:graphic>
      </p:graphicFrame>
      <p:graphicFrame>
        <p:nvGraphicFramePr>
          <p:cNvPr id="7" name="对象 6"/>
          <p:cNvGraphicFramePr/>
          <p:nvPr>
            <p:custDataLst>
              <p:tags r:id="rId8"/>
            </p:custDataLst>
          </p:nvPr>
        </p:nvGraphicFramePr>
        <p:xfrm>
          <a:off x="2576195" y="2166620"/>
          <a:ext cx="450215" cy="446405"/>
        </p:xfrm>
        <a:graphic>
          <a:graphicData uri="http://schemas.openxmlformats.org/presentationml/2006/ole">
            <mc:AlternateContent xmlns:mc="http://schemas.openxmlformats.org/markup-compatibility/2006">
              <mc:Choice xmlns:v="urn:schemas-microsoft-com:vml" Requires="v">
                <p:oleObj spid="_x0000_s8" name="" r:id="rId9" imgW="254000" imgH="279400" progId="Equation.DSMT4">
                  <p:embed/>
                </p:oleObj>
              </mc:Choice>
              <mc:Fallback>
                <p:oleObj name="" r:id="rId9" imgW="254000" imgH="279400" progId="Equation.DSMT4">
                  <p:embed/>
                  <p:pic>
                    <p:nvPicPr>
                      <p:cNvPr id="0" name="图片 3"/>
                      <p:cNvPicPr/>
                      <p:nvPr/>
                    </p:nvPicPr>
                    <p:blipFill>
                      <a:blip r:embed="rId10"/>
                      <a:stretch>
                        <a:fillRect/>
                      </a:stretch>
                    </p:blipFill>
                    <p:spPr>
                      <a:xfrm>
                        <a:off x="2576195" y="2166620"/>
                        <a:ext cx="450215" cy="446405"/>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8418513" y="2166620"/>
          <a:ext cx="629920" cy="446405"/>
        </p:xfrm>
        <a:graphic>
          <a:graphicData uri="http://schemas.openxmlformats.org/presentationml/2006/ole">
            <mc:AlternateContent xmlns:mc="http://schemas.openxmlformats.org/markup-compatibility/2006">
              <mc:Choice xmlns:v="urn:schemas-microsoft-com:vml" Requires="v">
                <p:oleObj spid="_x0000_s10" name="" r:id="rId12" imgW="355600" imgH="279400" progId="Equation.DSMT4">
                  <p:embed/>
                </p:oleObj>
              </mc:Choice>
              <mc:Fallback>
                <p:oleObj name="" r:id="rId12" imgW="355600" imgH="279400" progId="Equation.DSMT4">
                  <p:embed/>
                  <p:pic>
                    <p:nvPicPr>
                      <p:cNvPr id="0" name="图片 3"/>
                      <p:cNvPicPr/>
                      <p:nvPr/>
                    </p:nvPicPr>
                    <p:blipFill>
                      <a:blip r:embed="rId13"/>
                      <a:stretch>
                        <a:fillRect/>
                      </a:stretch>
                    </p:blipFill>
                    <p:spPr>
                      <a:xfrm>
                        <a:off x="8418513" y="2166620"/>
                        <a:ext cx="629920" cy="446405"/>
                      </a:xfrm>
                      <a:prstGeom prst="rect">
                        <a:avLst/>
                      </a:prstGeom>
                    </p:spPr>
                  </p:pic>
                </p:oleObj>
              </mc:Fallback>
            </mc:AlternateContent>
          </a:graphicData>
        </a:graphic>
      </p:graphicFrame>
      <p:graphicFrame>
        <p:nvGraphicFramePr>
          <p:cNvPr id="11" name="对象 10"/>
          <p:cNvGraphicFramePr/>
          <p:nvPr>
            <p:custDataLst>
              <p:tags r:id="rId14"/>
            </p:custDataLst>
          </p:nvPr>
        </p:nvGraphicFramePr>
        <p:xfrm>
          <a:off x="6334443" y="2166620"/>
          <a:ext cx="495300" cy="446405"/>
        </p:xfrm>
        <a:graphic>
          <a:graphicData uri="http://schemas.openxmlformats.org/presentationml/2006/ole">
            <mc:AlternateContent xmlns:mc="http://schemas.openxmlformats.org/markup-compatibility/2006">
              <mc:Choice xmlns:v="urn:schemas-microsoft-com:vml" Requires="v">
                <p:oleObj spid="_x0000_s12" name="" r:id="rId15" imgW="279400" imgH="279400" progId="Equation.DSMT4">
                  <p:embed/>
                </p:oleObj>
              </mc:Choice>
              <mc:Fallback>
                <p:oleObj name="" r:id="rId15" imgW="279400" imgH="279400" progId="Equation.DSMT4">
                  <p:embed/>
                  <p:pic>
                    <p:nvPicPr>
                      <p:cNvPr id="0" name="图片 3"/>
                      <p:cNvPicPr/>
                      <p:nvPr/>
                    </p:nvPicPr>
                    <p:blipFill>
                      <a:blip r:embed="rId16"/>
                      <a:stretch>
                        <a:fillRect/>
                      </a:stretch>
                    </p:blipFill>
                    <p:spPr>
                      <a:xfrm>
                        <a:off x="6334443" y="2166620"/>
                        <a:ext cx="495300" cy="446405"/>
                      </a:xfrm>
                      <a:prstGeom prst="rect">
                        <a:avLst/>
                      </a:prstGeom>
                    </p:spPr>
                  </p:pic>
                </p:oleObj>
              </mc:Fallback>
            </mc:AlternateContent>
          </a:graphicData>
        </a:graphic>
      </p:graphicFrame>
      <p:graphicFrame>
        <p:nvGraphicFramePr>
          <p:cNvPr id="13" name="对象 12"/>
          <p:cNvGraphicFramePr/>
          <p:nvPr>
            <p:custDataLst>
              <p:tags r:id="rId17"/>
            </p:custDataLst>
          </p:nvPr>
        </p:nvGraphicFramePr>
        <p:xfrm>
          <a:off x="4355465" y="2166620"/>
          <a:ext cx="584835" cy="446405"/>
        </p:xfrm>
        <a:graphic>
          <a:graphicData uri="http://schemas.openxmlformats.org/presentationml/2006/ole">
            <mc:AlternateContent xmlns:mc="http://schemas.openxmlformats.org/markup-compatibility/2006">
              <mc:Choice xmlns:v="urn:schemas-microsoft-com:vml" Requires="v">
                <p:oleObj spid="_x0000_s15" name="" r:id="rId18" imgW="330200" imgH="279400" progId="Equation.DSMT4">
                  <p:embed/>
                </p:oleObj>
              </mc:Choice>
              <mc:Fallback>
                <p:oleObj name="" r:id="rId18" imgW="330200" imgH="279400" progId="Equation.DSMT4">
                  <p:embed/>
                  <p:pic>
                    <p:nvPicPr>
                      <p:cNvPr id="0" name="图片 3"/>
                      <p:cNvPicPr/>
                      <p:nvPr/>
                    </p:nvPicPr>
                    <p:blipFill>
                      <a:blip r:embed="rId19"/>
                      <a:stretch>
                        <a:fillRect/>
                      </a:stretch>
                    </p:blipFill>
                    <p:spPr>
                      <a:xfrm>
                        <a:off x="4355465" y="2166620"/>
                        <a:ext cx="584835" cy="446405"/>
                      </a:xfrm>
                      <a:prstGeom prst="rect">
                        <a:avLst/>
                      </a:prstGeom>
                    </p:spPr>
                  </p:pic>
                </p:oleObj>
              </mc:Fallback>
            </mc:AlternateContent>
          </a:graphicData>
        </a:graphic>
      </p:graphicFrame>
      <p:graphicFrame>
        <p:nvGraphicFramePr>
          <p:cNvPr id="16" name="对象 15"/>
          <p:cNvGraphicFramePr/>
          <p:nvPr>
            <p:custDataLst>
              <p:tags r:id="rId20"/>
            </p:custDataLst>
          </p:nvPr>
        </p:nvGraphicFramePr>
        <p:xfrm>
          <a:off x="3799840" y="4269740"/>
          <a:ext cx="2861310" cy="565785"/>
        </p:xfrm>
        <a:graphic>
          <a:graphicData uri="http://schemas.openxmlformats.org/presentationml/2006/ole">
            <mc:AlternateContent xmlns:mc="http://schemas.openxmlformats.org/markup-compatibility/2006">
              <mc:Choice xmlns:v="urn:schemas-microsoft-com:vml" Requires="v">
                <p:oleObj spid="_x0000_s17" name="" r:id="rId21" imgW="2397760" imgH="570865" progId="Equation.DSMT4">
                  <p:embed/>
                </p:oleObj>
              </mc:Choice>
              <mc:Fallback>
                <p:oleObj name="" r:id="rId21" imgW="2397760" imgH="570865" progId="Equation.DSMT4">
                  <p:embed/>
                  <p:pic>
                    <p:nvPicPr>
                      <p:cNvPr id="0" name="图片 16"/>
                      <p:cNvPicPr/>
                      <p:nvPr/>
                    </p:nvPicPr>
                    <p:blipFill>
                      <a:blip r:embed="rId22"/>
                      <a:stretch>
                        <a:fillRect/>
                      </a:stretch>
                    </p:blipFill>
                    <p:spPr>
                      <a:xfrm>
                        <a:off x="3799840" y="4269740"/>
                        <a:ext cx="2861310" cy="565785"/>
                      </a:xfrm>
                      <a:prstGeom prst="rect">
                        <a:avLst/>
                      </a:prstGeom>
                    </p:spPr>
                  </p:pic>
                </p:oleObj>
              </mc:Fallback>
            </mc:AlternateContent>
          </a:graphicData>
        </a:graphic>
      </p:graphicFrame>
      <p:graphicFrame>
        <p:nvGraphicFramePr>
          <p:cNvPr id="18" name="对象 17"/>
          <p:cNvGraphicFramePr/>
          <p:nvPr>
            <p:custDataLst>
              <p:tags r:id="rId23"/>
            </p:custDataLst>
          </p:nvPr>
        </p:nvGraphicFramePr>
        <p:xfrm>
          <a:off x="3799840" y="5367020"/>
          <a:ext cx="2983230" cy="460375"/>
        </p:xfrm>
        <a:graphic>
          <a:graphicData uri="http://schemas.openxmlformats.org/presentationml/2006/ole">
            <mc:AlternateContent xmlns:mc="http://schemas.openxmlformats.org/markup-compatibility/2006">
              <mc:Choice xmlns:v="urn:schemas-microsoft-com:vml" Requires="v">
                <p:oleObj spid="_x0000_s19" name="" r:id="rId24" imgW="2292985" imgH="541020" progId="Equation.DSMT4">
                  <p:embed/>
                </p:oleObj>
              </mc:Choice>
              <mc:Fallback>
                <p:oleObj name="" r:id="rId24" imgW="2292985" imgH="541020" progId="Equation.DSMT4">
                  <p:embed/>
                  <p:pic>
                    <p:nvPicPr>
                      <p:cNvPr id="0" name="图片 18"/>
                      <p:cNvPicPr/>
                      <p:nvPr/>
                    </p:nvPicPr>
                    <p:blipFill>
                      <a:blip r:embed="rId25"/>
                      <a:stretch>
                        <a:fillRect/>
                      </a:stretch>
                    </p:blipFill>
                    <p:spPr>
                      <a:xfrm>
                        <a:off x="3799840" y="5367020"/>
                        <a:ext cx="2983230" cy="460375"/>
                      </a:xfrm>
                      <a:prstGeom prst="rect">
                        <a:avLst/>
                      </a:prstGeom>
                    </p:spPr>
                  </p:pic>
                </p:oleObj>
              </mc:Fallback>
            </mc:AlternateContent>
          </a:graphicData>
        </a:graphic>
      </p:graphicFrame>
      <p:sp>
        <p:nvSpPr>
          <p:cNvPr id="20" name="文本框 19"/>
          <p:cNvSpPr txBox="1"/>
          <p:nvPr/>
        </p:nvSpPr>
        <p:spPr>
          <a:xfrm>
            <a:off x="8159750" y="437515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26"/>
            </p:custDataLst>
          </p:nvPr>
        </p:nvSpPr>
        <p:spPr>
          <a:xfrm>
            <a:off x="8159750" y="536702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339850"/>
            <a:ext cx="8553450" cy="175323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在机器人由初始位置</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绕旋转轴转到临界平面时，其它力都是变化的，只有重力的大小和方向不变。为了简单，合力分为重力和非重力之和</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3876040" y="3429000"/>
          <a:ext cx="2807970" cy="650875"/>
        </p:xfrm>
        <a:graphic>
          <a:graphicData uri="http://schemas.openxmlformats.org/presentationml/2006/ole">
            <mc:AlternateContent xmlns:mc="http://schemas.openxmlformats.org/markup-compatibility/2006">
              <mc:Choice xmlns:v="urn:schemas-microsoft-com:vml" Requires="v">
                <p:oleObj spid="_x0000_s4" name="" r:id="rId3" imgW="2128520" imgH="591820" progId="Equation.DSMT4">
                  <p:embed/>
                </p:oleObj>
              </mc:Choice>
              <mc:Fallback>
                <p:oleObj name="" r:id="rId3" imgW="2128520" imgH="591820" progId="Equation.DSMT4">
                  <p:embed/>
                  <p:pic>
                    <p:nvPicPr>
                      <p:cNvPr id="0" name="图片 3"/>
                      <p:cNvPicPr/>
                      <p:nvPr/>
                    </p:nvPicPr>
                    <p:blipFill>
                      <a:blip r:embed="rId4"/>
                      <a:stretch>
                        <a:fillRect/>
                      </a:stretch>
                    </p:blipFill>
                    <p:spPr>
                      <a:xfrm>
                        <a:off x="3876040" y="3429000"/>
                        <a:ext cx="2807970" cy="650875"/>
                      </a:xfrm>
                      <a:prstGeom prst="rect">
                        <a:avLst/>
                      </a:prstGeom>
                    </p:spPr>
                  </p:pic>
                </p:oleObj>
              </mc:Fallback>
            </mc:AlternateContent>
          </a:graphicData>
        </a:graphic>
      </p:graphicFrame>
      <p:sp>
        <p:nvSpPr>
          <p:cNvPr id="21" name="文本框 20"/>
          <p:cNvSpPr txBox="1"/>
          <p:nvPr>
            <p:custDataLst>
              <p:tags r:id="rId5"/>
            </p:custDataLst>
          </p:nvPr>
        </p:nvSpPr>
        <p:spPr>
          <a:xfrm>
            <a:off x="8119745" y="352425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864235" y="4226560"/>
            <a:ext cx="7339965" cy="64516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在倾覆过程中，机器人能量改变可用下式表示</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aphicFrame>
        <p:nvGraphicFramePr>
          <p:cNvPr id="6" name="对象 5"/>
          <p:cNvGraphicFramePr/>
          <p:nvPr>
            <p:custDataLst>
              <p:tags r:id="rId6"/>
            </p:custDataLst>
          </p:nvPr>
        </p:nvGraphicFramePr>
        <p:xfrm>
          <a:off x="3571240" y="5388610"/>
          <a:ext cx="3417570" cy="530860"/>
        </p:xfrm>
        <a:graphic>
          <a:graphicData uri="http://schemas.openxmlformats.org/presentationml/2006/ole">
            <mc:AlternateContent xmlns:mc="http://schemas.openxmlformats.org/markup-compatibility/2006">
              <mc:Choice xmlns:v="urn:schemas-microsoft-com:vml" Requires="v">
                <p:oleObj spid="_x0000_s7" name="" r:id="rId7" imgW="2957830" imgH="650875" progId="Equation.DSMT4">
                  <p:embed/>
                </p:oleObj>
              </mc:Choice>
              <mc:Fallback>
                <p:oleObj name="" r:id="rId7" imgW="2957830" imgH="650875" progId="Equation.DSMT4">
                  <p:embed/>
                  <p:pic>
                    <p:nvPicPr>
                      <p:cNvPr id="0" name="图片 6"/>
                      <p:cNvPicPr/>
                      <p:nvPr/>
                    </p:nvPicPr>
                    <p:blipFill>
                      <a:blip r:embed="rId8"/>
                      <a:stretch>
                        <a:fillRect/>
                      </a:stretch>
                    </p:blipFill>
                    <p:spPr>
                      <a:xfrm>
                        <a:off x="3571240" y="5388610"/>
                        <a:ext cx="3417570" cy="530860"/>
                      </a:xfrm>
                      <a:prstGeom prst="rect">
                        <a:avLst/>
                      </a:prstGeom>
                    </p:spPr>
                  </p:pic>
                </p:oleObj>
              </mc:Fallback>
            </mc:AlternateContent>
          </a:graphicData>
        </a:graphic>
      </p:graphicFrame>
      <p:sp>
        <p:nvSpPr>
          <p:cNvPr id="8" name="文本框 7"/>
          <p:cNvSpPr txBox="1"/>
          <p:nvPr>
            <p:custDataLst>
              <p:tags r:id="rId9"/>
            </p:custDataLst>
          </p:nvPr>
        </p:nvSpPr>
        <p:spPr>
          <a:xfrm>
            <a:off x="8119745" y="538861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571625"/>
            <a:ext cx="9627870" cy="175323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  和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是位置</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时刻的机器人质心所具有的势能和动能，</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和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是位置</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（临界平面）时刻的机器人质心所具有的势能和动能，亦即由初始位置</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转动到临界平面时，在临界平面，机器人质心的能量。</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对象 5"/>
          <p:cNvGraphicFramePr/>
          <p:nvPr>
            <p:custDataLst>
              <p:tags r:id="rId2"/>
            </p:custDataLst>
          </p:nvPr>
        </p:nvGraphicFramePr>
        <p:xfrm>
          <a:off x="2310130" y="1758950"/>
          <a:ext cx="425450" cy="453390"/>
        </p:xfrm>
        <a:graphic>
          <a:graphicData uri="http://schemas.openxmlformats.org/presentationml/2006/ole">
            <mc:AlternateContent xmlns:mc="http://schemas.openxmlformats.org/markup-compatibility/2006">
              <mc:Choice xmlns:v="urn:schemas-microsoft-com:vml" Requires="v">
                <p:oleObj spid="_x0000_s7" name="" r:id="rId3" imgW="152400" imgH="228600" progId="Equation.DSMT4">
                  <p:embed/>
                </p:oleObj>
              </mc:Choice>
              <mc:Fallback>
                <p:oleObj name="" r:id="rId3" imgW="152400" imgH="228600" progId="Equation.DSMT4">
                  <p:embed/>
                  <p:pic>
                    <p:nvPicPr>
                      <p:cNvPr id="0" name="图片 6"/>
                      <p:cNvPicPr/>
                      <p:nvPr/>
                    </p:nvPicPr>
                    <p:blipFill>
                      <a:blip r:embed="rId4"/>
                      <a:stretch>
                        <a:fillRect/>
                      </a:stretch>
                    </p:blipFill>
                    <p:spPr>
                      <a:xfrm>
                        <a:off x="2310130" y="1758950"/>
                        <a:ext cx="425450" cy="453390"/>
                      </a:xfrm>
                      <a:prstGeom prst="rect">
                        <a:avLst/>
                      </a:prstGeom>
                    </p:spPr>
                  </p:pic>
                </p:oleObj>
              </mc:Fallback>
            </mc:AlternateContent>
          </a:graphicData>
        </a:graphic>
      </p:graphicFrame>
      <p:graphicFrame>
        <p:nvGraphicFramePr>
          <p:cNvPr id="3" name="对象 2"/>
          <p:cNvGraphicFramePr/>
          <p:nvPr>
            <p:custDataLst>
              <p:tags r:id="rId5"/>
            </p:custDataLst>
          </p:nvPr>
        </p:nvGraphicFramePr>
        <p:xfrm>
          <a:off x="3021965" y="1758950"/>
          <a:ext cx="532130" cy="453390"/>
        </p:xfrm>
        <a:graphic>
          <a:graphicData uri="http://schemas.openxmlformats.org/presentationml/2006/ole">
            <mc:AlternateContent xmlns:mc="http://schemas.openxmlformats.org/markup-compatibility/2006">
              <mc:Choice xmlns:v="urn:schemas-microsoft-com:vml" Requires="v">
                <p:oleObj spid="_x0000_s4" name="" r:id="rId6" imgW="190500" imgH="228600" progId="Equation.DSMT4">
                  <p:embed/>
                </p:oleObj>
              </mc:Choice>
              <mc:Fallback>
                <p:oleObj name="" r:id="rId6" imgW="190500" imgH="228600" progId="Equation.DSMT4">
                  <p:embed/>
                  <p:pic>
                    <p:nvPicPr>
                      <p:cNvPr id="0" name="图片 6"/>
                      <p:cNvPicPr/>
                      <p:nvPr/>
                    </p:nvPicPr>
                    <p:blipFill>
                      <a:blip r:embed="rId7"/>
                      <a:stretch>
                        <a:fillRect/>
                      </a:stretch>
                    </p:blipFill>
                    <p:spPr>
                      <a:xfrm>
                        <a:off x="3021965" y="1758950"/>
                        <a:ext cx="532130" cy="453390"/>
                      </a:xfrm>
                      <a:prstGeom prst="rect">
                        <a:avLst/>
                      </a:prstGeom>
                    </p:spPr>
                  </p:pic>
                </p:oleObj>
              </mc:Fallback>
            </mc:AlternateContent>
          </a:graphicData>
        </a:graphic>
      </p:graphicFrame>
      <p:graphicFrame>
        <p:nvGraphicFramePr>
          <p:cNvPr id="5" name="对象 4"/>
          <p:cNvGraphicFramePr/>
          <p:nvPr>
            <p:custDataLst>
              <p:tags r:id="rId8"/>
            </p:custDataLst>
          </p:nvPr>
        </p:nvGraphicFramePr>
        <p:xfrm>
          <a:off x="10223500" y="1758950"/>
          <a:ext cx="461010" cy="453390"/>
        </p:xfrm>
        <a:graphic>
          <a:graphicData uri="http://schemas.openxmlformats.org/presentationml/2006/ole">
            <mc:AlternateContent xmlns:mc="http://schemas.openxmlformats.org/markup-compatibility/2006">
              <mc:Choice xmlns:v="urn:schemas-microsoft-com:vml" Requires="v">
                <p:oleObj spid="_x0000_s8" name="" r:id="rId9" imgW="165100" imgH="228600" progId="Equation.DSMT4">
                  <p:embed/>
                </p:oleObj>
              </mc:Choice>
              <mc:Fallback>
                <p:oleObj name="" r:id="rId9" imgW="165100" imgH="228600" progId="Equation.DSMT4">
                  <p:embed/>
                  <p:pic>
                    <p:nvPicPr>
                      <p:cNvPr id="0" name="图片 6"/>
                      <p:cNvPicPr/>
                      <p:nvPr/>
                    </p:nvPicPr>
                    <p:blipFill>
                      <a:blip r:embed="rId10"/>
                      <a:stretch>
                        <a:fillRect/>
                      </a:stretch>
                    </p:blipFill>
                    <p:spPr>
                      <a:xfrm>
                        <a:off x="10223500" y="1758950"/>
                        <a:ext cx="461010" cy="453390"/>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1251585" y="2339340"/>
          <a:ext cx="567690" cy="453390"/>
        </p:xfrm>
        <a:graphic>
          <a:graphicData uri="http://schemas.openxmlformats.org/presentationml/2006/ole">
            <mc:AlternateContent xmlns:mc="http://schemas.openxmlformats.org/markup-compatibility/2006">
              <mc:Choice xmlns:v="urn:schemas-microsoft-com:vml" Requires="v">
                <p:oleObj spid="_x0000_s10" name="" r:id="rId12" imgW="203200" imgH="228600" progId="Equation.DSMT4">
                  <p:embed/>
                </p:oleObj>
              </mc:Choice>
              <mc:Fallback>
                <p:oleObj name="" r:id="rId12" imgW="203200" imgH="228600" progId="Equation.DSMT4">
                  <p:embed/>
                  <p:pic>
                    <p:nvPicPr>
                      <p:cNvPr id="0" name="图片 6"/>
                      <p:cNvPicPr/>
                      <p:nvPr/>
                    </p:nvPicPr>
                    <p:blipFill>
                      <a:blip r:embed="rId13"/>
                      <a:stretch>
                        <a:fillRect/>
                      </a:stretch>
                    </p:blipFill>
                    <p:spPr>
                      <a:xfrm>
                        <a:off x="1251585" y="2339340"/>
                        <a:ext cx="567690" cy="453390"/>
                      </a:xfrm>
                      <a:prstGeom prst="rect">
                        <a:avLst/>
                      </a:prstGeom>
                    </p:spPr>
                  </p:pic>
                </p:oleObj>
              </mc:Fallback>
            </mc:AlternateContent>
          </a:graphicData>
        </a:graphic>
      </p:graphicFrame>
      <p:sp>
        <p:nvSpPr>
          <p:cNvPr id="11" name="文本框 10"/>
          <p:cNvSpPr txBox="1"/>
          <p:nvPr/>
        </p:nvSpPr>
        <p:spPr>
          <a:xfrm>
            <a:off x="1062990" y="3605530"/>
            <a:ext cx="9621520" cy="829945"/>
          </a:xfrm>
          <a:prstGeom prst="rect">
            <a:avLst/>
          </a:prstGeom>
          <a:noFill/>
        </p:spPr>
        <p:txBody>
          <a:bodyPr wrap="square" rtlCol="0" anchor="t">
            <a:spAutoFit/>
          </a:bodyPr>
          <a:p>
            <a:r>
              <a:rPr lang="en-US" altLang="zh-CN"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根据前面临界平面的定义，在临界状态，机器人质心绕旋转轴的合力矩为</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，质心速度为</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，从而动能为</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此时有</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2" name="对象 11"/>
          <p:cNvGraphicFramePr/>
          <p:nvPr>
            <p:custDataLst>
              <p:tags r:id="rId14"/>
            </p:custDataLst>
          </p:nvPr>
        </p:nvGraphicFramePr>
        <p:xfrm>
          <a:off x="4705350" y="5169535"/>
          <a:ext cx="2780665" cy="589280"/>
        </p:xfrm>
        <a:graphic>
          <a:graphicData uri="http://schemas.openxmlformats.org/presentationml/2006/ole">
            <mc:AlternateContent xmlns:mc="http://schemas.openxmlformats.org/markup-compatibility/2006">
              <mc:Choice xmlns:v="urn:schemas-microsoft-com:vml" Requires="v">
                <p:oleObj spid="_x0000_s13" name="" r:id="rId15" imgW="2424430" imgH="610870" progId="Equation.DSMT4">
                  <p:embed/>
                </p:oleObj>
              </mc:Choice>
              <mc:Fallback>
                <p:oleObj name="" r:id="rId15" imgW="2424430" imgH="610870" progId="Equation.DSMT4">
                  <p:embed/>
                  <p:pic>
                    <p:nvPicPr>
                      <p:cNvPr id="0" name="图片 12"/>
                      <p:cNvPicPr/>
                      <p:nvPr/>
                    </p:nvPicPr>
                    <p:blipFill>
                      <a:blip r:embed="rId16"/>
                      <a:stretch>
                        <a:fillRect/>
                      </a:stretch>
                    </p:blipFill>
                    <p:spPr>
                      <a:xfrm>
                        <a:off x="4705350" y="5169535"/>
                        <a:ext cx="2780665" cy="589280"/>
                      </a:xfrm>
                      <a:prstGeom prst="rect">
                        <a:avLst/>
                      </a:prstGeom>
                    </p:spPr>
                  </p:pic>
                </p:oleObj>
              </mc:Fallback>
            </mc:AlternateContent>
          </a:graphicData>
        </a:graphic>
      </p:graphicFrame>
      <p:sp>
        <p:nvSpPr>
          <p:cNvPr id="15" name="文本框 14"/>
          <p:cNvSpPr txBox="1"/>
          <p:nvPr>
            <p:custDataLst>
              <p:tags r:id="rId17"/>
            </p:custDataLst>
          </p:nvPr>
        </p:nvSpPr>
        <p:spPr>
          <a:xfrm>
            <a:off x="8925560" y="516953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794385" y="1127760"/>
            <a:ext cx="9070975" cy="1198880"/>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势能的增加量            为重力      和其余的力      和力矩        势能改变量之和。表示如下</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2" name="对象 11"/>
          <p:cNvGraphicFramePr/>
          <p:nvPr>
            <p:custDataLst>
              <p:tags r:id="rId2"/>
            </p:custDataLst>
          </p:nvPr>
        </p:nvGraphicFramePr>
        <p:xfrm>
          <a:off x="3418840" y="1312545"/>
          <a:ext cx="964565" cy="409575"/>
        </p:xfrm>
        <a:graphic>
          <a:graphicData uri="http://schemas.openxmlformats.org/presentationml/2006/ole">
            <mc:AlternateContent xmlns:mc="http://schemas.openxmlformats.org/markup-compatibility/2006">
              <mc:Choice xmlns:v="urn:schemas-microsoft-com:vml" Requires="v">
                <p:oleObj spid="_x0000_s13" name="" r:id="rId3" imgW="431800" imgH="228600" progId="Equation.DSMT4">
                  <p:embed/>
                </p:oleObj>
              </mc:Choice>
              <mc:Fallback>
                <p:oleObj name="" r:id="rId3" imgW="431800" imgH="228600" progId="Equation.DSMT4">
                  <p:embed/>
                  <p:pic>
                    <p:nvPicPr>
                      <p:cNvPr id="0" name="图片 12"/>
                      <p:cNvPicPr/>
                      <p:nvPr/>
                    </p:nvPicPr>
                    <p:blipFill>
                      <a:blip r:embed="rId4"/>
                      <a:stretch>
                        <a:fillRect/>
                      </a:stretch>
                    </p:blipFill>
                    <p:spPr>
                      <a:xfrm>
                        <a:off x="3418840" y="1312545"/>
                        <a:ext cx="964565" cy="409575"/>
                      </a:xfrm>
                      <a:prstGeom prst="rect">
                        <a:avLst/>
                      </a:prstGeom>
                    </p:spPr>
                  </p:pic>
                </p:oleObj>
              </mc:Fallback>
            </mc:AlternateContent>
          </a:graphicData>
        </a:graphic>
      </p:graphicFrame>
      <p:graphicFrame>
        <p:nvGraphicFramePr>
          <p:cNvPr id="7" name="对象 6"/>
          <p:cNvGraphicFramePr/>
          <p:nvPr>
            <p:custDataLst>
              <p:tags r:id="rId5"/>
            </p:custDataLst>
          </p:nvPr>
        </p:nvGraphicFramePr>
        <p:xfrm>
          <a:off x="5442585" y="1312545"/>
          <a:ext cx="450215" cy="446405"/>
        </p:xfrm>
        <a:graphic>
          <a:graphicData uri="http://schemas.openxmlformats.org/presentationml/2006/ole">
            <mc:AlternateContent xmlns:mc="http://schemas.openxmlformats.org/markup-compatibility/2006">
              <mc:Choice xmlns:v="urn:schemas-microsoft-com:vml" Requires="v">
                <p:oleObj spid="_x0000_s8" name="" r:id="rId6" imgW="254000" imgH="279400" progId="Equation.DSMT4">
                  <p:embed/>
                </p:oleObj>
              </mc:Choice>
              <mc:Fallback>
                <p:oleObj name="" r:id="rId6" imgW="254000" imgH="279400" progId="Equation.DSMT4">
                  <p:embed/>
                  <p:pic>
                    <p:nvPicPr>
                      <p:cNvPr id="0" name="图片 3"/>
                      <p:cNvPicPr/>
                      <p:nvPr/>
                    </p:nvPicPr>
                    <p:blipFill>
                      <a:blip r:embed="rId7"/>
                      <a:stretch>
                        <a:fillRect/>
                      </a:stretch>
                    </p:blipFill>
                    <p:spPr>
                      <a:xfrm>
                        <a:off x="5442585" y="1312545"/>
                        <a:ext cx="450215" cy="446405"/>
                      </a:xfrm>
                      <a:prstGeom prst="rect">
                        <a:avLst/>
                      </a:prstGeom>
                    </p:spPr>
                  </p:pic>
                </p:oleObj>
              </mc:Fallback>
            </mc:AlternateContent>
          </a:graphicData>
        </a:graphic>
      </p:graphicFrame>
      <p:graphicFrame>
        <p:nvGraphicFramePr>
          <p:cNvPr id="5" name="对象 4"/>
          <p:cNvGraphicFramePr/>
          <p:nvPr>
            <p:custDataLst>
              <p:tags r:id="rId8"/>
            </p:custDataLst>
          </p:nvPr>
        </p:nvGraphicFramePr>
        <p:xfrm>
          <a:off x="7448868" y="1275715"/>
          <a:ext cx="518160" cy="446405"/>
        </p:xfrm>
        <a:graphic>
          <a:graphicData uri="http://schemas.openxmlformats.org/presentationml/2006/ole">
            <mc:AlternateContent xmlns:mc="http://schemas.openxmlformats.org/markup-compatibility/2006">
              <mc:Choice xmlns:v="urn:schemas-microsoft-com:vml" Requires="v">
                <p:oleObj spid="_x0000_s6" name="" r:id="rId9" imgW="292100" imgH="279400" progId="Equation.DSMT4">
                  <p:embed/>
                </p:oleObj>
              </mc:Choice>
              <mc:Fallback>
                <p:oleObj name="" r:id="rId9" imgW="292100" imgH="279400" progId="Equation.DSMT4">
                  <p:embed/>
                  <p:pic>
                    <p:nvPicPr>
                      <p:cNvPr id="0" name="图片 3"/>
                      <p:cNvPicPr/>
                      <p:nvPr/>
                    </p:nvPicPr>
                    <p:blipFill>
                      <a:blip r:embed="rId10"/>
                      <a:stretch>
                        <a:fillRect/>
                      </a:stretch>
                    </p:blipFill>
                    <p:spPr>
                      <a:xfrm>
                        <a:off x="7448868" y="1275715"/>
                        <a:ext cx="518160" cy="446405"/>
                      </a:xfrm>
                      <a:prstGeom prst="rect">
                        <a:avLst/>
                      </a:prstGeom>
                    </p:spPr>
                  </p:pic>
                </p:oleObj>
              </mc:Fallback>
            </mc:AlternateContent>
          </a:graphicData>
        </a:graphic>
      </p:graphicFrame>
      <p:graphicFrame>
        <p:nvGraphicFramePr>
          <p:cNvPr id="9" name="对象 8"/>
          <p:cNvGraphicFramePr/>
          <p:nvPr>
            <p:custDataLst>
              <p:tags r:id="rId11"/>
            </p:custDataLst>
          </p:nvPr>
        </p:nvGraphicFramePr>
        <p:xfrm>
          <a:off x="8890635" y="1312545"/>
          <a:ext cx="483235" cy="446405"/>
        </p:xfrm>
        <a:graphic>
          <a:graphicData uri="http://schemas.openxmlformats.org/presentationml/2006/ole">
            <mc:AlternateContent xmlns:mc="http://schemas.openxmlformats.org/markup-compatibility/2006">
              <mc:Choice xmlns:v="urn:schemas-microsoft-com:vml" Requires="v">
                <p:oleObj spid="_x0000_s10" name="" r:id="rId12" imgW="316865" imgH="279400" progId="Equation.DSMT4">
                  <p:embed/>
                </p:oleObj>
              </mc:Choice>
              <mc:Fallback>
                <p:oleObj name="" r:id="rId12" imgW="316865" imgH="279400" progId="Equation.DSMT4">
                  <p:embed/>
                  <p:pic>
                    <p:nvPicPr>
                      <p:cNvPr id="0" name="图片 3"/>
                      <p:cNvPicPr/>
                      <p:nvPr/>
                    </p:nvPicPr>
                    <p:blipFill>
                      <a:blip r:embed="rId13"/>
                      <a:stretch>
                        <a:fillRect/>
                      </a:stretch>
                    </p:blipFill>
                    <p:spPr>
                      <a:xfrm>
                        <a:off x="8890635" y="1312545"/>
                        <a:ext cx="483235" cy="446405"/>
                      </a:xfrm>
                      <a:prstGeom prst="rect">
                        <a:avLst/>
                      </a:prstGeom>
                    </p:spPr>
                  </p:pic>
                </p:oleObj>
              </mc:Fallback>
            </mc:AlternateContent>
          </a:graphicData>
        </a:graphic>
      </p:graphicFrame>
      <p:graphicFrame>
        <p:nvGraphicFramePr>
          <p:cNvPr id="11" name="对象 10"/>
          <p:cNvGraphicFramePr/>
          <p:nvPr>
            <p:custDataLst>
              <p:tags r:id="rId14"/>
            </p:custDataLst>
          </p:nvPr>
        </p:nvGraphicFramePr>
        <p:xfrm>
          <a:off x="4282440" y="2465705"/>
          <a:ext cx="2770505" cy="511810"/>
        </p:xfrm>
        <a:graphic>
          <a:graphicData uri="http://schemas.openxmlformats.org/presentationml/2006/ole">
            <mc:AlternateContent xmlns:mc="http://schemas.openxmlformats.org/markup-compatibility/2006">
              <mc:Choice xmlns:v="urn:schemas-microsoft-com:vml" Requires="v">
                <p:oleObj spid="_x0000_s15" name="" r:id="rId15" imgW="1688465" imgH="228600" progId="Equation.DSMT4">
                  <p:embed/>
                </p:oleObj>
              </mc:Choice>
              <mc:Fallback>
                <p:oleObj name="" r:id="rId15" imgW="1688465" imgH="228600" progId="Equation.DSMT4">
                  <p:embed/>
                  <p:pic>
                    <p:nvPicPr>
                      <p:cNvPr id="0" name="图片 14"/>
                      <p:cNvPicPr/>
                      <p:nvPr/>
                    </p:nvPicPr>
                    <p:blipFill>
                      <a:blip r:embed="rId16"/>
                      <a:stretch>
                        <a:fillRect/>
                      </a:stretch>
                    </p:blipFill>
                    <p:spPr>
                      <a:xfrm>
                        <a:off x="4282440" y="2465705"/>
                        <a:ext cx="2770505" cy="511810"/>
                      </a:xfrm>
                      <a:prstGeom prst="rect">
                        <a:avLst/>
                      </a:prstGeom>
                    </p:spPr>
                  </p:pic>
                </p:oleObj>
              </mc:Fallback>
            </mc:AlternateContent>
          </a:graphicData>
        </a:graphic>
      </p:graphicFrame>
      <p:graphicFrame>
        <p:nvGraphicFramePr>
          <p:cNvPr id="16" name="对象 15"/>
          <p:cNvGraphicFramePr/>
          <p:nvPr>
            <p:custDataLst>
              <p:tags r:id="rId17"/>
            </p:custDataLst>
          </p:nvPr>
        </p:nvGraphicFramePr>
        <p:xfrm>
          <a:off x="4711065" y="3190240"/>
          <a:ext cx="1815465" cy="567055"/>
        </p:xfrm>
        <a:graphic>
          <a:graphicData uri="http://schemas.openxmlformats.org/presentationml/2006/ole">
            <mc:AlternateContent xmlns:mc="http://schemas.openxmlformats.org/markup-compatibility/2006">
              <mc:Choice xmlns:v="urn:schemas-microsoft-com:vml" Requires="v">
                <p:oleObj spid="_x0000_s17" name="" r:id="rId18" imgW="1490345" imgH="502285" progId="Equation.DSMT4">
                  <p:embed/>
                </p:oleObj>
              </mc:Choice>
              <mc:Fallback>
                <p:oleObj name="" r:id="rId18" imgW="1490345" imgH="502285" progId="Equation.DSMT4">
                  <p:embed/>
                  <p:pic>
                    <p:nvPicPr>
                      <p:cNvPr id="0" name="图片 16"/>
                      <p:cNvPicPr/>
                      <p:nvPr/>
                    </p:nvPicPr>
                    <p:blipFill>
                      <a:blip r:embed="rId19"/>
                      <a:stretch>
                        <a:fillRect/>
                      </a:stretch>
                    </p:blipFill>
                    <p:spPr>
                      <a:xfrm>
                        <a:off x="4711065" y="3190240"/>
                        <a:ext cx="1815465" cy="567055"/>
                      </a:xfrm>
                      <a:prstGeom prst="rect">
                        <a:avLst/>
                      </a:prstGeom>
                    </p:spPr>
                  </p:pic>
                </p:oleObj>
              </mc:Fallback>
            </mc:AlternateContent>
          </a:graphicData>
        </a:graphic>
      </p:graphicFrame>
      <p:graphicFrame>
        <p:nvGraphicFramePr>
          <p:cNvPr id="18" name="对象 17"/>
          <p:cNvGraphicFramePr/>
          <p:nvPr>
            <p:custDataLst>
              <p:tags r:id="rId20"/>
            </p:custDataLst>
          </p:nvPr>
        </p:nvGraphicFramePr>
        <p:xfrm>
          <a:off x="4422140" y="3937635"/>
          <a:ext cx="2491105" cy="707390"/>
        </p:xfrm>
        <a:graphic>
          <a:graphicData uri="http://schemas.openxmlformats.org/presentationml/2006/ole">
            <mc:AlternateContent xmlns:mc="http://schemas.openxmlformats.org/markup-compatibility/2006">
              <mc:Choice xmlns:v="urn:schemas-microsoft-com:vml" Requires="v">
                <p:oleObj spid="_x0000_s19" name="" r:id="rId21" imgW="2343785" imgH="621030" progId="Equation.DSMT4">
                  <p:embed/>
                </p:oleObj>
              </mc:Choice>
              <mc:Fallback>
                <p:oleObj name="" r:id="rId21" imgW="2343785" imgH="621030" progId="Equation.DSMT4">
                  <p:embed/>
                  <p:pic>
                    <p:nvPicPr>
                      <p:cNvPr id="0" name="图片 18"/>
                      <p:cNvPicPr/>
                      <p:nvPr/>
                    </p:nvPicPr>
                    <p:blipFill>
                      <a:blip r:embed="rId22"/>
                      <a:stretch>
                        <a:fillRect/>
                      </a:stretch>
                    </p:blipFill>
                    <p:spPr>
                      <a:xfrm>
                        <a:off x="4422140" y="3937635"/>
                        <a:ext cx="2491105" cy="707390"/>
                      </a:xfrm>
                      <a:prstGeom prst="rect">
                        <a:avLst/>
                      </a:prstGeom>
                    </p:spPr>
                  </p:pic>
                </p:oleObj>
              </mc:Fallback>
            </mc:AlternateContent>
          </a:graphicData>
        </a:graphic>
      </p:graphicFrame>
      <p:graphicFrame>
        <p:nvGraphicFramePr>
          <p:cNvPr id="20" name="对象 19"/>
          <p:cNvGraphicFramePr/>
          <p:nvPr>
            <p:custDataLst>
              <p:tags r:id="rId23"/>
            </p:custDataLst>
          </p:nvPr>
        </p:nvGraphicFramePr>
        <p:xfrm>
          <a:off x="4383405" y="4825365"/>
          <a:ext cx="2491105" cy="707390"/>
        </p:xfrm>
        <a:graphic>
          <a:graphicData uri="http://schemas.openxmlformats.org/presentationml/2006/ole">
            <mc:AlternateContent xmlns:mc="http://schemas.openxmlformats.org/markup-compatibility/2006">
              <mc:Choice xmlns:v="urn:schemas-microsoft-com:vml" Requires="v">
                <p:oleObj spid="_x0000_s21" name="" r:id="rId24" imgW="2042795" imgH="640715" progId="Equation.DSMT4">
                  <p:embed/>
                </p:oleObj>
              </mc:Choice>
              <mc:Fallback>
                <p:oleObj name="" r:id="rId24" imgW="2042795" imgH="640715" progId="Equation.DSMT4">
                  <p:embed/>
                  <p:pic>
                    <p:nvPicPr>
                      <p:cNvPr id="0" name="图片 20"/>
                      <p:cNvPicPr/>
                      <p:nvPr/>
                    </p:nvPicPr>
                    <p:blipFill>
                      <a:blip r:embed="rId25"/>
                      <a:stretch>
                        <a:fillRect/>
                      </a:stretch>
                    </p:blipFill>
                    <p:spPr>
                      <a:xfrm>
                        <a:off x="4383405" y="4825365"/>
                        <a:ext cx="2491105" cy="707390"/>
                      </a:xfrm>
                      <a:prstGeom prst="rect">
                        <a:avLst/>
                      </a:prstGeom>
                    </p:spPr>
                  </p:pic>
                </p:oleObj>
              </mc:Fallback>
            </mc:AlternateContent>
          </a:graphicData>
        </a:graphic>
      </p:graphicFrame>
      <p:sp>
        <p:nvSpPr>
          <p:cNvPr id="22" name="文本框 21"/>
          <p:cNvSpPr txBox="1"/>
          <p:nvPr>
            <p:custDataLst>
              <p:tags r:id="rId26"/>
            </p:custDataLst>
          </p:nvPr>
        </p:nvSpPr>
        <p:spPr>
          <a:xfrm>
            <a:off x="7967345" y="251714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框 22"/>
          <p:cNvSpPr txBox="1"/>
          <p:nvPr>
            <p:custDataLst>
              <p:tags r:id="rId27"/>
            </p:custDataLst>
          </p:nvPr>
        </p:nvSpPr>
        <p:spPr>
          <a:xfrm>
            <a:off x="7967345" y="329692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8.26</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文本框 23"/>
          <p:cNvSpPr txBox="1"/>
          <p:nvPr>
            <p:custDataLst>
              <p:tags r:id="rId28"/>
            </p:custDataLst>
          </p:nvPr>
        </p:nvSpPr>
        <p:spPr>
          <a:xfrm>
            <a:off x="7967345" y="406082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8.27</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custDataLst>
              <p:tags r:id="rId29"/>
            </p:custDataLst>
          </p:nvPr>
        </p:nvSpPr>
        <p:spPr>
          <a:xfrm>
            <a:off x="7967345" y="494919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文本框 25"/>
          <p:cNvSpPr txBox="1"/>
          <p:nvPr/>
        </p:nvSpPr>
        <p:spPr>
          <a:xfrm>
            <a:off x="794385" y="5532755"/>
            <a:ext cx="8738235" cy="829945"/>
          </a:xfrm>
          <a:prstGeom prst="rect">
            <a:avLst/>
          </a:prstGeom>
          <a:noFill/>
        </p:spPr>
        <p:txBody>
          <a:bodyPr wrap="square" rtlCol="0" anchor="t">
            <a:spAutoFit/>
          </a:bodyPr>
          <a:p>
            <a:r>
              <a:rPr lang="en-US" altLang="zh-CN"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R</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是沿着支撑边界顺时针方向的一个单位向量，  是由旋转支撑边界指向机器人质心的一个单位向量。</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7" name="对象 26"/>
          <p:cNvGraphicFramePr/>
          <p:nvPr>
            <p:custDataLst>
              <p:tags r:id="rId30"/>
            </p:custDataLst>
          </p:nvPr>
        </p:nvGraphicFramePr>
        <p:xfrm>
          <a:off x="8166735" y="5532755"/>
          <a:ext cx="292735" cy="446405"/>
        </p:xfrm>
        <a:graphic>
          <a:graphicData uri="http://schemas.openxmlformats.org/presentationml/2006/ole">
            <mc:AlternateContent xmlns:mc="http://schemas.openxmlformats.org/markup-compatibility/2006">
              <mc:Choice xmlns:v="urn:schemas-microsoft-com:vml" Requires="v">
                <p:oleObj spid="_x0000_s28" name="" r:id="rId31" imgW="165100" imgH="279400" progId="Equation.DSMT4">
                  <p:embed/>
                </p:oleObj>
              </mc:Choice>
              <mc:Fallback>
                <p:oleObj name="" r:id="rId31" imgW="165100" imgH="279400" progId="Equation.DSMT4">
                  <p:embed/>
                  <p:pic>
                    <p:nvPicPr>
                      <p:cNvPr id="0" name="图片 3"/>
                      <p:cNvPicPr/>
                      <p:nvPr/>
                    </p:nvPicPr>
                    <p:blipFill>
                      <a:blip r:embed="rId32"/>
                      <a:stretch>
                        <a:fillRect/>
                      </a:stretch>
                    </p:blipFill>
                    <p:spPr>
                      <a:xfrm>
                        <a:off x="8166735" y="5532755"/>
                        <a:ext cx="292735" cy="446405"/>
                      </a:xfrm>
                      <a:prstGeom prst="rect">
                        <a:avLst/>
                      </a:prstGeom>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297940"/>
            <a:ext cx="8802370"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现在考虑在位置</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时刻时，机器人质心的速度     。该瞬时时刻的动能可以通过角动量的表示公式获得，如下公式所示</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7543165" y="1461770"/>
          <a:ext cx="450215" cy="487045"/>
        </p:xfrm>
        <a:graphic>
          <a:graphicData uri="http://schemas.openxmlformats.org/presentationml/2006/ole">
            <mc:AlternateContent xmlns:mc="http://schemas.openxmlformats.org/markup-compatibility/2006">
              <mc:Choice xmlns:v="urn:schemas-microsoft-com:vml" Requires="v">
                <p:oleObj spid="_x0000_s4" name="" r:id="rId3" imgW="254000" imgH="304800" progId="Equation.DSMT4">
                  <p:embed/>
                </p:oleObj>
              </mc:Choice>
              <mc:Fallback>
                <p:oleObj name="" r:id="rId3" imgW="254000" imgH="304800" progId="Equation.DSMT4">
                  <p:embed/>
                  <p:pic>
                    <p:nvPicPr>
                      <p:cNvPr id="0" name="图片 3"/>
                      <p:cNvPicPr/>
                      <p:nvPr/>
                    </p:nvPicPr>
                    <p:blipFill>
                      <a:blip r:embed="rId4"/>
                      <a:stretch>
                        <a:fillRect/>
                      </a:stretch>
                    </p:blipFill>
                    <p:spPr>
                      <a:xfrm>
                        <a:off x="7543165" y="1461770"/>
                        <a:ext cx="450215" cy="48704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4319905" y="2642235"/>
          <a:ext cx="2876550" cy="585470"/>
        </p:xfrm>
        <a:graphic>
          <a:graphicData uri="http://schemas.openxmlformats.org/presentationml/2006/ole">
            <mc:AlternateContent xmlns:mc="http://schemas.openxmlformats.org/markup-compatibility/2006">
              <mc:Choice xmlns:v="urn:schemas-microsoft-com:vml" Requires="v">
                <p:oleObj spid="_x0000_s6" name="" r:id="rId6" imgW="2077085" imgH="483870" progId="Equation.DSMT4">
                  <p:embed/>
                </p:oleObj>
              </mc:Choice>
              <mc:Fallback>
                <p:oleObj name="" r:id="rId6" imgW="2077085" imgH="483870" progId="Equation.DSMT4">
                  <p:embed/>
                  <p:pic>
                    <p:nvPicPr>
                      <p:cNvPr id="0" name="图片 5"/>
                      <p:cNvPicPr/>
                      <p:nvPr/>
                    </p:nvPicPr>
                    <p:blipFill>
                      <a:blip r:embed="rId7"/>
                      <a:stretch>
                        <a:fillRect/>
                      </a:stretch>
                    </p:blipFill>
                    <p:spPr>
                      <a:xfrm>
                        <a:off x="4319905" y="2642235"/>
                        <a:ext cx="2876550" cy="585470"/>
                      </a:xfrm>
                      <a:prstGeom prst="rect">
                        <a:avLst/>
                      </a:prstGeom>
                    </p:spPr>
                  </p:pic>
                </p:oleObj>
              </mc:Fallback>
            </mc:AlternateContent>
          </a:graphicData>
        </a:graphic>
      </p:graphicFrame>
      <p:sp>
        <p:nvSpPr>
          <p:cNvPr id="9" name="文本框 8"/>
          <p:cNvSpPr txBox="1"/>
          <p:nvPr/>
        </p:nvSpPr>
        <p:spPr>
          <a:xfrm>
            <a:off x="967740" y="3429000"/>
            <a:ext cx="8659495" cy="64516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m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为机器人的质量。 从而，该时刻的角速度为</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0" name="对象 9"/>
          <p:cNvGraphicFramePr/>
          <p:nvPr>
            <p:custDataLst>
              <p:tags r:id="rId8"/>
            </p:custDataLst>
          </p:nvPr>
        </p:nvGraphicFramePr>
        <p:xfrm>
          <a:off x="4674870" y="4074160"/>
          <a:ext cx="1658620" cy="824865"/>
        </p:xfrm>
        <a:graphic>
          <a:graphicData uri="http://schemas.openxmlformats.org/presentationml/2006/ole">
            <mc:AlternateContent xmlns:mc="http://schemas.openxmlformats.org/markup-compatibility/2006">
              <mc:Choice xmlns:v="urn:schemas-microsoft-com:vml" Requires="v">
                <p:oleObj spid="_x0000_s11" name="" r:id="rId9" imgW="1015365" imgH="762635" progId="Equation.DSMT4">
                  <p:embed/>
                </p:oleObj>
              </mc:Choice>
              <mc:Fallback>
                <p:oleObj name="" r:id="rId9" imgW="1015365" imgH="762635" progId="Equation.DSMT4">
                  <p:embed/>
                  <p:pic>
                    <p:nvPicPr>
                      <p:cNvPr id="0" name="图片 10"/>
                      <p:cNvPicPr/>
                      <p:nvPr/>
                    </p:nvPicPr>
                    <p:blipFill>
                      <a:blip r:embed="rId10"/>
                      <a:stretch>
                        <a:fillRect/>
                      </a:stretch>
                    </p:blipFill>
                    <p:spPr>
                      <a:xfrm>
                        <a:off x="4674870" y="4074160"/>
                        <a:ext cx="1658620" cy="824865"/>
                      </a:xfrm>
                      <a:prstGeom prst="rect">
                        <a:avLst/>
                      </a:prstGeom>
                    </p:spPr>
                  </p:pic>
                </p:oleObj>
              </mc:Fallback>
            </mc:AlternateContent>
          </a:graphicData>
        </a:graphic>
      </p:graphicFrame>
      <p:sp>
        <p:nvSpPr>
          <p:cNvPr id="12" name="文本框 11"/>
          <p:cNvSpPr txBox="1"/>
          <p:nvPr/>
        </p:nvSpPr>
        <p:spPr>
          <a:xfrm>
            <a:off x="927735" y="4899025"/>
            <a:ext cx="8699500" cy="64516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   为机器人绕旋转轴的转动惯量。 相应的动能为</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3" name="对象 12"/>
          <p:cNvGraphicFramePr/>
          <p:nvPr>
            <p:custDataLst>
              <p:tags r:id="rId11"/>
            </p:custDataLst>
          </p:nvPr>
        </p:nvGraphicFramePr>
        <p:xfrm>
          <a:off x="4531995" y="5655310"/>
          <a:ext cx="2452370" cy="796290"/>
        </p:xfrm>
        <a:graphic>
          <a:graphicData uri="http://schemas.openxmlformats.org/presentationml/2006/ole">
            <mc:AlternateContent xmlns:mc="http://schemas.openxmlformats.org/markup-compatibility/2006">
              <mc:Choice xmlns:v="urn:schemas-microsoft-com:vml" Requires="v">
                <p:oleObj spid="_x0000_s15" name="" r:id="rId12" imgW="1475740" imgH="724535" progId="Equation.DSMT4">
                  <p:embed/>
                </p:oleObj>
              </mc:Choice>
              <mc:Fallback>
                <p:oleObj name="" r:id="rId12" imgW="1475740" imgH="724535" progId="Equation.DSMT4">
                  <p:embed/>
                  <p:pic>
                    <p:nvPicPr>
                      <p:cNvPr id="0" name="图片 14"/>
                      <p:cNvPicPr/>
                      <p:nvPr/>
                    </p:nvPicPr>
                    <p:blipFill>
                      <a:blip r:embed="rId13"/>
                      <a:stretch>
                        <a:fillRect/>
                      </a:stretch>
                    </p:blipFill>
                    <p:spPr>
                      <a:xfrm>
                        <a:off x="4531995" y="5655310"/>
                        <a:ext cx="2452370" cy="796290"/>
                      </a:xfrm>
                      <a:prstGeom prst="rect">
                        <a:avLst/>
                      </a:prstGeom>
                    </p:spPr>
                  </p:pic>
                </p:oleObj>
              </mc:Fallback>
            </mc:AlternateContent>
          </a:graphicData>
        </a:graphic>
      </p:graphicFrame>
      <p:sp>
        <p:nvSpPr>
          <p:cNvPr id="25" name="文本框 24"/>
          <p:cNvSpPr txBox="1"/>
          <p:nvPr>
            <p:custDataLst>
              <p:tags r:id="rId14"/>
            </p:custDataLst>
          </p:nvPr>
        </p:nvSpPr>
        <p:spPr>
          <a:xfrm>
            <a:off x="8096885" y="273304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8.29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custDataLst>
              <p:tags r:id="rId15"/>
            </p:custDataLst>
          </p:nvPr>
        </p:nvSpPr>
        <p:spPr>
          <a:xfrm>
            <a:off x="8096885" y="425640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custDataLst>
              <p:tags r:id="rId16"/>
            </p:custDataLst>
          </p:nvPr>
        </p:nvSpPr>
        <p:spPr>
          <a:xfrm>
            <a:off x="8096885" y="572643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标准动态能量稳定裕度法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923290"/>
            <a:ext cx="9908540" cy="175323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对于一个移动机器人来说，如果足与地接触产生的绕支撑多边形任意一个边界的力矩均为正值，那么这个系统是稳定的，当力矩为</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时，机器人系统处于临界稳定状态。公式表示如下</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4778375" y="2788285"/>
          <a:ext cx="2098040" cy="421640"/>
        </p:xfrm>
        <a:graphic>
          <a:graphicData uri="http://schemas.openxmlformats.org/presentationml/2006/ole">
            <mc:AlternateContent xmlns:mc="http://schemas.openxmlformats.org/markup-compatibility/2006">
              <mc:Choice xmlns:v="urn:schemas-microsoft-com:vml" Requires="v">
                <p:oleObj spid="_x0000_s4" name="" r:id="rId3" imgW="1485900" imgH="228600" progId="Equation.DSMT4">
                  <p:embed/>
                </p:oleObj>
              </mc:Choice>
              <mc:Fallback>
                <p:oleObj name="" r:id="rId3" imgW="1485900" imgH="228600" progId="Equation.DSMT4">
                  <p:embed/>
                  <p:pic>
                    <p:nvPicPr>
                      <p:cNvPr id="0" name="图片 3"/>
                      <p:cNvPicPr/>
                      <p:nvPr/>
                    </p:nvPicPr>
                    <p:blipFill>
                      <a:blip r:embed="rId4"/>
                      <a:stretch>
                        <a:fillRect/>
                      </a:stretch>
                    </p:blipFill>
                    <p:spPr>
                      <a:xfrm>
                        <a:off x="4778375" y="2788285"/>
                        <a:ext cx="2098040" cy="421640"/>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4716145" y="3322320"/>
          <a:ext cx="2686685" cy="416560"/>
        </p:xfrm>
        <a:graphic>
          <a:graphicData uri="http://schemas.openxmlformats.org/presentationml/2006/ole">
            <mc:AlternateContent xmlns:mc="http://schemas.openxmlformats.org/markup-compatibility/2006">
              <mc:Choice xmlns:v="urn:schemas-microsoft-com:vml" Requires="v">
                <p:oleObj spid="_x0000_s6" name="" r:id="rId6" imgW="2402840" imgH="421005" progId="Equation.DSMT4">
                  <p:embed/>
                </p:oleObj>
              </mc:Choice>
              <mc:Fallback>
                <p:oleObj name="" r:id="rId6" imgW="2402840" imgH="421005" progId="Equation.DSMT4">
                  <p:embed/>
                  <p:pic>
                    <p:nvPicPr>
                      <p:cNvPr id="0" name="图片 5"/>
                      <p:cNvPicPr/>
                      <p:nvPr/>
                    </p:nvPicPr>
                    <p:blipFill>
                      <a:blip r:embed="rId7"/>
                      <a:stretch>
                        <a:fillRect/>
                      </a:stretch>
                    </p:blipFill>
                    <p:spPr>
                      <a:xfrm>
                        <a:off x="4716145" y="3322320"/>
                        <a:ext cx="2686685" cy="416560"/>
                      </a:xfrm>
                      <a:prstGeom prst="rect">
                        <a:avLst/>
                      </a:prstGeom>
                    </p:spPr>
                  </p:pic>
                </p:oleObj>
              </mc:Fallback>
            </mc:AlternateContent>
          </a:graphicData>
        </a:graphic>
      </p:graphicFrame>
      <p:sp>
        <p:nvSpPr>
          <p:cNvPr id="7" name="文本框 6"/>
          <p:cNvSpPr txBox="1"/>
          <p:nvPr/>
        </p:nvSpPr>
        <p:spPr>
          <a:xfrm>
            <a:off x="864235" y="3670300"/>
            <a:ext cx="9908540" cy="175323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其中，所谓正值，即是力矩沿着支撑多边形的顺时针方向。从而，标准动态能量稳定方法的倾覆稳定性指的是机器人绕支撑多边形的所有边线的能量变换最小值 </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E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与其重量的比值，即是</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 name="对象 7"/>
          <p:cNvGraphicFramePr/>
          <p:nvPr>
            <p:custDataLst>
              <p:tags r:id="rId8"/>
            </p:custDataLst>
          </p:nvPr>
        </p:nvGraphicFramePr>
        <p:xfrm>
          <a:off x="4716145" y="5566410"/>
          <a:ext cx="2572385" cy="898525"/>
        </p:xfrm>
        <a:graphic>
          <a:graphicData uri="http://schemas.openxmlformats.org/presentationml/2006/ole">
            <mc:AlternateContent xmlns:mc="http://schemas.openxmlformats.org/markup-compatibility/2006">
              <mc:Choice xmlns:v="urn:schemas-microsoft-com:vml" Requires="v">
                <p:oleObj spid="_x0000_s9" name="" r:id="rId9" imgW="1993900" imgH="732790" progId="Equation.DSMT4">
                  <p:embed/>
                </p:oleObj>
              </mc:Choice>
              <mc:Fallback>
                <p:oleObj name="" r:id="rId9" imgW="1993900" imgH="732790" progId="Equation.DSMT4">
                  <p:embed/>
                  <p:pic>
                    <p:nvPicPr>
                      <p:cNvPr id="0" name="图片 8"/>
                      <p:cNvPicPr/>
                      <p:nvPr/>
                    </p:nvPicPr>
                    <p:blipFill>
                      <a:blip r:embed="rId10"/>
                      <a:stretch>
                        <a:fillRect/>
                      </a:stretch>
                    </p:blipFill>
                    <p:spPr>
                      <a:xfrm>
                        <a:off x="4716145" y="5566410"/>
                        <a:ext cx="2572385" cy="898525"/>
                      </a:xfrm>
                      <a:prstGeom prst="rect">
                        <a:avLst/>
                      </a:prstGeom>
                    </p:spPr>
                  </p:pic>
                </p:oleObj>
              </mc:Fallback>
            </mc:AlternateContent>
          </a:graphicData>
        </a:graphic>
      </p:graphicFrame>
      <p:sp>
        <p:nvSpPr>
          <p:cNvPr id="17" name="文本框 16"/>
          <p:cNvSpPr txBox="1"/>
          <p:nvPr>
            <p:custDataLst>
              <p:tags r:id="rId11"/>
            </p:custDataLst>
          </p:nvPr>
        </p:nvSpPr>
        <p:spPr>
          <a:xfrm>
            <a:off x="9474835" y="337883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custDataLst>
              <p:tags r:id="rId12"/>
            </p:custDataLst>
          </p:nvPr>
        </p:nvSpPr>
        <p:spPr>
          <a:xfrm>
            <a:off x="9474835" y="566483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改进的泛稳定裕量法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579880"/>
            <a:ext cx="9350375" cy="396938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400" b="1" kern="10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以泛稳定裕量方法（</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Wide Stability Margin</a:t>
            </a:r>
            <a:r>
              <a:rPr lang="zh-CN" altLang="en-US"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MWSM</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）为基础，考虑机器人动态步行时惯性力这一重要因素，将机器人重心投影改进为考虑惯性力的动态</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ZMP</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点（零力矩投影点，也称压力中心），称为改进的泛稳定裕量（</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Modified Wide Stability Margin</a:t>
            </a:r>
            <a:r>
              <a:rPr lang="zh-CN" altLang="en-US"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MWSM</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）失稳判据法。该判据根据动态</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ZMP</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点到四只脚围成的四边形各条边的最短距离判断机器人的动态稳定性及其稳定裕量，</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ZMP</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点则根据惯性测量传感器测得的加速度进行估算。</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改进的泛稳定裕量法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0962" name="图片 2"/>
          <p:cNvPicPr>
            <a:picLocks noChangeAspect="1"/>
          </p:cNvPicPr>
          <p:nvPr>
            <p:custDataLst>
              <p:tags r:id="rId2"/>
            </p:custDataLst>
          </p:nvPr>
        </p:nvPicPr>
        <p:blipFill>
          <a:blip r:embed="rId3"/>
          <a:stretch>
            <a:fillRect/>
          </a:stretch>
        </p:blipFill>
        <p:spPr>
          <a:xfrm>
            <a:off x="2538730" y="921068"/>
            <a:ext cx="6635750" cy="5553075"/>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改进的泛稳定裕量法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1118235"/>
            <a:ext cx="8415020"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首先，对于零力矩投影点在不受惯性力影响和受到惯性力影响两种情况在前进方向的差值</a:t>
            </a:r>
            <a:r>
              <a:rPr lang="zh-CN" altLang="en-US"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i="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进行计算；</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3571875" y="2562225"/>
          <a:ext cx="3866515" cy="935990"/>
        </p:xfrm>
        <a:graphic>
          <a:graphicData uri="http://schemas.openxmlformats.org/presentationml/2006/ole">
            <mc:AlternateContent xmlns:mc="http://schemas.openxmlformats.org/markup-compatibility/2006">
              <mc:Choice xmlns:v="urn:schemas-microsoft-com:vml" Requires="v">
                <p:oleObj spid="_x0000_s4" name="" r:id="rId3" imgW="2219960" imgH="679450" progId="Equation.DSMT4">
                  <p:embed/>
                </p:oleObj>
              </mc:Choice>
              <mc:Fallback>
                <p:oleObj name="" r:id="rId3" imgW="2219960" imgH="679450" progId="Equation.DSMT4">
                  <p:embed/>
                  <p:pic>
                    <p:nvPicPr>
                      <p:cNvPr id="0" name="图片 3"/>
                      <p:cNvPicPr/>
                      <p:nvPr/>
                    </p:nvPicPr>
                    <p:blipFill>
                      <a:blip r:embed="rId4"/>
                      <a:stretch>
                        <a:fillRect/>
                      </a:stretch>
                    </p:blipFill>
                    <p:spPr>
                      <a:xfrm>
                        <a:off x="3571875" y="2562225"/>
                        <a:ext cx="3866515" cy="935990"/>
                      </a:xfrm>
                      <a:prstGeom prst="rect">
                        <a:avLst/>
                      </a:prstGeom>
                    </p:spPr>
                  </p:pic>
                </p:oleObj>
              </mc:Fallback>
            </mc:AlternateContent>
          </a:graphicData>
        </a:graphic>
      </p:graphicFrame>
      <p:sp>
        <p:nvSpPr>
          <p:cNvPr id="5" name="文本框 4"/>
          <p:cNvSpPr txBox="1"/>
          <p:nvPr/>
        </p:nvSpPr>
        <p:spPr>
          <a:xfrm>
            <a:off x="864235" y="3498215"/>
            <a:ext cx="8415020" cy="1198880"/>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h</a:t>
            </a:r>
            <a:r>
              <a:rPr lang="en-US" altLang="zh-CN" sz="2400" b="1" i="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为机体重心高度，</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v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为停止瞬间机体前进速度。利用上式求得 </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b="1" i="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值如下</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对象 5"/>
          <p:cNvGraphicFramePr/>
          <p:nvPr>
            <p:custDataLst>
              <p:tags r:id="rId5"/>
            </p:custDataLst>
          </p:nvPr>
        </p:nvGraphicFramePr>
        <p:xfrm>
          <a:off x="4472305" y="4782820"/>
          <a:ext cx="1945005" cy="918845"/>
        </p:xfrm>
        <a:graphic>
          <a:graphicData uri="http://schemas.openxmlformats.org/presentationml/2006/ole">
            <mc:AlternateContent xmlns:mc="http://schemas.openxmlformats.org/markup-compatibility/2006">
              <mc:Choice xmlns:v="urn:schemas-microsoft-com:vml" Requires="v">
                <p:oleObj spid="_x0000_s7" name="" r:id="rId6" imgW="1303655" imgH="866140" progId="Equation.DSMT4">
                  <p:embed/>
                </p:oleObj>
              </mc:Choice>
              <mc:Fallback>
                <p:oleObj name="" r:id="rId6" imgW="1303655" imgH="866140" progId="Equation.DSMT4">
                  <p:embed/>
                  <p:pic>
                    <p:nvPicPr>
                      <p:cNvPr id="0" name="图片 6"/>
                      <p:cNvPicPr/>
                      <p:nvPr/>
                    </p:nvPicPr>
                    <p:blipFill>
                      <a:blip r:embed="rId7"/>
                      <a:stretch>
                        <a:fillRect/>
                      </a:stretch>
                    </p:blipFill>
                    <p:spPr>
                      <a:xfrm>
                        <a:off x="4472305" y="4782820"/>
                        <a:ext cx="1945005" cy="918845"/>
                      </a:xfrm>
                      <a:prstGeom prst="rect">
                        <a:avLst/>
                      </a:prstGeom>
                    </p:spPr>
                  </p:pic>
                </p:oleObj>
              </mc:Fallback>
            </mc:AlternateContent>
          </a:graphicData>
        </a:graphic>
      </p:graphicFrame>
      <p:sp>
        <p:nvSpPr>
          <p:cNvPr id="10" name="文本框 9"/>
          <p:cNvSpPr txBox="1"/>
          <p:nvPr>
            <p:custDataLst>
              <p:tags r:id="rId8"/>
            </p:custDataLst>
          </p:nvPr>
        </p:nvSpPr>
        <p:spPr>
          <a:xfrm>
            <a:off x="7981315" y="278701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8.34</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custDataLst>
              <p:tags r:id="rId9"/>
            </p:custDataLst>
          </p:nvPr>
        </p:nvSpPr>
        <p:spPr>
          <a:xfrm>
            <a:off x="7981315" y="5150485"/>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改进的泛稳定裕量法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04545" y="1327150"/>
            <a:ext cx="9668510" cy="452310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为使机器人保持原有稳定域度，不受惯性力带来的影响。首先，在匀加速开始的第一周期内，使四足摆动较给定标准步长短 </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，支撑多边形在其他情况不变的基础上也较原来的支撑多边形少向前移动</a:t>
            </a:r>
            <a:r>
              <a:rPr lang="zh-CN" altLang="en-US" sz="2400" b="1" kern="1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b="1" i="1" kern="10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d</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；然后，恢复给定标准步长，使改进的支撑多边形始终位于改进前支撑多边形后方</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处；最后，当匀加速运动结束时，在一个周期内使足端向前摆动步长较标准步长增加</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，恢复为改进前的支撑多边形。</a:t>
            </a:r>
            <a:endParaRPr kumimoji="0" lang="en-US" altLang="zh-CN"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这样，在机器人匀加速阶段，为抵消惯性力对机身产生的影响，此方法同时考虑重力和惯性力，在两力的合力方向寻找重心投影点。</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着陆符合率法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866140"/>
            <a:ext cx="9838690" cy="452310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多数情况下，四足机器人在动态行走过程中，一般采用的步态是对角小跑步态。如果四足机器人没有外力干扰，地面作用力是唯一的外力，为了保持对角小跑步态的稳定性，必须调整地面作用力对四足机器人的作用，在对角小跑步态中，对角线上的两条腿步态一致，在四足机器人的实际运动中，当对角线上的腿步态不一致时，会对四足机器人产生额外的作用力矩，有可能使得机器人不稳定，甚至倾覆，因此，定义如下的对角小跑步态稳定的判定依据，称之为（</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landing accordance ration</a:t>
            </a:r>
            <a:r>
              <a:rPr lang="zh-CN" altLang="en-US"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LAR</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表示如下：</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对象 2"/>
          <p:cNvGraphicFramePr/>
          <p:nvPr>
            <p:custDataLst>
              <p:tags r:id="rId2"/>
            </p:custDataLst>
          </p:nvPr>
        </p:nvGraphicFramePr>
        <p:xfrm>
          <a:off x="4994275" y="5337810"/>
          <a:ext cx="1827530" cy="1102995"/>
        </p:xfrm>
        <a:graphic>
          <a:graphicData uri="http://schemas.openxmlformats.org/presentationml/2006/ole">
            <mc:AlternateContent xmlns:mc="http://schemas.openxmlformats.org/markup-compatibility/2006">
              <mc:Choice xmlns:v="urn:schemas-microsoft-com:vml" Requires="v">
                <p:oleObj spid="_x0000_s4" name="" r:id="rId3" imgW="1159510" imgH="734695" progId="Equation.DSMT4">
                  <p:embed/>
                </p:oleObj>
              </mc:Choice>
              <mc:Fallback>
                <p:oleObj name="" r:id="rId3" imgW="1159510" imgH="734695" progId="Equation.DSMT4">
                  <p:embed/>
                  <p:pic>
                    <p:nvPicPr>
                      <p:cNvPr id="0" name="图片 3"/>
                      <p:cNvPicPr/>
                      <p:nvPr/>
                    </p:nvPicPr>
                    <p:blipFill>
                      <a:blip r:embed="rId4"/>
                      <a:stretch>
                        <a:fillRect/>
                      </a:stretch>
                    </p:blipFill>
                    <p:spPr>
                      <a:xfrm>
                        <a:off x="4994275" y="5337810"/>
                        <a:ext cx="1827530" cy="1102995"/>
                      </a:xfrm>
                      <a:prstGeom prst="rect">
                        <a:avLst/>
                      </a:prstGeom>
                    </p:spPr>
                  </p:pic>
                </p:oleObj>
              </mc:Fallback>
            </mc:AlternateContent>
          </a:graphicData>
        </a:graphic>
      </p:graphicFrame>
      <p:sp>
        <p:nvSpPr>
          <p:cNvPr id="8" name="文本框 7"/>
          <p:cNvSpPr txBox="1"/>
          <p:nvPr>
            <p:custDataLst>
              <p:tags r:id="rId5"/>
            </p:custDataLst>
          </p:nvPr>
        </p:nvSpPr>
        <p:spPr>
          <a:xfrm>
            <a:off x="9404985" y="5659120"/>
            <a:ext cx="1297940"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8.36</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64235" y="1210310"/>
            <a:ext cx="9041765" cy="1753235"/>
          </a:xfrm>
          <a:prstGeom prst="rect">
            <a:avLst/>
          </a:prstGeom>
          <a:noFill/>
        </p:spPr>
        <p:txBody>
          <a:bodyPr wrap="square" rtlCol="0" anchor="t">
            <a:spAutoFit/>
          </a:bodyPr>
          <a:p>
            <a:pPr marL="0" marR="0" lvl="0" indent="0" algn="l"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其中   表示</a:t>
            </a:r>
            <a:r>
              <a:rPr lang="en-US" altLang="zh-CN"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LAR</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400" b="1" i="1" kern="10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表示对角腿的支撑时间，    表示对角线上前后两条腿触地时的不协调时间。由此可知，   取值在</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之间，当</a:t>
            </a: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时表示此时四足机器人保持动态稳定性。</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着陆符合率法</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对象 5"/>
          <p:cNvGraphicFramePr/>
          <p:nvPr>
            <p:custDataLst>
              <p:tags r:id="rId2"/>
            </p:custDataLst>
          </p:nvPr>
        </p:nvGraphicFramePr>
        <p:xfrm>
          <a:off x="2051685" y="1417955"/>
          <a:ext cx="353060" cy="391160"/>
        </p:xfrm>
        <a:graphic>
          <a:graphicData uri="http://schemas.openxmlformats.org/presentationml/2006/ole">
            <mc:AlternateContent xmlns:mc="http://schemas.openxmlformats.org/markup-compatibility/2006">
              <mc:Choice xmlns:v="urn:schemas-microsoft-com:vml" Requires="v">
                <p:oleObj spid="_x0000_s7" name="" r:id="rId3" imgW="127000" imgH="152400" progId="Equation.DSMT4">
                  <p:embed/>
                </p:oleObj>
              </mc:Choice>
              <mc:Fallback>
                <p:oleObj name="" r:id="rId3" imgW="127000" imgH="152400" progId="Equation.DSMT4">
                  <p:embed/>
                  <p:pic>
                    <p:nvPicPr>
                      <p:cNvPr id="0" name="图片 6"/>
                      <p:cNvPicPr/>
                      <p:nvPr/>
                    </p:nvPicPr>
                    <p:blipFill>
                      <a:blip r:embed="rId4"/>
                      <a:stretch>
                        <a:fillRect/>
                      </a:stretch>
                    </p:blipFill>
                    <p:spPr>
                      <a:xfrm>
                        <a:off x="2051685" y="1417955"/>
                        <a:ext cx="353060" cy="391160"/>
                      </a:xfrm>
                      <a:prstGeom prst="rect">
                        <a:avLst/>
                      </a:prstGeom>
                    </p:spPr>
                  </p:pic>
                </p:oleObj>
              </mc:Fallback>
            </mc:AlternateContent>
          </a:graphicData>
        </a:graphic>
      </p:graphicFrame>
      <p:graphicFrame>
        <p:nvGraphicFramePr>
          <p:cNvPr id="3" name="对象 2"/>
          <p:cNvGraphicFramePr/>
          <p:nvPr>
            <p:custDataLst>
              <p:tags r:id="rId5"/>
            </p:custDataLst>
          </p:nvPr>
        </p:nvGraphicFramePr>
        <p:xfrm>
          <a:off x="1323658" y="2538095"/>
          <a:ext cx="812165" cy="391160"/>
        </p:xfrm>
        <a:graphic>
          <a:graphicData uri="http://schemas.openxmlformats.org/presentationml/2006/ole">
            <mc:AlternateContent xmlns:mc="http://schemas.openxmlformats.org/markup-compatibility/2006">
              <mc:Choice xmlns:v="urn:schemas-microsoft-com:vml" Requires="v">
                <p:oleObj spid="_x0000_s4" name="" r:id="rId6" imgW="292100" imgH="152400" progId="Equation.DSMT4">
                  <p:embed/>
                </p:oleObj>
              </mc:Choice>
              <mc:Fallback>
                <p:oleObj name="" r:id="rId6" imgW="292100" imgH="152400" progId="Equation.DSMT4">
                  <p:embed/>
                  <p:pic>
                    <p:nvPicPr>
                      <p:cNvPr id="0" name="图片 6"/>
                      <p:cNvPicPr/>
                      <p:nvPr/>
                    </p:nvPicPr>
                    <p:blipFill>
                      <a:blip r:embed="rId7"/>
                      <a:stretch>
                        <a:fillRect/>
                      </a:stretch>
                    </p:blipFill>
                    <p:spPr>
                      <a:xfrm>
                        <a:off x="1323658" y="2538095"/>
                        <a:ext cx="812165" cy="391160"/>
                      </a:xfrm>
                      <a:prstGeom prst="rect">
                        <a:avLst/>
                      </a:prstGeom>
                    </p:spPr>
                  </p:pic>
                </p:oleObj>
              </mc:Fallback>
            </mc:AlternateContent>
          </a:graphicData>
        </a:graphic>
      </p:graphicFrame>
      <p:graphicFrame>
        <p:nvGraphicFramePr>
          <p:cNvPr id="5" name="对象 4"/>
          <p:cNvGraphicFramePr/>
          <p:nvPr>
            <p:custDataLst>
              <p:tags r:id="rId8"/>
            </p:custDataLst>
          </p:nvPr>
        </p:nvGraphicFramePr>
        <p:xfrm>
          <a:off x="6637655" y="1991360"/>
          <a:ext cx="353060" cy="391160"/>
        </p:xfrm>
        <a:graphic>
          <a:graphicData uri="http://schemas.openxmlformats.org/presentationml/2006/ole">
            <mc:AlternateContent xmlns:mc="http://schemas.openxmlformats.org/markup-compatibility/2006">
              <mc:Choice xmlns:v="urn:schemas-microsoft-com:vml" Requires="v">
                <p:oleObj spid="_x0000_s8" name="" r:id="rId9" imgW="127000" imgH="152400" progId="Equation.DSMT4">
                  <p:embed/>
                </p:oleObj>
              </mc:Choice>
              <mc:Fallback>
                <p:oleObj name="" r:id="rId9" imgW="127000" imgH="152400" progId="Equation.DSMT4">
                  <p:embed/>
                  <p:pic>
                    <p:nvPicPr>
                      <p:cNvPr id="0" name="图片 6"/>
                      <p:cNvPicPr/>
                      <p:nvPr/>
                    </p:nvPicPr>
                    <p:blipFill>
                      <a:blip r:embed="rId4"/>
                      <a:stretch>
                        <a:fillRect/>
                      </a:stretch>
                    </p:blipFill>
                    <p:spPr>
                      <a:xfrm>
                        <a:off x="6637655" y="1991360"/>
                        <a:ext cx="353060" cy="391160"/>
                      </a:xfrm>
                      <a:prstGeom prst="rect">
                        <a:avLst/>
                      </a:prstGeom>
                    </p:spPr>
                  </p:pic>
                </p:oleObj>
              </mc:Fallback>
            </mc:AlternateContent>
          </a:graphicData>
        </a:graphic>
      </p:graphicFrame>
      <p:graphicFrame>
        <p:nvGraphicFramePr>
          <p:cNvPr id="9" name="对象 8"/>
          <p:cNvGraphicFramePr/>
          <p:nvPr>
            <p:custDataLst>
              <p:tags r:id="rId10"/>
            </p:custDataLst>
          </p:nvPr>
        </p:nvGraphicFramePr>
        <p:xfrm>
          <a:off x="7195820" y="1368743"/>
          <a:ext cx="424180" cy="489585"/>
        </p:xfrm>
        <a:graphic>
          <a:graphicData uri="http://schemas.openxmlformats.org/presentationml/2006/ole">
            <mc:AlternateContent xmlns:mc="http://schemas.openxmlformats.org/markup-compatibility/2006">
              <mc:Choice xmlns:v="urn:schemas-microsoft-com:vml" Requires="v">
                <p:oleObj spid="_x0000_s10" name="" r:id="rId11" imgW="152400" imgH="190500" progId="Equation.DSMT4">
                  <p:embed/>
                </p:oleObj>
              </mc:Choice>
              <mc:Fallback>
                <p:oleObj name="" r:id="rId11" imgW="152400" imgH="190500" progId="Equation.DSMT4">
                  <p:embed/>
                  <p:pic>
                    <p:nvPicPr>
                      <p:cNvPr id="0" name="图片 6"/>
                      <p:cNvPicPr/>
                      <p:nvPr/>
                    </p:nvPicPr>
                    <p:blipFill>
                      <a:blip r:embed="rId12"/>
                      <a:stretch>
                        <a:fillRect/>
                      </a:stretch>
                    </p:blipFill>
                    <p:spPr>
                      <a:xfrm>
                        <a:off x="7195820" y="1368743"/>
                        <a:ext cx="424180" cy="489585"/>
                      </a:xfrm>
                      <a:prstGeom prst="rect">
                        <a:avLst/>
                      </a:prstGeom>
                    </p:spPr>
                  </p:pic>
                </p:oleObj>
              </mc:Fallback>
            </mc:AlternateContent>
          </a:graphicData>
        </a:graphic>
      </p:graphicFrame>
      <p:sp>
        <p:nvSpPr>
          <p:cNvPr id="11" name="文本框 10"/>
          <p:cNvSpPr txBox="1"/>
          <p:nvPr/>
        </p:nvSpPr>
        <p:spPr>
          <a:xfrm>
            <a:off x="864235" y="2963545"/>
            <a:ext cx="9041130" cy="2306955"/>
          </a:xfrm>
          <a:prstGeom prst="rect">
            <a:avLst/>
          </a:prstGeom>
          <a:noFill/>
        </p:spPr>
        <p:txBody>
          <a:bodyPr wrap="square" rtlCol="0" anchor="t">
            <a:spAutoFit/>
          </a:bodyPr>
          <a:p>
            <a:pPr marL="0" marR="0" lvl="0" indent="0" algn="just" defTabSz="914400" rtl="0" eaLnBrk="1" fontAlgn="base" latinLnBrk="0" hangingPunct="1">
              <a:lnSpc>
                <a:spcPct val="150000"/>
              </a:lnSpc>
              <a:spcBef>
                <a:spcPct val="0"/>
              </a:spcBef>
              <a:spcAft>
                <a:spcPct val="0"/>
              </a:spcAft>
              <a:buClrTx/>
              <a:buSzTx/>
              <a:buFontTx/>
              <a:buNone/>
              <a:defRPr/>
            </a:pPr>
            <a:r>
              <a:rPr lang="en-US" altLang="zh-CN"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      </a:t>
            </a:r>
            <a:r>
              <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这种动态稳定性的判定标准能够保证在对角小跑步态下，对角腿的协调一致，但是并不能完全保证四足机器人的真正稳定性，当四足机器人的身体受到较大的惯性力时，很容易倾覆。且该判定标准仅是对角小跑步态下的一种判定方法，缺乏一般性。</a:t>
            </a:r>
            <a:endParaRPr lang="zh-CN" altLang="en-US" sz="2400" b="1" kern="1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文本框 13"/>
          <p:cNvSpPr txBox="1"/>
          <p:nvPr>
            <p:custDataLst>
              <p:tags r:id="rId1"/>
            </p:custDataLst>
          </p:nvPr>
        </p:nvSpPr>
        <p:spPr>
          <a:xfrm>
            <a:off x="864235" y="228600"/>
            <a:ext cx="4322445" cy="46037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习题</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418" name="Rectangle 10"/>
          <p:cNvSpPr>
            <a:spLocks noChangeArrowheads="1"/>
          </p:cNvSpPr>
          <p:nvPr>
            <p:custDataLst>
              <p:tags r:id="rId2"/>
            </p:custDataLst>
          </p:nvPr>
        </p:nvSpPr>
        <p:spPr bwMode="auto">
          <a:xfrm>
            <a:off x="864235" y="924878"/>
            <a:ext cx="8736013" cy="4523105"/>
          </a:xfrm>
          <a:prstGeom prst="rect">
            <a:avLst/>
          </a:prstGeom>
          <a:solidFill>
            <a:schemeClr val="bg1"/>
          </a:solidFill>
          <a:ln>
            <a:noFill/>
          </a:ln>
          <a:effectLst/>
        </p:spPr>
        <p:txBody>
          <a:bodyPr>
            <a:spAutoFit/>
          </a:bodyPr>
          <a:p>
            <a:pPr marL="0" marR="0" lvl="0" indent="0" algn="just"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8.1</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简要叙述静态稳定性和动态稳定性有哪些方法？</a:t>
            </a: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8.2</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静态稳定性和动态稳定性主要区别在什么地方？</a:t>
            </a: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8.3</a:t>
            </a:r>
            <a:r>
              <a:rPr kumimoji="0" lang="en-US" altLang="zh-CN"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简要叙述静态稳定裕度的定义。</a:t>
            </a: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8.4</a:t>
            </a:r>
            <a:r>
              <a:rPr kumimoji="0" lang="en-US" altLang="zh-CN"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在机器人动态稳定判定方法中，</a:t>
            </a: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LAR</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方法能够单独用来实现机器人的稳定行走么？</a:t>
            </a: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8.5</a:t>
            </a:r>
            <a:r>
              <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改进的泛稳定裕量判定法与原始的泛稳定裕量判定法相比，优势体现在什么地方？</a:t>
            </a: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zh-CN" altLang="en-US" sz="24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TABLE_BEAUTIFY" val="smartTable{abb5e887-961f-4d58-a5ac-54d6dbace680}"/>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COMMONDATA" val="eyJoZGlkIjoiMjM3ZWI0MTQ0Y2E3ODlhYzE4NTUzNDI4YjE3OTFmMGQifQ=="/>
  <p:tag name="KSO_WPP_MARK_KEY" val="48fa514a-1a5c-486a-bda7-e20b98668e1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8057</Words>
  <Application>WPS 演示</Application>
  <PresentationFormat>宽屏</PresentationFormat>
  <Paragraphs>385</Paragraphs>
  <Slides>46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91</vt:i4>
      </vt:variant>
      <vt:variant>
        <vt:lpstr>幻灯片标题</vt:lpstr>
      </vt:variant>
      <vt:variant>
        <vt:i4>46</vt:i4>
      </vt:variant>
    </vt:vector>
  </HeadingPairs>
  <TitlesOfParts>
    <vt:vector size="149" baseType="lpstr">
      <vt:lpstr>Arial</vt:lpstr>
      <vt:lpstr>宋体</vt:lpstr>
      <vt:lpstr>Wingdings</vt:lpstr>
      <vt:lpstr>微软雅黑</vt:lpstr>
      <vt:lpstr>Times New Roman</vt:lpstr>
      <vt:lpstr>黑体</vt:lpstr>
      <vt:lpstr>Symbol</vt:lpstr>
      <vt:lpstr>Arial Unicode MS</vt:lpstr>
      <vt:lpstr>等线 Light</vt:lpstr>
      <vt:lpstr>等线</vt:lpstr>
      <vt:lpstr>Calibri</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第八章 四足机器人稳定性判定方法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◈『心殇』◎</cp:lastModifiedBy>
  <cp:revision>24</cp:revision>
  <dcterms:created xsi:type="dcterms:W3CDTF">2023-05-09T06:35:00Z</dcterms:created>
  <dcterms:modified xsi:type="dcterms:W3CDTF">2023-05-22T11:44:46Z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1238AA68CF4746A6913CACC12A22C1F3_12</vt:lpwstr>
  </property>
  <property fmtid="{D5CDD505-2E9C-101B-9397-08002B2CF9AE}" pid="3" name="KSOProductBuildVer">
    <vt:lpwstr>2052-11.1.0.14036</vt:lpwstr>
  </property>
</Properties>
</file>